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55"/>
  </p:notesMasterIdLst>
  <p:handoutMasterIdLst>
    <p:handoutMasterId r:id="rId56"/>
  </p:handoutMasterIdLst>
  <p:sldIdLst>
    <p:sldId id="385" r:id="rId2"/>
    <p:sldId id="484" r:id="rId3"/>
    <p:sldId id="471" r:id="rId4"/>
    <p:sldId id="474" r:id="rId5"/>
    <p:sldId id="472" r:id="rId6"/>
    <p:sldId id="797" r:id="rId7"/>
    <p:sldId id="506" r:id="rId8"/>
    <p:sldId id="505" r:id="rId9"/>
    <p:sldId id="521" r:id="rId10"/>
    <p:sldId id="476" r:id="rId11"/>
    <p:sldId id="501" r:id="rId12"/>
    <p:sldId id="790" r:id="rId13"/>
    <p:sldId id="478" r:id="rId14"/>
    <p:sldId id="800" r:id="rId15"/>
    <p:sldId id="463" r:id="rId16"/>
    <p:sldId id="526" r:id="rId17"/>
    <p:sldId id="454" r:id="rId18"/>
    <p:sldId id="453" r:id="rId19"/>
    <p:sldId id="360" r:id="rId20"/>
    <p:sldId id="455" r:id="rId21"/>
    <p:sldId id="456" r:id="rId22"/>
    <p:sldId id="528" r:id="rId23"/>
    <p:sldId id="529" r:id="rId24"/>
    <p:sldId id="511" r:id="rId25"/>
    <p:sldId id="509" r:id="rId26"/>
    <p:sldId id="510" r:id="rId27"/>
    <p:sldId id="522" r:id="rId28"/>
    <p:sldId id="512" r:id="rId29"/>
    <p:sldId id="515" r:id="rId30"/>
    <p:sldId id="516" r:id="rId31"/>
    <p:sldId id="520" r:id="rId32"/>
    <p:sldId id="801" r:id="rId33"/>
    <p:sldId id="408" r:id="rId34"/>
    <p:sldId id="794" r:id="rId35"/>
    <p:sldId id="409" r:id="rId36"/>
    <p:sldId id="795" r:id="rId37"/>
    <p:sldId id="412" r:id="rId38"/>
    <p:sldId id="413" r:id="rId39"/>
    <p:sldId id="411" r:id="rId40"/>
    <p:sldId id="410" r:id="rId41"/>
    <p:sldId id="414" r:id="rId42"/>
    <p:sldId id="415" r:id="rId43"/>
    <p:sldId id="492" r:id="rId44"/>
    <p:sldId id="493" r:id="rId45"/>
    <p:sldId id="494" r:id="rId46"/>
    <p:sldId id="495" r:id="rId47"/>
    <p:sldId id="489" r:id="rId48"/>
    <p:sldId id="490" r:id="rId49"/>
    <p:sldId id="496" r:id="rId50"/>
    <p:sldId id="523" r:id="rId51"/>
    <p:sldId id="524" r:id="rId52"/>
    <p:sldId id="469" r:id="rId53"/>
    <p:sldId id="793" r:id="rId54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4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19E44-1DBE-4D5A-94AD-C21A3BDF7F96}" v="4" dt="2026-03-12T13:58:38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53" autoAdjust="0"/>
    <p:restoredTop sz="95115" autoAdjust="0"/>
  </p:normalViewPr>
  <p:slideViewPr>
    <p:cSldViewPr snapToGrid="0">
      <p:cViewPr varScale="1">
        <p:scale>
          <a:sx n="107" d="100"/>
          <a:sy n="107" d="100"/>
        </p:scale>
        <p:origin x="1326" y="60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995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548"/>
        <p:guide pos="389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 modHandout">
      <pc:chgData name="Zonghua Gu" userId="9a7e1853e1951ef5" providerId="LiveId" clId="{CF1FAA12-072C-4ED5-BA76-0FFFAEFDB88A}" dt="2026-03-12T13:58:38.148" v="1535"/>
      <pc:docMkLst>
        <pc:docMk/>
      </pc:docMkLst>
      <pc:sldChg chg="modSp mod">
        <pc:chgData name="Zonghua Gu" userId="9a7e1853e1951ef5" providerId="LiveId" clId="{CF1FAA12-072C-4ED5-BA76-0FFFAEFDB88A}" dt="2026-03-10T14:36:50.865" v="1449" actId="20577"/>
        <pc:sldMkLst>
          <pc:docMk/>
          <pc:sldMk cId="0" sldId="406"/>
        </pc:sldMkLst>
      </pc:sldChg>
      <pc:sldChg chg="modSp mod">
        <pc:chgData name="Zonghua Gu" userId="9a7e1853e1951ef5" providerId="LiveId" clId="{CF1FAA12-072C-4ED5-BA76-0FFFAEFDB88A}" dt="2026-03-10T14:22:47.496" v="1437" actId="207"/>
        <pc:sldMkLst>
          <pc:docMk/>
          <pc:sldMk cId="1881575936" sldId="455"/>
        </pc:sldMkLst>
        <pc:spChg chg="mod">
          <ac:chgData name="Zonghua Gu" userId="9a7e1853e1951ef5" providerId="LiveId" clId="{CF1FAA12-072C-4ED5-BA76-0FFFAEFDB88A}" dt="2026-03-10T14:22:47.496" v="1437" actId="207"/>
          <ac:spMkLst>
            <pc:docMk/>
            <pc:sldMk cId="1881575936" sldId="455"/>
            <ac:spMk id="26" creationId="{ABFA8893-B43E-2611-7D80-CD3CAC0D1E27}"/>
          </ac:spMkLst>
        </pc:spChg>
      </pc:sldChg>
      <pc:sldChg chg="addSp delSp modSp mod modAnim">
        <pc:chgData name="Zonghua Gu" userId="9a7e1853e1951ef5" providerId="LiveId" clId="{CF1FAA12-072C-4ED5-BA76-0FFFAEFDB88A}" dt="2026-03-10T13:58:28.397" v="1433" actId="1076"/>
        <pc:sldMkLst>
          <pc:docMk/>
          <pc:sldMk cId="709916207" sldId="505"/>
        </pc:sldMkLst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39" creationId="{110C14E6-4F95-5CD5-03E5-378868A17B2B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0" creationId="{6DF417EA-EE3C-E606-DE52-A23C59A08F0F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4" creationId="{9F3D87D0-F145-9318-312E-2E65F5F38B7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" creationId="{602BD90D-76D8-876C-5F8E-291ED3D49AA8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8" creationId="{381397AB-D25D-6581-1B77-43ED2C53CBE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0" creationId="{65778123-F2C2-CCAD-86BA-079FD545643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3" creationId="{3971FB9C-4678-C0A2-DE77-306E608A3D4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4" creationId="{E9CB4D30-4181-9B8E-C42A-6AA0E8797726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6" creationId="{7A9CA3D7-4B67-A2CE-D7D9-DD7D05F27879}"/>
          </ac:spMkLst>
        </pc:spChg>
        <pc:spChg chg="mod">
          <ac:chgData name="Zonghua Gu" userId="9a7e1853e1951ef5" providerId="LiveId" clId="{CF1FAA12-072C-4ED5-BA76-0FFFAEFDB88A}" dt="2026-03-10T13:58:25.658" v="1432" actId="1076"/>
          <ac:spMkLst>
            <pc:docMk/>
            <pc:sldMk cId="709916207" sldId="505"/>
            <ac:spMk id="87" creationId="{F8EE5DCF-3F89-0149-83E9-474A2E21C5F3}"/>
          </ac:spMkLst>
        </pc:spChg>
        <pc:spChg chg="mod">
          <ac:chgData name="Zonghua Gu" userId="9a7e1853e1951ef5" providerId="LiveId" clId="{CF1FAA12-072C-4ED5-BA76-0FFFAEFDB88A}" dt="2026-03-10T13:58:28.397" v="1433" actId="1076"/>
          <ac:spMkLst>
            <pc:docMk/>
            <pc:sldMk cId="709916207" sldId="505"/>
            <ac:spMk id="88" creationId="{5F5DA7B0-21DD-C54D-8CDD-88D0B473B3FC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082" creationId="{97ED59A0-67F2-6BA8-D4F9-DD3FD9900779}"/>
          </ac:spMkLst>
        </pc:spChg>
        <pc:spChg chg="mod">
          <ac:chgData name="Zonghua Gu" userId="9a7e1853e1951ef5" providerId="LiveId" clId="{CF1FAA12-072C-4ED5-BA76-0FFFAEFDB88A}" dt="2026-03-10T13:57:19.515" v="1419" actId="1076"/>
          <ac:spMkLst>
            <pc:docMk/>
            <pc:sldMk cId="709916207" sldId="505"/>
            <ac:spMk id="46102" creationId="{1E0BAD2F-45D7-5118-1568-04CDA42D095D}"/>
          </ac:spMkLst>
        </pc:spChg>
      </pc:sldChg>
      <pc:sldChg chg="addSp delSp modSp mod">
        <pc:chgData name="Zonghua Gu" userId="9a7e1853e1951ef5" providerId="LiveId" clId="{CF1FAA12-072C-4ED5-BA76-0FFFAEFDB88A}" dt="2026-03-10T13:56:24.314" v="1412" actId="14100"/>
        <pc:sldMkLst>
          <pc:docMk/>
          <pc:sldMk cId="1106957169" sldId="506"/>
        </pc:sldMkLst>
        <pc:spChg chg="mod">
          <ac:chgData name="Zonghua Gu" userId="9a7e1853e1951ef5" providerId="LiveId" clId="{CF1FAA12-072C-4ED5-BA76-0FFFAEFDB88A}" dt="2026-03-10T13:56:20.080" v="1411" actId="1076"/>
          <ac:spMkLst>
            <pc:docMk/>
            <pc:sldMk cId="1106957169" sldId="506"/>
            <ac:spMk id="17" creationId="{4193CA6C-4F51-CD3F-1D81-9A2546C7C7EB}"/>
          </ac:spMkLst>
        </pc:spChg>
        <pc:spChg chg="mod">
          <ac:chgData name="Zonghua Gu" userId="9a7e1853e1951ef5" providerId="LiveId" clId="{CF1FAA12-072C-4ED5-BA76-0FFFAEFDB88A}" dt="2026-03-10T13:56:12.924" v="1410" actId="20577"/>
          <ac:spMkLst>
            <pc:docMk/>
            <pc:sldMk cId="1106957169" sldId="506"/>
            <ac:spMk id="7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6:03.882" v="1406" actId="20577"/>
          <ac:spMkLst>
            <pc:docMk/>
            <pc:sldMk cId="1106957169" sldId="506"/>
            <ac:spMk id="7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6.802" v="1402" actId="20577"/>
          <ac:spMkLst>
            <pc:docMk/>
            <pc:sldMk cId="1106957169" sldId="506"/>
            <ac:spMk id="77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0.845" v="1398" actId="20577"/>
          <ac:spMkLst>
            <pc:docMk/>
            <pc:sldMk cId="1106957169" sldId="506"/>
            <ac:spMk id="78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44.793" v="1392" actId="20577"/>
          <ac:spMkLst>
            <pc:docMk/>
            <pc:sldMk cId="1106957169" sldId="506"/>
            <ac:spMk id="79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32.054" v="1388" actId="20577"/>
          <ac:spMkLst>
            <pc:docMk/>
            <pc:sldMk cId="1106957169" sldId="506"/>
            <ac:spMk id="80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8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3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9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8" creationId="{00000000-0000-0000-0000-000000000000}"/>
          </ac:spMkLst>
        </pc:spChg>
        <pc:cxnChg chg="mod">
          <ac:chgData name="Zonghua Gu" userId="9a7e1853e1951ef5" providerId="LiveId" clId="{CF1FAA12-072C-4ED5-BA76-0FFFAEFDB88A}" dt="2026-03-10T13:56:24.314" v="1412" actId="14100"/>
          <ac:cxnSpMkLst>
            <pc:docMk/>
            <pc:sldMk cId="1106957169" sldId="506"/>
            <ac:cxnSpMk id="5" creationId="{0F436E82-6992-F8F9-458F-B0CF25D10429}"/>
          </ac:cxnSpMkLst>
        </pc:cxnChg>
      </pc:sldChg>
      <pc:sldChg chg="addSp delSp modSp mod">
        <pc:chgData name="Zonghua Gu" userId="9a7e1853e1951ef5" providerId="LiveId" clId="{CF1FAA12-072C-4ED5-BA76-0FFFAEFDB88A}" dt="2026-03-12T13:58:22.739" v="1532"/>
        <pc:sldMkLst>
          <pc:docMk/>
          <pc:sldMk cId="983958110" sldId="513"/>
        </pc:sldMkLst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6" creationId="{67E8C0DB-4206-C907-48DC-9F14EA3583D1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3" creationId="{43448210-6D50-8F76-4FE3-8CDED6EF2B79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4" creationId="{19219C93-FB14-4AAE-9F70-599BC5B04F0D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6" creationId="{501CD6C9-A295-E731-F435-3593ACFEE09C}"/>
          </ac:spMkLst>
        </pc:spChg>
        <pc:spChg chg="mod">
          <ac:chgData name="Zonghua Gu" userId="9a7e1853e1951ef5" providerId="LiveId" clId="{CF1FAA12-072C-4ED5-BA76-0FFFAEFDB88A}" dt="2026-03-12T13:58:11.678" v="1530"/>
          <ac:spMkLst>
            <pc:docMk/>
            <pc:sldMk cId="983958110" sldId="513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22.739" v="1532"/>
          <ac:grpSpMkLst>
            <pc:docMk/>
            <pc:sldMk cId="983958110" sldId="513"/>
            <ac:grpSpMk id="11" creationId="{563DC330-84BA-8153-1596-F112E7D8A063}"/>
          </ac:grpSpMkLst>
        </pc:grpChg>
        <pc:cxnChg chg="del mod">
          <ac:chgData name="Zonghua Gu" userId="9a7e1853e1951ef5" providerId="LiveId" clId="{CF1FAA12-072C-4ED5-BA76-0FFFAEFDB88A}" dt="2026-03-12T13:58:22.219" v="1531" actId="478"/>
          <ac:cxnSpMkLst>
            <pc:docMk/>
            <pc:sldMk cId="983958110" sldId="513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22.739" v="1532"/>
          <ac:cxnSpMkLst>
            <pc:docMk/>
            <pc:sldMk cId="983958110" sldId="513"/>
            <ac:cxnSpMk id="15" creationId="{4326004E-72BB-92CC-249B-6ECA5FCEE48C}"/>
          </ac:cxnSpMkLst>
        </pc:cxnChg>
      </pc:sldChg>
      <pc:sldChg chg="addSp delSp modSp mod">
        <pc:chgData name="Zonghua Gu" userId="9a7e1853e1951ef5" providerId="LiveId" clId="{CF1FAA12-072C-4ED5-BA76-0FFFAEFDB88A}" dt="2026-03-12T13:58:38.148" v="1535"/>
        <pc:sldMkLst>
          <pc:docMk/>
          <pc:sldMk cId="4207137356" sldId="515"/>
        </pc:sldMkLst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6" creationId="{C34C62D6-A8F9-60C8-0B49-2AFF3259844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4" creationId="{AC72EE8E-C94C-D235-C4C8-AE7C34DD8DA6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5" creationId="{0AB86405-9E04-B991-C217-7A9C279FB8ED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7" creationId="{5ACDCBE9-C928-0DFC-C359-D2A7FD1CD099}"/>
          </ac:spMkLst>
        </pc:spChg>
        <pc:spChg chg="mod">
          <ac:chgData name="Zonghua Gu" userId="9a7e1853e1951ef5" providerId="LiveId" clId="{CF1FAA12-072C-4ED5-BA76-0FFFAEFDB88A}" dt="2026-03-12T13:58:38.148" v="1535"/>
          <ac:spMkLst>
            <pc:docMk/>
            <pc:sldMk cId="4207137356" sldId="515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32.168" v="1534"/>
          <ac:grpSpMkLst>
            <pc:docMk/>
            <pc:sldMk cId="4207137356" sldId="515"/>
            <ac:grpSpMk id="13" creationId="{E90334D6-481D-5CA8-AC20-29F155788F84}"/>
          </ac:grpSpMkLst>
        </pc:grpChg>
        <pc:cxnChg chg="del mod">
          <ac:chgData name="Zonghua Gu" userId="9a7e1853e1951ef5" providerId="LiveId" clId="{CF1FAA12-072C-4ED5-BA76-0FFFAEFDB88A}" dt="2026-03-12T13:58:31.803" v="1533" actId="478"/>
          <ac:cxnSpMkLst>
            <pc:docMk/>
            <pc:sldMk cId="4207137356" sldId="515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32.168" v="1534"/>
          <ac:cxnSpMkLst>
            <pc:docMk/>
            <pc:sldMk cId="4207137356" sldId="515"/>
            <ac:cxnSpMk id="16" creationId="{ECBA80C4-BB60-CEDD-6C64-54EB9080CF6A}"/>
          </ac:cxnSpMkLst>
        </pc:cxnChg>
      </pc:sldChg>
      <pc:sldChg chg="modSp mod">
        <pc:chgData name="Zonghua Gu" userId="9a7e1853e1951ef5" providerId="LiveId" clId="{CF1FAA12-072C-4ED5-BA76-0FFFAEFDB88A}" dt="2026-03-10T14:25:08.953" v="1446" actId="20577"/>
        <pc:sldMkLst>
          <pc:docMk/>
          <pc:sldMk cId="2210249931" sldId="528"/>
        </pc:sldMkLst>
        <pc:spChg chg="mod">
          <ac:chgData name="Zonghua Gu" userId="9a7e1853e1951ef5" providerId="LiveId" clId="{CF1FAA12-072C-4ED5-BA76-0FFFAEFDB88A}" dt="2026-03-10T14:25:08.953" v="1446" actId="20577"/>
          <ac:spMkLst>
            <pc:docMk/>
            <pc:sldMk cId="2210249931" sldId="528"/>
            <ac:spMk id="2560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3-10T14:08:56.812" v="1436" actId="14100"/>
        <pc:sldMkLst>
          <pc:docMk/>
          <pc:sldMk cId="1149374474" sldId="790"/>
        </pc:sldMkLst>
        <pc:spChg chg="mod">
          <ac:chgData name="Zonghua Gu" userId="9a7e1853e1951ef5" providerId="LiveId" clId="{CF1FAA12-072C-4ED5-BA76-0FFFAEFDB88A}" dt="2026-03-10T14:08:56.812" v="1436" actId="14100"/>
          <ac:spMkLst>
            <pc:docMk/>
            <pc:sldMk cId="1149374474" sldId="790"/>
            <ac:spMk id="7" creationId="{76DC6AB8-4346-7881-19B3-F249E4C4AD0B}"/>
          </ac:spMkLst>
        </pc:spChg>
      </pc:sldChg>
      <pc:sldChg chg="modSp mod">
        <pc:chgData name="Zonghua Gu" userId="9a7e1853e1951ef5" providerId="LiveId" clId="{CF1FAA12-072C-4ED5-BA76-0FFFAEFDB88A}" dt="2026-03-10T14:40:42.042" v="1527" actId="1076"/>
        <pc:sldMkLst>
          <pc:docMk/>
          <pc:sldMk cId="2753210025" sldId="794"/>
        </pc:sldMkLst>
        <pc:spChg chg="mod">
          <ac:chgData name="Zonghua Gu" userId="9a7e1853e1951ef5" providerId="LiveId" clId="{CF1FAA12-072C-4ED5-BA76-0FFFAEFDB88A}" dt="2026-03-10T14:40:42.042" v="1527" actId="1076"/>
          <ac:spMkLst>
            <pc:docMk/>
            <pc:sldMk cId="2753210025" sldId="794"/>
            <ac:spMk id="11" creationId="{B6B31F49-E919-45A1-275F-E2B60E53B632}"/>
          </ac:spMkLst>
        </pc:spChg>
      </pc:sldChg>
      <pc:sldChg chg="addSp delSp modSp mod">
        <pc:chgData name="Zonghua Gu" userId="9a7e1853e1951ef5" providerId="LiveId" clId="{CF1FAA12-072C-4ED5-BA76-0FFFAEFDB88A}" dt="2026-03-10T14:40:50.282" v="1529"/>
        <pc:sldMkLst>
          <pc:docMk/>
          <pc:sldMk cId="1493324092" sldId="795"/>
        </pc:sldMkLst>
        <pc:spChg chg="add mod">
          <ac:chgData name="Zonghua Gu" userId="9a7e1853e1951ef5" providerId="LiveId" clId="{CF1FAA12-072C-4ED5-BA76-0FFFAEFDB88A}" dt="2026-03-10T14:40:50.282" v="1529"/>
          <ac:spMkLst>
            <pc:docMk/>
            <pc:sldMk cId="1493324092" sldId="795"/>
            <ac:spMk id="2" creationId="{3ADFE918-8C28-F69F-EAF3-FDD05E86FB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197067" y="219891"/>
            <a:ext cx="5014725" cy="2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39" tIns="44070" rIns="88139" bIns="44070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3:59:39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3:59:5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4:00:39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4:00:3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7023" y="3341916"/>
            <a:ext cx="6820275" cy="316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1" tIns="47616" rIns="95231" bIns="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118078" y="138249"/>
            <a:ext cx="1684765" cy="332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6818" tIns="47616" rIns="96818" bIns="47616" anchor="ctr"/>
          <a:lstStyle/>
          <a:p>
            <a:pPr algn="ctr" defTabSz="999215">
              <a:defRPr/>
            </a:pPr>
            <a:r>
              <a:rPr lang="en-US" sz="18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08099" y="547551"/>
            <a:ext cx="82030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88139" tIns="44070" rIns="88139" bIns="44070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9767" y="355963"/>
            <a:ext cx="5618658" cy="21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tabLst>
                <a:tab pos="953310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08711" y="6657703"/>
            <a:ext cx="314160" cy="21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999215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4025" y="644525"/>
            <a:ext cx="3286125" cy="2465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By grouping bits together we can store more values</a:t>
            </a:r>
          </a:p>
          <a:p>
            <a:pPr lvl="1"/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/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/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/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/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word is the lowest address of all 4 bytes in that word.</a:t>
            </a:r>
          </a:p>
          <a:p>
            <a:pPr lvl="1"/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halfword is the lowest address of all 2 bytes in that halfword.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  <a:r>
              <a:rPr lang="en-US" altLang="zh-CN" sz="1800" dirty="0"/>
              <a:t> bits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CN" sz="1800" dirty="0"/>
              <a:t> bytes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1F497D"/>
                </a:solidFill>
              </a:rPr>
              <a:t>word = </a:t>
            </a:r>
            <a:r>
              <a:rPr lang="en-US" altLang="zh-CN" sz="1800" b="1" dirty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1F497D"/>
                </a:solidFill>
              </a:rPr>
              <a:t> halfwords</a:t>
            </a:r>
          </a:p>
          <a:p>
            <a:pPr fontAlgn="auto">
              <a:spcAft>
                <a:spcPts val="0"/>
              </a:spcAft>
            </a:pPr>
            <a:endParaRPr lang="en-US" sz="1700" dirty="0"/>
          </a:p>
          <a:p>
            <a:pPr fontAlgn="auto">
              <a:spcAft>
                <a:spcPts val="0"/>
              </a:spcAft>
            </a:pPr>
            <a:r>
              <a:rPr lang="en-US" sz="1700" dirty="0"/>
              <a:t>By grouping bits together we can store more values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word is the lowest address of all 4 bytes in that word.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halfword is the lowest address of all 2 bytes in that halfword.</a:t>
            </a:r>
          </a:p>
          <a:p>
            <a:pPr lvl="1" fontAlgn="auto">
              <a:spcAft>
                <a:spcPts val="0"/>
              </a:spcAft>
            </a:pP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9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8139" tIns="44070" rIns="88139" bIns="44070"/>
          <a:lstStyle/>
          <a:p>
            <a:pPr algn="r"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F97FDFF-7B9F-7D4D-BFC0-AAD1F3D3D3CB}" type="slidenum">
              <a:rPr lang="en-US" sz="1200" b="0">
                <a:solidFill>
                  <a:prstClr val="black"/>
                </a:solidFill>
                <a:latin typeface="Calibri"/>
              </a:rPr>
              <a:pPr algn="r"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12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30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Two possible byte orderings: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Little-endian</a:t>
            </a:r>
            <a:r>
              <a:rPr lang="en-US" sz="1400" dirty="0"/>
              <a:t>: the LSB (Least Significant Byte) is stored at the lowest address.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Big-endian</a:t>
            </a:r>
            <a:r>
              <a:rPr lang="en-US" sz="1400" dirty="0"/>
              <a:t>: the LSB (Least Significant Byte) is stored at the highest address.</a:t>
            </a:r>
          </a:p>
          <a:p>
            <a:pPr lvl="1"/>
            <a:r>
              <a:rPr lang="en-US" sz="1400" dirty="0"/>
              <a:t>Intel processors use Little-Endian; ARM processors can be configured as either Little- or Big-endian; </a:t>
            </a:r>
            <a:r>
              <a:rPr lang="en-GB" sz="1400" dirty="0"/>
              <a:t>STM32 microcontrollers based on ARM Cortex-M3 use little-endian</a:t>
            </a:r>
          </a:p>
          <a:p>
            <a:endParaRPr lang="en-GB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2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3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the LSB (Least Significant Byte) is stored at the lowest address.</a:t>
            </a:r>
          </a:p>
          <a:p>
            <a:pPr lvl="1"/>
            <a:r>
              <a:rPr lang="en-US" sz="1900" dirty="0">
                <a:solidFill>
                  <a:srgbClr val="FF0000"/>
                </a:solidFill>
              </a:rPr>
              <a:t>Big-endian</a:t>
            </a:r>
            <a:r>
              <a:rPr lang="en-US" sz="1900" dirty="0"/>
              <a:t>: the LSB (Least Significant Byte) is stored at the highest address.</a:t>
            </a:r>
          </a:p>
          <a:p>
            <a:pPr lvl="1"/>
            <a:r>
              <a:rPr lang="en-US" sz="1900" dirty="0"/>
              <a:t>Intel processors use Little-Endian; ARM processors can be configured as either Little- or Big-endian; </a:t>
            </a:r>
            <a:r>
              <a:rPr lang="en-GB" sz="1900" dirty="0"/>
              <a:t>STM32 microcontrollers based on ARM Cortex-M3 use little-endian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8139" tIns="44070" rIns="88139" bIns="44070"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68351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46-2C90-CB99-BDE0-9C85EB1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BA2BE5C1-7538-2ECC-C654-0BE435511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85890D1-8FF7-1888-F136-FB5A48249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86383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x is a</a:t>
            </a:r>
            <a:r>
              <a:rPr lang="en-US" baseline="0" dirty="0"/>
              <a:t> 32-bit integer stored in the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10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8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1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41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from LDRH, which loads a halfword as unsigned and fills the upper bits with zeros, regardless of sign</a:t>
            </a:r>
          </a:p>
        </p:txBody>
      </p:sp>
    </p:spTree>
    <p:extLst>
      <p:ext uri="{BB962C8B-B14F-4D97-AF65-F5344CB8AC3E}">
        <p14:creationId xmlns:p14="http://schemas.microsoft.com/office/powerpoint/2010/main" val="290772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3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6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228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6634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03052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61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First, adds the offset (#4) to the base register (r0), then loads from this updated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Updates the base register: r0 is set to r0 + 4 after execution.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Example: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 r0 = 0x100, instruction accesses memory at 0x104 and also sets r0 to 0x104 afterward.</a:t>
            </a:r>
          </a:p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9092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7029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45A9-52E9-F33F-4432-FED98D02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CBDBF7DE-D445-81A2-2581-04EDA8D1C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4DB1D357-92FA-A609-379F-A2FF444D3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294400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87810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93F7-C173-46C7-A815-DDB03E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FFA5BEF-3A4C-73D2-CFCB-D574BFC6D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1A67BAA-589A-FFFE-1488-BBB54EA3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39790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481836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3A4-0E2B-F429-EA6A-A242CEAF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3875EEEB-58F2-E76F-478B-24395664E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72B913FC-4082-36FE-8301-84ECFAB6E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719284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6553936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127403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60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63454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18472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525025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FD = Full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STMFD/LDMFD = STMDB/LDMIA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ED = Empty Descending (A32 only)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STMED/LDMED = STMDA/LDMIB (A32 only)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 = Full Ascending (A32 only)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STMFA/LDMFA = STMIB/LDMDA (A32 only)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 = Empty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STMEA/LDMEA = STMIA/LDMDB</a:t>
            </a:r>
          </a:p>
          <a:p>
            <a:r>
              <a:t>IB and DA exist only in ARM (A32) state. Cortex-M (Thumb-2) supports only IA and DB, i.e. FD (STMDB/LDMIA = PUSH/POP) and EA (STMIA/LDMDB) stacks.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57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MOV supports all 8-bit immediate numbers</a:t>
            </a:r>
          </a:p>
          <a:p>
            <a:r>
              <a:rPr lang="en-US" sz="1800" dirty="0"/>
              <a:t>Range of 8-bit immediate number: 0 – 255</a:t>
            </a:r>
          </a:p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Numbers out of this range but with some patterns can be encoded. Refer to the Slide </a:t>
            </a:r>
            <a:r>
              <a:rPr lang="en-US" sz="1800" dirty="0">
                <a:hlinkClick r:id="rId3" action="ppaction://hlinksldjump"/>
              </a:rPr>
              <a:t>Summary of Pre-index and Post-index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73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tfV3HsHwk4&amp;list=PLRJhV4hUhIymmp5CCeIFPyxbknsdcXCc8&amp;index=23" TargetMode="External"/><Relationship Id="rId2" Type="http://schemas.openxmlformats.org/officeDocument/2006/relationships/hyperlink" Target="https://www.youtube.com/watch?v=T1C9Kj_78ek&amp;list=PLRJhV4hUhIymmp5CCeIFPyxbknsdcXCc8&amp;index=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4xoaOlNSJo" TargetMode="External"/><Relationship Id="rId4" Type="http://schemas.openxmlformats.org/officeDocument/2006/relationships/hyperlink" Target="https://www.youtube.com/watch?v=zgkxPdPkxa8&amp;list=PLRJhV4hUhIymmp5CCeIFPyxbknsdcXCc8&amp;index=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3343" y="1828800"/>
            <a:ext cx="2606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data is organized in memory?</a:t>
            </a:r>
          </a:p>
          <a:p>
            <a:pPr lvl="1"/>
            <a:r>
              <a:rPr lang="en-US" dirty="0"/>
              <a:t>Big-Endian vs Little-Endian</a:t>
            </a:r>
          </a:p>
          <a:p>
            <a:pPr lvl="1"/>
            <a:endParaRPr lang="en-US" dirty="0"/>
          </a:p>
          <a:p>
            <a:r>
              <a:rPr lang="en-US" dirty="0"/>
              <a:t>How data is addressed?</a:t>
            </a:r>
          </a:p>
          <a:p>
            <a:pPr lvl="1"/>
            <a:r>
              <a:rPr lang="en-US" dirty="0"/>
              <a:t>Register offset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r3]  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r3, LSL #2]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 * 4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Immediate offset</a:t>
            </a:r>
          </a:p>
          <a:p>
            <a:pPr lvl="2"/>
            <a:r>
              <a:rPr lang="en-US" dirty="0"/>
              <a:t>Pre-index: 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  <a:endParaRPr lang="en-US" dirty="0"/>
          </a:p>
          <a:p>
            <a:pPr lvl="2"/>
            <a:r>
              <a:rPr lang="en-US" dirty="0"/>
              <a:t>Post-index: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  <a:endParaRPr lang="en-US" dirty="0"/>
          </a:p>
          <a:p>
            <a:pPr lvl="2"/>
            <a:r>
              <a:rPr lang="en-US" dirty="0"/>
              <a:t>Pre-index with update: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  <a:endParaRPr lang="en-US" sz="2900" b="1" dirty="0">
              <a:solidFill>
                <a:srgbClr val="FF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1219200"/>
            <a:ext cx="5433095" cy="4937760"/>
          </a:xfrm>
        </p:spPr>
        <p:txBody>
          <a:bodyPr>
            <a:normAutofit/>
          </a:bodyPr>
          <a:lstStyle/>
          <a:p>
            <a:r>
              <a:rPr lang="en-US" sz="2400" dirty="0"/>
              <a:t>By grouping bits together we can store more values</a:t>
            </a:r>
          </a:p>
          <a:p>
            <a:pPr lvl="1"/>
            <a:r>
              <a:rPr lang="en-US" sz="2000" dirty="0"/>
              <a:t>8 bits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byte</a:t>
            </a:r>
          </a:p>
          <a:p>
            <a:pPr lvl="1"/>
            <a:r>
              <a:rPr lang="en-US" sz="2000" dirty="0"/>
              <a:t>16 bits = 2 bytes =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1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halfword</a:t>
            </a:r>
          </a:p>
          <a:p>
            <a:pPr lvl="1"/>
            <a:r>
              <a:rPr lang="en-US" sz="2000" dirty="0"/>
              <a:t>32 bits = 4 bytes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word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dirty="0"/>
              <a:t>From software perspective, memory is an addressable array of bytes.</a:t>
            </a:r>
            <a:endParaRPr lang="en-US" sz="1600" dirty="0"/>
          </a:p>
          <a:p>
            <a:pPr lvl="1"/>
            <a:r>
              <a:rPr lang="en-US" sz="2000" dirty="0"/>
              <a:t>The byte stored at the memory address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0x20000004 (hex, 4 bytes)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0b10000100 (binary, 1 byte)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259857" y="5005752"/>
            <a:ext cx="4402109" cy="719554"/>
            <a:chOff x="815014" y="5117068"/>
            <a:chExt cx="4402109" cy="719554"/>
          </a:xfrm>
        </p:grpSpPr>
        <p:sp>
          <p:nvSpPr>
            <p:cNvPr id="65" name="Rectangle 64"/>
            <p:cNvSpPr/>
            <p:nvPr/>
          </p:nvSpPr>
          <p:spPr>
            <a:xfrm>
              <a:off x="815014" y="5117068"/>
              <a:ext cx="13067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0b10000100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5645" y="5117068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0x84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8" name="Straight Arrow Connector 67"/>
            <p:cNvCxnSpPr>
              <a:stCxn id="65" idx="3"/>
              <a:endCxn id="66" idx="1"/>
            </p:cNvCxnSpPr>
            <p:nvPr/>
          </p:nvCxnSpPr>
          <p:spPr>
            <a:xfrm>
              <a:off x="2121782" y="5286345"/>
              <a:ext cx="5538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119608" y="5117068"/>
              <a:ext cx="5212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1" name="Straight Arrow Connector 70"/>
            <p:cNvCxnSpPr>
              <a:stCxn id="66" idx="3"/>
              <a:endCxn id="69" idx="1"/>
            </p:cNvCxnSpPr>
            <p:nvPr/>
          </p:nvCxnSpPr>
          <p:spPr>
            <a:xfrm>
              <a:off x="3309152" y="5286345"/>
              <a:ext cx="8104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1066800" y="5498068"/>
              <a:ext cx="97013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Binary 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0" y="5498068"/>
              <a:ext cx="14189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Hexadecimal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34775" y="5498068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Decimal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2592" y="5861294"/>
            <a:ext cx="44682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Computer memory is </a:t>
            </a:r>
            <a:r>
              <a:rPr lang="en-US" sz="1800" i="1" dirty="0"/>
              <a:t>byte-addressable</a:t>
            </a:r>
            <a:r>
              <a:rPr lang="en-US" sz="1800" dirty="0"/>
              <a:t>!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B12D34-EF4B-E116-A957-5FEA992F4778}"/>
              </a:ext>
            </a:extLst>
          </p:cNvPr>
          <p:cNvSpPr txBox="1">
            <a:spLocks/>
          </p:cNvSpPr>
          <p:nvPr/>
        </p:nvSpPr>
        <p:spPr>
          <a:xfrm>
            <a:off x="3294844" y="249451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2829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199"/>
            <a:ext cx="5486400" cy="522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When we refer to memory locations by address, we can only do so in units of bytes, halfwords or words</a:t>
            </a:r>
          </a:p>
          <a:p>
            <a:r>
              <a:rPr lang="en-US" sz="2000" dirty="0"/>
              <a:t>Architecturally aligned addresses are required for efficient access; unaligned access may require multiple cycles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word should be stored at an address that‘s divisible by 4 </a:t>
            </a:r>
            <a:r>
              <a:rPr lang="en-US" altLang="zh-CN" sz="2000" dirty="0"/>
              <a:t>(</a:t>
            </a:r>
            <a:r>
              <a:rPr lang="en-US" sz="2000" dirty="0"/>
              <a:t>Word-address mod 4 = 0, binary address ends with 00)</a:t>
            </a:r>
          </a:p>
          <a:p>
            <a:pPr lvl="2"/>
            <a:r>
              <a:rPr lang="en-US" sz="1700" dirty="0"/>
              <a:t>Memory address of a word is the lowest address of all four bytes in that word.</a:t>
            </a:r>
          </a:p>
          <a:p>
            <a:pPr lvl="2"/>
            <a:r>
              <a:rPr lang="en-US" sz="1700" dirty="0"/>
              <a:t>Two words at addresses: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0x20000000 and 0x20000004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halfword should be stored at an address that‘s divisible by 2 (Halfword-address mod 2 = 0, binary address ends with 0)</a:t>
            </a:r>
          </a:p>
          <a:p>
            <a:pPr lvl="2"/>
            <a:r>
              <a:rPr lang="en-US" sz="1700" dirty="0"/>
              <a:t>Memory address of a halfword is the lowest address of all 2 bytes in that halfword.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174737"/>
            <a:ext cx="1447800" cy="14005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2743200"/>
            <a:ext cx="1447800" cy="13716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A637D1B-2C89-7A0F-6879-71E1623A912E}"/>
              </a:ext>
            </a:extLst>
          </p:cNvPr>
          <p:cNvSpPr txBox="1">
            <a:spLocks/>
          </p:cNvSpPr>
          <p:nvPr/>
        </p:nvSpPr>
        <p:spPr>
          <a:xfrm>
            <a:off x="4628056" y="-9917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37510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r>
              <a:rPr lang="en-US" sz="2000" dirty="0"/>
              <a:t>Halfwords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000" dirty="0"/>
              <a:t> bits = </a:t>
            </a:r>
            <a:r>
              <a:rPr lang="en-US" sz="2000" b="1" dirty="0"/>
              <a:t>2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1F497D"/>
                </a:solidFill>
              </a:rPr>
              <a:t>halfword</a:t>
            </a:r>
            <a:endParaRPr lang="en-US" sz="2000" dirty="0">
              <a:solidFill>
                <a:srgbClr val="1F497D"/>
              </a:solidFill>
            </a:endParaRPr>
          </a:p>
          <a:p>
            <a:pPr lvl="1"/>
            <a:r>
              <a:rPr lang="en-US" sz="2000" dirty="0"/>
              <a:t>The right diagram has four halfwords at addresses of:</a:t>
            </a: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0x20000006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3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930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34290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67575" y="4168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61225" y="26924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 </a:t>
            </a:r>
            <a:r>
              <a:rPr lang="en-US"/>
              <a:t>and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2544" y="1171208"/>
            <a:ext cx="8308689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a byte-addressable memory with a data bus that is 32 bits (4 bytes) wide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283024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2246769"/>
            <a:chOff x="-314426" y="4497972"/>
            <a:chExt cx="11581404" cy="299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822605" cy="29956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first read cycle would retrieve 4 bytes from addresses 4 through 7; of these, the bytes from addresses 4 and 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are discarded, and those from addresses 6 and 7 are moved to the far right;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Finally, the two halves are combined to form the desired 32-bit operand.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667793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C9BAFE-CCB2-9F44-AF58-E8F507A71743}"/>
              </a:ext>
            </a:extLst>
          </p:cNvPr>
          <p:cNvSpPr txBox="1"/>
          <p:nvPr/>
        </p:nvSpPr>
        <p:spPr>
          <a:xfrm>
            <a:off x="4916081" y="17609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E36268-14EB-3240-8A69-792AE8BCE146}"/>
              </a:ext>
            </a:extLst>
          </p:cNvPr>
          <p:cNvSpPr txBox="1"/>
          <p:nvPr/>
        </p:nvSpPr>
        <p:spPr>
          <a:xfrm>
            <a:off x="4916081" y="29725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696AA5-B4FF-0242-A53D-09FC0DBEA2EE}"/>
              </a:ext>
            </a:extLst>
          </p:cNvPr>
          <p:cNvSpPr txBox="1"/>
          <p:nvPr/>
        </p:nvSpPr>
        <p:spPr>
          <a:xfrm>
            <a:off x="4920965" y="416146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481D7F-2F55-664D-B5DF-225B77C5D698}"/>
              </a:ext>
            </a:extLst>
          </p:cNvPr>
          <p:cNvSpPr txBox="1"/>
          <p:nvPr/>
        </p:nvSpPr>
        <p:spPr>
          <a:xfrm>
            <a:off x="4916081" y="52804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3CAB0A-16CF-5B1C-24E0-49107BDE0AB8}"/>
              </a:ext>
            </a:extLst>
          </p:cNvPr>
          <p:cNvGrpSpPr/>
          <p:nvPr/>
        </p:nvGrpSpPr>
        <p:grpSpPr>
          <a:xfrm>
            <a:off x="8035338" y="779187"/>
            <a:ext cx="1050037" cy="5682528"/>
            <a:chOff x="7836105" y="779387"/>
            <a:chExt cx="1050037" cy="568252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F436E82-6992-F8F9-458F-B0CF25D1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D9195-09C5-8277-1AD0-5D3E04DFC29B}"/>
                </a:ext>
              </a:extLst>
            </p:cNvPr>
            <p:cNvSpPr txBox="1"/>
            <p:nvPr/>
          </p:nvSpPr>
          <p:spPr>
            <a:xfrm>
              <a:off x="7949667" y="5938695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93CA6C-4F51-CD3F-1D81-9A2546C7C7EB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466160-FF8C-27EF-EA3A-EA2019A26116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19159-840E-A14E-B3C2-3E671A69AC83}"/>
              </a:ext>
            </a:extLst>
          </p:cNvPr>
          <p:cNvSpPr txBox="1"/>
          <p:nvPr/>
        </p:nvSpPr>
        <p:spPr>
          <a:xfrm>
            <a:off x="5139105" y="1893560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855F749-0A77-634D-9FD2-C4BCA7C7891F}"/>
              </a:ext>
            </a:extLst>
          </p:cNvPr>
          <p:cNvSpPr txBox="1"/>
          <p:nvPr/>
        </p:nvSpPr>
        <p:spPr>
          <a:xfrm>
            <a:off x="5139105" y="31051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FEE8CF-F071-BB48-B5DD-58677A1D420D}"/>
              </a:ext>
            </a:extLst>
          </p:cNvPr>
          <p:cNvSpPr txBox="1"/>
          <p:nvPr/>
        </p:nvSpPr>
        <p:spPr>
          <a:xfrm>
            <a:off x="5143989" y="42940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D0FB29-793B-6744-9A04-A2036634E3D1}"/>
              </a:ext>
            </a:extLst>
          </p:cNvPr>
          <p:cNvSpPr txBox="1"/>
          <p:nvPr/>
        </p:nvSpPr>
        <p:spPr>
          <a:xfrm>
            <a:off x="5139105" y="54130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E5DCF-3F89-0149-83E9-474A2E21C5F3}"/>
              </a:ext>
            </a:extLst>
          </p:cNvPr>
          <p:cNvSpPr txBox="1"/>
          <p:nvPr/>
        </p:nvSpPr>
        <p:spPr>
          <a:xfrm>
            <a:off x="8209" y="4336118"/>
            <a:ext cx="67024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array starts at address </a:t>
            </a:r>
            <a:r>
              <a:rPr lang="en-US" dirty="0" err="1"/>
              <a:t>pAddr</a:t>
            </a:r>
            <a:r>
              <a:rPr lang="en-US" dirty="0"/>
              <a:t> = 0x0000,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X[0] is </a:t>
            </a:r>
            <a:r>
              <a:rPr lang="en-US" dirty="0" err="1"/>
              <a:t>pAddr</a:t>
            </a:r>
            <a:r>
              <a:rPr lang="en-US" dirty="0"/>
              <a:t> = 0x0000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X[1] is </a:t>
            </a:r>
            <a:r>
              <a:rPr lang="en-US" dirty="0" err="1"/>
              <a:t>pAddr</a:t>
            </a:r>
            <a:r>
              <a:rPr lang="en-US" dirty="0"/>
              <a:t> + 4 = 0x0004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X[2] is </a:t>
            </a:r>
            <a:r>
              <a:rPr lang="en-US" dirty="0" err="1"/>
              <a:t>pAddr</a:t>
            </a:r>
            <a:r>
              <a:rPr lang="en-US" dirty="0"/>
              <a:t> + 8 = 0x0008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X[3] is </a:t>
            </a:r>
            <a:r>
              <a:rPr lang="en-US" dirty="0" err="1"/>
              <a:t>pAddr</a:t>
            </a:r>
            <a:r>
              <a:rPr lang="en-US" dirty="0"/>
              <a:t> + 12 = 0x000C (12 in dec.)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5DA7B0-21DD-C54D-8CDD-88D0B473B3FC}"/>
              </a:ext>
            </a:extLst>
          </p:cNvPr>
          <p:cNvSpPr/>
          <p:nvPr/>
        </p:nvSpPr>
        <p:spPr>
          <a:xfrm>
            <a:off x="123611" y="5616231"/>
            <a:ext cx="48978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Sequential words are at addresses incrementing by 4, since each array element of type uint32_t is 4 bytes (32 bits)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7C58BA6E-5322-A433-E84B-766EF782E747}"/>
              </a:ext>
            </a:extLst>
          </p:cNvPr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110C14E6-4F95-5CD5-03E5-378868A17B2B}"/>
              </a:ext>
            </a:extLst>
          </p:cNvPr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DF417EA-EE3C-E606-DE52-A23C59A08F0F}"/>
              </a:ext>
            </a:extLst>
          </p:cNvPr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96AFAA8C-76EC-E385-2C53-FCB9B3D91685}"/>
              </a:ext>
            </a:extLst>
          </p:cNvPr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FBDB0171-5979-A470-90CF-60E520AD57AA}"/>
              </a:ext>
            </a:extLst>
          </p:cNvPr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7E1BD44A-0EF2-9609-B085-581BECCD29B7}"/>
              </a:ext>
            </a:extLst>
          </p:cNvPr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9F3D87D0-F145-9318-312E-2E65F5F38B79}"/>
              </a:ext>
            </a:extLst>
          </p:cNvPr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C185DEC0-2EE9-F3F7-06D8-1124D5612EFA}"/>
              </a:ext>
            </a:extLst>
          </p:cNvPr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602BD90D-76D8-876C-5F8E-291ED3D49AA8}"/>
              </a:ext>
            </a:extLst>
          </p:cNvPr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6A1BC0CA-A62A-C294-35B9-F97F85AFC349}"/>
              </a:ext>
            </a:extLst>
          </p:cNvPr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8" name="Rectangle 16">
            <a:extLst>
              <a:ext uri="{FF2B5EF4-FFF2-40B4-BE49-F238E27FC236}">
                <a16:creationId xmlns:a16="http://schemas.microsoft.com/office/drawing/2014/main" id="{381397AB-D25D-6581-1B77-43ED2C53CBE3}"/>
              </a:ext>
            </a:extLst>
          </p:cNvPr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59E60954-C4BF-D934-2485-63CF944FEF96}"/>
              </a:ext>
            </a:extLst>
          </p:cNvPr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65778123-F2C2-CCAD-86BA-079FD5456433}"/>
              </a:ext>
            </a:extLst>
          </p:cNvPr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FF51401-68F7-5B52-AE4B-A0622DB87C20}"/>
              </a:ext>
            </a:extLst>
          </p:cNvPr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FB4479D2-C851-36E7-EF73-29243FFD2BB5}"/>
              </a:ext>
            </a:extLst>
          </p:cNvPr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3971FB9C-4678-C0A2-DE77-306E608A3D49}"/>
              </a:ext>
            </a:extLst>
          </p:cNvPr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E9CB4D30-4181-9B8E-C42A-6AA0E8797726}"/>
              </a:ext>
            </a:extLst>
          </p:cNvPr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55" name="Group 56">
            <a:extLst>
              <a:ext uri="{FF2B5EF4-FFF2-40B4-BE49-F238E27FC236}">
                <a16:creationId xmlns:a16="http://schemas.microsoft.com/office/drawing/2014/main" id="{933B79AD-4CF0-1850-92C9-C6DA15C91FE0}"/>
              </a:ext>
            </a:extLst>
          </p:cNvPr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7A9CA3D7-4B67-A2CE-D7D9-DD7D05F2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7" name="Rectangle 62">
              <a:extLst>
                <a:ext uri="{FF2B5EF4-FFF2-40B4-BE49-F238E27FC236}">
                  <a16:creationId xmlns:a16="http://schemas.microsoft.com/office/drawing/2014/main" id="{F2027050-8ECA-0E89-7D3F-B8B02C961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C94AC2A8-DBA6-C595-EE30-92FC63C14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4435259B-4D45-5FE1-94F1-CC8D446BD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C8939DC-93C2-8990-AE96-7590B90FA5D2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A56A784A-E583-B5C6-99D2-EC29F87BB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6D72F0-1086-F659-282A-310DD1B861C6}"/>
                </a:ext>
              </a:extLst>
            </p:cNvPr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1F0D85-5982-4DAA-0C17-2A790DF8E3BA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2" name="Rectangle 35">
              <a:extLst>
                <a:ext uri="{FF2B5EF4-FFF2-40B4-BE49-F238E27FC236}">
                  <a16:creationId xmlns:a16="http://schemas.microsoft.com/office/drawing/2014/main" id="{4C130B4D-F584-0662-ECE0-553D0AECE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C8C1764-C568-2E7D-F3F4-9FC397370628}"/>
                </a:ext>
              </a:extLst>
            </p:cNvPr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E91611F-2D7E-0349-79C5-2D245DC6FAAF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C651782-9A15-D720-5CDE-D2DAE1D67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9E43625-15B5-0098-FCA0-20A96ECA8592}"/>
                </a:ext>
              </a:extLst>
            </p:cNvPr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A24CC5-909B-6D9B-C2D9-7E6770E65EB9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23" name="Rectangle 37">
              <a:extLst>
                <a:ext uri="{FF2B5EF4-FFF2-40B4-BE49-F238E27FC236}">
                  <a16:creationId xmlns:a16="http://schemas.microsoft.com/office/drawing/2014/main" id="{EC4825A6-DCFE-7B30-014C-6DF21C1D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9AE9B71-9635-59A6-1F91-D5A9FF36373A}"/>
                </a:ext>
              </a:extLst>
            </p:cNvPr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E85C6C-D71F-1D6A-D449-BDC84DA0A7DD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669B871-DC4F-A008-B603-16A356D2A09B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127" name="Rectangle 18">
              <a:extLst>
                <a:ext uri="{FF2B5EF4-FFF2-40B4-BE49-F238E27FC236}">
                  <a16:creationId xmlns:a16="http://schemas.microsoft.com/office/drawing/2014/main" id="{CF0A7A9E-5A2D-E565-55C0-1A94C588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46080" name="Rectangle 19">
              <a:extLst>
                <a:ext uri="{FF2B5EF4-FFF2-40B4-BE49-F238E27FC236}">
                  <a16:creationId xmlns:a16="http://schemas.microsoft.com/office/drawing/2014/main" id="{7350834E-8D23-1887-47A1-6431A896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46081" name="Rectangle 20">
              <a:extLst>
                <a:ext uri="{FF2B5EF4-FFF2-40B4-BE49-F238E27FC236}">
                  <a16:creationId xmlns:a16="http://schemas.microsoft.com/office/drawing/2014/main" id="{3F6517D5-4C43-A654-22A7-F3A0022B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46082" name="Rectangle 21">
              <a:extLst>
                <a:ext uri="{FF2B5EF4-FFF2-40B4-BE49-F238E27FC236}">
                  <a16:creationId xmlns:a16="http://schemas.microsoft.com/office/drawing/2014/main" id="{97ED59A0-67F2-6BA8-D4F9-DD3FD9900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46083" name="Rectangle 22">
              <a:extLst>
                <a:ext uri="{FF2B5EF4-FFF2-40B4-BE49-F238E27FC236}">
                  <a16:creationId xmlns:a16="http://schemas.microsoft.com/office/drawing/2014/main" id="{AED903B3-61FF-74D3-FCF9-467252F57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46085" name="Rectangle 23">
              <a:extLst>
                <a:ext uri="{FF2B5EF4-FFF2-40B4-BE49-F238E27FC236}">
                  <a16:creationId xmlns:a16="http://schemas.microsoft.com/office/drawing/2014/main" id="{659AAA1E-2B14-015F-1FEB-326E46A2B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46086" name="Rectangle 24">
              <a:extLst>
                <a:ext uri="{FF2B5EF4-FFF2-40B4-BE49-F238E27FC236}">
                  <a16:creationId xmlns:a16="http://schemas.microsoft.com/office/drawing/2014/main" id="{46982047-EDBE-3CA8-E25B-D4E6773B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46087" name="Rectangle 25">
              <a:extLst>
                <a:ext uri="{FF2B5EF4-FFF2-40B4-BE49-F238E27FC236}">
                  <a16:creationId xmlns:a16="http://schemas.microsoft.com/office/drawing/2014/main" id="{F4D365C2-7734-377F-3D3A-31CA5E60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46088" name="Rectangle 26">
              <a:extLst>
                <a:ext uri="{FF2B5EF4-FFF2-40B4-BE49-F238E27FC236}">
                  <a16:creationId xmlns:a16="http://schemas.microsoft.com/office/drawing/2014/main" id="{D4550736-100C-DA15-5CC4-DD6CE850D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46089" name="Rectangle 27">
              <a:extLst>
                <a:ext uri="{FF2B5EF4-FFF2-40B4-BE49-F238E27FC236}">
                  <a16:creationId xmlns:a16="http://schemas.microsoft.com/office/drawing/2014/main" id="{96956EB3-CFF5-6D38-EB98-7AFD492DD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46090" name="Rectangle 28">
              <a:extLst>
                <a:ext uri="{FF2B5EF4-FFF2-40B4-BE49-F238E27FC236}">
                  <a16:creationId xmlns:a16="http://schemas.microsoft.com/office/drawing/2014/main" id="{3F883F59-42CD-1399-2A83-86503869B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46091" name="Rectangle 29">
              <a:extLst>
                <a:ext uri="{FF2B5EF4-FFF2-40B4-BE49-F238E27FC236}">
                  <a16:creationId xmlns:a16="http://schemas.microsoft.com/office/drawing/2014/main" id="{51C6E5F9-35B5-A624-B5AD-3165C53DB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46092" name="Rectangle 42">
              <a:extLst>
                <a:ext uri="{FF2B5EF4-FFF2-40B4-BE49-F238E27FC236}">
                  <a16:creationId xmlns:a16="http://schemas.microsoft.com/office/drawing/2014/main" id="{B44D910C-BA7D-ADDB-D3B4-21BD1D71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46093" name="Rectangle 44">
              <a:extLst>
                <a:ext uri="{FF2B5EF4-FFF2-40B4-BE49-F238E27FC236}">
                  <a16:creationId xmlns:a16="http://schemas.microsoft.com/office/drawing/2014/main" id="{D535BB55-3167-9F4A-5823-7F6C02891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46094" name="Rectangle 46">
              <a:extLst>
                <a:ext uri="{FF2B5EF4-FFF2-40B4-BE49-F238E27FC236}">
                  <a16:creationId xmlns:a16="http://schemas.microsoft.com/office/drawing/2014/main" id="{D3391EEC-A41C-18BC-BDCD-7B1AE488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46095" name="Rectangle 48">
              <a:extLst>
                <a:ext uri="{FF2B5EF4-FFF2-40B4-BE49-F238E27FC236}">
                  <a16:creationId xmlns:a16="http://schemas.microsoft.com/office/drawing/2014/main" id="{7A6E94B7-5293-8356-0955-45B872DEB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46096" name="Straight Connector 46095">
              <a:extLst>
                <a:ext uri="{FF2B5EF4-FFF2-40B4-BE49-F238E27FC236}">
                  <a16:creationId xmlns:a16="http://schemas.microsoft.com/office/drawing/2014/main" id="{2E3DFF65-DEA5-792E-A3D9-4959D97AA66C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97" name="Straight Arrow Connector 46096">
            <a:extLst>
              <a:ext uri="{FF2B5EF4-FFF2-40B4-BE49-F238E27FC236}">
                <a16:creationId xmlns:a16="http://schemas.microsoft.com/office/drawing/2014/main" id="{975C4D04-CEDD-E575-F882-65754C10AD81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8" name="TextBox 46097">
            <a:extLst>
              <a:ext uri="{FF2B5EF4-FFF2-40B4-BE49-F238E27FC236}">
                <a16:creationId xmlns:a16="http://schemas.microsoft.com/office/drawing/2014/main" id="{CC1BEA38-F21C-CC00-DDA4-E4E5131C9DA4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46099" name="TextBox 46098">
            <a:extLst>
              <a:ext uri="{FF2B5EF4-FFF2-40B4-BE49-F238E27FC236}">
                <a16:creationId xmlns:a16="http://schemas.microsoft.com/office/drawing/2014/main" id="{11539972-5E3A-F7E2-5432-1DF91CEE850A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grpSp>
        <p:nvGrpSpPr>
          <p:cNvPr id="46100" name="Group 46099">
            <a:extLst>
              <a:ext uri="{FF2B5EF4-FFF2-40B4-BE49-F238E27FC236}">
                <a16:creationId xmlns:a16="http://schemas.microsoft.com/office/drawing/2014/main" id="{AE299350-36CC-1A57-92B8-AC1850C228B8}"/>
              </a:ext>
            </a:extLst>
          </p:cNvPr>
          <p:cNvGrpSpPr/>
          <p:nvPr/>
        </p:nvGrpSpPr>
        <p:grpSpPr>
          <a:xfrm>
            <a:off x="8035338" y="779187"/>
            <a:ext cx="1046826" cy="5753604"/>
            <a:chOff x="7836105" y="779387"/>
            <a:chExt cx="1046826" cy="5753604"/>
          </a:xfrm>
        </p:grpSpPr>
        <p:cxnSp>
          <p:nvCxnSpPr>
            <p:cNvPr id="46101" name="Straight Arrow Connector 46100">
              <a:extLst>
                <a:ext uri="{FF2B5EF4-FFF2-40B4-BE49-F238E27FC236}">
                  <a16:creationId xmlns:a16="http://schemas.microsoft.com/office/drawing/2014/main" id="{3B5F923B-9C34-6C95-631F-66B64C2C7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02" name="TextBox 46101">
              <a:extLst>
                <a:ext uri="{FF2B5EF4-FFF2-40B4-BE49-F238E27FC236}">
                  <a16:creationId xmlns:a16="http://schemas.microsoft.com/office/drawing/2014/main" id="{1E0BAD2F-45D7-5118-1568-04CDA42D095D}"/>
                </a:ext>
              </a:extLst>
            </p:cNvPr>
            <p:cNvSpPr txBox="1"/>
            <p:nvPr/>
          </p:nvSpPr>
          <p:spPr>
            <a:xfrm>
              <a:off x="7946456" y="6009771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46103" name="TextBox 46102">
              <a:extLst>
                <a:ext uri="{FF2B5EF4-FFF2-40B4-BE49-F238E27FC236}">
                  <a16:creationId xmlns:a16="http://schemas.microsoft.com/office/drawing/2014/main" id="{E6C60355-8027-7B10-923A-8EB2B2BB2961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46104" name="Straight Connector 46103">
            <a:extLst>
              <a:ext uri="{FF2B5EF4-FFF2-40B4-BE49-F238E27FC236}">
                <a16:creationId xmlns:a16="http://schemas.microsoft.com/office/drawing/2014/main" id="{E5FA3946-0CF0-D039-D05E-F65D1FD49CCB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9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27156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81507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37482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9172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44310" y="4721898"/>
            <a:ext cx="55898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latin typeface="Gill Sans MT (Body)"/>
              </a:rPr>
              <a:t>Gulliver’s Travels (by Jonathan Swift, published in 1726):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Two religious sects of Lilliputians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Little-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crack open their eggs from the little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Big-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break their eggs on the big end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B83D36-0F4F-4F93-08F7-401063672DF7}"/>
                  </a:ext>
                </a:extLst>
              </p14:cNvPr>
              <p14:cNvContentPartPr/>
              <p14:nvPr/>
            </p14:nvContentPartPr>
            <p14:xfrm>
              <a:off x="1569784" y="257335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B83D36-0F4F-4F93-08F7-401063672D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3664" y="256723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A8D1A75-7BCE-5001-B7FD-860367AB2A20}"/>
              </a:ext>
            </a:extLst>
          </p:cNvPr>
          <p:cNvCxnSpPr/>
          <p:nvPr/>
        </p:nvCxnSpPr>
        <p:spPr>
          <a:xfrm flipV="1">
            <a:off x="7209015" y="1754338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D0668CB-473A-55CE-4079-F5B7526A9F73}"/>
              </a:ext>
            </a:extLst>
          </p:cNvPr>
          <p:cNvSpPr txBox="1"/>
          <p:nvPr/>
        </p:nvSpPr>
        <p:spPr>
          <a:xfrm>
            <a:off x="6322973" y="1361924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9FC450-D061-4047-195B-62834D4FF71A}"/>
              </a:ext>
            </a:extLst>
          </p:cNvPr>
          <p:cNvSpPr txBox="1"/>
          <p:nvPr/>
        </p:nvSpPr>
        <p:spPr>
          <a:xfrm>
            <a:off x="6361140" y="3853321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6D35B3-706B-F0D2-EBD8-A24122BFB267}"/>
              </a:ext>
            </a:extLst>
          </p:cNvPr>
          <p:cNvGrpSpPr/>
          <p:nvPr/>
        </p:nvGrpSpPr>
        <p:grpSpPr>
          <a:xfrm>
            <a:off x="7326490" y="2156394"/>
            <a:ext cx="862242" cy="1232068"/>
            <a:chOff x="1005186" y="2119886"/>
            <a:chExt cx="835970" cy="123206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F910E99-F9C2-C368-F94E-D37F14062AF8}"/>
                </a:ext>
              </a:extLst>
            </p:cNvPr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6FD816-5500-E2E0-F214-64EDE31570CB}"/>
                </a:ext>
              </a:extLst>
            </p:cNvPr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1A8D5B-4F1B-0823-79F9-73E522813CA9}"/>
                </a:ext>
              </a:extLst>
            </p:cNvPr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AB67AD-0ABD-3445-8062-F16C28112B0E}"/>
                </a:ext>
              </a:extLst>
            </p:cNvPr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7F482A8-2B3E-7E38-F779-6670E500C22F}"/>
                  </a:ext>
                </a:extLst>
              </p14:cNvPr>
              <p14:cNvContentPartPr/>
              <p14:nvPr/>
            </p14:nvContentPartPr>
            <p14:xfrm>
              <a:off x="7843524" y="2609858"/>
              <a:ext cx="36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7F482A8-2B3E-7E38-F779-6670E500C2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37404" y="26037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39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10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5898" y="4216050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uint32_t a = 0x87654321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38582" y="5294531"/>
            <a:ext cx="3111500" cy="457200"/>
            <a:chOff x="2638582" y="5294531"/>
            <a:chExt cx="3111500" cy="457200"/>
          </a:xfrm>
        </p:grpSpPr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2638582" y="5300881"/>
              <a:ext cx="31115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C00000"/>
                </a:solidFill>
              </a:endParaRPr>
            </a:p>
          </p:txBody>
        </p:sp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4156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94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4918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61232" y="5324468"/>
              <a:ext cx="3060507" cy="389736"/>
              <a:chOff x="2661232" y="5162239"/>
              <a:chExt cx="3060507" cy="38973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661232" y="5182643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0x87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410281" y="5179215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0x65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03950" y="5169041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0x43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85640" y="5162239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0x21</a:t>
                </a:r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594308" y="4319037"/>
            <a:ext cx="5329582" cy="2284821"/>
            <a:chOff x="594308" y="4319037"/>
            <a:chExt cx="5329582" cy="2284821"/>
          </a:xfrm>
        </p:grpSpPr>
        <p:sp>
          <p:nvSpPr>
            <p:cNvPr id="30732" name="Rectangle 10"/>
            <p:cNvSpPr>
              <a:spLocks noChangeArrowheads="1"/>
            </p:cNvSpPr>
            <p:nvPr/>
          </p:nvSpPr>
          <p:spPr bwMode="auto">
            <a:xfrm>
              <a:off x="2631322" y="5000383"/>
              <a:ext cx="3292568" cy="2867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dirty="0">
                  <a:solidFill>
                    <a:srgbClr val="FF0000"/>
                  </a:solidFill>
                  <a:latin typeface="Arial" pitchFamily="34" charset="0"/>
                </a:rPr>
                <a:t>byte 3   byte 2   byte 1  byte 0</a:t>
              </a:r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594308" y="4319037"/>
              <a:ext cx="1788459" cy="2936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i="1" dirty="0">
                  <a:solidFill>
                    <a:srgbClr val="FF0000"/>
                  </a:solidFill>
                  <a:latin typeface="Arial" pitchFamily="34" charset="0"/>
                </a:rPr>
                <a:t>Little-Endian</a:t>
              </a:r>
              <a:endParaRPr lang="en-US" altLang="zh-TW" sz="1800" i="1" u="sng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94456" y="4597599"/>
              <a:ext cx="1533038" cy="2006259"/>
              <a:chOff x="794456" y="4597599"/>
              <a:chExt cx="1533038" cy="200625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794456" y="4934809"/>
                <a:ext cx="839228" cy="1232068"/>
                <a:chOff x="-5746041" y="2592963"/>
                <a:chExt cx="839228" cy="1232068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-5739716" y="3517254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0x21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-5744813" y="3211710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0x43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-5746041" y="2904171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0x65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-5746041" y="2592963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0x87</a:t>
                  </a:r>
                </a:p>
              </p:txBody>
            </p:sp>
          </p:grpSp>
          <p:cxnSp>
            <p:nvCxnSpPr>
              <p:cNvPr id="56" name="Straight Arrow Connector 55"/>
              <p:cNvCxnSpPr/>
              <p:nvPr/>
            </p:nvCxnSpPr>
            <p:spPr>
              <a:xfrm flipV="1">
                <a:off x="1754260" y="4830975"/>
                <a:ext cx="11080" cy="146757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181026" y="4597599"/>
                <a:ext cx="11464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High address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181026" y="6349942"/>
                <a:ext cx="10663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Low address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631322" y="4258745"/>
            <a:ext cx="4862848" cy="2270234"/>
            <a:chOff x="2631322" y="4258745"/>
            <a:chExt cx="4862848" cy="2270234"/>
          </a:xfrm>
        </p:grpSpPr>
        <p:grpSp>
          <p:nvGrpSpPr>
            <p:cNvPr id="14" name="Group 13"/>
            <p:cNvGrpSpPr/>
            <p:nvPr/>
          </p:nvGrpSpPr>
          <p:grpSpPr>
            <a:xfrm>
              <a:off x="2631322" y="4258745"/>
              <a:ext cx="4862848" cy="1853475"/>
              <a:chOff x="2631322" y="4258745"/>
              <a:chExt cx="4862848" cy="1853475"/>
            </a:xfrm>
          </p:grpSpPr>
          <p:sp>
            <p:nvSpPr>
              <p:cNvPr id="30734" name="Rectangle 12"/>
              <p:cNvSpPr>
                <a:spLocks noChangeArrowheads="1"/>
              </p:cNvSpPr>
              <p:nvPr/>
            </p:nvSpPr>
            <p:spPr bwMode="auto">
              <a:xfrm>
                <a:off x="2631322" y="5825475"/>
                <a:ext cx="3372718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dirty="0">
                    <a:solidFill>
                      <a:srgbClr val="0041FF"/>
                    </a:solidFill>
                    <a:latin typeface="Arial" pitchFamily="34" charset="0"/>
                  </a:rPr>
                  <a:t>byte 0   byte 1   byte 2   byte 3</a:t>
                </a:r>
              </a:p>
            </p:txBody>
          </p:sp>
          <p:sp>
            <p:nvSpPr>
              <p:cNvPr id="30735" name="Rectangle 13"/>
              <p:cNvSpPr>
                <a:spLocks noChangeArrowheads="1"/>
              </p:cNvSpPr>
              <p:nvPr/>
            </p:nvSpPr>
            <p:spPr bwMode="auto">
              <a:xfrm>
                <a:off x="6147648" y="4258745"/>
                <a:ext cx="1346522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i="1" dirty="0">
                    <a:solidFill>
                      <a:srgbClr val="0041FF"/>
                    </a:solidFill>
                    <a:latin typeface="Arial" pitchFamily="34" charset="0"/>
                  </a:rPr>
                  <a:t>Big-Endian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30089" y="4936356"/>
              <a:ext cx="839228" cy="1232068"/>
              <a:chOff x="7244808" y="2062252"/>
              <a:chExt cx="839228" cy="12320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251133" y="2986543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0x87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46036" y="2680999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0x65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44808" y="2373460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0x43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244808" y="2062252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0x21</a:t>
                </a: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 flipV="1">
              <a:off x="6418432" y="4819685"/>
              <a:ext cx="11080" cy="1467577"/>
            </a:xfrm>
            <a:prstGeom prst="straightConnector1">
              <a:avLst/>
            </a:prstGeom>
            <a:ln w="19050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196153" y="4522720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High address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96153" y="6275063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Low address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38551" y="586943"/>
            <a:ext cx="406893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Endian: byte order, not bit order!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19059" y="4712860"/>
            <a:ext cx="281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 the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0159" y="6100231"/>
            <a:ext cx="2654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41FF"/>
                </a:solidFill>
              </a:rPr>
              <a:t>Reading from the bottom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B755735-0455-2F68-0B33-BEB48E65F448}"/>
              </a:ext>
            </a:extLst>
          </p:cNvPr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6F3DA2-AA43-86AC-ED3A-68E36C5F4514}"/>
              </a:ext>
            </a:extLst>
          </p:cNvPr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D9067-EF45-BC43-CACE-CD57180B58D2}"/>
              </a:ext>
            </a:extLst>
          </p:cNvPr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1A5F73-76E3-F220-1574-B09AF2C25CAE}"/>
              </a:ext>
            </a:extLst>
          </p:cNvPr>
          <p:cNvGrpSpPr/>
          <p:nvPr/>
        </p:nvGrpSpPr>
        <p:grpSpPr>
          <a:xfrm>
            <a:off x="2271568" y="1312224"/>
            <a:ext cx="1523784" cy="1974442"/>
            <a:chOff x="2042699" y="4330762"/>
            <a:chExt cx="1113536" cy="1472105"/>
          </a:xfrm>
        </p:grpSpPr>
        <p:pic>
          <p:nvPicPr>
            <p:cNvPr id="36" name="Picture 2" descr="http://pngimg.com/upload/egg_PNG12.png">
              <a:extLst>
                <a:ext uri="{FF2B5EF4-FFF2-40B4-BE49-F238E27FC236}">
                  <a16:creationId xmlns:a16="http://schemas.microsoft.com/office/drawing/2014/main" id="{92A735EA-F918-C14E-F0C0-6C9524516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2BE606-A2F8-6172-FEB3-007D69AF2381}"/>
                </a:ext>
              </a:extLst>
            </p:cNvPr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3AA6142-1B90-CDD2-E484-6B9BA4D95169}"/>
                </a:ext>
              </a:extLst>
            </p:cNvPr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ED97A3-491F-125E-4A09-3E677CD3FB44}"/>
                </a:ext>
              </a:extLst>
            </p:cNvPr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B284D7-1135-A36F-F05E-ACB4A67D1594}"/>
              </a:ext>
            </a:extLst>
          </p:cNvPr>
          <p:cNvGrpSpPr/>
          <p:nvPr/>
        </p:nvGrpSpPr>
        <p:grpSpPr>
          <a:xfrm>
            <a:off x="4881507" y="1325416"/>
            <a:ext cx="1486230" cy="1925780"/>
            <a:chOff x="3818752" y="4334996"/>
            <a:chExt cx="1086093" cy="1435824"/>
          </a:xfrm>
        </p:grpSpPr>
        <p:pic>
          <p:nvPicPr>
            <p:cNvPr id="55" name="Picture 2" descr="http://pngimg.com/upload/egg_PNG12.png">
              <a:extLst>
                <a:ext uri="{FF2B5EF4-FFF2-40B4-BE49-F238E27FC236}">
                  <a16:creationId xmlns:a16="http://schemas.microsoft.com/office/drawing/2014/main" id="{FB3B574B-72E9-F8DC-893D-E1B61EBDB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072FB4-CEE1-2F7B-434C-0046F67C57AE}"/>
                </a:ext>
              </a:extLst>
            </p:cNvPr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30720" name="TextBox 30719">
              <a:extLst>
                <a:ext uri="{FF2B5EF4-FFF2-40B4-BE49-F238E27FC236}">
                  <a16:creationId xmlns:a16="http://schemas.microsoft.com/office/drawing/2014/main" id="{CA797864-EE84-69B8-672A-F3ADA03C9AB2}"/>
                </a:ext>
              </a:extLst>
            </p:cNvPr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30721" name="TextBox 30720">
              <a:extLst>
                <a:ext uri="{FF2B5EF4-FFF2-40B4-BE49-F238E27FC236}">
                  <a16:creationId xmlns:a16="http://schemas.microsoft.com/office/drawing/2014/main" id="{A321CB00-4C50-1EED-546C-78DD55FC6208}"/>
                </a:ext>
              </a:extLst>
            </p:cNvPr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0724" name="TextBox 30723">
            <a:extLst>
              <a:ext uri="{FF2B5EF4-FFF2-40B4-BE49-F238E27FC236}">
                <a16:creationId xmlns:a16="http://schemas.microsoft.com/office/drawing/2014/main" id="{39E612C2-C44C-8D04-88F1-78EFDB6C28A7}"/>
              </a:ext>
            </a:extLst>
          </p:cNvPr>
          <p:cNvSpPr txBox="1"/>
          <p:nvPr/>
        </p:nvSpPr>
        <p:spPr>
          <a:xfrm>
            <a:off x="237482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725" name="TextBox 30724">
            <a:extLst>
              <a:ext uri="{FF2B5EF4-FFF2-40B4-BE49-F238E27FC236}">
                <a16:creationId xmlns:a16="http://schemas.microsoft.com/office/drawing/2014/main" id="{FA2E1826-9F52-A95D-B01A-185B7DDF4896}"/>
              </a:ext>
            </a:extLst>
          </p:cNvPr>
          <p:cNvSpPr txBox="1"/>
          <p:nvPr/>
        </p:nvSpPr>
        <p:spPr>
          <a:xfrm>
            <a:off x="4989172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30730" name="Group 30729">
            <a:extLst>
              <a:ext uri="{FF2B5EF4-FFF2-40B4-BE49-F238E27FC236}">
                <a16:creationId xmlns:a16="http://schemas.microsoft.com/office/drawing/2014/main" id="{8E2F7AB9-AE1A-4058-0A66-968E5B627781}"/>
              </a:ext>
            </a:extLst>
          </p:cNvPr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30731" name="TextBox 30730">
              <a:extLst>
                <a:ext uri="{FF2B5EF4-FFF2-40B4-BE49-F238E27FC236}">
                  <a16:creationId xmlns:a16="http://schemas.microsoft.com/office/drawing/2014/main" id="{9E43220D-FE20-02AC-4480-1B328CA09B09}"/>
                </a:ext>
              </a:extLst>
            </p:cNvPr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0736" name="TextBox 30735">
              <a:extLst>
                <a:ext uri="{FF2B5EF4-FFF2-40B4-BE49-F238E27FC236}">
                  <a16:creationId xmlns:a16="http://schemas.microsoft.com/office/drawing/2014/main" id="{A91BDF00-DBC5-A16E-2565-7A0BBDF41580}"/>
                </a:ext>
              </a:extLst>
            </p:cNvPr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30737" name="TextBox 30736">
              <a:extLst>
                <a:ext uri="{FF2B5EF4-FFF2-40B4-BE49-F238E27FC236}">
                  <a16:creationId xmlns:a16="http://schemas.microsoft.com/office/drawing/2014/main" id="{4ED010FE-7329-FBCF-9711-D1D14575048B}"/>
                </a:ext>
              </a:extLst>
            </p:cNvPr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30738" name="TextBox 30737">
              <a:extLst>
                <a:ext uri="{FF2B5EF4-FFF2-40B4-BE49-F238E27FC236}">
                  <a16:creationId xmlns:a16="http://schemas.microsoft.com/office/drawing/2014/main" id="{AFE92A81-330B-9F0A-7F4E-6FF7017E6837}"/>
                </a:ext>
              </a:extLst>
            </p:cNvPr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30739" name="Straight Connector 30738">
            <a:extLst>
              <a:ext uri="{FF2B5EF4-FFF2-40B4-BE49-F238E27FC236}">
                <a16:creationId xmlns:a16="http://schemas.microsoft.com/office/drawing/2014/main" id="{53227A04-9A5E-F7BA-6B9B-D69203024E5A}"/>
              </a:ext>
            </a:extLst>
          </p:cNvPr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740" name="Ink 30739">
                <a:extLst>
                  <a:ext uri="{FF2B5EF4-FFF2-40B4-BE49-F238E27FC236}">
                    <a16:creationId xmlns:a16="http://schemas.microsoft.com/office/drawing/2014/main" id="{719FACF6-4F4C-0BBC-DB59-B44CBDF67DC0}"/>
                  </a:ext>
                </a:extLst>
              </p14:cNvPr>
              <p14:cNvContentPartPr/>
              <p14:nvPr/>
            </p14:nvContentPartPr>
            <p14:xfrm>
              <a:off x="1569784" y="2573350"/>
              <a:ext cx="360" cy="360"/>
            </p14:xfrm>
          </p:contentPart>
        </mc:Choice>
        <mc:Fallback>
          <p:pic>
            <p:nvPicPr>
              <p:cNvPr id="30740" name="Ink 30739">
                <a:extLst>
                  <a:ext uri="{FF2B5EF4-FFF2-40B4-BE49-F238E27FC236}">
                    <a16:creationId xmlns:a16="http://schemas.microsoft.com/office/drawing/2014/main" id="{719FACF6-4F4C-0BBC-DB59-B44CBDF67D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3664" y="256723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30741" name="Straight Arrow Connector 30740">
            <a:extLst>
              <a:ext uri="{FF2B5EF4-FFF2-40B4-BE49-F238E27FC236}">
                <a16:creationId xmlns:a16="http://schemas.microsoft.com/office/drawing/2014/main" id="{08EC9B4E-0FB2-8A1F-6814-34DE52FB8265}"/>
              </a:ext>
            </a:extLst>
          </p:cNvPr>
          <p:cNvCxnSpPr/>
          <p:nvPr/>
        </p:nvCxnSpPr>
        <p:spPr>
          <a:xfrm flipV="1">
            <a:off x="7209015" y="1754338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2" name="TextBox 30741">
            <a:extLst>
              <a:ext uri="{FF2B5EF4-FFF2-40B4-BE49-F238E27FC236}">
                <a16:creationId xmlns:a16="http://schemas.microsoft.com/office/drawing/2014/main" id="{BCC0AD26-0F87-B812-657D-EFF29B6F7D6F}"/>
              </a:ext>
            </a:extLst>
          </p:cNvPr>
          <p:cNvSpPr txBox="1"/>
          <p:nvPr/>
        </p:nvSpPr>
        <p:spPr>
          <a:xfrm>
            <a:off x="6322973" y="1361924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30743" name="TextBox 30742">
            <a:extLst>
              <a:ext uri="{FF2B5EF4-FFF2-40B4-BE49-F238E27FC236}">
                <a16:creationId xmlns:a16="http://schemas.microsoft.com/office/drawing/2014/main" id="{6A4EE2D4-C3BE-87A5-EF12-261E054F22A3}"/>
              </a:ext>
            </a:extLst>
          </p:cNvPr>
          <p:cNvSpPr txBox="1"/>
          <p:nvPr/>
        </p:nvSpPr>
        <p:spPr>
          <a:xfrm>
            <a:off x="6361140" y="3853321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30744" name="Group 30743">
            <a:extLst>
              <a:ext uri="{FF2B5EF4-FFF2-40B4-BE49-F238E27FC236}">
                <a16:creationId xmlns:a16="http://schemas.microsoft.com/office/drawing/2014/main" id="{C7B46250-2F01-E394-4CE1-06CAF76FE79A}"/>
              </a:ext>
            </a:extLst>
          </p:cNvPr>
          <p:cNvGrpSpPr/>
          <p:nvPr/>
        </p:nvGrpSpPr>
        <p:grpSpPr>
          <a:xfrm>
            <a:off x="7326490" y="2156394"/>
            <a:ext cx="862242" cy="1232068"/>
            <a:chOff x="1005186" y="2119886"/>
            <a:chExt cx="835970" cy="1232068"/>
          </a:xfrm>
        </p:grpSpPr>
        <p:sp>
          <p:nvSpPr>
            <p:cNvPr id="30745" name="TextBox 30744">
              <a:extLst>
                <a:ext uri="{FF2B5EF4-FFF2-40B4-BE49-F238E27FC236}">
                  <a16:creationId xmlns:a16="http://schemas.microsoft.com/office/drawing/2014/main" id="{FCDA03CA-D1D1-F4D4-A585-C54AF546BDE7}"/>
                </a:ext>
              </a:extLst>
            </p:cNvPr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  <p:sp>
          <p:nvSpPr>
            <p:cNvPr id="30746" name="TextBox 30745">
              <a:extLst>
                <a:ext uri="{FF2B5EF4-FFF2-40B4-BE49-F238E27FC236}">
                  <a16:creationId xmlns:a16="http://schemas.microsoft.com/office/drawing/2014/main" id="{12626B3A-0311-4C2E-893A-428E48B61318}"/>
                </a:ext>
              </a:extLst>
            </p:cNvPr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30747" name="TextBox 30746">
              <a:extLst>
                <a:ext uri="{FF2B5EF4-FFF2-40B4-BE49-F238E27FC236}">
                  <a16:creationId xmlns:a16="http://schemas.microsoft.com/office/drawing/2014/main" id="{7AC163E3-C3A7-BA7F-F446-85EF657D403B}"/>
                </a:ext>
              </a:extLst>
            </p:cNvPr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30748" name="TextBox 30747">
              <a:extLst>
                <a:ext uri="{FF2B5EF4-FFF2-40B4-BE49-F238E27FC236}">
                  <a16:creationId xmlns:a16="http://schemas.microsoft.com/office/drawing/2014/main" id="{FEF56AFE-8EAC-E7A7-2CDA-0806CFC22FCE}"/>
                </a:ext>
              </a:extLst>
            </p:cNvPr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749" name="Ink 30748">
                <a:extLst>
                  <a:ext uri="{FF2B5EF4-FFF2-40B4-BE49-F238E27FC236}">
                    <a16:creationId xmlns:a16="http://schemas.microsoft.com/office/drawing/2014/main" id="{EABE70C1-4E82-A507-D60B-B93F246FBDB9}"/>
                  </a:ext>
                </a:extLst>
              </p14:cNvPr>
              <p14:cNvContentPartPr/>
              <p14:nvPr/>
            </p14:nvContentPartPr>
            <p14:xfrm>
              <a:off x="7843524" y="2609858"/>
              <a:ext cx="360" cy="360"/>
            </p14:xfrm>
          </p:contentPart>
        </mc:Choice>
        <mc:Fallback>
          <p:pic>
            <p:nvPicPr>
              <p:cNvPr id="30749" name="Ink 30748">
                <a:extLst>
                  <a:ext uri="{FF2B5EF4-FFF2-40B4-BE49-F238E27FC236}">
                    <a16:creationId xmlns:a16="http://schemas.microsoft.com/office/drawing/2014/main" id="{EABE70C1-4E82-A507-D60B-B93F246FBD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37404" y="26037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77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 animBg="1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11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4781B3-1E19-401F-93EB-A108C49624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464858" cy="4967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Least significant byte (LSB)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0041FF"/>
                </a:solidFill>
              </a:rPr>
              <a:t>Big-Endian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Most significant byte (MSB)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Regardless of endianness, the address of a word is defined as the lowest address of all bytes it occupies.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ARM is </a:t>
            </a:r>
            <a:r>
              <a:rPr lang="en-US" altLang="zh-TW" sz="2000" b="0" i="1" dirty="0">
                <a:solidFill>
                  <a:srgbClr val="C00000"/>
                </a:solidFill>
              </a:rPr>
              <a:t>Little-Endian by default</a:t>
            </a:r>
            <a:r>
              <a:rPr lang="en-US" altLang="zh-TW" sz="2000" b="0" dirty="0"/>
              <a:t>.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1700" b="0" dirty="0"/>
              <a:t>It can be made Big-Endian by configuration.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altLang="zh-TW" sz="2400" b="0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zh-TW" altLang="en-US" sz="2000" b="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66" y="3893764"/>
            <a:ext cx="6415159" cy="2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655" y="5863065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bottom</a:t>
            </a:r>
          </a:p>
        </p:txBody>
      </p:sp>
    </p:spTree>
    <p:extLst>
      <p:ext uri="{BB962C8B-B14F-4D97-AF65-F5344CB8AC3E}">
        <p14:creationId xmlns:p14="http://schemas.microsoft.com/office/powerpoint/2010/main" val="794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9DD-57FD-25FA-A5FC-A91B1512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F284A-63C8-E718-3662-CA2713F5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3D12-2DFF-695D-CF13-F6D90052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4501"/>
            <a:ext cx="3301604" cy="199191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27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3336A80-AD5F-233D-C88B-06FEB143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674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FF 00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78 56 34 12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97DCAA-7B22-7D1D-DC62-7B3DD7450387}"/>
              </a:ext>
            </a:extLst>
          </p:cNvPr>
          <p:cNvSpPr txBox="1">
            <a:spLocks/>
          </p:cNvSpPr>
          <p:nvPr/>
        </p:nvSpPr>
        <p:spPr>
          <a:xfrm>
            <a:off x="457200" y="1820465"/>
            <a:ext cx="3200400" cy="74295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50"/>
              <a:t>Little-Endian</a:t>
            </a:r>
          </a:p>
          <a:p>
            <a:pPr lvl="1"/>
            <a:r>
              <a:rPr lang="en-US" altLang="en-US" sz="1725"/>
              <a:t>LSB is at lower address</a:t>
            </a:r>
            <a:endParaRPr lang="en-US" altLang="en-US" sz="1725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DC6AB8-4346-7881-19B3-F249E4C4AD0B}"/>
              </a:ext>
            </a:extLst>
          </p:cNvPr>
          <p:cNvSpPr txBox="1">
            <a:spLocks/>
          </p:cNvSpPr>
          <p:nvPr/>
        </p:nvSpPr>
        <p:spPr bwMode="auto">
          <a:xfrm>
            <a:off x="457200" y="3820715"/>
            <a:ext cx="341376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Big-</a:t>
            </a:r>
            <a:r>
              <a:rPr lang="en-US" sz="2100" kern="0" dirty="0" err="1">
                <a:latin typeface="+mn-lt"/>
                <a:ea typeface="ＭＳ Ｐゴシック" pitchFamily="-107" charset="-128"/>
                <a:cs typeface="ＭＳ Ｐゴシック" pitchFamily="-107" charset="-128"/>
              </a:rPr>
              <a:t>Endian</a:t>
            </a:r>
            <a:endParaRPr lang="en-US" sz="2100" kern="0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557213" lvl="1" indent="-214313">
              <a:spcBef>
                <a:spcPct val="20000"/>
              </a:spcBef>
              <a:buFontTx/>
              <a:buChar char="–"/>
              <a:defRPr/>
            </a:pPr>
            <a:r>
              <a:rPr lang="en-US" sz="18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MSB is at lower address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826439B-04E7-B2F9-3FFF-7C7DCEBF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699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(MSB) (LSB)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00 FF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12 34 56 78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8BD3D6-531D-3875-8CD3-DD211D1E0EAA}"/>
              </a:ext>
            </a:extLst>
          </p:cNvPr>
          <p:cNvSpPr txBox="1">
            <a:spLocks noChangeArrowheads="1"/>
          </p:cNvSpPr>
          <p:nvPr/>
        </p:nvSpPr>
        <p:spPr>
          <a:xfrm>
            <a:off x="4057650" y="1805225"/>
            <a:ext cx="4761808" cy="35097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uint8_t a and b, each with size of 1 Byte: No difference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Little-endian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lower address and MSB 00 is at higher address</a:t>
            </a:r>
          </a:p>
          <a:p>
            <a:pPr lvl="1"/>
            <a:r>
              <a:rPr lang="en-US" sz="1500" dirty="0"/>
              <a:t>For uint32_t d with size of 4 Bytes: LSB 78 is at lower address and MSB 12 is at higher address.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Big-endian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00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</a:t>
            </a:r>
          </a:p>
          <a:p>
            <a:pPr lvl="1"/>
            <a:r>
              <a:rPr lang="en-US" sz="1500" dirty="0"/>
              <a:t>For uint32_t d with size of 4 Bytes: LSB 78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12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address.</a:t>
            </a:r>
          </a:p>
          <a:p>
            <a:endParaRPr lang="en-GB" sz="15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510AB7-48DA-DB97-9A67-22DB09921622}"/>
              </a:ext>
            </a:extLst>
          </p:cNvPr>
          <p:cNvCxnSpPr/>
          <p:nvPr/>
        </p:nvCxnSpPr>
        <p:spPr>
          <a:xfrm>
            <a:off x="2457729" y="3558570"/>
            <a:ext cx="1244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93980D1-C4D6-EDE3-0F0F-EC5F49BC3883}"/>
              </a:ext>
            </a:extLst>
          </p:cNvPr>
          <p:cNvSpPr txBox="1"/>
          <p:nvPr/>
        </p:nvSpPr>
        <p:spPr>
          <a:xfrm>
            <a:off x="1914245" y="3506416"/>
            <a:ext cx="1968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Increasing mem. </a:t>
            </a:r>
            <a:r>
              <a:rPr lang="en-US" sz="1100" dirty="0" err="1"/>
              <a:t>addr</a:t>
            </a:r>
            <a:r>
              <a:rPr lang="en-US" sz="1100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336767-1E33-4701-6A44-CD195FCB815F}"/>
              </a:ext>
            </a:extLst>
          </p:cNvPr>
          <p:cNvCxnSpPr/>
          <p:nvPr/>
        </p:nvCxnSpPr>
        <p:spPr>
          <a:xfrm>
            <a:off x="2441175" y="5543452"/>
            <a:ext cx="1244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547E3E-538F-464E-3AE7-98B705059DA5}"/>
              </a:ext>
            </a:extLst>
          </p:cNvPr>
          <p:cNvSpPr txBox="1"/>
          <p:nvPr/>
        </p:nvSpPr>
        <p:spPr>
          <a:xfrm>
            <a:off x="1897691" y="5491298"/>
            <a:ext cx="1968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Increasing mem. </a:t>
            </a:r>
            <a:r>
              <a:rPr lang="en-US" sz="1100" dirty="0" err="1"/>
              <a:t>addr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9374474"/>
      </p:ext>
    </p:extLst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01708"/>
              </p:ext>
            </p:extLst>
          </p:nvPr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5FB4D-594C-9853-7F5E-FBB8A9CC2E2B}"/>
              </a:ext>
            </a:extLst>
          </p:cNvPr>
          <p:cNvSpPr/>
          <p:nvPr/>
        </p:nvSpPr>
        <p:spPr>
          <a:xfrm>
            <a:off x="1068814" y="56735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3351-C241-9619-5193-8ECBEDBF9229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404075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F714-92BD-D473-172C-232BC04F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4C185ED2-CDD6-5E00-0478-C6BF034A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FA9C671-801E-5C0E-599B-B247A65A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0C5BD073-26C5-49F8-EFDD-71F4A79F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D8647D0-ED51-2D99-83EC-C390CF94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C72267-C1E6-4EC8-966D-70FBDE6E9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E5E4A0-F329-83D8-A981-399B8134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F5CC-1BC8-5FF7-98B9-188201F0E11C}"/>
              </a:ext>
            </a:extLst>
          </p:cNvPr>
          <p:cNvGraphicFramePr>
            <a:graphicFrameLocks noGrp="1"/>
          </p:cNvGraphicFramePr>
          <p:nvPr/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654926-5D04-A184-8669-A6969F11A753}"/>
              </a:ext>
            </a:extLst>
          </p:cNvPr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7230-3283-6E82-256A-205D9C087AF6}"/>
              </a:ext>
            </a:extLst>
          </p:cNvPr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3B08-CC25-F5C4-0B03-A53906A8788B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92895-3A6A-875E-C632-7FDD8F00AA8A}"/>
              </a:ext>
            </a:extLst>
          </p:cNvPr>
          <p:cNvSpPr/>
          <p:nvPr/>
        </p:nvSpPr>
        <p:spPr>
          <a:xfrm>
            <a:off x="974851" y="568747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4C8F7-5953-B836-E4D1-CE13400EB1A9}"/>
              </a:ext>
            </a:extLst>
          </p:cNvPr>
          <p:cNvSpPr/>
          <p:nvPr/>
        </p:nvSpPr>
        <p:spPr>
          <a:xfrm>
            <a:off x="987590" y="5647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8725-8F20-0166-E842-3E887C8FCDED}"/>
              </a:ext>
            </a:extLst>
          </p:cNvPr>
          <p:cNvSpPr txBox="1"/>
          <p:nvPr/>
        </p:nvSpPr>
        <p:spPr>
          <a:xfrm>
            <a:off x="4823292" y="1390951"/>
            <a:ext cx="432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41FF"/>
                </a:solidFill>
              </a:rPr>
              <a:t>Endianness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195886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27847" y="3935505"/>
            <a:ext cx="7306235" cy="20439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Assume the memory address of x is stored in r1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value of x from memory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r0, r0, #1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x = x + 1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x into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752" y="1860209"/>
            <a:ext cx="2873837" cy="646331"/>
          </a:xfrm>
          <a:prstGeom prst="rect">
            <a:avLst/>
          </a:prstGeom>
          <a:ln>
            <a:solidFill>
              <a:srgbClr val="00618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22377" y="2743199"/>
            <a:ext cx="358588" cy="851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65929" y="1323797"/>
            <a:ext cx="275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92CBE-0919-674D-B868-A0FA0261DE88}"/>
              </a:ext>
            </a:extLst>
          </p:cNvPr>
          <p:cNvSpPr txBox="1"/>
          <p:nvPr/>
        </p:nvSpPr>
        <p:spPr>
          <a:xfrm>
            <a:off x="4580964" y="2847199"/>
            <a:ext cx="395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variable X resides in memory and is a 32-bit integer</a:t>
            </a:r>
          </a:p>
        </p:txBody>
      </p:sp>
    </p:spTree>
    <p:extLst>
      <p:ext uri="{BB962C8B-B14F-4D97-AF65-F5344CB8AC3E}">
        <p14:creationId xmlns:p14="http://schemas.microsoft.com/office/powerpoint/2010/main" val="22404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3689-4077-DD41-84D7-94D2A56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Steps: Load, Modify,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D52A9-ACBD-AA45-8416-2E844AF1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C0AE0-3F6D-9446-98BC-2177D8F5ED78}"/>
              </a:ext>
            </a:extLst>
          </p:cNvPr>
          <p:cNvSpPr/>
          <p:nvPr/>
        </p:nvSpPr>
        <p:spPr>
          <a:xfrm>
            <a:off x="4978400" y="1554162"/>
            <a:ext cx="1843774" cy="208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29DF62-7B61-414C-9B84-F7D2EE4EAC47}"/>
              </a:ext>
            </a:extLst>
          </p:cNvPr>
          <p:cNvSpPr/>
          <p:nvPr/>
        </p:nvSpPr>
        <p:spPr>
          <a:xfrm rot="16200000">
            <a:off x="1552448" y="2032000"/>
            <a:ext cx="2082800" cy="1127125"/>
          </a:xfrm>
          <a:prstGeom prst="trapezoid">
            <a:avLst>
              <a:gd name="adj" fmla="val 57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959C8-27E8-E645-AB23-AAE9B2C143F5}"/>
              </a:ext>
            </a:extLst>
          </p:cNvPr>
          <p:cNvSpPr txBox="1"/>
          <p:nvPr/>
        </p:nvSpPr>
        <p:spPr>
          <a:xfrm>
            <a:off x="2224997" y="2287736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2917-8596-C84F-824B-BF1F2D9B7F91}"/>
              </a:ext>
            </a:extLst>
          </p:cNvPr>
          <p:cNvSpPr txBox="1"/>
          <p:nvPr/>
        </p:nvSpPr>
        <p:spPr>
          <a:xfrm>
            <a:off x="4978400" y="155416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Registers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C77F8-AB0D-2640-8841-1E6361EF0C53}"/>
              </a:ext>
            </a:extLst>
          </p:cNvPr>
          <p:cNvCxnSpPr/>
          <p:nvPr/>
        </p:nvCxnSpPr>
        <p:spPr>
          <a:xfrm flipH="1">
            <a:off x="3157411" y="2015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C9D51C-6D90-2F4D-898A-60EBB51B59E8}"/>
              </a:ext>
            </a:extLst>
          </p:cNvPr>
          <p:cNvCxnSpPr/>
          <p:nvPr/>
        </p:nvCxnSpPr>
        <p:spPr>
          <a:xfrm flipH="1">
            <a:off x="3157410" y="3031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FA2F9-ED65-A740-B4B1-EF045FEDC4B2}"/>
              </a:ext>
            </a:extLst>
          </p:cNvPr>
          <p:cNvCxnSpPr>
            <a:cxnSpLocks/>
          </p:cNvCxnSpPr>
          <p:nvPr/>
        </p:nvCxnSpPr>
        <p:spPr>
          <a:xfrm flipH="1">
            <a:off x="1282700" y="2595562"/>
            <a:ext cx="747586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0476C-8AC9-8B45-B377-5E906BDE27CC}"/>
              </a:ext>
            </a:extLst>
          </p:cNvPr>
          <p:cNvCxnSpPr>
            <a:cxnSpLocks/>
          </p:cNvCxnSpPr>
          <p:nvPr/>
        </p:nvCxnSpPr>
        <p:spPr>
          <a:xfrm>
            <a:off x="1282700" y="1274762"/>
            <a:ext cx="70955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82C21-F9BF-1546-8183-E6B9775BE1B5}"/>
              </a:ext>
            </a:extLst>
          </p:cNvPr>
          <p:cNvCxnSpPr>
            <a:cxnSpLocks/>
          </p:cNvCxnSpPr>
          <p:nvPr/>
        </p:nvCxnSpPr>
        <p:spPr>
          <a:xfrm flipV="1">
            <a:off x="1313636" y="1274762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2EBE0-54A4-AB45-BC19-776F881E4274}"/>
              </a:ext>
            </a:extLst>
          </p:cNvPr>
          <p:cNvCxnSpPr>
            <a:cxnSpLocks/>
          </p:cNvCxnSpPr>
          <p:nvPr/>
        </p:nvCxnSpPr>
        <p:spPr>
          <a:xfrm flipV="1">
            <a:off x="8378244" y="1276299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5C9FE-5D5A-1149-A6AB-F1FD44773D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822174" y="2595563"/>
            <a:ext cx="1556070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E6215-EE03-7443-9D43-B3FD6D1C29AC}"/>
              </a:ext>
            </a:extLst>
          </p:cNvPr>
          <p:cNvSpPr/>
          <p:nvPr/>
        </p:nvSpPr>
        <p:spPr>
          <a:xfrm>
            <a:off x="3099937" y="4517596"/>
            <a:ext cx="5600700" cy="171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15E63-ECA0-6C4A-9918-61EC01B176B7}"/>
              </a:ext>
            </a:extLst>
          </p:cNvPr>
          <p:cNvSpPr txBox="1"/>
          <p:nvPr/>
        </p:nvSpPr>
        <p:spPr>
          <a:xfrm>
            <a:off x="5293487" y="532816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5EF4B-6DD3-034E-B46F-A9409DA64FA8}"/>
              </a:ext>
            </a:extLst>
          </p:cNvPr>
          <p:cNvSpPr txBox="1"/>
          <p:nvPr/>
        </p:nvSpPr>
        <p:spPr>
          <a:xfrm>
            <a:off x="7134480" y="266976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Modify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FD1D-89E6-F444-8211-CA84EE6BA5CF}"/>
              </a:ext>
            </a:extLst>
          </p:cNvPr>
          <p:cNvGrpSpPr/>
          <p:nvPr/>
        </p:nvGrpSpPr>
        <p:grpSpPr>
          <a:xfrm>
            <a:off x="4701202" y="3636963"/>
            <a:ext cx="1198283" cy="872529"/>
            <a:chOff x="4701202" y="3636963"/>
            <a:chExt cx="1198283" cy="87252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C9B2AD7-52EB-6B41-BE9F-64D268C4607F}"/>
                </a:ext>
              </a:extLst>
            </p:cNvPr>
            <p:cNvCxnSpPr>
              <a:cxnSpLocks/>
            </p:cNvCxnSpPr>
            <p:nvPr/>
          </p:nvCxnSpPr>
          <p:spPr>
            <a:xfrm>
              <a:off x="5164635" y="3636963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D9C4A1-C00A-7448-9459-5DA9589CAD57}"/>
                </a:ext>
              </a:extLst>
            </p:cNvPr>
            <p:cNvSpPr txBox="1"/>
            <p:nvPr/>
          </p:nvSpPr>
          <p:spPr>
            <a:xfrm>
              <a:off x="5163386" y="389583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Load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4EA1C85B-A0D0-1442-A9F6-FE7131180567}"/>
                </a:ext>
              </a:extLst>
            </p:cNvPr>
            <p:cNvSpPr/>
            <p:nvPr/>
          </p:nvSpPr>
          <p:spPr>
            <a:xfrm>
              <a:off x="4701202" y="3918545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6" name="Heptagon 35">
            <a:extLst>
              <a:ext uri="{FF2B5EF4-FFF2-40B4-BE49-F238E27FC236}">
                <a16:creationId xmlns:a16="http://schemas.microsoft.com/office/drawing/2014/main" id="{61F8CEE9-2F52-7A4F-8B35-0CC205F43AF7}"/>
              </a:ext>
            </a:extLst>
          </p:cNvPr>
          <p:cNvSpPr/>
          <p:nvPr/>
        </p:nvSpPr>
        <p:spPr>
          <a:xfrm>
            <a:off x="7468960" y="2156817"/>
            <a:ext cx="342857" cy="325570"/>
          </a:xfrm>
          <a:prstGeom prst="heptag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A12AD8-D265-3A4E-89EA-9B382597EBD1}"/>
              </a:ext>
            </a:extLst>
          </p:cNvPr>
          <p:cNvGrpSpPr/>
          <p:nvPr/>
        </p:nvGrpSpPr>
        <p:grpSpPr>
          <a:xfrm>
            <a:off x="6081499" y="3645066"/>
            <a:ext cx="1376683" cy="872529"/>
            <a:chOff x="6081499" y="3645066"/>
            <a:chExt cx="1376683" cy="87252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CD1F14E-1A4A-2445-976C-E8F4092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521790" y="3645066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F86D59-47C2-7545-A61F-2191C2AC9D65}"/>
                </a:ext>
              </a:extLst>
            </p:cNvPr>
            <p:cNvSpPr txBox="1"/>
            <p:nvPr/>
          </p:nvSpPr>
          <p:spPr>
            <a:xfrm>
              <a:off x="6584225" y="3889393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Store</a:t>
              </a: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C1E0AF44-20B7-E841-AEE8-AF2EA828EB92}"/>
                </a:ext>
              </a:extLst>
            </p:cNvPr>
            <p:cNvSpPr/>
            <p:nvPr/>
          </p:nvSpPr>
          <p:spPr>
            <a:xfrm>
              <a:off x="6081499" y="3910442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D5B263-8011-8D43-9B8B-257940F38D61}"/>
              </a:ext>
            </a:extLst>
          </p:cNvPr>
          <p:cNvSpPr txBox="1"/>
          <p:nvPr/>
        </p:nvSpPr>
        <p:spPr>
          <a:xfrm>
            <a:off x="389136" y="3765400"/>
            <a:ext cx="2893260" cy="64633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2E033-66B6-3746-AF04-A42D4CE97AE8}"/>
              </a:ext>
            </a:extLst>
          </p:cNvPr>
          <p:cNvSpPr/>
          <p:nvPr/>
        </p:nvSpPr>
        <p:spPr>
          <a:xfrm>
            <a:off x="3099937" y="4661064"/>
            <a:ext cx="55868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 x resides in memory!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C1A63-FB20-2845-8C98-6362E8CCEAE0}"/>
              </a:ext>
            </a:extLst>
          </p:cNvPr>
          <p:cNvSpPr txBox="1"/>
          <p:nvPr/>
        </p:nvSpPr>
        <p:spPr>
          <a:xfrm>
            <a:off x="101600" y="5079413"/>
            <a:ext cx="298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ALU cannot directly operate memory data!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2C09A9-F1AF-9D4D-8EDD-1825C4428C6A}"/>
              </a:ext>
            </a:extLst>
          </p:cNvPr>
          <p:cNvCxnSpPr>
            <a:cxnSpLocks/>
          </p:cNvCxnSpPr>
          <p:nvPr/>
        </p:nvCxnSpPr>
        <p:spPr>
          <a:xfrm flipH="1" flipV="1">
            <a:off x="3157410" y="3039101"/>
            <a:ext cx="1211390" cy="1478494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F02824-736B-2B42-9739-768D8A8E7351}"/>
              </a:ext>
            </a:extLst>
          </p:cNvPr>
          <p:cNvCxnSpPr>
            <a:cxnSpLocks/>
          </p:cNvCxnSpPr>
          <p:nvPr/>
        </p:nvCxnSpPr>
        <p:spPr>
          <a:xfrm flipH="1" flipV="1">
            <a:off x="3536099" y="3778348"/>
            <a:ext cx="549996" cy="84416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C5BC18-FE05-2E40-82C1-1402E009EA71}"/>
              </a:ext>
            </a:extLst>
          </p:cNvPr>
          <p:cNvCxnSpPr>
            <a:cxnSpLocks/>
          </p:cNvCxnSpPr>
          <p:nvPr/>
        </p:nvCxnSpPr>
        <p:spPr>
          <a:xfrm flipH="1">
            <a:off x="3690844" y="3636963"/>
            <a:ext cx="194561" cy="436264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4258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endParaRPr lang="en-US" sz="2000" b="1" dirty="0">
              <a:latin typeface="Courier New" pitchFamily="49" charset="0"/>
            </a:endParaRPr>
          </a:p>
          <a:p>
            <a:pPr lvl="1"/>
            <a:r>
              <a:rPr lang="en-US" sz="1800" b="1" dirty="0">
                <a:latin typeface="Courier New" pitchFamily="49" charset="0"/>
              </a:rPr>
              <a:t>Read from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L</a:t>
            </a:r>
            <a:r>
              <a:rPr lang="en-US" sz="1800" dirty="0" err="1">
                <a:latin typeface="Courier New" pitchFamily="49" charset="0"/>
              </a:rPr>
              <a:t>oa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to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LDR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the memory address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holds the 32-bit value fetched from memory</a:t>
            </a:r>
          </a:p>
          <a:p>
            <a:pPr lvl="1"/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274320" lvl="1" indent="0">
              <a:buNone/>
            </a:pPr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3628" y="3993710"/>
            <a:ext cx="7119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Load a word: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LDR r1, [r0]	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r1 =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</a:t>
            </a:r>
          </a:p>
        </p:txBody>
      </p:sp>
    </p:spTree>
    <p:extLst>
      <p:ext uri="{BB962C8B-B14F-4D97-AF65-F5344CB8AC3E}">
        <p14:creationId xmlns:p14="http://schemas.microsoft.com/office/powerpoint/2010/main" val="263063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STR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 lvl="1"/>
            <a:r>
              <a:rPr lang="en-US" sz="1800" b="1" dirty="0">
                <a:latin typeface="Courier New" pitchFamily="49" charset="0"/>
              </a:rPr>
              <a:t>Write into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800" dirty="0" err="1">
                <a:latin typeface="Courier New" pitchFamily="49" charset="0"/>
              </a:rPr>
              <a:t>ore</a:t>
            </a:r>
            <a:r>
              <a:rPr lang="en-US" sz="1800" dirty="0">
                <a:latin typeface="Courier New" pitchFamily="49" charset="0"/>
              </a:rPr>
              <a:t> from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memory address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Save the content of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into memory</a:t>
            </a:r>
          </a:p>
          <a:p>
            <a:pPr marL="274320" lvl="1" indent="0">
              <a:buNone/>
            </a:pP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73627" y="4018416"/>
            <a:ext cx="7519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Store a word	</a:t>
            </a: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STR r1, [r0]	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 = r1</a:t>
            </a:r>
          </a:p>
        </p:txBody>
      </p:sp>
    </p:spTree>
    <p:extLst>
      <p:ext uri="{BB962C8B-B14F-4D97-AF65-F5344CB8AC3E}">
        <p14:creationId xmlns:p14="http://schemas.microsoft.com/office/powerpoint/2010/main" val="39234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a Byte, Halfword, Word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28074"/>
              </p:ext>
            </p:extLst>
          </p:nvPr>
        </p:nvGraphicFramePr>
        <p:xfrm>
          <a:off x="192796" y="2064830"/>
          <a:ext cx="8758408" cy="1487957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1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984">
                  <a:extLst>
                    <a:ext uri="{9D8B030D-6E8A-4147-A177-3AD203B41FA5}">
                      <a16:colId xmlns:a16="http://schemas.microsoft.com/office/drawing/2014/main" val="3112911379"/>
                    </a:ext>
                  </a:extLst>
                </a:gridCol>
                <a:gridCol w="3139806">
                  <a:extLst>
                    <a:ext uri="{9D8B030D-6E8A-4147-A177-3AD203B41FA5}">
                      <a16:colId xmlns:a16="http://schemas.microsoft.com/office/drawing/2014/main" val="3591246109"/>
                    </a:ext>
                  </a:extLst>
                </a:gridCol>
              </a:tblGrid>
              <a:tr h="1115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48415"/>
              </p:ext>
            </p:extLst>
          </p:nvPr>
        </p:nvGraphicFramePr>
        <p:xfrm>
          <a:off x="156742" y="4723537"/>
          <a:ext cx="8794461" cy="8229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357">
                  <a:extLst>
                    <a:ext uri="{9D8B030D-6E8A-4147-A177-3AD203B41FA5}">
                      <a16:colId xmlns:a16="http://schemas.microsoft.com/office/drawing/2014/main" val="2807805557"/>
                    </a:ext>
                  </a:extLst>
                </a:gridCol>
                <a:gridCol w="3222432">
                  <a:extLst>
                    <a:ext uri="{9D8B030D-6E8A-4147-A177-3AD203B41FA5}">
                      <a16:colId xmlns:a16="http://schemas.microsoft.com/office/drawing/2014/main" val="208729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uint8_t/int8_t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char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  <a:r>
                        <a:rPr lang="en-US" sz="1800" dirty="0">
                          <a:effectLst/>
                          <a:latin typeface="Palatino Linotype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47D04B-9259-4E4E-B6C0-4E3D5E1C4E80}"/>
              </a:ext>
            </a:extLst>
          </p:cNvPr>
          <p:cNvSpPr txBox="1"/>
          <p:nvPr/>
        </p:nvSpPr>
        <p:spPr>
          <a:xfrm>
            <a:off x="192796" y="1268055"/>
            <a:ext cx="70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data from memory into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0C54C-D608-044B-AB47-2987A51F328C}"/>
              </a:ext>
            </a:extLst>
          </p:cNvPr>
          <p:cNvSpPr txBox="1"/>
          <p:nvPr/>
        </p:nvSpPr>
        <p:spPr>
          <a:xfrm>
            <a:off x="156742" y="3926762"/>
            <a:ext cx="751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data extracted from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 into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a Byte, Half-word, Word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8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19960" y="1488118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19960" y="1494630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17956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</a:t>
              </a:r>
              <a:r>
                <a:rPr lang="en-US" dirty="0" err="1">
                  <a:solidFill>
                    <a:srgbClr val="C00000"/>
                  </a:solidFill>
                </a:rPr>
                <a:t>Halfword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>
          <a:xfrm>
            <a:off x="188258" y="4405234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563466" y="4614199"/>
            <a:ext cx="3156064" cy="1315496"/>
            <a:chOff x="519960" y="1152041"/>
            <a:chExt cx="3156064" cy="1315496"/>
          </a:xfrm>
        </p:grpSpPr>
        <p:sp>
          <p:nvSpPr>
            <p:cNvPr id="41" name="Rectangle 40"/>
            <p:cNvSpPr/>
            <p:nvPr/>
          </p:nvSpPr>
          <p:spPr>
            <a:xfrm>
              <a:off x="534658" y="1499844"/>
              <a:ext cx="13773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Word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0x87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0x65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9" name="Elbow Connector 38"/>
          <p:cNvCxnSpPr>
            <a:cxnSpLocks/>
            <a:endCxn id="8" idx="3"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FA8893-B43E-2611-7D80-CD3CAC0D1E27}"/>
              </a:ext>
            </a:extLst>
          </p:cNvPr>
          <p:cNvSpPr txBox="1"/>
          <p:nvPr/>
        </p:nvSpPr>
        <p:spPr>
          <a:xfrm>
            <a:off x="3950567" y="4063657"/>
            <a:ext cx="5038165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LDRH "Load Register Halfword“: it loads a 16-bit halfword value from the memory address pointed to by register r0 into register r1. The loaded 16-bit value is </a:t>
            </a:r>
            <a:r>
              <a:rPr lang="en-US" sz="1800" b="0" dirty="0">
                <a:solidFill>
                  <a:srgbClr val="FF0000"/>
                </a:solidFill>
              </a:rPr>
              <a:t>zero-extended</a:t>
            </a:r>
            <a:r>
              <a:rPr lang="en-US" sz="1800" b="0" dirty="0"/>
              <a:t> to fill the 32-bit register r1. This means the upper 16 bits of r1 will be set to zero regardless of the halfword data.  </a:t>
            </a:r>
          </a:p>
          <a:p>
            <a:r>
              <a:rPr lang="en-US" sz="1800" b="0" dirty="0"/>
              <a:t>LDRB "Load Register Byte“:  it loads 8-bit byte value from the memory address pointed to by register r0 into register r1, and </a:t>
            </a:r>
            <a:r>
              <a:rPr lang="en-US" sz="1800" b="0" dirty="0">
                <a:solidFill>
                  <a:srgbClr val="FF0000"/>
                </a:solidFill>
              </a:rPr>
              <a:t>zero-extends </a:t>
            </a:r>
            <a:r>
              <a:rPr lang="en-US" sz="1800" b="0" dirty="0"/>
              <a:t>it. </a:t>
            </a:r>
          </a:p>
        </p:txBody>
      </p:sp>
    </p:spTree>
    <p:extLst>
      <p:ext uri="{BB962C8B-B14F-4D97-AF65-F5344CB8AC3E}">
        <p14:creationId xmlns:p14="http://schemas.microsoft.com/office/powerpoint/2010/main" val="18815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21689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2117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23471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2547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Halfword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A849F-E949-AA1F-E225-494B54B07F76}"/>
              </a:ext>
            </a:extLst>
          </p:cNvPr>
          <p:cNvSpPr txBox="1"/>
          <p:nvPr/>
        </p:nvSpPr>
        <p:spPr>
          <a:xfrm>
            <a:off x="3766442" y="4263694"/>
            <a:ext cx="50381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LDRSH "Load Register Signed Halfword“</a:t>
            </a:r>
          </a:p>
          <a:p>
            <a:r>
              <a:rPr lang="en-US" sz="1800" b="0" dirty="0"/>
              <a:t>LDRSB "Load Register Signed Byte“</a:t>
            </a:r>
          </a:p>
          <a:p>
            <a:r>
              <a:rPr lang="en-US" sz="1800" b="0" dirty="0"/>
              <a:t>Similar to LDRH and LDRB, except each </a:t>
            </a:r>
            <a:r>
              <a:rPr lang="en-US" sz="1800" b="0" dirty="0">
                <a:solidFill>
                  <a:srgbClr val="FF0000"/>
                </a:solidFill>
              </a:rPr>
              <a:t>sign-extends</a:t>
            </a:r>
            <a:r>
              <a:rPr lang="en-US" sz="1800" b="0" dirty="0"/>
              <a:t> the value to fill the 32-bit register, not zero-extend. Facilitate subsequent 32-bit signed arithmetic.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A9FE-8400-4BA9-81F8-46A5D6FA9DF2}"/>
              </a:ext>
            </a:extLst>
          </p:cNvPr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0x20000000</a:t>
            </a:r>
          </a:p>
        </p:txBody>
      </p:sp>
      <p:cxnSp>
        <p:nvCxnSpPr>
          <p:cNvPr id="38" name="Elbow Connector 38">
            <a:extLst>
              <a:ext uri="{FF2B5EF4-FFF2-40B4-BE49-F238E27FC236}">
                <a16:creationId xmlns:a16="http://schemas.microsoft.com/office/drawing/2014/main" id="{D5A5AE93-E352-2B67-CC97-47345C5F67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 Address Modes: Offset in Register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</a:t>
            </a:r>
            <a:r>
              <a:rPr lang="zh-CN" altLang="en-US" sz="2400" dirty="0"/>
              <a:t> </a:t>
            </a:r>
            <a:r>
              <a:rPr lang="en-US" altLang="zh-CN" sz="2400" dirty="0"/>
              <a:t>held 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register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r0,[r1,r2]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held in r2 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r0,[r1,r2,LSL #2]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= r2, LSL #2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 * 4</a:t>
            </a:r>
            <a:endParaRPr lang="en-US" sz="20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/>
          </a:bodyPr>
          <a:lstStyle/>
          <a:p>
            <a:pPr defTabSz="938213"/>
            <a:r>
              <a:rPr lang="en-US" dirty="0"/>
              <a:t> Address Modes: Immediate Offset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 </a:t>
            </a:r>
            <a:r>
              <a:rPr lang="en-US" sz="2400" b="1" dirty="0">
                <a:solidFill>
                  <a:srgbClr val="0000FF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immediate value</a:t>
            </a: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LDR r0,[r1,#8]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is an immediate value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</a:t>
            </a:r>
            <a:r>
              <a:rPr lang="en-US" altLang="zh-CN" sz="2000" dirty="0">
                <a:solidFill>
                  <a:schemeClr val="tx1"/>
                </a:solidFill>
                <a:latin typeface="Courier New" pitchFamily="49" charset="0"/>
              </a:rPr>
              <a:t>8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</a:t>
            </a:r>
            <a:endParaRPr lang="en-US" sz="2400" dirty="0">
              <a:solidFill>
                <a:schemeClr val="bg2"/>
              </a:solidFill>
            </a:endParaRPr>
          </a:p>
          <a:p>
            <a:pPr defTabSz="938213">
              <a:lnSpc>
                <a:spcPct val="90000"/>
              </a:lnSpc>
            </a:pPr>
            <a:endParaRPr lang="en-US" sz="2400" dirty="0"/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E4789-1E63-2543-ADED-B198DC3303E8}"/>
              </a:ext>
            </a:extLst>
          </p:cNvPr>
          <p:cNvSpPr txBox="1"/>
          <p:nvPr/>
        </p:nvSpPr>
        <p:spPr>
          <a:xfrm>
            <a:off x="2201267" y="4520557"/>
            <a:ext cx="4741466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+mn-lt"/>
              </a:rPr>
              <a:t>Three modes for immediate offset: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Post-index,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 with Update</a:t>
            </a:r>
          </a:p>
        </p:txBody>
      </p:sp>
    </p:spTree>
    <p:extLst>
      <p:ext uri="{BB962C8B-B14F-4D97-AF65-F5344CB8AC3E}">
        <p14:creationId xmlns:p14="http://schemas.microsoft.com/office/powerpoint/2010/main" val="37979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2C-CF30-7844-A880-9D52DEE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Mode: </a:t>
            </a:r>
            <a:br>
              <a:rPr lang="en-US" dirty="0"/>
            </a:br>
            <a:r>
              <a:rPr lang="en-US" dirty="0"/>
              <a:t>Pre-index </a:t>
            </a:r>
            <a:r>
              <a:rPr lang="en-US" i="1" dirty="0"/>
              <a:t>vs</a:t>
            </a:r>
            <a:r>
              <a:rPr lang="en-US" dirty="0"/>
              <a:t> Post-index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EB047-453C-894C-8F74-C8CE6F8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E14D-2A86-A34B-A842-A0D4686EFB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</a:t>
            </a:r>
          </a:p>
          <a:p>
            <a:r>
              <a:rPr lang="en-US" sz="2000" dirty="0"/>
              <a:t>Post-index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[r0], Offset</a:t>
            </a:r>
          </a:p>
          <a:p>
            <a:r>
              <a:rPr lang="en-US" sz="2000" dirty="0"/>
              <a:t>Pre-index with Update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D52FD-C7B3-A3A6-E1DE-C47AB55D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28254"/>
              </p:ext>
            </p:extLst>
          </p:nvPr>
        </p:nvGraphicFramePr>
        <p:xfrm>
          <a:off x="306658" y="3696335"/>
          <a:ext cx="85306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71">
                  <a:extLst>
                    <a:ext uri="{9D8B030D-6E8A-4147-A177-3AD203B41FA5}">
                      <a16:colId xmlns:a16="http://schemas.microsoft.com/office/drawing/2014/main" val="89853153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3070852557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953178031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70751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Address used for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Base register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Example (r0=0x100)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2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Post-index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[r0], 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0x100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after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data[0x100];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6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 w/ Update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before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74825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4B1D4DF-3FE4-E2CF-9659-FD750DD90A20}"/>
              </a:ext>
            </a:extLst>
          </p:cNvPr>
          <p:cNvSpPr txBox="1">
            <a:spLocks/>
          </p:cNvSpPr>
          <p:nvPr/>
        </p:nvSpPr>
        <p:spPr bwMode="auto">
          <a:xfrm>
            <a:off x="5745225" y="2979577"/>
            <a:ext cx="3092117" cy="61706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dirty="0"/>
              <a:t>The table assumes r0 = 0x100, offset = 4 bytes (#4)</a:t>
            </a:r>
          </a:p>
        </p:txBody>
      </p:sp>
    </p:spTree>
    <p:extLst>
      <p:ext uri="{BB962C8B-B14F-4D97-AF65-F5344CB8AC3E}">
        <p14:creationId xmlns:p14="http://schemas.microsoft.com/office/powerpoint/2010/main" val="77894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240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A9B057-8CF1-D094-FDC5-7442E9C7318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2969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Calculates address by adding the offset (here, #4) to the base register (r0) before the load. Loads data from the resulting address r0+4 into r1. The base register (r0) is not updated. </a:t>
            </a:r>
          </a:p>
          <a:p>
            <a:r>
              <a:rPr lang="en-US" sz="2000" b="0" dirty="0"/>
              <a:t>Example: instruction accesses memory at r0 + 4 = 0x20008004, but r0 remains to be 0x20008000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20346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61087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6EA36-0986-AF7F-740D-6A89A9CA1571}"/>
              </a:ext>
            </a:extLst>
          </p:cNvPr>
          <p:cNvSpPr txBox="1"/>
          <p:nvPr/>
        </p:nvSpPr>
        <p:spPr>
          <a:xfrm>
            <a:off x="822619" y="2999715"/>
            <a:ext cx="2276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remains the same after reading memory</a:t>
            </a:r>
          </a:p>
        </p:txBody>
      </p:sp>
    </p:spTree>
    <p:extLst>
      <p:ext uri="{BB962C8B-B14F-4D97-AF65-F5344CB8AC3E}">
        <p14:creationId xmlns:p14="http://schemas.microsoft.com/office/powerpoint/2010/main" val="274689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Array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850" y="3025574"/>
            <a:ext cx="8229600" cy="2499360"/>
          </a:xfrm>
        </p:spPr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292" y="1738992"/>
            <a:ext cx="25907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uint32_t array[10];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array[0] += 5;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array[1] += 5;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323850" y="1238250"/>
            <a:ext cx="8229600" cy="2499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292" y="3622868"/>
            <a:ext cx="5167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array[0]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array[0]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[r0, </a:t>
            </a: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array[1]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array[1]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907" y="1677437"/>
            <a:ext cx="3981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the memory address of the array starts at </a:t>
            </a:r>
            <a:r>
              <a:rPr lang="en-US" dirty="0">
                <a:latin typeface="Consolas" panose="020B0609020204030204" pitchFamily="49" charset="0"/>
              </a:rPr>
              <a:t>0x20008000</a:t>
            </a:r>
            <a:r>
              <a:rPr lang="en-US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339" y="3119017"/>
            <a:ext cx="398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0x20008000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899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C8DB92-C654-B57C-BD4E-228A9C988E6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10755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Loads data from the address currently in r0 into r1. After the load, updates the base register (r0) by adding the offset (#4). </a:t>
            </a:r>
          </a:p>
          <a:p>
            <a:r>
              <a:rPr lang="en-US" sz="2000" b="0" dirty="0"/>
              <a:t>Example: instruction accesses memory at r0 = 0x20008000, then increments r0 by the offset of 4 to r0 + 4 =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3185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637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94133" y="4490582"/>
            <a:ext cx="1012738" cy="1444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A805BB-E388-2C4A-9DFD-BA2847C485BF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C58A-AD73-D643-BAF7-B91F99A9F3D9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after reading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C62D6-A8F9-60C8-0B49-2AFF32598440}"/>
              </a:ext>
            </a:extLst>
          </p:cNvPr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0334D6-481D-5CA8-AC20-29F155788F84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72EE8E-C94C-D235-C4C8-AE7C34DD8DA6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86405-9E04-B991-C217-7A9C279FB8ED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16" name="Elbow Connector 4">
              <a:extLst>
                <a:ext uri="{FF2B5EF4-FFF2-40B4-BE49-F238E27FC236}">
                  <a16:creationId xmlns:a16="http://schemas.microsoft.com/office/drawing/2014/main" id="{ECBA80C4-BB60-CEDD-6C64-54EB9080CF6A}"/>
                </a:ext>
              </a:extLst>
            </p:cNvPr>
            <p:cNvCxnSpPr>
              <a:stCxn id="15" idx="2"/>
              <a:endCxn id="14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CDCBE9-C928-0DFC-C359-D2A7FD1CD099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</p:spTree>
    <p:extLst>
      <p:ext uri="{BB962C8B-B14F-4D97-AF65-F5344CB8AC3E}">
        <p14:creationId xmlns:p14="http://schemas.microsoft.com/office/powerpoint/2010/main" val="42071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 with Update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8E1354-54FC-DD49-F213-9242BA4888E7}"/>
              </a:ext>
            </a:extLst>
          </p:cNvPr>
          <p:cNvSpPr txBox="1">
            <a:spLocks/>
          </p:cNvSpPr>
          <p:nvPr/>
        </p:nvSpPr>
        <p:spPr bwMode="auto">
          <a:xfrm>
            <a:off x="6148900" y="2377265"/>
            <a:ext cx="2835639" cy="39790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First, adds the offset (#4) to the base register (r0), then loads from this updated address r0 + 4. Base register r0 is set to r0 + 4 afterwards.</a:t>
            </a:r>
          </a:p>
          <a:p>
            <a:r>
              <a:rPr lang="en-US" sz="2000" b="0" dirty="0"/>
              <a:t>Example: instruction accesses memory at r0 + 4 = 0x20008004, and also sets r0 to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48935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Pre-index with Update</a:t>
            </a:r>
            <a:endParaRPr lang="en-US" dirty="0"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2294133" y="4472738"/>
            <a:ext cx="963624" cy="146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5499C-4158-BCFA-DC9F-38B8F0670781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before reading 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7E4F-FE07-6741-7AAF-7063958C80A5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156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6A63-C151-484E-EE8E-3881D118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FD695534-6F59-93CE-71F7-6CA6BE8B7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B85D29EB-5451-E17C-C8EA-111014611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2C7712E8-0863-EFC2-71BF-64AFC485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00AFEFAC-DC35-52BD-EA50-A6FEB29F6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20A649-BADB-A873-BF38-B5AB35CB4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Summary of Pre-index and Post-index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32F2C6-3F1E-3B60-12FB-2EE1DC30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988D2D-F2BE-98E8-E080-E269A6847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062"/>
              </p:ext>
            </p:extLst>
          </p:nvPr>
        </p:nvGraphicFramePr>
        <p:xfrm>
          <a:off x="355301" y="1163548"/>
          <a:ext cx="8331499" cy="21336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9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 Format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Example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Equivalent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Post-index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with update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360166"/>
                  </a:ext>
                </a:extLst>
              </a:tr>
            </a:tbl>
          </a:graphicData>
        </a:graphic>
      </p:graphicFrame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88C8910-A2A8-2548-801A-BD5A62D860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0666" y="3345950"/>
            <a:ext cx="8562667" cy="307313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3000" b="1" dirty="0"/>
              <a:t>Pre-index: </a:t>
            </a:r>
            <a:r>
              <a:rPr lang="en-US" altLang="zh-CN" sz="3000" dirty="0"/>
              <a:t>use (base + offset), don’t change base</a:t>
            </a:r>
            <a:br>
              <a:rPr lang="en-US" altLang="zh-CN" sz="3000" dirty="0"/>
            </a:br>
            <a:r>
              <a:rPr lang="en-US" altLang="zh-CN" sz="3000" b="1" dirty="0"/>
              <a:t>Post-index</a:t>
            </a:r>
            <a:r>
              <a:rPr lang="en-US" altLang="zh-CN" sz="3000" dirty="0"/>
              <a:t>: use base, then change base</a:t>
            </a:r>
            <a:br>
              <a:rPr lang="en-US" altLang="zh-CN" sz="3000" dirty="0"/>
            </a:br>
            <a:r>
              <a:rPr lang="en-US" altLang="zh-CN" sz="3000" b="1" dirty="0"/>
              <a:t>Pre-index with update</a:t>
            </a:r>
            <a:r>
              <a:rPr lang="en-US" altLang="zh-CN" sz="3000" dirty="0"/>
              <a:t>: change base, then use it</a:t>
            </a:r>
          </a:p>
          <a:p>
            <a:r>
              <a:rPr lang="en-US" altLang="zh-CN" sz="3000" dirty="0"/>
              <a:t>For the pre-/post-indexed (writeback) forms in the Cortex‑M/Thumb‑2 instruction set (and for halfword and signed byte/halfword load/store in A32), the offset is an unsigned 8‑bit immediate 0–255, and the U bit selects addition or subtraction, yielding an effective signed range of [−255, +255] around the base register. </a:t>
            </a:r>
          </a:p>
          <a:p>
            <a:r>
              <a:rPr lang="en-US" altLang="zh-CN" sz="3000" dirty="0"/>
              <a:t>In ARM (A32) instruction set, for word and unsigned byte LDR/STR, the immediate has an effective signed range of [−4095, +4095]</a:t>
            </a:r>
          </a:p>
        </p:txBody>
      </p:sp>
    </p:spTree>
    <p:extLst>
      <p:ext uri="{BB962C8B-B14F-4D97-AF65-F5344CB8AC3E}">
        <p14:creationId xmlns:p14="http://schemas.microsoft.com/office/powerpoint/2010/main" val="336824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68618"/>
              </p:ext>
            </p:extLst>
          </p:nvPr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B63C-AD5B-8200-015A-B31F9356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D25CEDC2-85C4-CD3E-6BA5-F656075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8952FD62-2CA3-A23A-B6D9-3F634C50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97320F45-098A-B9C6-3D29-873E5DD0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70212B5-0484-BA23-4B63-0B6A062B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A6C5FA54-A801-E14B-BA89-1A194FEF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A2C07A49-7EF2-452A-1594-D8D4392BE2D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1AD6D-1F71-8FD1-E85E-EE7DE6C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1F49-E919-45A1-275F-E2B60E53B632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185F9-A0BE-C2D0-E801-989541045B76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6965-3BE5-4A51-6235-0A30A0344F5F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5234CB-86CB-9184-AB51-5B9A2ED6C8AF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C51A2-3398-8284-C2B9-66C75F98FB7D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0x0000CDEF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67BB28-20AE-72E0-1042-AFBA623671B4}"/>
              </a:ext>
            </a:extLst>
          </p:cNvPr>
          <p:cNvGraphicFramePr>
            <a:graphicFrameLocks noGrp="1"/>
          </p:cNvGraphicFramePr>
          <p:nvPr/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1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(Endianness does not matter for single byte)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8077"/>
              </p:ext>
            </p:extLst>
          </p:nvPr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97F0-BDDE-ACA6-A223-E9780E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AC6D21EA-CED8-637A-B404-3919E7A6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16453204-714E-11D8-B6C9-5F22C7F7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AC2D77F1-56DE-D4CC-5E2A-D959CEE6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8D88FE4F-BE8C-30AC-C76E-BA69D34C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F33DF8F0-4249-B241-9820-49BCFCE5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ANS (Endianness does not matter for single byte)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156CF208-7644-6987-B782-EDF33A27C4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22776F-DB99-DE04-67C7-F577B519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6FE11-7596-2319-6186-DA38E19E4DCB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44E2C-2992-E49C-EFB3-646D9C311EA3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D88E9-D350-FD50-ECE0-D7BB504B8732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0EC65-CD28-147D-A3B9-5FE49E468CFA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0xFFFFFFEF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7A3F8B-30C1-A036-87C1-983E84F978A3}"/>
              </a:ext>
            </a:extLst>
          </p:cNvPr>
          <p:cNvGraphicFramePr>
            <a:graphicFrameLocks noGrp="1"/>
          </p:cNvGraphicFramePr>
          <p:nvPr/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DFE918-8C28-F69F-EAF3-FDD05E86FBFD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</p:spTree>
    <p:extLst>
      <p:ext uri="{BB962C8B-B14F-4D97-AF65-F5344CB8AC3E}">
        <p14:creationId xmlns:p14="http://schemas.microsoft.com/office/powerpoint/2010/main" val="14933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the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the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4915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397F0C-4C64-1F6A-D46A-26EA88B5C932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6484451-F613-3532-AF2C-37FF9AEE5333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32102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C6433-8A5E-6111-3019-734CF8159B4A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3A117F-CC64-E207-1E19-830F41725002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7E92A-DF1E-B68A-6AD6-3061D02A55F8}"/>
              </a:ext>
            </a:extLst>
          </p:cNvPr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5958B-75D7-890D-54A0-4B5A1928BF6F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A224E80-6B84-5F3A-BFFF-579A4902CC7D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5A0FAD-E3AA-A938-F20F-CC4B1F8D872D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B3B72A9-303D-D50B-25E7-3E677207AD4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0x20008000,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44436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B25C1-5845-095C-7E9B-658A4D96CF71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4E4D481-6118-DBB3-B7BD-CF69AEB59AB6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02198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43C39C-E288-864E-D8D6-DF08FF0B9A32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A34E1B0-8891-7883-4DD3-98F15DB0DDA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Modes for</a:t>
            </a:r>
            <a:br>
              <a:rPr lang="en-US" dirty="0"/>
            </a:br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/>
              <a:t>xx = IA or DB (IB, DA: A32 only)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48697"/>
              </p:ext>
            </p:extLst>
          </p:nvPr>
        </p:nvGraphicFramePr>
        <p:xfrm>
          <a:off x="612648" y="2517843"/>
          <a:ext cx="7931912" cy="19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3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Addressing Modes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Description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Instructions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STMIA, LDMIA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IB</a:t>
                      </a:r>
                      <a:r>
                        <a:rPr lang="en-US" sz="1400" b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(A32 only)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STMIB, LDMIB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</a:t>
                      </a:r>
                      <a:r>
                        <a:rPr lang="en-US" sz="1400" b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(A32 only)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STMDA, LDMDA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STMDB, LDMDB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4648855"/>
            <a:ext cx="8244114" cy="115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en-US" sz="16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after a word is loaded or stored. 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IB</a:t>
            </a:r>
            <a:r>
              <a:rPr lang="en-US" sz="16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before a word is loaded or stored. (A32 only)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en-US" sz="16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after a word is loaded or stored. (A32 only)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sz="16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before a word is loaded or stored.</a:t>
            </a:r>
            <a:endParaRPr lang="en-US" sz="1600" b="0" dirty="0">
              <a:effectLst/>
              <a:latin typeface="Palatino Linotype" panose="0204050205050503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Footnote A32"/>
          <p:cNvSpPr txBox="1"/>
          <p:nvPr/>
        </p:nvSpPr>
        <p:spPr>
          <a:xfrm>
            <a:off x="612648" y="6085000"/>
            <a:ext cx="8244114" cy="2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+mn-lt"/>
                <a:cs typeface="+mn-cs"/>
              </a:rPr>
              <a:t>A32 only: </a:t>
            </a:r>
            <a:r>
              <a:rPr lang="en-US" sz="1100" b="0" dirty="0">
                <a:solidFill>
                  <a:schemeClr val="tx2"/>
                </a:solidFill>
                <a:latin typeface="+mn-lt"/>
                <a:cs typeface="+mn-cs"/>
              </a:rPr>
              <a:t>IB and DA modes (STMIB/LDMIB, STMDA/LDMDA). Cortex-M (Thumb-2) supports only IA and DB.</a:t>
            </a:r>
          </a:p>
        </p:txBody>
      </p:sp>
    </p:spTree>
    <p:extLst>
      <p:ext uri="{BB962C8B-B14F-4D97-AF65-F5344CB8AC3E}">
        <p14:creationId xmlns:p14="http://schemas.microsoft.com/office/powerpoint/2010/main" val="231486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following are synonyms.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</a:t>
            </a:r>
            <a:r>
              <a:rPr lang="en-US" dirty="0"/>
              <a:t> (Empty Ascending)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dirty="0"/>
              <a:t> (Full Descending)</a:t>
            </a:r>
          </a:p>
          <a:p>
            <a:pPr lvl="1"/>
            <a:r>
              <a:rPr lang="en-US" dirty="0"/>
              <a:t>Two independent switches:</a:t>
            </a:r>
          </a:p>
          <a:p>
            <a:pPr lvl="2"/>
            <a:r>
              <a:rPr lang="en-US" dirty="0"/>
              <a:t>Increment or decrement?</a:t>
            </a:r>
          </a:p>
          <a:p>
            <a:pPr lvl="2"/>
            <a:r>
              <a:rPr lang="en-US" dirty="0"/>
              <a:t>Before or after?</a:t>
            </a:r>
          </a:p>
          <a:p>
            <a:r>
              <a:rPr lang="en-US" dirty="0"/>
              <a:t>The order in which registers are listed does not matter</a:t>
            </a:r>
          </a:p>
          <a:p>
            <a:pPr lvl="1"/>
            <a:r>
              <a:rPr lang="en-US" dirty="0"/>
              <a:t>For STM/LDM, the lowest-numbered register is stored/loaded at the lowest memory address.</a:t>
            </a:r>
          </a:p>
        </p:txBody>
      </p:sp>
      <p:sp>
        <p:nvSpPr>
          <p:cNvPr id="5" name="Footnote A32"/>
          <p:cNvSpPr txBox="1"/>
          <p:nvPr/>
        </p:nvSpPr>
        <p:spPr>
          <a:xfrm>
            <a:off x="457200" y="6085000"/>
            <a:ext cx="8229600" cy="2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+mn-lt"/>
                <a:cs typeface="+mn-cs"/>
              </a:rPr>
              <a:t>A32 only: </a:t>
            </a:r>
            <a:r>
              <a:rPr lang="en-US" sz="1100" b="0" dirty="0">
                <a:solidFill>
                  <a:schemeClr val="tx2"/>
                </a:solidFill>
                <a:latin typeface="+mn-lt"/>
                <a:cs typeface="+mn-cs"/>
              </a:rPr>
              <a:t>IB and DA modes (STMIB/LDMIB, STMDA/LDMDA). Cortex-M (Thumb-2) supports only IA and DB.</a:t>
            </a:r>
          </a:p>
        </p:txBody>
      </p:sp>
    </p:spTree>
    <p:extLst>
      <p:ext uri="{BB962C8B-B14F-4D97-AF65-F5344CB8AC3E}">
        <p14:creationId xmlns:p14="http://schemas.microsoft.com/office/powerpoint/2010/main" val="41750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" y="1340459"/>
            <a:ext cx="8932501" cy="4612501"/>
          </a:xfrm>
          <a:prstGeom prst="rect">
            <a:avLst/>
          </a:prstGeom>
        </p:spPr>
      </p:pic>
      <p:sp>
        <p:nvSpPr>
          <p:cNvPr id="6" name="Footnote A32"/>
          <p:cNvSpPr txBox="1"/>
          <p:nvPr/>
        </p:nvSpPr>
        <p:spPr>
          <a:xfrm>
            <a:off x="457200" y="6085000"/>
            <a:ext cx="8229600" cy="2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+mn-lt"/>
                <a:cs typeface="+mn-cs"/>
              </a:rPr>
              <a:t>A32 only: </a:t>
            </a:r>
            <a:r>
              <a:rPr lang="en-US" sz="1100" b="0" dirty="0">
                <a:solidFill>
                  <a:schemeClr val="tx2"/>
                </a:solidFill>
                <a:latin typeface="+mn-lt"/>
                <a:cs typeface="+mn-cs"/>
              </a:rPr>
              <a:t>IB and DA modes (STMIB/LDMIB, STMDA/LDMDA). Cortex-M (Thumb-2) supports only IA and DB.</a:t>
            </a:r>
          </a:p>
        </p:txBody>
      </p:sp>
    </p:spTree>
    <p:extLst>
      <p:ext uri="{BB962C8B-B14F-4D97-AF65-F5344CB8AC3E}">
        <p14:creationId xmlns:p14="http://schemas.microsoft.com/office/powerpoint/2010/main" val="162025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" y="1331918"/>
            <a:ext cx="8932501" cy="4803751"/>
          </a:xfrm>
          <a:prstGeom prst="rect">
            <a:avLst/>
          </a:prstGeom>
        </p:spPr>
      </p:pic>
      <p:sp>
        <p:nvSpPr>
          <p:cNvPr id="7" name="Footnote A32"/>
          <p:cNvSpPr txBox="1"/>
          <p:nvPr/>
        </p:nvSpPr>
        <p:spPr>
          <a:xfrm>
            <a:off x="457200" y="6085000"/>
            <a:ext cx="8229600" cy="2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+mn-lt"/>
                <a:cs typeface="+mn-cs"/>
              </a:rPr>
              <a:t>A32 only: </a:t>
            </a:r>
            <a:r>
              <a:rPr lang="en-US" sz="1100" b="0" dirty="0">
                <a:solidFill>
                  <a:schemeClr val="tx2"/>
                </a:solidFill>
                <a:latin typeface="+mn-lt"/>
                <a:cs typeface="+mn-cs"/>
              </a:rPr>
              <a:t>IB and DA modes (STMIB/LDMIB, STMDA/LDMDA). Cortex-M (Thumb-2) supports only IA and DB.</a:t>
            </a:r>
          </a:p>
        </p:txBody>
      </p:sp>
    </p:spTree>
    <p:extLst>
      <p:ext uri="{BB962C8B-B14F-4D97-AF65-F5344CB8AC3E}">
        <p14:creationId xmlns:p14="http://schemas.microsoft.com/office/powerpoint/2010/main" val="1468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64088" y="2196763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Cortex-M3 &amp; Cortex-M4 Memory Map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32-bit Memory Address </a:t>
            </a:r>
          </a:p>
          <a:p>
            <a:r>
              <a:rPr lang="en-GB" sz="2400" dirty="0"/>
              <a:t>2</a:t>
            </a:r>
            <a:r>
              <a:rPr lang="en-GB" sz="2400" baseline="30000" dirty="0"/>
              <a:t>32</a:t>
            </a:r>
            <a:r>
              <a:rPr lang="en-GB" sz="2400" dirty="0"/>
              <a:t> bytes of memory space (4 GB)</a:t>
            </a:r>
          </a:p>
          <a:p>
            <a:r>
              <a:rPr lang="en-GB" sz="2400" dirty="0"/>
              <a:t>Harvard architecture: physically separated instruction memory and data memory</a:t>
            </a:r>
          </a:p>
          <a:p>
            <a:r>
              <a:rPr lang="en-GB" sz="2400" dirty="0"/>
              <a:t>Van Neumann architecture: unified instruction and data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4088" y="5653147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940152" y="5742797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088" y="5077083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940152" y="514880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SRAM</a:t>
            </a:r>
            <a:endParaRPr lang="en-GB" sz="2400" dirty="0"/>
          </a:p>
        </p:txBody>
      </p:sp>
      <p:sp>
        <p:nvSpPr>
          <p:cNvPr id="11" name="Rectangle 10"/>
          <p:cNvSpPr/>
          <p:nvPr/>
        </p:nvSpPr>
        <p:spPr>
          <a:xfrm>
            <a:off x="5364088" y="4501019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364088" y="45458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Peripheral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5364088" y="3348891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36096" y="361002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6096" y="2412787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4088" y="1908731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364088" y="1332667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364088" y="1620699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436096" y="1318331"/>
            <a:ext cx="216024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GB" dirty="0"/>
              <a:t>Vendor 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088" y="1620411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External Peripheral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899478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Internal Peripheral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8344" y="6057724"/>
            <a:ext cx="147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344" y="549091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344" y="49148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0x40000000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68344" y="441079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0x60000000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344" y="31866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0xA0000000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344" y="181850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0xE0040000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344" y="210653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0xE0000000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344" y="153047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0xE0100000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8344" y="117043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52" name="Left Brace 51"/>
          <p:cNvSpPr/>
          <p:nvPr/>
        </p:nvSpPr>
        <p:spPr>
          <a:xfrm>
            <a:off x="5220072" y="1332667"/>
            <a:ext cx="72008" cy="7920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4355976" y="162069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4" name="Left Brace 53"/>
          <p:cNvSpPr/>
          <p:nvPr/>
        </p:nvSpPr>
        <p:spPr>
          <a:xfrm>
            <a:off x="5220072" y="2196763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4499992" y="248479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6" name="Left Brace 55"/>
          <p:cNvSpPr/>
          <p:nvPr/>
        </p:nvSpPr>
        <p:spPr>
          <a:xfrm>
            <a:off x="5220072" y="3348891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499992" y="370893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8" name="Left Brace 57"/>
          <p:cNvSpPr/>
          <p:nvPr/>
        </p:nvSpPr>
        <p:spPr>
          <a:xfrm>
            <a:off x="5220072" y="4573027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Left Brace 58"/>
          <p:cNvSpPr/>
          <p:nvPr/>
        </p:nvSpPr>
        <p:spPr>
          <a:xfrm>
            <a:off x="5220072" y="5149091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/>
          <p:cNvSpPr/>
          <p:nvPr/>
        </p:nvSpPr>
        <p:spPr>
          <a:xfrm>
            <a:off x="5220072" y="5725155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427984" y="464503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514909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7984" y="572515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22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7" y="104209"/>
            <a:ext cx="6979967" cy="675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13552" y="2259106"/>
            <a:ext cx="1238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Cortex-M3 Fixed Memory Map</a:t>
            </a:r>
          </a:p>
        </p:txBody>
      </p:sp>
    </p:spTree>
    <p:extLst>
      <p:ext uri="{BB962C8B-B14F-4D97-AF65-F5344CB8AC3E}">
        <p14:creationId xmlns:p14="http://schemas.microsoft.com/office/powerpoint/2010/main" val="38862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85568" y="2259106"/>
            <a:ext cx="125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Cortex-M4 Fixed Memory Map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9" y="155643"/>
            <a:ext cx="7539337" cy="6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Pseudo instruction</a:t>
            </a:r>
            <a:r>
              <a:rPr lang="en-US" dirty="0"/>
              <a:t>: available to use in an assembly program, but not directly supported by hardware. </a:t>
            </a:r>
          </a:p>
          <a:p>
            <a:r>
              <a:rPr lang="en-US" dirty="0"/>
              <a:t>Pseudo → not real</a:t>
            </a:r>
          </a:p>
          <a:p>
            <a:r>
              <a:rPr lang="en-US" dirty="0"/>
              <a:t>Compilers translate it to one or multiple actual machine instructions </a:t>
            </a:r>
          </a:p>
          <a:p>
            <a:r>
              <a:rPr lang="en-US" dirty="0"/>
              <a:t>Pseudo instructions are provided for the convenience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30888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LDR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26837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=expr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=label</a:t>
            </a:r>
          </a:p>
          <a:p>
            <a:r>
              <a:rPr lang="en-US" sz="1800" dirty="0"/>
              <a:t>If the value of expr can be loaded with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1800" dirty="0"/>
              <a:t>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/>
              <a:t> (16-bit instruction) or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en-US" sz="1800" dirty="0"/>
              <a:t> (32-bit instruction), the assembler uses that instruction.</a:t>
            </a:r>
          </a:p>
          <a:p>
            <a:pPr lvl="1"/>
            <a:r>
              <a:rPr lang="en-US" sz="1600" dirty="0"/>
              <a:t>MOV supports all 8-bit immediate numbers ranging in </a:t>
            </a:r>
            <a:r>
              <a:rPr lang="en-US" sz="1600"/>
              <a:t>[0, 255</a:t>
            </a:r>
            <a:r>
              <a:rPr lang="en-US" sz="1600" dirty="0"/>
              <a:t>]. For numbers out of this range, some patterns can be encoded. </a:t>
            </a:r>
          </a:p>
          <a:p>
            <a:r>
              <a:rPr lang="en-US" sz="1800" dirty="0"/>
              <a:t>If a valid MOV, MVN, MOVW instruction cannot be used (due to out of range), or if the </a:t>
            </a:r>
            <a:r>
              <a:rPr lang="en-US" sz="1800" dirty="0" err="1"/>
              <a:t>label_expr</a:t>
            </a:r>
            <a:r>
              <a:rPr lang="en-US" sz="1800" dirty="0"/>
              <a:t> syntax is used, the assembler places the constant in a literal pool and generates a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PC-relative LDR </a:t>
            </a:r>
            <a:r>
              <a:rPr lang="en-US" sz="1800" dirty="0"/>
              <a:t>instruction that reads the constant from the literal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3342"/>
            <a:ext cx="7620000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r1,=0xFF0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0xFF0 into R1      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 r1,#0xFF0       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r2,=0xFFF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0xFFF into R2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MOVW r2, #0xFFF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r3,=array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the address of array into R3 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LDR r3,[pc, </a:t>
            </a:r>
            <a:r>
              <a:rPr lang="en-US" dirty="0" err="1">
                <a:solidFill>
                  <a:srgbClr val="0041FF"/>
                </a:solidFill>
                <a:latin typeface="Consolas" panose="020B0609020204030204" pitchFamily="49" charset="0"/>
              </a:rPr>
              <a:t>offset_to_litpool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]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...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litpool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DCD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3407" y="5833130"/>
            <a:ext cx="509718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Software uses this pseudo instruction to set a register to some value without worrying about the size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42024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 address is always in terms of bytes.</a:t>
            </a:r>
          </a:p>
          <a:p>
            <a:r>
              <a:rPr lang="en-US" sz="2000" dirty="0"/>
              <a:t>How data is organized in memory?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How data is addressed?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09" y="1942381"/>
            <a:ext cx="6445904" cy="233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79696"/>
              </p:ext>
            </p:extLst>
          </p:nvPr>
        </p:nvGraphicFramePr>
        <p:xfrm>
          <a:off x="713891" y="4616824"/>
          <a:ext cx="8161167" cy="16116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8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Addressing Format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Equivalent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with update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Post-Index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3656-E8EC-60C6-8A41-C8788AB8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EEAA-903B-34CA-32C2-20D7D02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435D-8784-9922-ACB7-60CAF0F56F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Lecture 22. Big-Endian and Little-Endian</a:t>
            </a:r>
          </a:p>
          <a:p>
            <a:pPr lvl="1"/>
            <a:r>
              <a:rPr lang="en-US" dirty="0">
                <a:hlinkClick r:id="rId2"/>
              </a:rPr>
              <a:t>https://www.youtube.com/watch?v=T1C9Kj_78ek&amp;list=PLRJhV4hUhIymmp5CCeIFPyxbknsdcXCc8&amp;index=22</a:t>
            </a:r>
            <a:endParaRPr lang="en-US" dirty="0"/>
          </a:p>
          <a:p>
            <a:r>
              <a:rPr lang="en-US" dirty="0"/>
              <a:t>Lecture 23. Load and Store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https://www.youtube.com/watch?v=CtfV3HsHwk4&amp;list=PLRJhV4hUhIymmp5CCeIFPyxbknsdcXCc8&amp;index=23</a:t>
            </a:r>
            <a:r>
              <a:rPr lang="en-US" dirty="0"/>
              <a:t> </a:t>
            </a:r>
          </a:p>
          <a:p>
            <a:r>
              <a:rPr lang="en-US" dirty="0"/>
              <a:t>Lecture 24. Addressing mode: pre-index, post-index, and pre-index with update</a:t>
            </a:r>
          </a:p>
          <a:p>
            <a:pPr lvl="1"/>
            <a:r>
              <a:rPr lang="en-US" dirty="0">
                <a:hlinkClick r:id="rId4"/>
              </a:rPr>
              <a:t>https://www.youtube.com/watch?v=zgkxPdPkxa8&amp;list=PLRJhV4hUhIymmp5CCeIFPyxbknsdcXCc8&amp;index=24</a:t>
            </a:r>
            <a:r>
              <a:rPr lang="en-US" dirty="0"/>
              <a:t> </a:t>
            </a:r>
          </a:p>
          <a:p>
            <a:r>
              <a:rPr lang="en-US" dirty="0"/>
              <a:t>ARM Instruction Set - Stack Instructions STMFD, STMFA , STMED, STMEA,</a:t>
            </a:r>
            <a:r>
              <a:rPr lang="zh-CN" altLang="en-US" dirty="0"/>
              <a:t> </a:t>
            </a:r>
            <a:r>
              <a:rPr lang="en-US" dirty="0"/>
              <a:t>Vishal Gaikwad (STMFA and STMED: A32 only)</a:t>
            </a:r>
          </a:p>
          <a:p>
            <a:pPr lvl="1"/>
            <a:r>
              <a:rPr lang="en-US">
                <a:hlinkClick r:id="rId5"/>
              </a:rPr>
              <a:t>https://www.youtube.com/watch?v=H4xoaOlNSJo</a:t>
            </a:r>
            <a:r>
              <a:rPr lang="en-US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2835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14944</TotalTime>
  <Pages>1</Pages>
  <Words>5857</Words>
  <Application>Microsoft Office PowerPoint</Application>
  <PresentationFormat>On-screen Show (4:3)</PresentationFormat>
  <Paragraphs>1235</Paragraphs>
  <Slides>53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73" baseType="lpstr">
      <vt:lpstr>PMingLiU</vt:lpstr>
      <vt:lpstr>Arial</vt:lpstr>
      <vt:lpstr>Bookman Old Style</vt:lpstr>
      <vt:lpstr>Bookman Old Style (Headings)</vt:lpstr>
      <vt:lpstr>Calibri</vt:lpstr>
      <vt:lpstr>Consolas</vt:lpstr>
      <vt:lpstr>Courier New</vt:lpstr>
      <vt:lpstr>Ebrima</vt:lpstr>
      <vt:lpstr>Gill Sans</vt:lpstr>
      <vt:lpstr>Gill Sans Light</vt:lpstr>
      <vt:lpstr>Gill Sans MT</vt:lpstr>
      <vt:lpstr>Gill Sans MT (Body)</vt:lpstr>
      <vt:lpstr>Helvetica</vt:lpstr>
      <vt:lpstr>Palatino Linotype</vt:lpstr>
      <vt:lpstr>Symbol</vt:lpstr>
      <vt:lpstr>Times New Roman</vt:lpstr>
      <vt:lpstr>var(--font-berkeley-mono)</vt:lpstr>
      <vt:lpstr>Wingdings</vt:lpstr>
      <vt:lpstr>Wingdings 3</vt:lpstr>
      <vt:lpstr>Origin</vt:lpstr>
      <vt:lpstr>Z. Gu</vt:lpstr>
      <vt:lpstr>Overview</vt:lpstr>
      <vt:lpstr>Logic View of Memory</vt:lpstr>
      <vt:lpstr>Logic View of Memory</vt:lpstr>
      <vt:lpstr>Logic View of Memory</vt:lpstr>
      <vt:lpstr>Data Alignment and Performance</vt:lpstr>
      <vt:lpstr>Quiz</vt:lpstr>
      <vt:lpstr>Quiz ANS</vt:lpstr>
      <vt:lpstr>Endianess</vt:lpstr>
      <vt:lpstr>Endianess</vt:lpstr>
      <vt:lpstr>Endianess</vt:lpstr>
      <vt:lpstr>Endianness Example</vt:lpstr>
      <vt:lpstr>Example</vt:lpstr>
      <vt:lpstr>Example</vt:lpstr>
      <vt:lpstr>Load-Modify-Store</vt:lpstr>
      <vt:lpstr>3 Steps: Load, Modify, Store</vt:lpstr>
      <vt:lpstr>Load Instructions</vt:lpstr>
      <vt:lpstr>Store Instructions</vt:lpstr>
      <vt:lpstr>Load/Store a Byte, Halfword, Word</vt:lpstr>
      <vt:lpstr>Load a Byte, Half-word, Word (Little-Endian)</vt:lpstr>
      <vt:lpstr>Sign Extension (Little-Endian)</vt:lpstr>
      <vt:lpstr> Address Modes: Offset in Register</vt:lpstr>
      <vt:lpstr> Address Modes: Immediate Offset</vt:lpstr>
      <vt:lpstr>Addressing Mode:  Pre-index vs Post-index</vt:lpstr>
      <vt:lpstr>Pre-index</vt:lpstr>
      <vt:lpstr>Pre-index</vt:lpstr>
      <vt:lpstr>Accessing an Array</vt:lpstr>
      <vt:lpstr>Post-index</vt:lpstr>
      <vt:lpstr>Post-index</vt:lpstr>
      <vt:lpstr>Pre-index with Update</vt:lpstr>
      <vt:lpstr>Pre-index with Update</vt:lpstr>
      <vt:lpstr>Summary of Pre-index and Post-index</vt:lpstr>
      <vt:lpstr>Example (Little-Endian ordering) </vt:lpstr>
      <vt:lpstr>Example ANS (Little-Endian ordering) </vt:lpstr>
      <vt:lpstr>Example (Endianness does not matter for single byte)</vt:lpstr>
      <vt:lpstr>Example ANS (Endianness does not matter for single byte)</vt:lpstr>
      <vt:lpstr>Example (Little-Endian ordering) </vt:lpstr>
      <vt:lpstr>Example ANS (Little-Endian ordering) </vt:lpstr>
      <vt:lpstr>Example (Little-Endian ordering) </vt:lpstr>
      <vt:lpstr>Example ANS (Little-Endian ordering) </vt:lpstr>
      <vt:lpstr>Example (Little-Endian ordering)</vt:lpstr>
      <vt:lpstr>Example ANS (Little-Endian ordering)</vt:lpstr>
      <vt:lpstr>Addressing Modes for Load/Store Multiple Registers</vt:lpstr>
      <vt:lpstr>Load/Store Multiple Registers</vt:lpstr>
      <vt:lpstr>Store Multiple Registers</vt:lpstr>
      <vt:lpstr>Load Multiple Registers</vt:lpstr>
      <vt:lpstr>Cortex-M3 &amp; Cortex-M4 Memory Map</vt:lpstr>
      <vt:lpstr>PowerPoint Presentation</vt:lpstr>
      <vt:lpstr>PowerPoint Presentation</vt:lpstr>
      <vt:lpstr>Pseudo-instructions</vt:lpstr>
      <vt:lpstr>LDR Pseudo-instruction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596</cp:revision>
  <cp:lastPrinted>2025-09-18T19:32:55Z</cp:lastPrinted>
  <dcterms:created xsi:type="dcterms:W3CDTF">2014-02-12T15:59:14Z</dcterms:created>
  <dcterms:modified xsi:type="dcterms:W3CDTF">2026-10-26T14:36:22Z</dcterms:modified>
</cp:coreProperties>
</file>