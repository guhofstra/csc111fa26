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7"/>
  </p:notesMasterIdLst>
  <p:sldIdLst>
    <p:sldId id="256" r:id="rId3"/>
    <p:sldId id="356" r:id="rId4"/>
    <p:sldId id="352" r:id="rId5"/>
    <p:sldId id="300" r:id="rId6"/>
    <p:sldId id="344" r:id="rId7"/>
    <p:sldId id="383" r:id="rId8"/>
    <p:sldId id="381" r:id="rId9"/>
    <p:sldId id="335" r:id="rId10"/>
    <p:sldId id="813" r:id="rId11"/>
    <p:sldId id="475" r:id="rId12"/>
    <p:sldId id="473" r:id="rId13"/>
    <p:sldId id="306" r:id="rId14"/>
    <p:sldId id="322" r:id="rId15"/>
    <p:sldId id="323" r:id="rId16"/>
    <p:sldId id="325" r:id="rId17"/>
    <p:sldId id="324" r:id="rId18"/>
    <p:sldId id="525" r:id="rId19"/>
    <p:sldId id="261" r:id="rId20"/>
    <p:sldId id="264" r:id="rId21"/>
    <p:sldId id="262" r:id="rId22"/>
    <p:sldId id="265" r:id="rId23"/>
    <p:sldId id="379" r:id="rId24"/>
    <p:sldId id="320" r:id="rId25"/>
    <p:sldId id="31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C4847-695E-4659-A58A-9585F99FC888}" v="1" dt="2025-12-30T22:25:28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addSld delSld modSld">
      <pc:chgData name="Zonghua Gu" userId="9a7e1853e1951ef5" providerId="LiveId" clId="{CF1FAA12-072C-4ED5-BA76-0FFFAEFDB88A}" dt="2025-12-30T22:25:28.039" v="34"/>
      <pc:docMkLst>
        <pc:docMk/>
      </pc:docMkLst>
      <pc:sldChg chg="add">
        <pc:chgData name="Zonghua Gu" userId="9a7e1853e1951ef5" providerId="LiveId" clId="{CF1FAA12-072C-4ED5-BA76-0FFFAEFDB88A}" dt="2025-12-30T22:25:28.039" v="34"/>
        <pc:sldMkLst>
          <pc:docMk/>
          <pc:sldMk cId="2981518604" sldId="3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B44C0-41D9-4290-A237-BFAD7D0FB5F1}" type="slidenum">
              <a:rPr lang="en-US"/>
              <a:pPr/>
              <a:t>2</a:t>
            </a:fld>
            <a:endParaRPr lang="en-US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CMP a, b computes a - b and sets flags without keeping the result. </a:t>
            </a:r>
          </a:p>
          <a:p>
            <a:r>
              <a:rPr lang="en-US" dirty="0"/>
              <a:t>For unsigned subtraction, borrow happens when a &lt; b.  ARM encodes “no borrow” (a ≥ b) as C=1, and “borrow” (a &lt; b) as C=0, while Z distinguishes equality. </a:t>
            </a:r>
          </a:p>
          <a:p>
            <a:pPr lvl="1"/>
            <a:r>
              <a:rPr lang="en-US" dirty="0"/>
              <a:t>HI (unsigned higher &gt;): the subtraction needs no borrow, so C=1, and it’s not equal, so Z=0. </a:t>
            </a:r>
          </a:p>
          <a:p>
            <a:pPr lvl="1"/>
            <a:r>
              <a:rPr lang="en-US" dirty="0"/>
              <a:t>HS/CS (higher or same/carry set ≥) : no borrow → C=1; equality allowed.</a:t>
            </a:r>
          </a:p>
          <a:p>
            <a:pPr lvl="1"/>
            <a:r>
              <a:rPr lang="en-US" dirty="0"/>
              <a:t>LO/CC (unsigned lower/carry clear &lt;): subtraction borrows → C=0. </a:t>
            </a:r>
          </a:p>
          <a:p>
            <a:pPr lvl="1"/>
            <a:r>
              <a:rPr lang="en-US" dirty="0"/>
              <a:t>LS (unsigned lower or same ≤): “lower or same” means either borrowed or equal → C=0 or Z=1. </a:t>
            </a:r>
          </a:p>
          <a:p>
            <a:r>
              <a:rPr lang="en-US" dirty="0"/>
              <a:t>For signed subtraction a - b, the sign bit N is correct if a ≥ b (no overflow, V = 0); the sign bit N is incorrect if a &lt; b (overflow, V = 1). </a:t>
            </a:r>
          </a:p>
          <a:p>
            <a:pPr lvl="1"/>
            <a:r>
              <a:rPr lang="en-US" dirty="0"/>
              <a:t>GE (signed greater or equal ≥): N == V. If there’s no overflow (V=0), non‑negative (N=0) means ≥; if there is overflow (V=1), N=1 (incorrect) also indicates the ≥ relation.</a:t>
            </a:r>
          </a:p>
          <a:p>
            <a:pPr lvl="1"/>
            <a:r>
              <a:rPr lang="en-US" dirty="0"/>
              <a:t>LT (signed less than &lt;): N != V. If there’s no overflow (V=0), negative (N=1) means &lt;; if there is overflow (V=1), N=0 (incorrect) also indicates the &lt; relation.</a:t>
            </a:r>
          </a:p>
          <a:p>
            <a:pPr lvl="1"/>
            <a:r>
              <a:rPr lang="en-US" dirty="0"/>
              <a:t>GT (signed greater than &gt;): N==V and Z=0. Strictly greater excludes equality, so combine GE with not equal.</a:t>
            </a:r>
          </a:p>
          <a:p>
            <a:pPr lvl="1"/>
            <a:r>
              <a:rPr lang="en-US" dirty="0"/>
              <a:t>LE (signed less or equal ≤): N != V or Z=1. Either strictly less, or equal.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71AD5F-E36F-46B9-A99B-7B02524435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60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 is cleared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Times New Roman" pitchFamily="18" charset="0"/>
              </a:rPr>
              <a:t>upon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an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unsigned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subtract if the answer is wrong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5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https://eclecticlight.co/2021/06/23/code-in-arm-assembly-controlling-flow/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(Negative): Copies the most significant bit of the last result; 1 means the result’s sign bit is 1, which for two’s‑complement indicates a negative value in signed interpretation.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(Zero): 1 if the result was exactly zero; otherwise 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(Carry): For addition, 1 means an unsigned carry out; for subtraction (a − b or CMP), 1 means “no borrow,” and 0 means a borrow occurred. For shifts/rotates, it holds the last bit shifted out.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1 when signed overflow occurred, i.e., the true signed result didn’t fit in the destination width (e.g., positive + positive → negative, or negative + negative → positive in 32‑bit two’s‑complement).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C=1 and Z=0 corresponds to “unsigned higher” (HI):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CMP a, b (which computes a − b for flags), C=1 means the subtraction needed no borrow, so a ≥ b in unsigned arithmetic; Z=0 rules out equality, leaving a &gt; b. That composite condition is named HI.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4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350" tIns="46174" rIns="92350" bIns="46174"/>
          <a:lstStyle/>
          <a:p>
            <a:endParaRPr lang="en-US" dirty="0"/>
          </a:p>
        </p:txBody>
      </p:sp>
      <p:sp>
        <p:nvSpPr>
          <p:cNvPr id="4710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424995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2AF1D-1787-4F45-8D94-E7435950448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582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12/30/2025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3751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0820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01013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33728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41264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41772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70523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0981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62512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1188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726015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A606C-8FDC-48DF-B809-A9223E8539C3}" type="datetime1">
              <a:rPr lang="en-US" smtClean="0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12/30/2025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04569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75" y="1828800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B804-D0E1-4E95-8883-72A5F0C8C816}" type="slidenum">
              <a:rPr lang="en-US"/>
              <a:pPr/>
              <a:t>2</a:t>
            </a:fld>
            <a:endParaRPr lang="en-US"/>
          </a:p>
        </p:txBody>
      </p:sp>
      <p:sp>
        <p:nvSpPr>
          <p:cNvPr id="403627" name="Rectangle 171"/>
          <p:cNvSpPr>
            <a:spLocks noChangeArrowheads="1"/>
          </p:cNvSpPr>
          <p:nvPr/>
        </p:nvSpPr>
        <p:spPr bwMode="auto">
          <a:xfrm>
            <a:off x="1143001" y="378011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Integer Representation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Method 3: Two’s Complement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5876" y="2171702"/>
          <a:ext cx="6572250" cy="2014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378">
                <a:tc>
                  <a:txBody>
                    <a:bodyPr/>
                    <a:lstStyle/>
                    <a:p>
                      <a:r>
                        <a:rPr lang="en-US" sz="1500" dirty="0"/>
                        <a:t>Expression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Result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Carry?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Overflow?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Correct Result?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0100 + 0010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45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0100 + 0110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00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1100 + 1110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36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1100 + 1010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14451" y="1828800"/>
            <a:ext cx="199657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Assume a four-bit system:</a:t>
            </a:r>
          </a:p>
        </p:txBody>
      </p:sp>
    </p:spTree>
    <p:extLst>
      <p:ext uri="{BB962C8B-B14F-4D97-AF65-F5344CB8AC3E}">
        <p14:creationId xmlns:p14="http://schemas.microsoft.com/office/powerpoint/2010/main" val="298151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390649" y="152400"/>
            <a:ext cx="7296151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15">
            <a:extLst>
              <a:ext uri="{FF2B5EF4-FFF2-40B4-BE49-F238E27FC236}">
                <a16:creationId xmlns:a16="http://schemas.microsoft.com/office/drawing/2014/main" id="{4ACAA33B-8833-6998-194D-3EC418B6F321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4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9"/>
          <a:ext cx="6572251" cy="2979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</a:t>
                      </a:r>
                      <a:r>
                        <a:rPr lang="en-US" sz="1400" baseline="0" dirty="0"/>
                        <a:t> overflow, implying the result is correct.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The result is non-negative,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 overflow, implying the result is correct.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The</a:t>
                      </a:r>
                      <a:r>
                        <a:rPr lang="en-US" sz="1400" baseline="0" dirty="0"/>
                        <a:t> result is</a:t>
                      </a:r>
                      <a:r>
                        <a:rPr lang="en-US" sz="1400" dirty="0"/>
                        <a:t> negative</a:t>
                      </a:r>
                      <a:r>
                        <a:rPr lang="en-US" sz="1400" baseline="0" dirty="0"/>
                        <a:t>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non-negative and in fact it should be 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 </a:t>
                      </a:r>
                      <a:r>
                        <a:rPr lang="en-US" sz="1400" baseline="0" dirty="0"/>
                        <a:t>in reality,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negative and in fact it should be non-negative.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 </a:t>
                      </a:r>
                      <a:r>
                        <a:rPr lang="en-US" sz="1400" baseline="0" dirty="0"/>
                        <a:t>in reality., i.e. 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Gill Sans MT"/>
              </a:rPr>
              <a:t>perform subtraction </a:t>
            </a:r>
            <a:r>
              <a:rPr lang="en-US" sz="1350" dirty="0">
                <a:solidFill>
                  <a:prstClr val="black"/>
                </a:solidFill>
                <a:latin typeface="Consolas" panose="020B0609020204030204" pitchFamily="49" charset="0"/>
              </a:rPr>
              <a:t>r0 – r1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Gill Sans MT"/>
              </a:rPr>
              <a:t>Conclusions: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If N == V, then it is signed greater or equal (GE).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352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8"/>
          <a:ext cx="6572251" cy="2737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6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r>
              <a:rPr lang="en-US" sz="1350" dirty="0"/>
              <a:t>perform subtraction </a:t>
            </a:r>
            <a:r>
              <a:rPr lang="en-US" sz="1350" dirty="0">
                <a:latin typeface="Consolas" panose="020B0609020204030204" pitchFamily="49" charset="0"/>
              </a:rPr>
              <a:t>r0 – r1</a:t>
            </a:r>
            <a:r>
              <a:rPr lang="en-US" sz="1350" dirty="0"/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Conclusions: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If N == V, then it is signed greater or equal (GE).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5157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745" y="39747"/>
            <a:ext cx="82296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Gill Sans MT"/>
                <a:cs typeface="Times New Roman" pitchFamily="18" charset="0"/>
              </a:rPr>
              <a:t>Summary of Carry and Overflow Flags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6C4D0-D1DD-434F-9E39-17578F10140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23586" name="Date Placeholder 3"/>
          <p:cNvSpPr txBox="1">
            <a:spLocks noGrp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6553200" y="5864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3D14BE-FE52-4332-969F-3696FB65ED3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09600" y="3370151"/>
            <a:ext cx="8083550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Carry flag C = 1 upon an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unsigned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-1)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u="sng" dirty="0">
                <a:solidFill>
                  <a:srgbClr val="800000"/>
                </a:solidFill>
                <a:latin typeface="Gill Sans MT"/>
              </a:rPr>
              <a:t>unsigned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700" b="0" dirty="0">
              <a:solidFill>
                <a:prstClr val="black"/>
              </a:solidFill>
              <a:latin typeface="Gill Sans MT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Overflow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flag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V =1 upon a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(true result &gt; 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39012" name="Group 100"/>
          <p:cNvGraphicFramePr>
            <a:graphicFrameLocks noGrp="1"/>
          </p:cNvGraphicFramePr>
          <p:nvPr/>
        </p:nvGraphicFramePr>
        <p:xfrm>
          <a:off x="1447800" y="1143000"/>
          <a:ext cx="5715000" cy="23622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Bit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Meaning after add or sub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negative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negative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zero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zero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overflow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3340970" y="557530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271914" y="5336505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998320" y="5325789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0970" y="557530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3092" y="557502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5215" y="557446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4956" y="557446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666" y="6009879"/>
            <a:ext cx="29418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6" name="Horizontal Scroll 15"/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6239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519-DBC1-4403-2E8B-B6BADD6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NZCV Flags in </a:t>
            </a:r>
            <a:r>
              <a:rPr lang="en-US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2D03D-6F8E-1055-AD43-53C024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1F98-40C3-8109-24BE-24A75ED06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1080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N</a:t>
            </a:r>
            <a:r>
              <a:rPr lang="en-US" sz="2800" dirty="0"/>
              <a:t> (negative) – set (1) when a signed result is negative, otherwise cleared (0).</a:t>
            </a:r>
          </a:p>
          <a:p>
            <a:r>
              <a:rPr lang="en-US" sz="2800" b="1" dirty="0"/>
              <a:t>Z</a:t>
            </a:r>
            <a:r>
              <a:rPr lang="en-US" sz="2800" dirty="0"/>
              <a:t> (zero) – set (1) when a result is 0, otherwise cleared (0).</a:t>
            </a:r>
          </a:p>
          <a:p>
            <a:r>
              <a:rPr lang="en-US" sz="2800" b="1" dirty="0"/>
              <a:t>C</a:t>
            </a:r>
            <a:r>
              <a:rPr lang="en-US" sz="28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2800" b="1" dirty="0"/>
              <a:t>V</a:t>
            </a:r>
            <a:r>
              <a:rPr lang="en-US" sz="2800" dirty="0"/>
              <a:t> (overflow) – set (1) when an add- or subtract-based operation generates a signed overflow, otherwise cleared (0).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68489-8B57-7C2E-A280-C2FCA5EA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16795"/>
            <a:ext cx="5940553" cy="2409224"/>
          </a:xfrm>
          <a:prstGeom prst="rect">
            <a:avLst/>
          </a:prstGeom>
        </p:spPr>
      </p:pic>
      <p:sp>
        <p:nvSpPr>
          <p:cNvPr id="5" name="Horizontal Scroll 15">
            <a:extLst>
              <a:ext uri="{FF2B5EF4-FFF2-40B4-BE49-F238E27FC236}">
                <a16:creationId xmlns:a16="http://schemas.microsoft.com/office/drawing/2014/main" id="{785D1948-1665-EC1C-519D-DEF2FD52EF22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45213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1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1: Greatest Common Divider (GCD)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>
                <a:solidFill>
                  <a:srgbClr val="1F497D"/>
                </a:solidFill>
                <a:latin typeface="Gill Sans MT"/>
              </a:rPr>
              <a:pPr/>
              <a:t>8</a:t>
            </a:fld>
            <a:endParaRPr lang="en-US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53699" y="3637264"/>
            <a:ext cx="338975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suppose r0 = a and r1 = b</a:t>
            </a:r>
          </a:p>
          <a:p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CMP r0, r1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&gt; b?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end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 = b, done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 less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&lt;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SUB r0, r0, r1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= a –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endParaRPr lang="en-US" sz="1200" b="1" dirty="0">
              <a:solidFill>
                <a:srgbClr val="FF4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less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 r1, r1, r0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 = b – a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2000251" y="3371297"/>
            <a:ext cx="124628" cy="216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83565" y="1698012"/>
            <a:ext cx="1287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Gill Sans MT"/>
              </a:rPr>
              <a:t>Euclid’s Algorithm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4686301" y="1714500"/>
            <a:ext cx="2679396" cy="1105315"/>
            <a:chOff x="4461833" y="1619479"/>
            <a:chExt cx="3572527" cy="1473754"/>
          </a:xfrm>
        </p:grpSpPr>
        <p:sp>
          <p:nvSpPr>
            <p:cNvPr id="64" name="Right Arrow 63"/>
            <p:cNvSpPr/>
            <p:nvPr/>
          </p:nvSpPr>
          <p:spPr>
            <a:xfrm>
              <a:off x="4461833" y="2027104"/>
              <a:ext cx="716096" cy="2093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prstClr val="white"/>
                </a:solidFill>
                <a:latin typeface="Gill Sans M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409282" y="1619479"/>
              <a:ext cx="2625078" cy="147375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CMP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 xml:space="preserve">     IT HI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SUBHI r0,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 xml:space="preserve">     IT LO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SUBLO r1, r1, r0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BNE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endPara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353699" y="1959784"/>
            <a:ext cx="2958028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a, b;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(a != b ) {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(a &gt; b)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a = a – b;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b = b – a;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63AD5224-522C-18FC-A5C0-4CAEE167F4A7}"/>
              </a:ext>
            </a:extLst>
          </p:cNvPr>
          <p:cNvSpPr/>
          <p:nvPr/>
        </p:nvSpPr>
        <p:spPr>
          <a:xfrm>
            <a:off x="1143001" y="4114800"/>
            <a:ext cx="210698" cy="120015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D6951C95-8873-B916-2166-BF641EF82FD2}"/>
              </a:ext>
            </a:extLst>
          </p:cNvPr>
          <p:cNvSpPr/>
          <p:nvPr/>
        </p:nvSpPr>
        <p:spPr>
          <a:xfrm>
            <a:off x="1143000" y="4284417"/>
            <a:ext cx="210698" cy="630484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BF8ADD12-38AC-2F78-06EF-691CD8EC6539}"/>
              </a:ext>
            </a:extLst>
          </p:cNvPr>
          <p:cNvSpPr/>
          <p:nvPr/>
        </p:nvSpPr>
        <p:spPr>
          <a:xfrm flipV="1">
            <a:off x="1638717" y="3882854"/>
            <a:ext cx="262820" cy="86876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CC7A2AF8-E930-2C88-AA7D-100ACAD1C1CD}"/>
              </a:ext>
            </a:extLst>
          </p:cNvPr>
          <p:cNvSpPr/>
          <p:nvPr/>
        </p:nvSpPr>
        <p:spPr>
          <a:xfrm flipV="1">
            <a:off x="1625960" y="3874692"/>
            <a:ext cx="262820" cy="120376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5A93BF7-A206-F2CA-CC13-D14DF785DD1A}"/>
              </a:ext>
            </a:extLst>
          </p:cNvPr>
          <p:cNvSpPr txBox="1">
            <a:spLocks/>
          </p:cNvSpPr>
          <p:nvPr/>
        </p:nvSpPr>
        <p:spPr bwMode="auto">
          <a:xfrm>
            <a:off x="4810052" y="2926080"/>
            <a:ext cx="3079900" cy="3383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7859" tIns="33334" rIns="67859" bIns="33334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200" kern="0" dirty="0">
                <a:solidFill>
                  <a:prstClr val="black"/>
                </a:solidFill>
              </a:rPr>
              <a:t>CMP r0, r1 compares r0 and r1, setting Z=1 if r0 == r1, which is the termination condition when tested by BNE later.</a:t>
            </a:r>
          </a:p>
          <a:p>
            <a:pPr marL="0" indent="0">
              <a:buNone/>
            </a:pPr>
            <a:r>
              <a:rPr lang="en-US" sz="1200" kern="0" dirty="0">
                <a:solidFill>
                  <a:prstClr val="black"/>
                </a:solidFill>
              </a:rPr>
              <a:t>SUBHI r0, r0, r1 executes only if the previous compare set HI (unsigned “higher”), i.e., r0 &gt; r1 for unsigned </a:t>
            </a:r>
            <a:r>
              <a:rPr lang="en-US" sz="1200" kern="0" dirty="0" err="1">
                <a:solidFill>
                  <a:prstClr val="black"/>
                </a:solidFill>
              </a:rPr>
              <a:t>ints</a:t>
            </a:r>
            <a:r>
              <a:rPr lang="en-US" sz="1200" kern="0" dirty="0">
                <a:solidFill>
                  <a:prstClr val="black"/>
                </a:solidFill>
              </a:rPr>
              <a:t> r0 and r1. Flags C=1 and Z=0 (“no borrow” and “not equal”).</a:t>
            </a:r>
          </a:p>
          <a:p>
            <a:pPr marL="0" indent="0">
              <a:buNone/>
            </a:pPr>
            <a:r>
              <a:rPr lang="en-US" sz="1200" kern="0" dirty="0">
                <a:solidFill>
                  <a:prstClr val="black"/>
                </a:solidFill>
              </a:rPr>
              <a:t>SUBLO r1, r1, r0 executes only if the previous compare of unsigned </a:t>
            </a:r>
            <a:r>
              <a:rPr lang="en-US" sz="1200" kern="0" dirty="0" err="1">
                <a:solidFill>
                  <a:prstClr val="black"/>
                </a:solidFill>
              </a:rPr>
              <a:t>ints</a:t>
            </a:r>
            <a:r>
              <a:rPr lang="en-US" sz="1200" kern="0" dirty="0">
                <a:solidFill>
                  <a:prstClr val="black"/>
                </a:solidFill>
              </a:rPr>
              <a:t> set LO (unsigned “lower”), i.e., r0 &lt; r1 for unsigned </a:t>
            </a:r>
            <a:r>
              <a:rPr lang="en-US" sz="1200" kern="0" dirty="0" err="1">
                <a:solidFill>
                  <a:prstClr val="black"/>
                </a:solidFill>
              </a:rPr>
              <a:t>ints</a:t>
            </a:r>
            <a:r>
              <a:rPr lang="en-US" sz="1200" kern="0" dirty="0">
                <a:solidFill>
                  <a:prstClr val="black"/>
                </a:solidFill>
              </a:rPr>
              <a:t> r0 and r1. Flag C=0 (“borrow”).</a:t>
            </a:r>
            <a:r>
              <a:rPr lang="en-US" sz="1200" kern="0" dirty="0">
                <a:solidFill>
                  <a:prstClr val="black"/>
                </a:solidFill>
              </a:rPr>
              <a:t xml:space="preserve"> On Cortex-M each is preceded by IT (IT HI, IT LO).</a:t>
            </a:r>
          </a:p>
          <a:p>
            <a:pPr marL="0" indent="0">
              <a:buNone/>
            </a:pPr>
            <a:r>
              <a:rPr lang="en-US" sz="1200" kern="0" dirty="0">
                <a:solidFill>
                  <a:prstClr val="black"/>
                </a:solidFill>
              </a:rPr>
              <a:t>BNE </a:t>
            </a:r>
            <a:r>
              <a:rPr lang="en-US" sz="1200" kern="0" dirty="0" err="1">
                <a:solidFill>
                  <a:prstClr val="black"/>
                </a:solidFill>
              </a:rPr>
              <a:t>gcd</a:t>
            </a:r>
            <a:r>
              <a:rPr lang="en-US" sz="1200" kern="0" dirty="0">
                <a:solidFill>
                  <a:prstClr val="black"/>
                </a:solidFill>
              </a:rPr>
              <a:t> branches back to the label if Z=0 from the CMP, i.e., while r0 != r1; when they become equal, Z=1 and the loop falls through, leaving r0 == r1 == </a:t>
            </a:r>
            <a:r>
              <a:rPr lang="en-US" sz="1200" kern="0" dirty="0" err="1">
                <a:solidFill>
                  <a:prstClr val="black"/>
                </a:solidFill>
              </a:rPr>
              <a:t>gcd</a:t>
            </a:r>
            <a:r>
              <a:rPr lang="en-US" sz="1200" kern="0" dirty="0">
                <a:solidFill>
                  <a:prstClr val="black"/>
                </a:solidFill>
              </a:rPr>
              <a:t>(a, b).</a:t>
            </a:r>
            <a:endParaRPr lang="en-GB" sz="12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228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DE11-4A34-23E8-64C2-213C279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F6058-B736-B29C-B402-F8D3E7E9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92B2B7E-F38B-2628-EF2D-83C2D72E679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4" y="1771650"/>
            <a:ext cx="6582833" cy="3702844"/>
          </a:xfrm>
        </p:spPr>
      </p:pic>
    </p:spTree>
    <p:extLst>
      <p:ext uri="{BB962C8B-B14F-4D97-AF65-F5344CB8AC3E}">
        <p14:creationId xmlns:p14="http://schemas.microsoft.com/office/powerpoint/2010/main" val="46419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3426936"/>
            <a:ext cx="1447800" cy="1427639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H="1" flipV="1">
            <a:off x="7162800" y="3299012"/>
            <a:ext cx="1676400" cy="1653989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162800" y="3299012"/>
            <a:ext cx="1676400" cy="1653988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544586" y="4270811"/>
            <a:ext cx="2728963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We cannot store a word at address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" y="3219187"/>
            <a:ext cx="4191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/>
              <a:t>Word-address mod 4 = 0</a:t>
            </a:r>
          </a:p>
        </p:txBody>
      </p:sp>
      <p:sp>
        <p:nvSpPr>
          <p:cNvPr id="57" name="Content Placeholder 2"/>
          <p:cNvSpPr>
            <a:spLocks noGrp="1"/>
          </p:cNvSpPr>
          <p:nvPr>
            <p:ph sz="quarter" idx="1"/>
          </p:nvPr>
        </p:nvSpPr>
        <p:spPr>
          <a:xfrm>
            <a:off x="452788" y="1214489"/>
            <a:ext cx="5486400" cy="1618664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we store a word anywhere in memory?  </a:t>
            </a:r>
          </a:p>
          <a:p>
            <a:pPr marL="274320" lvl="1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b="1" dirty="0">
                <a:solidFill>
                  <a:schemeClr val="accent2"/>
                </a:solidFill>
              </a:rPr>
              <a:t>NO on most computers!</a:t>
            </a:r>
          </a:p>
          <a:p>
            <a:pPr lvl="1"/>
            <a:r>
              <a:rPr lang="en-US" sz="2000" dirty="0"/>
              <a:t>A word can only be stored at an address that's divisible by 4.</a:t>
            </a:r>
          </a:p>
          <a:p>
            <a:pPr marL="274320" lvl="1" indent="0">
              <a:buNone/>
            </a:pP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4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51821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10800000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769481" y="4465346"/>
            <a:ext cx="2685177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We c</a:t>
            </a:r>
            <a:r>
              <a:rPr lang="en-US" sz="1600" b="1" dirty="0">
                <a:solidFill>
                  <a:schemeClr val="bg1"/>
                </a:solidFill>
              </a:rPr>
              <a:t>annot store a halfword at address 0x20000001.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you store a halfword anywhere?  </a:t>
            </a:r>
            <a:r>
              <a:rPr lang="en-US" sz="2000" b="1" dirty="0">
                <a:solidFill>
                  <a:schemeClr val="accent2"/>
                </a:solidFill>
              </a:rPr>
              <a:t>NO.</a:t>
            </a:r>
          </a:p>
          <a:p>
            <a:pPr lvl="1"/>
            <a:r>
              <a:rPr lang="en-US" sz="2000" dirty="0"/>
              <a:t>A halfword can only be stored at an address that's divisible by 2.</a:t>
            </a:r>
          </a:p>
          <a:p>
            <a:pPr lvl="1"/>
            <a:r>
              <a:rPr lang="en-US" sz="2000" dirty="0"/>
              <a:t>Memory address of a halfword is the lowest address of its two bytes.</a:t>
            </a: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90989" y="3025517"/>
            <a:ext cx="516366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 err="1"/>
              <a:t>Halfword</a:t>
            </a:r>
            <a:r>
              <a:rPr lang="en-US" sz="2100" dirty="0"/>
              <a:t>-address mod 2 = 0</a:t>
            </a:r>
          </a:p>
        </p:txBody>
      </p:sp>
    </p:spTree>
    <p:extLst>
      <p:ext uri="{BB962C8B-B14F-4D97-AF65-F5344CB8AC3E}">
        <p14:creationId xmlns:p14="http://schemas.microsoft.com/office/powerpoint/2010/main" val="296376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301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Typically, Barrel shifters are implemented as a cascade of parallel 2-to-1 multiplexers.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3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55595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61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3477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0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0069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2954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4534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: loads a program-relative or register-relative address into a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3124200"/>
            <a:ext cx="57150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start  MOV r0,#10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ADR r4,start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SUB r4,pc,#0xc</a:t>
            </a:r>
          </a:p>
        </p:txBody>
      </p:sp>
    </p:spTree>
    <p:extLst>
      <p:ext uri="{BB962C8B-B14F-4D97-AF65-F5344CB8AC3E}">
        <p14:creationId xmlns:p14="http://schemas.microsoft.com/office/powerpoint/2010/main" val="3686948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4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Left by 3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0985"/>
            <a:ext cx="9144000" cy="29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7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" y="-457200"/>
            <a:ext cx="8839201" cy="914400"/>
          </a:xfrm>
        </p:spPr>
        <p:txBody>
          <a:bodyPr>
            <a:normAutofit/>
          </a:bodyPr>
          <a:lstStyle/>
          <a:p>
            <a:r>
              <a:rPr lang="en-US" sz="1800" dirty="0"/>
              <a:t>ARM Register Conventions (APCS-Application Procedure Call Standard)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52399" y="616234"/>
          <a:ext cx="8839201" cy="61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34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846667">
                  <a:extLst>
                    <a:ext uri="{9D8B030D-6E8A-4147-A177-3AD203B41FA5}">
                      <a16:colId xmlns:a16="http://schemas.microsoft.com/office/drawing/2014/main" val="1765130036"/>
                    </a:ext>
                  </a:extLst>
                </a:gridCol>
                <a:gridCol w="3654778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3355622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Reg. </a:t>
                      </a:r>
                    </a:p>
                    <a:p>
                      <a:r>
                        <a:rPr lang="en-US" sz="16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APCS</a:t>
                      </a:r>
                    </a:p>
                    <a:p>
                      <a:r>
                        <a:rPr lang="en-US" sz="1600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Role in Procedure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258247">
                <a:tc>
                  <a:txBody>
                    <a:bodyPr/>
                    <a:lstStyle/>
                    <a:p>
                      <a:r>
                        <a:rPr lang="en-US" sz="1600" dirty="0"/>
                        <a:t>r0 -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a1 - 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4 arguments into a procedure / Scratch pad / Return result(s) from a function (not 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Caller-saved registers - subprogram can use them as</a:t>
                      </a:r>
                    </a:p>
                    <a:p>
                      <a:r>
                        <a:rPr lang="en-US" sz="1600" dirty="0"/>
                        <a:t> scratch registers, but it must also save any needed values</a:t>
                      </a:r>
                    </a:p>
                    <a:p>
                      <a:r>
                        <a:rPr lang="en-US" sz="1600" dirty="0"/>
                        <a:t> before calling another subprogram.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1492339">
                <a:tc>
                  <a:txBody>
                    <a:bodyPr/>
                    <a:lstStyle/>
                    <a:p>
                      <a:r>
                        <a:rPr lang="en-US" sz="1600" dirty="0"/>
                        <a:t>r4 - 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v1 - 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Variables (preserved across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registers - it can rely on an subprogram it calls not to change them (so a subprogram wishing to use these registers must save them on entry and restore them before it exits)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r9 – 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fp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Frame pointer (if used) / Register Variable (preserved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 - pointer to bottom of call-frame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Stack pointer - points to the top of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Link register - holds the 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Receives return address on BL call to procedure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Program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54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" y="2597038"/>
            <a:ext cx="6094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79" y="2886716"/>
            <a:ext cx="213872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  MOVS r0, #5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#6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PUSH {r0, r1, r2, r3}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r0, #1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BL   sum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POP {r0, r1, r2, r3}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93177" y="2874037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8320B7-1673-A249-985B-309333E06F0F}"/>
              </a:ext>
            </a:extLst>
          </p:cNvPr>
          <p:cNvSpPr txBox="1"/>
          <p:nvPr/>
        </p:nvSpPr>
        <p:spPr>
          <a:xfrm>
            <a:off x="3607577" y="2597038"/>
            <a:ext cx="11447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89735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6685" y="2625589"/>
            <a:ext cx="6238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Callee</a:t>
            </a:r>
            <a:endParaRPr lang="en-US" sz="1350" dirty="0"/>
          </a:p>
        </p:txBody>
      </p:sp>
      <p:sp>
        <p:nvSpPr>
          <p:cNvPr id="10" name="TextBox 9"/>
          <p:cNvSpPr txBox="1"/>
          <p:nvPr/>
        </p:nvSpPr>
        <p:spPr>
          <a:xfrm>
            <a:off x="3186684" y="2975172"/>
            <a:ext cx="4757166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sum</a:t>
            </a:r>
            <a:r>
              <a:rPr lang="en-US" sz="1200" dirty="0">
                <a:latin typeface="Consolas" panose="020B0609020204030204" pitchFamily="49" charset="0"/>
              </a:rPr>
              <a:t> PROC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EXPORT sum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PUSH {r5, r6, </a:t>
            </a:r>
            <a:r>
              <a:rPr lang="en-US" sz="1200" b="1" dirty="0" err="1">
                <a:solidFill>
                  <a:srgbClr val="3333FF"/>
                </a:solidFill>
                <a:latin typeface="Consolas" panose="020B0609020204030204" pitchFamily="49" charset="0"/>
              </a:rPr>
              <a:t>lr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r1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a + b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r2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ADD r0, r0, r3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#12]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r5=mem[sp+12],r6=mem[sp+16]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h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i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#20]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r5=mem[sp+20],r6=mem[sp+24]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j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k</a:t>
            </a:r>
          </a:p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  POP {r5, r6, pc}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ENDP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550" y="2996768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SP+20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SP+16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lr</a:t>
                      </a:r>
                      <a:endParaRPr lang="en-US" sz="1400" b="1" dirty="0">
                        <a:solidFill>
                          <a:srgbClr val="3333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F3E23F3-7B52-2544-AFFF-69221F0A193A}"/>
              </a:ext>
            </a:extLst>
          </p:cNvPr>
          <p:cNvSpPr txBox="1"/>
          <p:nvPr/>
        </p:nvSpPr>
        <p:spPr>
          <a:xfrm>
            <a:off x="1889380" y="2719769"/>
            <a:ext cx="11412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604234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3128</TotalTime>
  <Words>2791</Words>
  <Application>Microsoft Office PowerPoint</Application>
  <PresentationFormat>On-screen Show (4:3)</PresentationFormat>
  <Paragraphs>560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1_Origin</vt:lpstr>
      <vt:lpstr>Zonghua Gu</vt:lpstr>
      <vt:lpstr>Signed Integer Representation Method 3: Two’s Complement</vt:lpstr>
      <vt:lpstr>Summary: Condition Codes </vt:lpstr>
      <vt:lpstr>Signed Comparison</vt:lpstr>
      <vt:lpstr>Signed Comparison</vt:lpstr>
      <vt:lpstr>Summary of Carry and Overflow Flags</vt:lpstr>
      <vt:lpstr>NZCV Flags in xPSR</vt:lpstr>
      <vt:lpstr>Example 1: Greatest Common Divider (GCD)</vt:lpstr>
      <vt:lpstr>GCD</vt:lpstr>
      <vt:lpstr>Logic View of Memory</vt:lpstr>
      <vt:lpstr>Logic View of Memory</vt:lpstr>
      <vt:lpstr>Implementation of Barrel Shifter</vt:lpstr>
      <vt:lpstr>Implementation of Barrel Shifter</vt:lpstr>
      <vt:lpstr>Implementation of Barrel Shifter</vt:lpstr>
      <vt:lpstr>Implementation of Barrel Shifter</vt:lpstr>
      <vt:lpstr>Implementation of Barrel Shifter</vt:lpstr>
      <vt:lpstr>ADR Pseudo-instruction</vt:lpstr>
      <vt:lpstr>64-bit Logic Shift Left</vt:lpstr>
      <vt:lpstr>64-bit Logic Shift Left</vt:lpstr>
      <vt:lpstr>64-bit Logic Shift Right</vt:lpstr>
      <vt:lpstr>64-bit Logic Shift Right</vt:lpstr>
      <vt:lpstr>ARM Register Conventions (APCS-Application Procedure Call Standard)</vt:lpstr>
      <vt:lpstr>Passing Extra Arguments via Stack</vt:lpstr>
      <vt:lpstr>Passing Extra Arguments via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dcterms:created xsi:type="dcterms:W3CDTF">2014-02-05T02:41:42Z</dcterms:created>
  <dcterms:modified xsi:type="dcterms:W3CDTF">2025-12-30T22:25:30Z</dcterms:modified>
</cp:coreProperties>
</file>