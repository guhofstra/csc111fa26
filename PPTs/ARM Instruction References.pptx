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76" r:id="rId2"/>
    <p:sldId id="343" r:id="rId3"/>
    <p:sldId id="567" r:id="rId4"/>
    <p:sldId id="377" r:id="rId5"/>
    <p:sldId id="378" r:id="rId6"/>
    <p:sldId id="382" r:id="rId7"/>
    <p:sldId id="383" r:id="rId8"/>
    <p:sldId id="384" r:id="rId9"/>
    <p:sldId id="34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61F03-6530-45FE-8DDC-A29C80A9F7E9}" v="4" dt="2025-10-23T23:29:48.600"/>
    <p1510:client id="{8A15EDE4-F928-43C4-A706-FF1EDAB7670B}" v="3" dt="2025-10-23T23:37:21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7"/>
    <p:restoredTop sz="70327" autoAdjust="0"/>
  </p:normalViewPr>
  <p:slideViewPr>
    <p:cSldViewPr>
      <p:cViewPr varScale="1">
        <p:scale>
          <a:sx n="58" d="100"/>
          <a:sy n="58" d="100"/>
        </p:scale>
        <p:origin x="1627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0-23T23:37:18.008" v="140" actId="20577"/>
      <pc:docMkLst>
        <pc:docMk/>
      </pc:docMkLst>
      <pc:sldChg chg="del">
        <pc:chgData name="Zonghua Gu" userId="9a7e1853e1951ef5" providerId="LiveId" clId="{CF1FAA12-072C-4ED5-BA76-0FFFAEFDB88A}" dt="2025-10-23T23:29:02.906" v="117" actId="47"/>
        <pc:sldMkLst>
          <pc:docMk/>
          <pc:sldMk cId="186752344" sldId="257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2121584779" sldId="258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3074439469" sldId="259"/>
        </pc:sldMkLst>
      </pc:sldChg>
      <pc:sldChg chg="addSp modSp del mod">
        <pc:chgData name="Zonghua Gu" userId="9a7e1853e1951ef5" providerId="LiveId" clId="{CF1FAA12-072C-4ED5-BA76-0FFFAEFDB88A}" dt="2025-10-23T23:29:02.906" v="117" actId="47"/>
        <pc:sldMkLst>
          <pc:docMk/>
          <pc:sldMk cId="323246616" sldId="260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2955220754" sldId="264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2017069117" sldId="265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1619197639" sldId="266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3516980373" sldId="267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4237275474" sldId="268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438090207" sldId="269"/>
        </pc:sldMkLst>
      </pc:sldChg>
      <pc:sldChg chg="modSp del mod">
        <pc:chgData name="Zonghua Gu" userId="9a7e1853e1951ef5" providerId="LiveId" clId="{CF1FAA12-072C-4ED5-BA76-0FFFAEFDB88A}" dt="2025-10-23T23:29:02.906" v="117" actId="47"/>
        <pc:sldMkLst>
          <pc:docMk/>
          <pc:sldMk cId="3482730230" sldId="270"/>
        </pc:sldMkLst>
      </pc:sldChg>
      <pc:sldChg chg="addSp modSp del mod">
        <pc:chgData name="Zonghua Gu" userId="9a7e1853e1951ef5" providerId="LiveId" clId="{CF1FAA12-072C-4ED5-BA76-0FFFAEFDB88A}" dt="2025-10-23T23:29:02.906" v="117" actId="47"/>
        <pc:sldMkLst>
          <pc:docMk/>
          <pc:sldMk cId="2652452727" sldId="271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57863522" sldId="272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3026957160" sldId="273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3537743242" sldId="274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2561131082" sldId="275"/>
        </pc:sldMkLst>
      </pc:sldChg>
      <pc:sldChg chg="addSp delSp modSp add mod">
        <pc:chgData name="Zonghua Gu" userId="9a7e1853e1951ef5" providerId="LiveId" clId="{CF1FAA12-072C-4ED5-BA76-0FFFAEFDB88A}" dt="2025-10-23T23:29:30.140" v="121"/>
        <pc:sldMkLst>
          <pc:docMk/>
          <pc:sldMk cId="280109536" sldId="276"/>
        </pc:sldMkLst>
        <pc:spChg chg="mod">
          <ac:chgData name="Zonghua Gu" userId="9a7e1853e1951ef5" providerId="LiveId" clId="{CF1FAA12-072C-4ED5-BA76-0FFFAEFDB88A}" dt="2025-10-05T00:42:18.841" v="1" actId="1076"/>
          <ac:spMkLst>
            <pc:docMk/>
            <pc:sldMk cId="280109536" sldId="276"/>
            <ac:spMk id="5" creationId="{00000000-0000-0000-0000-000000000000}"/>
          </ac:spMkLst>
        </pc:spChg>
        <pc:spChg chg="add del mod">
          <ac:chgData name="Zonghua Gu" userId="9a7e1853e1951ef5" providerId="LiveId" clId="{CF1FAA12-072C-4ED5-BA76-0FFFAEFDB88A}" dt="2025-10-23T23:29:30.140" v="121"/>
          <ac:spMkLst>
            <pc:docMk/>
            <pc:sldMk cId="280109536" sldId="276"/>
            <ac:spMk id="6" creationId="{00000000-0000-0000-0000-000000000000}"/>
          </ac:spMkLst>
        </pc:spChg>
        <pc:spChg chg="add mod">
          <ac:chgData name="Zonghua Gu" userId="9a7e1853e1951ef5" providerId="LiveId" clId="{CF1FAA12-072C-4ED5-BA76-0FFFAEFDB88A}" dt="2025-10-23T23:29:20.749" v="119"/>
          <ac:spMkLst>
            <pc:docMk/>
            <pc:sldMk cId="280109536" sldId="276"/>
            <ac:spMk id="8" creationId="{6837050B-2BED-36B5-5CEA-C3062EAD18C8}"/>
          </ac:spMkLst>
        </pc:spChg>
      </pc:sldChg>
      <pc:sldChg chg="modSp add del mod">
        <pc:chgData name="Zonghua Gu" userId="9a7e1853e1951ef5" providerId="LiveId" clId="{CF1FAA12-072C-4ED5-BA76-0FFFAEFDB88A}" dt="2025-10-23T23:29:02.906" v="117" actId="47"/>
        <pc:sldMkLst>
          <pc:docMk/>
          <pc:sldMk cId="45044131" sldId="277"/>
        </pc:sldMkLst>
      </pc:sldChg>
      <pc:sldChg chg="modSp add del mod modNotes">
        <pc:chgData name="Zonghua Gu" userId="9a7e1853e1951ef5" providerId="LiveId" clId="{CF1FAA12-072C-4ED5-BA76-0FFFAEFDB88A}" dt="2025-10-23T23:29:02.906" v="117" actId="47"/>
        <pc:sldMkLst>
          <pc:docMk/>
          <pc:sldMk cId="2464459979" sldId="278"/>
        </pc:sldMkLst>
      </pc:sldChg>
      <pc:sldChg chg="add del">
        <pc:chgData name="Zonghua Gu" userId="9a7e1853e1951ef5" providerId="LiveId" clId="{CF1FAA12-072C-4ED5-BA76-0FFFAEFDB88A}" dt="2025-10-23T23:29:02.906" v="117" actId="47"/>
        <pc:sldMkLst>
          <pc:docMk/>
          <pc:sldMk cId="4128704563" sldId="279"/>
        </pc:sldMkLst>
      </pc:sldChg>
      <pc:sldChg chg="add del">
        <pc:chgData name="Zonghua Gu" userId="9a7e1853e1951ef5" providerId="LiveId" clId="{CF1FAA12-072C-4ED5-BA76-0FFFAEFDB88A}" dt="2025-10-23T23:29:02.906" v="117" actId="47"/>
        <pc:sldMkLst>
          <pc:docMk/>
          <pc:sldMk cId="158192529" sldId="280"/>
        </pc:sldMkLst>
      </pc:sldChg>
      <pc:sldChg chg="modSp add del mod">
        <pc:chgData name="Zonghua Gu" userId="9a7e1853e1951ef5" providerId="LiveId" clId="{CF1FAA12-072C-4ED5-BA76-0FFFAEFDB88A}" dt="2025-10-23T23:29:02.906" v="117" actId="47"/>
        <pc:sldMkLst>
          <pc:docMk/>
          <pc:sldMk cId="831866874" sldId="281"/>
        </pc:sldMkLst>
      </pc:sldChg>
      <pc:sldChg chg="add del">
        <pc:chgData name="Zonghua Gu" userId="9a7e1853e1951ef5" providerId="LiveId" clId="{CF1FAA12-072C-4ED5-BA76-0FFFAEFDB88A}" dt="2025-10-23T23:29:02.906" v="117" actId="47"/>
        <pc:sldMkLst>
          <pc:docMk/>
          <pc:sldMk cId="2603641024" sldId="282"/>
        </pc:sldMkLst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3925431262" sldId="342"/>
        </pc:sldMkLst>
      </pc:sldChg>
      <pc:sldChg chg="delSp add mod modNotesTx">
        <pc:chgData name="Zonghua Gu" userId="9a7e1853e1951ef5" providerId="LiveId" clId="{CF1FAA12-072C-4ED5-BA76-0FFFAEFDB88A}" dt="2025-10-23T23:37:18.008" v="140" actId="20577"/>
        <pc:sldMkLst>
          <pc:docMk/>
          <pc:sldMk cId="1197208543" sldId="343"/>
        </pc:sldMkLst>
        <pc:spChg chg="del">
          <ac:chgData name="Zonghua Gu" userId="9a7e1853e1951ef5" providerId="LiveId" clId="{CF1FAA12-072C-4ED5-BA76-0FFFAEFDB88A}" dt="2025-10-23T23:34:20.228" v="124" actId="478"/>
          <ac:spMkLst>
            <pc:docMk/>
            <pc:sldMk cId="1197208543" sldId="343"/>
            <ac:spMk id="43" creationId="{A364F533-400C-D612-5898-222CAE8624CB}"/>
          </ac:spMkLst>
        </pc:spChg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2834520986" sldId="377"/>
        </pc:sldMkLst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3787471858" sldId="378"/>
        </pc:sldMkLst>
      </pc:sldChg>
      <pc:sldChg chg="modSp add mod modNotes">
        <pc:chgData name="Zonghua Gu" userId="9a7e1853e1951ef5" providerId="LiveId" clId="{CF1FAA12-072C-4ED5-BA76-0FFFAEFDB88A}" dt="2025-10-23T23:34:36.326" v="139" actId="20577"/>
        <pc:sldMkLst>
          <pc:docMk/>
          <pc:sldMk cId="2083494270" sldId="382"/>
        </pc:sldMkLst>
        <pc:spChg chg="mod">
          <ac:chgData name="Zonghua Gu" userId="9a7e1853e1951ef5" providerId="LiveId" clId="{CF1FAA12-072C-4ED5-BA76-0FFFAEFDB88A}" dt="2025-10-23T23:34:36.326" v="139" actId="20577"/>
          <ac:spMkLst>
            <pc:docMk/>
            <pc:sldMk cId="2083494270" sldId="382"/>
            <ac:spMk id="14339" creationId="{00000000-0000-0000-0000-000000000000}"/>
          </ac:spMkLst>
        </pc:spChg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2158482455" sldId="383"/>
        </pc:sldMkLst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4167967629" sldId="384"/>
        </pc:sldMkLst>
      </pc:sldChg>
      <pc:sldChg chg="delSp add mod modNotes">
        <pc:chgData name="Zonghua Gu" userId="9a7e1853e1951ef5" providerId="LiveId" clId="{CF1FAA12-072C-4ED5-BA76-0FFFAEFDB88A}" dt="2025-10-23T23:34:21.710" v="126" actId="478"/>
        <pc:sldMkLst>
          <pc:docMk/>
          <pc:sldMk cId="837371891" sldId="567"/>
        </pc:sldMkLst>
        <pc:spChg chg="del">
          <ac:chgData name="Zonghua Gu" userId="9a7e1853e1951ef5" providerId="LiveId" clId="{CF1FAA12-072C-4ED5-BA76-0FFFAEFDB88A}" dt="2025-10-23T23:34:21.710" v="126" actId="478"/>
          <ac:spMkLst>
            <pc:docMk/>
            <pc:sldMk cId="837371891" sldId="567"/>
            <ac:spMk id="3" creationId="{4DF73044-40F3-F2D2-4520-3537F47168B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N</a:t>
            </a:r>
            <a:r>
              <a:rPr lang="en-US" sz="1200" dirty="0"/>
              <a:t> (negative) – set (1) when a signed result is negative, otherwise cleared (0).</a:t>
            </a:r>
          </a:p>
          <a:p>
            <a:r>
              <a:rPr lang="en-US" sz="1200" b="1" dirty="0"/>
              <a:t>Z</a:t>
            </a:r>
            <a:r>
              <a:rPr lang="en-US" sz="1200" dirty="0"/>
              <a:t> (zero) – set (1) when a result is 0, otherwise cleared (0).</a:t>
            </a:r>
          </a:p>
          <a:p>
            <a:r>
              <a:rPr lang="en-US" sz="1200" b="1" dirty="0"/>
              <a:t>C</a:t>
            </a:r>
            <a:r>
              <a:rPr lang="en-US" sz="1200" dirty="0"/>
              <a:t> (carry) – set (1) when an add-based operation produces an overflow, when a subtract-based operation doesn’t require a borrow; when shifting, holds the last bit that’s been shifted out; otherwise cleared (0).</a:t>
            </a:r>
          </a:p>
          <a:p>
            <a:r>
              <a:rPr lang="en-US" sz="1200" b="1" dirty="0"/>
              <a:t>V</a:t>
            </a:r>
            <a:r>
              <a:rPr lang="en-US" sz="1200" dirty="0"/>
              <a:t> (overflow) – set (1) when an add- or subtract-based operation generates a signed overflow, otherwise cleared (0).</a:t>
            </a:r>
          </a:p>
          <a:p>
            <a:endParaRPr lang="en-US" sz="120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0037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 (and </a:t>
            </a:r>
            <a:r>
              <a:rPr lang="en-US" sz="1200" dirty="0" err="1"/>
              <a:t>pseudo</a:t>
            </a:r>
            <a:r>
              <a:rPr lang="en-US" sz="1200" dirty="0"/>
              <a:t>-instructions)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96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E78A-8959-9F38-DC57-514D82DC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98DB0-637E-3279-FC29-7939190E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D0C0E-F6AF-C010-7E7C-010C0378A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 (and </a:t>
            </a:r>
            <a:r>
              <a:rPr lang="en-US" sz="1200" dirty="0" err="1"/>
              <a:t>pseudo</a:t>
            </a:r>
            <a:r>
              <a:rPr lang="en-US" sz="1200" dirty="0"/>
              <a:t>-instructions)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AD7A5-1D2A-FC7A-3517-647B8F7D4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19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46100" y="863600"/>
            <a:ext cx="5870575" cy="3303588"/>
          </a:xfrm>
          <a:ln/>
        </p:spPr>
      </p:sp>
    </p:spTree>
    <p:extLst>
      <p:ext uri="{BB962C8B-B14F-4D97-AF65-F5344CB8AC3E}">
        <p14:creationId xmlns:p14="http://schemas.microsoft.com/office/powerpoint/2010/main" val="542877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effectLst/>
              </a:rPr>
              <a:t>LR does not have to contain the same value after a subroutine has completed.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0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10/23/2025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10/23/2025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Z.</a:t>
            </a:r>
            <a:r>
              <a:rPr lang="en-US" sz="2000" dirty="0"/>
              <a:t>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7613" y="2790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7114" y="1770253"/>
            <a:ext cx="423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ARM Instruction References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D5D74-5EDB-DDF2-8EB9-CB12CB226483}"/>
              </a:ext>
            </a:extLst>
          </p:cNvPr>
          <p:cNvSpPr txBox="1"/>
          <p:nvPr/>
        </p:nvSpPr>
        <p:spPr>
          <a:xfrm>
            <a:off x="2233138" y="6259176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1200" kern="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8010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Flags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2377588"/>
            <a:ext cx="8229600" cy="3718560"/>
          </a:xfrm>
        </p:spPr>
        <p:txBody>
          <a:bodyPr>
            <a:noAutofit/>
          </a:bodyPr>
          <a:lstStyle/>
          <a:p>
            <a:r>
              <a:rPr lang="en-US" sz="1600" b="1" dirty="0"/>
              <a:t>Negative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N = 1 </a:t>
            </a:r>
            <a:r>
              <a:rPr lang="en-US" sz="1600" dirty="0"/>
              <a:t>if most significant bit of result is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sz="1600" b="1" dirty="0"/>
              <a:t>Zero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Z = 1 </a:t>
            </a:r>
            <a:r>
              <a:rPr lang="en-US" sz="1600" dirty="0"/>
              <a:t>if all bits of result are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sz="1600" b="1" dirty="0"/>
              <a:t>Carry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/>
              <a:t>For unsigned addition,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 = 1 </a:t>
            </a:r>
            <a:r>
              <a:rPr lang="en-US" sz="1600" dirty="0"/>
              <a:t>if carry takes place</a:t>
            </a:r>
          </a:p>
          <a:p>
            <a:pPr lvl="1"/>
            <a:r>
              <a:rPr lang="en-US" sz="1600" dirty="0"/>
              <a:t>For unsigned subtraction,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 = 0 </a:t>
            </a:r>
            <a:r>
              <a:rPr lang="en-US" sz="1600" dirty="0"/>
              <a:t>(carry = not borrow) if borrow takes place</a:t>
            </a:r>
          </a:p>
          <a:p>
            <a:pPr lvl="1"/>
            <a:r>
              <a:rPr lang="en-US" sz="1600" dirty="0"/>
              <a:t>For shift/rotation, C = last bit shifted out</a:t>
            </a:r>
          </a:p>
          <a:p>
            <a:r>
              <a:rPr lang="en-US" sz="1600" b="1" dirty="0" err="1"/>
              <a:t>oVerflow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V = 1 </a:t>
            </a:r>
            <a:r>
              <a:rPr lang="en-US" sz="1600" dirty="0"/>
              <a:t>if adding 2 same-signed numbers produces a result with the opposite sign</a:t>
            </a:r>
          </a:p>
          <a:p>
            <a:pPr lvl="2"/>
            <a:r>
              <a:rPr lang="en-US" sz="1400" dirty="0"/>
              <a:t>Positive + Positive = Negative, or </a:t>
            </a:r>
          </a:p>
          <a:p>
            <a:pPr lvl="2"/>
            <a:r>
              <a:rPr lang="en-US" sz="1400" dirty="0"/>
              <a:t>Negative + negative = Positive</a:t>
            </a:r>
          </a:p>
          <a:p>
            <a:pPr lvl="1"/>
            <a:r>
              <a:rPr lang="en-US" sz="1600" dirty="0"/>
              <a:t>Non-arithmetic operations do not touch V bit, such as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MOV,AND,LSL,MUL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23C336C-72F6-5E4D-AEBB-F4AB2D4C384F}"/>
              </a:ext>
            </a:extLst>
          </p:cNvPr>
          <p:cNvGrpSpPr/>
          <p:nvPr/>
        </p:nvGrpSpPr>
        <p:grpSpPr>
          <a:xfrm>
            <a:off x="2286000" y="1333086"/>
            <a:ext cx="8527446" cy="914401"/>
            <a:chOff x="974370" y="1440516"/>
            <a:chExt cx="7606093" cy="55627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65754D-DE16-4F39-B1B0-DA5943946BF1}"/>
                </a:ext>
              </a:extLst>
            </p:cNvPr>
            <p:cNvSpPr/>
            <p:nvPr/>
          </p:nvSpPr>
          <p:spPr bwMode="auto">
            <a:xfrm>
              <a:off x="2874941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93E8F1-45C8-45CC-B373-7F5661A4CDAC}"/>
                </a:ext>
              </a:extLst>
            </p:cNvPr>
            <p:cNvSpPr/>
            <p:nvPr/>
          </p:nvSpPr>
          <p:spPr bwMode="auto">
            <a:xfrm>
              <a:off x="3114653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FCC2AB-1DE5-4E46-A408-A603476BC0DC}"/>
                </a:ext>
              </a:extLst>
            </p:cNvPr>
            <p:cNvSpPr/>
            <p:nvPr/>
          </p:nvSpPr>
          <p:spPr bwMode="auto">
            <a:xfrm>
              <a:off x="3348658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1D7D1A-5E84-4709-8248-A578919960E8}"/>
                </a:ext>
              </a:extLst>
            </p:cNvPr>
            <p:cNvSpPr/>
            <p:nvPr/>
          </p:nvSpPr>
          <p:spPr bwMode="auto">
            <a:xfrm>
              <a:off x="3588370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012AA1-6463-46CA-9447-F46147A08F0D}"/>
                </a:ext>
              </a:extLst>
            </p:cNvPr>
            <p:cNvSpPr/>
            <p:nvPr/>
          </p:nvSpPr>
          <p:spPr bwMode="auto">
            <a:xfrm>
              <a:off x="3828082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0CD862-50B5-4C82-A42C-3DCF77853209}"/>
                </a:ext>
              </a:extLst>
            </p:cNvPr>
            <p:cNvSpPr/>
            <p:nvPr/>
          </p:nvSpPr>
          <p:spPr bwMode="auto">
            <a:xfrm>
              <a:off x="4067794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4B20A9-0070-459B-AD5B-2686AAB485F3}"/>
                </a:ext>
              </a:extLst>
            </p:cNvPr>
            <p:cNvSpPr/>
            <p:nvPr/>
          </p:nvSpPr>
          <p:spPr bwMode="auto">
            <a:xfrm>
              <a:off x="4301797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66CDDF-BF45-403E-87AF-598F6C2E43FE}"/>
                </a:ext>
              </a:extLst>
            </p:cNvPr>
            <p:cNvSpPr/>
            <p:nvPr/>
          </p:nvSpPr>
          <p:spPr bwMode="auto">
            <a:xfrm>
              <a:off x="4541509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4A65F3-34EF-471D-9C2E-7512DF187876}"/>
                </a:ext>
              </a:extLst>
            </p:cNvPr>
            <p:cNvSpPr/>
            <p:nvPr/>
          </p:nvSpPr>
          <p:spPr bwMode="auto">
            <a:xfrm>
              <a:off x="4775514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DB2790-A34C-4D7B-ADEA-5F46A4AB8753}"/>
                </a:ext>
              </a:extLst>
            </p:cNvPr>
            <p:cNvSpPr/>
            <p:nvPr/>
          </p:nvSpPr>
          <p:spPr bwMode="auto">
            <a:xfrm>
              <a:off x="5015226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C4CDFA-F92B-4AC6-A958-80818AFD4FD0}"/>
                </a:ext>
              </a:extLst>
            </p:cNvPr>
            <p:cNvSpPr/>
            <p:nvPr/>
          </p:nvSpPr>
          <p:spPr bwMode="auto">
            <a:xfrm>
              <a:off x="5249230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1CE36A-EF5F-4EE4-A95B-86B9DB4AF71C}"/>
                </a:ext>
              </a:extLst>
            </p:cNvPr>
            <p:cNvSpPr/>
            <p:nvPr/>
          </p:nvSpPr>
          <p:spPr bwMode="auto">
            <a:xfrm>
              <a:off x="5488941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111690-1753-4E03-B833-C0D763FC959F}"/>
                </a:ext>
              </a:extLst>
            </p:cNvPr>
            <p:cNvSpPr/>
            <p:nvPr/>
          </p:nvSpPr>
          <p:spPr bwMode="auto">
            <a:xfrm>
              <a:off x="5728653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F6BF773-7EBF-46BA-8C7B-D1E8AC322732}"/>
                </a:ext>
              </a:extLst>
            </p:cNvPr>
            <p:cNvSpPr/>
            <p:nvPr/>
          </p:nvSpPr>
          <p:spPr bwMode="auto">
            <a:xfrm>
              <a:off x="5968365" y="1643456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28641D4-6BE4-42F0-9DEF-5328BBB089B2}"/>
                </a:ext>
              </a:extLst>
            </p:cNvPr>
            <p:cNvSpPr/>
            <p:nvPr/>
          </p:nvSpPr>
          <p:spPr bwMode="auto">
            <a:xfrm>
              <a:off x="6202370" y="1643456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360E56F-D602-4907-BE12-BC4495F32E15}"/>
                </a:ext>
              </a:extLst>
            </p:cNvPr>
            <p:cNvSpPr/>
            <p:nvPr/>
          </p:nvSpPr>
          <p:spPr bwMode="auto">
            <a:xfrm>
              <a:off x="6442082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9516BC-AC41-4F00-AD9D-4D90FA55F70D}"/>
                </a:ext>
              </a:extLst>
            </p:cNvPr>
            <p:cNvSpPr/>
            <p:nvPr/>
          </p:nvSpPr>
          <p:spPr bwMode="auto">
            <a:xfrm>
              <a:off x="6676086" y="1652020"/>
              <a:ext cx="239712" cy="2640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4E1D1CC-70EC-4CA7-8615-4B382AA3D3C2}"/>
                </a:ext>
              </a:extLst>
            </p:cNvPr>
            <p:cNvSpPr/>
            <p:nvPr/>
          </p:nvSpPr>
          <p:spPr bwMode="auto">
            <a:xfrm>
              <a:off x="6915797" y="1652020"/>
              <a:ext cx="237810" cy="2640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3" name="TextBox 175">
              <a:extLst>
                <a:ext uri="{FF2B5EF4-FFF2-40B4-BE49-F238E27FC236}">
                  <a16:creationId xmlns:a16="http://schemas.microsoft.com/office/drawing/2014/main" id="{68648CD0-3075-4696-B669-7E74DA96E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394" y="1689015"/>
              <a:ext cx="1056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GB" b="0" dirty="0"/>
                <a:t>Reserved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525114-3B9F-40BF-8378-90F023342A73}"/>
                </a:ext>
              </a:extLst>
            </p:cNvPr>
            <p:cNvSpPr/>
            <p:nvPr/>
          </p:nvSpPr>
          <p:spPr bwMode="auto">
            <a:xfrm>
              <a:off x="7147899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226853F-3ADD-4E19-B18E-B805DC1E278B}"/>
                </a:ext>
              </a:extLst>
            </p:cNvPr>
            <p:cNvSpPr/>
            <p:nvPr/>
          </p:nvSpPr>
          <p:spPr bwMode="auto">
            <a:xfrm>
              <a:off x="7387611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55D5F5-D625-4899-A7C0-8BE44198F5DC}"/>
                </a:ext>
              </a:extLst>
            </p:cNvPr>
            <p:cNvSpPr/>
            <p:nvPr/>
          </p:nvSpPr>
          <p:spPr bwMode="auto">
            <a:xfrm>
              <a:off x="7627323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A3B9F4-3E85-41FC-A10B-E5971133B270}"/>
                </a:ext>
              </a:extLst>
            </p:cNvPr>
            <p:cNvSpPr/>
            <p:nvPr/>
          </p:nvSpPr>
          <p:spPr bwMode="auto">
            <a:xfrm>
              <a:off x="7867034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B4E03AC-784F-4130-8827-18D68D5F6E44}"/>
                </a:ext>
              </a:extLst>
            </p:cNvPr>
            <p:cNvSpPr/>
            <p:nvPr/>
          </p:nvSpPr>
          <p:spPr bwMode="auto">
            <a:xfrm>
              <a:off x="8101039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6447CF9-AD34-4EFD-99F1-FF7212AF0999}"/>
                </a:ext>
              </a:extLst>
            </p:cNvPr>
            <p:cNvSpPr/>
            <p:nvPr/>
          </p:nvSpPr>
          <p:spPr bwMode="auto">
            <a:xfrm>
              <a:off x="8340751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30" name="TextBox 187">
              <a:extLst>
                <a:ext uri="{FF2B5EF4-FFF2-40B4-BE49-F238E27FC236}">
                  <a16:creationId xmlns:a16="http://schemas.microsoft.com/office/drawing/2014/main" id="{4FC34199-D78E-4AAD-BD4F-3D1CA46C2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4774" y="1689015"/>
              <a:ext cx="145729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GB" b="0" dirty="0"/>
                <a:t>ISR number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01593D0-75BC-44AC-8888-D7FEEBDDA23B}"/>
                </a:ext>
              </a:extLst>
            </p:cNvPr>
            <p:cNvSpPr/>
            <p:nvPr/>
          </p:nvSpPr>
          <p:spPr bwMode="auto">
            <a:xfrm>
              <a:off x="974370" y="1652020"/>
              <a:ext cx="7606093" cy="264071"/>
            </a:xfrm>
            <a:prstGeom prst="rect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32" name="TextBox 192">
              <a:extLst>
                <a:ext uri="{FF2B5EF4-FFF2-40B4-BE49-F238E27FC236}">
                  <a16:creationId xmlns:a16="http://schemas.microsoft.com/office/drawing/2014/main" id="{A82AD67E-01CD-4280-99DA-A2D9DBBAB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6663" y="1440516"/>
              <a:ext cx="332556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GB" b="0" dirty="0"/>
                <a:t>Program Status Register (PSR)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6A4B8D1-4535-44B8-B29B-C02808A256A9}"/>
                </a:ext>
              </a:extLst>
            </p:cNvPr>
            <p:cNvSpPr/>
            <p:nvPr/>
          </p:nvSpPr>
          <p:spPr bwMode="auto">
            <a:xfrm>
              <a:off x="2169125" y="1650165"/>
              <a:ext cx="473715" cy="2659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sz="1400" dirty="0">
                  <a:cs typeface="Arial" charset="0"/>
                </a:rPr>
                <a:t>ICI/IT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5AD78AE-C3D6-45BC-8E10-E7B863D9686E}"/>
                </a:ext>
              </a:extLst>
            </p:cNvPr>
            <p:cNvSpPr/>
            <p:nvPr/>
          </p:nvSpPr>
          <p:spPr bwMode="auto">
            <a:xfrm>
              <a:off x="2642839" y="1650165"/>
              <a:ext cx="237810" cy="2659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dirty="0">
                  <a:cs typeface="Arial" charset="0"/>
                </a:rPr>
                <a:t>T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25A097-4EBD-4C13-895B-09051144B7A4}"/>
                </a:ext>
              </a:extLst>
            </p:cNvPr>
            <p:cNvSpPr/>
            <p:nvPr/>
          </p:nvSpPr>
          <p:spPr bwMode="auto">
            <a:xfrm>
              <a:off x="974370" y="1650594"/>
              <a:ext cx="237808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DEF319D-969E-486D-84A8-E35102197EDB}"/>
                </a:ext>
              </a:extLst>
            </p:cNvPr>
            <p:cNvSpPr/>
            <p:nvPr/>
          </p:nvSpPr>
          <p:spPr bwMode="auto">
            <a:xfrm>
              <a:off x="1212179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1265415-19E5-4060-87AA-110FFDA83F85}"/>
                </a:ext>
              </a:extLst>
            </p:cNvPr>
            <p:cNvSpPr/>
            <p:nvPr/>
          </p:nvSpPr>
          <p:spPr bwMode="auto">
            <a:xfrm>
              <a:off x="1446184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9678C94-2C85-403A-B830-B0E8C5460086}"/>
                </a:ext>
              </a:extLst>
            </p:cNvPr>
            <p:cNvSpPr/>
            <p:nvPr/>
          </p:nvSpPr>
          <p:spPr bwMode="auto">
            <a:xfrm>
              <a:off x="1685895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B9FC768-1AC3-4342-9A16-035324535CA0}"/>
                </a:ext>
              </a:extLst>
            </p:cNvPr>
            <p:cNvSpPr/>
            <p:nvPr/>
          </p:nvSpPr>
          <p:spPr bwMode="auto">
            <a:xfrm>
              <a:off x="1925607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Q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D4E244D-1ECE-4A09-A40F-FBFBC680BB13}"/>
                </a:ext>
              </a:extLst>
            </p:cNvPr>
            <p:cNvSpPr/>
            <p:nvPr/>
          </p:nvSpPr>
          <p:spPr bwMode="auto">
            <a:xfrm>
              <a:off x="5971219" y="1652223"/>
              <a:ext cx="473715" cy="26407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sz="1200" dirty="0">
                  <a:cs typeface="Arial" charset="0"/>
                </a:rPr>
                <a:t>ICI/IT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85393E0-B838-4933-8333-EA5CC9833BCE}"/>
                </a:ext>
              </a:extLst>
            </p:cNvPr>
            <p:cNvSpPr/>
            <p:nvPr/>
          </p:nvSpPr>
          <p:spPr bwMode="auto">
            <a:xfrm>
              <a:off x="3835474" y="1649210"/>
              <a:ext cx="943456" cy="2648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dirty="0">
                  <a:cs typeface="Arial" charset="0"/>
                </a:rPr>
                <a:t>GE</a:t>
              </a:r>
            </a:p>
          </p:txBody>
        </p:sp>
        <p:sp>
          <p:nvSpPr>
            <p:cNvPr id="42" name="TextBox 175">
              <a:extLst>
                <a:ext uri="{FF2B5EF4-FFF2-40B4-BE49-F238E27FC236}">
                  <a16:creationId xmlns:a16="http://schemas.microsoft.com/office/drawing/2014/main" id="{BD7F47C9-A0AF-4D8D-A4A8-65B792F7D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208" y="1689015"/>
              <a:ext cx="1056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GB" b="0" dirty="0"/>
                <a:t>Reserved</a:t>
              </a:r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F4610FDE-7BE3-AC86-5E3F-50D53906F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168" y="2201915"/>
            <a:ext cx="5130063" cy="20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08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400">
                <a:solidFill>
                  <a:srgbClr val="EEECE1"/>
                </a:solidFill>
              </a:rPr>
              <a:pPr algn="r">
                <a:defRPr/>
              </a:pPr>
              <a:t>3</a:t>
            </a:fld>
            <a:endParaRPr lang="en-US" sz="140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838200" y="1009656"/>
            <a:ext cx="10515600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endParaRPr lang="en-US" sz="8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20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20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8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20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  <a:endParaRPr lang="en-US" sz="20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75312" y="3930022"/>
          <a:ext cx="8594812" cy="2775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5256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2236219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2116049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2377288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5810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Addition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Signed Addition or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Carry flag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N/A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Overflow flag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  <a:r>
                        <a:rPr lang="en-US" sz="1800" b="0" dirty="0">
                          <a:effectLst/>
                        </a:rPr>
                        <a:t>-1 or true result &lt; -2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8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4934359" y="493261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535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5494879" y="493261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587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3737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58F7-DD2C-7131-891F-4C21E8AC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342" y="-457200"/>
            <a:ext cx="8839201" cy="914400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Common ARM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A9D7B4-1C12-419A-88B5-D188777C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53B4AB-BCAF-439D-6351-9E157BE57934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528506"/>
          <a:ext cx="8839201" cy="619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1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Type of Instruction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ARM </a:t>
                      </a:r>
                    </a:p>
                    <a:p>
                      <a:r>
                        <a:rPr lang="en-US" sz="1600" dirty="0"/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Transfer Language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r>
                        <a:rPr lang="en-US" sz="1600" dirty="0"/>
                        <a:t>Memory Access (Load and Store)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[Mem] ; Mem is a global variable label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[Mem] ← [r4]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LDR r4, [r3]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[[r3]] ; register indirect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 r4, [r3, #4]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[[r3] + 4] ← [r4] ; register indirect with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 rowSpan="2">
                  <a:txBody>
                    <a:bodyPr/>
                    <a:lstStyle/>
                    <a:p>
                      <a:r>
                        <a:rPr lang="en-US" sz="1600" dirty="0"/>
                        <a:t>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 r4, 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10 ; 8-bit literal,  can be shifted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Load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load address of label Mem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  <a:tr h="356016">
                <a:tc rowSpan="3">
                  <a:txBody>
                    <a:bodyPr/>
                    <a:lstStyle/>
                    <a:p>
                      <a:r>
                        <a:rPr lang="en-US" sz="1600" dirty="0"/>
                        <a:t>Arithmetic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+ [r3]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31442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* [r3] (32-bit product)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9688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- [r3]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603690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Compare (sets condition codes)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CMP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78778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Conditional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 dirty="0"/>
                        <a:t>BGT LABEL</a:t>
                      </a:r>
                    </a:p>
                    <a:p>
                      <a:r>
                        <a:rPr lang="nb-NO" sz="1600" dirty="0"/>
                        <a:t>(BGE, BLT, BLE, BEQ, BNE)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Branch to LABEL based on condition 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19447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Unconditional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 </a:t>
                      </a:r>
                      <a:r>
                        <a:rPr lang="en-US" sz="1600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Always Branch to LABEL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03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52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DB22-B39D-6C52-C5FC-C1203B22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77925A-A09C-1C20-A41D-CDAB50E3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E8B4B-1895-49D3-FD91-59A91C51E14A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148174"/>
          <a:ext cx="8839201" cy="65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Type of Instruction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ARM </a:t>
                      </a:r>
                    </a:p>
                    <a:p>
                      <a:r>
                        <a:rPr lang="en-US" sz="1600" dirty="0"/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Transfer Language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157294">
                <a:tc rowSpan="6">
                  <a:txBody>
                    <a:bodyPr/>
                    <a:lstStyle/>
                    <a:p>
                      <a:r>
                        <a:rPr lang="en-US" sz="1600" dirty="0"/>
                        <a:t>ARM Logical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AND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AND)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AND r4, r2, #0xFF000000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(bit-wise AND) FF000000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ORR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OR)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EOR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XOR)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BIC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(bit-wise AND) (NOT [r3]) (clear bits set in r3)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MVN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(NOT) [r2] (Flip all bits)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 rowSpan="6">
                  <a:txBody>
                    <a:bodyPr/>
                    <a:lstStyle/>
                    <a:p>
                      <a:r>
                        <a:rPr lang="en-US" sz="1600" dirty="0"/>
                        <a:t>ARM Shift and Rotate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 r4, r5, LSL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logical shift left r5 by 3 positions.  (Shift in zeros)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LSL r6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logical shift left r5 by the number of positions specified in register r6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31442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LSR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←logical shift right r5 by 3 positions. (Shift in zeros)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9688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ASR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arithmetic shift right r5 by 3 positions. (Shift with sign-extend)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603690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ROR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rotate right r5 by 3 positions. (Circulate shift)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78778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AND r4, r5, r6, LSL #2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Shifts can operate on 3rd register operand of arithmetic or logical instruction, e.g., r4 ← r5 AND (logical shift left r6 by 2 positions)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19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471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914650" y="5765381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2914650" y="1412357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(Negative)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34942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Branch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1251568"/>
          <a:ext cx="8382000" cy="4996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4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89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Instruction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Description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Flags tested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79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Unconditional Branch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to label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895">
                <a:tc rowSpan="14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Conditional Branch 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BEQ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EQ</a:t>
                      </a:r>
                      <a:r>
                        <a:rPr lang="en-US" sz="1600" dirty="0" err="1">
                          <a:effectLst/>
                        </a:rPr>
                        <a:t>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BNE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en-US" sz="1600" dirty="0">
                          <a:effectLst/>
                        </a:rPr>
                        <a:t>ot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BCS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BHS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H</a:t>
                      </a:r>
                      <a:r>
                        <a:rPr lang="en-US" sz="1600" dirty="0">
                          <a:effectLst/>
                        </a:rPr>
                        <a:t>igher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ame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BCC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BLO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LO</a:t>
                      </a:r>
                      <a:r>
                        <a:rPr lang="en-US" sz="1600" dirty="0" err="1">
                          <a:effectLst/>
                        </a:rPr>
                        <a:t>wer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BMI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b="0" i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MI</a:t>
                      </a:r>
                      <a:r>
                        <a:rPr lang="en-US" sz="1600" dirty="0" err="1">
                          <a:effectLst/>
                        </a:rPr>
                        <a:t>nus</a:t>
                      </a:r>
                      <a:r>
                        <a:rPr lang="en-US" sz="1600" dirty="0">
                          <a:effectLst/>
                        </a:rPr>
                        <a:t> (Negative)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BPL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PL</a:t>
                      </a:r>
                      <a:r>
                        <a:rPr lang="en-US" sz="1600" dirty="0" err="1">
                          <a:effectLst/>
                        </a:rPr>
                        <a:t>us</a:t>
                      </a:r>
                      <a:r>
                        <a:rPr lang="en-US" sz="1600" dirty="0">
                          <a:effectLst/>
                        </a:rPr>
                        <a:t> (Positive or Zero)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BVS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dirty="0" err="1">
                          <a:effectLst/>
                        </a:rPr>
                        <a:t>o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r>
                        <a:rPr lang="en-US" sz="1600" dirty="0" err="1">
                          <a:effectLst/>
                        </a:rPr>
                        <a:t>erflow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et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BVC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dirty="0" err="1">
                          <a:effectLst/>
                        </a:rPr>
                        <a:t>o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r>
                        <a:rPr lang="en-US" sz="1600" dirty="0" err="1">
                          <a:effectLst/>
                        </a:rPr>
                        <a:t>erflow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C</a:t>
                      </a:r>
                      <a:r>
                        <a:rPr lang="en-US" sz="1600" dirty="0">
                          <a:effectLst/>
                        </a:rPr>
                        <a:t>lear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BHI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HI</a:t>
                      </a:r>
                      <a:r>
                        <a:rPr lang="en-US" sz="1600" dirty="0" err="1">
                          <a:effectLst/>
                        </a:rPr>
                        <a:t>gher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1 &amp; Z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ower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ame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0 or Z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BGE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65555" algn="l"/>
                        </a:tabLs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G</a:t>
                      </a:r>
                      <a:r>
                        <a:rPr lang="en-US" sz="1600" dirty="0">
                          <a:effectLst/>
                        </a:rPr>
                        <a:t>reater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ess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r>
                        <a:rPr lang="en-US" sz="1600" dirty="0">
                          <a:effectLst/>
                        </a:rPr>
                        <a:t>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!=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BGT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G</a:t>
                      </a:r>
                      <a:r>
                        <a:rPr lang="en-US" sz="1600" dirty="0">
                          <a:effectLst/>
                        </a:rPr>
                        <a:t>reater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r>
                        <a:rPr lang="en-US" sz="1600" dirty="0">
                          <a:effectLst/>
                        </a:rPr>
                        <a:t>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0 &amp; N 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ess than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1 or N = !V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482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Conditional Execution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295400"/>
          <a:ext cx="8534400" cy="4572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instruction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Condition</a:t>
                      </a:r>
                      <a:endParaRPr lang="en-US" sz="16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Flag tested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ADDEQ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ADDNE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Not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ADDHS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Higher or Same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ADDLO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LOwer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ADDMI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Minus (Negative)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ADDPL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PLus (Positive or Zero)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ADDVS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oVerflow Set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V = 1</a:t>
                      </a:r>
                      <a:endParaRPr lang="en-US" sz="160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ADDVC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oVerflow Clear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V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ADDHI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HIgher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1 &amp; Z = 0</a:t>
                      </a:r>
                      <a:endParaRPr lang="en-US" sz="160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Lower or Same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0 or Z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ADDGE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65555" algn="l"/>
                        </a:tabLs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Greater or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ADDLT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Less Than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!=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ADDGT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Greater Than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0 &amp; N 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Less than or Equal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1 or N = !V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Cortex-M IT note"/>
          <p:cNvSpPr txBox="1"/>
          <p:nvPr/>
        </p:nvSpPr>
        <p:spPr>
          <a:xfrm>
            <a:off x="1828800" y="5927400"/>
            <a:ext cx="8534400" cy="4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/>
              <a:t>Cortex-M (Thumb-2): </a:t>
            </a:r>
            <a:r>
              <a:rPr lang="en-US" sz="1200" dirty="0"/>
              <a:t>a conditional instruction must be inside an IT block, e.g. </a:t>
            </a:r>
            <a:r>
              <a:rPr lang="en-US" sz="12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 EQ</a:t>
            </a:r>
            <a:r>
              <a:rPr lang="en-US" sz="1200" dirty="0"/>
              <a:t> / </a:t>
            </a:r>
            <a:r>
              <a:rPr lang="en-US" sz="12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ADDEQ r3, r2, r1</a:t>
            </a:r>
            <a:r>
              <a:rPr lang="en-US" sz="1200" dirty="0"/>
              <a:t>; Cortex-M0/M0+ has no IT.</a:t>
            </a:r>
          </a:p>
        </p:txBody>
      </p:sp>
    </p:spTree>
    <p:extLst>
      <p:ext uri="{BB962C8B-B14F-4D97-AF65-F5344CB8AC3E}">
        <p14:creationId xmlns:p14="http://schemas.microsoft.com/office/powerpoint/2010/main" val="416796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ARM Procedure Call Standard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00202" y="1219201"/>
          <a:ext cx="8991599" cy="494276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65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80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Register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Usage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Subroutine Preserved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Notes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>
                          <a:effectLst/>
                        </a:rPr>
                        <a:t>and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return value</a:t>
                      </a:r>
                      <a:endParaRPr lang="en-US" sz="1800" b="0" dirty="0">
                        <a:solidFill>
                          <a:srgbClr val="FF00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return has 64 bits, then r0:r1 hold it. If argument 1 has 64 bits, r0:r1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1800" b="0" dirty="0">
                        <a:solidFill>
                          <a:srgbClr val="FF00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 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en-US" sz="1800" b="1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the return has 128 bits, r0-r3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more than 4 arguments, use the stack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V1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1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r5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V2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2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r6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V3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3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r7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V4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4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r8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V5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Gill Sans MT (Body)"/>
                          <a:ea typeface="宋体"/>
                          <a:cs typeface="Times New Roman"/>
                        </a:rPr>
                        <a:t>Yes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5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r9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Platform specific/V6 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Gill Sans MT (Body)"/>
                          <a:ea typeface="宋体"/>
                          <a:cs typeface="Times New Roman"/>
                        </a:rPr>
                        <a:t>Yes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Usage is platform-dependent. 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r10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V7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7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V8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8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r12 (IP)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Intra-procedure-call register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It holds intermediate values between a procedure and the sub-procedure it calls.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r13 (SP)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Stack pointer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SP has to be the same after a subroutine has completed.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r14 (LR)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Link register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Receives return address on BL call to procedure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r15 (PC)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Program counter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N/A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Do not directly change PC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431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2616</TotalTime>
  <Words>2293</Words>
  <Application>Microsoft Office PowerPoint</Application>
  <PresentationFormat>Widescreen</PresentationFormat>
  <Paragraphs>391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Bookman Old Style (Headings)</vt:lpstr>
      <vt:lpstr>Gill Sans Light</vt:lpstr>
      <vt:lpstr>Gill Sans MT (Body)</vt:lpstr>
      <vt:lpstr>Arial</vt:lpstr>
      <vt:lpstr>Bookman Old Style</vt:lpstr>
      <vt:lpstr>Calibri</vt:lpstr>
      <vt:lpstr>Cambria Math</vt:lpstr>
      <vt:lpstr>Consolas</vt:lpstr>
      <vt:lpstr>Gill Sans MT</vt:lpstr>
      <vt:lpstr>Palatino Linotype</vt:lpstr>
      <vt:lpstr>Times New Roman</vt:lpstr>
      <vt:lpstr>Wingdings</vt:lpstr>
      <vt:lpstr>Wingdings 3</vt:lpstr>
      <vt:lpstr>Origin</vt:lpstr>
      <vt:lpstr>Z. Gu</vt:lpstr>
      <vt:lpstr>Condition Flags</vt:lpstr>
      <vt:lpstr>Carry and Overflow Flags w/ Arithmetic Instructions</vt:lpstr>
      <vt:lpstr>Common ARM Instructions</vt:lpstr>
      <vt:lpstr>PowerPoint Presentation</vt:lpstr>
      <vt:lpstr>Ch6 ARM Control Flow: Condition Codes </vt:lpstr>
      <vt:lpstr>Ch6 ARM Flow Control: Branch Instructions</vt:lpstr>
      <vt:lpstr>Ch6 ARM Flow Control: Conditional Execution</vt:lpstr>
      <vt:lpstr>Ch8 ARM Procedure Call Standard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275</cp:revision>
  <dcterms:created xsi:type="dcterms:W3CDTF">2013-02-03T05:36:57Z</dcterms:created>
  <dcterms:modified xsi:type="dcterms:W3CDTF">2025-10-23T23:37:22Z</dcterms:modified>
</cp:coreProperties>
</file>