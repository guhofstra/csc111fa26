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9"/>
  </p:notesMasterIdLst>
  <p:handoutMasterIdLst>
    <p:handoutMasterId r:id="rId40"/>
  </p:handoutMasterIdLst>
  <p:sldIdLst>
    <p:sldId id="256" r:id="rId3"/>
    <p:sldId id="278" r:id="rId4"/>
    <p:sldId id="279" r:id="rId5"/>
    <p:sldId id="261" r:id="rId6"/>
    <p:sldId id="263" r:id="rId7"/>
    <p:sldId id="280" r:id="rId8"/>
    <p:sldId id="260" r:id="rId9"/>
    <p:sldId id="264" r:id="rId10"/>
    <p:sldId id="268" r:id="rId11"/>
    <p:sldId id="762" r:id="rId12"/>
    <p:sldId id="816" r:id="rId13"/>
    <p:sldId id="817" r:id="rId14"/>
    <p:sldId id="367" r:id="rId15"/>
    <p:sldId id="374" r:id="rId16"/>
    <p:sldId id="760" r:id="rId17"/>
    <p:sldId id="759" r:id="rId18"/>
    <p:sldId id="371" r:id="rId19"/>
    <p:sldId id="369" r:id="rId20"/>
    <p:sldId id="257" r:id="rId21"/>
    <p:sldId id="258" r:id="rId22"/>
    <p:sldId id="763" r:id="rId23"/>
    <p:sldId id="764" r:id="rId24"/>
    <p:sldId id="281" r:id="rId25"/>
    <p:sldId id="282" r:id="rId26"/>
    <p:sldId id="818" r:id="rId27"/>
    <p:sldId id="819" r:id="rId28"/>
    <p:sldId id="820" r:id="rId29"/>
    <p:sldId id="821" r:id="rId30"/>
    <p:sldId id="283" r:id="rId31"/>
    <p:sldId id="286" r:id="rId32"/>
    <p:sldId id="353" r:id="rId33"/>
    <p:sldId id="354" r:id="rId34"/>
    <p:sldId id="757" r:id="rId35"/>
    <p:sldId id="751" r:id="rId36"/>
    <p:sldId id="752" r:id="rId37"/>
    <p:sldId id="756" r:id="rId38"/>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5CFAAB-C8C1-4DD9-9F50-5A543D35DA07}" v="3" dt="2026-04-23T15:02:55.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24"/>
    <p:restoredTop sz="87190" autoAdjust="0"/>
  </p:normalViewPr>
  <p:slideViewPr>
    <p:cSldViewPr>
      <p:cViewPr varScale="1">
        <p:scale>
          <a:sx n="72" d="100"/>
          <a:sy n="72" d="100"/>
        </p:scale>
        <p:origin x="1570" y="53"/>
      </p:cViewPr>
      <p:guideLst>
        <p:guide orient="horz" pos="2160"/>
        <p:guide pos="2880"/>
      </p:guideLst>
    </p:cSldViewPr>
  </p:slideViewPr>
  <p:notesTextViewPr>
    <p:cViewPr>
      <p:scale>
        <a:sx n="1" d="1"/>
        <a:sy n="1" d="1"/>
      </p:scale>
      <p:origin x="0" y="0"/>
    </p:cViewPr>
  </p:notesTextViewPr>
  <p:sorterViewPr>
    <p:cViewPr>
      <p:scale>
        <a:sx n="125" d="100"/>
        <a:sy n="125" d="100"/>
      </p:scale>
      <p:origin x="0" y="-807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23T15:02:55.362" v="4897"/>
      <pc:docMkLst>
        <pc:docMk/>
      </pc:docMkLst>
      <pc:sldChg chg="addSp delSp modSp add mod modTransition">
        <pc:chgData name="Zonghua Gu" userId="9a7e1853e1951ef5" providerId="LiveId" clId="{CF1FAA12-072C-4ED5-BA76-0FFFAEFDB88A}" dt="2026-04-23T14:52:38.870" v="4895" actId="20577"/>
        <pc:sldMkLst>
          <pc:docMk/>
          <pc:sldMk cId="436543705" sldId="817"/>
        </pc:sldMkLst>
        <pc:spChg chg="mod">
          <ac:chgData name="Zonghua Gu" userId="9a7e1853e1951ef5" providerId="LiveId" clId="{CF1FAA12-072C-4ED5-BA76-0FFFAEFDB88A}" dt="2026-04-23T14:52:38.870" v="4895" actId="20577"/>
          <ac:spMkLst>
            <pc:docMk/>
            <pc:sldMk cId="436543705" sldId="817"/>
            <ac:spMk id="11" creationId="{722AEABA-ECF0-EE34-D92D-0B9E8214F92E}"/>
          </ac:spMkLst>
        </pc:spChg>
      </pc:sldChg>
      <pc:sldChg chg="del">
        <pc:chgData name="Zonghua Gu" userId="9a7e1853e1951ef5" providerId="LiveId" clId="{CF1FAA12-072C-4ED5-BA76-0FFFAEFDB88A}" dt="2026-04-23T15:02:50.637" v="4896" actId="2696"/>
        <pc:sldMkLst>
          <pc:docMk/>
          <pc:sldMk cId="1829076800" sldId="818"/>
        </pc:sldMkLst>
      </pc:sldChg>
      <pc:sldChg chg="add">
        <pc:chgData name="Zonghua Gu" userId="9a7e1853e1951ef5" providerId="LiveId" clId="{CF1FAA12-072C-4ED5-BA76-0FFFAEFDB88A}" dt="2026-04-23T15:02:55.362" v="4897"/>
        <pc:sldMkLst>
          <pc:docMk/>
          <pc:sldMk cId="3372098353" sldId="818"/>
        </pc:sldMkLst>
      </pc:sldChg>
      <pc:sldChg chg="add">
        <pc:chgData name="Zonghua Gu" userId="9a7e1853e1951ef5" providerId="LiveId" clId="{CF1FAA12-072C-4ED5-BA76-0FFFAEFDB88A}" dt="2026-04-23T15:02:55.362" v="4897"/>
        <pc:sldMkLst>
          <pc:docMk/>
          <pc:sldMk cId="1011627645" sldId="819"/>
        </pc:sldMkLst>
      </pc:sldChg>
      <pc:sldChg chg="del">
        <pc:chgData name="Zonghua Gu" userId="9a7e1853e1951ef5" providerId="LiveId" clId="{CF1FAA12-072C-4ED5-BA76-0FFFAEFDB88A}" dt="2026-04-23T15:02:50.637" v="4896" actId="2696"/>
        <pc:sldMkLst>
          <pc:docMk/>
          <pc:sldMk cId="2287290416" sldId="819"/>
        </pc:sldMkLst>
      </pc:sldChg>
      <pc:sldChg chg="add">
        <pc:chgData name="Zonghua Gu" userId="9a7e1853e1951ef5" providerId="LiveId" clId="{CF1FAA12-072C-4ED5-BA76-0FFFAEFDB88A}" dt="2026-04-23T15:02:55.362" v="4897"/>
        <pc:sldMkLst>
          <pc:docMk/>
          <pc:sldMk cId="150664292" sldId="820"/>
        </pc:sldMkLst>
      </pc:sldChg>
      <pc:sldChg chg="del">
        <pc:chgData name="Zonghua Gu" userId="9a7e1853e1951ef5" providerId="LiveId" clId="{CF1FAA12-072C-4ED5-BA76-0FFFAEFDB88A}" dt="2026-04-23T15:02:50.637" v="4896" actId="2696"/>
        <pc:sldMkLst>
          <pc:docMk/>
          <pc:sldMk cId="1555766300" sldId="8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4/23/2026</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4/23/2026</a:t>
            </a:fld>
            <a:endParaRPr lang="en-US"/>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B2AF1D-1787-4F45-8D94-E7435950448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0235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p:cNvSpPr>
            <a:spLocks noGrp="1"/>
          </p:cNvSpPr>
          <p:nvPr>
            <p:ph type="sldNum" sz="quarter" idx="5"/>
          </p:nvPr>
        </p:nvSpPr>
        <p:spPr/>
        <p:txBody>
          <a:bodyPr/>
          <a:lstStyle/>
          <a:p>
            <a:fld id="{D46F4F04-2BB1-473A-9274-1B455085D21A}" type="slidenum">
              <a:rPr lang="en-US" smtClean="0"/>
              <a:pPr/>
              <a:t>21</a:t>
            </a:fld>
            <a:endParaRPr lang="en-US"/>
          </a:p>
        </p:txBody>
      </p:sp>
    </p:spTree>
    <p:extLst>
      <p:ext uri="{BB962C8B-B14F-4D97-AF65-F5344CB8AC3E}">
        <p14:creationId xmlns:p14="http://schemas.microsoft.com/office/powerpoint/2010/main" val="243372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7C537-0F01-0DCA-2284-5B6554C4A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3AD5C-C850-531A-91F6-BCF6A2A1F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54735-AC8D-E1A4-D4D6-D561E501E42C}"/>
              </a:ext>
            </a:extLst>
          </p:cNvPr>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a:extLst>
              <a:ext uri="{FF2B5EF4-FFF2-40B4-BE49-F238E27FC236}">
                <a16:creationId xmlns:a16="http://schemas.microsoft.com/office/drawing/2014/main" id="{AFBE590A-94DE-53D9-D55F-DBC7B7287FF3}"/>
              </a:ext>
            </a:extLst>
          </p:cNvPr>
          <p:cNvSpPr>
            <a:spLocks noGrp="1"/>
          </p:cNvSpPr>
          <p:nvPr>
            <p:ph type="sldNum" sz="quarter" idx="5"/>
          </p:nvPr>
        </p:nvSpPr>
        <p:spPr/>
        <p:txBody>
          <a:bodyPr/>
          <a:lstStyle/>
          <a:p>
            <a:fld id="{D46F4F04-2BB1-473A-9274-1B455085D21A}" type="slidenum">
              <a:rPr lang="en-US" smtClean="0"/>
              <a:pPr/>
              <a:t>22</a:t>
            </a:fld>
            <a:endParaRPr lang="en-US"/>
          </a:p>
        </p:txBody>
      </p:sp>
    </p:spTree>
    <p:extLst>
      <p:ext uri="{BB962C8B-B14F-4D97-AF65-F5344CB8AC3E}">
        <p14:creationId xmlns:p14="http://schemas.microsoft.com/office/powerpoint/2010/main" val="1773790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p:cNvSpPr>
            <a:spLocks noGrp="1"/>
          </p:cNvSpPr>
          <p:nvPr>
            <p:ph type="sldNum" sz="quarter" idx="5"/>
          </p:nvPr>
        </p:nvSpPr>
        <p:spPr/>
        <p:txBody>
          <a:bodyPr/>
          <a:lstStyle/>
          <a:p>
            <a:fld id="{D46F4F04-2BB1-473A-9274-1B455085D21A}" type="slidenum">
              <a:rPr lang="en-US" smtClean="0"/>
              <a:pPr/>
              <a:t>23</a:t>
            </a:fld>
            <a:endParaRPr lang="en-US"/>
          </a:p>
        </p:txBody>
      </p:sp>
    </p:spTree>
    <p:extLst>
      <p:ext uri="{BB962C8B-B14F-4D97-AF65-F5344CB8AC3E}">
        <p14:creationId xmlns:p14="http://schemas.microsoft.com/office/powerpoint/2010/main" val="388830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50F2D-B710-7C2B-F932-9CA73BD17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C7E1-AE8A-FAD0-696A-6424492F1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8D7F5-51E1-6057-8428-AB4BEC5BD9BA}"/>
              </a:ext>
            </a:extLst>
          </p:cNvPr>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a:extLst>
              <a:ext uri="{FF2B5EF4-FFF2-40B4-BE49-F238E27FC236}">
                <a16:creationId xmlns:a16="http://schemas.microsoft.com/office/drawing/2014/main" id="{AA788E4B-BC69-55C9-4689-173165A5E7DA}"/>
              </a:ext>
            </a:extLst>
          </p:cNvPr>
          <p:cNvSpPr>
            <a:spLocks noGrp="1"/>
          </p:cNvSpPr>
          <p:nvPr>
            <p:ph type="sldNum" sz="quarter" idx="5"/>
          </p:nvPr>
        </p:nvSpPr>
        <p:spPr/>
        <p:txBody>
          <a:bodyPr/>
          <a:lstStyle/>
          <a:p>
            <a:fld id="{D46F4F04-2BB1-473A-9274-1B455085D21A}" type="slidenum">
              <a:rPr lang="en-US" smtClean="0"/>
              <a:pPr/>
              <a:t>24</a:t>
            </a:fld>
            <a:endParaRPr lang="en-US"/>
          </a:p>
        </p:txBody>
      </p:sp>
    </p:spTree>
    <p:extLst>
      <p:ext uri="{BB962C8B-B14F-4D97-AF65-F5344CB8AC3E}">
        <p14:creationId xmlns:p14="http://schemas.microsoft.com/office/powerpoint/2010/main" val="1972380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Straight-line with conditional execution</a:t>
            </a:r>
          </a:p>
          <a:p>
            <a:r>
              <a:rPr lang="en-US" sz="1200" dirty="0"/>
              <a:t>foo:</a:t>
            </a:r>
            <a:br>
              <a:rPr lang="en-US" sz="1200" dirty="0"/>
            </a:br>
            <a:r>
              <a:rPr lang="en-US" sz="1200" dirty="0"/>
              <a:t>    ADD     r2, r0, r1      ; r2 = x + y</a:t>
            </a:r>
            <a:br>
              <a:rPr lang="en-US" sz="1200" dirty="0"/>
            </a:br>
            <a:r>
              <a:rPr lang="en-US" sz="1200" dirty="0"/>
              <a:t>    CMP     r2, #0          ; sets N,Z,V,C for signed compare to 0</a:t>
            </a:r>
            <a:br>
              <a:rPr lang="en-US" sz="1200" dirty="0"/>
            </a:br>
            <a:r>
              <a:rPr lang="en-US" sz="1200" dirty="0"/>
              <a:t>    ITE     LT            ; IT block (Cortex-M)</a:t>
            </a:r>
            <a:br>
              <a:rPr lang="en-US" sz="1200" dirty="0"/>
            </a:br>
            <a:r>
              <a:rPr lang="en-US" sz="1200" dirty="0"/>
              <a:t>    MOVLT   r0, #0        ; if (</a:t>
            </a:r>
            <a:r>
              <a:rPr lang="en-US" sz="1200" dirty="0" err="1"/>
              <a:t>x+y</a:t>
            </a:r>
            <a:r>
              <a:rPr lang="en-US" sz="1200" dirty="0"/>
              <a:t>) &lt; 0 -&gt; r0 = 0</a:t>
            </a:r>
            <a:br>
              <a:rPr lang="en-US" sz="1200" dirty="0"/>
            </a:br>
            <a:r>
              <a:rPr lang="en-US" sz="1200" dirty="0"/>
              <a:t>    MOVGE   r0, #1       ; else r0 = 1</a:t>
            </a:r>
            <a:br>
              <a:rPr lang="en-US" sz="1200" dirty="0"/>
            </a:br>
            <a:r>
              <a:rPr lang="en-US" sz="1200" dirty="0"/>
              <a:t>    BX      </a:t>
            </a:r>
            <a:r>
              <a:rPr lang="en-US" sz="1200" dirty="0" err="1"/>
              <a:t>lr</a:t>
            </a:r>
            <a:endParaRPr lang="en-US" sz="1200" dirty="0"/>
          </a:p>
          <a:p>
            <a:pPr lvl="0"/>
            <a:endParaRPr lang="en-US" sz="1200" kern="1200" dirty="0">
              <a:solidFill>
                <a:schemeClr val="tx1"/>
              </a:solidFill>
              <a:effectLst/>
              <a:latin typeface="+mn-lt"/>
              <a:ea typeface="+mn-ea"/>
              <a:cs typeface="+mn-cs"/>
            </a:endParaRPr>
          </a:p>
          <a:p>
            <a:r>
              <a:rPr lang="en-US" sz="1200" dirty="0"/>
              <a:t>Conditional branch to label</a:t>
            </a:r>
          </a:p>
          <a:p>
            <a:r>
              <a:rPr lang="en-US" sz="1200" dirty="0"/>
              <a:t>foo:</a:t>
            </a:r>
            <a:br>
              <a:rPr lang="en-US" sz="1200" dirty="0"/>
            </a:br>
            <a:r>
              <a:rPr lang="en-US" sz="1200" dirty="0"/>
              <a:t>    ADD     r2, r0, r1</a:t>
            </a:r>
            <a:br>
              <a:rPr lang="en-US" sz="1200" dirty="0"/>
            </a:br>
            <a:r>
              <a:rPr lang="en-US" sz="1200" dirty="0"/>
              <a:t>    CMP     r2, #0</a:t>
            </a:r>
            <a:br>
              <a:rPr lang="en-US" sz="1200" dirty="0"/>
            </a:br>
            <a:r>
              <a:rPr lang="en-US" sz="1200" dirty="0"/>
              <a:t>    BLT     .</a:t>
            </a:r>
            <a:r>
              <a:rPr lang="en-US" sz="1200" dirty="0" err="1"/>
              <a:t>Lneg</a:t>
            </a:r>
            <a:br>
              <a:rPr lang="en-US" sz="1200" dirty="0"/>
            </a:br>
            <a:r>
              <a:rPr lang="en-US" sz="1200" dirty="0"/>
              <a:t>    MOV     r0, #1</a:t>
            </a:r>
            <a:br>
              <a:rPr lang="en-US" sz="1200" dirty="0"/>
            </a:br>
            <a:r>
              <a:rPr lang="en-US" sz="1200" dirty="0"/>
              <a:t>    BX      </a:t>
            </a:r>
            <a:r>
              <a:rPr lang="en-US" sz="1200" dirty="0" err="1"/>
              <a:t>lr</a:t>
            </a:r>
            <a:br>
              <a:rPr lang="en-US" sz="1200" dirty="0"/>
            </a:br>
            <a:r>
              <a:rPr lang="en-US" sz="1200" dirty="0"/>
              <a:t>.</a:t>
            </a:r>
            <a:r>
              <a:rPr lang="en-US" sz="1200" dirty="0" err="1"/>
              <a:t>Lneg</a:t>
            </a:r>
            <a:r>
              <a:rPr lang="en-US" sz="1200" dirty="0"/>
              <a:t>:</a:t>
            </a:r>
            <a:br>
              <a:rPr lang="en-US" sz="1200" dirty="0"/>
            </a:br>
            <a:r>
              <a:rPr lang="en-US" sz="1200" dirty="0"/>
              <a:t>    MOV     r0, #0</a:t>
            </a:r>
            <a:br>
              <a:rPr lang="en-US" sz="1200" dirty="0"/>
            </a:br>
            <a:r>
              <a:rPr lang="en-US" sz="1200" dirty="0"/>
              <a:t>    BX      </a:t>
            </a:r>
            <a:r>
              <a:rPr lang="en-US" sz="1200" dirty="0" err="1"/>
              <a:t>lr</a:t>
            </a:r>
            <a:endParaRPr lang="pt-BR" sz="1200" dirty="0"/>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Calling convention: inputs </a:t>
            </a:r>
            <a:r>
              <a:rPr lang="en-US" sz="1200" kern="1200" dirty="0" err="1">
                <a:solidFill>
                  <a:schemeClr val="tx1"/>
                </a:solidFill>
                <a:effectLst/>
                <a:latin typeface="+mn-lt"/>
                <a:ea typeface="+mn-ea"/>
                <a:cs typeface="+mn-cs"/>
              </a:rPr>
              <a:t>x,y</a:t>
            </a:r>
            <a:r>
              <a:rPr lang="en-US" sz="1200" kern="1200" dirty="0">
                <a:solidFill>
                  <a:schemeClr val="tx1"/>
                </a:solidFill>
                <a:effectLst/>
                <a:latin typeface="+mn-lt"/>
                <a:ea typeface="+mn-ea"/>
                <a:cs typeface="+mn-cs"/>
              </a:rPr>
              <a:t> in r0,r1; result in r0; </a:t>
            </a:r>
            <a:r>
              <a:rPr lang="en-US" sz="1200" kern="1200" dirty="0" err="1">
                <a:solidFill>
                  <a:schemeClr val="tx1"/>
                </a:solidFill>
                <a:effectLst/>
                <a:latin typeface="+mn-lt"/>
                <a:ea typeface="+mn-ea"/>
                <a:cs typeface="+mn-cs"/>
              </a:rPr>
              <a:t>lr</a:t>
            </a:r>
            <a:r>
              <a:rPr lang="en-US" sz="1200" kern="1200" dirty="0">
                <a:solidFill>
                  <a:schemeClr val="tx1"/>
                </a:solidFill>
                <a:effectLst/>
                <a:latin typeface="+mn-lt"/>
                <a:ea typeface="+mn-ea"/>
                <a:cs typeface="+mn-cs"/>
              </a:rPr>
              <a:t> holds return address; no callee-saved registers are clobbered.</a:t>
            </a:r>
          </a:p>
          <a:p>
            <a:pPr lvl="0"/>
            <a:r>
              <a:rPr lang="en-US" sz="1200" kern="1200" dirty="0">
                <a:solidFill>
                  <a:schemeClr val="tx1"/>
                </a:solidFill>
                <a:effectLst/>
                <a:latin typeface="+mn-lt"/>
                <a:ea typeface="+mn-ea"/>
                <a:cs typeface="+mn-cs"/>
              </a:rPr>
              <a:t>Choose MI/PL (based on N) or LT/GE (signed) consistently; both are correct when flags come from the sum or a compare to zero.</a:t>
            </a:r>
          </a:p>
          <a:p>
            <a:pPr lvl="0"/>
            <a:r>
              <a:rPr lang="en-US" sz="1200" kern="1200" dirty="0">
                <a:solidFill>
                  <a:schemeClr val="tx1"/>
                </a:solidFill>
                <a:effectLst/>
                <a:latin typeface="+mn-lt"/>
                <a:ea typeface="+mn-ea"/>
                <a:cs typeface="+mn-cs"/>
              </a:rPr>
              <a:t>On Cortex-M (Thumb-2) a conditional non-branch instruction such as MOVLT/MOVGE must be inside an IT block (ITE LT, ITE MI shown above; "E" slot uses the inverse condition); Cortex-M0/M0+ has no IT, so use the conditional-branch versions. In classic ARM state (A32) the full conditional MOVs work without IT.</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30</a:t>
            </a:fld>
            <a:endParaRPr lang="en-US"/>
          </a:p>
        </p:txBody>
      </p:sp>
    </p:spTree>
    <p:extLst>
      <p:ext uri="{BB962C8B-B14F-4D97-AF65-F5344CB8AC3E}">
        <p14:creationId xmlns:p14="http://schemas.microsoft.com/office/powerpoint/2010/main" val="29710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exams, I may provide most of the code and let you fill in the blanks.)</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31</a:t>
            </a:fld>
            <a:endParaRPr lang="en-US"/>
          </a:p>
        </p:txBody>
      </p:sp>
    </p:spTree>
    <p:extLst>
      <p:ext uri="{BB962C8B-B14F-4D97-AF65-F5344CB8AC3E}">
        <p14:creationId xmlns:p14="http://schemas.microsoft.com/office/powerpoint/2010/main" val="2816329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function returns an int16_t, but the assembly returns the full 32-bit sum in r0.  Caller will see a 32-bit value; the correct behavior when the C function is declared to return int16_t is to return the 16-bit value </a:t>
            </a:r>
            <a:r>
              <a:rPr lang="en-US" i="1" dirty="0"/>
              <a:t>sign-extended</a:t>
            </a:r>
            <a:r>
              <a:rPr lang="en-US" dirty="0"/>
              <a:t> to 32 bits. </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35</a:t>
            </a:fld>
            <a:endParaRPr lang="en-US"/>
          </a:p>
        </p:txBody>
      </p:sp>
    </p:spTree>
    <p:extLst>
      <p:ext uri="{BB962C8B-B14F-4D97-AF65-F5344CB8AC3E}">
        <p14:creationId xmlns:p14="http://schemas.microsoft.com/office/powerpoint/2010/main" val="227472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7966D375-7FE4-4861-9EA3-8493E3E81506}" type="datetime1">
              <a:rPr lang="en-US" smtClean="0"/>
              <a:t>4/23/2026</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26D84756-85D3-4017-90AB-B482945A0CB0}" type="datetime1">
              <a:rPr lang="en-US" smtClean="0"/>
              <a:t>4/23/2026</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DFAD6F50-E977-4162-8DF4-4DA1E6F19796}" type="datetime1">
              <a:rPr lang="en-US" smtClean="0"/>
              <a:pPr eaLnBrk="1" latinLnBrk="0" hangingPunct="1"/>
              <a:t>4/23/2026</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79645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53371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9B206E1-2545-4E30-92FD-1E4787463A36}" type="datetime1">
              <a:rPr lang="en-US" smtClean="0"/>
              <a:pPr eaLnBrk="1" latinLnBrk="0" hangingPunct="1"/>
              <a:t>4/23/2026</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8338885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82413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07988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226481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234178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00693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8677958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0337063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33850071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4/23/2026</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A1DC5B07-A42E-4D40-A069-384595D56939}" type="datetime1">
              <a:rPr lang="en-US" smtClean="0"/>
              <a:pPr eaLnBrk="1" latinLnBrk="0" hangingPunct="1"/>
              <a:t>4/23/2026</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619564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018008" y="1828800"/>
            <a:ext cx="2251387" cy="1200329"/>
          </a:xfrm>
          <a:prstGeom prst="rect">
            <a:avLst/>
          </a:prstGeom>
          <a:noFill/>
        </p:spPr>
        <p:txBody>
          <a:bodyPr wrap="none" rtlCol="0">
            <a:spAutoFit/>
          </a:bodyPr>
          <a:lstStyle/>
          <a:p>
            <a:pPr algn="r"/>
            <a:r>
              <a:rPr lang="en-US" sz="2400" b="1" dirty="0">
                <a:solidFill>
                  <a:srgbClr val="C00000"/>
                </a:solidFill>
              </a:rPr>
              <a:t>Chapter 8</a:t>
            </a:r>
          </a:p>
          <a:p>
            <a:pPr algn="r"/>
            <a:r>
              <a:rPr lang="en-US" sz="2400" b="1" dirty="0">
                <a:solidFill>
                  <a:srgbClr val="C00000"/>
                </a:solidFill>
              </a:rPr>
              <a:t>Subroutines</a:t>
            </a:r>
          </a:p>
          <a:p>
            <a:pPr algn="r"/>
            <a:r>
              <a:rPr lang="en-US" altLang="zh-CN" sz="2400" b="1" dirty="0">
                <a:solidFill>
                  <a:srgbClr val="C00000"/>
                </a:solidFill>
              </a:rPr>
              <a:t>Exercises ANS</a:t>
            </a:r>
            <a:endParaRPr lang="en-US" sz="2400" b="1" dirty="0">
              <a:solidFill>
                <a:srgbClr val="C00000"/>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457200" y="1838730"/>
            <a:ext cx="8229600" cy="2400300"/>
          </a:xfrm>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PUSH</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{Rd} == STMDB SP!, {Rd} == STMFD SP!, {Rd}  </a:t>
            </a:r>
          </a:p>
          <a:p>
            <a:pPr lvl="1"/>
            <a:r>
              <a:rPr lang="en-GB" sz="1800" dirty="0">
                <a:latin typeface="Consolas" panose="020B0609020204030204" pitchFamily="49" charset="0"/>
                <a:cs typeface="Consolas" panose="020B0609020204030204" pitchFamily="49" charset="0"/>
              </a:rPr>
              <a:t>SUB SP, SP, #4 @ SP = SP-4  (</a:t>
            </a:r>
            <a:r>
              <a:rPr lang="en-GB" sz="1800" dirty="0">
                <a:latin typeface="Cambria Math"/>
                <a:ea typeface="Cambria Math"/>
                <a:cs typeface="Consolas" panose="020B0609020204030204" pitchFamily="49" charset="0"/>
              </a:rPr>
              <a:t>descending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STR Rd, [SP]   @ (*SP) = Rd</a:t>
            </a:r>
            <a:r>
              <a:rPr lang="en-GB" sz="1800" dirty="0">
                <a:latin typeface="Cambria Math"/>
                <a:ea typeface="Cambria Math"/>
                <a:cs typeface="Consolas" panose="020B0609020204030204" pitchFamily="49" charset="0"/>
              </a:rPr>
              <a:t>   (full stack)</a:t>
            </a:r>
          </a:p>
          <a:p>
            <a:pPr marL="0" indent="0">
              <a:buNone/>
            </a:pPr>
            <a:endParaRPr lang="en-GB" sz="2025" i="1"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Push multiple registers</a:t>
            </a:r>
          </a:p>
          <a:p>
            <a:pPr marL="0" indent="0">
              <a:buNone/>
            </a:pPr>
            <a:endParaRPr lang="en-GB" sz="2100" dirty="0"/>
          </a:p>
          <a:p>
            <a:endParaRPr lang="en-GB" sz="1800" dirty="0"/>
          </a:p>
          <a:p>
            <a:pPr>
              <a:buNone/>
            </a:pPr>
            <a:endParaRPr lang="en-GB" dirty="0"/>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2</a:t>
            </a:fld>
            <a:endParaRPr lang="en-US" dirty="0">
              <a:solidFill>
                <a:srgbClr val="1F497D"/>
              </a:solidFill>
              <a:latin typeface="Gill Sans MT"/>
            </a:endParaRPr>
          </a:p>
        </p:txBody>
      </p:sp>
      <p:sp>
        <p:nvSpPr>
          <p:cNvPr id="5" name="Rectangle 4"/>
          <p:cNvSpPr/>
          <p:nvPr/>
        </p:nvSpPr>
        <p:spPr>
          <a:xfrm>
            <a:off x="857250" y="4045684"/>
            <a:ext cx="2122773"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3771901" y="3799610"/>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8" name="Rectangle 7"/>
          <p:cNvSpPr/>
          <p:nvPr/>
        </p:nvSpPr>
        <p:spPr>
          <a:xfrm>
            <a:off x="6455863" y="3734060"/>
            <a:ext cx="1035861"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a:t>
            </a:r>
          </a:p>
          <a:p>
            <a:pPr defTabSz="685800"/>
            <a:r>
              <a:rPr lang="en-GB" sz="1350" b="1" dirty="0">
                <a:solidFill>
                  <a:srgbClr val="FF0000"/>
                </a:solidFill>
                <a:latin typeface="Consolas" panose="020B0609020204030204" pitchFamily="49" charset="0"/>
                <a:cs typeface="Consolas" panose="020B0609020204030204" pitchFamily="49" charset="0"/>
              </a:rPr>
              <a:t>PUSH {r3}</a:t>
            </a:r>
          </a:p>
          <a:p>
            <a:pPr defTabSz="685800"/>
            <a:r>
              <a:rPr lang="en-GB" sz="1350" b="1" dirty="0">
                <a:solidFill>
                  <a:srgbClr val="FF0000"/>
                </a:solidFill>
                <a:latin typeface="Consolas" panose="020B0609020204030204" pitchFamily="49" charset="0"/>
                <a:cs typeface="Consolas" panose="020B0609020204030204" pitchFamily="49" charset="0"/>
              </a:rPr>
              <a:t>PUSH {r2}</a:t>
            </a:r>
          </a:p>
          <a:p>
            <a:pPr defTabSz="685800"/>
            <a:r>
              <a:rPr lang="en-GB" sz="1350"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3558083" y="4045684"/>
            <a:ext cx="2170787"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3090670"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870423"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3" name="Rectangle 12"/>
          <p:cNvSpPr/>
          <p:nvPr/>
        </p:nvSpPr>
        <p:spPr>
          <a:xfrm>
            <a:off x="444620" y="4651293"/>
            <a:ext cx="822960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decremented before PUSH (pre-decrement).</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pushing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 </a:t>
            </a:r>
            <a:r>
              <a:rPr lang="en-US" sz="1500" dirty="0">
                <a:solidFill>
                  <a:prstClr val="black"/>
                </a:solidFill>
                <a:latin typeface="Gill Sans MT"/>
              </a:rPr>
              <a:t>is stored to the lowest memory address, </a:t>
            </a:r>
            <a:r>
              <a:rPr lang="en-US" sz="1500" i="1" dirty="0">
                <a:solidFill>
                  <a:prstClr val="black"/>
                </a:solidFill>
                <a:latin typeface="Gill Sans MT"/>
              </a:rPr>
              <a:t>i.e. </a:t>
            </a:r>
            <a:r>
              <a:rPr lang="en-US" sz="1500" dirty="0">
                <a:solidFill>
                  <a:srgbClr val="3333FF"/>
                </a:solidFill>
                <a:latin typeface="Gill Sans MT"/>
              </a:rPr>
              <a:t>r1 is stored last</a:t>
            </a:r>
            <a:r>
              <a:rPr lang="en-US" sz="1500" dirty="0">
                <a:solidFill>
                  <a:prstClr val="black"/>
                </a:solidFill>
                <a:latin typeface="Gill Sans MT"/>
              </a:rPr>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7672392" y="918799"/>
            <a:ext cx="1333425" cy="3538901"/>
          </a:xfrm>
          <a:prstGeom prst="rect">
            <a:avLst/>
          </a:prstGeom>
        </p:spPr>
      </p:pic>
      <p:sp>
        <p:nvSpPr>
          <p:cNvPr id="7" name="Horizontal Scroll 15">
            <a:extLst>
              <a:ext uri="{FF2B5EF4-FFF2-40B4-BE49-F238E27FC236}">
                <a16:creationId xmlns:a16="http://schemas.microsoft.com/office/drawing/2014/main" id="{FB75E523-7548-E904-AAD1-699C9A7D59D2}"/>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12063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POP</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a:t>
            </a:r>
            <a:r>
              <a:rPr lang="en-GB" sz="2100" i="1" dirty="0">
                <a:latin typeface="Consolas" panose="020B0609020204030204" pitchFamily="49" charset="0"/>
                <a:cs typeface="Consolas" panose="020B0609020204030204" pitchFamily="49" charset="0"/>
              </a:rPr>
              <a:t>Rd</a:t>
            </a:r>
            <a:r>
              <a:rPr lang="en-GB" sz="2100" dirty="0">
                <a:latin typeface="Consolas" panose="020B0609020204030204" pitchFamily="49" charset="0"/>
                <a:cs typeface="Consolas" panose="020B0609020204030204" pitchFamily="49" charset="0"/>
              </a:rPr>
              <a:t>} == LDMIA SP!, {Rd} == LDMFD SP!, {Rd}</a:t>
            </a:r>
          </a:p>
          <a:p>
            <a:pPr lvl="1"/>
            <a:r>
              <a:rPr lang="sv-SE" sz="1800" dirty="0">
                <a:latin typeface="Consolas" panose="020B0609020204030204" pitchFamily="49" charset="0"/>
                <a:cs typeface="Consolas" panose="020B0609020204030204" pitchFamily="49" charset="0"/>
              </a:rPr>
              <a:t>LDR Rd, [SP] @ </a:t>
            </a:r>
            <a:r>
              <a:rPr lang="en-GB" sz="1800" dirty="0">
                <a:latin typeface="Consolas" panose="020B0609020204030204" pitchFamily="49" charset="0"/>
                <a:cs typeface="Consolas" panose="020B0609020204030204" pitchFamily="49" charset="0"/>
              </a:rPr>
              <a:t>Rd = (*SP)    </a:t>
            </a:r>
            <a:r>
              <a:rPr lang="en-GB" sz="1800" dirty="0">
                <a:latin typeface="Cambria Math"/>
                <a:ea typeface="Cambria Math"/>
                <a:cs typeface="Consolas" panose="020B0609020204030204" pitchFamily="49" charset="0"/>
              </a:rPr>
              <a:t>(full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ADD SP, #4   </a:t>
            </a:r>
            <a:r>
              <a:rPr lang="sv-SE" sz="1800" dirty="0">
                <a:latin typeface="Consolas" panose="020B0609020204030204" pitchFamily="49" charset="0"/>
                <a:cs typeface="Consolas" panose="020B0609020204030204" pitchFamily="49" charset="0"/>
              </a:rPr>
              <a:t>@ </a:t>
            </a:r>
            <a:r>
              <a:rPr lang="en-GB" sz="1800" dirty="0">
                <a:latin typeface="Consolas" panose="020B0609020204030204" pitchFamily="49" charset="0"/>
                <a:cs typeface="Consolas" panose="020B0609020204030204" pitchFamily="49" charset="0"/>
              </a:rPr>
              <a:t>SP = SP + 4   </a:t>
            </a:r>
            <a:r>
              <a:rPr lang="en-GB" sz="1800" dirty="0">
                <a:latin typeface="Cambria Math"/>
                <a:ea typeface="Cambria Math"/>
                <a:cs typeface="Consolas" panose="020B0609020204030204" pitchFamily="49" charset="0"/>
              </a:rPr>
              <a:t>(Stack shrinks)</a:t>
            </a:r>
          </a:p>
          <a:p>
            <a:pPr lvl="1"/>
            <a:endParaRPr lang="en-GB" sz="2025"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3</a:t>
            </a:fld>
            <a:endParaRPr lang="en-US" dirty="0">
              <a:solidFill>
                <a:srgbClr val="1F497D"/>
              </a:solidFill>
              <a:latin typeface="Gill Sans MT"/>
            </a:endParaRPr>
          </a:p>
        </p:txBody>
      </p:sp>
      <p:sp>
        <p:nvSpPr>
          <p:cNvPr id="5" name="Rectangle 4"/>
          <p:cNvSpPr/>
          <p:nvPr/>
        </p:nvSpPr>
        <p:spPr>
          <a:xfrm>
            <a:off x="3629026" y="4075262"/>
            <a:ext cx="2025632"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3744661" y="3763639"/>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9" name="Rectangle 8"/>
          <p:cNvSpPr/>
          <p:nvPr/>
        </p:nvSpPr>
        <p:spPr>
          <a:xfrm>
            <a:off x="6224130" y="3763639"/>
            <a:ext cx="941283"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a:t>
            </a:r>
          </a:p>
          <a:p>
            <a:pPr defTabSz="685800"/>
            <a:r>
              <a:rPr lang="en-GB" sz="1350" b="1" dirty="0">
                <a:solidFill>
                  <a:srgbClr val="FF0000"/>
                </a:solidFill>
                <a:latin typeface="Consolas" panose="020B0609020204030204" pitchFamily="49" charset="0"/>
                <a:cs typeface="Consolas" panose="020B0609020204030204" pitchFamily="49" charset="0"/>
              </a:rPr>
              <a:t>POP {r2}</a:t>
            </a:r>
          </a:p>
          <a:p>
            <a:pPr defTabSz="685800"/>
            <a:r>
              <a:rPr lang="en-GB" sz="1350" b="1" dirty="0">
                <a:solidFill>
                  <a:srgbClr val="FF0000"/>
                </a:solidFill>
                <a:latin typeface="Consolas" panose="020B0609020204030204" pitchFamily="49" charset="0"/>
                <a:cs typeface="Consolas" panose="020B0609020204030204" pitchFamily="49" charset="0"/>
              </a:rPr>
              <a:t>POP {r3}</a:t>
            </a:r>
          </a:p>
          <a:p>
            <a:pPr defTabSz="685800"/>
            <a:r>
              <a:rPr lang="en-GB" sz="1350"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125325" y="4075262"/>
            <a:ext cx="2076209"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321309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67054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6" name="Rectangle 5"/>
          <p:cNvSpPr/>
          <p:nvPr/>
        </p:nvSpPr>
        <p:spPr>
          <a:xfrm>
            <a:off x="441316" y="4663886"/>
            <a:ext cx="840105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incremented after POP (post-increment). </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popping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a:t>
            </a:r>
            <a:r>
              <a:rPr lang="en-US" sz="1500" dirty="0">
                <a:solidFill>
                  <a:prstClr val="black"/>
                </a:solidFill>
                <a:latin typeface="Gill Sans MT"/>
              </a:rPr>
              <a:t> is loaded from the lowest memory address, </a:t>
            </a:r>
            <a:r>
              <a:rPr lang="en-US" sz="1500" i="1" dirty="0">
                <a:solidFill>
                  <a:prstClr val="black"/>
                </a:solidFill>
                <a:latin typeface="Gill Sans MT"/>
              </a:rPr>
              <a:t>i.e. </a:t>
            </a:r>
            <a:r>
              <a:rPr lang="en-US" sz="1500" dirty="0">
                <a:solidFill>
                  <a:srgbClr val="3333FF"/>
                </a:solidFill>
                <a:latin typeface="Gill Sans MT"/>
              </a:rPr>
              <a:t>r1 is loaded first</a:t>
            </a:r>
            <a:r>
              <a:rPr lang="en-US" sz="1500" dirty="0">
                <a:solidFill>
                  <a:prstClr val="black"/>
                </a:solidFill>
                <a:latin typeface="Gill Sans MT"/>
              </a:rPr>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7720500" y="933655"/>
            <a:ext cx="1263120" cy="3753851"/>
          </a:xfrm>
          <a:prstGeom prst="rect">
            <a:avLst/>
          </a:prstGeom>
        </p:spPr>
      </p:pic>
      <p:sp>
        <p:nvSpPr>
          <p:cNvPr id="8" name="Horizontal Scroll 15">
            <a:extLst>
              <a:ext uri="{FF2B5EF4-FFF2-40B4-BE49-F238E27FC236}">
                <a16:creationId xmlns:a16="http://schemas.microsoft.com/office/drawing/2014/main" id="{510E2E53-03DD-57F0-F850-07FD9C250CEA}"/>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42497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0350A-DE76-846E-5AB2-1DE2EDB0E9E9}"/>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D788CD0F-F59A-17FD-A8C5-A5B8C7F7C22F}"/>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F8B814FC-F419-027A-EA4D-935437EEAA0E}"/>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9CA273F4-CE16-CD49-EA0C-05FC3BE81836}"/>
              </a:ext>
            </a:extLst>
          </p:cNvPr>
          <p:cNvGraphicFramePr>
            <a:graphicFrameLocks noGrp="1"/>
          </p:cNvGraphicFramePr>
          <p:nvPr>
            <p:extLst>
              <p:ext uri="{D42A27DB-BD31-4B8C-83A1-F6EECF244321}">
                <p14:modId xmlns:p14="http://schemas.microsoft.com/office/powerpoint/2010/main" val="3544155278"/>
              </p:ext>
            </p:extLst>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21C00B18-AB39-00EF-930D-94A66B3DBEEE}"/>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771397-E6F5-FBB8-542D-C5B13309CE80}"/>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769E05C3-D653-26B3-A1FA-DB8D01C197A6}"/>
              </a:ext>
            </a:extLst>
          </p:cNvPr>
          <p:cNvGraphicFramePr>
            <a:graphicFrameLocks noGrp="1"/>
          </p:cNvGraphicFramePr>
          <p:nvPr>
            <p:extLst>
              <p:ext uri="{D42A27DB-BD31-4B8C-83A1-F6EECF244321}">
                <p14:modId xmlns:p14="http://schemas.microsoft.com/office/powerpoint/2010/main" val="4189838150"/>
              </p:ext>
            </p:extLst>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3" name="Table 12">
            <a:extLst>
              <a:ext uri="{FF2B5EF4-FFF2-40B4-BE49-F238E27FC236}">
                <a16:creationId xmlns:a16="http://schemas.microsoft.com/office/drawing/2014/main" id="{E2800F77-7DAB-31B4-1921-A01DE4EBD781}"/>
              </a:ext>
            </a:extLst>
          </p:cNvPr>
          <p:cNvGraphicFramePr>
            <a:graphicFrameLocks noGrp="1"/>
          </p:cNvGraphicFramePr>
          <p:nvPr>
            <p:extLst>
              <p:ext uri="{D42A27DB-BD31-4B8C-83A1-F6EECF244321}">
                <p14:modId xmlns:p14="http://schemas.microsoft.com/office/powerpoint/2010/main" val="3105809410"/>
              </p:ext>
            </p:extLst>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6" name="TextBox 15">
            <a:extLst>
              <a:ext uri="{FF2B5EF4-FFF2-40B4-BE49-F238E27FC236}">
                <a16:creationId xmlns:a16="http://schemas.microsoft.com/office/drawing/2014/main" id="{F8C9E426-19B3-C381-5E30-7C2FF94F96E8}"/>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8C3A0F5D-E35F-6473-85B4-E60E6B15F6BA}"/>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 r1=?</a:t>
            </a:r>
          </a:p>
        </p:txBody>
      </p:sp>
    </p:spTree>
    <p:extLst>
      <p:ext uri="{BB962C8B-B14F-4D97-AF65-F5344CB8AC3E}">
        <p14:creationId xmlns:p14="http://schemas.microsoft.com/office/powerpoint/2010/main" val="43788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F5E7-78DF-6AED-6EFE-A47B82A4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D1D1B-105E-E184-ADBC-2B07B3BB929E}"/>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853C2332-DD8B-2EC1-C288-C9CD991A4074}"/>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DCC0932D-B624-F476-2B57-930187D851D9}"/>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4809732D-EF89-C5A4-C000-5018FA595EFC}"/>
              </a:ext>
            </a:extLst>
          </p:cNvPr>
          <p:cNvGraphicFramePr>
            <a:graphicFrameLocks noGrp="1"/>
          </p:cNvGraphicFramePr>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569AE367-163D-297F-3DD6-599C9645483F}"/>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2A10B87-EDD6-141E-74DF-591C75B3ADDB}"/>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B0BB1A3A-DB33-B7A9-4626-5505E2FDAF8D}"/>
              </a:ext>
            </a:extLst>
          </p:cNvPr>
          <p:cNvGraphicFramePr>
            <a:graphicFrameLocks noGrp="1"/>
          </p:cNvGraphicFramePr>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1" name="Arrow: Right 10">
            <a:extLst>
              <a:ext uri="{FF2B5EF4-FFF2-40B4-BE49-F238E27FC236}">
                <a16:creationId xmlns:a16="http://schemas.microsoft.com/office/drawing/2014/main" id="{50186B45-C036-8963-F983-F18A363F0E41}"/>
              </a:ext>
            </a:extLst>
          </p:cNvPr>
          <p:cNvSpPr/>
          <p:nvPr/>
        </p:nvSpPr>
        <p:spPr>
          <a:xfrm>
            <a:off x="3265932" y="4038635"/>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9593EEC-57A9-1968-DC28-8040B4B19D5D}"/>
              </a:ext>
            </a:extLst>
          </p:cNvPr>
          <p:cNvSpPr txBox="1"/>
          <p:nvPr/>
        </p:nvSpPr>
        <p:spPr>
          <a:xfrm>
            <a:off x="2763359" y="3940108"/>
            <a:ext cx="433132" cy="400110"/>
          </a:xfrm>
          <a:prstGeom prst="rect">
            <a:avLst/>
          </a:prstGeom>
          <a:noFill/>
        </p:spPr>
        <p:txBody>
          <a:bodyPr wrap="none" rtlCol="0">
            <a:spAutoFit/>
          </a:bodyPr>
          <a:lstStyle/>
          <a:p>
            <a:r>
              <a:rPr lang="en-US" sz="2000" dirty="0"/>
              <a:t>SP</a:t>
            </a:r>
          </a:p>
        </p:txBody>
      </p:sp>
      <p:graphicFrame>
        <p:nvGraphicFramePr>
          <p:cNvPr id="13" name="Table 12">
            <a:extLst>
              <a:ext uri="{FF2B5EF4-FFF2-40B4-BE49-F238E27FC236}">
                <a16:creationId xmlns:a16="http://schemas.microsoft.com/office/drawing/2014/main" id="{0F90E149-86FB-1EB7-A72E-7589073CE919}"/>
              </a:ext>
            </a:extLst>
          </p:cNvPr>
          <p:cNvGraphicFramePr>
            <a:graphicFrameLocks noGrp="1"/>
          </p:cNvGraphicFramePr>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4" name="Arrow: Right 13">
            <a:extLst>
              <a:ext uri="{FF2B5EF4-FFF2-40B4-BE49-F238E27FC236}">
                <a16:creationId xmlns:a16="http://schemas.microsoft.com/office/drawing/2014/main" id="{CB24527C-F1F4-33BA-B5D6-819E30373882}"/>
              </a:ext>
            </a:extLst>
          </p:cNvPr>
          <p:cNvSpPr/>
          <p:nvPr/>
        </p:nvSpPr>
        <p:spPr>
          <a:xfrm>
            <a:off x="5928872"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061F2C-A317-8DD0-2E26-07A9FB2F6E12}"/>
              </a:ext>
            </a:extLst>
          </p:cNvPr>
          <p:cNvSpPr txBox="1"/>
          <p:nvPr/>
        </p:nvSpPr>
        <p:spPr>
          <a:xfrm>
            <a:off x="5426299" y="3204332"/>
            <a:ext cx="433132" cy="400110"/>
          </a:xfrm>
          <a:prstGeom prst="rect">
            <a:avLst/>
          </a:prstGeom>
          <a:noFill/>
        </p:spPr>
        <p:txBody>
          <a:bodyPr wrap="none" rtlCol="0">
            <a:spAutoFit/>
          </a:bodyPr>
          <a:lstStyle/>
          <a:p>
            <a:r>
              <a:rPr lang="en-US" sz="2000" dirty="0"/>
              <a:t>SP</a:t>
            </a:r>
          </a:p>
        </p:txBody>
      </p:sp>
      <p:sp>
        <p:nvSpPr>
          <p:cNvPr id="16" name="TextBox 15">
            <a:extLst>
              <a:ext uri="{FF2B5EF4-FFF2-40B4-BE49-F238E27FC236}">
                <a16:creationId xmlns:a16="http://schemas.microsoft.com/office/drawing/2014/main" id="{A49D0B57-E431-F7A3-1BED-79D0F8F79AA1}"/>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EA1D60ED-C6F0-ACD1-8F1A-B034A7D8F690}"/>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r0=1, r1=2</a:t>
            </a:r>
          </a:p>
        </p:txBody>
      </p:sp>
      <p:sp>
        <p:nvSpPr>
          <p:cNvPr id="5" name="TextBox 4">
            <a:extLst>
              <a:ext uri="{FF2B5EF4-FFF2-40B4-BE49-F238E27FC236}">
                <a16:creationId xmlns:a16="http://schemas.microsoft.com/office/drawing/2014/main" id="{E934273F-86D4-4FCA-7A42-387A88B6F17F}"/>
              </a:ext>
            </a:extLst>
          </p:cNvPr>
          <p:cNvSpPr txBox="1"/>
          <p:nvPr/>
        </p:nvSpPr>
        <p:spPr>
          <a:xfrm>
            <a:off x="999474" y="5908432"/>
            <a:ext cx="7687325"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Stack contains only values like 2, 1… I write r2=2, r1=1 in the figures for illustration purposes only. </a:t>
            </a:r>
          </a:p>
        </p:txBody>
      </p:sp>
    </p:spTree>
    <p:extLst>
      <p:ext uri="{BB962C8B-B14F-4D97-AF65-F5344CB8AC3E}">
        <p14:creationId xmlns:p14="http://schemas.microsoft.com/office/powerpoint/2010/main" val="2007294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1381-7AB9-FDA4-7FF9-72D96B8AD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305BA-4383-D05A-A09F-E8888E979ED1}"/>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7B241A1B-240A-D65E-9382-43BCA168C33F}"/>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D196B1B3-16B9-7552-E252-1625434D0362}"/>
              </a:ext>
            </a:extLst>
          </p:cNvPr>
          <p:cNvSpPr>
            <a:spLocks noGrp="1"/>
          </p:cNvSpPr>
          <p:nvPr>
            <p:ph sz="quarter" idx="1"/>
          </p:nvPr>
        </p:nvSpPr>
        <p:spPr>
          <a:xfrm>
            <a:off x="457200" y="1219200"/>
            <a:ext cx="8229600" cy="2667000"/>
          </a:xfrm>
        </p:spPr>
        <p:txBody>
          <a:bodyPr>
            <a:normAutofit fontScale="92500" lnSpcReduction="20000"/>
          </a:bodyPr>
          <a:lstStyle/>
          <a:p>
            <a:pPr marL="342900" indent="-342900">
              <a:spcBef>
                <a:spcPts val="0"/>
              </a:spcBef>
            </a:pPr>
            <a:r>
              <a:rPr lang="en-US" dirty="0"/>
              <a:t>Initially, let r0=0, r1=1, r2=2, r3=3</a:t>
            </a:r>
          </a:p>
          <a:p>
            <a:pPr marL="342900" indent="-342900"/>
            <a:r>
              <a:rPr lang="en-US" dirty="0"/>
              <a:t>Execute  </a:t>
            </a:r>
          </a:p>
          <a:p>
            <a:pPr marL="0" indent="0">
              <a:buNone/>
            </a:pPr>
            <a:r>
              <a:rPr lang="en-US" dirty="0">
                <a:solidFill>
                  <a:srgbClr val="7030A0"/>
                </a:solidFill>
                <a:ea typeface="Courier New"/>
                <a:cs typeface="Courier New"/>
                <a:sym typeface="Courier New"/>
              </a:rPr>
              <a:t>     PUSH {r1,r2}</a:t>
            </a:r>
          </a:p>
          <a:p>
            <a:pPr marL="0" indent="0">
              <a:buNone/>
            </a:pPr>
            <a:r>
              <a:rPr lang="en-US" dirty="0">
                <a:solidFill>
                  <a:srgbClr val="7030A0"/>
                </a:solidFill>
                <a:ea typeface="Courier New"/>
                <a:cs typeface="Courier New"/>
                <a:sym typeface="Courier New"/>
              </a:rPr>
              <a:t>     PUSH {r3,r0}</a:t>
            </a:r>
          </a:p>
          <a:p>
            <a:pPr marL="0" indent="0">
              <a:buNone/>
            </a:pPr>
            <a:r>
              <a:rPr lang="en-US" dirty="0">
                <a:solidFill>
                  <a:srgbClr val="7030A0"/>
                </a:solidFill>
                <a:ea typeface="Courier New"/>
                <a:cs typeface="Courier New"/>
                <a:sym typeface="Courier New"/>
              </a:rPr>
              <a:t>     POP {r0-r3}  (same as </a:t>
            </a:r>
            <a:r>
              <a:rPr lang="pt-BR" dirty="0">
                <a:solidFill>
                  <a:srgbClr val="7030A0"/>
                </a:solidFill>
                <a:ea typeface="Courier New"/>
                <a:cs typeface="Courier New"/>
                <a:sym typeface="Courier New"/>
              </a:rPr>
              <a:t>POP {r0, r1, r2, r3}</a:t>
            </a:r>
            <a:r>
              <a:rPr lang="en-US" dirty="0">
                <a:solidFill>
                  <a:srgbClr val="7030A0"/>
                </a:solidFill>
                <a:ea typeface="Courier New"/>
                <a:cs typeface="Courier New"/>
                <a:sym typeface="Courier New"/>
              </a:rPr>
              <a:t>)</a:t>
            </a:r>
          </a:p>
          <a:p>
            <a:pPr marL="342900" indent="-342900"/>
            <a:r>
              <a:rPr lang="en-US" dirty="0"/>
              <a:t>Draw stack after each instruction. What is in registers after execution?</a:t>
            </a:r>
          </a:p>
        </p:txBody>
      </p:sp>
      <p:graphicFrame>
        <p:nvGraphicFramePr>
          <p:cNvPr id="8" name="Table 7">
            <a:extLst>
              <a:ext uri="{FF2B5EF4-FFF2-40B4-BE49-F238E27FC236}">
                <a16:creationId xmlns:a16="http://schemas.microsoft.com/office/drawing/2014/main" id="{DEDAA85D-661A-99AB-3D20-19E0FF250C15}"/>
              </a:ext>
            </a:extLst>
          </p:cNvPr>
          <p:cNvGraphicFramePr>
            <a:graphicFrameLocks noGrp="1"/>
          </p:cNvGraphicFramePr>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E94243C7-593D-0C96-F723-8D4C183BBC42}"/>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D1BED-766C-F58C-91B9-24985E60BCCB}"/>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048D6398-3761-E3BF-934F-679B116555DD}"/>
              </a:ext>
            </a:extLst>
          </p:cNvPr>
          <p:cNvGraphicFramePr>
            <a:graphicFrameLocks noGrp="1"/>
          </p:cNvGraphicFramePr>
          <p:nvPr>
            <p:extLst>
              <p:ext uri="{D42A27DB-BD31-4B8C-83A1-F6EECF244321}">
                <p14:modId xmlns:p14="http://schemas.microsoft.com/office/powerpoint/2010/main" val="475370302"/>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4" name="Table 13">
            <a:extLst>
              <a:ext uri="{FF2B5EF4-FFF2-40B4-BE49-F238E27FC236}">
                <a16:creationId xmlns:a16="http://schemas.microsoft.com/office/drawing/2014/main" id="{CC6440A4-115E-9454-B8B0-2DAC5F2E8E85}"/>
              </a:ext>
            </a:extLst>
          </p:cNvPr>
          <p:cNvGraphicFramePr>
            <a:graphicFrameLocks noGrp="1"/>
          </p:cNvGraphicFramePr>
          <p:nvPr>
            <p:extLst>
              <p:ext uri="{D42A27DB-BD31-4B8C-83A1-F6EECF244321}">
                <p14:modId xmlns:p14="http://schemas.microsoft.com/office/powerpoint/2010/main" val="790742638"/>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7" name="TextBox 16">
            <a:extLst>
              <a:ext uri="{FF2B5EF4-FFF2-40B4-BE49-F238E27FC236}">
                <a16:creationId xmlns:a16="http://schemas.microsoft.com/office/drawing/2014/main" id="{52562272-51E0-2489-4A34-7B222B899CB7}"/>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FE4D86A8-AA90-1492-FAB2-5B31D09C28BB}"/>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AF2FBF41-08B2-16FD-577F-65544DBE3A6E}"/>
              </a:ext>
            </a:extLst>
          </p:cNvPr>
          <p:cNvGraphicFramePr>
            <a:graphicFrameLocks noGrp="1"/>
          </p:cNvGraphicFramePr>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2" name="TextBox 21">
            <a:extLst>
              <a:ext uri="{FF2B5EF4-FFF2-40B4-BE49-F238E27FC236}">
                <a16:creationId xmlns:a16="http://schemas.microsoft.com/office/drawing/2014/main" id="{48B69D91-DFE6-88E9-7060-DADED4F5332B}"/>
              </a:ext>
            </a:extLst>
          </p:cNvPr>
          <p:cNvSpPr txBox="1"/>
          <p:nvPr/>
        </p:nvSpPr>
        <p:spPr>
          <a:xfrm>
            <a:off x="6721062" y="5743714"/>
            <a:ext cx="2383986" cy="707886"/>
          </a:xfrm>
          <a:prstGeom prst="rect">
            <a:avLst/>
          </a:prstGeom>
          <a:noFill/>
        </p:spPr>
        <p:txBody>
          <a:bodyPr wrap="none" rtlCol="0">
            <a:spAutoFit/>
          </a:bodyPr>
          <a:lstStyle/>
          <a:p>
            <a:r>
              <a:rPr lang="en-US" sz="2000" dirty="0"/>
              <a:t>After POP {r0-r3}</a:t>
            </a:r>
          </a:p>
          <a:p>
            <a:r>
              <a:rPr lang="en-US" sz="2000" dirty="0"/>
              <a:t>r0=?, r1=?, r2=?, r3=?</a:t>
            </a:r>
          </a:p>
        </p:txBody>
      </p:sp>
    </p:spTree>
    <p:extLst>
      <p:ext uri="{BB962C8B-B14F-4D97-AF65-F5344CB8AC3E}">
        <p14:creationId xmlns:p14="http://schemas.microsoft.com/office/powerpoint/2010/main" val="465749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492E-E870-6486-2824-677B21BA3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22505-1263-8867-CBD4-3845DB776BF0}"/>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DC7FB908-97AA-B669-AB86-CBD8339F3B94}"/>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36843E04-780F-8745-F7A3-B8C73E674D4A}"/>
              </a:ext>
            </a:extLst>
          </p:cNvPr>
          <p:cNvSpPr>
            <a:spLocks noGrp="1"/>
          </p:cNvSpPr>
          <p:nvPr>
            <p:ph sz="quarter" idx="1"/>
          </p:nvPr>
        </p:nvSpPr>
        <p:spPr>
          <a:xfrm>
            <a:off x="457200" y="1219200"/>
            <a:ext cx="8229600" cy="2667000"/>
          </a:xfrm>
        </p:spPr>
        <p:txBody>
          <a:bodyPr>
            <a:normAutofit/>
          </a:bodyPr>
          <a:lstStyle/>
          <a:p>
            <a:pPr marL="342900" indent="-342900">
              <a:spcBef>
                <a:spcPts val="0"/>
              </a:spcBef>
            </a:pPr>
            <a:r>
              <a:rPr lang="en-US" sz="2000" dirty="0"/>
              <a:t>Initially, let r0=0, r1=1, r2=2, r3=3</a:t>
            </a:r>
          </a:p>
          <a:p>
            <a:pPr marL="342900" indent="-342900"/>
            <a:r>
              <a:rPr lang="en-US" sz="2000" dirty="0"/>
              <a:t>Execute  </a:t>
            </a:r>
          </a:p>
          <a:p>
            <a:pPr marL="0" indent="0">
              <a:buNone/>
            </a:pPr>
            <a:r>
              <a:rPr lang="en-US" sz="2000" dirty="0">
                <a:solidFill>
                  <a:srgbClr val="7030A0"/>
                </a:solidFill>
                <a:ea typeface="Courier New"/>
                <a:cs typeface="Courier New"/>
                <a:sym typeface="Courier New"/>
              </a:rPr>
              <a:t>     PUSH {r1,r2} @</a:t>
            </a:r>
            <a:r>
              <a:rPr lang="pt-BR" sz="2000" dirty="0">
                <a:solidFill>
                  <a:srgbClr val="7030A0"/>
                </a:solidFill>
                <a:ea typeface="Courier New"/>
                <a:cs typeface="Courier New"/>
                <a:sym typeface="Courier New"/>
              </a:rPr>
              <a:t> Equiv. to PUSH r2 \n PUSH r1</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PUSH {r3,r0} @</a:t>
            </a:r>
            <a:r>
              <a:rPr lang="pt-BR" sz="2000" dirty="0">
                <a:solidFill>
                  <a:srgbClr val="7030A0"/>
                </a:solidFill>
                <a:ea typeface="Courier New"/>
                <a:cs typeface="Courier New"/>
                <a:sym typeface="Courier New"/>
              </a:rPr>
              <a:t> Equiv. to PUSH r3 \n PUSH r0</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POP {r0-r3}  @</a:t>
            </a:r>
            <a:r>
              <a:rPr lang="pt-BR" sz="2000" dirty="0">
                <a:solidFill>
                  <a:srgbClr val="7030A0"/>
                </a:solidFill>
                <a:ea typeface="Courier New"/>
                <a:cs typeface="Courier New"/>
                <a:sym typeface="Courier New"/>
              </a:rPr>
              <a:t> Equiv. to POP r0 \n POP r1 \n POP r2 \n POP r3</a:t>
            </a:r>
            <a:endParaRPr lang="en-US" sz="2000" dirty="0">
              <a:solidFill>
                <a:srgbClr val="7030A0"/>
              </a:solidFill>
              <a:ea typeface="Courier New"/>
              <a:cs typeface="Courier New"/>
              <a:sym typeface="Courier New"/>
            </a:endParaRPr>
          </a:p>
        </p:txBody>
      </p:sp>
      <p:graphicFrame>
        <p:nvGraphicFramePr>
          <p:cNvPr id="8" name="Table 7">
            <a:extLst>
              <a:ext uri="{FF2B5EF4-FFF2-40B4-BE49-F238E27FC236}">
                <a16:creationId xmlns:a16="http://schemas.microsoft.com/office/drawing/2014/main" id="{03308E94-A0F6-359D-717D-891E2E630EAB}"/>
              </a:ext>
            </a:extLst>
          </p:cNvPr>
          <p:cNvGraphicFramePr>
            <a:graphicFrameLocks noGrp="1"/>
          </p:cNvGraphicFramePr>
          <p:nvPr>
            <p:extLst>
              <p:ext uri="{D42A27DB-BD31-4B8C-83A1-F6EECF244321}">
                <p14:modId xmlns:p14="http://schemas.microsoft.com/office/powerpoint/2010/main" val="1105686839"/>
              </p:ext>
            </p:extLst>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FBE0A9DC-0F13-5E17-C834-D68F85D8A1B9}"/>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E97FC87-43CF-4901-CF7A-C5C93E8F3712}"/>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F41DF45E-6835-8E25-656C-8E8DC4631F0E}"/>
              </a:ext>
            </a:extLst>
          </p:cNvPr>
          <p:cNvGraphicFramePr>
            <a:graphicFrameLocks noGrp="1"/>
          </p:cNvGraphicFramePr>
          <p:nvPr>
            <p:extLst>
              <p:ext uri="{D42A27DB-BD31-4B8C-83A1-F6EECF244321}">
                <p14:modId xmlns:p14="http://schemas.microsoft.com/office/powerpoint/2010/main" val="3297162447"/>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2" name="Arrow: Right 11">
            <a:extLst>
              <a:ext uri="{FF2B5EF4-FFF2-40B4-BE49-F238E27FC236}">
                <a16:creationId xmlns:a16="http://schemas.microsoft.com/office/drawing/2014/main" id="{B243B488-2D7A-A8C2-598C-7289DABA24B7}"/>
              </a:ext>
            </a:extLst>
          </p:cNvPr>
          <p:cNvSpPr/>
          <p:nvPr/>
        </p:nvSpPr>
        <p:spPr>
          <a:xfrm>
            <a:off x="2420559" y="4638971"/>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6F7C4A-B9A7-2468-84A3-CDFC9A75A5CB}"/>
              </a:ext>
            </a:extLst>
          </p:cNvPr>
          <p:cNvSpPr txBox="1"/>
          <p:nvPr/>
        </p:nvSpPr>
        <p:spPr>
          <a:xfrm>
            <a:off x="1917986" y="4540444"/>
            <a:ext cx="433132" cy="400110"/>
          </a:xfrm>
          <a:prstGeom prst="rect">
            <a:avLst/>
          </a:prstGeom>
          <a:noFill/>
        </p:spPr>
        <p:txBody>
          <a:bodyPr wrap="none" rtlCol="0">
            <a:spAutoFit/>
          </a:bodyPr>
          <a:lstStyle/>
          <a:p>
            <a:r>
              <a:rPr lang="en-US" sz="2000" dirty="0"/>
              <a:t>SP</a:t>
            </a:r>
          </a:p>
        </p:txBody>
      </p:sp>
      <p:graphicFrame>
        <p:nvGraphicFramePr>
          <p:cNvPr id="14" name="Table 13">
            <a:extLst>
              <a:ext uri="{FF2B5EF4-FFF2-40B4-BE49-F238E27FC236}">
                <a16:creationId xmlns:a16="http://schemas.microsoft.com/office/drawing/2014/main" id="{D915B79B-0559-150B-208E-D718B7EC52C1}"/>
              </a:ext>
            </a:extLst>
          </p:cNvPr>
          <p:cNvGraphicFramePr>
            <a:graphicFrameLocks noGrp="1"/>
          </p:cNvGraphicFramePr>
          <p:nvPr>
            <p:extLst>
              <p:ext uri="{D42A27DB-BD31-4B8C-83A1-F6EECF244321}">
                <p14:modId xmlns:p14="http://schemas.microsoft.com/office/powerpoint/2010/main" val="2158631816"/>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r>
                        <a:rPr lang="en-US" dirty="0"/>
                        <a:t>r3=3</a:t>
                      </a:r>
                    </a:p>
                  </a:txBody>
                  <a:tcPr/>
                </a:tc>
                <a:extLst>
                  <a:ext uri="{0D108BD9-81ED-4DB2-BD59-A6C34878D82A}">
                    <a16:rowId xmlns:a16="http://schemas.microsoft.com/office/drawing/2014/main" val="3475318883"/>
                  </a:ext>
                </a:extLst>
              </a:tr>
              <a:tr h="370840">
                <a:tc>
                  <a:txBody>
                    <a:bodyPr/>
                    <a:lstStyle/>
                    <a:p>
                      <a:pPr algn="ctr"/>
                      <a:r>
                        <a:rPr lang="en-US" dirty="0"/>
                        <a:t>r0=0</a:t>
                      </a:r>
                    </a:p>
                  </a:txBody>
                  <a:tcPr/>
                </a:tc>
                <a:extLst>
                  <a:ext uri="{0D108BD9-81ED-4DB2-BD59-A6C34878D82A}">
                    <a16:rowId xmlns:a16="http://schemas.microsoft.com/office/drawing/2014/main" val="2400188190"/>
                  </a:ext>
                </a:extLst>
              </a:tr>
            </a:tbl>
          </a:graphicData>
        </a:graphic>
      </p:graphicFrame>
      <p:sp>
        <p:nvSpPr>
          <p:cNvPr id="15" name="Arrow: Right 14">
            <a:extLst>
              <a:ext uri="{FF2B5EF4-FFF2-40B4-BE49-F238E27FC236}">
                <a16:creationId xmlns:a16="http://schemas.microsoft.com/office/drawing/2014/main" id="{89C82B0B-D220-355C-C11A-2B105F6B47A5}"/>
              </a:ext>
            </a:extLst>
          </p:cNvPr>
          <p:cNvSpPr/>
          <p:nvPr/>
        </p:nvSpPr>
        <p:spPr>
          <a:xfrm>
            <a:off x="4715716" y="536085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B622E9D-674E-4337-516D-F1611B40B59F}"/>
              </a:ext>
            </a:extLst>
          </p:cNvPr>
          <p:cNvSpPr txBox="1"/>
          <p:nvPr/>
        </p:nvSpPr>
        <p:spPr>
          <a:xfrm>
            <a:off x="4213143" y="5262327"/>
            <a:ext cx="433132" cy="400110"/>
          </a:xfrm>
          <a:prstGeom prst="rect">
            <a:avLst/>
          </a:prstGeom>
          <a:noFill/>
        </p:spPr>
        <p:txBody>
          <a:bodyPr wrap="none" rtlCol="0">
            <a:spAutoFit/>
          </a:bodyPr>
          <a:lstStyle/>
          <a:p>
            <a:r>
              <a:rPr lang="en-US" sz="2000" dirty="0"/>
              <a:t>SP</a:t>
            </a:r>
          </a:p>
        </p:txBody>
      </p:sp>
      <p:sp>
        <p:nvSpPr>
          <p:cNvPr id="17" name="TextBox 16">
            <a:extLst>
              <a:ext uri="{FF2B5EF4-FFF2-40B4-BE49-F238E27FC236}">
                <a16:creationId xmlns:a16="http://schemas.microsoft.com/office/drawing/2014/main" id="{89FABA7E-D88F-B22C-2671-4103A5520001}"/>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575A4558-8CD1-5604-11F5-98FCE4191B47}"/>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138764CE-BAA4-9C81-9732-4DD4B550914C}"/>
              </a:ext>
            </a:extLst>
          </p:cNvPr>
          <p:cNvGraphicFramePr>
            <a:graphicFrameLocks noGrp="1"/>
          </p:cNvGraphicFramePr>
          <p:nvPr>
            <p:extLst>
              <p:ext uri="{D42A27DB-BD31-4B8C-83A1-F6EECF244321}">
                <p14:modId xmlns:p14="http://schemas.microsoft.com/office/powerpoint/2010/main" val="3777744457"/>
              </p:ext>
            </p:extLst>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0" name="Arrow: Right 19">
            <a:extLst>
              <a:ext uri="{FF2B5EF4-FFF2-40B4-BE49-F238E27FC236}">
                <a16:creationId xmlns:a16="http://schemas.microsoft.com/office/drawing/2014/main" id="{2F85393E-30E2-EDCD-D332-A91D6B997220}"/>
              </a:ext>
            </a:extLst>
          </p:cNvPr>
          <p:cNvSpPr/>
          <p:nvPr/>
        </p:nvSpPr>
        <p:spPr>
          <a:xfrm>
            <a:off x="6944156" y="3895740"/>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24FD91-BDC9-DC17-142A-13AD5F27DA31}"/>
              </a:ext>
            </a:extLst>
          </p:cNvPr>
          <p:cNvSpPr txBox="1"/>
          <p:nvPr/>
        </p:nvSpPr>
        <p:spPr>
          <a:xfrm>
            <a:off x="6441583" y="3797213"/>
            <a:ext cx="433132" cy="400110"/>
          </a:xfrm>
          <a:prstGeom prst="rect">
            <a:avLst/>
          </a:prstGeom>
          <a:noFill/>
        </p:spPr>
        <p:txBody>
          <a:bodyPr wrap="none" rtlCol="0">
            <a:spAutoFit/>
          </a:bodyPr>
          <a:lstStyle/>
          <a:p>
            <a:r>
              <a:rPr lang="en-US" sz="2000" dirty="0"/>
              <a:t>SP</a:t>
            </a:r>
          </a:p>
        </p:txBody>
      </p:sp>
      <p:sp>
        <p:nvSpPr>
          <p:cNvPr id="22" name="TextBox 21">
            <a:extLst>
              <a:ext uri="{FF2B5EF4-FFF2-40B4-BE49-F238E27FC236}">
                <a16:creationId xmlns:a16="http://schemas.microsoft.com/office/drawing/2014/main" id="{875DABEC-3EAE-282B-99E0-5AD8630AFE37}"/>
              </a:ext>
            </a:extLst>
          </p:cNvPr>
          <p:cNvSpPr txBox="1"/>
          <p:nvPr/>
        </p:nvSpPr>
        <p:spPr>
          <a:xfrm>
            <a:off x="6721062" y="5743714"/>
            <a:ext cx="2513830" cy="707886"/>
          </a:xfrm>
          <a:prstGeom prst="rect">
            <a:avLst/>
          </a:prstGeom>
          <a:noFill/>
        </p:spPr>
        <p:txBody>
          <a:bodyPr wrap="none" rtlCol="0">
            <a:spAutoFit/>
          </a:bodyPr>
          <a:lstStyle/>
          <a:p>
            <a:r>
              <a:rPr lang="en-US" sz="2000" dirty="0"/>
              <a:t>After POP {r0-r3}</a:t>
            </a:r>
          </a:p>
          <a:p>
            <a:r>
              <a:rPr lang="en-US" sz="2000" dirty="0"/>
              <a:t>r0=0, r1=3, r2=1, r3=2</a:t>
            </a:r>
          </a:p>
        </p:txBody>
      </p:sp>
    </p:spTree>
    <p:extLst>
      <p:ext uri="{BB962C8B-B14F-4D97-AF65-F5344CB8AC3E}">
        <p14:creationId xmlns:p14="http://schemas.microsoft.com/office/powerpoint/2010/main" val="388489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5429517" y="2891802"/>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a:solidFill>
                  <a:schemeClr val="tx1"/>
                </a:solidFill>
                <a:latin typeface="Consolas" panose="020B0609020204030204" pitchFamily="49" charset="0"/>
                <a:cs typeface="Consolas" panose="020B0609020204030204" pitchFamily="49" charset="0"/>
              </a:rPr>
              <a:t>{R1,R2}</a:t>
            </a:r>
            <a:endParaRPr lang="en-GB" sz="2400" dirty="0">
              <a:solidFill>
                <a:schemeClr val="tx1"/>
              </a:solidFill>
              <a:latin typeface="Consolas" panose="020B0609020204030204" pitchFamily="49" charset="0"/>
              <a:cs typeface="Consolas" panose="020B0609020204030204" pitchFamily="49" charset="0"/>
            </a:endParaRP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404500"/>
          </a:xfrm>
        </p:spPr>
        <p:txBody>
          <a:bodyPr>
            <a:normAutofit fontScale="92500"/>
          </a:bodyPr>
          <a:lstStyle/>
          <a:p>
            <a:r>
              <a:rPr lang="en-US" sz="2400" dirty="0"/>
              <a:t>What is content of stack, and position of SP, after PUSH {R2,R1}?</a:t>
            </a:r>
          </a:p>
          <a:p>
            <a:r>
              <a:rPr lang="en-US" sz="2400" dirty="0"/>
              <a:t>What are the values of R1/R2 after POP {R2}?</a:t>
            </a:r>
          </a:p>
          <a:p>
            <a:r>
              <a:rPr lang="en-US" sz="2400" dirty="0"/>
              <a:t>What are the correct instructions for swapping R1 and R2?</a:t>
            </a:r>
          </a:p>
        </p:txBody>
      </p:sp>
    </p:spTree>
    <p:extLst>
      <p:ext uri="{BB962C8B-B14F-4D97-AF65-F5344CB8AC3E}">
        <p14:creationId xmlns:p14="http://schemas.microsoft.com/office/powerpoint/2010/main" val="245926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 ANS</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5" idx="1"/>
          </p:cNvCxnSpPr>
          <p:nvPr/>
        </p:nvCxnSpPr>
        <p:spPr>
          <a:xfrm>
            <a:off x="5429517" y="2891802"/>
            <a:ext cx="802628" cy="134083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9</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{R1,R2}</a:t>
            </a: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0x22222222</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333396"/>
          </a:xfrm>
        </p:spPr>
        <p:txBody>
          <a:bodyPr/>
          <a:lstStyle/>
          <a:p>
            <a:r>
              <a:rPr lang="en-US" dirty="0"/>
              <a:t>Stack content and SP shown in figure</a:t>
            </a:r>
          </a:p>
          <a:p>
            <a:r>
              <a:rPr lang="en-US" dirty="0"/>
              <a:t>After POP {R2}, R1=0x11111111, R2=0x22222222</a:t>
            </a:r>
          </a:p>
        </p:txBody>
      </p:sp>
    </p:spTree>
    <p:extLst>
      <p:ext uri="{BB962C8B-B14F-4D97-AF65-F5344CB8AC3E}">
        <p14:creationId xmlns:p14="http://schemas.microsoft.com/office/powerpoint/2010/main" val="2098831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US" dirty="0"/>
              <a:t>Instructions for swapping R1 and R2</a:t>
            </a:r>
            <a:endParaRPr lang="en-GB" dirty="0"/>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5429517" y="2891802"/>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10</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914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52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533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3465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11</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457200" y="1219200"/>
            <a:ext cx="82296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memory ordering.</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12</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66918043"/>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02</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10</a:t>
                      </a:r>
                    </a:p>
                  </a:txBody>
                  <a:tcPr/>
                </a:tc>
                <a:tc>
                  <a:txBody>
                    <a:bodyPr/>
                    <a:lstStyle/>
                    <a:p>
                      <a:pPr marL="0" algn="ctr" rtl="0" eaLnBrk="1" latinLnBrk="0" hangingPunct="1"/>
                      <a:r>
                        <a:rPr kumimoji="0" lang="en-US" kern="1200" dirty="0">
                          <a:solidFill>
                            <a:srgbClr val="FF0000"/>
                          </a:solidFill>
                          <a:latin typeface="+mn-lt"/>
                          <a:ea typeface="+mn-ea"/>
                          <a:cs typeface="+mn-cs"/>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extLst>
              <p:ext uri="{D42A27DB-BD31-4B8C-83A1-F6EECF244321}">
                <p14:modId xmlns:p14="http://schemas.microsoft.com/office/powerpoint/2010/main" val="1428665056"/>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rgbClr val="FF0000"/>
                          </a:solidFill>
                          <a:effectLst/>
                          <a:latin typeface="Times New Roman" pitchFamily="18" charset="0"/>
                          <a:ea typeface="+mn-ea"/>
                          <a:cs typeface="+mn-cs"/>
                        </a:rPr>
                        <a:t>0x10000200</a:t>
                      </a:r>
                      <a:endParaRPr kumimoji="0" lang="en-US" b="0" kern="1200" dirty="0">
                        <a:solidFill>
                          <a:srgbClr val="FF0000"/>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0x100001FC</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8229600" cy="2790576"/>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R13 is SP = 0x10000200. </a:t>
            </a:r>
            <a:r>
              <a:rPr lang="en-US" sz="2000" dirty="0"/>
              <a:t>Recall:</a:t>
            </a:r>
            <a:endParaRPr lang="en-US" sz="2000" b="0" dirty="0"/>
          </a:p>
          <a:p>
            <a:pPr fontAlgn="auto">
              <a:spcAft>
                <a:spcPts val="0"/>
              </a:spcAft>
            </a:pPr>
            <a:r>
              <a:rPr lang="en-US" sz="2000" b="0" dirty="0"/>
              <a:t>After two </a:t>
            </a:r>
            <a:r>
              <a:rPr lang="en-US" sz="2000" b="0" dirty="0" err="1"/>
              <a:t>PUSHes</a:t>
            </a:r>
            <a:r>
              <a:rPr lang="en-US" sz="2000" b="0" dirty="0"/>
              <a:t>, SP </a:t>
            </a:r>
            <a:r>
              <a:rPr lang="en-US" sz="2000" dirty="0"/>
              <a:t>= 0x10000200 – 8 = 0x100001F8. Each PUSH is:</a:t>
            </a:r>
            <a:endParaRPr lang="en-US" sz="2000" b="0" dirty="0"/>
          </a:p>
          <a:p>
            <a:pPr lvl="1"/>
            <a:r>
              <a:rPr lang="en-US" sz="1700" b="0" dirty="0"/>
              <a:t>SUB SP, SP, #4 @ SP = SP-4  (descending stack)</a:t>
            </a:r>
          </a:p>
          <a:p>
            <a:pPr lvl="1"/>
            <a:r>
              <a:rPr lang="en-US" sz="1700" b="0" dirty="0"/>
              <a:t>STR Rd, [SP]   @ (*SP) = Rd   (full stack)</a:t>
            </a:r>
          </a:p>
          <a:p>
            <a:pPr fontAlgn="auto">
              <a:spcAft>
                <a:spcPts val="0"/>
              </a:spcAft>
            </a:pPr>
            <a:r>
              <a:rPr lang="en-US" sz="2000" b="0" dirty="0"/>
              <a:t>After one POP</a:t>
            </a:r>
            <a:r>
              <a:rPr lang="en-US" sz="2000" dirty="0"/>
              <a:t>, SP = 0x100001F8 + 4 = 0x100001FC:</a:t>
            </a:r>
            <a:endParaRPr lang="en-US" sz="2000" b="0" dirty="0"/>
          </a:p>
          <a:p>
            <a:pPr lvl="1"/>
            <a:r>
              <a:rPr lang="en-US" sz="1700" b="0" dirty="0"/>
              <a:t>LDR Rd, [SP] @ Rd = (*SP)    (full stack)</a:t>
            </a:r>
          </a:p>
          <a:p>
            <a:pPr lvl="1"/>
            <a:r>
              <a:rPr lang="en-US" sz="1700" b="0" dirty="0"/>
              <a:t>ADD SP, #4   @ SP = SP + 4   (Stack shrinks)</a:t>
            </a:r>
          </a:p>
          <a:p>
            <a:r>
              <a:rPr lang="en-US" sz="2000" dirty="0"/>
              <a:t>R5 = 0x10000200 (value of R1)</a:t>
            </a:r>
            <a:endParaRPr lang="en-US" sz="2000" b="0" dirty="0"/>
          </a:p>
        </p:txBody>
      </p:sp>
      <p:sp>
        <p:nvSpPr>
          <p:cNvPr id="12" name="TextBox 11">
            <a:extLst>
              <a:ext uri="{FF2B5EF4-FFF2-40B4-BE49-F238E27FC236}">
                <a16:creationId xmlns:a16="http://schemas.microsoft.com/office/drawing/2014/main" id="{A8FE334F-F18A-EB69-90F3-94DB53A49559}"/>
              </a:ext>
            </a:extLst>
          </p:cNvPr>
          <p:cNvSpPr txBox="1"/>
          <p:nvPr/>
        </p:nvSpPr>
        <p:spPr>
          <a:xfrm>
            <a:off x="4485167" y="4209831"/>
            <a:ext cx="2266005" cy="400110"/>
          </a:xfrm>
          <a:prstGeom prst="rect">
            <a:avLst/>
          </a:prstGeom>
          <a:noFill/>
        </p:spPr>
        <p:txBody>
          <a:bodyPr wrap="none" rtlCol="0">
            <a:spAutoFit/>
          </a:bodyPr>
          <a:lstStyle/>
          <a:p>
            <a:r>
              <a:rPr lang="en-US" sz="2000" b="0" dirty="0">
                <a:latin typeface="+mn-lt"/>
              </a:rPr>
              <a:t>F</a:t>
            </a:r>
            <a:r>
              <a:rPr lang="en-US" altLang="zh-CN" sz="2000" b="0" dirty="0">
                <a:latin typeface="+mn-lt"/>
              </a:rPr>
              <a:t>inal</a:t>
            </a:r>
            <a:r>
              <a:rPr lang="en-US" sz="2000" b="0" dirty="0">
                <a:latin typeface="+mn-lt"/>
              </a:rPr>
              <a:t>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F0DD5A71-7F69-8C31-5C46-0FF1815F2840}"/>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6" name="TextBox 5">
            <a:extLst>
              <a:ext uri="{FF2B5EF4-FFF2-40B4-BE49-F238E27FC236}">
                <a16:creationId xmlns:a16="http://schemas.microsoft.com/office/drawing/2014/main" id="{7F0BEA20-3647-D290-9E8E-0B4B87DD74F4}"/>
              </a:ext>
            </a:extLst>
          </p:cNvPr>
          <p:cNvSpPr txBox="1"/>
          <p:nvPr/>
        </p:nvSpPr>
        <p:spPr>
          <a:xfrm>
            <a:off x="964404" y="4745484"/>
            <a:ext cx="534459" cy="369332"/>
          </a:xfrm>
          <a:prstGeom prst="rect">
            <a:avLst/>
          </a:prstGeom>
          <a:noFill/>
        </p:spPr>
        <p:txBody>
          <a:bodyPr wrap="square">
            <a:spAutoFit/>
          </a:bodyPr>
          <a:lstStyle/>
          <a:p>
            <a:r>
              <a:rPr lang="en-US" sz="1800" b="0" dirty="0">
                <a:solidFill>
                  <a:srgbClr val="C00000"/>
                </a:solidFill>
              </a:rPr>
              <a:t>SP</a:t>
            </a:r>
            <a:endParaRPr lang="en-US" dirty="0">
              <a:solidFill>
                <a:srgbClr val="C00000"/>
              </a:solidFill>
            </a:endParaRPr>
          </a:p>
        </p:txBody>
      </p:sp>
      <p:cxnSp>
        <p:nvCxnSpPr>
          <p:cNvPr id="10" name="Straight Arrow Connector 9">
            <a:extLst>
              <a:ext uri="{FF2B5EF4-FFF2-40B4-BE49-F238E27FC236}">
                <a16:creationId xmlns:a16="http://schemas.microsoft.com/office/drawing/2014/main" id="{83A70247-FCDE-B34D-0418-AD0E73C544B3}"/>
              </a:ext>
            </a:extLst>
          </p:cNvPr>
          <p:cNvCxnSpPr>
            <a:cxnSpLocks/>
          </p:cNvCxnSpPr>
          <p:nvPr/>
        </p:nvCxnSpPr>
        <p:spPr>
          <a:xfrm>
            <a:off x="1298734" y="4920586"/>
            <a:ext cx="478733" cy="19423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FC91C62F-544E-446B-5E37-EBD8C0F26C5E}"/>
              </a:ext>
            </a:extLst>
          </p:cNvPr>
          <p:cNvSpPr txBox="1"/>
          <p:nvPr/>
        </p:nvSpPr>
        <p:spPr>
          <a:xfrm>
            <a:off x="4495800" y="4736068"/>
            <a:ext cx="1897823" cy="369332"/>
          </a:xfrm>
          <a:prstGeom prst="rect">
            <a:avLst/>
          </a:prstGeom>
          <a:noFill/>
        </p:spPr>
        <p:txBody>
          <a:bodyPr wrap="square">
            <a:spAutoFit/>
          </a:bodyPr>
          <a:lstStyle/>
          <a:p>
            <a:r>
              <a:rPr lang="en-US" sz="1800" b="0" dirty="0">
                <a:solidFill>
                  <a:srgbClr val="C00000"/>
                </a:solidFill>
              </a:rPr>
              <a:t>SP after 2 </a:t>
            </a:r>
            <a:r>
              <a:rPr lang="en-US" sz="1800" b="0" dirty="0" err="1">
                <a:solidFill>
                  <a:srgbClr val="C00000"/>
                </a:solidFill>
              </a:rPr>
              <a:t>PUSHes</a:t>
            </a:r>
            <a:endParaRPr lang="en-US" dirty="0">
              <a:solidFill>
                <a:srgbClr val="C00000"/>
              </a:solidFill>
            </a:endParaRPr>
          </a:p>
        </p:txBody>
      </p:sp>
      <p:cxnSp>
        <p:nvCxnSpPr>
          <p:cNvPr id="17" name="Straight Arrow Connector 16">
            <a:extLst>
              <a:ext uri="{FF2B5EF4-FFF2-40B4-BE49-F238E27FC236}">
                <a16:creationId xmlns:a16="http://schemas.microsoft.com/office/drawing/2014/main" id="{98C581BD-5415-4240-5CDE-EE805D176DFD}"/>
              </a:ext>
            </a:extLst>
          </p:cNvPr>
          <p:cNvCxnSpPr>
            <a:cxnSpLocks/>
          </p:cNvCxnSpPr>
          <p:nvPr/>
        </p:nvCxnSpPr>
        <p:spPr>
          <a:xfrm>
            <a:off x="5417949" y="5029200"/>
            <a:ext cx="0" cy="6096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TextBox 19">
            <a:extLst>
              <a:ext uri="{FF2B5EF4-FFF2-40B4-BE49-F238E27FC236}">
                <a16:creationId xmlns:a16="http://schemas.microsoft.com/office/drawing/2014/main" id="{6A32EAF7-51C8-6C8C-E34F-3D982CFA9042}"/>
              </a:ext>
            </a:extLst>
          </p:cNvPr>
          <p:cNvSpPr txBox="1"/>
          <p:nvPr/>
        </p:nvSpPr>
        <p:spPr>
          <a:xfrm>
            <a:off x="6583204" y="6473008"/>
            <a:ext cx="1562100" cy="369332"/>
          </a:xfrm>
          <a:prstGeom prst="rect">
            <a:avLst/>
          </a:prstGeom>
          <a:noFill/>
        </p:spPr>
        <p:txBody>
          <a:bodyPr wrap="square">
            <a:spAutoFit/>
          </a:bodyPr>
          <a:lstStyle/>
          <a:p>
            <a:r>
              <a:rPr lang="en-US" sz="1800" b="0" dirty="0">
                <a:solidFill>
                  <a:srgbClr val="C00000"/>
                </a:solidFill>
              </a:rPr>
              <a:t>SP after 1 POP</a:t>
            </a:r>
            <a:endParaRPr lang="en-US" dirty="0">
              <a:solidFill>
                <a:srgbClr val="C00000"/>
              </a:solidFill>
            </a:endParaRPr>
          </a:p>
        </p:txBody>
      </p:sp>
      <p:cxnSp>
        <p:nvCxnSpPr>
          <p:cNvPr id="21" name="Straight Arrow Connector 20">
            <a:extLst>
              <a:ext uri="{FF2B5EF4-FFF2-40B4-BE49-F238E27FC236}">
                <a16:creationId xmlns:a16="http://schemas.microsoft.com/office/drawing/2014/main" id="{50BCB6B3-8463-2EB8-C9F4-91B6D04C1A17}"/>
              </a:ext>
            </a:extLst>
          </p:cNvPr>
          <p:cNvCxnSpPr>
            <a:cxnSpLocks/>
          </p:cNvCxnSpPr>
          <p:nvPr/>
        </p:nvCxnSpPr>
        <p:spPr>
          <a:xfrm flipV="1">
            <a:off x="7391400" y="5823284"/>
            <a:ext cx="0" cy="66002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3654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1126316" y="2971800"/>
            <a:ext cx="1011431"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2" name="TextBox 11"/>
          <p:cNvSpPr txBox="1"/>
          <p:nvPr/>
        </p:nvSpPr>
        <p:spPr>
          <a:xfrm>
            <a:off x="3060750" y="2971800"/>
            <a:ext cx="1013034"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3" name="TextBox 12"/>
          <p:cNvSpPr txBox="1"/>
          <p:nvPr/>
        </p:nvSpPr>
        <p:spPr>
          <a:xfrm>
            <a:off x="4814152"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cxnSp>
        <p:nvCxnSpPr>
          <p:cNvPr id="16" name="Straight Arrow Connector 15"/>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37050" y="5850017"/>
            <a:ext cx="1269899" cy="369332"/>
          </a:xfrm>
          <a:prstGeom prst="rect">
            <a:avLst/>
          </a:prstGeom>
          <a:noFill/>
        </p:spPr>
        <p:txBody>
          <a:bodyPr wrap="none" rtlCol="0">
            <a:spAutoFit/>
          </a:bodyPr>
          <a:lstStyle/>
          <a:p>
            <a:r>
              <a:rPr lang="en-US" dirty="0"/>
              <a:t>Register R1:R0</a:t>
            </a:r>
            <a:r>
              <a:rPr lang="en-US" b="1" dirty="0">
                <a:solidFill>
                  <a:srgbClr val="FF0000"/>
                </a:solidFill>
                <a:latin typeface="Consolas" panose="020B0609020204030204" pitchFamily="49" charset="0"/>
              </a:rPr>
              <a:t/>
            </a:r>
          </a:p>
        </p:txBody>
      </p:sp>
      <p:sp>
        <p:nvSpPr>
          <p:cNvPr id="11" name="Rectangle 10"/>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reads d16 from stack</a:t>
            </a:r>
          </a:p>
        </p:txBody>
      </p:sp>
      <p:sp>
        <p:nvSpPr>
          <p:cNvPr id="4" name="Content Placeholder 3">
            <a:extLst>
              <a:ext uri="{FF2B5EF4-FFF2-40B4-BE49-F238E27FC236}">
                <a16:creationId xmlns:a16="http://schemas.microsoft.com/office/drawing/2014/main" id="{42BCDBB7-71A9-FB4A-2F12-ED2860D67D85}"/>
              </a:ext>
            </a:extLst>
          </p:cNvPr>
          <p:cNvSpPr>
            <a:spLocks noGrp="1"/>
          </p:cNvSpPr>
          <p:nvPr>
            <p:ph sz="quarter" idx="1"/>
          </p:nvPr>
        </p:nvSpPr>
        <p:spPr>
          <a:xfrm>
            <a:off x="457200" y="1962800"/>
            <a:ext cx="8229600" cy="594761"/>
          </a:xfrm>
        </p:spPr>
        <p:txBody>
          <a:bodyPr/>
          <a:lstStyle/>
          <a:p>
            <a:r>
              <a:rPr lang="en-US" dirty="0"/>
              <a:t>Fill in register names.</a:t>
            </a:r>
          </a:p>
        </p:txBody>
      </p:sp>
      <p:sp>
        <p:nvSpPr>
          <p:cNvPr id="14" name="TextBox 13">
            <a:extLst>
              <a:ext uri="{FF2B5EF4-FFF2-40B4-BE49-F238E27FC236}">
                <a16:creationId xmlns:a16="http://schemas.microsoft.com/office/drawing/2014/main" id="{778CF141-54B6-E918-D23B-B3681FDA3C22}"/>
              </a:ext>
            </a:extLst>
          </p:cNvPr>
          <p:cNvSpPr txBox="1"/>
          <p:nvPr/>
        </p:nvSpPr>
        <p:spPr>
          <a:xfrm>
            <a:off x="6438900"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3519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F123-61BE-0A54-6048-312CB4AFD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C5184-5A3F-8285-0FB9-846B988E0081}"/>
              </a:ext>
            </a:extLst>
          </p:cNvPr>
          <p:cNvSpPr>
            <a:spLocks noGrp="1"/>
          </p:cNvSpPr>
          <p:nvPr>
            <p:ph type="title"/>
          </p:nvPr>
        </p:nvSpPr>
        <p:spPr/>
        <p:txBody>
          <a:bodyPr>
            <a:normAutofit fontScale="90000"/>
          </a:bodyPr>
          <a:lstStyle/>
          <a:p>
            <a:r>
              <a:rPr lang="en-US" dirty="0"/>
              <a:t>Passing arguments and Returning Value ANS</a:t>
            </a:r>
          </a:p>
        </p:txBody>
      </p:sp>
      <p:sp>
        <p:nvSpPr>
          <p:cNvPr id="3" name="Slide Number Placeholder 2">
            <a:extLst>
              <a:ext uri="{FF2B5EF4-FFF2-40B4-BE49-F238E27FC236}">
                <a16:creationId xmlns:a16="http://schemas.microsoft.com/office/drawing/2014/main" id="{C5FC2F61-7664-A486-BB3B-2D444E9E0A8B}"/>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a:extLst>
              <a:ext uri="{FF2B5EF4-FFF2-40B4-BE49-F238E27FC236}">
                <a16:creationId xmlns:a16="http://schemas.microsoft.com/office/drawing/2014/main" id="{C421C88C-3034-FB0D-28E9-3DEB10FE7D0E}"/>
              </a:ext>
            </a:extLst>
          </p:cNvPr>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a:extLst>
              <a:ext uri="{FF2B5EF4-FFF2-40B4-BE49-F238E27FC236}">
                <a16:creationId xmlns:a16="http://schemas.microsoft.com/office/drawing/2014/main" id="{9ECC6E59-0FDE-A291-0344-D331F27C560E}"/>
              </a:ext>
            </a:extLst>
          </p:cNvPr>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a:extLst>
              <a:ext uri="{FF2B5EF4-FFF2-40B4-BE49-F238E27FC236}">
                <a16:creationId xmlns:a16="http://schemas.microsoft.com/office/drawing/2014/main" id="{7D804E98-9DCB-BE7E-0343-C88E43AA13BE}"/>
              </a:ext>
            </a:extLst>
          </p:cNvPr>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a:extLst>
              <a:ext uri="{FF2B5EF4-FFF2-40B4-BE49-F238E27FC236}">
                <a16:creationId xmlns:a16="http://schemas.microsoft.com/office/drawing/2014/main" id="{C52CD9AA-6268-F0F7-4215-97D8AE8E32BD}"/>
              </a:ext>
            </a:extLst>
          </p:cNvPr>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a:extLst>
              <a:ext uri="{FF2B5EF4-FFF2-40B4-BE49-F238E27FC236}">
                <a16:creationId xmlns:a16="http://schemas.microsoft.com/office/drawing/2014/main" id="{FBBDAD45-29FF-62DB-0790-4129EF0FFE0E}"/>
              </a:ext>
            </a:extLst>
          </p:cNvPr>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a:extLst>
              <a:ext uri="{FF2B5EF4-FFF2-40B4-BE49-F238E27FC236}">
                <a16:creationId xmlns:a16="http://schemas.microsoft.com/office/drawing/2014/main" id="{0CE50D12-7EEF-2322-4458-9E6BB251A31B}"/>
              </a:ext>
            </a:extLst>
          </p:cNvPr>
          <p:cNvSpPr txBox="1"/>
          <p:nvPr/>
        </p:nvSpPr>
        <p:spPr>
          <a:xfrm>
            <a:off x="1126316" y="2971800"/>
            <a:ext cx="1648208"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r1:r0</a:t>
            </a:r>
          </a:p>
        </p:txBody>
      </p:sp>
      <p:sp>
        <p:nvSpPr>
          <p:cNvPr id="12" name="TextBox 11">
            <a:extLst>
              <a:ext uri="{FF2B5EF4-FFF2-40B4-BE49-F238E27FC236}">
                <a16:creationId xmlns:a16="http://schemas.microsoft.com/office/drawing/2014/main" id="{1BF6FCE4-B778-D891-A539-32C9F31C665C}"/>
              </a:ext>
            </a:extLst>
          </p:cNvPr>
          <p:cNvSpPr txBox="1"/>
          <p:nvPr/>
        </p:nvSpPr>
        <p:spPr>
          <a:xfrm>
            <a:off x="3060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3" name="TextBox 12">
            <a:extLst>
              <a:ext uri="{FF2B5EF4-FFF2-40B4-BE49-F238E27FC236}">
                <a16:creationId xmlns:a16="http://schemas.microsoft.com/office/drawing/2014/main" id="{92808386-3B22-1A70-1D2E-E9457F9ACA75}"/>
              </a:ext>
            </a:extLst>
          </p:cNvPr>
          <p:cNvSpPr txBox="1"/>
          <p:nvPr/>
        </p:nvSpPr>
        <p:spPr>
          <a:xfrm>
            <a:off x="4814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a:extLst>
              <a:ext uri="{FF2B5EF4-FFF2-40B4-BE49-F238E27FC236}">
                <a16:creationId xmlns:a16="http://schemas.microsoft.com/office/drawing/2014/main" id="{A0A48D20-9467-A211-65EB-9B7D3330D92D}"/>
              </a:ext>
            </a:extLst>
          </p:cNvPr>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05BED-252D-C0B1-BCD5-C98E0E7BC7E0}"/>
              </a:ext>
            </a:extLst>
          </p:cNvPr>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539C0E9-CC64-D6E3-CE9D-3442B3E00ED2}"/>
              </a:ext>
            </a:extLst>
          </p:cNvPr>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E738B46-A3CD-B7DE-13FF-CB07BD7708E0}"/>
              </a:ext>
            </a:extLst>
          </p:cNvPr>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a:extLst>
              <a:ext uri="{FF2B5EF4-FFF2-40B4-BE49-F238E27FC236}">
                <a16:creationId xmlns:a16="http://schemas.microsoft.com/office/drawing/2014/main" id="{41D2F895-770F-85D2-1B67-C58EE3AC98FF}"/>
              </a:ext>
            </a:extLst>
          </p:cNvPr>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AE8DF0-7A95-F76D-8ABB-A1480862A3A8}"/>
              </a:ext>
            </a:extLst>
          </p:cNvPr>
          <p:cNvSpPr txBox="1"/>
          <p:nvPr/>
        </p:nvSpPr>
        <p:spPr>
          <a:xfrm>
            <a:off x="3937050" y="5850017"/>
            <a:ext cx="1269899" cy="369332"/>
          </a:xfrm>
          <a:prstGeom prst="rect">
            <a:avLst/>
          </a:prstGeom>
          <a:noFill/>
        </p:spPr>
        <p:txBody>
          <a:bodyPr wrap="none" rtlCol="0">
            <a:spAutoFit/>
          </a:bodyPr>
          <a:lstStyle/>
          <a:p>
            <a:r>
              <a:rPr lang="en-US" dirty="0"/>
              <a:t>Register R1:R0</a:t>
            </a:r>
            <a:r>
              <a:rPr lang="en-US" b="1" dirty="0">
                <a:solidFill>
                  <a:srgbClr val="FF0000"/>
                </a:solidFill>
                <a:latin typeface="Consolas" panose="020B0609020204030204" pitchFamily="49" charset="0"/>
              </a:rPr>
              <a:t/>
            </a:r>
          </a:p>
        </p:txBody>
      </p:sp>
      <p:sp>
        <p:nvSpPr>
          <p:cNvPr id="11" name="Rectangle 10">
            <a:extLst>
              <a:ext uri="{FF2B5EF4-FFF2-40B4-BE49-F238E27FC236}">
                <a16:creationId xmlns:a16="http://schemas.microsoft.com/office/drawing/2014/main" id="{E9E03112-E023-013F-1E04-3E5790D7A556}"/>
              </a:ext>
            </a:extLst>
          </p:cNvPr>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a:extLst>
              <a:ext uri="{FF2B5EF4-FFF2-40B4-BE49-F238E27FC236}">
                <a16:creationId xmlns:a16="http://schemas.microsoft.com/office/drawing/2014/main" id="{2A09A543-6103-44EB-8B1D-8744EF784763}"/>
              </a:ext>
            </a:extLst>
          </p:cNvPr>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reads d16 from stack</a:t>
            </a:r>
          </a:p>
        </p:txBody>
      </p:sp>
      <p:sp>
        <p:nvSpPr>
          <p:cNvPr id="4" name="Content Placeholder 3">
            <a:extLst>
              <a:ext uri="{FF2B5EF4-FFF2-40B4-BE49-F238E27FC236}">
                <a16:creationId xmlns:a16="http://schemas.microsoft.com/office/drawing/2014/main" id="{72717BE0-5FBD-4A0E-563C-52EA77FE0BE1}"/>
              </a:ext>
            </a:extLst>
          </p:cNvPr>
          <p:cNvSpPr>
            <a:spLocks noGrp="1"/>
          </p:cNvSpPr>
          <p:nvPr>
            <p:ph sz="quarter" idx="1"/>
          </p:nvPr>
        </p:nvSpPr>
        <p:spPr>
          <a:xfrm>
            <a:off x="457200" y="1962800"/>
            <a:ext cx="8229600" cy="595719"/>
          </a:xfrm>
        </p:spPr>
        <p:txBody>
          <a:bodyPr/>
          <a:lstStyle/>
          <a:p>
            <a:r>
              <a:rPr lang="en-US" dirty="0"/>
              <a:t>Fill in register names.</a:t>
            </a:r>
          </a:p>
        </p:txBody>
      </p:sp>
    </p:spTree>
    <p:extLst>
      <p:ext uri="{BB962C8B-B14F-4D97-AF65-F5344CB8AC3E}">
        <p14:creationId xmlns:p14="http://schemas.microsoft.com/office/powerpoint/2010/main" val="291806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p:txBody>
          <a:bodyPr/>
          <a:lstStyle/>
          <a:p>
            <a:r>
              <a:rPr lang="en-US" altLang="zh-CN" dirty="0"/>
              <a:t>W</a:t>
            </a:r>
            <a:r>
              <a:rPr lang="en-US" dirty="0"/>
              <a:t>hich registers are used to pass the arguments and return the result? </a:t>
            </a:r>
          </a:p>
        </p:txBody>
      </p:sp>
      <p:sp>
        <p:nvSpPr>
          <p:cNvPr id="5" name="Rectangle 4"/>
          <p:cNvSpPr/>
          <p:nvPr/>
        </p:nvSpPr>
        <p:spPr>
          <a:xfrm>
            <a:off x="304800" y="21336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2965774675"/>
              </p:ext>
            </p:extLst>
          </p:nvPr>
        </p:nvGraphicFramePr>
        <p:xfrm>
          <a:off x="685800" y="28358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742950">
                  <a:extLst>
                    <a:ext uri="{9D8B030D-6E8A-4147-A177-3AD203B41FA5}">
                      <a16:colId xmlns:a16="http://schemas.microsoft.com/office/drawing/2014/main" val="85967061"/>
                    </a:ext>
                  </a:extLst>
                </a:gridCol>
                <a:gridCol w="742950">
                  <a:extLst>
                    <a:ext uri="{9D8B030D-6E8A-4147-A177-3AD203B41FA5}">
                      <a16:colId xmlns:a16="http://schemas.microsoft.com/office/drawing/2014/main" val="2525421763"/>
                    </a:ext>
                  </a:extLst>
                </a:gridCol>
              </a:tblGrid>
              <a:tr h="370840">
                <a:tc>
                  <a:txBody>
                    <a:bodyPr/>
                    <a:lstStyle/>
                    <a:p>
                      <a:pPr algn="ctr"/>
                      <a:r>
                        <a:rPr lang="en-US" dirty="0"/>
                        <a:t>R0</a:t>
                      </a:r>
                    </a:p>
                  </a:txBody>
                  <a:tcPr/>
                </a:tc>
                <a:tc>
                  <a:txBody>
                    <a:bodyPr/>
                    <a:lstStyle/>
                    <a:p>
                      <a:pPr algn="ctr"/>
                      <a:r>
                        <a:rPr lang="en-US" dirty="0"/>
                        <a:t>R1</a:t>
                      </a:r>
                    </a:p>
                  </a:txBody>
                  <a:tcPr/>
                </a:tc>
                <a:tc>
                  <a:txBody>
                    <a:bodyPr/>
                    <a:lstStyle/>
                    <a:p>
                      <a:pPr algn="ctr"/>
                      <a:r>
                        <a:rPr lang="en-US" dirty="0"/>
                        <a:t>R2</a:t>
                      </a:r>
                    </a:p>
                  </a:txBody>
                  <a:tcPr/>
                </a:tc>
                <a:tc>
                  <a:txBody>
                    <a:bodyPr/>
                    <a:lstStyle/>
                    <a:p>
                      <a:pPr algn="ctr"/>
                      <a:r>
                        <a:rPr lang="en-US" dirty="0"/>
                        <a:t>R3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429716298"/>
              </p:ext>
            </p:extLst>
          </p:nvPr>
        </p:nvGraphicFramePr>
        <p:xfrm>
          <a:off x="3962397" y="2835886"/>
          <a:ext cx="4648203" cy="370840"/>
        </p:xfrm>
        <a:graphic>
          <a:graphicData uri="http://schemas.openxmlformats.org/drawingml/2006/table">
            <a:tbl>
              <a:tblPr firstRow="1" bandRow="1">
                <a:tableStyleId>{5940675A-B579-460E-94D1-54222C63F5DA}</a:tableStyleId>
              </a:tblPr>
              <a:tblGrid>
                <a:gridCol w="4648203">
                  <a:extLst>
                    <a:ext uri="{9D8B030D-6E8A-4147-A177-3AD203B41FA5}">
                      <a16:colId xmlns:a16="http://schemas.microsoft.com/office/drawing/2014/main" val="242172939"/>
                    </a:ext>
                  </a:extLst>
                </a:gridCol>
              </a:tblGrid>
              <a:tr h="370840">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05000" y="24808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334000" y="24808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3252337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altLang="zh-CN" dirty="0"/>
              <a:t>W</a:t>
            </a:r>
            <a:r>
              <a:rPr lang="en-US" dirty="0"/>
              <a:t>hich registers are used to pass the arguments and return the result? </a:t>
            </a:r>
          </a:p>
          <a:p>
            <a:endParaRPr lang="en-US" dirty="0"/>
          </a:p>
          <a:p>
            <a:endParaRPr lang="en-US" dirty="0"/>
          </a:p>
          <a:p>
            <a:endParaRPr lang="en-US" dirty="0"/>
          </a:p>
          <a:p>
            <a:endParaRPr lang="en-US" dirty="0"/>
          </a:p>
          <a:p>
            <a:r>
              <a:rPr lang="en-US" dirty="0"/>
              <a:t>Each argument of 8-bit char, or 16-bit short, is passed in one 32-bit register; cannot use 1 register to pass more than one argument</a:t>
            </a:r>
          </a:p>
          <a:p>
            <a:pPr lvl="1"/>
            <a:r>
              <a:rPr lang="en-US" dirty="0"/>
              <a:t>a1 (short) in R0.</a:t>
            </a:r>
          </a:p>
          <a:p>
            <a:pPr lvl="1"/>
            <a:r>
              <a:rPr lang="en-US" dirty="0"/>
              <a:t>a2 (char) in R1.</a:t>
            </a:r>
          </a:p>
          <a:p>
            <a:pPr lvl="1"/>
            <a:r>
              <a:rPr lang="en-US" dirty="0"/>
              <a:t>a3 (double) in R2 and R3.</a:t>
            </a:r>
          </a:p>
          <a:p>
            <a:pPr lvl="1"/>
            <a:r>
              <a:rPr lang="en-US" dirty="0"/>
              <a:t>a4 (int) on the stack.</a:t>
            </a:r>
          </a:p>
          <a:p>
            <a:pPr lvl="1"/>
            <a:r>
              <a:rPr lang="en-US" dirty="0"/>
              <a:t>a5 (char) on the stack. The result (long, 32 bits) is returned in R0.</a:t>
            </a:r>
          </a:p>
          <a:p>
            <a:endParaRPr lang="en-US" dirty="0"/>
          </a:p>
        </p:txBody>
      </p:sp>
      <p:sp>
        <p:nvSpPr>
          <p:cNvPr id="5" name="Rectangle 4"/>
          <p:cNvSpPr/>
          <p:nvPr/>
        </p:nvSpPr>
        <p:spPr>
          <a:xfrm>
            <a:off x="372140" y="20574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4156475260"/>
              </p:ext>
            </p:extLst>
          </p:nvPr>
        </p:nvGraphicFramePr>
        <p:xfrm>
          <a:off x="753140" y="27596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1485900">
                  <a:extLst>
                    <a:ext uri="{9D8B030D-6E8A-4147-A177-3AD203B41FA5}">
                      <a16:colId xmlns:a16="http://schemas.microsoft.com/office/drawing/2014/main" val="85967061"/>
                    </a:ext>
                  </a:extLst>
                </a:gridCol>
              </a:tblGrid>
              <a:tr h="370840">
                <a:tc>
                  <a:txBody>
                    <a:bodyPr/>
                    <a:lstStyle/>
                    <a:p>
                      <a:pPr algn="ctr"/>
                      <a:r>
                        <a:rPr lang="en-US" altLang="zh-CN" dirty="0"/>
                        <a:t>a1</a:t>
                      </a:r>
                      <a:endParaRPr lang="en-US" dirty="0"/>
                    </a:p>
                  </a:txBody>
                  <a:tcPr/>
                </a:tc>
                <a:tc>
                  <a:txBody>
                    <a:bodyPr/>
                    <a:lstStyle/>
                    <a:p>
                      <a:pPr algn="ctr"/>
                      <a:r>
                        <a:rPr lang="en-US" dirty="0"/>
                        <a:t>a2</a:t>
                      </a:r>
                    </a:p>
                  </a:txBody>
                  <a:tcPr/>
                </a:tc>
                <a:tc>
                  <a:txBody>
                    <a:bodyPr/>
                    <a:lstStyle/>
                    <a:p>
                      <a:pPr algn="ctr"/>
                      <a:r>
                        <a:rPr lang="en-US" dirty="0"/>
                        <a:t>a3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855738313"/>
              </p:ext>
            </p:extLst>
          </p:nvPr>
        </p:nvGraphicFramePr>
        <p:xfrm>
          <a:off x="4029737" y="2759686"/>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3320145">
                  <a:extLst>
                    <a:ext uri="{9D8B030D-6E8A-4147-A177-3AD203B41FA5}">
                      <a16:colId xmlns:a16="http://schemas.microsoft.com/office/drawing/2014/main" val="85967061"/>
                    </a:ext>
                  </a:extLst>
                </a:gridCol>
              </a:tblGrid>
              <a:tr h="370840">
                <a:tc>
                  <a:txBody>
                    <a:bodyPr/>
                    <a:lstStyle/>
                    <a:p>
                      <a:pPr algn="ctr"/>
                      <a:r>
                        <a:rPr lang="en-US"/>
                        <a:t>a4</a:t>
                      </a:r>
                      <a:endParaRPr lang="en-US" dirty="0"/>
                    </a:p>
                  </a:txBody>
                  <a:tcPr/>
                </a:tc>
                <a:tc>
                  <a:txBody>
                    <a:bodyPr/>
                    <a:lstStyle/>
                    <a:p>
                      <a:pPr algn="ctr"/>
                      <a:r>
                        <a:rPr lang="en-US" dirty="0"/>
                        <a:t>a5</a:t>
                      </a:r>
                    </a:p>
                  </a:txBody>
                  <a:tcPr/>
                </a:tc>
                <a:tc>
                  <a:txBody>
                    <a:bodyPr/>
                    <a:lstStyle/>
                    <a:p>
                      <a:pPr algn="ctr"/>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72340" y="24046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401340" y="24046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41479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CAEB-CD92-F6E6-96EC-622670592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35D03-E63B-948E-7B28-FE2BC0D48EA8}"/>
              </a:ext>
            </a:extLst>
          </p:cNvPr>
          <p:cNvSpPr>
            <a:spLocks noGrp="1"/>
          </p:cNvSpPr>
          <p:nvPr>
            <p:ph type="title"/>
          </p:nvPr>
        </p:nvSpPr>
        <p:spPr/>
        <p:txBody>
          <a:bodyPr>
            <a:normAutofit fontScale="90000"/>
          </a:bodyPr>
          <a:lstStyle/>
          <a:p>
            <a:r>
              <a:rPr lang="en-US" dirty="0"/>
              <a:t>What’s wrong? Passing arguments and Returning Value</a:t>
            </a:r>
          </a:p>
        </p:txBody>
      </p:sp>
      <p:sp>
        <p:nvSpPr>
          <p:cNvPr id="3" name="Slide Number Placeholder 2">
            <a:extLst>
              <a:ext uri="{FF2B5EF4-FFF2-40B4-BE49-F238E27FC236}">
                <a16:creationId xmlns:a16="http://schemas.microsoft.com/office/drawing/2014/main" id="{F2A24FAD-DC69-0014-9A87-E1D9B0AFB91E}"/>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11" name="Rectangle 10">
            <a:extLst>
              <a:ext uri="{FF2B5EF4-FFF2-40B4-BE49-F238E27FC236}">
                <a16:creationId xmlns:a16="http://schemas.microsoft.com/office/drawing/2014/main" id="{41B1B8CA-B3E7-1ACE-322F-D0B4A4D4E57D}"/>
              </a:ext>
            </a:extLst>
          </p:cNvPr>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a:extLst>
              <a:ext uri="{FF2B5EF4-FFF2-40B4-BE49-F238E27FC236}">
                <a16:creationId xmlns:a16="http://schemas.microsoft.com/office/drawing/2014/main" id="{9BD5669A-1FE1-C6BC-0617-481BE80F1863}"/>
              </a:ext>
            </a:extLst>
          </p:cNvPr>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a:extLst>
              <a:ext uri="{FF2B5EF4-FFF2-40B4-BE49-F238E27FC236}">
                <a16:creationId xmlns:a16="http://schemas.microsoft.com/office/drawing/2014/main" id="{B5A46639-51AC-D259-C3DB-1521D258BD49}"/>
              </a:ext>
            </a:extLst>
          </p:cNvPr>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a:extLst>
              <a:ext uri="{FF2B5EF4-FFF2-40B4-BE49-F238E27FC236}">
                <a16:creationId xmlns:a16="http://schemas.microsoft.com/office/drawing/2014/main" id="{D4F04556-2048-4F19-A763-9BBFFFCAD277}"/>
              </a:ext>
            </a:extLst>
          </p:cNvPr>
          <p:cNvSpPr txBox="1"/>
          <p:nvPr/>
        </p:nvSpPr>
        <p:spPr>
          <a:xfrm>
            <a:off x="449580" y="3256122"/>
            <a:ext cx="2464136"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p:txBody>
      </p:sp>
      <p:sp>
        <p:nvSpPr>
          <p:cNvPr id="27" name="TextBox 26">
            <a:extLst>
              <a:ext uri="{FF2B5EF4-FFF2-40B4-BE49-F238E27FC236}">
                <a16:creationId xmlns:a16="http://schemas.microsoft.com/office/drawing/2014/main" id="{6AC2BFAF-703A-1607-3F8B-C3C6EAC24548}"/>
              </a:ext>
            </a:extLst>
          </p:cNvPr>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a:extLst>
              <a:ext uri="{FF2B5EF4-FFF2-40B4-BE49-F238E27FC236}">
                <a16:creationId xmlns:a16="http://schemas.microsoft.com/office/drawing/2014/main" id="{5A07EE5F-FDFB-4DFD-A418-4743BE043075}"/>
              </a:ext>
            </a:extLst>
          </p:cNvPr>
          <p:cNvSpPr txBox="1"/>
          <p:nvPr/>
        </p:nvSpPr>
        <p:spPr>
          <a:xfrm>
            <a:off x="3607914" y="3305718"/>
            <a:ext cx="3730508"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solidFill>
                  <a:schemeClr val="tx1"/>
                </a:solidFill>
                <a:latin typeface="Consolas" panose="020B0609020204030204" pitchFamily="49" charset="0"/>
              </a:rPr>
              <a:t>  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397021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wrong? Passing arguments and Returning Value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11" name="Rectangle 10"/>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p:cNvSpPr txBox="1"/>
          <p:nvPr/>
        </p:nvSpPr>
        <p:spPr>
          <a:xfrm>
            <a:off x="449580" y="3256122"/>
            <a:ext cx="2464136" cy="258532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latin typeface="Consolas" panose="020B0609020204030204" pitchFamily="49" charset="0"/>
              </a:rPr>
              <a:t>  </a:t>
            </a:r>
            <a:r>
              <a:rPr lang="en-US" b="1" dirty="0">
                <a:solidFill>
                  <a:srgbClr val="FF0000"/>
                </a:solidFill>
                <a:latin typeface="Consolas" panose="020B0609020204030204" pitchFamily="49" charset="0"/>
              </a:rPr>
              <a:t>PUSH {r0}</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a:p>
            <a:r>
              <a:rPr lang="en-US" dirty="0">
                <a:latin typeface="Consolas" panose="020B0609020204030204" pitchFamily="49" charset="0"/>
              </a:rPr>
              <a:t>  </a:t>
            </a:r>
            <a:r>
              <a:rPr lang="en-US" b="1" dirty="0">
                <a:solidFill>
                  <a:srgbClr val="FF0000"/>
                </a:solidFill>
                <a:latin typeface="Consolas" panose="020B0609020204030204" pitchFamily="49" charset="0"/>
              </a:rPr>
              <a:t>ADD sp, sp, #4</a:t>
            </a:r>
          </a:p>
        </p:txBody>
      </p:sp>
      <p:sp>
        <p:nvSpPr>
          <p:cNvPr id="27" name="TextBox 26"/>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3607914" y="3305718"/>
            <a:ext cx="4996881"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b="1" dirty="0">
                <a:solidFill>
                  <a:srgbClr val="FF0000"/>
                </a:solidFill>
                <a:latin typeface="Consolas" panose="020B0609020204030204" pitchFamily="49" charset="0"/>
              </a:rPr>
              <a:t>  LDR r1, [</a:t>
            </a:r>
            <a:r>
              <a:rPr lang="en-US" b="1" dirty="0" err="1">
                <a:solidFill>
                  <a:srgbClr val="FF0000"/>
                </a:solidFill>
                <a:latin typeface="Consolas" panose="020B0609020204030204" pitchFamily="49" charset="0"/>
              </a:rPr>
              <a:t>sp</a:t>
            </a:r>
            <a:r>
              <a:rPr lang="en-US" b="1" dirty="0">
                <a:solidFill>
                  <a:srgbClr val="FF0000"/>
                </a:solidFill>
                <a:latin typeface="Consolas" panose="020B0609020204030204" pitchFamily="49" charset="0"/>
              </a:rPr>
              <a:t>, #0] </a:t>
            </a:r>
            <a:r>
              <a:rPr lang="en-US" b="1" dirty="0">
                <a:solidFill>
                  <a:schemeClr val="bg1">
                    <a:lumMod val="50000"/>
                  </a:schemeClr>
                </a:solidFill>
                <a:latin typeface="Consolas" panose="020B0609020204030204" pitchFamily="49" charset="0"/>
              </a:rPr>
              <a:t>; read argument e32</a:t>
            </a:r>
          </a:p>
          <a:p>
            <a:r>
              <a:rPr lang="en-US" dirty="0">
                <a:solidFill>
                  <a:schemeClr val="bg1">
                    <a:lumMod val="50000"/>
                  </a:schemeClr>
                </a:solidFill>
                <a:latin typeface="Consolas" panose="020B0609020204030204" pitchFamily="49" charset="0"/>
              </a:rPr>
              <a:t>  </a:t>
            </a:r>
            <a:r>
              <a:rPr lang="en-US" dirty="0">
                <a:solidFill>
                  <a:schemeClr val="tx1"/>
                </a:solidFill>
                <a:latin typeface="Consolas" panose="020B0609020204030204" pitchFamily="49" charset="0"/>
              </a:rPr>
              <a:t>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
        <p:nvSpPr>
          <p:cNvPr id="6" name="Rectangle 5"/>
          <p:cNvSpPr/>
          <p:nvPr/>
        </p:nvSpPr>
        <p:spPr>
          <a:xfrm>
            <a:off x="914400" y="5854799"/>
            <a:ext cx="4861560" cy="646331"/>
          </a:xfrm>
          <a:prstGeom prst="rect">
            <a:avLst/>
          </a:prstGeom>
        </p:spPr>
        <p:txBody>
          <a:bodyPr wrap="square">
            <a:spAutoFit/>
          </a:bodyPr>
          <a:lstStyle/>
          <a:p>
            <a:r>
              <a:rPr lang="en-US" dirty="0"/>
              <a:t>The caller is responsible to pop extra arguments out of the stack after the subroutine returns.</a:t>
            </a:r>
          </a:p>
        </p:txBody>
      </p:sp>
    </p:spTree>
    <p:extLst>
      <p:ext uri="{BB962C8B-B14F-4D97-AF65-F5344CB8AC3E}">
        <p14:creationId xmlns:p14="http://schemas.microsoft.com/office/powerpoint/2010/main" val="2345755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69777-22BA-A4F2-A717-CA88FA78E82B}"/>
              </a:ext>
            </a:extLst>
          </p:cNvPr>
          <p:cNvSpPr>
            <a:spLocks noGrp="1"/>
          </p:cNvSpPr>
          <p:nvPr>
            <p:ph type="title"/>
          </p:nvPr>
        </p:nvSpPr>
        <p:spPr/>
        <p:txBody>
          <a:bodyPr/>
          <a:lstStyle/>
          <a:p>
            <a:r>
              <a:rPr lang="en-US" altLang="zh-CN" dirty="0"/>
              <a:t>What </a:t>
            </a:r>
            <a:r>
              <a:rPr lang="en-US" altLang="zh-CN"/>
              <a:t>is Wrong?</a:t>
            </a:r>
            <a:endParaRPr lang="en-US"/>
          </a:p>
        </p:txBody>
      </p:sp>
      <p:sp>
        <p:nvSpPr>
          <p:cNvPr id="3" name="Slide Number Placeholder 2">
            <a:extLst>
              <a:ext uri="{FF2B5EF4-FFF2-40B4-BE49-F238E27FC236}">
                <a16:creationId xmlns:a16="http://schemas.microsoft.com/office/drawing/2014/main" id="{B3A26B7A-A91C-8739-59F7-FED523EC9EA9}"/>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a:extLst>
              <a:ext uri="{FF2B5EF4-FFF2-40B4-BE49-F238E27FC236}">
                <a16:creationId xmlns:a16="http://schemas.microsoft.com/office/drawing/2014/main" id="{5998200F-E2E0-2FC9-A24B-3D85B65165B0}"/>
              </a:ext>
            </a:extLst>
          </p:cNvPr>
          <p:cNvSpPr>
            <a:spLocks noGrp="1"/>
          </p:cNvSpPr>
          <p:nvPr>
            <p:ph sz="quarter" idx="1"/>
          </p:nvPr>
        </p:nvSpPr>
        <p:spPr/>
        <p:txBody>
          <a:bodyPr/>
          <a:lstStyle/>
          <a:p>
            <a:endParaRPr lang="en-US" dirty="0"/>
          </a:p>
        </p:txBody>
      </p:sp>
      <p:graphicFrame>
        <p:nvGraphicFramePr>
          <p:cNvPr id="5" name="Table 4">
            <a:extLst>
              <a:ext uri="{FF2B5EF4-FFF2-40B4-BE49-F238E27FC236}">
                <a16:creationId xmlns:a16="http://schemas.microsoft.com/office/drawing/2014/main" id="{A554D579-850A-433C-2F4C-D7CBDE33F5FD}"/>
              </a:ext>
            </a:extLst>
          </p:cNvPr>
          <p:cNvGraphicFramePr>
            <a:graphicFrameLocks noGrp="1"/>
          </p:cNvGraphicFramePr>
          <p:nvPr>
            <p:extLst>
              <p:ext uri="{D42A27DB-BD31-4B8C-83A1-F6EECF244321}">
                <p14:modId xmlns:p14="http://schemas.microsoft.com/office/powerpoint/2010/main" val="1546225091"/>
              </p:ext>
            </p:extLst>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 int32_t</a:t>
                      </a:r>
                      <a:r>
                        <a:rPr lang="fr-FR" sz="1400" dirty="0">
                          <a:effectLst/>
                          <a:latin typeface="Consolas" panose="020B0609020204030204" pitchFamily="49" charset="0"/>
                          <a:cs typeface="Consolas" panose="020B0609020204030204" pitchFamily="49" charset="0"/>
                        </a:rPr>
                        <a: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7F3EEF33-13EC-BB93-CE67-9DD4DBFC221D}"/>
              </a:ext>
            </a:extLst>
          </p:cNvPr>
          <p:cNvGraphicFramePr>
            <a:graphicFrameLocks noGrp="1"/>
          </p:cNvGraphicFramePr>
          <p:nvPr>
            <p:extLst>
              <p:ext uri="{D42A27DB-BD31-4B8C-83A1-F6EECF244321}">
                <p14:modId xmlns:p14="http://schemas.microsoft.com/office/powerpoint/2010/main" val="3133712184"/>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r2 ; sum += a3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MOV r1, r3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BX pc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20051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3AA5-7512-22DD-1951-CBA6BFFCB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B2E9D-CA3F-A924-BCF5-E675F73BE73B}"/>
              </a:ext>
            </a:extLst>
          </p:cNvPr>
          <p:cNvSpPr>
            <a:spLocks noGrp="1"/>
          </p:cNvSpPr>
          <p:nvPr>
            <p:ph type="title"/>
          </p:nvPr>
        </p:nvSpPr>
        <p:spPr/>
        <p:txBody>
          <a:bodyPr/>
          <a:lstStyle/>
          <a:p>
            <a:r>
              <a:rPr lang="en-US" altLang="zh-CN" dirty="0"/>
              <a:t>What is Wrong? ANS</a:t>
            </a:r>
            <a:endParaRPr lang="en-US" dirty="0"/>
          </a:p>
        </p:txBody>
      </p:sp>
      <p:sp>
        <p:nvSpPr>
          <p:cNvPr id="3" name="Slide Number Placeholder 2">
            <a:extLst>
              <a:ext uri="{FF2B5EF4-FFF2-40B4-BE49-F238E27FC236}">
                <a16:creationId xmlns:a16="http://schemas.microsoft.com/office/drawing/2014/main" id="{239BD184-7857-E916-5337-0E4E92B37032}"/>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888CA4B8-E23A-61B6-D388-BD1EFFC38D5F}"/>
              </a:ext>
            </a:extLst>
          </p:cNvPr>
          <p:cNvSpPr>
            <a:spLocks noGrp="1"/>
          </p:cNvSpPr>
          <p:nvPr>
            <p:ph sz="quarter" idx="1"/>
          </p:nvPr>
        </p:nvSpPr>
        <p:spPr>
          <a:xfrm>
            <a:off x="152400" y="1270963"/>
            <a:ext cx="2544097" cy="4937760"/>
          </a:xfrm>
        </p:spPr>
        <p:txBody>
          <a:bodyPr/>
          <a:lstStyle/>
          <a:p>
            <a:r>
              <a:rPr lang="en-US" dirty="0"/>
              <a:t>Return result should be put into r0, not r1; also ADD r3, r3, r2 (not r0)</a:t>
            </a:r>
          </a:p>
          <a:p>
            <a:r>
              <a:rPr lang="en-US" dirty="0"/>
              <a:t>BX </a:t>
            </a:r>
            <a:r>
              <a:rPr lang="en-US" dirty="0" err="1"/>
              <a:t>lr</a:t>
            </a:r>
            <a:r>
              <a:rPr lang="en-US" dirty="0"/>
              <a:t> returns to caller</a:t>
            </a:r>
          </a:p>
          <a:p>
            <a:r>
              <a:rPr lang="en-US" dirty="0"/>
              <a:t>BX pc is not a return and will re-execute at the PC value</a:t>
            </a:r>
          </a:p>
        </p:txBody>
      </p:sp>
      <p:graphicFrame>
        <p:nvGraphicFramePr>
          <p:cNvPr id="5" name="Table 4">
            <a:extLst>
              <a:ext uri="{FF2B5EF4-FFF2-40B4-BE49-F238E27FC236}">
                <a16:creationId xmlns:a16="http://schemas.microsoft.com/office/drawing/2014/main" id="{28ABCD11-A9ED-D44F-DB84-BC8E920599B7}"/>
              </a:ext>
            </a:extLst>
          </p:cNvPr>
          <p:cNvGraphicFramePr>
            <a:graphicFrameLocks noGrp="1"/>
          </p:cNvGraphicFramePr>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 int32_t</a:t>
                      </a:r>
                      <a:r>
                        <a:rPr lang="fr-FR" sz="1400" dirty="0">
                          <a:effectLst/>
                          <a:latin typeface="Consolas" panose="020B0609020204030204" pitchFamily="49" charset="0"/>
                          <a:cs typeface="Consolas" panose="020B0609020204030204" pitchFamily="49" charset="0"/>
                        </a:rPr>
                        <a: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63F81107-A59E-5244-C57F-4AFF69A7D613}"/>
              </a:ext>
            </a:extLst>
          </p:cNvPr>
          <p:cNvGraphicFramePr>
            <a:graphicFrameLocks noGrp="1"/>
          </p:cNvGraphicFramePr>
          <p:nvPr>
            <p:extLst>
              <p:ext uri="{D42A27DB-BD31-4B8C-83A1-F6EECF244321}">
                <p14:modId xmlns:p14="http://schemas.microsoft.com/office/powerpoint/2010/main" val="2021965596"/>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r3, r2 ; sum += a3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MOV r0, r3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BX </a:t>
                      </a:r>
                      <a:r>
                        <a:rPr lang="en-US" altLang="zh-CN" sz="1600" dirty="0" err="1">
                          <a:solidFill>
                            <a:srgbClr val="FF0000"/>
                          </a:solidFill>
                          <a:effectLst/>
                          <a:latin typeface="Consolas" panose="020B0609020204030204" pitchFamily="49" charset="0"/>
                          <a:cs typeface="Consolas" panose="020B0609020204030204" pitchFamily="49" charset="0"/>
                        </a:rPr>
                        <a:t>lr</a:t>
                      </a:r>
                      <a:endParaRPr lang="pt-BR" sz="1600"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1427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C4F0-89D8-54C1-7B5F-442BB66DAAA7}"/>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04ACEC4B-05BD-C502-9FB9-FEB63BA9F5F4}"/>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4C97CD4C-D1B7-839F-818C-C650C0AA8892}"/>
              </a:ext>
            </a:extLst>
          </p:cNvPr>
          <p:cNvSpPr>
            <a:spLocks noGrp="1"/>
          </p:cNvSpPr>
          <p:nvPr>
            <p:ph sz="quarter" idx="1"/>
          </p:nvPr>
        </p:nvSpPr>
        <p:spPr/>
        <p:txBody>
          <a:bodyPr/>
          <a:lstStyle/>
          <a:p>
            <a:r>
              <a:rPr lang="en-US" dirty="0"/>
              <a:t>Write out the sequence of values of r0 and r7 after </a:t>
            </a:r>
            <a:r>
              <a:rPr lang="en-US"/>
              <a:t>running this program. </a:t>
            </a:r>
            <a:endParaRPr lang="en-US" dirty="0"/>
          </a:p>
        </p:txBody>
      </p:sp>
      <p:sp>
        <p:nvSpPr>
          <p:cNvPr id="5" name="TextBox 4">
            <a:extLst>
              <a:ext uri="{FF2B5EF4-FFF2-40B4-BE49-F238E27FC236}">
                <a16:creationId xmlns:a16="http://schemas.microsoft.com/office/drawing/2014/main" id="{E5333230-46BA-8663-0449-A907C073A049}"/>
              </a:ext>
            </a:extLst>
          </p:cNvPr>
          <p:cNvSpPr txBox="1"/>
          <p:nvPr/>
        </p:nvSpPr>
        <p:spPr>
          <a:xfrm>
            <a:off x="866618" y="2125087"/>
            <a:ext cx="3454460" cy="403187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a:t>
            </a:r>
          </a:p>
          <a:p>
            <a:r>
              <a:rPr lang="en-US" sz="1600" dirty="0">
                <a:latin typeface="Consolas" panose="020B0609020204030204" pitchFamily="49" charset="0"/>
                <a:cs typeface="Consolas" panose="020B0609020204030204" pitchFamily="49" charset="0"/>
              </a:rPr>
              <a:t>        bl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a:t>
            </a:r>
          </a:p>
          <a:p>
            <a:r>
              <a:rPr lang="en-US" sz="1600" dirty="0">
                <a:latin typeface="Consolas" panose="020B0609020204030204" pitchFamily="49" charset="0"/>
                <a:cs typeface="Consolas" panose="020B0609020204030204" pitchFamily="49" charset="0"/>
              </a:rPr>
              <a:t>        mov     r0, #1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937750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D278-9055-1654-5493-D4D5C252F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67A95-DEC2-DAE0-E275-60B265AA044E}"/>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74502889-1E6F-132B-00E5-EBBFD6734866}"/>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0707AC2E-44F3-B02C-EC23-E5EB61FA94EB}"/>
              </a:ext>
            </a:extLst>
          </p:cNvPr>
          <p:cNvSpPr>
            <a:spLocks noGrp="1"/>
          </p:cNvSpPr>
          <p:nvPr>
            <p:ph sz="quarter" idx="1"/>
          </p:nvPr>
        </p:nvSpPr>
        <p:spPr>
          <a:xfrm>
            <a:off x="473765" y="1082040"/>
            <a:ext cx="8229600" cy="4937760"/>
          </a:xfrm>
        </p:spPr>
        <p:txBody>
          <a:bodyPr>
            <a:normAutofit/>
          </a:bodyPr>
          <a:lstStyle/>
          <a:p>
            <a:r>
              <a:rPr lang="en-US" sz="1800" dirty="0"/>
              <a:t>It starts with r0 = 1. It loops, incrementing r0 each time. When r0 reaches 5, it calls subroutine call, which adds 255 to r7 and resets r0 to 1. Control returns to main, and the cycle repeats. So the pattern goes like this:</a:t>
            </a:r>
          </a:p>
          <a:p>
            <a:r>
              <a:rPr lang="en-US" sz="1800" dirty="0"/>
              <a:t>r0: 1 → 2 → 3 → 4 → 5 → (call resets to 1)</a:t>
            </a:r>
          </a:p>
          <a:p>
            <a:r>
              <a:rPr lang="en-US" sz="1800" dirty="0"/>
              <a:t>r7: +255 each time r0 reaches 5</a:t>
            </a:r>
          </a:p>
        </p:txBody>
      </p:sp>
      <p:sp>
        <p:nvSpPr>
          <p:cNvPr id="5" name="TextBox 4">
            <a:extLst>
              <a:ext uri="{FF2B5EF4-FFF2-40B4-BE49-F238E27FC236}">
                <a16:creationId xmlns:a16="http://schemas.microsoft.com/office/drawing/2014/main" id="{A84A8A79-412F-4394-2139-FF1AAAAEDB7A}"/>
              </a:ext>
            </a:extLst>
          </p:cNvPr>
          <p:cNvSpPr txBox="1"/>
          <p:nvPr/>
        </p:nvSpPr>
        <p:spPr>
          <a:xfrm>
            <a:off x="888940" y="2690237"/>
            <a:ext cx="7366119" cy="403187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 start: r0 = 1</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   @ increment r0</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 compare r0 to 5</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 if not equal, go to skip</a:t>
            </a:r>
          </a:p>
          <a:p>
            <a:r>
              <a:rPr lang="en-US" sz="1600" dirty="0">
                <a:latin typeface="Consolas" panose="020B0609020204030204" pitchFamily="49" charset="0"/>
                <a:cs typeface="Consolas" panose="020B0609020204030204" pitchFamily="49" charset="0"/>
              </a:rPr>
              <a:t>        bl      call         @ if equal, branch-and-link to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 unconditional branch back to main</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 @ add 255 to r7 (side-effect)</a:t>
            </a:r>
          </a:p>
          <a:p>
            <a:r>
              <a:rPr lang="en-US" sz="1600" dirty="0">
                <a:latin typeface="Consolas" panose="020B0609020204030204" pitchFamily="49" charset="0"/>
                <a:cs typeface="Consolas" panose="020B0609020204030204" pitchFamily="49" charset="0"/>
              </a:rPr>
              <a:t>        mov     r0, #1       @ reset r0 to 1</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 return (branch to link register)</a:t>
            </a:r>
          </a:p>
        </p:txBody>
      </p:sp>
    </p:spTree>
    <p:extLst>
      <p:ext uri="{BB962C8B-B14F-4D97-AF65-F5344CB8AC3E}">
        <p14:creationId xmlns:p14="http://schemas.microsoft.com/office/powerpoint/2010/main" val="311085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FAD6-E4B6-9B88-FA7A-9F38A7C51248}"/>
              </a:ext>
            </a:extLst>
          </p:cNvPr>
          <p:cNvSpPr>
            <a:spLocks noGrp="1"/>
          </p:cNvSpPr>
          <p:nvPr>
            <p:ph type="title"/>
          </p:nvPr>
        </p:nvSpPr>
        <p:spPr/>
        <p:txBody>
          <a:bodyPr/>
          <a:lstStyle/>
          <a:p>
            <a:r>
              <a:rPr lang="en-US" dirty="0" err="1"/>
              <a:t>toLower</a:t>
            </a:r>
            <a:endParaRPr lang="en-US" dirty="0"/>
          </a:p>
        </p:txBody>
      </p:sp>
      <p:sp>
        <p:nvSpPr>
          <p:cNvPr id="3" name="Slide Number Placeholder 2">
            <a:extLst>
              <a:ext uri="{FF2B5EF4-FFF2-40B4-BE49-F238E27FC236}">
                <a16:creationId xmlns:a16="http://schemas.microsoft.com/office/drawing/2014/main" id="{406B6A81-95A1-E1AF-809E-6F8C58EA574E}"/>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a:extLst>
              <a:ext uri="{FF2B5EF4-FFF2-40B4-BE49-F238E27FC236}">
                <a16:creationId xmlns:a16="http://schemas.microsoft.com/office/drawing/2014/main" id="{B1EBE5EF-493B-E11A-1B1D-CCABF51AA9D7}"/>
              </a:ext>
            </a:extLst>
          </p:cNvPr>
          <p:cNvGraphicFramePr>
            <a:graphicFrameLocks noGrp="1"/>
          </p:cNvGraphicFramePr>
          <p:nvPr>
            <p:extLst>
              <p:ext uri="{D42A27DB-BD31-4B8C-83A1-F6EECF244321}">
                <p14:modId xmlns:p14="http://schemas.microsoft.com/office/powerpoint/2010/main" val="678379025"/>
              </p:ext>
            </p:extLst>
          </p:nvPr>
        </p:nvGraphicFramePr>
        <p:xfrm>
          <a:off x="228600" y="1385857"/>
          <a:ext cx="4800600" cy="4693920"/>
        </p:xfrm>
        <a:graphic>
          <a:graphicData uri="http://schemas.openxmlformats.org/drawingml/2006/table">
            <a:tbl>
              <a:tblPr firstRow="1" firstCol="1" bandRow="1">
                <a:tableStyleId>{5940675A-B579-460E-94D1-54222C63F5DA}</a:tableStyleId>
              </a:tblPr>
              <a:tblGrid>
                <a:gridCol w="48006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#include &lt;</a:t>
                      </a:r>
                      <a:r>
                        <a:rPr kumimoji="0" lang="en-US" sz="1400" b="0" i="0" kern="1200" dirty="0" err="1">
                          <a:solidFill>
                            <a:schemeClr val="tx1"/>
                          </a:solidFill>
                          <a:effectLst/>
                          <a:latin typeface="Consolas" panose="020B0609020204030204" pitchFamily="49" charset="0"/>
                          <a:ea typeface="+mn-ea"/>
                          <a:cs typeface="+mn-cs"/>
                        </a:rPr>
                        <a:t>stdio.h</a:t>
                      </a:r>
                      <a:r>
                        <a:rPr kumimoji="0" lang="en-US" sz="1400" b="0" i="0" kern="1200" dirty="0">
                          <a:solidFill>
                            <a:schemeClr val="tx1"/>
                          </a:solidFill>
                          <a:effectLst/>
                          <a:latin typeface="Consolas" panose="020B0609020204030204" pitchFamily="49" charset="0"/>
                          <a:ea typeface="+mn-ea"/>
                          <a:cs typeface="+mn-cs"/>
                        </a:rPr>
                        <a:t>&gt;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extern int toLower(int); /* assembler routine */</a:t>
                      </a:r>
                      <a:r>
                        <a:rPr kumimoji="0" lang="en-US" sz="1400" b="0" i="0" kern="1200" dirty="0">
                          <a:solidFill>
                            <a:schemeClr val="tx1"/>
                          </a:solidFill>
                          <a:effectLst/>
                          <a:latin typeface="Consolas" panose="020B0609020204030204" pitchFamily="49" charset="0"/>
                          <a:ea typeface="+mn-ea"/>
                          <a:cs typeface="+mn-cs"/>
                        </a:rPr>
                        <a:t/>
                      </a:r>
                      <a:r>
                        <a:rPr kumimoji="0" lang="en-US" sz="1400" b="1" i="0" kern="1200" dirty="0">
                          <a:solidFill>
                            <a:schemeClr val="tx1"/>
                          </a:solidFill>
                          <a:effectLst/>
                          <a:latin typeface="Consolas" panose="020B0609020204030204" pitchFamily="49" charset="0"/>
                          <a:ea typeface="+mn-ea"/>
                          <a:cs typeface="+mn-cs"/>
                        </a:rPr>
                        <a:t/>
                      </a:r>
                      <a:r>
                        <a:rPr kumimoji="0" lang="en-US" sz="1400" b="0" i="0" kern="1200" dirty="0">
                          <a:solidFill>
                            <a:schemeClr val="tx1"/>
                          </a:solidFill>
                          <a:effectLst/>
                          <a:latin typeface="Consolas" panose="020B0609020204030204" pitchFamily="49" charset="0"/>
                          <a:ea typeface="+mn-ea"/>
                          <a:cs typeface="+mn-cs"/>
                        </a:rPr>
                        <a:t/>
                      </a:r>
                      <a:r>
                        <a:rPr kumimoji="0" lang="en-US" sz="1400" b="1" i="0" kern="1200" dirty="0">
                          <a:solidFill>
                            <a:schemeClr val="tx1"/>
                          </a:solidFill>
                          <a:effectLst/>
                          <a:latin typeface="Consolas" panose="020B0609020204030204" pitchFamily="49" charset="0"/>
                          <a:ea typeface="+mn-ea"/>
                          <a:cs typeface="+mn-cs"/>
                        </a:rPr>
                        <a:t/>
                      </a:r>
                      <a:r>
                        <a:rPr kumimoji="0" lang="en-US" sz="1400" b="0" i="0" kern="1200" dirty="0">
                          <a:solidFill>
                            <a:schemeClr val="tx1"/>
                          </a:solidFill>
                          <a:effectLst/>
                          <a:latin typeface="Consolas" panose="020B0609020204030204" pitchFamily="49" charset="0"/>
                          <a:ea typeface="+mn-ea"/>
                          <a:cs typeface="+mn-cs"/>
                        </a:rPr>
                        <a:t/>
                      </a:r>
                      <a:r>
                        <a:rPr kumimoji="0" lang="en-US" sz="1400" b="0" i="1" kern="1200" dirty="0">
                          <a:solidFill>
                            <a:schemeClr val="tx1"/>
                          </a:solidFill>
                          <a:effectLst/>
                          <a:latin typeface="Consolas" panose="020B0609020204030204" pitchFamily="49" charset="0"/>
                          <a:ea typeface="+mn-ea"/>
                          <a:cs typeface="+mn-cs"/>
                        </a:rPr>
                        <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main(</a:t>
                      </a:r>
                      <a:r>
                        <a:rPr kumimoji="0" lang="en-US" sz="1400" b="1" i="0" kern="1200" dirty="0">
                          <a:solidFill>
                            <a:schemeClr val="tx1"/>
                          </a:solidFill>
                          <a:effectLst/>
                          <a:latin typeface="Consolas" panose="020B0609020204030204" pitchFamily="49" charset="0"/>
                          <a:ea typeface="+mn-ea"/>
                          <a:cs typeface="+mn-cs"/>
                        </a:rPr>
                        <a:t>void</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static</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str[]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"Hello, World!";</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a:t>
                      </a:r>
                      <a:r>
                        <a:rPr kumimoji="0" lang="en-US" sz="1400" b="1" i="0" kern="1200" dirty="0">
                          <a:solidFill>
                            <a:schemeClr val="tx1"/>
                          </a:solidFill>
                          <a:effectLst/>
                          <a:latin typeface="Consolas" panose="020B0609020204030204" pitchFamily="49" charset="0"/>
                          <a:ea typeface="+mn-ea"/>
                          <a:cs typeface="+mn-cs"/>
                        </a:rPr>
                        <a:t>/</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(str[0]);</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for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0;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(str[</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printf</a:t>
                      </a:r>
                      <a:r>
                        <a:rPr kumimoji="0" lang="en-US" sz="1400" b="0" i="0" kern="1200" dirty="0">
                          <a:solidFill>
                            <a:schemeClr val="tx1"/>
                          </a:solidFill>
                          <a:effectLst/>
                          <a:latin typeface="Consolas" panose="020B0609020204030204" pitchFamily="49" charset="0"/>
                          <a:ea typeface="+mn-ea"/>
                          <a:cs typeface="+mn-cs"/>
                        </a:rPr>
                        <a:t>("%s\n",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return</a:t>
                      </a:r>
                      <a:r>
                        <a:rPr kumimoji="0" lang="en-US" sz="1400" b="0" i="0" kern="1200" dirty="0">
                          <a:solidFill>
                            <a:schemeClr val="tx1"/>
                          </a:solidFill>
                          <a:effectLst/>
                          <a:latin typeface="Consolas" panose="020B0609020204030204" pitchFamily="49" charset="0"/>
                          <a:ea typeface="+mn-ea"/>
                          <a:cs typeface="+mn-cs"/>
                        </a:rPr>
                        <a:t> 0;</a:t>
                      </a:r>
                    </a:p>
                    <a:p>
                      <a:r>
                        <a:rPr kumimoji="0" lang="en-US" sz="1400" b="0" i="0" kern="1200" dirty="0">
                          <a:solidFill>
                            <a:schemeClr val="tx1"/>
                          </a:solidFill>
                          <a:effectLst/>
                          <a:latin typeface="Consolas" panose="020B0609020204030204" pitchFamily="49" charset="0"/>
                          <a:ea typeface="+mn-ea"/>
                          <a:cs typeface="+mn-cs"/>
                        </a:rPr>
                        <a:t>}</a:t>
                      </a:r>
                    </a:p>
                    <a:p>
                      <a:pPr marL="0" marR="0" algn="l">
                        <a:spcBef>
                          <a:spcPts val="0"/>
                        </a:spcBef>
                        <a:spcAft>
                          <a:spcPts val="0"/>
                        </a:spcAft>
                      </a:pP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441ADC90-ADB8-D7DD-0AC3-9F57EB29BD9E}"/>
              </a:ext>
            </a:extLst>
          </p:cNvPr>
          <p:cNvGraphicFramePr>
            <a:graphicFrameLocks noGrp="1"/>
          </p:cNvGraphicFramePr>
          <p:nvPr>
            <p:extLst>
              <p:ext uri="{D42A27DB-BD31-4B8C-83A1-F6EECF244321}">
                <p14:modId xmlns:p14="http://schemas.microsoft.com/office/powerpoint/2010/main" val="3797739913"/>
              </p:ext>
            </p:extLst>
          </p:nvPr>
        </p:nvGraphicFramePr>
        <p:xfrm>
          <a:off x="5139813" y="2133601"/>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kern="1200" dirty="0">
                          <a:solidFill>
                            <a:schemeClr val="tx1"/>
                          </a:solidFill>
                          <a:effectLst/>
                          <a:latin typeface="Consolas" panose="020B0609020204030204" pitchFamily="49" charset="0"/>
                          <a:ea typeface="+mn-ea"/>
                          <a:cs typeface="+mn-cs"/>
                        </a:rPr>
                        <a:t>     c += 32;  </a:t>
                      </a:r>
                      <a:r>
                        <a:rPr kumimoji="0" lang="en-US" sz="1400" b="0" i="1"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 - ‘A’ = 32 </a:t>
                      </a:r>
                      <a:r>
                        <a:rPr kumimoji="0" lang="en-US" sz="1400" b="0" i="1" kern="1200" dirty="0">
                          <a:solidFill>
                            <a:schemeClr val="tx1"/>
                          </a:solidFill>
                          <a:effectLst/>
                          <a:latin typeface="Consolas" panose="020B0609020204030204" pitchFamily="49" charset="0"/>
                          <a:ea typeface="+mn-ea"/>
                          <a:cs typeface="+mn-cs"/>
                        </a:rPr>
                        <a:t>*/</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
        <p:nvSpPr>
          <p:cNvPr id="7" name="Content Placeholder 3">
            <a:extLst>
              <a:ext uri="{FF2B5EF4-FFF2-40B4-BE49-F238E27FC236}">
                <a16:creationId xmlns:a16="http://schemas.microsoft.com/office/drawing/2014/main" id="{A8877E1E-4738-45CE-9CC3-2C75B88FD72F}"/>
              </a:ext>
            </a:extLst>
          </p:cNvPr>
          <p:cNvSpPr>
            <a:spLocks noGrp="1"/>
          </p:cNvSpPr>
          <p:nvPr>
            <p:ph sz="quarter" idx="1"/>
          </p:nvPr>
        </p:nvSpPr>
        <p:spPr>
          <a:xfrm>
            <a:off x="5029200" y="1125794"/>
            <a:ext cx="3581400" cy="1115961"/>
          </a:xfrm>
        </p:spPr>
        <p:txBody>
          <a:bodyPr>
            <a:normAutofit fontScale="85000" lnSpcReduction="10000"/>
          </a:bodyPr>
          <a:lstStyle/>
          <a:p>
            <a:r>
              <a:rPr lang="en-US" sz="2000" dirty="0"/>
              <a:t>Consider the following C program that converts all ASCII letters to lower case. Write the </a:t>
            </a:r>
            <a:r>
              <a:rPr lang="en-US" sz="2000" dirty="0" err="1"/>
              <a:t>toLower</a:t>
            </a:r>
            <a:r>
              <a:rPr lang="en-US" sz="2000" dirty="0"/>
              <a:t> function in ARMv7 assembly code.</a:t>
            </a:r>
          </a:p>
        </p:txBody>
      </p:sp>
      <p:graphicFrame>
        <p:nvGraphicFramePr>
          <p:cNvPr id="8" name="Table 7">
            <a:extLst>
              <a:ext uri="{FF2B5EF4-FFF2-40B4-BE49-F238E27FC236}">
                <a16:creationId xmlns:a16="http://schemas.microsoft.com/office/drawing/2014/main" id="{AA01F272-373C-24EF-CF3E-2DDED1980174}"/>
              </a:ext>
            </a:extLst>
          </p:cNvPr>
          <p:cNvGraphicFramePr>
            <a:graphicFrameLocks noGrp="1"/>
          </p:cNvGraphicFramePr>
          <p:nvPr>
            <p:extLst>
              <p:ext uri="{D42A27DB-BD31-4B8C-83A1-F6EECF244321}">
                <p14:modId xmlns:p14="http://schemas.microsoft.com/office/powerpoint/2010/main" val="918362635"/>
              </p:ext>
            </p:extLst>
          </p:nvPr>
        </p:nvGraphicFramePr>
        <p:xfrm>
          <a:off x="5139813" y="4030356"/>
          <a:ext cx="3657600" cy="2049421"/>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18749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1246-2B88-B4D4-DF6F-83B838798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58B75-95E0-2541-7E04-055CF0C60C5B}"/>
              </a:ext>
            </a:extLst>
          </p:cNvPr>
          <p:cNvSpPr>
            <a:spLocks noGrp="1"/>
          </p:cNvSpPr>
          <p:nvPr>
            <p:ph type="title"/>
          </p:nvPr>
        </p:nvSpPr>
        <p:spPr/>
        <p:txBody>
          <a:bodyPr/>
          <a:lstStyle/>
          <a:p>
            <a:r>
              <a:rPr lang="en-US" dirty="0" err="1"/>
              <a:t>toLower</a:t>
            </a:r>
            <a:r>
              <a:rPr lang="en-US" dirty="0"/>
              <a:t> ANS</a:t>
            </a:r>
          </a:p>
        </p:txBody>
      </p:sp>
      <p:sp>
        <p:nvSpPr>
          <p:cNvPr id="3" name="Slide Number Placeholder 2">
            <a:extLst>
              <a:ext uri="{FF2B5EF4-FFF2-40B4-BE49-F238E27FC236}">
                <a16:creationId xmlns:a16="http://schemas.microsoft.com/office/drawing/2014/main" id="{2055FFEA-1824-B30B-B2F0-65F1865F3262}"/>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6" name="Table 5">
            <a:extLst>
              <a:ext uri="{FF2B5EF4-FFF2-40B4-BE49-F238E27FC236}">
                <a16:creationId xmlns:a16="http://schemas.microsoft.com/office/drawing/2014/main" id="{CC203EDA-BA4D-8B0A-42B8-FE11C464F19D}"/>
              </a:ext>
            </a:extLst>
          </p:cNvPr>
          <p:cNvGraphicFramePr>
            <a:graphicFrameLocks noGrp="1"/>
          </p:cNvGraphicFramePr>
          <p:nvPr>
            <p:extLst>
              <p:ext uri="{D42A27DB-BD31-4B8C-83A1-F6EECF244321}">
                <p14:modId xmlns:p14="http://schemas.microsoft.com/office/powerpoint/2010/main" val="4043798945"/>
              </p:ext>
            </p:extLst>
          </p:nvPr>
        </p:nvGraphicFramePr>
        <p:xfrm>
          <a:off x="457200" y="1219200"/>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Calle</a:t>
                      </a:r>
                      <a:r>
                        <a:rPr lang="en-US" altLang="zh-CN" sz="1600" b="1">
                          <a:solidFill>
                            <a:schemeClr val="bg1"/>
                          </a:solidFill>
                          <a:effectLst/>
                          <a:latin typeface="Consolas" panose="020B0609020204030204" pitchFamily="49" charset="0"/>
                          <a:cs typeface="Consolas" panose="020B0609020204030204" pitchFamily="49" charset="0"/>
                        </a:rPr>
                        <a:t>e</a:t>
                      </a:r>
                      <a:r>
                        <a:rPr lang="en-US" sz="1600" b="1">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r>
                        <a:rPr kumimoji="0" lang="en-US" sz="1400" b="0" i="0" kern="1200" dirty="0">
                          <a:solidFill>
                            <a:schemeClr val="tx1"/>
                          </a:solidFill>
                          <a:effectLst/>
                          <a:latin typeface="Consolas" panose="020B0609020204030204" pitchFamily="49" charset="0"/>
                          <a:ea typeface="+mn-ea"/>
                          <a:cs typeface="+mn-cs"/>
                        </a:rPr>
                        <a:t>     c += 32;</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058C7988-0F62-036F-DDF3-1121F4620528}"/>
              </a:ext>
            </a:extLst>
          </p:cNvPr>
          <p:cNvGraphicFramePr>
            <a:graphicFrameLocks noGrp="1"/>
          </p:cNvGraphicFramePr>
          <p:nvPr>
            <p:extLst>
              <p:ext uri="{D42A27DB-BD31-4B8C-83A1-F6EECF244321}">
                <p14:modId xmlns:p14="http://schemas.microsoft.com/office/powerpoint/2010/main" val="1881646543"/>
              </p:ext>
            </p:extLst>
          </p:nvPr>
        </p:nvGraphicFramePr>
        <p:xfrm>
          <a:off x="459658" y="3112813"/>
          <a:ext cx="6474542" cy="2590800"/>
        </p:xfrm>
        <a:graphic>
          <a:graphicData uri="http://schemas.openxmlformats.org/drawingml/2006/table">
            <a:tbl>
              <a:tblPr firstRow="1" firstCol="1" bandRow="1">
                <a:tableStyleId>{5940675A-B579-460E-94D1-54222C63F5DA}</a:tableStyleId>
              </a:tblPr>
              <a:tblGrid>
                <a:gridCol w="6474542">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#'A'                @ if c &lt; 'A'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#'Z'                @ if c &gt; 'Z'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bgt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add     r0, r0, #32             @ c += 32 = 'a' - 'A'</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skip_adjust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bx      </a:t>
                      </a:r>
                      <a:r>
                        <a:rPr kumimoji="0" lang="en-US" sz="1400" b="0" i="0" kern="1200" dirty="0" err="1">
                          <a:solidFill>
                            <a:schemeClr val="tx1"/>
                          </a:solidFill>
                          <a:effectLst/>
                          <a:latin typeface="Consolas" panose="020B0609020204030204" pitchFamily="49" charset="0"/>
                          <a:ea typeface="+mn-ea"/>
                          <a:cs typeface="+mn-cs"/>
                        </a:rPr>
                        <a:t>lr</a:t>
                      </a:r>
                      <a:endParaRPr kumimoji="0" lang="en-US" sz="1400" b="0" i="0" kern="1200" dirty="0">
                        <a:solidFill>
                          <a:schemeClr val="tx1"/>
                        </a:solidFill>
                        <a:effectLst/>
                        <a:latin typeface="Consolas" panose="020B0609020204030204" pitchFamily="49" charset="0"/>
                        <a:ea typeface="+mn-ea"/>
                        <a:cs typeface="+mn-cs"/>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3618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EC6E-B891-AF83-E66F-8217385C54F6}"/>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5959EC02-DF33-1CB3-210F-7D09C20A83C0}"/>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3DC23136-53FC-2BF5-8C7C-A3096D3761E3}"/>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t>
            </a:r>
            <a:r>
              <a:rPr lang="en-US" dirty="0">
                <a:solidFill>
                  <a:srgbClr val="C00000"/>
                </a:solidFill>
              </a:rPr>
              <a:t>after each instruction executes</a:t>
            </a:r>
            <a:r>
              <a:rPr lang="en-US" dirty="0"/>
              <a:t>.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080C4AE5-B126-9162-362F-24C26D91D6E5}"/>
              </a:ext>
            </a:extLst>
          </p:cNvPr>
          <p:cNvSpPr txBox="1"/>
          <p:nvPr/>
        </p:nvSpPr>
        <p:spPr>
          <a:xfrm>
            <a:off x="641001" y="2182128"/>
            <a:ext cx="8350599"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______</a:t>
            </a:r>
          </a:p>
          <a:p>
            <a:r>
              <a:rPr lang="en-US" sz="1600" dirty="0">
                <a:latin typeface="Consolas" panose="020B0609020204030204" pitchFamily="49" charset="0"/>
                <a:cs typeface="Consolas" panose="020B0609020204030204" pitchFamily="49" charset="0"/>
              </a:rPr>
              <a:t>0x25A     BGE loop             ; PC = ______(after this instruction)</a:t>
            </a:r>
          </a:p>
          <a:p>
            <a:r>
              <a:rPr lang="en-US" sz="1600" dirty="0">
                <a:latin typeface="Consolas" panose="020B0609020204030204" pitchFamily="49" charset="0"/>
                <a:cs typeface="Consolas" panose="020B0609020204030204" pitchFamily="49" charset="0"/>
              </a:rPr>
              <a:t>0x25C     BL foo               ; LR = ______, PC = ____(after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____________</a:t>
            </a:r>
          </a:p>
          <a:p>
            <a:r>
              <a:rPr lang="en-US" sz="1600" dirty="0">
                <a:latin typeface="Consolas" panose="020B0609020204030204" pitchFamily="49" charset="0"/>
                <a:cs typeface="Consolas" panose="020B0609020204030204" pitchFamily="49" charset="0"/>
              </a:rPr>
              <a:t>0x264     POP{R1}</a:t>
            </a:r>
          </a:p>
          <a:p>
            <a:r>
              <a:rPr lang="en-US" sz="1600" dirty="0">
                <a:latin typeface="Consolas" panose="020B0609020204030204" pitchFamily="49" charset="0"/>
                <a:cs typeface="Consolas" panose="020B0609020204030204" pitchFamily="49" charset="0"/>
              </a:rPr>
              <a:t>0x266     POP{R0}              ; R0 = __________, SP = ____________</a:t>
            </a:r>
          </a:p>
          <a:p>
            <a:r>
              <a:rPr lang="en-US" sz="1600" dirty="0">
                <a:latin typeface="Consolas" panose="020B0609020204030204" pitchFamily="49" charset="0"/>
                <a:cs typeface="Consolas" panose="020B0609020204030204" pitchFamily="49" charset="0"/>
              </a:rPr>
              <a:t>0x268     BX LR                ; LR = ___________, PC = ____________</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3372098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E055-2D92-9967-6D5A-5CAE67FAA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A5A9E-A770-8E75-1A17-1AA527EAD98D}"/>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E6EB26F8-63B8-7FD8-7173-F712D1EEF322}"/>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4" name="Content Placeholder 3">
            <a:extLst>
              <a:ext uri="{FF2B5EF4-FFF2-40B4-BE49-F238E27FC236}">
                <a16:creationId xmlns:a16="http://schemas.microsoft.com/office/drawing/2014/main" id="{6887EA07-332E-3EE5-6B34-92FAAEF7BA60}"/>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after the instruction executes.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667005E6-B78A-DE6F-E3EA-2180A0B55757}"/>
              </a:ext>
            </a:extLst>
          </p:cNvPr>
          <p:cNvSpPr txBox="1"/>
          <p:nvPr/>
        </p:nvSpPr>
        <p:spPr>
          <a:xfrm>
            <a:off x="304800" y="2122706"/>
            <a:ext cx="8534400"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1000</a:t>
            </a:r>
          </a:p>
          <a:p>
            <a:r>
              <a:rPr lang="en-US" sz="1600" dirty="0">
                <a:latin typeface="Consolas" panose="020B0609020204030204" pitchFamily="49" charset="0"/>
                <a:cs typeface="Consolas" panose="020B0609020204030204" pitchFamily="49" charset="0"/>
              </a:rPr>
              <a:t>0x25A     BGE loop             ; PC = 0x25C (after this instruction)</a:t>
            </a:r>
          </a:p>
          <a:p>
            <a:r>
              <a:rPr lang="en-US" sz="1600" dirty="0">
                <a:latin typeface="Consolas" panose="020B0609020204030204" pitchFamily="49" charset="0"/>
                <a:cs typeface="Consolas" panose="020B0609020204030204" pitchFamily="49" charset="0"/>
              </a:rPr>
              <a:t>0x25C     BL foo               ; LR = 0x260, PC = 0x262 (after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a:t>
            </a:r>
            <a:r>
              <a:rPr lang="en-US" sz="1600" dirty="0"/>
              <a:t>0x100001F8</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0x264     POP{R1}              ; R1 = 5</a:t>
            </a:r>
          </a:p>
          <a:p>
            <a:r>
              <a:rPr lang="en-US" sz="1600" dirty="0">
                <a:latin typeface="Consolas" panose="020B0609020204030204" pitchFamily="49" charset="0"/>
                <a:cs typeface="Consolas" panose="020B0609020204030204" pitchFamily="49" charset="0"/>
              </a:rPr>
              <a:t>0x266     POP{R0}              ; R0 = 10, SP = </a:t>
            </a:r>
            <a:r>
              <a:rPr lang="en-US" sz="1600" dirty="0"/>
              <a:t>0x10000200</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0x268     BX LR                ; LR = 0x260, PC = 0x260 (after this inst.)</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011627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4FE6-4AA6-4480-9C1A-B149B1641A6D}"/>
              </a:ext>
            </a:extLst>
          </p:cNvPr>
          <p:cNvSpPr>
            <a:spLocks noGrp="1"/>
          </p:cNvSpPr>
          <p:nvPr>
            <p:ph type="title"/>
          </p:nvPr>
        </p:nvSpPr>
        <p:spPr/>
        <p:txBody>
          <a:bodyPr/>
          <a:lstStyle/>
          <a:p>
            <a:r>
              <a:rPr lang="en-US" dirty="0"/>
              <a:t>Detailed Explanations</a:t>
            </a:r>
          </a:p>
        </p:txBody>
      </p:sp>
      <p:sp>
        <p:nvSpPr>
          <p:cNvPr id="3" name="Slide Number Placeholder 2">
            <a:extLst>
              <a:ext uri="{FF2B5EF4-FFF2-40B4-BE49-F238E27FC236}">
                <a16:creationId xmlns:a16="http://schemas.microsoft.com/office/drawing/2014/main" id="{BD64E820-1675-B2B0-054F-FAA01CAC05B1}"/>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a:extLst>
              <a:ext uri="{FF2B5EF4-FFF2-40B4-BE49-F238E27FC236}">
                <a16:creationId xmlns:a16="http://schemas.microsoft.com/office/drawing/2014/main" id="{0D3349F2-AD23-9931-E5C9-567BF200C2ED}"/>
              </a:ext>
            </a:extLst>
          </p:cNvPr>
          <p:cNvSpPr>
            <a:spLocks noGrp="1"/>
          </p:cNvSpPr>
          <p:nvPr>
            <p:ph sz="quarter" idx="1"/>
          </p:nvPr>
        </p:nvSpPr>
        <p:spPr>
          <a:xfrm>
            <a:off x="457200" y="1143000"/>
            <a:ext cx="8229600" cy="5334000"/>
          </a:xfrm>
        </p:spPr>
        <p:txBody>
          <a:bodyPr>
            <a:normAutofit fontScale="55000" lnSpcReduction="20000"/>
          </a:bodyPr>
          <a:lstStyle/>
          <a:p>
            <a:r>
              <a:rPr lang="en-US" dirty="0"/>
              <a:t>1. CMP R0, R1 (0x258)</a:t>
            </a:r>
          </a:p>
          <a:p>
            <a:pPr lvl="1"/>
            <a:r>
              <a:rPr lang="en-US" dirty="0"/>
              <a:t>Performs: 5 - 10 = -5</a:t>
            </a:r>
          </a:p>
          <a:p>
            <a:pPr lvl="1"/>
            <a:r>
              <a:rPr lang="en-US" dirty="0"/>
              <a:t>NZCV = 1000 (Negative=1, Zero=0, Carry=0, Overflow=0)</a:t>
            </a:r>
          </a:p>
          <a:p>
            <a:r>
              <a:rPr lang="en-US" dirty="0"/>
              <a:t>2. BGE loop (0x25A)</a:t>
            </a:r>
          </a:p>
          <a:p>
            <a:pPr lvl="1"/>
            <a:r>
              <a:rPr lang="en-US" dirty="0"/>
              <a:t>BGE checks if N == V (Greater or Equal in signed comparison)</a:t>
            </a:r>
          </a:p>
          <a:p>
            <a:pPr lvl="1"/>
            <a:r>
              <a:rPr lang="en-US" dirty="0"/>
              <a:t>Since N=1 and V=0, condition is FALSE</a:t>
            </a:r>
          </a:p>
          <a:p>
            <a:r>
              <a:rPr lang="en-US" dirty="0"/>
              <a:t>Branch NOT taken, continues to next instruction</a:t>
            </a:r>
          </a:p>
          <a:p>
            <a:pPr lvl="1"/>
            <a:r>
              <a:rPr lang="en-US" dirty="0"/>
              <a:t>PC = 0x25C</a:t>
            </a:r>
          </a:p>
          <a:p>
            <a:r>
              <a:rPr lang="en-US" dirty="0"/>
              <a:t>3. BL foo (0x25C)</a:t>
            </a:r>
          </a:p>
          <a:p>
            <a:pPr lvl="1"/>
            <a:r>
              <a:rPr lang="en-US" dirty="0"/>
              <a:t>Saves return address in LR and branches to foo</a:t>
            </a:r>
          </a:p>
          <a:p>
            <a:pPr lvl="1"/>
            <a:r>
              <a:rPr lang="en-US" dirty="0"/>
              <a:t>LR = 0x260 (next instruction after BL)</a:t>
            </a:r>
          </a:p>
          <a:p>
            <a:pPr lvl="1"/>
            <a:r>
              <a:rPr lang="en-US" dirty="0"/>
              <a:t>PC = 0x262 (address of foo)</a:t>
            </a:r>
          </a:p>
          <a:p>
            <a:r>
              <a:rPr lang="en-US" dirty="0"/>
              <a:t>4. PUSH {R0, R1} (0x262)</a:t>
            </a:r>
          </a:p>
          <a:p>
            <a:pPr lvl="1"/>
            <a:r>
              <a:rPr lang="en-US" dirty="0"/>
              <a:t>Stack is descending and full, so SP decrements by 8 bytes (2 registers × 4 bytes)</a:t>
            </a:r>
          </a:p>
          <a:p>
            <a:pPr lvl="1"/>
            <a:r>
              <a:rPr lang="en-US" dirty="0"/>
              <a:t>SP = 0x10000200 - 8 = 0x100001F8</a:t>
            </a:r>
          </a:p>
          <a:p>
            <a:r>
              <a:rPr lang="en-US" dirty="0"/>
              <a:t>5. POP {R0} (0x266)</a:t>
            </a:r>
          </a:p>
          <a:p>
            <a:pPr lvl="1"/>
            <a:r>
              <a:rPr lang="en-US" dirty="0"/>
              <a:t>After popping both registers, R0 and R1 are swapped</a:t>
            </a:r>
          </a:p>
          <a:p>
            <a:pPr lvl="1"/>
            <a:r>
              <a:rPr lang="en-US" dirty="0"/>
              <a:t>R0 = 10 (original R1 value)</a:t>
            </a:r>
          </a:p>
          <a:p>
            <a:pPr lvl="1"/>
            <a:r>
              <a:rPr lang="en-US" dirty="0"/>
              <a:t>SP = 0x10000200 (back to original)</a:t>
            </a:r>
          </a:p>
          <a:p>
            <a:r>
              <a:rPr lang="en-US" dirty="0"/>
              <a:t>6. BX LR (0x268)</a:t>
            </a:r>
          </a:p>
          <a:p>
            <a:pPr lvl="1"/>
            <a:r>
              <a:rPr lang="en-US" dirty="0"/>
              <a:t>Returns to address stored in LR</a:t>
            </a:r>
          </a:p>
          <a:p>
            <a:pPr lvl="1"/>
            <a:r>
              <a:rPr lang="en-US" dirty="0"/>
              <a:t>LR = 0x260 (unchanged)</a:t>
            </a:r>
          </a:p>
          <a:p>
            <a:pPr lvl="1"/>
            <a:r>
              <a:rPr lang="en-US" dirty="0"/>
              <a:t>PC = 0x260 (returns to caller)</a:t>
            </a:r>
          </a:p>
        </p:txBody>
      </p:sp>
    </p:spTree>
    <p:extLst>
      <p:ext uri="{BB962C8B-B14F-4D97-AF65-F5344CB8AC3E}">
        <p14:creationId xmlns:p14="http://schemas.microsoft.com/office/powerpoint/2010/main" val="150664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E065B-6E1F-B821-412C-FD0AA6D6FFAC}"/>
              </a:ext>
            </a:extLst>
          </p:cNvPr>
          <p:cNvSpPr>
            <a:spLocks noGrp="1"/>
          </p:cNvSpPr>
          <p:nvPr>
            <p:ph type="title"/>
          </p:nvPr>
        </p:nvSpPr>
        <p:spPr/>
        <p:txBody>
          <a:bodyPr/>
          <a:lstStyle/>
          <a:p>
            <a:pPr algn="ctr"/>
            <a:r>
              <a:rPr lang="en-US" dirty="0">
                <a:solidFill>
                  <a:srgbClr val="C00000"/>
                </a:solidFill>
              </a:rPr>
              <a:t>Separator Page</a:t>
            </a:r>
          </a:p>
        </p:txBody>
      </p:sp>
      <p:sp>
        <p:nvSpPr>
          <p:cNvPr id="3" name="Slide Number Placeholder 2">
            <a:extLst>
              <a:ext uri="{FF2B5EF4-FFF2-40B4-BE49-F238E27FC236}">
                <a16:creationId xmlns:a16="http://schemas.microsoft.com/office/drawing/2014/main" id="{AD736B6C-17FB-16E1-408B-AB3C19FF2650}"/>
              </a:ext>
            </a:extLst>
          </p:cNvPr>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4" name="Content Placeholder 3">
            <a:extLst>
              <a:ext uri="{FF2B5EF4-FFF2-40B4-BE49-F238E27FC236}">
                <a16:creationId xmlns:a16="http://schemas.microsoft.com/office/drawing/2014/main" id="{0C9C6FA3-D066-E5DA-E405-23B7F5B00998}"/>
              </a:ext>
            </a:extLst>
          </p:cNvPr>
          <p:cNvSpPr>
            <a:spLocks noGrp="1"/>
          </p:cNvSpPr>
          <p:nvPr>
            <p:ph sz="quarter" idx="1"/>
          </p:nvPr>
        </p:nvSpPr>
        <p:spPr/>
        <p:txBody>
          <a:bodyPr>
            <a:normAutofit/>
          </a:bodyPr>
          <a:lstStyle/>
          <a:p>
            <a:r>
              <a:rPr lang="en-US" altLang="zh-CN" sz="4000" dirty="0">
                <a:solidFill>
                  <a:srgbClr val="C00000"/>
                </a:solidFill>
              </a:rPr>
              <a:t>The following slides will not be covered in the exam</a:t>
            </a:r>
            <a:endParaRPr lang="en-US" sz="4000" dirty="0">
              <a:solidFill>
                <a:srgbClr val="C00000"/>
              </a:solidFill>
            </a:endParaRPr>
          </a:p>
        </p:txBody>
      </p:sp>
    </p:spTree>
    <p:extLst>
      <p:ext uri="{BB962C8B-B14F-4D97-AF65-F5344CB8AC3E}">
        <p14:creationId xmlns:p14="http://schemas.microsoft.com/office/powerpoint/2010/main" val="780454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ADDE-B5E4-F571-7D39-10F7E6EFD50E}"/>
              </a:ext>
            </a:extLst>
          </p:cNvPr>
          <p:cNvSpPr>
            <a:spLocks noGrp="1"/>
          </p:cNvSpPr>
          <p:nvPr>
            <p:ph type="title"/>
          </p:nvPr>
        </p:nvSpPr>
        <p:spPr/>
        <p:txBody>
          <a:bodyPr/>
          <a:lstStyle/>
          <a:p>
            <a:r>
              <a:rPr lang="en-US" dirty="0"/>
              <a:t>If Then Else</a:t>
            </a:r>
          </a:p>
        </p:txBody>
      </p:sp>
      <p:sp>
        <p:nvSpPr>
          <p:cNvPr id="3" name="Slide Number Placeholder 2">
            <a:extLst>
              <a:ext uri="{FF2B5EF4-FFF2-40B4-BE49-F238E27FC236}">
                <a16:creationId xmlns:a16="http://schemas.microsoft.com/office/drawing/2014/main" id="{F09614DF-7D37-017A-6AE1-CB37C3AAF956}"/>
              </a:ext>
            </a:extLst>
          </p:cNvPr>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a:extLst>
              <a:ext uri="{FF2B5EF4-FFF2-40B4-BE49-F238E27FC236}">
                <a16:creationId xmlns:a16="http://schemas.microsoft.com/office/drawing/2014/main" id="{86CB5709-ADC9-6526-7743-1565742B86E0}"/>
              </a:ext>
            </a:extLst>
          </p:cNvPr>
          <p:cNvSpPr>
            <a:spLocks noGrp="1"/>
          </p:cNvSpPr>
          <p:nvPr>
            <p:ph sz="quarter" idx="1"/>
          </p:nvPr>
        </p:nvSpPr>
        <p:spPr/>
        <p:txBody>
          <a:bodyPr>
            <a:normAutofit/>
          </a:bodyPr>
          <a:lstStyle/>
          <a:p>
            <a:r>
              <a:rPr lang="en-US" dirty="0"/>
              <a:t>Translate the following program into ARMv7 assembly. </a:t>
            </a:r>
          </a:p>
          <a:p>
            <a:endParaRPr lang="en-US" dirty="0"/>
          </a:p>
        </p:txBody>
      </p:sp>
      <p:graphicFrame>
        <p:nvGraphicFramePr>
          <p:cNvPr id="5" name="Table 4">
            <a:extLst>
              <a:ext uri="{FF2B5EF4-FFF2-40B4-BE49-F238E27FC236}">
                <a16:creationId xmlns:a16="http://schemas.microsoft.com/office/drawing/2014/main" id="{D029E53D-EF51-C81E-B5A8-ACE61F697AF7}"/>
              </a:ext>
            </a:extLst>
          </p:cNvPr>
          <p:cNvGraphicFramePr>
            <a:graphicFrameLocks noGrp="1"/>
          </p:cNvGraphicFramePr>
          <p:nvPr>
            <p:extLst>
              <p:ext uri="{D42A27DB-BD31-4B8C-83A1-F6EECF244321}">
                <p14:modId xmlns:p14="http://schemas.microsoft.com/office/powerpoint/2010/main" val="112046773"/>
              </p:ext>
            </p:extLst>
          </p:nvPr>
        </p:nvGraphicFramePr>
        <p:xfrm>
          <a:off x="1295400" y="2438400"/>
          <a:ext cx="6400800" cy="1706880"/>
        </p:xfrm>
        <a:graphic>
          <a:graphicData uri="http://schemas.openxmlformats.org/drawingml/2006/table">
            <a:tbl>
              <a:tblPr firstRow="1" firstCol="1" bandRow="1">
                <a:tableStyleId>{5940675A-B579-460E-94D1-54222C63F5DA}</a:tableStyleId>
              </a:tblPr>
              <a:tblGrid>
                <a:gridCol w="3200400">
                  <a:extLst>
                    <a:ext uri="{9D8B030D-6E8A-4147-A177-3AD203B41FA5}">
                      <a16:colId xmlns:a16="http://schemas.microsoft.com/office/drawing/2014/main" val="2763064386"/>
                    </a:ext>
                  </a:extLst>
                </a:gridCol>
                <a:gridCol w="3200400">
                  <a:extLst>
                    <a:ext uri="{9D8B030D-6E8A-4147-A177-3AD203B41FA5}">
                      <a16:colId xmlns:a16="http://schemas.microsoft.com/office/drawing/2014/main" val="717490994"/>
                    </a:ext>
                  </a:extLst>
                </a:gridCol>
              </a:tblGrid>
              <a:tr h="197961">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 Program </a:t>
                      </a:r>
                    </a:p>
                  </a:txBody>
                  <a:tcPr marL="68580" marR="68580" marT="0" marB="0">
                    <a:solidFill>
                      <a:schemeClr val="accent1"/>
                    </a:solidFill>
                  </a:tcPr>
                </a:tc>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Assembly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499141511"/>
                  </a:ext>
                </a:extLst>
              </a:tr>
              <a:tr h="1385729">
                <a:tc>
                  <a:txBody>
                    <a:bodyPr/>
                    <a:lstStyle/>
                    <a:p>
                      <a:r>
                        <a:rPr lang="en-US" sz="1400" dirty="0"/>
                        <a:t>int foo(int x, int y) {</a:t>
                      </a:r>
                    </a:p>
                    <a:p>
                      <a:r>
                        <a:rPr lang="en-US" sz="1400" dirty="0"/>
                        <a:t>if (</a:t>
                      </a:r>
                      <a:r>
                        <a:rPr lang="en-US" sz="1400" dirty="0" err="1"/>
                        <a:t>x+y</a:t>
                      </a:r>
                      <a:r>
                        <a:rPr lang="en-US" sz="1400" dirty="0"/>
                        <a:t> &lt; 0) </a:t>
                      </a:r>
                    </a:p>
                    <a:p>
                      <a:r>
                        <a:rPr lang="en-US" sz="1400" dirty="0"/>
                        <a:t>  return 0;</a:t>
                      </a:r>
                    </a:p>
                    <a:p>
                      <a:r>
                        <a:rPr lang="en-US" sz="1400" dirty="0"/>
                        <a:t>else </a:t>
                      </a:r>
                    </a:p>
                    <a:p>
                      <a:r>
                        <a:rPr lang="en-US" sz="1400" dirty="0"/>
                        <a:t>  return 1;</a:t>
                      </a:r>
                    </a:p>
                    <a:p>
                      <a:r>
                        <a:rPr lang="en-US" sz="1400" dirty="0"/>
                        <a:t>}</a:t>
                      </a:r>
                    </a:p>
                    <a:p>
                      <a:endParaRPr lang="en-US" sz="1400" dirty="0"/>
                    </a:p>
                  </a:txBody>
                  <a:tcPr marL="68580" marR="68580" marT="0" marB="0"/>
                </a:tc>
                <a:tc>
                  <a:txBody>
                    <a:bodyPr/>
                    <a:lstStyle/>
                    <a:p>
                      <a:r>
                        <a:rPr lang="en-US" sz="1400" dirty="0"/>
                        <a:t>@ int foo(int x, int y) - returns 0 if (</a:t>
                      </a:r>
                      <a:r>
                        <a:rPr lang="en-US" sz="1400" dirty="0" err="1"/>
                        <a:t>x+y</a:t>
                      </a:r>
                      <a:r>
                        <a:rPr lang="en-US" sz="1400" dirty="0"/>
                        <a:t>) &lt; 0, else 1</a:t>
                      </a:r>
                    </a:p>
                    <a:p>
                      <a:r>
                        <a:rPr lang="en-US" sz="1400" dirty="0"/>
                        <a:t>@ x in r0, y in r1, return in r0</a:t>
                      </a:r>
                    </a:p>
                    <a:p>
                      <a:r>
                        <a:rPr lang="en-US" sz="1400" dirty="0"/>
                        <a:t>foo:</a:t>
                      </a:r>
                    </a:p>
                    <a:p>
                      <a:r>
                        <a:rPr lang="en-US" sz="1400" dirty="0"/>
                        <a:t>  …</a:t>
                      </a:r>
                    </a:p>
                    <a:p>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3148403928"/>
                  </a:ext>
                </a:extLst>
              </a:tr>
            </a:tbl>
          </a:graphicData>
        </a:graphic>
      </p:graphicFrame>
    </p:spTree>
    <p:extLst>
      <p:ext uri="{BB962C8B-B14F-4D97-AF65-F5344CB8AC3E}">
        <p14:creationId xmlns:p14="http://schemas.microsoft.com/office/powerpoint/2010/main" val="1767069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12DC-0F10-83D1-ABB7-CBAA3C868C79}"/>
              </a:ext>
            </a:extLst>
          </p:cNvPr>
          <p:cNvSpPr>
            <a:spLocks noGrp="1"/>
          </p:cNvSpPr>
          <p:nvPr>
            <p:ph type="title"/>
          </p:nvPr>
        </p:nvSpPr>
        <p:spPr>
          <a:xfrm>
            <a:off x="457200" y="135890"/>
            <a:ext cx="8229600" cy="924027"/>
          </a:xfrm>
        </p:spPr>
        <p:txBody>
          <a:bodyPr>
            <a:normAutofit/>
          </a:bodyPr>
          <a:lstStyle/>
          <a:p>
            <a:r>
              <a:rPr lang="en-US" dirty="0"/>
              <a:t>If Then Else ANS</a:t>
            </a:r>
          </a:p>
        </p:txBody>
      </p:sp>
      <p:sp>
        <p:nvSpPr>
          <p:cNvPr id="3" name="Slide Number Placeholder 2">
            <a:extLst>
              <a:ext uri="{FF2B5EF4-FFF2-40B4-BE49-F238E27FC236}">
                <a16:creationId xmlns:a16="http://schemas.microsoft.com/office/drawing/2014/main" id="{15F21901-5D89-CA2E-1399-0FE05B68EBA5}"/>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a:extLst>
              <a:ext uri="{FF2B5EF4-FFF2-40B4-BE49-F238E27FC236}">
                <a16:creationId xmlns:a16="http://schemas.microsoft.com/office/drawing/2014/main" id="{93A61E9E-B8DB-6D7F-89B8-C01FADC19FE2}"/>
              </a:ext>
            </a:extLst>
          </p:cNvPr>
          <p:cNvGraphicFramePr>
            <a:graphicFrameLocks noGrp="1"/>
          </p:cNvGraphicFramePr>
          <p:nvPr>
            <p:extLst>
              <p:ext uri="{D42A27DB-BD31-4B8C-83A1-F6EECF244321}">
                <p14:modId xmlns:p14="http://schemas.microsoft.com/office/powerpoint/2010/main" val="3547717032"/>
              </p:ext>
            </p:extLst>
          </p:nvPr>
        </p:nvGraphicFramePr>
        <p:xfrm>
          <a:off x="381000" y="123149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Straight-line with conditional execution</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200" dirty="0"/>
                        <a:t>foo:</a:t>
                      </a:r>
                      <a:br>
                        <a:rPr lang="en-US" sz="1200" dirty="0"/>
                      </a:br>
                      <a:r>
                        <a:rPr lang="en-US" sz="1200" dirty="0"/>
                        <a:t>    ADD     r2, r0, r1      ; r2 = x + y</a:t>
                      </a:r>
                      <a:br>
                        <a:rPr lang="en-US" sz="1200" dirty="0"/>
                      </a:br>
                      <a:r>
                        <a:rPr lang="en-US" sz="1200" dirty="0"/>
                        <a:t>    CMP     r2, #0          ; sets N,Z,V,C for signed compare to 0</a:t>
                      </a:r>
                      <a:br>
                        <a:rPr lang="en-US" sz="1200" dirty="0"/>
                      </a:br>
                      <a:r>
                        <a:rPr lang="en-US" sz="1200" dirty="0"/>
                        <a:t>    ITE     LT            ; IT block (Cortex-M)</a:t>
                      </a:r>
                      <a:br>
                        <a:rPr lang="en-US" sz="1200" dirty="0"/>
                      </a:br>
                      <a:r>
                        <a:rPr lang="en-US" sz="1200" dirty="0"/>
                        <a:t>    MOVLT   r0, #0        ; if (</a:t>
                      </a:r>
                      <a:r>
                        <a:rPr lang="en-US" sz="1200" dirty="0" err="1"/>
                        <a:t>x+y</a:t>
                      </a:r>
                      <a:r>
                        <a:rPr lang="en-US" sz="1200" dirty="0"/>
                        <a:t>) &lt; 0 -&gt; r0 = 0</a:t>
                      </a:r>
                      <a:br>
                        <a:rPr lang="en-US" sz="1200" dirty="0"/>
                      </a:br>
                      <a:r>
                        <a:rPr lang="en-US" sz="1200" dirty="0"/>
                        <a:t>    MOVGE   r0, #1       ; else r0 = 1</a:t>
                      </a:r>
                      <a:br>
                        <a:rPr lang="en-US" sz="1200" dirty="0"/>
                      </a:br>
                      <a:r>
                        <a:rPr lang="en-US" sz="1200" dirty="0"/>
                        <a:t>    BX      </a:t>
                      </a:r>
                      <a:r>
                        <a:rPr lang="en-US" sz="1200" dirty="0" err="1"/>
                        <a:t>lr</a:t>
                      </a:r>
                      <a:endParaRPr lang="en-US" sz="12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08860993-5A4A-FDF2-164A-269A21C1476C}"/>
              </a:ext>
            </a:extLst>
          </p:cNvPr>
          <p:cNvGraphicFramePr>
            <a:graphicFrameLocks noGrp="1"/>
          </p:cNvGraphicFramePr>
          <p:nvPr>
            <p:extLst>
              <p:ext uri="{D42A27DB-BD31-4B8C-83A1-F6EECF244321}">
                <p14:modId xmlns:p14="http://schemas.microsoft.com/office/powerpoint/2010/main" val="3430121529"/>
              </p:ext>
            </p:extLst>
          </p:nvPr>
        </p:nvGraphicFramePr>
        <p:xfrm>
          <a:off x="381000" y="3203842"/>
          <a:ext cx="4114800" cy="213360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to label w/ CMP</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     r2, r0, r1</a:t>
                      </a:r>
                      <a:br>
                        <a:rPr lang="en-US" sz="1400" dirty="0"/>
                      </a:br>
                      <a:r>
                        <a:rPr lang="en-US" sz="1400" dirty="0"/>
                        <a:t>    CMP     r2, #0</a:t>
                      </a:r>
                      <a:br>
                        <a:rPr lang="en-US" sz="1400" dirty="0"/>
                      </a:br>
                      <a:r>
                        <a:rPr lang="en-US" sz="1400" dirty="0"/>
                        <a:t>    BLT     .</a:t>
                      </a:r>
                      <a:r>
                        <a:rPr lang="en-US" sz="1400" dirty="0" err="1"/>
                        <a:t>Lneg</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a:t>
                      </a:r>
                      <a:br>
                        <a:rPr lang="en-US" sz="1400" dirty="0"/>
                      </a:br>
                      <a:r>
                        <a:rPr lang="en-US" sz="1400" dirty="0"/>
                        <a:t>    MOV     r0, #0</a:t>
                      </a:r>
                      <a:br>
                        <a:rPr lang="en-US" sz="1400" dirty="0"/>
                      </a:br>
                      <a:r>
                        <a:rPr lang="en-US" sz="1400" dirty="0"/>
                        <a:t>    BX      </a:t>
                      </a:r>
                      <a:r>
                        <a:rPr lang="en-US" sz="1400" dirty="0" err="1"/>
                        <a:t>lr</a:t>
                      </a:r>
                      <a:endParaRPr lang="pt-BR"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4FA0E8AC-8701-8160-EFCF-45E03B551C1C}"/>
              </a:ext>
            </a:extLst>
          </p:cNvPr>
          <p:cNvGraphicFramePr>
            <a:graphicFrameLocks noGrp="1"/>
          </p:cNvGraphicFramePr>
          <p:nvPr>
            <p:extLst>
              <p:ext uri="{D42A27DB-BD31-4B8C-83A1-F6EECF244321}">
                <p14:modId xmlns:p14="http://schemas.microsoft.com/office/powerpoint/2010/main" val="231938974"/>
              </p:ext>
            </p:extLst>
          </p:nvPr>
        </p:nvGraphicFramePr>
        <p:xfrm>
          <a:off x="4724400" y="121920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Combine add and compare with ADDS</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foo:</a:t>
                      </a:r>
                      <a:br>
                        <a:rPr lang="en-US" sz="1200" dirty="0"/>
                      </a:br>
                      <a:r>
                        <a:rPr lang="en-US" sz="1200" dirty="0"/>
                        <a:t>    ADDS    r2, r0, r1   ; r2 = x + y, sets flags</a:t>
                      </a:r>
                      <a:br>
                        <a:rPr lang="en-US" sz="1200" dirty="0"/>
                      </a:br>
                      <a:r>
                        <a:rPr lang="en-US" sz="1200" dirty="0"/>
                        <a:t>    ITE     MI           ; IT block (Cortex-M)</a:t>
                      </a:r>
                      <a:br>
                        <a:rPr lang="en-US" sz="1200" dirty="0"/>
                      </a:br>
                      <a:r>
                        <a:rPr lang="en-US" sz="1200" dirty="0"/>
                        <a:t>    MOVMI   r0, #0       ; MI means N=1 (negative)</a:t>
                      </a:r>
                      <a:br>
                        <a:rPr lang="en-US" sz="1200" dirty="0"/>
                      </a:br>
                      <a:r>
                        <a:rPr lang="en-US" sz="1200" dirty="0"/>
                        <a:t>    MOVPL   r0, #1       ; PL means N=0 (non-neg.)</a:t>
                      </a:r>
                      <a:br>
                        <a:rPr lang="en-US" sz="1200" dirty="0"/>
                      </a:br>
                      <a:r>
                        <a:rPr lang="en-US" sz="1200" dirty="0"/>
                        <a:t>    BX      </a:t>
                      </a:r>
                      <a:r>
                        <a:rPr lang="en-US" sz="1200" dirty="0" err="1"/>
                        <a:t>lr</a:t>
                      </a:r>
                      <a:endParaRPr lang="en-US" sz="12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744A4DBD-405A-5BB5-8DFC-2B3CDF03BE0C}"/>
              </a:ext>
            </a:extLst>
          </p:cNvPr>
          <p:cNvGraphicFramePr>
            <a:graphicFrameLocks noGrp="1"/>
          </p:cNvGraphicFramePr>
          <p:nvPr>
            <p:extLst>
              <p:ext uri="{D42A27DB-BD31-4B8C-83A1-F6EECF244321}">
                <p14:modId xmlns:p14="http://schemas.microsoft.com/office/powerpoint/2010/main" val="234074655"/>
              </p:ext>
            </p:extLst>
          </p:nvPr>
        </p:nvGraphicFramePr>
        <p:xfrm>
          <a:off x="4724400" y="2971800"/>
          <a:ext cx="4114800" cy="1390304"/>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170419">
                <a:tc>
                  <a:txBody>
                    <a:bodyPr/>
                    <a:lstStyle/>
                    <a:p>
                      <a:pPr marL="0" marR="0" algn="just">
                        <a:spcBef>
                          <a:spcPts val="0"/>
                        </a:spcBef>
                        <a:spcAft>
                          <a:spcPts val="0"/>
                        </a:spcAft>
                      </a:pPr>
                      <a:r>
                        <a:rPr lang="pt-BR" sz="1400" b="1" dirty="0">
                          <a:solidFill>
                            <a:schemeClr val="bg1"/>
                          </a:solidFill>
                          <a:effectLst/>
                          <a:latin typeface="Consolas" panose="020B0609020204030204" pitchFamily="49" charset="0"/>
                          <a:ea typeface="宋体"/>
                          <a:cs typeface="Consolas" panose="020B0609020204030204" pitchFamily="49" charset="0"/>
                        </a:rPr>
                        <a:t>No temp register r2, reuse r0</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176944">
                <a:tc>
                  <a:txBody>
                    <a:bodyPr/>
                    <a:lstStyle/>
                    <a:p>
                      <a:r>
                        <a:rPr lang="en-US" sz="1200" dirty="0"/>
                        <a:t>foo:</a:t>
                      </a:r>
                      <a:br>
                        <a:rPr lang="en-US" sz="1200" dirty="0"/>
                      </a:br>
                      <a:r>
                        <a:rPr lang="en-US" sz="1200" dirty="0"/>
                        <a:t>    ADDS    r0, r0, r1          ; r0 = x + y, flags set</a:t>
                      </a:r>
                      <a:br>
                        <a:rPr lang="en-US" sz="1200" dirty="0"/>
                      </a:br>
                      <a:r>
                        <a:rPr lang="en-US" sz="1200" dirty="0"/>
                        <a:t>    ITE     MI</a:t>
                      </a:r>
                      <a:br>
                        <a:rPr lang="en-US" sz="1200" dirty="0"/>
                      </a:br>
                      <a:r>
                        <a:rPr lang="en-US" sz="1200" dirty="0"/>
                        <a:t>    MOVMI   r0, #0</a:t>
                      </a:r>
                      <a:br>
                        <a:rPr lang="en-US" sz="1200" dirty="0"/>
                      </a:br>
                      <a:r>
                        <a:rPr lang="en-US" sz="1200" dirty="0"/>
                        <a:t>    MOVPL   r0, #1</a:t>
                      </a:r>
                      <a:br>
                        <a:rPr lang="en-US" sz="1200" dirty="0"/>
                      </a:br>
                      <a:r>
                        <a:rPr lang="en-US" sz="1200" dirty="0"/>
                        <a:t>    BX      </a:t>
                      </a:r>
                      <a:r>
                        <a:rPr lang="en-US" sz="1200" dirty="0" err="1"/>
                        <a:t>lr</a:t>
                      </a:r>
                      <a:endParaRPr lang="en-US" sz="12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26CF4D69-C211-B553-B73A-1E1C0BCFC6C4}"/>
              </a:ext>
            </a:extLst>
          </p:cNvPr>
          <p:cNvGraphicFramePr>
            <a:graphicFrameLocks noGrp="1"/>
          </p:cNvGraphicFramePr>
          <p:nvPr>
            <p:extLst>
              <p:ext uri="{D42A27DB-BD31-4B8C-83A1-F6EECF244321}">
                <p14:modId xmlns:p14="http://schemas.microsoft.com/office/powerpoint/2010/main" val="2867381829"/>
              </p:ext>
            </p:extLst>
          </p:nvPr>
        </p:nvGraphicFramePr>
        <p:xfrm>
          <a:off x="4724400" y="4411873"/>
          <a:ext cx="4114800" cy="192024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a:t>
                      </a:r>
                      <a:r>
                        <a:rPr lang="en-US" sz="1400" b="1">
                          <a:solidFill>
                            <a:schemeClr val="bg1"/>
                          </a:solidFill>
                          <a:effectLst/>
                          <a:latin typeface="Consolas" panose="020B0609020204030204" pitchFamily="49" charset="0"/>
                          <a:ea typeface="宋体"/>
                          <a:cs typeface="Consolas" panose="020B0609020204030204" pitchFamily="49" charset="0"/>
                        </a:rPr>
                        <a:t>to label w/ ADDS</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ADDS    r2, r0, r1</a:t>
                      </a:r>
                      <a:br>
                        <a:rPr lang="en-US" sz="1400" dirty="0"/>
                      </a:br>
                      <a:r>
                        <a:rPr lang="en-US" sz="1400" dirty="0"/>
                        <a:t>    BMI       .</a:t>
                      </a:r>
                      <a:r>
                        <a:rPr lang="en-US" sz="1400" dirty="0" err="1"/>
                        <a:t>Lneg</a:t>
                      </a:r>
                      <a:r>
                        <a:rPr lang="en-US" sz="1400" dirty="0"/>
                        <a:t>            ; if negative</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 </a:t>
                      </a:r>
                    </a:p>
                    <a:p>
                      <a:pPr marL="0" indent="0">
                        <a:buNone/>
                      </a:pPr>
                      <a:r>
                        <a:rPr lang="en-US" sz="1400" dirty="0"/>
                        <a:t>          MOV    r0, #0</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87447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F89D-8DCD-F432-1E58-FAB096FB80C5}"/>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ED177E67-749A-4929-DF9E-A6F535A2290B}"/>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591F8C61-3E91-895F-2C57-5743F12F4706}"/>
              </a:ext>
            </a:extLst>
          </p:cNvPr>
          <p:cNvSpPr>
            <a:spLocks noGrp="1"/>
          </p:cNvSpPr>
          <p:nvPr>
            <p:ph sz="quarter" idx="1"/>
          </p:nvPr>
        </p:nvSpPr>
        <p:spPr>
          <a:xfrm>
            <a:off x="457200" y="1219200"/>
            <a:ext cx="8229600" cy="943610"/>
          </a:xfrm>
        </p:spPr>
        <p:txBody>
          <a:bodyPr>
            <a:normAutofit fontScale="85000" lnSpcReduction="20000"/>
          </a:bodyPr>
          <a:lstStyle/>
          <a:p>
            <a:r>
              <a:rPr lang="en-US" dirty="0"/>
              <a:t>Fill in the blanks (marked TODO) for the assembly programs for calculating the factorial of a number, corresponding to the following C programs. One iterative version, one recursive version.</a:t>
            </a:r>
          </a:p>
        </p:txBody>
      </p:sp>
      <p:sp>
        <p:nvSpPr>
          <p:cNvPr id="5" name="Content Placeholder 3">
            <a:extLst>
              <a:ext uri="{FF2B5EF4-FFF2-40B4-BE49-F238E27FC236}">
                <a16:creationId xmlns:a16="http://schemas.microsoft.com/office/drawing/2014/main" id="{8A76ECE7-0B5A-383E-0091-ADC927BEEC87}"/>
              </a:ext>
            </a:extLst>
          </p:cNvPr>
          <p:cNvSpPr txBox="1">
            <a:spLocks/>
          </p:cNvSpPr>
          <p:nvPr/>
        </p:nvSpPr>
        <p:spPr>
          <a:xfrm>
            <a:off x="4724400" y="2162810"/>
            <a:ext cx="3962400" cy="3794760"/>
          </a:xfrm>
          <a:prstGeom prst="rect">
            <a:avLst/>
          </a:prstGeom>
          <a:ln>
            <a:solidFill>
              <a:schemeClr val="tx1"/>
            </a:solidFill>
          </a:ln>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800" dirty="0"/>
              <a:t>//Recursive version</a:t>
            </a:r>
          </a:p>
          <a:p>
            <a:pPr marL="0" indent="0">
              <a:buNone/>
            </a:pPr>
            <a:r>
              <a:rPr lang="en-US" sz="1800" dirty="0"/>
              <a:t>#include &lt;</a:t>
            </a:r>
            <a:r>
              <a:rPr lang="en-US" sz="1800" dirty="0" err="1"/>
              <a:t>stdint.h</a:t>
            </a:r>
            <a:r>
              <a:rPr lang="en-US" sz="1800" dirty="0"/>
              <a:t>&gt;</a:t>
            </a:r>
          </a:p>
          <a:p>
            <a:pPr marL="0" indent="0">
              <a:buNone/>
            </a:pPr>
            <a:endParaRPr lang="en-US" sz="1800" dirty="0"/>
          </a:p>
          <a:p>
            <a:pPr marL="0" indent="0">
              <a:buNone/>
            </a:pPr>
            <a:r>
              <a:rPr lang="en-US" sz="1800" dirty="0"/>
              <a:t>uint32_t </a:t>
            </a:r>
            <a:r>
              <a:rPr lang="en-US" sz="1800" dirty="0" err="1"/>
              <a:t>fact_rec</a:t>
            </a:r>
            <a:r>
              <a:rPr lang="en-US" sz="1800" dirty="0"/>
              <a:t>(uint32_t n) {</a:t>
            </a:r>
          </a:p>
          <a:p>
            <a:pPr marL="0" indent="0">
              <a:buNone/>
            </a:pPr>
            <a:r>
              <a:rPr lang="en-US" sz="1800" dirty="0"/>
              <a:t>    if (n &lt;= 1) {</a:t>
            </a:r>
          </a:p>
          <a:p>
            <a:pPr marL="0" indent="0">
              <a:buNone/>
            </a:pPr>
            <a:r>
              <a:rPr lang="en-US" sz="1800" dirty="0"/>
              <a:t>        return 1;</a:t>
            </a:r>
          </a:p>
          <a:p>
            <a:pPr marL="0" indent="0">
              <a:buNone/>
            </a:pPr>
            <a:r>
              <a:rPr lang="en-US" sz="1800" dirty="0"/>
              <a:t>    }</a:t>
            </a:r>
          </a:p>
          <a:p>
            <a:pPr marL="0" indent="0">
              <a:buNone/>
            </a:pPr>
            <a:r>
              <a:rPr lang="en-US" sz="1800" dirty="0"/>
              <a:t>    return n * </a:t>
            </a:r>
            <a:r>
              <a:rPr lang="en-US" sz="1800" dirty="0" err="1"/>
              <a:t>fact_rec</a:t>
            </a:r>
            <a:r>
              <a:rPr lang="en-US" sz="1800" dirty="0"/>
              <a:t>(n - 1);</a:t>
            </a:r>
          </a:p>
          <a:p>
            <a:pPr marL="0" indent="0">
              <a:buNone/>
            </a:pPr>
            <a:r>
              <a:rPr lang="en-US" sz="1800" dirty="0"/>
              <a:t>}</a:t>
            </a:r>
          </a:p>
        </p:txBody>
      </p:sp>
      <p:sp>
        <p:nvSpPr>
          <p:cNvPr id="6" name="Content Placeholder 3">
            <a:extLst>
              <a:ext uri="{FF2B5EF4-FFF2-40B4-BE49-F238E27FC236}">
                <a16:creationId xmlns:a16="http://schemas.microsoft.com/office/drawing/2014/main" id="{45D15B45-A356-638A-35FB-768B7AA8995D}"/>
              </a:ext>
            </a:extLst>
          </p:cNvPr>
          <p:cNvSpPr txBox="1">
            <a:spLocks/>
          </p:cNvSpPr>
          <p:nvPr/>
        </p:nvSpPr>
        <p:spPr>
          <a:xfrm>
            <a:off x="685800" y="2162810"/>
            <a:ext cx="3810000" cy="4251960"/>
          </a:xfrm>
          <a:prstGeom prst="rect">
            <a:avLst/>
          </a:prstGeom>
          <a:ln>
            <a:solidFill>
              <a:schemeClr val="tx1"/>
            </a:solidFill>
          </a:ln>
        </p:spPr>
        <p:txBody>
          <a:bodyPr vert="horz">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//Iterative version</a:t>
            </a:r>
          </a:p>
          <a:p>
            <a:pPr marL="0" indent="0">
              <a:buNone/>
            </a:pPr>
            <a:r>
              <a:rPr lang="en-US" dirty="0"/>
              <a:t>#include &lt;</a:t>
            </a:r>
            <a:r>
              <a:rPr lang="en-US" dirty="0" err="1"/>
              <a:t>stdint.h</a:t>
            </a:r>
            <a:r>
              <a:rPr lang="en-US" dirty="0"/>
              <a:t>&gt;</a:t>
            </a:r>
          </a:p>
          <a:p>
            <a:pPr marL="0" indent="0">
              <a:buNone/>
            </a:pPr>
            <a:endParaRPr lang="en-US" dirty="0"/>
          </a:p>
          <a:p>
            <a:pPr marL="0" indent="0">
              <a:buNone/>
            </a:pPr>
            <a:r>
              <a:rPr lang="en-US" dirty="0"/>
              <a:t>uint32_t </a:t>
            </a:r>
            <a:r>
              <a:rPr lang="en-US" dirty="0" err="1"/>
              <a:t>fact_iter</a:t>
            </a:r>
            <a:r>
              <a:rPr lang="en-US" dirty="0"/>
              <a:t>(uint32_t n) {</a:t>
            </a:r>
          </a:p>
          <a:p>
            <a:pPr marL="0" indent="0">
              <a:buNone/>
            </a:pPr>
            <a:r>
              <a:rPr lang="en-US" dirty="0"/>
              <a:t>    uint32_t acc = 1;</a:t>
            </a:r>
          </a:p>
          <a:p>
            <a:pPr marL="0" indent="0">
              <a:buNone/>
            </a:pPr>
            <a:r>
              <a:rPr lang="en-US" dirty="0"/>
              <a:t>    if (n &lt;= 1) {</a:t>
            </a:r>
          </a:p>
          <a:p>
            <a:pPr marL="0" indent="0">
              <a:buNone/>
            </a:pPr>
            <a:r>
              <a:rPr lang="en-US" dirty="0"/>
              <a:t>        return 1;</a:t>
            </a:r>
          </a:p>
          <a:p>
            <a:pPr marL="0" indent="0">
              <a:buNone/>
            </a:pPr>
            <a:r>
              <a:rPr lang="en-US" dirty="0"/>
              <a:t>    }</a:t>
            </a:r>
          </a:p>
          <a:p>
            <a:pPr marL="0" indent="0">
              <a:buNone/>
            </a:pPr>
            <a:r>
              <a:rPr lang="en-US" dirty="0"/>
              <a:t>    while (n &gt; 1) {</a:t>
            </a:r>
          </a:p>
          <a:p>
            <a:pPr marL="0" indent="0">
              <a:buNone/>
            </a:pPr>
            <a:r>
              <a:rPr lang="en-US" dirty="0"/>
              <a:t>        acc *= n;</a:t>
            </a:r>
          </a:p>
          <a:p>
            <a:pPr marL="0" indent="0">
              <a:buNone/>
            </a:pPr>
            <a:r>
              <a:rPr lang="en-US" dirty="0"/>
              <a:t>        n -= 1;</a:t>
            </a:r>
          </a:p>
          <a:p>
            <a:pPr marL="0" indent="0">
              <a:buNone/>
            </a:pPr>
            <a:r>
              <a:rPr lang="en-US" dirty="0"/>
              <a:t>    }</a:t>
            </a:r>
          </a:p>
          <a:p>
            <a:pPr marL="0" indent="0">
              <a:buNone/>
            </a:pPr>
            <a:r>
              <a:rPr lang="en-US" dirty="0"/>
              <a:t>    return acc;</a:t>
            </a:r>
          </a:p>
          <a:p>
            <a:pPr marL="0" indent="0">
              <a:buNone/>
            </a:pPr>
            <a:r>
              <a:rPr lang="en-US" dirty="0"/>
              <a:t>}</a:t>
            </a:r>
          </a:p>
        </p:txBody>
      </p:sp>
    </p:spTree>
    <p:extLst>
      <p:ext uri="{BB962C8B-B14F-4D97-AF65-F5344CB8AC3E}">
        <p14:creationId xmlns:p14="http://schemas.microsoft.com/office/powerpoint/2010/main" val="2707139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6404-63EE-CB5A-481A-AD6B0B09C23D}"/>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923D6100-04EF-AD50-41F7-0624A60BB679}"/>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4" name="Content Placeholder 3">
            <a:extLst>
              <a:ext uri="{FF2B5EF4-FFF2-40B4-BE49-F238E27FC236}">
                <a16:creationId xmlns:a16="http://schemas.microsoft.com/office/drawing/2014/main" id="{C2EFFC15-913C-F5C8-F67E-5B2B5295992D}"/>
              </a:ext>
            </a:extLst>
          </p:cNvPr>
          <p:cNvSpPr>
            <a:spLocks noGrp="1"/>
          </p:cNvSpPr>
          <p:nvPr>
            <p:ph sz="quarter" idx="1"/>
          </p:nvPr>
        </p:nvSpPr>
        <p:spPr>
          <a:xfrm>
            <a:off x="228600" y="1219200"/>
            <a:ext cx="3886200" cy="4572000"/>
          </a:xfrm>
          <a:ln>
            <a:solidFill>
              <a:schemeClr val="tx1"/>
            </a:solidFill>
          </a:ln>
        </p:spPr>
        <p:txBody>
          <a:bodyPr>
            <a:normAutofit fontScale="55000" lnSpcReduction="20000"/>
          </a:bodyPr>
          <a:lstStyle/>
          <a:p>
            <a:pPr marL="0" indent="0">
              <a:buNone/>
            </a:pPr>
            <a:r>
              <a:rPr lang="en-US" dirty="0"/>
              <a:t>@ uint32_t </a:t>
            </a:r>
            <a:r>
              <a:rPr lang="en-US" dirty="0" err="1"/>
              <a:t>fact_iter</a:t>
            </a:r>
            <a:r>
              <a:rPr lang="en-US" dirty="0"/>
              <a:t>(uint32_t n); iterative version</a:t>
            </a:r>
          </a:p>
          <a:p>
            <a:pPr marL="0" indent="0">
              <a:buNone/>
            </a:pPr>
            <a:r>
              <a:rPr lang="en-US" dirty="0"/>
              <a:t>@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@(unsigned compare)</a:t>
            </a:r>
          </a:p>
          <a:p>
            <a:pPr marL="0" indent="0">
              <a:buNone/>
            </a:pPr>
            <a:r>
              <a:rPr lang="en-US" dirty="0"/>
              <a:t>.</a:t>
            </a:r>
            <a:r>
              <a:rPr lang="en-US" dirty="0" err="1"/>
              <a:t>Lloop_iter</a:t>
            </a:r>
            <a:r>
              <a:rPr lang="en-US" dirty="0"/>
              <a:t>:</a:t>
            </a:r>
          </a:p>
          <a:p>
            <a:pPr marL="0" indent="0">
              <a:buNone/>
            </a:pPr>
            <a:r>
              <a:rPr lang="en-US" dirty="0"/>
              <a:t>    @ TODO</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60DE175-89CF-1980-2FF5-09D118299DF7}"/>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uint32_t factorial(uint32_t n); Recursive version</a:t>
            </a:r>
          </a:p>
          <a:p>
            <a:pPr marL="0" indent="0">
              <a:buNone/>
            </a:pPr>
            <a:r>
              <a:rPr lang="en-US" dirty="0"/>
              <a:t>@ r0: n</a:t>
            </a:r>
          </a:p>
          <a:p>
            <a:pPr marL="0" indent="0">
              <a:buNone/>
            </a:pPr>
            <a:r>
              <a:rPr lang="en-US" dirty="0"/>
              <a:t>@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BLS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 TODO</a:t>
            </a:r>
          </a:p>
        </p:txBody>
      </p:sp>
    </p:spTree>
    <p:extLst>
      <p:ext uri="{BB962C8B-B14F-4D97-AF65-F5344CB8AC3E}">
        <p14:creationId xmlns:p14="http://schemas.microsoft.com/office/powerpoint/2010/main" val="4056115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D616-A64C-1463-B27C-39D6A32E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345B3-FBD4-2D39-F1EB-5F9D94C74C8C}"/>
              </a:ext>
            </a:extLst>
          </p:cNvPr>
          <p:cNvSpPr>
            <a:spLocks noGrp="1"/>
          </p:cNvSpPr>
          <p:nvPr>
            <p:ph type="title"/>
          </p:nvPr>
        </p:nvSpPr>
        <p:spPr/>
        <p:txBody>
          <a:bodyPr/>
          <a:lstStyle/>
          <a:p>
            <a:r>
              <a:rPr lang="en-US" dirty="0"/>
              <a:t>Factorial ANS</a:t>
            </a:r>
          </a:p>
        </p:txBody>
      </p:sp>
      <p:sp>
        <p:nvSpPr>
          <p:cNvPr id="3" name="Slide Number Placeholder 2">
            <a:extLst>
              <a:ext uri="{FF2B5EF4-FFF2-40B4-BE49-F238E27FC236}">
                <a16:creationId xmlns:a16="http://schemas.microsoft.com/office/drawing/2014/main" id="{1A312DDF-3C1F-06F9-1E69-7636875AE65C}"/>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3149164B-AC7F-262E-85D3-203B21C2369A}"/>
              </a:ext>
            </a:extLst>
          </p:cNvPr>
          <p:cNvSpPr>
            <a:spLocks noGrp="1"/>
          </p:cNvSpPr>
          <p:nvPr>
            <p:ph sz="quarter" idx="1"/>
          </p:nvPr>
        </p:nvSpPr>
        <p:spPr>
          <a:xfrm>
            <a:off x="152400" y="1219199"/>
            <a:ext cx="3962400" cy="4800601"/>
          </a:xfrm>
          <a:ln>
            <a:solidFill>
              <a:schemeClr val="tx1"/>
            </a:solidFill>
          </a:ln>
        </p:spPr>
        <p:txBody>
          <a:bodyPr>
            <a:normAutofit fontScale="55000" lnSpcReduction="20000"/>
          </a:bodyPr>
          <a:lstStyle/>
          <a:p>
            <a:pPr marL="0" indent="0">
              <a:buNone/>
            </a:pPr>
            <a:r>
              <a:rPr lang="en-US" dirty="0"/>
              <a:t> @ uint32_t </a:t>
            </a:r>
            <a:r>
              <a:rPr lang="en-US" dirty="0" err="1"/>
              <a:t>fact_iter</a:t>
            </a:r>
            <a:r>
              <a:rPr lang="en-US" dirty="0"/>
              <a:t>(uint32_t n); iterative version</a:t>
            </a:r>
          </a:p>
          <a:p>
            <a:pPr marL="0" indent="0">
              <a:buNone/>
            </a:pPr>
            <a:r>
              <a:rPr lang="en-US" dirty="0"/>
              <a:t> @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 (unsigned compare)</a:t>
            </a:r>
          </a:p>
          <a:p>
            <a:pPr marL="0" indent="0">
              <a:buNone/>
            </a:pPr>
            <a:r>
              <a:rPr lang="en-US" dirty="0"/>
              <a:t>.</a:t>
            </a:r>
            <a:r>
              <a:rPr lang="en-US" dirty="0" err="1"/>
              <a:t>Lloop_iter</a:t>
            </a:r>
            <a:r>
              <a:rPr lang="en-US" dirty="0"/>
              <a:t>:</a:t>
            </a:r>
          </a:p>
          <a:p>
            <a:pPr marL="0" indent="0">
              <a:buNone/>
            </a:pPr>
            <a:r>
              <a:rPr lang="en-US" dirty="0"/>
              <a:t>    MUL     r0, r0, r1        @ acc *= </a:t>
            </a:r>
            <a:r>
              <a:rPr lang="en-US" dirty="0" err="1"/>
              <a:t>i</a:t>
            </a:r>
            <a:endParaRPr lang="en-US" dirty="0"/>
          </a:p>
          <a:p>
            <a:pPr marL="0" indent="0">
              <a:buNone/>
            </a:pPr>
            <a:r>
              <a:rPr lang="en-US" dirty="0"/>
              <a:t>    SUBS    r1, r1, #1        @ </a:t>
            </a:r>
            <a:r>
              <a:rPr lang="en-US" dirty="0" err="1"/>
              <a:t>i</a:t>
            </a:r>
            <a:r>
              <a:rPr lang="en-US" dirty="0"/>
              <a:t>--</a:t>
            </a:r>
          </a:p>
          <a:p>
            <a:pPr marL="0" indent="0">
              <a:buNone/>
            </a:pPr>
            <a:r>
              <a:rPr lang="en-US" dirty="0"/>
              <a:t>    BHI     .</a:t>
            </a:r>
            <a:r>
              <a:rPr lang="en-US" dirty="0" err="1"/>
              <a:t>Lloop_iter</a:t>
            </a:r>
            <a:r>
              <a:rPr lang="en-US" dirty="0"/>
              <a:t>       @ continue while </a:t>
            </a:r>
            <a:r>
              <a:rPr lang="en-US" dirty="0" err="1"/>
              <a:t>i</a:t>
            </a:r>
            <a:r>
              <a:rPr lang="en-US" dirty="0"/>
              <a:t> &gt; 1</a:t>
            </a:r>
          </a:p>
          <a:p>
            <a:pPr marL="0" indent="0">
              <a:buNone/>
            </a:pPr>
            <a:r>
              <a:rPr lang="en-US" dirty="0"/>
              <a:t>                                      @ (unsigned compare)</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0B60CED-9D05-2D49-66A9-FB9AB6E901FB}"/>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 uint32_t factorial(uint32_t n); Recursive version</a:t>
            </a:r>
          </a:p>
          <a:p>
            <a:pPr marL="0" indent="0">
              <a:buNone/>
            </a:pPr>
            <a:r>
              <a:rPr lang="en-US" dirty="0"/>
              <a:t>    @ r0: n</a:t>
            </a:r>
          </a:p>
          <a:p>
            <a:pPr marL="0" indent="0">
              <a:buNone/>
            </a:pPr>
            <a:r>
              <a:rPr lang="en-US" dirty="0"/>
              <a:t>    @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a:t>
            </a:r>
            <a:r>
              <a:rPr lang="en-US" altLang="zh-CN" dirty="0"/>
              <a:t>S</a:t>
            </a:r>
            <a:r>
              <a:rPr lang="en-US" dirty="0"/>
              <a:t>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MOV     r0, #1            @ factorial(n) = 1 for n &lt;= 1</a:t>
            </a:r>
          </a:p>
          <a:p>
            <a:pPr marL="0" indent="0">
              <a:buNone/>
            </a:pPr>
            <a:r>
              <a:rPr lang="en-US" dirty="0"/>
              <a:t>    BX      </a:t>
            </a:r>
            <a:r>
              <a:rPr lang="en-US" dirty="0" err="1"/>
              <a:t>lr</a:t>
            </a:r>
            <a:r>
              <a:rPr lang="en-US" dirty="0"/>
              <a:t>                @ return</a:t>
            </a:r>
          </a:p>
        </p:txBody>
      </p:sp>
      <p:sp>
        <p:nvSpPr>
          <p:cNvPr id="6" name="TextBox 5">
            <a:extLst>
              <a:ext uri="{FF2B5EF4-FFF2-40B4-BE49-F238E27FC236}">
                <a16:creationId xmlns:a16="http://schemas.microsoft.com/office/drawing/2014/main" id="{FA97F22B-CBD2-A76E-66A6-7632B8BDAF8F}"/>
              </a:ext>
            </a:extLst>
          </p:cNvPr>
          <p:cNvSpPr txBox="1"/>
          <p:nvPr/>
        </p:nvSpPr>
        <p:spPr>
          <a:xfrm>
            <a:off x="98323" y="5845277"/>
            <a:ext cx="4124632"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POP is used here because the function previously </a:t>
            </a:r>
            <a:r>
              <a:rPr lang="en-US" sz="1400" dirty="0" err="1"/>
              <a:t>PUSHed</a:t>
            </a:r>
            <a:r>
              <a:rPr lang="en-US" sz="1400" dirty="0"/>
              <a:t> registers that must be </a:t>
            </a:r>
            <a:r>
              <a:rPr lang="en-US" sz="1400" b="1" dirty="0"/>
              <a:t>restored</a:t>
            </a:r>
            <a:r>
              <a:rPr lang="en-US" sz="1400" dirty="0"/>
              <a:t> before returning; POP both restores those registers and fixes the stack pointer in one instruction.</a:t>
            </a:r>
          </a:p>
        </p:txBody>
      </p:sp>
    </p:spTree>
    <p:extLst>
      <p:ext uri="{BB962C8B-B14F-4D97-AF65-F5344CB8AC3E}">
        <p14:creationId xmlns:p14="http://schemas.microsoft.com/office/powerpoint/2010/main" val="3049968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457200" y="2006188"/>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2D23A4E-8569-6941-84A9-89F1C41E64AF}"/>
              </a:ext>
            </a:extLst>
          </p:cNvPr>
          <p:cNvSpPr txBox="1"/>
          <p:nvPr/>
        </p:nvSpPr>
        <p:spPr>
          <a:xfrm>
            <a:off x="4340418" y="2006187"/>
            <a:ext cx="4432624"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MOV   r0, r3      </a:t>
            </a:r>
            <a:r>
              <a:rPr lang="en-US" sz="1200" dirty="0">
                <a:solidFill>
                  <a:schemeClr val="bg1">
                    <a:lumMod val="50000"/>
                  </a:schemeClr>
                </a:solidFill>
                <a:latin typeface="Consolas" panose="020B0609020204030204" pitchFamily="49" charset="0"/>
                <a:cs typeface="Consolas" panose="020B0609020204030204" pitchFamily="49" charset="0"/>
              </a:rPr>
              <a:t>; return result in r0</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017314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 ANS</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370958" y="1295401"/>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4254176" y="1295400"/>
            <a:ext cx="4432624" cy="249299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r3, LSL #16</a:t>
            </a: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r0, ASR #16  </a:t>
            </a:r>
            <a:r>
              <a:rPr lang="en-US" sz="1200" dirty="0">
                <a:solidFill>
                  <a:srgbClr val="C00000"/>
                </a:solidFill>
                <a:latin typeface="Consolas" panose="020B0609020204030204" pitchFamily="49" charset="0"/>
                <a:cs typeface="Consolas" panose="020B0609020204030204" pitchFamily="49" charset="0"/>
              </a:rPr>
              <a:t>; r0 = (short) r3 </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
        <p:nvSpPr>
          <p:cNvPr id="7" name="TextBox 6">
            <a:extLst>
              <a:ext uri="{FF2B5EF4-FFF2-40B4-BE49-F238E27FC236}">
                <a16:creationId xmlns:a16="http://schemas.microsoft.com/office/drawing/2014/main" id="{FFE75029-A370-C947-92AB-86784A3F88C0}"/>
              </a:ext>
            </a:extLst>
          </p:cNvPr>
          <p:cNvSpPr txBox="1"/>
          <p:nvPr/>
        </p:nvSpPr>
        <p:spPr>
          <a:xfrm>
            <a:off x="990600"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0x12345678</a:t>
            </a:r>
          </a:p>
        </p:txBody>
      </p:sp>
      <p:cxnSp>
        <p:nvCxnSpPr>
          <p:cNvPr id="9" name="Straight Arrow Connector 8">
            <a:extLst>
              <a:ext uri="{FF2B5EF4-FFF2-40B4-BE49-F238E27FC236}">
                <a16:creationId xmlns:a16="http://schemas.microsoft.com/office/drawing/2014/main" id="{38C06581-F221-454A-B957-F8258EBDE837}"/>
              </a:ext>
            </a:extLst>
          </p:cNvPr>
          <p:cNvCxnSpPr/>
          <p:nvPr/>
        </p:nvCxnSpPr>
        <p:spPr>
          <a:xfrm>
            <a:off x="2190750" y="3502987"/>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80A862-E780-3041-A52F-CEC03FE2AA6F}"/>
              </a:ext>
            </a:extLst>
          </p:cNvPr>
          <p:cNvSpPr txBox="1"/>
          <p:nvPr/>
        </p:nvSpPr>
        <p:spPr>
          <a:xfrm>
            <a:off x="2587729"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0x00005678</a:t>
            </a:r>
          </a:p>
        </p:txBody>
      </p:sp>
      <p:sp>
        <p:nvSpPr>
          <p:cNvPr id="11" name="TextBox 10">
            <a:extLst>
              <a:ext uri="{FF2B5EF4-FFF2-40B4-BE49-F238E27FC236}">
                <a16:creationId xmlns:a16="http://schemas.microsoft.com/office/drawing/2014/main" id="{F73CED4B-2CEE-5847-B651-71C8F701F73C}"/>
              </a:ext>
            </a:extLst>
          </p:cNvPr>
          <p:cNvSpPr txBox="1"/>
          <p:nvPr/>
        </p:nvSpPr>
        <p:spPr>
          <a:xfrm>
            <a:off x="995095"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0x1234ABCD</a:t>
            </a:r>
          </a:p>
        </p:txBody>
      </p:sp>
      <p:cxnSp>
        <p:nvCxnSpPr>
          <p:cNvPr id="12" name="Straight Arrow Connector 11">
            <a:extLst>
              <a:ext uri="{FF2B5EF4-FFF2-40B4-BE49-F238E27FC236}">
                <a16:creationId xmlns:a16="http://schemas.microsoft.com/office/drawing/2014/main" id="{FD215319-D751-D24D-83E5-80D4E6FB9D69}"/>
              </a:ext>
            </a:extLst>
          </p:cNvPr>
          <p:cNvCxnSpPr/>
          <p:nvPr/>
        </p:nvCxnSpPr>
        <p:spPr>
          <a:xfrm>
            <a:off x="2195245" y="3889336"/>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96BB7-6492-2C46-A6BE-EF731ECF740B}"/>
              </a:ext>
            </a:extLst>
          </p:cNvPr>
          <p:cNvSpPr txBox="1"/>
          <p:nvPr/>
        </p:nvSpPr>
        <p:spPr>
          <a:xfrm>
            <a:off x="2592224"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0xFFFFABCD</a:t>
            </a:r>
          </a:p>
        </p:txBody>
      </p:sp>
      <p:sp>
        <p:nvSpPr>
          <p:cNvPr id="14" name="TextBox 13">
            <a:extLst>
              <a:ext uri="{FF2B5EF4-FFF2-40B4-BE49-F238E27FC236}">
                <a16:creationId xmlns:a16="http://schemas.microsoft.com/office/drawing/2014/main" id="{37AC389A-52DF-BA4B-B78C-31E43AB8F715}"/>
              </a:ext>
            </a:extLst>
          </p:cNvPr>
          <p:cNvSpPr txBox="1"/>
          <p:nvPr/>
        </p:nvSpPr>
        <p:spPr>
          <a:xfrm>
            <a:off x="990600" y="2775865"/>
            <a:ext cx="2454518" cy="507831"/>
          </a:xfrm>
          <a:prstGeom prst="rect">
            <a:avLst/>
          </a:prstGeom>
          <a:noFill/>
        </p:spPr>
        <p:txBody>
          <a:bodyPr wrap="none" rtlCol="0">
            <a:spAutoFit/>
          </a:bodyPr>
          <a:lstStyle/>
          <a:p>
            <a:r>
              <a:rPr lang="en-US" sz="1350" dirty="0">
                <a:solidFill>
                  <a:srgbClr val="C00000"/>
                </a:solidFill>
                <a:latin typeface="Consolas" panose="020B0609020204030204" pitchFamily="49" charset="0"/>
                <a:cs typeface="Consolas" panose="020B0609020204030204" pitchFamily="49" charset="0"/>
              </a:rPr>
              <a:t>int32_t x = 0x12345678;</a:t>
            </a:r>
          </a:p>
          <a:p>
            <a:r>
              <a:rPr lang="en-US" sz="1350" dirty="0">
                <a:solidFill>
                  <a:srgbClr val="C00000"/>
                </a:solidFill>
                <a:latin typeface="Consolas" panose="020B0609020204030204" pitchFamily="49" charset="0"/>
                <a:cs typeface="Consolas" panose="020B0609020204030204" pitchFamily="49" charset="0"/>
              </a:rPr>
              <a:t>int16_t y = (int16_t) x;</a:t>
            </a:r>
          </a:p>
        </p:txBody>
      </p:sp>
      <p:sp>
        <p:nvSpPr>
          <p:cNvPr id="8" name="Content Placeholder 3">
            <a:extLst>
              <a:ext uri="{FF2B5EF4-FFF2-40B4-BE49-F238E27FC236}">
                <a16:creationId xmlns:a16="http://schemas.microsoft.com/office/drawing/2014/main" id="{B310A4C8-2DBE-3062-F639-E120AE1AC4CB}"/>
              </a:ext>
            </a:extLst>
          </p:cNvPr>
          <p:cNvSpPr>
            <a:spLocks noGrp="1"/>
          </p:cNvSpPr>
          <p:nvPr>
            <p:ph sz="quarter" idx="1"/>
          </p:nvPr>
        </p:nvSpPr>
        <p:spPr>
          <a:xfrm>
            <a:off x="439479" y="4085114"/>
            <a:ext cx="8229600" cy="2432817"/>
          </a:xfrm>
        </p:spPr>
        <p:txBody>
          <a:bodyPr>
            <a:normAutofit fontScale="85000" lnSpcReduction="20000"/>
          </a:bodyPr>
          <a:lstStyle/>
          <a:p>
            <a:r>
              <a:rPr lang="en-US" dirty="0"/>
              <a:t>C function returns int16_t, but the assembly code puts the return in r0 as a 32-bit word, so that 16-bit value in r3 must be sign-extended to 32 bits before returning</a:t>
            </a:r>
          </a:p>
          <a:p>
            <a:pPr lvl="1"/>
            <a:r>
              <a:rPr lang="en-US" dirty="0"/>
              <a:t>While r3 is 32 bits, the meaningful 16-bit result is in r3[15:0]</a:t>
            </a:r>
          </a:p>
          <a:p>
            <a:pPr lvl="1"/>
            <a:r>
              <a:rPr lang="en-US" dirty="0"/>
              <a:t>r3[31:16] may contain carry-over bits and must be replaced by copies of the sign bit before returning. </a:t>
            </a:r>
          </a:p>
          <a:p>
            <a:pPr lvl="1"/>
            <a:r>
              <a:rPr lang="en-US" dirty="0"/>
              <a:t>Casting an int32_t to int16_t keeps only the low 16 bits and produces 32-bit sign-extended result in r0 (e.g. with SXTH)</a:t>
            </a:r>
          </a:p>
        </p:txBody>
      </p:sp>
    </p:spTree>
    <p:extLst>
      <p:ext uri="{BB962C8B-B14F-4D97-AF65-F5344CB8AC3E}">
        <p14:creationId xmlns:p14="http://schemas.microsoft.com/office/powerpoint/2010/main" val="658532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80E2F-C62E-EF54-5DBD-340196E1CA5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9ECF1D85-43EB-71B3-363D-9FF339EE4AA2}"/>
              </a:ext>
            </a:extLst>
          </p:cNvPr>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4" name="Content Placeholder 3">
            <a:extLst>
              <a:ext uri="{FF2B5EF4-FFF2-40B4-BE49-F238E27FC236}">
                <a16:creationId xmlns:a16="http://schemas.microsoft.com/office/drawing/2014/main" id="{E4F57FE1-A328-6D2A-AFB7-A6C1600FE210}"/>
              </a:ext>
            </a:extLst>
          </p:cNvPr>
          <p:cNvSpPr>
            <a:spLocks noGrp="1"/>
          </p:cNvSpPr>
          <p:nvPr>
            <p:ph sz="quarter" idx="1"/>
          </p:nvPr>
        </p:nvSpPr>
        <p:spPr>
          <a:xfrm>
            <a:off x="457200" y="1219200"/>
            <a:ext cx="8229600" cy="5334000"/>
          </a:xfrm>
        </p:spPr>
        <p:txBody>
          <a:bodyPr>
            <a:normAutofit fontScale="70000" lnSpcReduction="20000"/>
          </a:bodyPr>
          <a:lstStyle/>
          <a:p>
            <a:r>
              <a:rPr lang="en-US" dirty="0"/>
              <a:t>These two lines sign-extend the lower 16 bits of r3 into a full 32-bit value in r0.</a:t>
            </a:r>
          </a:p>
          <a:p>
            <a:r>
              <a:rPr lang="en-US" dirty="0"/>
              <a:t>MOV r0, r3, LSL #16</a:t>
            </a:r>
          </a:p>
          <a:p>
            <a:pPr lvl="1"/>
            <a:r>
              <a:rPr lang="en-US" dirty="0"/>
              <a:t>Shifts the value in r3 left by 16 bits.</a:t>
            </a:r>
          </a:p>
          <a:p>
            <a:pPr lvl="1"/>
            <a:r>
              <a:rPr lang="en-US" dirty="0"/>
              <a:t>The lower 16 bits of r3 (the part we care about) move up into the upper 16 bits of r0.</a:t>
            </a:r>
          </a:p>
          <a:p>
            <a:pPr lvl="1"/>
            <a:r>
              <a:rPr lang="en-US" dirty="0"/>
              <a:t>The bottom 16 bits of r0 become 0.</a:t>
            </a:r>
          </a:p>
          <a:p>
            <a:r>
              <a:rPr lang="en-US" dirty="0"/>
              <a:t>MOV r0, r0, ASR #16</a:t>
            </a:r>
          </a:p>
          <a:p>
            <a:pPr lvl="1"/>
            <a:r>
              <a:rPr lang="en-US" dirty="0"/>
              <a:t>Shifts the value right by 16 bits, but preserves the sign (arithmetic shift).</a:t>
            </a:r>
          </a:p>
          <a:p>
            <a:pPr lvl="1"/>
            <a:r>
              <a:rPr lang="en-US" dirty="0"/>
              <a:t>That means if bit 31 (the sign bit after the first shift) is 1, it fills with 1s; if 0, it fills with 0s.</a:t>
            </a:r>
          </a:p>
          <a:p>
            <a:pPr lvl="1"/>
            <a:r>
              <a:rPr lang="en-US" dirty="0"/>
              <a:t>The result is a sign-extended 16-bit value from the original lower half of r3.</a:t>
            </a:r>
          </a:p>
          <a:p>
            <a:r>
              <a:rPr lang="en-US" dirty="0"/>
              <a:t>Examples: </a:t>
            </a:r>
          </a:p>
          <a:p>
            <a:r>
              <a:rPr lang="en-US" dirty="0"/>
              <a:t>r3 = 0x00001234</a:t>
            </a:r>
          </a:p>
          <a:p>
            <a:pPr lvl="1"/>
            <a:r>
              <a:rPr lang="en-US" dirty="0"/>
              <a:t>LSL #16 → 0x12340000</a:t>
            </a:r>
          </a:p>
          <a:p>
            <a:pPr lvl="1"/>
            <a:r>
              <a:rPr lang="en-US" dirty="0"/>
              <a:t>ASR #16 → 0x00001234</a:t>
            </a:r>
          </a:p>
          <a:p>
            <a:r>
              <a:rPr lang="en-US" dirty="0"/>
              <a:t>r3 = 0x0000ABCD</a:t>
            </a:r>
          </a:p>
          <a:p>
            <a:pPr lvl="1"/>
            <a:r>
              <a:rPr lang="en-US" dirty="0"/>
              <a:t>LSL #16 → 0xABCD0000</a:t>
            </a:r>
          </a:p>
          <a:p>
            <a:pPr lvl="1"/>
            <a:r>
              <a:rPr lang="en-US" dirty="0"/>
              <a:t>ASR #16 → 0xFFFFABCD</a:t>
            </a:r>
          </a:p>
          <a:p>
            <a:r>
              <a:rPr lang="pt-BR" dirty="0"/>
              <a:t>Can be replaced with a single instruction:</a:t>
            </a:r>
          </a:p>
          <a:p>
            <a:pPr lvl="1"/>
            <a:r>
              <a:rPr lang="pt-BR" dirty="0"/>
              <a:t>SXTH  r0, r3   ; r0 = (int16_t) r3, sign-extend</a:t>
            </a:r>
          </a:p>
          <a:p>
            <a:pPr lvl="2"/>
            <a:r>
              <a:rPr lang="en-US" dirty="0"/>
              <a:t>Take the low 16 bits of r3, sign-extend them to 32 bits, and store the result in r0.</a:t>
            </a:r>
          </a:p>
        </p:txBody>
      </p:sp>
    </p:spTree>
    <p:extLst>
      <p:ext uri="{BB962C8B-B14F-4D97-AF65-F5344CB8AC3E}">
        <p14:creationId xmlns:p14="http://schemas.microsoft.com/office/powerpoint/2010/main" val="17578122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2506</TotalTime>
  <Words>5773</Words>
  <Application>Microsoft Office PowerPoint</Application>
  <PresentationFormat>On-screen Show (4:3)</PresentationFormat>
  <Paragraphs>926</Paragraphs>
  <Slides>36</Slides>
  <Notes>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36</vt:i4>
      </vt:variant>
    </vt:vector>
  </HeadingPairs>
  <TitlesOfParts>
    <vt:vector size="50" baseType="lpstr">
      <vt:lpstr>Bookman Old Style (Headings)</vt:lpstr>
      <vt:lpstr>Arial</vt:lpstr>
      <vt:lpstr>Bookman Old Style</vt:lpstr>
      <vt:lpstr>Calibri</vt:lpstr>
      <vt:lpstr>Cambria Math</vt:lpstr>
      <vt:lpstr>Consolas</vt:lpstr>
      <vt:lpstr>Courier New</vt:lpstr>
      <vt:lpstr>Gill Sans MT</vt:lpstr>
      <vt:lpstr>Segoe UI</vt:lpstr>
      <vt:lpstr>Times New Roman</vt:lpstr>
      <vt:lpstr>Wingdings</vt:lpstr>
      <vt:lpstr>Wingdings 3</vt:lpstr>
      <vt:lpstr>Origin</vt:lpstr>
      <vt:lpstr>1_Origin</vt:lpstr>
      <vt:lpstr>Z. Gu</vt:lpstr>
      <vt:lpstr>Stack</vt:lpstr>
      <vt:lpstr>Stack</vt:lpstr>
      <vt:lpstr>Stack</vt:lpstr>
      <vt:lpstr>Stack ANS</vt:lpstr>
      <vt:lpstr>Stack</vt:lpstr>
      <vt:lpstr>Stack ANS</vt:lpstr>
      <vt:lpstr>Stack</vt:lpstr>
      <vt:lpstr>Stack ANS</vt:lpstr>
      <vt:lpstr>Instructions for swapping R1 and R2</vt:lpstr>
      <vt:lpstr>Program Understanding</vt:lpstr>
      <vt:lpstr>Program Understanding ANS</vt:lpstr>
      <vt:lpstr>Passing arguments and Returning Value</vt:lpstr>
      <vt:lpstr>Passing arguments and Returning Value ANS</vt:lpstr>
      <vt:lpstr>Argument Passing</vt:lpstr>
      <vt:lpstr>Argument Passing ANS</vt:lpstr>
      <vt:lpstr>What’s wrong? Passing arguments and Returning Value</vt:lpstr>
      <vt:lpstr>What’s wrong? Passing arguments and Returning Value ANS</vt:lpstr>
      <vt:lpstr>What is Wrong?</vt:lpstr>
      <vt:lpstr>What is Wrong? ANS</vt:lpstr>
      <vt:lpstr>Program Understanding</vt:lpstr>
      <vt:lpstr>Program Understanding ANS</vt:lpstr>
      <vt:lpstr>toLower</vt:lpstr>
      <vt:lpstr>toLower ANS</vt:lpstr>
      <vt:lpstr>Program Understanding</vt:lpstr>
      <vt:lpstr>Program Understanding ANS</vt:lpstr>
      <vt:lpstr>Detailed Explanations</vt:lpstr>
      <vt:lpstr>Separator Page</vt:lpstr>
      <vt:lpstr>If Then Else</vt:lpstr>
      <vt:lpstr>If Then Else ANS</vt:lpstr>
      <vt:lpstr>Factorial</vt:lpstr>
      <vt:lpstr>Factorial</vt:lpstr>
      <vt:lpstr>Factorial ANS</vt:lpstr>
      <vt:lpstr>What is wrong?</vt:lpstr>
      <vt:lpstr>What is wrong? ANS</vt:lpstr>
      <vt:lpstr>Explanations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184</cp:revision>
  <cp:lastPrinted>2018-03-21T12:46:41Z</cp:lastPrinted>
  <dcterms:created xsi:type="dcterms:W3CDTF">2012-11-17T20:04:56Z</dcterms:created>
  <dcterms:modified xsi:type="dcterms:W3CDTF">2026-04-23T15:02:58Z</dcterms:modified>
</cp:coreProperties>
</file>