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98" r:id="rId2"/>
  </p:sldMasterIdLst>
  <p:notesMasterIdLst>
    <p:notesMasterId r:id="rId20"/>
  </p:notesMasterIdLst>
  <p:handoutMasterIdLst>
    <p:handoutMasterId r:id="rId21"/>
  </p:handoutMasterIdLst>
  <p:sldIdLst>
    <p:sldId id="256" r:id="rId3"/>
    <p:sldId id="330" r:id="rId4"/>
    <p:sldId id="324" r:id="rId5"/>
    <p:sldId id="326" r:id="rId6"/>
    <p:sldId id="329" r:id="rId7"/>
    <p:sldId id="327" r:id="rId8"/>
    <p:sldId id="328" r:id="rId9"/>
    <p:sldId id="318" r:id="rId10"/>
    <p:sldId id="319" r:id="rId11"/>
    <p:sldId id="322" r:id="rId12"/>
    <p:sldId id="323" r:id="rId13"/>
    <p:sldId id="311" r:id="rId14"/>
    <p:sldId id="313" r:id="rId15"/>
    <p:sldId id="315" r:id="rId16"/>
    <p:sldId id="320" r:id="rId17"/>
    <p:sldId id="316" r:id="rId18"/>
    <p:sldId id="317" r:id="rId19"/>
  </p:sldIdLst>
  <p:sldSz cx="9144000" cy="6858000" type="screen4x3"/>
  <p:notesSz cx="7023100"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0F0F4C2-C28D-4D40-9616-20E2E07D3462}" v="3" dt="2025-12-02T02:30:28.84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10042" autoAdjust="0"/>
    <p:restoredTop sz="86734" autoAdjust="0"/>
  </p:normalViewPr>
  <p:slideViewPr>
    <p:cSldViewPr>
      <p:cViewPr varScale="1">
        <p:scale>
          <a:sx n="82" d="100"/>
          <a:sy n="82" d="100"/>
        </p:scale>
        <p:origin x="1733" y="82"/>
      </p:cViewPr>
      <p:guideLst>
        <p:guide orient="horz" pos="2160"/>
        <p:guide pos="2880"/>
      </p:guideLst>
    </p:cSldViewPr>
  </p:slideViewPr>
  <p:notesTextViewPr>
    <p:cViewPr>
      <p:scale>
        <a:sx n="1" d="1"/>
        <a:sy n="1" d="1"/>
      </p:scale>
      <p:origin x="0" y="0"/>
    </p:cViewPr>
  </p:notesTextViewPr>
  <p:sorterViewPr>
    <p:cViewPr varScale="1">
      <p:scale>
        <a:sx n="1" d="1"/>
        <a:sy n="1" d="1"/>
      </p:scale>
      <p:origin x="0" y="-1392"/>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microsoft.com/office/2016/11/relationships/changesInfo" Target="changesInfos/changesInfo1.xml"/><Relationship Id="rId3" Type="http://schemas.openxmlformats.org/officeDocument/2006/relationships/slide" Target="slides/slide1.xml"/><Relationship Id="rId21" Type="http://schemas.openxmlformats.org/officeDocument/2006/relationships/handoutMaster" Target="handoutMasters/handout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undo custSel addSld delSld modSld delMainMaster">
      <pc:chgData name="Zonghua Gu" userId="9a7e1853e1951ef5" providerId="LiveId" clId="{CF1FAA12-072C-4ED5-BA76-0FFFAEFDB88A}" dt="2025-12-02T02:30:56.181" v="139" actId="47"/>
      <pc:docMkLst>
        <pc:docMk/>
      </pc:docMkLst>
      <pc:sldChg chg="del">
        <pc:chgData name="Zonghua Gu" userId="9a7e1853e1951ef5" providerId="LiveId" clId="{CF1FAA12-072C-4ED5-BA76-0FFFAEFDB88A}" dt="2025-12-02T02:30:56.181" v="139" actId="47"/>
        <pc:sldMkLst>
          <pc:docMk/>
          <pc:sldMk cId="380073498" sldId="314"/>
        </pc:sldMkLst>
      </pc:sldChg>
      <pc:sldChg chg="add">
        <pc:chgData name="Zonghua Gu" userId="9a7e1853e1951ef5" providerId="LiveId" clId="{CF1FAA12-072C-4ED5-BA76-0FFFAEFDB88A}" dt="2025-12-02T02:29:47.555" v="135"/>
        <pc:sldMkLst>
          <pc:docMk/>
          <pc:sldMk cId="931078930" sldId="315"/>
        </pc:sldMkLst>
      </pc:sldChg>
      <pc:sldChg chg="modSp add mod">
        <pc:chgData name="Zonghua Gu" userId="9a7e1853e1951ef5" providerId="LiveId" clId="{CF1FAA12-072C-4ED5-BA76-0FFFAEFDB88A}" dt="2025-12-02T02:30:28.954" v="138" actId="27636"/>
        <pc:sldMkLst>
          <pc:docMk/>
          <pc:sldMk cId="711508281" sldId="316"/>
        </pc:sldMkLst>
        <pc:spChg chg="mod">
          <ac:chgData name="Zonghua Gu" userId="9a7e1853e1951ef5" providerId="LiveId" clId="{CF1FAA12-072C-4ED5-BA76-0FFFAEFDB88A}" dt="2025-12-02T02:30:28.954" v="138" actId="27636"/>
          <ac:spMkLst>
            <pc:docMk/>
            <pc:sldMk cId="711508281" sldId="316"/>
            <ac:spMk id="4" creationId="{306AF55F-06A9-F112-5FB4-9B7BF0166B2C}"/>
          </ac:spMkLst>
        </pc:spChg>
      </pc:sldChg>
      <pc:sldChg chg="add">
        <pc:chgData name="Zonghua Gu" userId="9a7e1853e1951ef5" providerId="LiveId" clId="{CF1FAA12-072C-4ED5-BA76-0FFFAEFDB88A}" dt="2025-12-02T02:29:47.555" v="135"/>
        <pc:sldMkLst>
          <pc:docMk/>
          <pc:sldMk cId="1263936613" sldId="317"/>
        </pc:sldMkLst>
      </pc:sldChg>
      <pc:sldChg chg="add">
        <pc:chgData name="Zonghua Gu" userId="9a7e1853e1951ef5" providerId="LiveId" clId="{CF1FAA12-072C-4ED5-BA76-0FFFAEFDB88A}" dt="2025-12-02T02:29:47.555" v="135"/>
        <pc:sldMkLst>
          <pc:docMk/>
          <pc:sldMk cId="3414502414" sldId="320"/>
        </pc:sldMkLst>
      </pc:sldChg>
      <pc:sldChg chg="addSp modSp add">
        <pc:chgData name="Zonghua Gu" userId="9a7e1853e1951ef5" providerId="LiveId" clId="{CF1FAA12-072C-4ED5-BA76-0FFFAEFDB88A}" dt="2025-12-02T02:30:28.845" v="137"/>
        <pc:sldMkLst>
          <pc:docMk/>
          <pc:sldMk cId="3877779242" sldId="330"/>
        </pc:sldMkLst>
        <pc:spChg chg="add mod">
          <ac:chgData name="Zonghua Gu" userId="9a7e1853e1951ef5" providerId="LiveId" clId="{CF1FAA12-072C-4ED5-BA76-0FFFAEFDB88A}" dt="2025-12-02T02:30:28.845" v="137"/>
          <ac:spMkLst>
            <pc:docMk/>
            <pc:sldMk cId="3877779242" sldId="330"/>
            <ac:spMk id="2" creationId="{16E97F0F-FB59-0BA9-A773-9E1AD66DA5B3}"/>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5455"/>
          </a:xfrm>
          <a:prstGeom prst="rect">
            <a:avLst/>
          </a:prstGeom>
        </p:spPr>
        <p:txBody>
          <a:bodyPr vert="horz" lIns="93324" tIns="46662" rIns="93324" bIns="46662" rtlCol="0"/>
          <a:lstStyle>
            <a:lvl1pPr algn="l">
              <a:defRPr sz="1200"/>
            </a:lvl1pPr>
          </a:lstStyle>
          <a:p>
            <a:endParaRPr lang="en-US"/>
          </a:p>
        </p:txBody>
      </p:sp>
      <p:sp>
        <p:nvSpPr>
          <p:cNvPr id="3" name="Date Placeholder 2"/>
          <p:cNvSpPr>
            <a:spLocks noGrp="1"/>
          </p:cNvSpPr>
          <p:nvPr>
            <p:ph type="dt" sz="quarter" idx="1"/>
          </p:nvPr>
        </p:nvSpPr>
        <p:spPr>
          <a:xfrm>
            <a:off x="3978132" y="0"/>
            <a:ext cx="3043343" cy="465455"/>
          </a:xfrm>
          <a:prstGeom prst="rect">
            <a:avLst/>
          </a:prstGeom>
        </p:spPr>
        <p:txBody>
          <a:bodyPr vert="horz" lIns="93324" tIns="46662" rIns="93324" bIns="46662" rtlCol="0"/>
          <a:lstStyle>
            <a:lvl1pPr algn="r">
              <a:defRPr sz="1200"/>
            </a:lvl1pPr>
          </a:lstStyle>
          <a:p>
            <a:fld id="{BD4F56A7-3CDE-194F-B9AF-D598FBBF1989}" type="datetimeFigureOut">
              <a:rPr lang="en-US" smtClean="0"/>
              <a:pPr/>
              <a:t>12/1/2025</a:t>
            </a:fld>
            <a:endParaRPr lang="en-US"/>
          </a:p>
        </p:txBody>
      </p:sp>
      <p:sp>
        <p:nvSpPr>
          <p:cNvPr id="4" name="Footer Placeholder 3"/>
          <p:cNvSpPr>
            <a:spLocks noGrp="1"/>
          </p:cNvSpPr>
          <p:nvPr>
            <p:ph type="ftr" sz="quarter" idx="2"/>
          </p:nvPr>
        </p:nvSpPr>
        <p:spPr>
          <a:xfrm>
            <a:off x="0" y="8842029"/>
            <a:ext cx="3043343" cy="465455"/>
          </a:xfrm>
          <a:prstGeom prst="rect">
            <a:avLst/>
          </a:prstGeom>
        </p:spPr>
        <p:txBody>
          <a:bodyPr vert="horz" lIns="93324" tIns="46662" rIns="93324" bIns="46662" rtlCol="0" anchor="b"/>
          <a:lstStyle>
            <a:lvl1pPr algn="l">
              <a:defRPr sz="1200"/>
            </a:lvl1pPr>
          </a:lstStyle>
          <a:p>
            <a:endParaRPr lang="en-US"/>
          </a:p>
        </p:txBody>
      </p:sp>
      <p:sp>
        <p:nvSpPr>
          <p:cNvPr id="5" name="Slide Number Placeholder 4"/>
          <p:cNvSpPr>
            <a:spLocks noGrp="1"/>
          </p:cNvSpPr>
          <p:nvPr>
            <p:ph type="sldNum" sz="quarter" idx="3"/>
          </p:nvPr>
        </p:nvSpPr>
        <p:spPr>
          <a:xfrm>
            <a:off x="3978132" y="8842029"/>
            <a:ext cx="3043343" cy="465455"/>
          </a:xfrm>
          <a:prstGeom prst="rect">
            <a:avLst/>
          </a:prstGeom>
        </p:spPr>
        <p:txBody>
          <a:bodyPr vert="horz" lIns="93324" tIns="46662" rIns="93324" bIns="46662" rtlCol="0" anchor="b"/>
          <a:lstStyle>
            <a:lvl1pPr algn="r">
              <a:defRPr sz="1200"/>
            </a:lvl1pPr>
          </a:lstStyle>
          <a:p>
            <a:fld id="{EE1097CB-F954-3545-B5D0-357D0C1748E3}" type="slidenum">
              <a:rPr lang="en-US" smtClean="0"/>
              <a:pPr/>
              <a:t>‹#›</a:t>
            </a:fld>
            <a:endParaRPr lang="en-US"/>
          </a:p>
        </p:txBody>
      </p:sp>
    </p:spTree>
    <p:extLst>
      <p:ext uri="{BB962C8B-B14F-4D97-AF65-F5344CB8AC3E}">
        <p14:creationId xmlns:p14="http://schemas.microsoft.com/office/powerpoint/2010/main" val="317664066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5455"/>
          </a:xfrm>
          <a:prstGeom prst="rect">
            <a:avLst/>
          </a:prstGeom>
        </p:spPr>
        <p:txBody>
          <a:bodyPr vert="horz" lIns="93324" tIns="46662" rIns="93324" bIns="46662" rtlCol="0"/>
          <a:lstStyle>
            <a:lvl1pPr algn="l">
              <a:defRPr sz="1200"/>
            </a:lvl1pPr>
          </a:lstStyle>
          <a:p>
            <a:endParaRPr lang="en-US"/>
          </a:p>
        </p:txBody>
      </p:sp>
      <p:sp>
        <p:nvSpPr>
          <p:cNvPr id="3" name="Date Placeholder 2"/>
          <p:cNvSpPr>
            <a:spLocks noGrp="1"/>
          </p:cNvSpPr>
          <p:nvPr>
            <p:ph type="dt" idx="1"/>
          </p:nvPr>
        </p:nvSpPr>
        <p:spPr>
          <a:xfrm>
            <a:off x="3978132" y="0"/>
            <a:ext cx="3043343" cy="465455"/>
          </a:xfrm>
          <a:prstGeom prst="rect">
            <a:avLst/>
          </a:prstGeom>
        </p:spPr>
        <p:txBody>
          <a:bodyPr vert="horz" lIns="93324" tIns="46662" rIns="93324" bIns="46662" rtlCol="0"/>
          <a:lstStyle>
            <a:lvl1pPr algn="r">
              <a:defRPr sz="1200"/>
            </a:lvl1pPr>
          </a:lstStyle>
          <a:p>
            <a:fld id="{1E52AD58-60CE-E948-9CBA-0BD7030FC28E}" type="datetimeFigureOut">
              <a:rPr lang="en-US" smtClean="0"/>
              <a:pPr/>
              <a:t>12/1/2025</a:t>
            </a:fld>
            <a:endParaRPr lang="en-US"/>
          </a:p>
        </p:txBody>
      </p:sp>
      <p:sp>
        <p:nvSpPr>
          <p:cNvPr id="4" name="Slide Image Placeholder 3"/>
          <p:cNvSpPr>
            <a:spLocks noGrp="1" noRot="1" noChangeAspect="1"/>
          </p:cNvSpPr>
          <p:nvPr>
            <p:ph type="sldImg" idx="2"/>
          </p:nvPr>
        </p:nvSpPr>
        <p:spPr>
          <a:xfrm>
            <a:off x="1184275" y="698500"/>
            <a:ext cx="4654550" cy="3490913"/>
          </a:xfrm>
          <a:prstGeom prst="rect">
            <a:avLst/>
          </a:prstGeom>
          <a:noFill/>
          <a:ln w="12700">
            <a:solidFill>
              <a:prstClr val="black"/>
            </a:solidFill>
          </a:ln>
        </p:spPr>
        <p:txBody>
          <a:bodyPr vert="horz" lIns="93324" tIns="46662" rIns="93324" bIns="46662" rtlCol="0" anchor="ctr"/>
          <a:lstStyle/>
          <a:p>
            <a:endParaRPr lang="en-US"/>
          </a:p>
        </p:txBody>
      </p:sp>
      <p:sp>
        <p:nvSpPr>
          <p:cNvPr id="5" name="Notes Placeholder 4"/>
          <p:cNvSpPr>
            <a:spLocks noGrp="1"/>
          </p:cNvSpPr>
          <p:nvPr>
            <p:ph type="body" sz="quarter" idx="3"/>
          </p:nvPr>
        </p:nvSpPr>
        <p:spPr>
          <a:xfrm>
            <a:off x="702310" y="4421823"/>
            <a:ext cx="5618480" cy="4189095"/>
          </a:xfrm>
          <a:prstGeom prst="rect">
            <a:avLst/>
          </a:prstGeom>
        </p:spPr>
        <p:txBody>
          <a:bodyPr vert="horz" lIns="93324" tIns="46662" rIns="93324" bIns="46662"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029"/>
            <a:ext cx="3043343" cy="465455"/>
          </a:xfrm>
          <a:prstGeom prst="rect">
            <a:avLst/>
          </a:prstGeom>
        </p:spPr>
        <p:txBody>
          <a:bodyPr vert="horz" lIns="93324" tIns="46662" rIns="93324" bIns="46662" rtlCol="0" anchor="b"/>
          <a:lstStyle>
            <a:lvl1pPr algn="l">
              <a:defRPr sz="1200"/>
            </a:lvl1pPr>
          </a:lstStyle>
          <a:p>
            <a:endParaRPr lang="en-US"/>
          </a:p>
        </p:txBody>
      </p:sp>
      <p:sp>
        <p:nvSpPr>
          <p:cNvPr id="7" name="Slide Number Placeholder 6"/>
          <p:cNvSpPr>
            <a:spLocks noGrp="1"/>
          </p:cNvSpPr>
          <p:nvPr>
            <p:ph type="sldNum" sz="quarter" idx="5"/>
          </p:nvPr>
        </p:nvSpPr>
        <p:spPr>
          <a:xfrm>
            <a:off x="3978132" y="8842029"/>
            <a:ext cx="3043343" cy="465455"/>
          </a:xfrm>
          <a:prstGeom prst="rect">
            <a:avLst/>
          </a:prstGeom>
        </p:spPr>
        <p:txBody>
          <a:bodyPr vert="horz" lIns="93324" tIns="46662" rIns="93324" bIns="46662" rtlCol="0" anchor="b"/>
          <a:lstStyle>
            <a:lvl1pPr algn="r">
              <a:defRPr sz="1200"/>
            </a:lvl1pPr>
          </a:lstStyle>
          <a:p>
            <a:fld id="{D624DF53-3DD3-9F45-9E7E-472B96F1AB81}" type="slidenum">
              <a:rPr lang="en-US" smtClean="0"/>
              <a:pPr/>
              <a:t>‹#›</a:t>
            </a:fld>
            <a:endParaRPr lang="en-US"/>
          </a:p>
        </p:txBody>
      </p:sp>
    </p:spTree>
    <p:extLst>
      <p:ext uri="{BB962C8B-B14F-4D97-AF65-F5344CB8AC3E}">
        <p14:creationId xmlns:p14="http://schemas.microsoft.com/office/powerpoint/2010/main" val="1681763880"/>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B0C9D69-9831-4844-8B1E-062B2DA58B0D}"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073543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Suppose the clock source that drives the timer counter has a frequency of 80 </a:t>
            </a:r>
            <a:r>
              <a:rPr lang="en-US" dirty="0" err="1"/>
              <a:t>MHz.</a:t>
            </a:r>
            <a:r>
              <a:rPr lang="en-US" dirty="0"/>
              <a:t> We want to generate a </a:t>
            </a:r>
            <a:r>
              <a:rPr lang="en-US" dirty="0" err="1"/>
              <a:t>SysTick</a:t>
            </a:r>
            <a:r>
              <a:rPr lang="en-US" dirty="0"/>
              <a:t> interrupt every 10 milliseconds. What is the reload value? {{Pause=2}} Here is the diagram of </a:t>
            </a:r>
            <a:r>
              <a:rPr lang="en-US" dirty="0" err="1"/>
              <a:t>SysTicks</a:t>
            </a:r>
            <a:r>
              <a:rPr lang="en-US" dirty="0"/>
              <a:t>. {{Pause=0.5}} This is the clock signal, which has a frequency of 80 </a:t>
            </a:r>
            <a:r>
              <a:rPr lang="en-US" dirty="0" err="1"/>
              <a:t>MHz.</a:t>
            </a:r>
            <a:r>
              <a:rPr lang="en-US" dirty="0"/>
              <a:t> A </a:t>
            </a:r>
            <a:r>
              <a:rPr lang="en-US" dirty="0" err="1"/>
              <a:t>SysTick</a:t>
            </a:r>
            <a:r>
              <a:rPr lang="en-US" dirty="0"/>
              <a:t> interrupt is generated every 10 milliseconds. {{Pause=0.5}} An interrupt is generated when the counter makes the transition from 1 to 0.  {{Pause=1} It takes a total of, reload plus 1, cycles to count down from the reload value to 0. {{Pause=0.5}} The reload value is calculated in this way. Reload value equals to 10 milliseconds, divided by the clock period, minus 1.  This is equivalent to 10 milliseconds, multiply the clock frequency, minus 1.  {{Pause=0.5}} The final result is 799999.</a:t>
            </a:r>
          </a:p>
        </p:txBody>
      </p:sp>
      <p:sp>
        <p:nvSpPr>
          <p:cNvPr id="4" name="Slide Number Placeholder 3"/>
          <p:cNvSpPr>
            <a:spLocks noGrp="1"/>
          </p:cNvSpPr>
          <p:nvPr>
            <p:ph type="sldNum" sz="quarter" idx="10"/>
          </p:nvPr>
        </p:nvSpPr>
        <p:spPr/>
        <p:txBody>
          <a:bodyPr/>
          <a:lstStyle/>
          <a:p>
            <a:pPr defTabSz="933237">
              <a:defRPr/>
            </a:pPr>
            <a:fld id="{D624DF53-3DD3-9F45-9E7E-472B96F1AB81}" type="slidenum">
              <a:rPr lang="en-US">
                <a:solidFill>
                  <a:prstClr val="black"/>
                </a:solidFill>
                <a:latin typeface="Calibri"/>
              </a:rPr>
              <a:pPr defTabSz="933237">
                <a:defRPr/>
              </a:pPr>
              <a:t>3</a:t>
            </a:fld>
            <a:endParaRPr lang="en-US">
              <a:solidFill>
                <a:prstClr val="black"/>
              </a:solidFill>
              <a:latin typeface="Calibri"/>
            </a:endParaRPr>
          </a:p>
        </p:txBody>
      </p:sp>
    </p:spTree>
    <p:extLst>
      <p:ext uri="{BB962C8B-B14F-4D97-AF65-F5344CB8AC3E}">
        <p14:creationId xmlns:p14="http://schemas.microsoft.com/office/powerpoint/2010/main" val="28229101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Suppose the clock source that drives the timer counter has a frequency of 80 </a:t>
            </a:r>
            <a:r>
              <a:rPr lang="en-US" dirty="0" err="1"/>
              <a:t>MHz.</a:t>
            </a:r>
            <a:r>
              <a:rPr lang="en-US" dirty="0"/>
              <a:t> We want to generate a </a:t>
            </a:r>
            <a:r>
              <a:rPr lang="en-US" dirty="0" err="1"/>
              <a:t>SysTick</a:t>
            </a:r>
            <a:r>
              <a:rPr lang="en-US" dirty="0"/>
              <a:t> interrupt every 10 milliseconds. What is the reload value? {{Pause=2}} Here is the diagram of </a:t>
            </a:r>
            <a:r>
              <a:rPr lang="en-US" dirty="0" err="1"/>
              <a:t>SysTicks</a:t>
            </a:r>
            <a:r>
              <a:rPr lang="en-US" dirty="0"/>
              <a:t>. {{Pause=0.5}} This is the clock signal, which has a frequency of 80 </a:t>
            </a:r>
            <a:r>
              <a:rPr lang="en-US" dirty="0" err="1"/>
              <a:t>MHz.</a:t>
            </a:r>
            <a:r>
              <a:rPr lang="en-US" dirty="0"/>
              <a:t> A </a:t>
            </a:r>
            <a:r>
              <a:rPr lang="en-US" dirty="0" err="1"/>
              <a:t>SysTick</a:t>
            </a:r>
            <a:r>
              <a:rPr lang="en-US" dirty="0"/>
              <a:t> interrupt is generated every 10 milliseconds. {{Pause=0.5}} An interrupt is generated when the counter makes the transition from 1 to 0.  {{Pause=1} It takes a total of, reload plus 1, cycles to count down from the reload value to 0. {{Pause=0.5}} The reload value is calculated in this way. Reload value equals to 10 milliseconds, divided by the clock period, minus 1.  This is equivalent to 10 milliseconds, multiply the clock frequency, minus 1.  {{Pause=0.5}} The final result is 799999.</a:t>
            </a:r>
          </a:p>
        </p:txBody>
      </p:sp>
      <p:sp>
        <p:nvSpPr>
          <p:cNvPr id="4" name="Slide Number Placeholder 3"/>
          <p:cNvSpPr>
            <a:spLocks noGrp="1"/>
          </p:cNvSpPr>
          <p:nvPr>
            <p:ph type="sldNum" sz="quarter" idx="10"/>
          </p:nvPr>
        </p:nvSpPr>
        <p:spPr/>
        <p:txBody>
          <a:bodyPr/>
          <a:lstStyle/>
          <a:p>
            <a:pPr defTabSz="933237">
              <a:defRPr/>
            </a:pPr>
            <a:fld id="{D624DF53-3DD3-9F45-9E7E-472B96F1AB81}" type="slidenum">
              <a:rPr lang="en-US">
                <a:solidFill>
                  <a:prstClr val="black"/>
                </a:solidFill>
                <a:latin typeface="Calibri"/>
              </a:rPr>
              <a:pPr defTabSz="933237">
                <a:defRPr/>
              </a:pPr>
              <a:t>4</a:t>
            </a:fld>
            <a:endParaRPr lang="en-US">
              <a:solidFill>
                <a:prstClr val="black"/>
              </a:solidFill>
              <a:latin typeface="Calibri"/>
            </a:endParaRPr>
          </a:p>
        </p:txBody>
      </p:sp>
    </p:spTree>
    <p:extLst>
      <p:ext uri="{BB962C8B-B14F-4D97-AF65-F5344CB8AC3E}">
        <p14:creationId xmlns:p14="http://schemas.microsoft.com/office/powerpoint/2010/main" val="32450905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Suppose the clock source that drives the timer counter has a frequency of 80 </a:t>
            </a:r>
            <a:r>
              <a:rPr lang="en-US" dirty="0" err="1"/>
              <a:t>MHz.</a:t>
            </a:r>
            <a:r>
              <a:rPr lang="en-US" dirty="0"/>
              <a:t> We want to generate a </a:t>
            </a:r>
            <a:r>
              <a:rPr lang="en-US" dirty="0" err="1"/>
              <a:t>SysTick</a:t>
            </a:r>
            <a:r>
              <a:rPr lang="en-US" dirty="0"/>
              <a:t> interrupt every 10 milliseconds. What is the reload value? {{Pause=2}} Here is the diagram of </a:t>
            </a:r>
            <a:r>
              <a:rPr lang="en-US" dirty="0" err="1"/>
              <a:t>SysTicks</a:t>
            </a:r>
            <a:r>
              <a:rPr lang="en-US" dirty="0"/>
              <a:t>. {{Pause=0.5}} This is the clock signal, which has a frequency of 80 </a:t>
            </a:r>
            <a:r>
              <a:rPr lang="en-US" dirty="0" err="1"/>
              <a:t>MHz.</a:t>
            </a:r>
            <a:r>
              <a:rPr lang="en-US" dirty="0"/>
              <a:t> A </a:t>
            </a:r>
            <a:r>
              <a:rPr lang="en-US" dirty="0" err="1"/>
              <a:t>SysTick</a:t>
            </a:r>
            <a:r>
              <a:rPr lang="en-US" dirty="0"/>
              <a:t> interrupt is generated every 10 milliseconds. {{Pause=0.5}} An interrupt is generated when the counter makes the transition from 1 to 0.  {{Pause=1} It takes a total of, reload plus 1, cycles to count down from the reload value to 0. {{Pause=0.5}} The reload value is calculated in this way. Reload value equals to 10 milliseconds, divided by the clock period, minus 1.  This is equivalent to 10 milliseconds, multiply the clock frequency, minus 1.  {{Pause=0.5}} The final result is 799999.</a:t>
            </a:r>
          </a:p>
        </p:txBody>
      </p:sp>
      <p:sp>
        <p:nvSpPr>
          <p:cNvPr id="4" name="Slide Number Placeholder 3"/>
          <p:cNvSpPr>
            <a:spLocks noGrp="1"/>
          </p:cNvSpPr>
          <p:nvPr>
            <p:ph type="sldNum" sz="quarter" idx="10"/>
          </p:nvPr>
        </p:nvSpPr>
        <p:spPr/>
        <p:txBody>
          <a:bodyPr/>
          <a:lstStyle/>
          <a:p>
            <a:pPr defTabSz="933237">
              <a:defRPr/>
            </a:pPr>
            <a:fld id="{D624DF53-3DD3-9F45-9E7E-472B96F1AB81}" type="slidenum">
              <a:rPr lang="en-US">
                <a:solidFill>
                  <a:prstClr val="black"/>
                </a:solidFill>
                <a:latin typeface="Calibri"/>
              </a:rPr>
              <a:pPr defTabSz="933237">
                <a:defRPr/>
              </a:pPr>
              <a:t>6</a:t>
            </a:fld>
            <a:endParaRPr lang="en-US">
              <a:solidFill>
                <a:prstClr val="black"/>
              </a:solidFill>
              <a:latin typeface="Calibri"/>
            </a:endParaRPr>
          </a:p>
        </p:txBody>
      </p:sp>
    </p:spTree>
    <p:extLst>
      <p:ext uri="{BB962C8B-B14F-4D97-AF65-F5344CB8AC3E}">
        <p14:creationId xmlns:p14="http://schemas.microsoft.com/office/powerpoint/2010/main" val="7697059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Suppose the clock source that drives the timer counter has a frequency of 80 </a:t>
            </a:r>
            <a:r>
              <a:rPr lang="en-US" dirty="0" err="1"/>
              <a:t>MHz.</a:t>
            </a:r>
            <a:r>
              <a:rPr lang="en-US" dirty="0"/>
              <a:t> We want to generate a </a:t>
            </a:r>
            <a:r>
              <a:rPr lang="en-US" dirty="0" err="1"/>
              <a:t>SysTick</a:t>
            </a:r>
            <a:r>
              <a:rPr lang="en-US" dirty="0"/>
              <a:t> interrupt every 10 milliseconds. What is the reload value? {{Pause=2}} Here is the diagram of </a:t>
            </a:r>
            <a:r>
              <a:rPr lang="en-US" dirty="0" err="1"/>
              <a:t>SysTicks</a:t>
            </a:r>
            <a:r>
              <a:rPr lang="en-US" dirty="0"/>
              <a:t>. {{Pause=0.5}} This is the clock signal, which has a frequency of 80 </a:t>
            </a:r>
            <a:r>
              <a:rPr lang="en-US" dirty="0" err="1"/>
              <a:t>MHz.</a:t>
            </a:r>
            <a:r>
              <a:rPr lang="en-US" dirty="0"/>
              <a:t> A </a:t>
            </a:r>
            <a:r>
              <a:rPr lang="en-US" dirty="0" err="1"/>
              <a:t>SysTick</a:t>
            </a:r>
            <a:r>
              <a:rPr lang="en-US" dirty="0"/>
              <a:t> interrupt is generated every 10 milliseconds. {{Pause=0.5}} An interrupt is generated when the counter makes the transition from 1 to 0.  {{Pause=1} It takes a total of, reload plus 1, cycles to count down from the reload value to 0. {{Pause=0.5}} The reload value is calculated in this way. Reload value equals to 10 milliseconds, divided by the clock period, minus 1.  This is equivalent to 10 milliseconds, multiply the clock frequency, minus 1.  {{Pause=0.5}} The final result is 799999.</a:t>
            </a:r>
          </a:p>
        </p:txBody>
      </p:sp>
      <p:sp>
        <p:nvSpPr>
          <p:cNvPr id="4" name="Slide Number Placeholder 3"/>
          <p:cNvSpPr>
            <a:spLocks noGrp="1"/>
          </p:cNvSpPr>
          <p:nvPr>
            <p:ph type="sldNum" sz="quarter" idx="10"/>
          </p:nvPr>
        </p:nvSpPr>
        <p:spPr/>
        <p:txBody>
          <a:bodyPr/>
          <a:lstStyle/>
          <a:p>
            <a:pPr defTabSz="933237">
              <a:defRPr/>
            </a:pPr>
            <a:fld id="{D624DF53-3DD3-9F45-9E7E-472B96F1AB81}" type="slidenum">
              <a:rPr lang="en-US">
                <a:solidFill>
                  <a:prstClr val="black"/>
                </a:solidFill>
                <a:latin typeface="Calibri"/>
              </a:rPr>
              <a:pPr defTabSz="933237">
                <a:defRPr/>
              </a:pPr>
              <a:t>7</a:t>
            </a:fld>
            <a:endParaRPr lang="en-US">
              <a:solidFill>
                <a:prstClr val="black"/>
              </a:solidFill>
              <a:latin typeface="Calibri"/>
            </a:endParaRPr>
          </a:p>
        </p:txBody>
      </p:sp>
    </p:spTree>
    <p:extLst>
      <p:ext uri="{BB962C8B-B14F-4D97-AF65-F5344CB8AC3E}">
        <p14:creationId xmlns:p14="http://schemas.microsoft.com/office/powerpoint/2010/main" val="9124283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12000</a:t>
            </a:r>
          </a:p>
          <a:p>
            <a:r>
              <a:rPr lang="en-US" dirty="0"/>
              <a:t>2400</a:t>
            </a:r>
          </a:p>
        </p:txBody>
      </p:sp>
      <p:sp>
        <p:nvSpPr>
          <p:cNvPr id="4" name="Slide Number Placeholder 3"/>
          <p:cNvSpPr>
            <a:spLocks noGrp="1"/>
          </p:cNvSpPr>
          <p:nvPr>
            <p:ph type="sldNum" sz="quarter" idx="5"/>
          </p:nvPr>
        </p:nvSpPr>
        <p:spPr/>
        <p:txBody>
          <a:bodyPr/>
          <a:lstStyle/>
          <a:p>
            <a:fld id="{D624DF53-3DD3-9F45-9E7E-472B96F1AB81}" type="slidenum">
              <a:rPr lang="en-US" smtClean="0"/>
              <a:pPr/>
              <a:t>14</a:t>
            </a:fld>
            <a:endParaRPr lang="en-US"/>
          </a:p>
        </p:txBody>
      </p:sp>
    </p:spTree>
    <p:extLst>
      <p:ext uri="{BB962C8B-B14F-4D97-AF65-F5344CB8AC3E}">
        <p14:creationId xmlns:p14="http://schemas.microsoft.com/office/powerpoint/2010/main" val="38732215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What value should you use for ARR to get a </a:t>
            </a:r>
            <a:r>
              <a:rPr lang="en-US" dirty="0" err="1"/>
              <a:t>SysTick</a:t>
            </a:r>
            <a:r>
              <a:rPr lang="en-US" dirty="0"/>
              <a:t> timer interrupt every 70ms on a processor LP1768? </a:t>
            </a:r>
          </a:p>
          <a:p>
            <a:r>
              <a:rPr lang="en-US" dirty="0"/>
              <a:t>b) If you used the same value for ARR from part (a) but ran that code on a newer microcontroller with CPU frequency of 100 MHz (no </a:t>
            </a:r>
            <a:r>
              <a:rPr lang="en-US" dirty="0" err="1"/>
              <a:t>prescaler</a:t>
            </a:r>
            <a:r>
              <a:rPr lang="en-US" dirty="0"/>
              <a:t>), how often would </a:t>
            </a:r>
            <a:r>
              <a:rPr lang="en-US" dirty="0" err="1"/>
              <a:t>SysTick</a:t>
            </a:r>
            <a:r>
              <a:rPr lang="en-US" dirty="0"/>
              <a:t> interrupts occur?</a:t>
            </a:r>
          </a:p>
          <a:p>
            <a:endParaRPr lang="en-US" dirty="0"/>
          </a:p>
        </p:txBody>
      </p:sp>
      <p:sp>
        <p:nvSpPr>
          <p:cNvPr id="4" name="Slide Number Placeholder 3"/>
          <p:cNvSpPr>
            <a:spLocks noGrp="1"/>
          </p:cNvSpPr>
          <p:nvPr>
            <p:ph type="sldNum" sz="quarter" idx="5"/>
          </p:nvPr>
        </p:nvSpPr>
        <p:spPr/>
        <p:txBody>
          <a:bodyPr/>
          <a:lstStyle/>
          <a:p>
            <a:fld id="{D624DF53-3DD3-9F45-9E7E-472B96F1AB81}" type="slidenum">
              <a:rPr lang="en-US" smtClean="0"/>
              <a:pPr/>
              <a:t>15</a:t>
            </a:fld>
            <a:endParaRPr lang="en-US"/>
          </a:p>
        </p:txBody>
      </p:sp>
    </p:spTree>
    <p:extLst>
      <p:ext uri="{BB962C8B-B14F-4D97-AF65-F5344CB8AC3E}">
        <p14:creationId xmlns:p14="http://schemas.microsoft.com/office/powerpoint/2010/main" val="12663558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pPr eaLnBrk="1" latinLnBrk="0" hangingPunct="1"/>
            <a:fld id="{8E8B2B42-CBC2-7D4E-BA50-0E7F29B4DAAB}" type="datetime1">
              <a:rPr lang="en-US" smtClean="0"/>
              <a:t>12/1/2025</a:t>
            </a:fld>
            <a:endParaRPr lang="en-US" sz="1600" dirty="0"/>
          </a:p>
        </p:txBody>
      </p:sp>
      <p:sp>
        <p:nvSpPr>
          <p:cNvPr id="17" name="Footer Placeholder 16"/>
          <p:cNvSpPr>
            <a:spLocks noGrp="1"/>
          </p:cNvSpPr>
          <p:nvPr>
            <p:ph type="ftr" sz="quarter" idx="11"/>
          </p:nvPr>
        </p:nvSpPr>
        <p:spPr>
          <a:xfrm>
            <a:off x="2898648" y="6355080"/>
            <a:ext cx="3474720" cy="365760"/>
          </a:xfrm>
        </p:spPr>
        <p:txBody>
          <a:bodyPr/>
          <a:lstStyle/>
          <a:p>
            <a:endParaRPr kumimoji="0" lang="en-US" dirty="0"/>
          </a:p>
        </p:txBody>
      </p:sp>
      <p:sp>
        <p:nvSpPr>
          <p:cNvPr id="29" name="Slide Number Placeholder 28"/>
          <p:cNvSpPr>
            <a:spLocks noGrp="1"/>
          </p:cNvSpPr>
          <p:nvPr>
            <p:ph type="sldNum" sz="quarter" idx="12"/>
          </p:nvPr>
        </p:nvSpPr>
        <p:spPr>
          <a:xfrm>
            <a:off x="1216152" y="6355080"/>
            <a:ext cx="1219200" cy="365760"/>
          </a:xfrm>
        </p:spPr>
        <p:txBody>
          <a:bodyPr/>
          <a:lstStyle/>
          <a:p>
            <a:fld id="{EA7C8D44-3667-46F6-9772-CC52308E2A7F}" type="slidenum">
              <a:rPr kumimoji="0" lang="en-US" smtClean="0"/>
              <a:pPr/>
              <a:t>‹#›</a:t>
            </a:fld>
            <a:endParaRPr kumimoji="0" lang="en-US" dirty="0"/>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eaLnBrk="1" latinLnBrk="0" hangingPunct="1"/>
            <a:fld id="{A9E6F060-20EB-3246-9088-08BF5F1271DE}" type="datetime1">
              <a:rPr lang="en-US" smtClean="0"/>
              <a:t>12/1/2025</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dirty="0"/>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pPr eaLnBrk="1" latinLnBrk="0" hangingPunct="1"/>
            <a:fld id="{34C82E41-DA7E-CA4C-823B-C759BEA16CE8}" type="datetime1">
              <a:rPr lang="en-US" smtClean="0"/>
              <a:t>12/1/2025</a:t>
            </a:fld>
            <a:endParaRPr lang="en-US" dirty="0"/>
          </a:p>
        </p:txBody>
      </p:sp>
      <p:sp>
        <p:nvSpPr>
          <p:cNvPr id="5" name="Footer Placeholder 4"/>
          <p:cNvSpPr>
            <a:spLocks noGrp="1"/>
          </p:cNvSpPr>
          <p:nvPr>
            <p:ph type="ftr" sz="quarter" idx="11"/>
          </p:nvPr>
        </p:nvSpPr>
        <p:spPr>
          <a:xfrm>
            <a:off x="2898648" y="6355080"/>
            <a:ext cx="3474720" cy="365760"/>
          </a:xfrm>
        </p:spPr>
        <p:txBody>
          <a:bodyPr/>
          <a:lstStyle/>
          <a:p>
            <a:endParaRPr kumimoji="0" lang="en-US" dirty="0"/>
          </a:p>
        </p:txBody>
      </p:sp>
      <p:sp>
        <p:nvSpPr>
          <p:cNvPr id="6" name="Slide Number Placeholder 5"/>
          <p:cNvSpPr>
            <a:spLocks noGrp="1"/>
          </p:cNvSpPr>
          <p:nvPr>
            <p:ph type="sldNum" sz="quarter" idx="12"/>
          </p:nvPr>
        </p:nvSpPr>
        <p:spPr>
          <a:xfrm>
            <a:off x="1069848" y="6355080"/>
            <a:ext cx="1520952" cy="365760"/>
          </a:xfrm>
        </p:spPr>
        <p:txBody>
          <a:bodyPr/>
          <a:lstStyle/>
          <a:p>
            <a:fld id="{EA7C8D44-3667-46F6-9772-CC52308E2A7F}" type="slidenum">
              <a:rPr kumimoji="0" lang="en-US" smtClean="0"/>
              <a:pPr/>
              <a:t>‹#›</a:t>
            </a:fld>
            <a:endParaRPr kumimoji="0" lang="en-US" dirty="0"/>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eaLnBrk="1" latinLnBrk="0" hangingPunct="1"/>
            <a:fld id="{2500C8B0-EB1A-0A41-B839-C4B99CD2225A}" type="datetime1">
              <a:rPr lang="en-US" smtClean="0"/>
              <a:t>12/1/2025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eaLnBrk="1" latinLnBrk="0" hangingPunct="1"/>
            <a:fld id="{4F16605B-D952-1149-A111-28A5633BAE48}" type="datetime1">
              <a:rPr lang="en-US" smtClean="0"/>
              <a:t>12/1/2025</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eaLnBrk="1" latinLnBrk="0" hangingPunct="1"/>
            <a:fld id="{91109A1C-29B2-B04E-8365-C9D22C4AE842}" type="datetime1">
              <a:rPr lang="en-US" smtClean="0"/>
              <a:t>12/1/2025</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2CE417B6-A42B-064A-8677-46C55C4F613A}" type="datetime1">
              <a:rPr lang="en-US" smtClean="0"/>
              <a:t>12/1/2025</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DE76F5AD-3F1F-7141-BC8A-012C5728BE2D}" type="datetime1">
              <a:rPr lang="en-US" smtClean="0"/>
              <a:t>12/1/2025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09FA12B8-739E-4D47-A14C-180C3BC10865}" type="datetime1">
              <a:rPr lang="en-US" smtClean="0"/>
              <a:t>12/1/2025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597D1259-3A46-254C-ADDB-B5DA4F1DF3DA}" type="datetime1">
              <a:rPr lang="en-US" smtClean="0"/>
              <a:t>12/1/2025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CCA104EC-54AA-E04F-BDC0-22B4E8892699}" type="datetime1">
              <a:rPr lang="en-US" smtClean="0"/>
              <a:t>12/1/2025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24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1500">
                <a:solidFill>
                  <a:schemeClr val="tx2"/>
                </a:solidFill>
                <a:latin typeface="+mj-lt"/>
                <a:ea typeface="+mj-ea"/>
                <a:cs typeface="+mj-cs"/>
              </a:defRPr>
            </a:lvl1pPr>
            <a:lvl2pPr marL="342900" indent="0" algn="ctr">
              <a:buNone/>
            </a:lvl2pPr>
            <a:lvl3pPr marL="685800" indent="0" algn="ctr">
              <a:buNone/>
            </a:lvl3pPr>
            <a:lvl4pPr marL="1028700" indent="0" algn="ctr">
              <a:buNone/>
            </a:lvl4pPr>
            <a:lvl5pPr marL="1371600" indent="0" algn="ctr">
              <a:buNone/>
            </a:lvl5pPr>
            <a:lvl6pPr marL="1714500" indent="0" algn="ctr">
              <a:buNone/>
            </a:lvl6pPr>
            <a:lvl7pPr marL="2057400" indent="0" algn="ctr">
              <a:buNone/>
            </a:lvl7pPr>
            <a:lvl8pPr marL="2400300" indent="0" algn="ctr">
              <a:buNone/>
            </a:lvl8pPr>
            <a:lvl9pPr marL="27432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050"/>
            </a:lvl1pPr>
          </a:lstStyle>
          <a:p>
            <a:pPr eaLnBrk="1" latinLnBrk="0" hangingPunct="1"/>
            <a:fld id="{3B6732A1-8A50-42D0-9FB5-A7CC4F887D83}" type="datetime1">
              <a:rPr lang="en-US" smtClean="0"/>
              <a:t>12/1/2025</a:t>
            </a:fld>
            <a:endParaRPr lang="en-US" sz="1200" dirty="0"/>
          </a:p>
        </p:txBody>
      </p:sp>
      <p:sp>
        <p:nvSpPr>
          <p:cNvPr id="17" name="Footer Placeholder 16"/>
          <p:cNvSpPr>
            <a:spLocks noGrp="1"/>
          </p:cNvSpPr>
          <p:nvPr>
            <p:ph type="ftr" sz="quarter" idx="11"/>
          </p:nvPr>
        </p:nvSpPr>
        <p:spPr>
          <a:xfrm>
            <a:off x="2898648" y="6355080"/>
            <a:ext cx="3474720" cy="365760"/>
          </a:xfrm>
        </p:spPr>
        <p:txBody>
          <a:bodyPr/>
          <a:lstStyle/>
          <a:p>
            <a:endParaRPr kumimoji="0" lang="en-US" dirty="0"/>
          </a:p>
        </p:txBody>
      </p:sp>
      <p:sp>
        <p:nvSpPr>
          <p:cNvPr id="29" name="Slide Number Placeholder 28"/>
          <p:cNvSpPr>
            <a:spLocks noGrp="1"/>
          </p:cNvSpPr>
          <p:nvPr>
            <p:ph type="sldNum" sz="quarter" idx="12"/>
          </p:nvPr>
        </p:nvSpPr>
        <p:spPr>
          <a:xfrm>
            <a:off x="1216152" y="6355080"/>
            <a:ext cx="1219200" cy="365760"/>
          </a:xfrm>
        </p:spPr>
        <p:txBody>
          <a:bodyPr/>
          <a:lstStyle/>
          <a:p>
            <a:fld id="{EA7C8D44-3667-46F6-9772-CC52308E2A7F}" type="slidenum">
              <a:rPr kumimoji="0" lang="en-US" smtClean="0"/>
              <a:pPr/>
              <a:t>‹#›</a:t>
            </a:fld>
            <a:endParaRPr kumimoji="0" lang="en-US" dirty="0"/>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25829323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eaLnBrk="1" latinLnBrk="0" hangingPunct="1"/>
            <a:fld id="{44B809B3-6A2C-46CF-98AB-C7B45372B065}" type="datetime1">
              <a:rPr lang="en-US" smtClean="0"/>
              <a:t>12/1/2025</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dirty="0"/>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0731676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24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1500">
                <a:solidFill>
                  <a:schemeClr val="tx1">
                    <a:tint val="75000"/>
                  </a:schemeClr>
                </a:solidFill>
              </a:defRPr>
            </a:lvl1pPr>
            <a:lvl2pPr>
              <a:buNone/>
              <a:defRPr sz="1350">
                <a:solidFill>
                  <a:schemeClr val="tx1">
                    <a:tint val="75000"/>
                  </a:schemeClr>
                </a:solidFill>
              </a:defRPr>
            </a:lvl2pPr>
            <a:lvl3pPr>
              <a:buNone/>
              <a:defRPr sz="1200">
                <a:solidFill>
                  <a:schemeClr val="tx1">
                    <a:tint val="75000"/>
                  </a:schemeClr>
                </a:solidFill>
              </a:defRPr>
            </a:lvl3pPr>
            <a:lvl4pPr>
              <a:buNone/>
              <a:defRPr sz="1050">
                <a:solidFill>
                  <a:schemeClr val="tx1">
                    <a:tint val="75000"/>
                  </a:schemeClr>
                </a:solidFill>
              </a:defRPr>
            </a:lvl4pPr>
            <a:lvl5pPr>
              <a:buNone/>
              <a:defRPr sz="105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pPr eaLnBrk="1" latinLnBrk="0" hangingPunct="1"/>
            <a:fld id="{C191117F-3CD7-4767-AEE5-49A060274EAA}" type="datetime1">
              <a:rPr lang="en-US" smtClean="0"/>
              <a:t>12/1/2025</a:t>
            </a:fld>
            <a:endParaRPr lang="en-US" dirty="0"/>
          </a:p>
        </p:txBody>
      </p:sp>
      <p:sp>
        <p:nvSpPr>
          <p:cNvPr id="5" name="Footer Placeholder 4"/>
          <p:cNvSpPr>
            <a:spLocks noGrp="1"/>
          </p:cNvSpPr>
          <p:nvPr>
            <p:ph type="ftr" sz="quarter" idx="11"/>
          </p:nvPr>
        </p:nvSpPr>
        <p:spPr>
          <a:xfrm>
            <a:off x="2898648" y="6355080"/>
            <a:ext cx="3474720" cy="365760"/>
          </a:xfrm>
        </p:spPr>
        <p:txBody>
          <a:bodyPr/>
          <a:lstStyle/>
          <a:p>
            <a:endParaRPr kumimoji="0" lang="en-US" dirty="0"/>
          </a:p>
        </p:txBody>
      </p:sp>
      <p:sp>
        <p:nvSpPr>
          <p:cNvPr id="6" name="Slide Number Placeholder 5"/>
          <p:cNvSpPr>
            <a:spLocks noGrp="1"/>
          </p:cNvSpPr>
          <p:nvPr>
            <p:ph type="sldNum" sz="quarter" idx="12"/>
          </p:nvPr>
        </p:nvSpPr>
        <p:spPr>
          <a:xfrm>
            <a:off x="1069848" y="6355080"/>
            <a:ext cx="1520952" cy="365760"/>
          </a:xfrm>
        </p:spPr>
        <p:txBody>
          <a:bodyPr/>
          <a:lstStyle/>
          <a:p>
            <a:fld id="{EA7C8D44-3667-46F6-9772-CC52308E2A7F}" type="slidenum">
              <a:rPr kumimoji="0" lang="en-US" smtClean="0"/>
              <a:pPr/>
              <a:t>‹#›</a:t>
            </a:fld>
            <a:endParaRPr kumimoji="0" lang="en-US" dirty="0"/>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277021939"/>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eaLnBrk="1" latinLnBrk="0" hangingPunct="1"/>
            <a:fld id="{47B8C5CE-9DF7-4BB4-863A-6E277DDC03D4}" type="datetime1">
              <a:rPr lang="en-US" smtClean="0"/>
              <a:t>12/1/2025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40188449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1800" b="1">
                <a:solidFill>
                  <a:schemeClr val="accent2"/>
                </a:solidFill>
              </a:defRPr>
            </a:lvl1pPr>
            <a:lvl2pPr>
              <a:buNone/>
              <a:defRPr sz="1500" b="1"/>
            </a:lvl2pPr>
            <a:lvl3pPr>
              <a:buNone/>
              <a:defRPr sz="1350" b="1"/>
            </a:lvl3pPr>
            <a:lvl4pPr>
              <a:buNone/>
              <a:defRPr sz="1200" b="1"/>
            </a:lvl4pPr>
            <a:lvl5pPr>
              <a:buNone/>
              <a:defRPr sz="12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1" y="1295400"/>
            <a:ext cx="4041775" cy="685800"/>
          </a:xfrm>
          <a:noFill/>
          <a:ln>
            <a:noFill/>
          </a:ln>
        </p:spPr>
        <p:txBody>
          <a:bodyPr lIns="91440" anchor="b" anchorCtr="0"/>
          <a:lstStyle>
            <a:lvl1pPr marL="0" indent="0">
              <a:buNone/>
              <a:defRPr sz="1800" b="1">
                <a:solidFill>
                  <a:schemeClr val="accent2"/>
                </a:solidFill>
              </a:defRPr>
            </a:lvl1pPr>
            <a:lvl2pPr>
              <a:buNone/>
              <a:defRPr sz="1500" b="1"/>
            </a:lvl2pPr>
            <a:lvl3pPr>
              <a:buNone/>
              <a:defRPr sz="1350" b="1"/>
            </a:lvl3pPr>
            <a:lvl4pPr>
              <a:buNone/>
              <a:defRPr sz="1200" b="1"/>
            </a:lvl4pPr>
            <a:lvl5pPr>
              <a:buNone/>
              <a:defRPr sz="12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eaLnBrk="1" latinLnBrk="0" hangingPunct="1"/>
            <a:fld id="{5EE11402-9D83-40E7-9253-0548CE63EB94}" type="datetime1">
              <a:rPr lang="en-US" smtClean="0"/>
              <a:t>12/1/2025</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9838909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eaLnBrk="1" latinLnBrk="0" hangingPunct="1"/>
            <a:fld id="{0C0C8811-C7DA-4658-BB60-F635F9220CDF}" type="datetime1">
              <a:rPr lang="en-US" smtClean="0"/>
              <a:t>12/1/2025</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6" name="Isosceles Triangle 5"/>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201297347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2EB38FCF-5E28-44CB-A212-D3E75CA77D8D}" type="datetime1">
              <a:rPr lang="en-US" smtClean="0"/>
              <a:t>12/1/2025</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6" name="Isosceles Triangle 5"/>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8655070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15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2"/>
            <a:ext cx="2514600" cy="4843463"/>
          </a:xfrm>
        </p:spPr>
        <p:txBody>
          <a:bodyPr/>
          <a:lstStyle>
            <a:lvl1pPr marL="0" indent="0">
              <a:lnSpc>
                <a:spcPts val="1650"/>
              </a:lnSpc>
              <a:spcAft>
                <a:spcPts val="750"/>
              </a:spcAft>
              <a:buNone/>
              <a:defRPr sz="1200">
                <a:solidFill>
                  <a:schemeClr val="tx2"/>
                </a:solidFill>
              </a:defRPr>
            </a:lvl1pPr>
            <a:lvl2pPr>
              <a:buNone/>
              <a:defRPr sz="900"/>
            </a:lvl2pPr>
            <a:lvl3pPr>
              <a:buNone/>
              <a:defRPr sz="750"/>
            </a:lvl3pPr>
            <a:lvl4pPr>
              <a:buNone/>
              <a:defRPr sz="675"/>
            </a:lvl4pPr>
            <a:lvl5pPr>
              <a:buNone/>
              <a:defRPr sz="675"/>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755FE7C6-0DE5-4400-A2DD-37AB2CB98797}" type="datetime1">
              <a:rPr lang="en-US" smtClean="0"/>
              <a:t>12/1/2025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dirty="0"/>
          </a:p>
        </p:txBody>
      </p:sp>
      <p:sp>
        <p:nvSpPr>
          <p:cNvPr id="9" name="Isosceles Triangle 8"/>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54957721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15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450"/>
              </a:spcBef>
              <a:buNone/>
              <a:defRPr sz="24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050"/>
            </a:lvl1pPr>
            <a:lvl2pPr>
              <a:defRPr sz="900"/>
            </a:lvl2pPr>
            <a:lvl3pPr>
              <a:defRPr sz="750"/>
            </a:lvl3pPr>
            <a:lvl4pPr>
              <a:defRPr sz="675"/>
            </a:lvl4pPr>
            <a:lvl5pPr>
              <a:defRPr sz="675"/>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7312819A-A7E0-496A-9C6B-0FBBF375D97B}" type="datetime1">
              <a:rPr lang="en-US" smtClean="0"/>
              <a:t>12/1/2025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9" name="Isosceles Triangle 8"/>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2792325787"/>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932F6112-2530-4960-AA07-04E672D1E722}" type="datetime1">
              <a:rPr lang="en-US" smtClean="0"/>
              <a:t>12/1/2025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Tree>
    <p:extLst>
      <p:ext uri="{BB962C8B-B14F-4D97-AF65-F5344CB8AC3E}">
        <p14:creationId xmlns:p14="http://schemas.microsoft.com/office/powerpoint/2010/main" val="342323846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0"/>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896A6EFF-8172-426D-9AC7-B0DD95EEE533}" type="datetime1">
              <a:rPr lang="en-US" smtClean="0"/>
              <a:t>12/1/2025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8" name="Isosceles Triangle 7"/>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Tree>
    <p:extLst>
      <p:ext uri="{BB962C8B-B14F-4D97-AF65-F5344CB8AC3E}">
        <p14:creationId xmlns:p14="http://schemas.microsoft.com/office/powerpoint/2010/main" val="26183533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pPr eaLnBrk="1" latinLnBrk="0" hangingPunct="1"/>
            <a:fld id="{CDD18CD8-E404-844E-A4BD-DF69B8E5881E}" type="datetime1">
              <a:rPr lang="en-US" smtClean="0"/>
              <a:t>12/1/2025</a:t>
            </a:fld>
            <a:endParaRPr lang="en-US" sz="1400" dirty="0">
              <a:solidFill>
                <a:schemeClr val="tx2"/>
              </a:solidFill>
            </a:endParaRPr>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pPr algn="r" eaLnBrk="1" latinLnBrk="0" hangingPunct="1"/>
            <a:endParaRPr kumimoji="0" lang="en-US" sz="1400" dirty="0">
              <a:solidFill>
                <a:schemeClr val="tx2"/>
              </a:solidFill>
            </a:endParaRP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600" dirty="0">
              <a:solidFill>
                <a:schemeClr val="tx2"/>
              </a:solidFill>
            </a:endParaRPr>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050">
                <a:solidFill>
                  <a:schemeClr val="tx2"/>
                </a:solidFill>
              </a:defRPr>
            </a:lvl1pPr>
          </a:lstStyle>
          <a:p>
            <a:pPr eaLnBrk="1" latinLnBrk="0" hangingPunct="1"/>
            <a:fld id="{0259BA2E-082A-4ACD-AA34-4B617DF5D259}" type="datetime1">
              <a:rPr lang="en-US" smtClean="0"/>
              <a:t>12/1/2025</a:t>
            </a:fld>
            <a:endParaRPr lang="en-US" sz="1050" dirty="0">
              <a:solidFill>
                <a:schemeClr val="tx2"/>
              </a:solidFill>
            </a:endParaRPr>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050">
                <a:solidFill>
                  <a:schemeClr val="tx2"/>
                </a:solidFill>
              </a:defRPr>
            </a:lvl1pPr>
          </a:lstStyle>
          <a:p>
            <a:pPr algn="r" eaLnBrk="1" latinLnBrk="0" hangingPunct="1"/>
            <a:endParaRPr kumimoji="0" lang="en-US" sz="1050" dirty="0">
              <a:solidFill>
                <a:schemeClr val="tx2"/>
              </a:solidFill>
            </a:endParaRP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05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200" dirty="0">
              <a:solidFill>
                <a:schemeClr val="tx2"/>
              </a:solidFill>
            </a:endParaRPr>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10" name="Isosceles Triangle 9"/>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3175999156"/>
      </p:ext>
    </p:extLst>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Lst>
  <p:hf hdr="0" ftr="0" dt="0"/>
  <p:txStyles>
    <p:titleStyle>
      <a:lvl1pPr algn="l" rtl="0" eaLnBrk="1" latinLnBrk="0" hangingPunct="1">
        <a:spcBef>
          <a:spcPct val="0"/>
        </a:spcBef>
        <a:buNone/>
        <a:defRPr kumimoji="0" sz="2400" kern="1200">
          <a:solidFill>
            <a:schemeClr val="tx2"/>
          </a:solidFill>
          <a:latin typeface="+mj-lt"/>
          <a:ea typeface="+mj-ea"/>
          <a:cs typeface="+mj-cs"/>
        </a:defRPr>
      </a:lvl1pPr>
    </p:titleStyle>
    <p:bodyStyle>
      <a:lvl1pPr marL="205740" indent="-205740" algn="l" rtl="0" eaLnBrk="1" latinLnBrk="0" hangingPunct="1">
        <a:spcBef>
          <a:spcPts val="450"/>
        </a:spcBef>
        <a:buClr>
          <a:schemeClr val="accent1"/>
        </a:buClr>
        <a:buSzPct val="76000"/>
        <a:buFont typeface="Wingdings 3"/>
        <a:buChar char=""/>
        <a:defRPr kumimoji="0" sz="1950" kern="1200">
          <a:solidFill>
            <a:schemeClr val="tx1"/>
          </a:solidFill>
          <a:latin typeface="+mn-lt"/>
          <a:ea typeface="+mn-ea"/>
          <a:cs typeface="+mn-cs"/>
        </a:defRPr>
      </a:lvl1pPr>
      <a:lvl2pPr marL="411480" indent="-205740" algn="l" rtl="0" eaLnBrk="1" latinLnBrk="0" hangingPunct="1">
        <a:spcBef>
          <a:spcPts val="375"/>
        </a:spcBef>
        <a:buClr>
          <a:schemeClr val="accent2"/>
        </a:buClr>
        <a:buSzPct val="76000"/>
        <a:buFont typeface="Wingdings 3"/>
        <a:buChar char=""/>
        <a:defRPr kumimoji="0" sz="1725" kern="1200">
          <a:solidFill>
            <a:schemeClr val="tx2"/>
          </a:solidFill>
          <a:latin typeface="+mn-lt"/>
          <a:ea typeface="+mn-ea"/>
          <a:cs typeface="+mn-cs"/>
        </a:defRPr>
      </a:lvl2pPr>
      <a:lvl3pPr marL="617220" indent="-171450" algn="l" rtl="0" eaLnBrk="1" latinLnBrk="0" hangingPunct="1">
        <a:spcBef>
          <a:spcPts val="375"/>
        </a:spcBef>
        <a:buClr>
          <a:schemeClr val="bg1">
            <a:shade val="50000"/>
          </a:schemeClr>
        </a:buClr>
        <a:buSzPct val="76000"/>
        <a:buFont typeface="Wingdings 3"/>
        <a:buChar char=""/>
        <a:defRPr kumimoji="0" sz="1500" kern="1200">
          <a:solidFill>
            <a:schemeClr val="tx1"/>
          </a:solidFill>
          <a:latin typeface="+mn-lt"/>
          <a:ea typeface="+mn-ea"/>
          <a:cs typeface="+mn-cs"/>
        </a:defRPr>
      </a:lvl3pPr>
      <a:lvl4pPr marL="822960" indent="-171450" algn="l" rtl="0" eaLnBrk="1" latinLnBrk="0" hangingPunct="1">
        <a:spcBef>
          <a:spcPts val="300"/>
        </a:spcBef>
        <a:buClr>
          <a:schemeClr val="accent2">
            <a:shade val="75000"/>
          </a:schemeClr>
        </a:buClr>
        <a:buSzPct val="70000"/>
        <a:buFont typeface="Wingdings"/>
        <a:buChar char=""/>
        <a:defRPr kumimoji="0" sz="1350" kern="1200">
          <a:solidFill>
            <a:schemeClr val="tx1"/>
          </a:solidFill>
          <a:latin typeface="+mn-lt"/>
          <a:ea typeface="+mn-ea"/>
          <a:cs typeface="+mn-cs"/>
        </a:defRPr>
      </a:lvl4pPr>
      <a:lvl5pPr marL="1028700" indent="-171450" algn="l" rtl="0" eaLnBrk="1" latinLnBrk="0" hangingPunct="1">
        <a:spcBef>
          <a:spcPts val="225"/>
        </a:spcBef>
        <a:buClr>
          <a:schemeClr val="accent2"/>
        </a:buClr>
        <a:buSzPct val="70000"/>
        <a:buFont typeface="Wingdings"/>
        <a:buChar char=""/>
        <a:defRPr kumimoji="0" sz="1200" kern="1200">
          <a:solidFill>
            <a:schemeClr val="tx1"/>
          </a:solidFill>
          <a:latin typeface="+mn-lt"/>
          <a:ea typeface="+mn-ea"/>
          <a:cs typeface="+mn-cs"/>
        </a:defRPr>
      </a:lvl5pPr>
      <a:lvl6pPr marL="1234440" indent="-137160" algn="l" rtl="0" eaLnBrk="1" latinLnBrk="0" hangingPunct="1">
        <a:spcBef>
          <a:spcPts val="225"/>
        </a:spcBef>
        <a:buClr>
          <a:srgbClr val="9FB8CD">
            <a:shade val="75000"/>
          </a:srgbClr>
        </a:buClr>
        <a:buSzPct val="75000"/>
        <a:buFont typeface="Wingdings 3"/>
        <a:buChar char=""/>
        <a:defRPr kumimoji="0" lang="en-US" sz="1200" kern="1200" smtClean="0">
          <a:solidFill>
            <a:schemeClr val="tx1"/>
          </a:solidFill>
          <a:latin typeface="+mn-lt"/>
          <a:ea typeface="+mn-ea"/>
          <a:cs typeface="+mn-cs"/>
        </a:defRPr>
      </a:lvl6pPr>
      <a:lvl7pPr marL="1371600" indent="-137160" algn="l" rtl="0" eaLnBrk="1" latinLnBrk="0" hangingPunct="1">
        <a:spcBef>
          <a:spcPts val="225"/>
        </a:spcBef>
        <a:buClr>
          <a:srgbClr val="727CA3">
            <a:shade val="75000"/>
          </a:srgbClr>
        </a:buClr>
        <a:buSzPct val="75000"/>
        <a:buFont typeface="Wingdings 3"/>
        <a:buChar char=""/>
        <a:defRPr kumimoji="0" lang="en-US" sz="1050" kern="1200" smtClean="0">
          <a:solidFill>
            <a:schemeClr val="tx1"/>
          </a:solidFill>
          <a:latin typeface="+mn-lt"/>
          <a:ea typeface="+mn-ea"/>
          <a:cs typeface="+mn-cs"/>
        </a:defRPr>
      </a:lvl7pPr>
      <a:lvl8pPr marL="1508760" indent="-137160" algn="l" rtl="0" eaLnBrk="1" latinLnBrk="0" hangingPunct="1">
        <a:spcBef>
          <a:spcPts val="225"/>
        </a:spcBef>
        <a:buClr>
          <a:prstClr val="white">
            <a:shade val="50000"/>
          </a:prstClr>
        </a:buClr>
        <a:buSzPct val="75000"/>
        <a:buFont typeface="Wingdings 3"/>
        <a:buChar char=""/>
        <a:defRPr kumimoji="0" lang="en-US" sz="1050" kern="1200" smtClean="0">
          <a:solidFill>
            <a:schemeClr val="tx1"/>
          </a:solidFill>
          <a:latin typeface="+mn-lt"/>
          <a:ea typeface="+mn-ea"/>
          <a:cs typeface="+mn-cs"/>
        </a:defRPr>
      </a:lvl8pPr>
      <a:lvl9pPr marL="1645920" indent="-137160" algn="l" rtl="0" eaLnBrk="1" latinLnBrk="0" hangingPunct="1">
        <a:spcBef>
          <a:spcPts val="225"/>
        </a:spcBef>
        <a:buClr>
          <a:srgbClr val="9FB8CD"/>
        </a:buClr>
        <a:buSzPct val="75000"/>
        <a:buFont typeface="Wingdings 3"/>
        <a:buChar char=""/>
        <a:defRPr kumimoji="0" lang="en-US" sz="9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342900" algn="l" rtl="0" eaLnBrk="1" latinLnBrk="0" hangingPunct="1">
        <a:defRPr kumimoji="0" kern="1200">
          <a:solidFill>
            <a:schemeClr val="tx1"/>
          </a:solidFill>
          <a:latin typeface="+mn-lt"/>
          <a:ea typeface="+mn-ea"/>
          <a:cs typeface="+mn-cs"/>
        </a:defRPr>
      </a:lvl2pPr>
      <a:lvl3pPr marL="685800" algn="l" rtl="0" eaLnBrk="1" latinLnBrk="0" hangingPunct="1">
        <a:defRPr kumimoji="0" kern="1200">
          <a:solidFill>
            <a:schemeClr val="tx1"/>
          </a:solidFill>
          <a:latin typeface="+mn-lt"/>
          <a:ea typeface="+mn-ea"/>
          <a:cs typeface="+mn-cs"/>
        </a:defRPr>
      </a:lvl3pPr>
      <a:lvl4pPr marL="1028700" algn="l" rtl="0" eaLnBrk="1" latinLnBrk="0" hangingPunct="1">
        <a:defRPr kumimoji="0" kern="1200">
          <a:solidFill>
            <a:schemeClr val="tx1"/>
          </a:solidFill>
          <a:latin typeface="+mn-lt"/>
          <a:ea typeface="+mn-ea"/>
          <a:cs typeface="+mn-cs"/>
        </a:defRPr>
      </a:lvl4pPr>
      <a:lvl5pPr marL="1371600" algn="l" rtl="0" eaLnBrk="1" latinLnBrk="0" hangingPunct="1">
        <a:defRPr kumimoji="0" kern="1200">
          <a:solidFill>
            <a:schemeClr val="tx1"/>
          </a:solidFill>
          <a:latin typeface="+mn-lt"/>
          <a:ea typeface="+mn-ea"/>
          <a:cs typeface="+mn-cs"/>
        </a:defRPr>
      </a:lvl5pPr>
      <a:lvl6pPr marL="1714500" algn="l" rtl="0" eaLnBrk="1" latinLnBrk="0" hangingPunct="1">
        <a:defRPr kumimoji="0" kern="1200">
          <a:solidFill>
            <a:schemeClr val="tx1"/>
          </a:solidFill>
          <a:latin typeface="+mn-lt"/>
          <a:ea typeface="+mn-ea"/>
          <a:cs typeface="+mn-cs"/>
        </a:defRPr>
      </a:lvl6pPr>
      <a:lvl7pPr marL="2057400" algn="l" rtl="0" eaLnBrk="1" latinLnBrk="0" hangingPunct="1">
        <a:defRPr kumimoji="0" kern="1200">
          <a:solidFill>
            <a:schemeClr val="tx1"/>
          </a:solidFill>
          <a:latin typeface="+mn-lt"/>
          <a:ea typeface="+mn-ea"/>
          <a:cs typeface="+mn-cs"/>
        </a:defRPr>
      </a:lvl7pPr>
      <a:lvl8pPr marL="2400300" algn="l" rtl="0" eaLnBrk="1" latinLnBrk="0" hangingPunct="1">
        <a:defRPr kumimoji="0" kern="1200">
          <a:solidFill>
            <a:schemeClr val="tx1"/>
          </a:solidFill>
          <a:latin typeface="+mn-lt"/>
          <a:ea typeface="+mn-ea"/>
          <a:cs typeface="+mn-cs"/>
        </a:defRPr>
      </a:lvl8pPr>
      <a:lvl9pPr marL="27432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eb.eece.maine.edu/~zhu/book/" TargetMode="External"/><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30.png"/><Relationship Id="rId7" Type="http://schemas.openxmlformats.org/officeDocument/2006/relationships/image" Target="../media/image140.png"/><Relationship Id="rId2" Type="http://schemas.openxmlformats.org/officeDocument/2006/relationships/image" Target="../media/image121.png"/><Relationship Id="rId1" Type="http://schemas.openxmlformats.org/officeDocument/2006/relationships/slideLayout" Target="../slideLayouts/slideLayout2.xml"/><Relationship Id="rId6" Type="http://schemas.openxmlformats.org/officeDocument/2006/relationships/image" Target="../media/image141.png"/><Relationship Id="rId5" Type="http://schemas.openxmlformats.org/officeDocument/2006/relationships/image" Target="../media/image120.png"/><Relationship Id="rId4" Type="http://schemas.openxmlformats.org/officeDocument/2006/relationships/image" Target="../media/image110.png"/><Relationship Id="rId9" Type="http://schemas.openxmlformats.org/officeDocument/2006/relationships/image" Target="../media/image16.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7" Type="http://schemas.openxmlformats.org/officeDocument/2006/relationships/image" Target="../media/image20.png"/><Relationship Id="rId2" Type="http://schemas.openxmlformats.org/officeDocument/2006/relationships/slideLayout" Target="../slideLayouts/slideLayout2.xml"/><Relationship Id="rId1" Type="http://schemas.openxmlformats.org/officeDocument/2006/relationships/tags" Target="../tags/tag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7.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notesSlide" Target="../notesSlides/notesSlide5.xml"/><Relationship Id="rId7" Type="http://schemas.openxmlformats.org/officeDocument/2006/relationships/image" Target="../media/image24.png"/><Relationship Id="rId2" Type="http://schemas.openxmlformats.org/officeDocument/2006/relationships/slideLayout" Target="../slideLayouts/slideLayout2.xml"/><Relationship Id="rId1" Type="http://schemas.openxmlformats.org/officeDocument/2006/relationships/tags" Target="../tags/tag4.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0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dirty="0"/>
              <a:t>Fall 2025</a:t>
            </a:r>
          </a:p>
        </p:txBody>
      </p:sp>
      <p:sp>
        <p:nvSpPr>
          <p:cNvPr id="4" name="TextBox 3"/>
          <p:cNvSpPr txBox="1"/>
          <p:nvPr/>
        </p:nvSpPr>
        <p:spPr>
          <a:xfrm>
            <a:off x="742950" y="1110410"/>
            <a:ext cx="7258050" cy="253916"/>
          </a:xfrm>
          <a:prstGeom prst="rect">
            <a:avLst/>
          </a:prstGeom>
          <a:noFill/>
        </p:spPr>
        <p:txBody>
          <a:bodyPr wrap="square" rtlCol="0">
            <a:spAutoFit/>
          </a:bodyPr>
          <a:lstStyle/>
          <a:p>
            <a:pPr algn="r" defTabSz="685800"/>
            <a:r>
              <a:rPr lang="en-US" sz="1050" b="1" dirty="0">
                <a:solidFill>
                  <a:prstClr val="black"/>
                </a:solidFill>
                <a:latin typeface="Bookman Old Style (Headings)"/>
              </a:rPr>
              <a:t>Embedded Systems with ARM Cortex-M Microcontrollers in Assembly Language and C</a:t>
            </a:r>
          </a:p>
        </p:txBody>
      </p:sp>
      <p:sp>
        <p:nvSpPr>
          <p:cNvPr id="5" name="TextBox 4"/>
          <p:cNvSpPr txBox="1"/>
          <p:nvPr/>
        </p:nvSpPr>
        <p:spPr>
          <a:xfrm>
            <a:off x="3452875" y="2228851"/>
            <a:ext cx="4719575" cy="923330"/>
          </a:xfrm>
          <a:prstGeom prst="rect">
            <a:avLst/>
          </a:prstGeom>
          <a:noFill/>
        </p:spPr>
        <p:txBody>
          <a:bodyPr wrap="square" rtlCol="0">
            <a:spAutoFit/>
          </a:bodyPr>
          <a:lstStyle/>
          <a:p>
            <a:pPr algn="r" defTabSz="685800"/>
            <a:r>
              <a:rPr lang="en-US" b="1" dirty="0">
                <a:solidFill>
                  <a:srgbClr val="C00000"/>
                </a:solidFill>
                <a:latin typeface="Gill Sans MT"/>
              </a:rPr>
              <a:t>Chapter 15</a:t>
            </a:r>
          </a:p>
          <a:p>
            <a:pPr algn="r" defTabSz="685800"/>
            <a:r>
              <a:rPr lang="en-US" b="1" dirty="0">
                <a:solidFill>
                  <a:srgbClr val="C00000"/>
                </a:solidFill>
                <a:latin typeface="Gill Sans MT"/>
              </a:rPr>
              <a:t>Timer </a:t>
            </a:r>
            <a:r>
              <a:rPr lang="en-US" b="1">
                <a:solidFill>
                  <a:srgbClr val="C00000"/>
                </a:solidFill>
                <a:latin typeface="Gill Sans MT"/>
              </a:rPr>
              <a:t>and PWM</a:t>
            </a:r>
          </a:p>
          <a:p>
            <a:pPr algn="r" defTabSz="685800"/>
            <a:r>
              <a:rPr lang="en-US" b="1">
                <a:solidFill>
                  <a:srgbClr val="C00000"/>
                </a:solidFill>
                <a:latin typeface="Gill Sans MT"/>
              </a:rPr>
              <a:t>Exercises ANS</a:t>
            </a:r>
            <a:endParaRPr lang="en-US" b="1" dirty="0">
              <a:solidFill>
                <a:srgbClr val="C00000"/>
              </a:solidFill>
              <a:latin typeface="Gill Sans MT"/>
            </a:endParaRPr>
          </a:p>
        </p:txBody>
      </p:sp>
      <p:sp>
        <p:nvSpPr>
          <p:cNvPr id="6" name="Slide Number Placeholder 5"/>
          <p:cNvSpPr>
            <a:spLocks noGrp="1"/>
          </p:cNvSpPr>
          <p:nvPr>
            <p:ph type="sldNum" sz="quarter" idx="12"/>
          </p:nvPr>
        </p:nvSpPr>
        <p:spPr/>
        <p:txBody>
          <a:bodyPr/>
          <a:lstStyle/>
          <a:p>
            <a:pPr defTabSz="685800"/>
            <a:fld id="{EA7C8D44-3667-46F6-9772-CC52308E2A7F}" type="slidenum">
              <a:rPr lang="en-US">
                <a:solidFill>
                  <a:srgbClr val="1F497D"/>
                </a:solidFill>
                <a:latin typeface="Gill Sans MT"/>
              </a:rPr>
              <a:pPr defTabSz="685800"/>
              <a:t>1</a:t>
            </a:fld>
            <a:endParaRPr lang="en-US" dirty="0">
              <a:solidFill>
                <a:srgbClr val="1F497D"/>
              </a:solidFill>
              <a:latin typeface="Gill Sans MT"/>
            </a:endParaRPr>
          </a:p>
        </p:txBody>
      </p:sp>
      <p:sp>
        <p:nvSpPr>
          <p:cNvPr id="11" name="Title 1">
            <a:extLst>
              <a:ext uri="{FF2B5EF4-FFF2-40B4-BE49-F238E27FC236}">
                <a16:creationId xmlns:a16="http://schemas.microsoft.com/office/drawing/2014/main" id="{A950AF61-E22F-B40C-FB60-A35C53D05D61}"/>
              </a:ext>
            </a:extLst>
          </p:cNvPr>
          <p:cNvSpPr txBox="1">
            <a:spLocks/>
          </p:cNvSpPr>
          <p:nvPr/>
        </p:nvSpPr>
        <p:spPr>
          <a:xfrm>
            <a:off x="1219200" y="3771900"/>
            <a:ext cx="6858000" cy="742950"/>
          </a:xfrm>
          <a:prstGeom prst="rect">
            <a:avLst/>
          </a:prstGeom>
        </p:spPr>
        <p:txBody>
          <a:bodyPr vert="horz" anchor="t" anchorCtr="0">
            <a:noAutofit/>
          </a:bodyPr>
          <a:lstStyle>
            <a:lvl1pPr algn="r" rtl="0" eaLnBrk="1" latinLnBrk="0" hangingPunct="1">
              <a:spcBef>
                <a:spcPct val="0"/>
              </a:spcBef>
              <a:buNone/>
              <a:defRPr kumimoji="0" sz="3200" kern="1200">
                <a:solidFill>
                  <a:schemeClr val="tx1"/>
                </a:solidFill>
                <a:latin typeface="+mj-lt"/>
                <a:ea typeface="+mj-ea"/>
                <a:cs typeface="+mj-cs"/>
              </a:defRPr>
            </a:lvl1pPr>
          </a:lstStyle>
          <a:p>
            <a:pPr defTabSz="685800"/>
            <a:r>
              <a:rPr lang="en-US" sz="1500" dirty="0">
                <a:solidFill>
                  <a:prstClr val="black"/>
                </a:solidFill>
                <a:latin typeface="Bookman Old Style"/>
              </a:rPr>
              <a:t>Z. Gu</a:t>
            </a:r>
            <a:endParaRPr lang="en-US" sz="1500" b="1" dirty="0">
              <a:solidFill>
                <a:srgbClr val="C00000"/>
              </a:solidFill>
              <a:latin typeface="Bookman Old Style"/>
            </a:endParaRPr>
          </a:p>
        </p:txBody>
      </p:sp>
      <p:sp>
        <p:nvSpPr>
          <p:cNvPr id="13" name="TextBox 12">
            <a:extLst>
              <a:ext uri="{FF2B5EF4-FFF2-40B4-BE49-F238E27FC236}">
                <a16:creationId xmlns:a16="http://schemas.microsoft.com/office/drawing/2014/main" id="{273EC5B2-C191-2980-14D0-C87219AED9C5}"/>
              </a:ext>
            </a:extLst>
          </p:cNvPr>
          <p:cNvSpPr txBox="1"/>
          <p:nvPr/>
        </p:nvSpPr>
        <p:spPr>
          <a:xfrm>
            <a:off x="1825752" y="6082784"/>
            <a:ext cx="5794293" cy="369332"/>
          </a:xfrm>
          <a:prstGeom prst="rect">
            <a:avLst/>
          </a:prstGeom>
          <a:ln w="9525"/>
        </p:spPr>
        <p:style>
          <a:lnRef idx="2">
            <a:schemeClr val="accent5"/>
          </a:lnRef>
          <a:fillRef idx="1">
            <a:schemeClr val="lt1"/>
          </a:fillRef>
          <a:effectRef idx="0">
            <a:schemeClr val="accent5"/>
          </a:effectRef>
          <a:fontRef idx="minor">
            <a:schemeClr val="dk1"/>
          </a:fontRef>
        </p:style>
        <p:txBody>
          <a:bodyPr wrap="square" rtlCol="0">
            <a:spAutoFit/>
          </a:bodyPr>
          <a:lstStyle/>
          <a:p>
            <a:pPr defTabSz="685800"/>
            <a:r>
              <a:rPr lang="en-US" altLang="zh-CN" sz="900" dirty="0">
                <a:solidFill>
                  <a:prstClr val="black"/>
                </a:solidFill>
                <a:latin typeface="Gill Sans Light"/>
                <a:ea typeface="华文新魏" panose="02010800040101010101" pitchFamily="2" charset="-122"/>
              </a:rPr>
              <a:t>Acknowledgement: Lecture slides based on Embedded Systems with ARM Cortex-M Microcontrollers in Assembly Language and C, University of Maine </a:t>
            </a:r>
            <a:r>
              <a:rPr lang="en-US" altLang="zh-CN" sz="900" dirty="0">
                <a:solidFill>
                  <a:prstClr val="black"/>
                </a:solidFill>
                <a:latin typeface="Gill Sans Light"/>
                <a:ea typeface="华文新魏" panose="02010800040101010101" pitchFamily="2" charset="-122"/>
                <a:hlinkClick r:id="rId3"/>
              </a:rPr>
              <a:t>https://web.eece.maine.edu/~zhu/book/</a:t>
            </a:r>
            <a:r>
              <a:rPr lang="en-US" altLang="zh-CN" sz="900" dirty="0">
                <a:solidFill>
                  <a:prstClr val="black"/>
                </a:solidFill>
                <a:latin typeface="Gill Sans Light"/>
                <a:ea typeface="华文新魏" panose="02010800040101010101" pitchFamily="2" charset="-122"/>
              </a:rPr>
              <a:t> </a:t>
            </a:r>
            <a:endParaRPr lang="en-SE" sz="900" dirty="0">
              <a:solidFill>
                <a:prstClr val="black"/>
              </a:solidFill>
              <a:latin typeface="Gill Sans Light"/>
            </a:endParaRPr>
          </a:p>
        </p:txBody>
      </p:sp>
    </p:spTree>
    <p:extLst>
      <p:ext uri="{BB962C8B-B14F-4D97-AF65-F5344CB8AC3E}">
        <p14:creationId xmlns:p14="http://schemas.microsoft.com/office/powerpoint/2010/main" val="12276397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EA7C8D44-3667-46F6-9772-CC52308E2A7F}" type="slidenum">
              <a:rPr kumimoji="0" lang="en-US" smtClean="0"/>
              <a:pPr/>
              <a:t>2</a:t>
            </a:fld>
            <a:endParaRPr kumimoji="0" lang="en-US" dirty="0"/>
          </a:p>
        </p:txBody>
      </p:sp>
      <mc:AlternateContent xmlns:mc="http://schemas.openxmlformats.org/markup-compatibility/2006" xmlns:a14="http://schemas.microsoft.com/office/drawing/2010/main">
        <mc:Choice Requires="a14">
          <p:sp>
            <p:nvSpPr>
              <p:cNvPr id="4" name="Content Placeholder 3"/>
              <p:cNvSpPr>
                <a:spLocks noGrp="1"/>
              </p:cNvSpPr>
              <p:nvPr>
                <p:ph sz="quarter" idx="1"/>
              </p:nvPr>
            </p:nvSpPr>
            <p:spPr>
              <a:xfrm>
                <a:off x="457200" y="1219200"/>
                <a:ext cx="8229600" cy="381000"/>
              </a:xfrm>
            </p:spPr>
            <p:txBody>
              <a:bodyPr>
                <a:normAutofit fontScale="85000" lnSpcReduction="20000"/>
              </a:bodyPr>
              <a:lstStyle/>
              <a:p>
                <a:pPr lvl="0"/>
                <a:r>
                  <a:rPr lang="en-US" dirty="0"/>
                  <a:t>Timer clock frequency </a:t>
                </a:r>
                <a14:m>
                  <m:oMath xmlns:m="http://schemas.openxmlformats.org/officeDocument/2006/math">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oMath>
                </a14:m>
                <a:r>
                  <a:rPr lang="en-US" dirty="0"/>
                  <a:t> vs. CPU Clock Frequency </a:t>
                </a:r>
                <a14:m>
                  <m:oMath xmlns:m="http://schemas.openxmlformats.org/officeDocument/2006/math">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b="0" i="1" smtClean="0">
                            <a:solidFill>
                              <a:prstClr val="black"/>
                            </a:solidFill>
                            <a:latin typeface="Cambria Math" panose="02040503050406030204" pitchFamily="18" charset="0"/>
                          </a:rPr>
                          <m:t>𝑆𝑂𝑈𝑅𝐶𝐸</m:t>
                        </m:r>
                      </m:sub>
                    </m:sSub>
                  </m:oMath>
                </a14:m>
                <a:endParaRPr lang="en-US" dirty="0"/>
              </a:p>
            </p:txBody>
          </p:sp>
        </mc:Choice>
        <mc:Fallback xmlns="">
          <p:sp>
            <p:nvSpPr>
              <p:cNvPr id="4" name="Content Placeholder 3"/>
              <p:cNvSpPr>
                <a:spLocks noGrp="1" noRot="1" noChangeAspect="1" noMove="1" noResize="1" noEditPoints="1" noAdjustHandles="1" noChangeArrowheads="1" noChangeShapeType="1" noTextEdit="1"/>
              </p:cNvSpPr>
              <p:nvPr>
                <p:ph sz="quarter" idx="1"/>
              </p:nvPr>
            </p:nvSpPr>
            <p:spPr>
              <a:xfrm>
                <a:off x="457200" y="1219200"/>
                <a:ext cx="8229600" cy="381000"/>
              </a:xfrm>
              <a:blipFill>
                <a:blip r:embed="rId2"/>
                <a:stretch>
                  <a:fillRect l="-370" t="-26984" b="-26984"/>
                </a:stretch>
              </a:blipFill>
            </p:spPr>
            <p:txBody>
              <a:bodyPr/>
              <a:lstStyle/>
              <a:p>
                <a:r>
                  <a:rPr lang="en-US">
                    <a:noFill/>
                  </a:rPr>
                  <a:t> </a:t>
                </a:r>
              </a:p>
            </p:txBody>
          </p:sp>
        </mc:Fallback>
      </mc:AlternateContent>
      <p:sp>
        <p:nvSpPr>
          <p:cNvPr id="5" name="Title 4"/>
          <p:cNvSpPr>
            <a:spLocks noGrp="1"/>
          </p:cNvSpPr>
          <p:nvPr>
            <p:ph type="title"/>
          </p:nvPr>
        </p:nvSpPr>
        <p:spPr/>
        <p:txBody>
          <a:bodyPr/>
          <a:lstStyle/>
          <a:p>
            <a:r>
              <a:rPr lang="en-US" dirty="0"/>
              <a:t>Summary of Equations</a:t>
            </a:r>
          </a:p>
        </p:txBody>
      </p:sp>
      <mc:AlternateContent xmlns:mc="http://schemas.openxmlformats.org/markup-compatibility/2006" xmlns:a14="http://schemas.microsoft.com/office/drawing/2010/main">
        <mc:Choice Requires="a14">
          <p:sp>
            <p:nvSpPr>
              <p:cNvPr id="6" name="Rectangle 5"/>
              <p:cNvSpPr/>
              <p:nvPr/>
            </p:nvSpPr>
            <p:spPr>
              <a:xfrm>
                <a:off x="0" y="1540721"/>
                <a:ext cx="4800601" cy="62350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r>
                        <a:rPr lang="en-US" i="1">
                          <a:solidFill>
                            <a:prstClr val="black"/>
                          </a:solidFill>
                          <a:latin typeface="Cambria Math"/>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b="0" i="1" smtClean="0">
                                  <a:solidFill>
                                    <a:prstClr val="black"/>
                                  </a:solidFill>
                                  <a:latin typeface="Cambria Math" panose="02040503050406030204" pitchFamily="18" charset="0"/>
                                </a:rPr>
                                <m:t>𝑆𝑂𝑈𝑅𝐶𝐸</m:t>
                              </m:r>
                            </m:sub>
                          </m:sSub>
                        </m:num>
                        <m:den>
                          <m:r>
                            <a:rPr lang="en-US" i="1">
                              <a:solidFill>
                                <a:prstClr val="black"/>
                              </a:solidFill>
                              <a:latin typeface="Cambria Math" panose="02040503050406030204" pitchFamily="18" charset="0"/>
                            </a:rPr>
                            <m:t>𝑃𝑆𝐶</m:t>
                          </m:r>
                          <m:r>
                            <a:rPr lang="en-US" i="1">
                              <a:solidFill>
                                <a:prstClr val="black"/>
                              </a:solidFill>
                              <a:latin typeface="Cambria Math"/>
                            </a:rPr>
                            <m:t>+1</m:t>
                          </m:r>
                        </m:den>
                      </m:f>
                    </m:oMath>
                  </m:oMathPara>
                </a14:m>
                <a:endParaRPr lang="en-US" dirty="0"/>
              </a:p>
            </p:txBody>
          </p:sp>
        </mc:Choice>
        <mc:Fallback xmlns="">
          <p:sp>
            <p:nvSpPr>
              <p:cNvPr id="6" name="Rectangle 5"/>
              <p:cNvSpPr>
                <a:spLocks noRot="1" noChangeAspect="1" noMove="1" noResize="1" noEditPoints="1" noAdjustHandles="1" noChangeArrowheads="1" noChangeShapeType="1" noTextEdit="1"/>
              </p:cNvSpPr>
              <p:nvPr/>
            </p:nvSpPr>
            <p:spPr>
              <a:xfrm>
                <a:off x="0" y="1540721"/>
                <a:ext cx="4800601" cy="623504"/>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1326690" y="4388116"/>
                <a:ext cx="2518062" cy="61734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𝐷𝑢𝑡𝑦</m:t>
                      </m:r>
                      <m:r>
                        <a:rPr lang="en-US" i="0">
                          <a:latin typeface="Cambria Math" panose="02040503050406030204" pitchFamily="18" charset="0"/>
                        </a:rPr>
                        <m:t> </m:t>
                      </m:r>
                      <m:r>
                        <a:rPr lang="en-US" i="1">
                          <a:latin typeface="Cambria Math" panose="02040503050406030204" pitchFamily="18" charset="0"/>
                        </a:rPr>
                        <m:t>𝐶𝑦𝑐𝑙𝑒</m:t>
                      </m:r>
                      <m:r>
                        <a:rPr lang="en-US" i="0">
                          <a:latin typeface="Cambria Math" panose="02040503050406030204" pitchFamily="18" charset="0"/>
                        </a:rPr>
                        <m:t>=</m:t>
                      </m:r>
                      <m:f>
                        <m:fPr>
                          <m:ctrlPr>
                            <a:rPr lang="en-US" b="0" i="1" smtClean="0">
                              <a:latin typeface="Cambria Math" panose="02040503050406030204" pitchFamily="18" charset="0"/>
                            </a:rPr>
                          </m:ctrlPr>
                        </m:fPr>
                        <m:num>
                          <m:r>
                            <m:rPr>
                              <m:sty m:val="p"/>
                            </m:rPr>
                            <a:rPr lang="en-US" b="0" i="0" smtClean="0">
                              <a:latin typeface="Cambria Math" panose="02040503050406030204" pitchFamily="18" charset="0"/>
                            </a:rPr>
                            <m:t>CCR</m:t>
                          </m:r>
                        </m:num>
                        <m:den>
                          <m:r>
                            <m:rPr>
                              <m:sty m:val="p"/>
                            </m:rPr>
                            <a:rPr lang="en-US" b="0" i="0" smtClean="0">
                              <a:latin typeface="Cambria Math" panose="02040503050406030204" pitchFamily="18" charset="0"/>
                            </a:rPr>
                            <m:t>ARR</m:t>
                          </m:r>
                          <m:r>
                            <a:rPr lang="en-US" b="0" i="0" smtClean="0">
                              <a:latin typeface="Cambria Math" panose="02040503050406030204" pitchFamily="18" charset="0"/>
                            </a:rPr>
                            <m:t>+1</m:t>
                          </m:r>
                        </m:den>
                      </m:f>
                    </m:oMath>
                  </m:oMathPara>
                </a14:m>
                <a:endParaRPr lang="en-US" dirty="0"/>
              </a:p>
            </p:txBody>
          </p:sp>
        </mc:Choice>
        <mc:Fallback xmlns="">
          <p:sp>
            <p:nvSpPr>
              <p:cNvPr id="9" name="Rectangle 8"/>
              <p:cNvSpPr>
                <a:spLocks noRot="1" noChangeAspect="1" noMove="1" noResize="1" noEditPoints="1" noAdjustHandles="1" noChangeArrowheads="1" noChangeShapeType="1" noTextEdit="1"/>
              </p:cNvSpPr>
              <p:nvPr/>
            </p:nvSpPr>
            <p:spPr>
              <a:xfrm>
                <a:off x="1326690" y="4388116"/>
                <a:ext cx="2518062" cy="617348"/>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Content Placeholder 3"/>
              <p:cNvSpPr txBox="1">
                <a:spLocks/>
              </p:cNvSpPr>
              <p:nvPr/>
            </p:nvSpPr>
            <p:spPr>
              <a:xfrm>
                <a:off x="457200" y="2215484"/>
                <a:ext cx="8229600" cy="381000"/>
              </a:xfrm>
              <a:prstGeom prst="rect">
                <a:avLst/>
              </a:prstGeom>
            </p:spPr>
            <p:txBody>
              <a:bodyPr vert="horz">
                <a:normAutofit fontScale="85000" lnSpcReduction="2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altLang="zh-CN" dirty="0"/>
                  <a:t>Timer frequency </a:t>
                </a:r>
                <a14:m>
                  <m:oMath xmlns:m="http://schemas.openxmlformats.org/officeDocument/2006/math">
                    <m:r>
                      <a:rPr lang="en-US" i="1">
                        <a:solidFill>
                          <a:prstClr val="black"/>
                        </a:solidFill>
                        <a:latin typeface="Cambria Math" panose="02040503050406030204" pitchFamily="18" charset="0"/>
                      </a:rPr>
                      <m:t>𝑓</m:t>
                    </m:r>
                    <m:r>
                      <a:rPr lang="en-US" i="1" baseline="-25000">
                        <a:solidFill>
                          <a:prstClr val="black"/>
                        </a:solidFill>
                        <a:latin typeface="Cambria Math" panose="02040503050406030204" pitchFamily="18" charset="0"/>
                      </a:rPr>
                      <m:t>𝑇𝑖𝑚𝑒𝑟</m:t>
                    </m:r>
                  </m:oMath>
                </a14:m>
                <a:r>
                  <a:rPr lang="en-US" altLang="zh-CN" dirty="0"/>
                  <a:t> with </a:t>
                </a:r>
                <a:r>
                  <a:rPr lang="en-US" dirty="0"/>
                  <a:t>up-counting or down-counting mode:</a:t>
                </a:r>
              </a:p>
            </p:txBody>
          </p:sp>
        </mc:Choice>
        <mc:Fallback xmlns="">
          <p:sp>
            <p:nvSpPr>
              <p:cNvPr id="10" name="Content Placeholder 3"/>
              <p:cNvSpPr txBox="1">
                <a:spLocks noRot="1" noChangeAspect="1" noMove="1" noResize="1" noEditPoints="1" noAdjustHandles="1" noChangeArrowheads="1" noChangeShapeType="1" noTextEdit="1"/>
              </p:cNvSpPr>
              <p:nvPr/>
            </p:nvSpPr>
            <p:spPr>
              <a:xfrm>
                <a:off x="457200" y="2215484"/>
                <a:ext cx="8229600" cy="381000"/>
              </a:xfrm>
              <a:prstGeom prst="rect">
                <a:avLst/>
              </a:prstGeom>
              <a:blipFill>
                <a:blip r:embed="rId5"/>
                <a:stretch>
                  <a:fillRect l="-370" t="-26984" b="-2698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381000" y="2529260"/>
                <a:ext cx="8534400" cy="68403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solidFill>
                            <a:prstClr val="black"/>
                          </a:solidFill>
                          <a:latin typeface="Cambria Math" panose="02040503050406030204" pitchFamily="18" charset="0"/>
                        </a:rPr>
                        <m:t>𝑓</m:t>
                      </m:r>
                      <m:r>
                        <a:rPr lang="en-US" b="0" i="1" baseline="-25000" smtClean="0">
                          <a:solidFill>
                            <a:prstClr val="black"/>
                          </a:solidFill>
                          <a:latin typeface="Cambria Math" panose="02040503050406030204" pitchFamily="18" charset="0"/>
                        </a:rPr>
                        <m:t>𝑇𝑖𝑚𝑒𝑟</m:t>
                      </m:r>
                      <m:r>
                        <a:rPr lang="en-US" i="1">
                          <a:solidFill>
                            <a:prstClr val="black"/>
                          </a:solidFill>
                          <a:latin typeface="Cambria Math" panose="02040503050406030204" pitchFamily="18" charset="0"/>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num>
                        <m:den>
                          <m:r>
                            <a:rPr lang="en-US" b="0" i="1" smtClean="0">
                              <a:solidFill>
                                <a:prstClr val="black"/>
                              </a:solidFill>
                              <a:latin typeface="Cambria Math" panose="02040503050406030204" pitchFamily="18" charset="0"/>
                            </a:rPr>
                            <m:t>𝐴𝑅𝑅</m:t>
                          </m:r>
                          <m:r>
                            <a:rPr lang="en-US" b="0" i="1" smtClean="0">
                              <a:solidFill>
                                <a:prstClr val="black"/>
                              </a:solidFill>
                              <a:latin typeface="Cambria Math" panose="02040503050406030204" pitchFamily="18" charset="0"/>
                            </a:rPr>
                            <m:t>+1</m:t>
                          </m:r>
                        </m:den>
                      </m:f>
                      <m:r>
                        <a:rPr lang="en-US" b="0" i="0" smtClean="0">
                          <a:solidFill>
                            <a:prstClr val="black"/>
                          </a:solidFill>
                          <a:latin typeface="Cambria Math" panose="02040503050406030204" pitchFamily="18" charset="0"/>
                        </a:rPr>
                        <m:t>;</m:t>
                      </m:r>
                      <m:r>
                        <a:rPr lang="en-US" b="0" i="1" smtClean="0">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𝑇𝑖𝑚𝑒𝑟</m:t>
                      </m:r>
                      <m:r>
                        <a:rPr lang="en-US" i="1">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𝑃𝑒𝑟𝑖𝑜𝑑</m:t>
                      </m:r>
                      <m:r>
                        <a:rPr lang="en-US" i="1">
                          <a:solidFill>
                            <a:prstClr val="black"/>
                          </a:solidFill>
                          <a:latin typeface="Cambria Math" panose="02040503050406030204" pitchFamily="18" charset="0"/>
                        </a:rPr>
                        <m:t>=</m:t>
                      </m:r>
                      <m:f>
                        <m:fPr>
                          <m:ctrlPr>
                            <a:rPr lang="en-US" i="1">
                              <a:solidFill>
                                <a:prstClr val="black"/>
                              </a:solidFill>
                              <a:latin typeface="Cambria Math" panose="02040503050406030204" pitchFamily="18" charset="0"/>
                            </a:rPr>
                          </m:ctrlPr>
                        </m:fPr>
                        <m:num>
                          <m:r>
                            <a:rPr lang="en-US" i="1">
                              <a:solidFill>
                                <a:prstClr val="black"/>
                              </a:solidFill>
                              <a:latin typeface="Cambria Math" panose="02040503050406030204" pitchFamily="18" charset="0"/>
                            </a:rPr>
                            <m:t>𝐴𝑅𝑅</m:t>
                          </m:r>
                          <m:r>
                            <a:rPr lang="en-US" i="1">
                              <a:solidFill>
                                <a:prstClr val="black"/>
                              </a:solidFill>
                              <a:latin typeface="Cambria Math" panose="02040503050406030204" pitchFamily="18" charset="0"/>
                            </a:rPr>
                            <m:t>+1</m:t>
                          </m:r>
                        </m:num>
                        <m:den>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den>
                      </m:f>
                      <m:r>
                        <a:rPr lang="en-US" b="0" i="1" smtClean="0">
                          <a:latin typeface="Cambria Math" panose="02040503050406030204" pitchFamily="18" charset="0"/>
                          <a:ea typeface="DengXian" panose="02010600030101010101" pitchFamily="2" charset="-122"/>
                          <a:cs typeface="Times New Roman" panose="02020603050405020304" pitchFamily="18" charset="0"/>
                        </a:rPr>
                        <m:t>= </m:t>
                      </m:r>
                      <m:d>
                        <m:dPr>
                          <m:ctrlPr>
                            <a:rPr lang="en-US" i="1">
                              <a:solidFill>
                                <a:prstClr val="black"/>
                              </a:solidFill>
                              <a:latin typeface="Cambria Math" panose="02040503050406030204" pitchFamily="18" charset="0"/>
                            </a:rPr>
                          </m:ctrlPr>
                        </m:dPr>
                        <m:e>
                          <m:r>
                            <a:rPr lang="en-US" i="1">
                              <a:solidFill>
                                <a:prstClr val="black"/>
                              </a:solidFill>
                              <a:latin typeface="Cambria Math" panose="02040503050406030204" pitchFamily="18" charset="0"/>
                            </a:rPr>
                            <m:t>𝐴𝑅𝑅</m:t>
                          </m:r>
                          <m:r>
                            <a:rPr lang="en-US" b="0" i="1" smtClean="0">
                              <a:solidFill>
                                <a:prstClr val="black"/>
                              </a:solidFill>
                              <a:latin typeface="Cambria Math" panose="02040503050406030204" pitchFamily="18" charset="0"/>
                            </a:rPr>
                            <m:t>+1</m:t>
                          </m:r>
                        </m:e>
                      </m:d>
                      <m:r>
                        <a:rPr lang="en-US" i="1">
                          <a:solidFill>
                            <a:prstClr val="black"/>
                          </a:solidFill>
                          <a:latin typeface="Cambria Math" panose="02040503050406030204" pitchFamily="18" charset="0"/>
                        </a:rPr>
                        <m:t>∗</m:t>
                      </m:r>
                      <m:r>
                        <a:rPr lang="en-US" i="1">
                          <a:solidFill>
                            <a:prstClr val="black"/>
                          </a:solidFill>
                          <a:latin typeface="Cambria Math" panose="02040503050406030204" pitchFamily="18" charset="0"/>
                        </a:rPr>
                        <m:t>𝐶𝑙𝑜𝑐𝑘</m:t>
                      </m:r>
                      <m:r>
                        <a:rPr lang="en-US" i="1">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𝑃𝑒𝑟𝑖𝑜𝑑</m:t>
                      </m:r>
                    </m:oMath>
                  </m:oMathPara>
                </a14:m>
                <a:endParaRPr lang="en-US" dirty="0"/>
              </a:p>
            </p:txBody>
          </p:sp>
        </mc:Choice>
        <mc:Fallback xmlns="">
          <p:sp>
            <p:nvSpPr>
              <p:cNvPr id="13" name="Rectangle 12"/>
              <p:cNvSpPr>
                <a:spLocks noRot="1" noChangeAspect="1" noMove="1" noResize="1" noEditPoints="1" noAdjustHandles="1" noChangeArrowheads="1" noChangeShapeType="1" noTextEdit="1"/>
              </p:cNvSpPr>
              <p:nvPr/>
            </p:nvSpPr>
            <p:spPr>
              <a:xfrm>
                <a:off x="381000" y="2529260"/>
                <a:ext cx="8534400" cy="684033"/>
              </a:xfrm>
              <a:prstGeom prst="rect">
                <a:avLst/>
              </a:prstGeom>
              <a:blipFill>
                <a:blip r:embed="rId6"/>
                <a:stretch>
                  <a:fillRect/>
                </a:stretch>
              </a:blipFill>
            </p:spPr>
            <p:txBody>
              <a:bodyPr/>
              <a:lstStyle/>
              <a:p>
                <a:r>
                  <a:rPr lang="en-US">
                    <a:noFill/>
                  </a:rPr>
                  <a:t> </a:t>
                </a:r>
              </a:p>
            </p:txBody>
          </p:sp>
        </mc:Fallback>
      </mc:AlternateContent>
      <p:sp>
        <p:nvSpPr>
          <p:cNvPr id="16" name="Content Placeholder 3"/>
          <p:cNvSpPr txBox="1">
            <a:spLocks/>
          </p:cNvSpPr>
          <p:nvPr/>
        </p:nvSpPr>
        <p:spPr>
          <a:xfrm>
            <a:off x="469348" y="4037596"/>
            <a:ext cx="8229600" cy="381000"/>
          </a:xfrm>
          <a:prstGeom prst="rect">
            <a:avLst/>
          </a:prstGeom>
        </p:spPr>
        <p:txBody>
          <a:bodyPr vert="horz">
            <a:normAutofit fontScale="85000" lnSpcReduction="2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altLang="zh-CN" dirty="0"/>
              <a:t>PWM duty cycle for Mode 1 (Low-True):</a:t>
            </a:r>
            <a:endParaRPr lang="en-US" dirty="0"/>
          </a:p>
        </p:txBody>
      </p:sp>
      <mc:AlternateContent xmlns:mc="http://schemas.openxmlformats.org/markup-compatibility/2006" xmlns:a14="http://schemas.microsoft.com/office/drawing/2010/main">
        <mc:Choice Requires="a14">
          <p:sp>
            <p:nvSpPr>
              <p:cNvPr id="18" name="Content Placeholder 3"/>
              <p:cNvSpPr txBox="1">
                <a:spLocks/>
              </p:cNvSpPr>
              <p:nvPr/>
            </p:nvSpPr>
            <p:spPr>
              <a:xfrm>
                <a:off x="463051" y="3124200"/>
                <a:ext cx="8229600" cy="381000"/>
              </a:xfrm>
              <a:prstGeom prst="rect">
                <a:avLst/>
              </a:prstGeom>
            </p:spPr>
            <p:txBody>
              <a:bodyPr vert="horz">
                <a:normAutofit fontScale="85000" lnSpcReduction="2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altLang="zh-CN" dirty="0"/>
                  <a:t>Timer frequency </a:t>
                </a:r>
                <a14:m>
                  <m:oMath xmlns:m="http://schemas.openxmlformats.org/officeDocument/2006/math">
                    <m:r>
                      <a:rPr lang="en-US" i="1">
                        <a:solidFill>
                          <a:prstClr val="black"/>
                        </a:solidFill>
                        <a:latin typeface="Cambria Math" panose="02040503050406030204" pitchFamily="18" charset="0"/>
                      </a:rPr>
                      <m:t>𝑓</m:t>
                    </m:r>
                    <m:r>
                      <a:rPr lang="en-US" i="1" baseline="-25000">
                        <a:solidFill>
                          <a:prstClr val="black"/>
                        </a:solidFill>
                        <a:latin typeface="Cambria Math" panose="02040503050406030204" pitchFamily="18" charset="0"/>
                      </a:rPr>
                      <m:t>𝑇𝑖𝑚𝑒𝑟</m:t>
                    </m:r>
                  </m:oMath>
                </a14:m>
                <a:r>
                  <a:rPr lang="en-US" altLang="zh-CN" dirty="0"/>
                  <a:t> with </a:t>
                </a:r>
                <a:r>
                  <a:rPr lang="en-US" dirty="0"/>
                  <a:t>center-aligned counting mode:</a:t>
                </a:r>
              </a:p>
            </p:txBody>
          </p:sp>
        </mc:Choice>
        <mc:Fallback xmlns="">
          <p:sp>
            <p:nvSpPr>
              <p:cNvPr id="18" name="Content Placeholder 3"/>
              <p:cNvSpPr txBox="1">
                <a:spLocks noRot="1" noChangeAspect="1" noMove="1" noResize="1" noEditPoints="1" noAdjustHandles="1" noChangeArrowheads="1" noChangeShapeType="1" noTextEdit="1"/>
              </p:cNvSpPr>
              <p:nvPr/>
            </p:nvSpPr>
            <p:spPr>
              <a:xfrm>
                <a:off x="463051" y="3124200"/>
                <a:ext cx="8229600" cy="381000"/>
              </a:xfrm>
              <a:prstGeom prst="rect">
                <a:avLst/>
              </a:prstGeom>
              <a:blipFill>
                <a:blip r:embed="rId7"/>
                <a:stretch>
                  <a:fillRect l="-370" t="-29032" b="-27419"/>
                </a:stretch>
              </a:blipFill>
            </p:spPr>
            <p:txBody>
              <a:bodyPr/>
              <a:lstStyle/>
              <a:p>
                <a:r>
                  <a:rPr lang="en-US">
                    <a:noFill/>
                  </a:rPr>
                  <a:t> </a:t>
                </a:r>
              </a:p>
            </p:txBody>
          </p:sp>
        </mc:Fallback>
      </mc:AlternateContent>
      <p:sp>
        <p:nvSpPr>
          <p:cNvPr id="20" name="Content Placeholder 3"/>
          <p:cNvSpPr txBox="1">
            <a:spLocks/>
          </p:cNvSpPr>
          <p:nvPr/>
        </p:nvSpPr>
        <p:spPr>
          <a:xfrm>
            <a:off x="457200" y="5013207"/>
            <a:ext cx="8229600" cy="381000"/>
          </a:xfrm>
          <a:prstGeom prst="rect">
            <a:avLst/>
          </a:prstGeom>
        </p:spPr>
        <p:txBody>
          <a:bodyPr vert="horz">
            <a:normAutofit fontScale="85000" lnSpcReduction="2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altLang="zh-CN" dirty="0"/>
              <a:t>PWM duty cycle for Mode 2 (High-True):</a:t>
            </a:r>
            <a:endParaRPr lang="en-US" dirty="0"/>
          </a:p>
        </p:txBody>
      </p:sp>
      <mc:AlternateContent xmlns:mc="http://schemas.openxmlformats.org/markup-compatibility/2006" xmlns:a14="http://schemas.microsoft.com/office/drawing/2010/main">
        <mc:Choice Requires="a14">
          <p:sp>
            <p:nvSpPr>
              <p:cNvPr id="21" name="Rectangle 20"/>
              <p:cNvSpPr/>
              <p:nvPr/>
            </p:nvSpPr>
            <p:spPr>
              <a:xfrm>
                <a:off x="1326690" y="5341118"/>
                <a:ext cx="2864310" cy="61734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𝐷𝑢𝑡𝑦</m:t>
                      </m:r>
                      <m:r>
                        <a:rPr lang="en-US" i="0">
                          <a:latin typeface="Cambria Math" panose="02040503050406030204" pitchFamily="18" charset="0"/>
                        </a:rPr>
                        <m:t> </m:t>
                      </m:r>
                      <m:r>
                        <a:rPr lang="en-US" i="1">
                          <a:latin typeface="Cambria Math" panose="02040503050406030204" pitchFamily="18" charset="0"/>
                        </a:rPr>
                        <m:t>𝐶𝑦𝑐𝑙𝑒</m:t>
                      </m:r>
                      <m:r>
                        <a:rPr lang="en-US" i="0">
                          <a:latin typeface="Cambria Math" panose="02040503050406030204" pitchFamily="18" charset="0"/>
                        </a:rPr>
                        <m:t>=</m:t>
                      </m:r>
                      <m:r>
                        <a:rPr lang="en-US" i="1" smtClean="0">
                          <a:solidFill>
                            <a:prstClr val="black"/>
                          </a:solidFill>
                          <a:latin typeface="Cambria Math" panose="02040503050406030204" pitchFamily="18" charset="0"/>
                        </a:rPr>
                        <m:t>1</m:t>
                      </m:r>
                      <m:r>
                        <a:rPr lang="en-US" b="0" i="1" smtClean="0">
                          <a:solidFill>
                            <a:prstClr val="black"/>
                          </a:solidFill>
                          <a:latin typeface="Cambria Math" panose="02040503050406030204" pitchFamily="18" charset="0"/>
                        </a:rPr>
                        <m:t> </m:t>
                      </m:r>
                      <m:r>
                        <a:rPr lang="en-US" altLang="zh-CN" i="1" smtClean="0">
                          <a:solidFill>
                            <a:prstClr val="black"/>
                          </a:solidFill>
                          <a:latin typeface="Cambria Math" panose="02040503050406030204" pitchFamily="18" charset="0"/>
                        </a:rPr>
                        <m:t>−</m:t>
                      </m:r>
                      <m:r>
                        <a:rPr lang="en-US" altLang="zh-CN" b="0" i="1" smtClean="0">
                          <a:solidFill>
                            <a:prstClr val="black"/>
                          </a:solidFill>
                          <a:latin typeface="Cambria Math" panose="02040503050406030204" pitchFamily="18" charset="0"/>
                        </a:rPr>
                        <m:t> </m:t>
                      </m:r>
                      <m:f>
                        <m:fPr>
                          <m:ctrlPr>
                            <a:rPr lang="en-US" b="0" i="1" smtClean="0">
                              <a:latin typeface="Cambria Math" panose="02040503050406030204" pitchFamily="18" charset="0"/>
                            </a:rPr>
                          </m:ctrlPr>
                        </m:fPr>
                        <m:num>
                          <m:r>
                            <m:rPr>
                              <m:sty m:val="p"/>
                            </m:rPr>
                            <a:rPr lang="en-US" b="0" i="0" smtClean="0">
                              <a:latin typeface="Cambria Math" panose="02040503050406030204" pitchFamily="18" charset="0"/>
                            </a:rPr>
                            <m:t>CCR</m:t>
                          </m:r>
                        </m:num>
                        <m:den>
                          <m:r>
                            <m:rPr>
                              <m:sty m:val="p"/>
                            </m:rPr>
                            <a:rPr lang="en-US" b="0" i="0" smtClean="0">
                              <a:latin typeface="Cambria Math" panose="02040503050406030204" pitchFamily="18" charset="0"/>
                            </a:rPr>
                            <m:t>ARR</m:t>
                          </m:r>
                          <m:r>
                            <a:rPr lang="en-US" b="0" i="0" smtClean="0">
                              <a:latin typeface="Cambria Math" panose="02040503050406030204" pitchFamily="18" charset="0"/>
                            </a:rPr>
                            <m:t>+1</m:t>
                          </m:r>
                        </m:den>
                      </m:f>
                    </m:oMath>
                  </m:oMathPara>
                </a14:m>
                <a:endParaRPr lang="en-US" dirty="0"/>
              </a:p>
            </p:txBody>
          </p:sp>
        </mc:Choice>
        <mc:Fallback xmlns="">
          <p:sp>
            <p:nvSpPr>
              <p:cNvPr id="21" name="Rectangle 20"/>
              <p:cNvSpPr>
                <a:spLocks noRot="1" noChangeAspect="1" noMove="1" noResize="1" noEditPoints="1" noAdjustHandles="1" noChangeArrowheads="1" noChangeShapeType="1" noTextEdit="1"/>
              </p:cNvSpPr>
              <p:nvPr/>
            </p:nvSpPr>
            <p:spPr>
              <a:xfrm>
                <a:off x="1326690" y="5341118"/>
                <a:ext cx="2864310" cy="617348"/>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ectangle 22"/>
              <p:cNvSpPr/>
              <p:nvPr/>
            </p:nvSpPr>
            <p:spPr>
              <a:xfrm>
                <a:off x="304800" y="3405843"/>
                <a:ext cx="8534400" cy="61709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i="1">
                          <a:solidFill>
                            <a:prstClr val="black"/>
                          </a:solidFill>
                          <a:latin typeface="Cambria Math" panose="02040503050406030204" pitchFamily="18" charset="0"/>
                        </a:rPr>
                        <m:t>𝑓</m:t>
                      </m:r>
                      <m:r>
                        <a:rPr lang="en-US" i="1" baseline="-25000">
                          <a:solidFill>
                            <a:prstClr val="black"/>
                          </a:solidFill>
                          <a:latin typeface="Cambria Math" panose="02040503050406030204" pitchFamily="18" charset="0"/>
                        </a:rPr>
                        <m:t>𝑇𝑖𝑚𝑒</m:t>
                      </m:r>
                      <m:r>
                        <a:rPr lang="en-US" i="1" baseline="-25000" smtClean="0">
                          <a:solidFill>
                            <a:prstClr val="black"/>
                          </a:solidFill>
                          <a:latin typeface="Cambria Math" panose="02040503050406030204" pitchFamily="18" charset="0"/>
                        </a:rPr>
                        <m:t>𝑟</m:t>
                      </m:r>
                      <m:r>
                        <a:rPr lang="en-US" i="1">
                          <a:solidFill>
                            <a:prstClr val="black"/>
                          </a:solidFill>
                          <a:latin typeface="Cambria Math" panose="02040503050406030204" pitchFamily="18" charset="0"/>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num>
                        <m:den>
                          <m:r>
                            <a:rPr lang="en-US" b="0" i="1" smtClean="0">
                              <a:solidFill>
                                <a:prstClr val="black"/>
                              </a:solidFill>
                              <a:latin typeface="Cambria Math" panose="02040503050406030204" pitchFamily="18" charset="0"/>
                            </a:rPr>
                            <m:t>2∗</m:t>
                          </m:r>
                          <m:r>
                            <a:rPr lang="en-US" b="0" i="1" smtClean="0">
                              <a:solidFill>
                                <a:prstClr val="black"/>
                              </a:solidFill>
                              <a:latin typeface="Cambria Math" panose="02040503050406030204" pitchFamily="18" charset="0"/>
                            </a:rPr>
                            <m:t>𝐴𝑅𝑅</m:t>
                          </m:r>
                        </m:den>
                      </m:f>
                      <m:r>
                        <a:rPr lang="en-US" b="0" i="0" smtClean="0">
                          <a:solidFill>
                            <a:prstClr val="black"/>
                          </a:solidFill>
                          <a:latin typeface="Cambria Math" panose="02040503050406030204" pitchFamily="18" charset="0"/>
                        </a:rPr>
                        <m:t>;</m:t>
                      </m:r>
                      <m:r>
                        <a:rPr lang="en-US" i="1">
                          <a:solidFill>
                            <a:prstClr val="black"/>
                          </a:solidFill>
                          <a:latin typeface="Cambria Math" panose="02040503050406030204" pitchFamily="18" charset="0"/>
                        </a:rPr>
                        <m:t>𝑇𝑖𝑚𝑒𝑟</m:t>
                      </m:r>
                      <m:r>
                        <a:rPr lang="en-US" i="1">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𝑃𝑒𝑟𝑖𝑜𝑑</m:t>
                      </m:r>
                      <m:r>
                        <a:rPr lang="en-US" i="1">
                          <a:solidFill>
                            <a:prstClr val="black"/>
                          </a:solidFill>
                          <a:latin typeface="Cambria Math" panose="02040503050406030204" pitchFamily="18" charset="0"/>
                        </a:rPr>
                        <m:t>=</m:t>
                      </m:r>
                      <m:d>
                        <m:dPr>
                          <m:ctrlPr>
                            <a:rPr lang="en-US" i="1">
                              <a:solidFill>
                                <a:prstClr val="black"/>
                              </a:solidFill>
                              <a:latin typeface="Cambria Math" panose="02040503050406030204" pitchFamily="18" charset="0"/>
                            </a:rPr>
                          </m:ctrlPr>
                        </m:dPr>
                        <m:e>
                          <m:r>
                            <a:rPr lang="en-US" b="0" i="1" smtClean="0">
                              <a:solidFill>
                                <a:prstClr val="black"/>
                              </a:solidFill>
                              <a:latin typeface="Cambria Math" panose="02040503050406030204" pitchFamily="18" charset="0"/>
                            </a:rPr>
                            <m:t>2∗</m:t>
                          </m:r>
                          <m:r>
                            <a:rPr lang="en-US" i="1">
                              <a:solidFill>
                                <a:prstClr val="black"/>
                              </a:solidFill>
                              <a:latin typeface="Cambria Math" panose="02040503050406030204" pitchFamily="18" charset="0"/>
                            </a:rPr>
                            <m:t>𝐴𝑅𝑅</m:t>
                          </m:r>
                        </m:e>
                      </m:d>
                      <m:r>
                        <a:rPr lang="en-US" i="1">
                          <a:solidFill>
                            <a:prstClr val="black"/>
                          </a:solidFill>
                          <a:latin typeface="Cambria Math" panose="02040503050406030204" pitchFamily="18" charset="0"/>
                        </a:rPr>
                        <m:t>∗</m:t>
                      </m:r>
                      <m:r>
                        <a:rPr lang="en-US" i="1">
                          <a:solidFill>
                            <a:prstClr val="black"/>
                          </a:solidFill>
                          <a:latin typeface="Cambria Math" panose="02040503050406030204" pitchFamily="18" charset="0"/>
                        </a:rPr>
                        <m:t>𝐶𝑙𝑜𝑐𝑘</m:t>
                      </m:r>
                      <m:r>
                        <a:rPr lang="en-US" i="1">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𝑃𝑒𝑟𝑖𝑜𝑑</m:t>
                      </m:r>
                    </m:oMath>
                  </m:oMathPara>
                </a14:m>
                <a:endParaRPr lang="en-US" dirty="0"/>
              </a:p>
            </p:txBody>
          </p:sp>
        </mc:Choice>
        <mc:Fallback xmlns="">
          <p:sp>
            <p:nvSpPr>
              <p:cNvPr id="23" name="Rectangle 22"/>
              <p:cNvSpPr>
                <a:spLocks noRot="1" noChangeAspect="1" noMove="1" noResize="1" noEditPoints="1" noAdjustHandles="1" noChangeArrowheads="1" noChangeShapeType="1" noTextEdit="1"/>
              </p:cNvSpPr>
              <p:nvPr/>
            </p:nvSpPr>
            <p:spPr>
              <a:xfrm>
                <a:off x="304800" y="3405843"/>
                <a:ext cx="8534400" cy="617092"/>
              </a:xfrm>
              <a:prstGeom prst="rect">
                <a:avLst/>
              </a:prstGeom>
              <a:blipFill>
                <a:blip r:embed="rId9"/>
                <a:stretch>
                  <a:fillRect/>
                </a:stretch>
              </a:blipFill>
            </p:spPr>
            <p:txBody>
              <a:bodyPr/>
              <a:lstStyle/>
              <a:p>
                <a:r>
                  <a:rPr lang="en-US">
                    <a:noFill/>
                  </a:rPr>
                  <a:t> </a:t>
                </a:r>
              </a:p>
            </p:txBody>
          </p:sp>
        </mc:Fallback>
      </mc:AlternateContent>
      <p:sp>
        <p:nvSpPr>
          <p:cNvPr id="2" name="Horizontal Scroll 6">
            <a:extLst>
              <a:ext uri="{FF2B5EF4-FFF2-40B4-BE49-F238E27FC236}">
                <a16:creationId xmlns:a16="http://schemas.microsoft.com/office/drawing/2014/main" id="{16E97F0F-FB59-0BA9-A773-9E1AD66DA5B3}"/>
              </a:ext>
            </a:extLst>
          </p:cNvPr>
          <p:cNvSpPr/>
          <p:nvPr/>
        </p:nvSpPr>
        <p:spPr>
          <a:xfrm>
            <a:off x="124937" y="-35721"/>
            <a:ext cx="1265712" cy="762000"/>
          </a:xfrm>
          <a:prstGeom prst="horizontalScroll">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latin typeface="Calibri"/>
                <a:ea typeface="+mn-ea"/>
                <a:cs typeface="+mn-cs"/>
              </a:rPr>
              <a:t>Review</a:t>
            </a:r>
          </a:p>
        </p:txBody>
      </p:sp>
    </p:spTree>
    <p:extLst>
      <p:ext uri="{BB962C8B-B14F-4D97-AF65-F5344CB8AC3E}">
        <p14:creationId xmlns:p14="http://schemas.microsoft.com/office/powerpoint/2010/main" val="38777792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Calculating ARR</a:t>
            </a:r>
          </a:p>
        </p:txBody>
      </p:sp>
      <p:sp>
        <p:nvSpPr>
          <p:cNvPr id="3" name="Slide Number Placeholder 2"/>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400" b="0" i="0" u="none" strike="noStrike" kern="1200" cap="none" spc="0" normalizeH="0" baseline="0" noProof="0" dirty="0">
              <a:ln>
                <a:noFill/>
              </a:ln>
              <a:solidFill>
                <a:srgbClr val="1F497D"/>
              </a:solidFill>
              <a:effectLst/>
              <a:uLnTx/>
              <a:uFillTx/>
              <a:latin typeface="Gill Sans MT"/>
              <a:ea typeface="+mn-ea"/>
              <a:cs typeface="+mn-cs"/>
            </a:endParaRPr>
          </a:p>
        </p:txBody>
      </p:sp>
      <p:sp>
        <p:nvSpPr>
          <p:cNvPr id="4" name="Content Placeholder 3"/>
          <p:cNvSpPr>
            <a:spLocks noGrp="1"/>
          </p:cNvSpPr>
          <p:nvPr>
            <p:ph sz="quarter" idx="1"/>
          </p:nvPr>
        </p:nvSpPr>
        <p:spPr>
          <a:xfrm>
            <a:off x="304800" y="1143000"/>
            <a:ext cx="7747672" cy="2286000"/>
          </a:xfrm>
        </p:spPr>
        <p:txBody>
          <a:bodyPr>
            <a:normAutofit/>
          </a:bodyPr>
          <a:lstStyle/>
          <a:p>
            <a:pPr lvl="0">
              <a:buClr>
                <a:srgbClr val="4F81BD"/>
              </a:buClr>
            </a:pPr>
            <a:r>
              <a:rPr lang="en-US" sz="2000" dirty="0">
                <a:solidFill>
                  <a:prstClr val="black"/>
                </a:solidFill>
              </a:rPr>
              <a:t>Suppose Timer Clock </a:t>
            </a:r>
            <a:r>
              <a:rPr lang="en-US" altLang="zh-CN" sz="2000" dirty="0">
                <a:solidFill>
                  <a:prstClr val="black"/>
                </a:solidFill>
              </a:rPr>
              <a:t>Frequency</a:t>
            </a:r>
            <a:r>
              <a:rPr lang="en-US" sz="2000" dirty="0">
                <a:solidFill>
                  <a:prstClr val="black"/>
                </a:solidFill>
              </a:rPr>
              <a:t> = </a:t>
            </a:r>
            <a:r>
              <a:rPr lang="en-US" sz="2000" dirty="0">
                <a:solidFill>
                  <a:prstClr val="black"/>
                </a:solidFill>
                <a:latin typeface="Consolas" panose="020B0609020204030204" pitchFamily="49" charset="0"/>
              </a:rPr>
              <a:t>80MHz</a:t>
            </a:r>
          </a:p>
          <a:p>
            <a:r>
              <a:rPr lang="en-US" sz="2000" dirty="0"/>
              <a:t>Goal: Timer Frequency = 100Hz</a:t>
            </a:r>
          </a:p>
          <a:p>
            <a:pPr lvl="0">
              <a:buClr>
                <a:srgbClr val="4F81BD"/>
              </a:buClr>
            </a:pPr>
            <a:r>
              <a:rPr lang="en-US" sz="2000" dirty="0">
                <a:solidFill>
                  <a:prstClr val="black"/>
                </a:solidFill>
              </a:rPr>
              <a:t>What should the ARR value be for 1. up-counting </a:t>
            </a:r>
            <a:r>
              <a:rPr lang="en-US" altLang="zh-CN" sz="2000" dirty="0">
                <a:solidFill>
                  <a:prstClr val="black"/>
                </a:solidFill>
              </a:rPr>
              <a:t>mode</a:t>
            </a:r>
            <a:r>
              <a:rPr lang="en-US" sz="2000" dirty="0">
                <a:solidFill>
                  <a:prstClr val="black"/>
                </a:solidFill>
              </a:rPr>
              <a:t>; 2. down-counting mode; 3. center-aligned counting mode?</a:t>
            </a:r>
          </a:p>
        </p:txBody>
      </p:sp>
    </p:spTree>
    <p:custDataLst>
      <p:tags r:id="rId1"/>
    </p:custDataLst>
    <p:extLst>
      <p:ext uri="{BB962C8B-B14F-4D97-AF65-F5344CB8AC3E}">
        <p14:creationId xmlns:p14="http://schemas.microsoft.com/office/powerpoint/2010/main" val="2719984395"/>
      </p:ext>
    </p:extLst>
  </p:cSld>
  <p:clrMapOvr>
    <a:masterClrMapping/>
  </p:clrMapOvr>
  <mc:AlternateContent xmlns:mc="http://schemas.openxmlformats.org/markup-compatibility/2006" xmlns:p14="http://schemas.microsoft.com/office/powerpoint/2010/main">
    <mc:Choice Requires="p14">
      <p:transition spd="slow" p14:dur="2000" advTm="57021"/>
    </mc:Choice>
    <mc:Fallback xmlns="">
      <p:transition spd="slow" advTm="57021"/>
    </mc:Fallback>
  </mc:AlternateContent>
  <p:extLst>
    <p:ext uri="{3A86A75C-4F4B-4683-9AE1-C65F6400EC91}">
      <p14:laserTraceLst xmlns:p14="http://schemas.microsoft.com/office/powerpoint/2010/main">
        <p14:tracePtLst>
          <p14:tracePt t="5374" x="3949700" y="1709738"/>
          <p14:tracePt t="6110" x="4010025" y="1709738"/>
          <p14:tracePt t="6133" x="4060825" y="1709738"/>
          <p14:tracePt t="6134" x="4070350" y="1709738"/>
          <p14:tracePt t="6154" x="4130675" y="1709738"/>
          <p14:tracePt t="6178" x="4211638" y="1719263"/>
          <p14:tracePt t="6199" x="4262438" y="1730375"/>
          <p14:tracePt t="6223" x="4302125" y="1730375"/>
          <p14:tracePt t="6247" x="4332288" y="1730375"/>
          <p14:tracePt t="6269" x="4341813" y="1730375"/>
          <p14:tracePt t="6291" x="4381500" y="1730375"/>
          <p14:tracePt t="6312" x="4411663" y="1730375"/>
          <p14:tracePt t="6336" x="4441825" y="1730375"/>
          <p14:tracePt t="6361" x="4452938" y="1730375"/>
          <p14:tracePt t="6385" x="4492625" y="1730375"/>
          <p14:tracePt t="6407" x="4543425" y="1730375"/>
          <p14:tracePt t="6434" x="4573588" y="1730375"/>
          <p14:tracePt t="6457" x="4583113" y="1730375"/>
          <p14:tracePt t="6500" x="4603750" y="1730375"/>
          <p14:tracePt t="7461" x="4613275" y="1730375"/>
          <p14:tracePt t="7462" x="0" y="0"/>
        </p14:tracePtLst>
        <p14:tracePtLst>
          <p14:tracePt t="10251" x="3870325" y="2201863"/>
          <p14:tracePt t="10351" x="3910013" y="2201863"/>
          <p14:tracePt t="10379" x="3979863" y="2201863"/>
          <p14:tracePt t="10404" x="4060825" y="2232025"/>
          <p14:tracePt t="10430" x="4111625" y="2243138"/>
          <p14:tracePt t="10454" x="4160838" y="2252663"/>
          <p14:tracePt t="10477" x="4211638" y="2252663"/>
          <p14:tracePt t="10501" x="4232275" y="2262188"/>
          <p14:tracePt t="10523" x="4251325" y="2273300"/>
          <p14:tracePt t="10546" x="4281488" y="2273300"/>
          <p14:tracePt t="10569" x="4311650" y="2273300"/>
          <p14:tracePt t="10592" x="4341813" y="2273300"/>
          <p14:tracePt t="10617" x="4362450" y="2273300"/>
          <p14:tracePt t="10645" x="4392613" y="2273300"/>
          <p14:tracePt t="10669" x="4432300" y="2273300"/>
          <p14:tracePt t="10693" x="4471988" y="2273300"/>
          <p14:tracePt t="10717" x="4492625" y="2273300"/>
          <p14:tracePt t="10743" x="4522788" y="2273300"/>
          <p14:tracePt t="10768" x="4562475" y="2273300"/>
          <p14:tracePt t="10792" x="4573588" y="2262188"/>
          <p14:tracePt t="11342" x="4583113" y="2262188"/>
          <p14:tracePt t="11343" x="0" y="0"/>
        </p14:tracePtLst>
        <p14:tracePtLst>
          <p14:tracePt t="11954" x="2201863" y="2635250"/>
          <p14:tracePt t="12023" x="2211388" y="2635250"/>
          <p14:tracePt t="12046" x="2251075" y="2635250"/>
          <p14:tracePt t="12068" x="2341563" y="2635250"/>
          <p14:tracePt t="12090" x="2401888" y="2635250"/>
          <p14:tracePt t="12114" x="2473325" y="2635250"/>
          <p14:tracePt t="12114" x="2482850" y="2635250"/>
          <p14:tracePt t="12138" x="2573338" y="2635250"/>
          <p14:tracePt t="12160" x="2613025" y="2635250"/>
          <p14:tracePt t="12181" x="2652713" y="2635250"/>
          <p14:tracePt t="12204" x="2703513" y="2635250"/>
          <p14:tracePt t="12204" x="2733675" y="2635250"/>
          <p14:tracePt t="12226" x="2794000" y="2635250"/>
          <p14:tracePt t="12249" x="2844800" y="2635250"/>
          <p14:tracePt t="12272" x="2924175" y="2635250"/>
          <p14:tracePt t="12272" x="2944813" y="2635250"/>
          <p14:tracePt t="12295" x="3014663" y="2635250"/>
          <p14:tracePt t="12317" x="3105150" y="2635250"/>
          <p14:tracePt t="12340" x="3165475" y="2635250"/>
          <p14:tracePt t="12340" x="3186113" y="2635250"/>
          <p14:tracePt t="12365" x="3267075" y="2635250"/>
          <p14:tracePt t="12387" x="3336925" y="2635250"/>
          <p14:tracePt t="12410" x="3448050" y="2635250"/>
          <p14:tracePt t="12433" x="3568700" y="2635250"/>
          <p14:tracePt t="12458" x="3617913" y="2635250"/>
          <p14:tracePt t="12613" x="3638550" y="2635250"/>
          <p14:tracePt t="12973" x="0" y="0"/>
        </p14:tracePtLst>
        <p14:tracePtLst>
          <p14:tracePt t="19905" x="7558088" y="2343150"/>
          <p14:tracePt t="19929" x="7569200" y="2343150"/>
          <p14:tracePt t="19951" x="7599363" y="2343150"/>
          <p14:tracePt t="19979" x="7780338" y="2322513"/>
          <p14:tracePt t="19979" x="7820025" y="2322513"/>
          <p14:tracePt t="20003" x="8140700" y="2282825"/>
          <p14:tracePt t="20004" x="8170863" y="2282825"/>
          <p14:tracePt t="20026" x="8583613" y="2262188"/>
          <p14:tracePt t="20047" x="8985250" y="2262188"/>
          <p14:tracePt t="20070" x="9267825" y="2262188"/>
          <p14:tracePt t="20094" x="9437688" y="2262188"/>
          <p14:tracePt t="20119" x="9548813" y="2262188"/>
          <p14:tracePt t="20145" x="9678988" y="2243138"/>
          <p14:tracePt t="20171" x="9729788" y="2232025"/>
          <p14:tracePt t="20196" x="9779000" y="2232025"/>
          <p14:tracePt t="20222" x="9880600" y="2212975"/>
          <p14:tracePt t="20244" x="9959975" y="2182813"/>
          <p14:tracePt t="20267" x="10031413" y="2182813"/>
          <p14:tracePt t="20267" x="10040938" y="2182813"/>
          <p14:tracePt t="20289" x="10091738" y="2182813"/>
          <p14:tracePt t="20315" x="10140950" y="2182813"/>
          <p14:tracePt t="20339" x="10161588" y="2182813"/>
          <p14:tracePt t="20392" x="10171113" y="2182813"/>
          <p14:tracePt t="20423" x="10191750" y="2182813"/>
          <p14:tracePt t="20608" x="10161588" y="2182813"/>
          <p14:tracePt t="20633" x="9959975" y="2182813"/>
          <p14:tracePt t="20657" x="9729788" y="2182813"/>
          <p14:tracePt t="20657" x="9709150" y="2182813"/>
          <p14:tracePt t="20681" x="9337675" y="2182813"/>
          <p14:tracePt t="20705" x="8845550" y="2162175"/>
          <p14:tracePt t="20731" x="8382000" y="2162175"/>
          <p14:tracePt t="20757" x="8091488" y="2152650"/>
          <p14:tracePt t="20781" x="7910513" y="2152650"/>
          <p14:tracePt t="20781" x="7889875" y="2152650"/>
          <p14:tracePt t="20805" x="7739063" y="2152650"/>
          <p14:tracePt t="20805" x="7708900" y="2152650"/>
          <p14:tracePt t="20828" x="7569200" y="2132013"/>
          <p14:tracePt t="20852" x="7478713" y="2132013"/>
          <p14:tracePt t="20876" x="7407275" y="2132013"/>
          <p14:tracePt t="20992" x="7437438" y="2111375"/>
          <p14:tracePt t="21017" x="7569200" y="2111375"/>
          <p14:tracePt t="21042" x="7850188" y="2111375"/>
          <p14:tracePt t="21067" x="8261350" y="2111375"/>
          <p14:tracePt t="21091" x="8743950" y="2092325"/>
          <p14:tracePt t="21118" x="9186863" y="2092325"/>
          <p14:tracePt t="21146" x="9598025" y="2092325"/>
          <p14:tracePt t="21174" x="10001250" y="2092325"/>
          <p14:tracePt t="21197" x="10231438" y="2092325"/>
          <p14:tracePt t="21197" x="10252075" y="2092325"/>
          <p14:tracePt t="21221" x="10363200" y="2092325"/>
          <p14:tracePt t="21245" x="10463213" y="2092325"/>
          <p14:tracePt t="21271" x="10583863" y="2092325"/>
          <p14:tracePt t="21318" x="10604500" y="2092325"/>
          <p14:tracePt t="21575" x="0" y="0"/>
        </p14:tracePtLst>
        <p14:tracePtLst>
          <p14:tracePt t="24608" x="8170863" y="5691188"/>
          <p14:tracePt t="24718" x="8170863" y="5702300"/>
          <p14:tracePt t="24742" x="8170863" y="5711825"/>
          <p14:tracePt t="24766" x="8191500" y="5721350"/>
          <p14:tracePt t="24791" x="8231188" y="5732463"/>
          <p14:tracePt t="24813" x="8302625" y="5772150"/>
          <p14:tracePt t="24836" x="8402638" y="5792788"/>
          <p14:tracePt t="24863" x="8472488" y="5792788"/>
          <p14:tracePt t="24863" x="8483600" y="5802313"/>
          <p14:tracePt t="24892" x="8553450" y="5811838"/>
          <p14:tracePt t="24915" x="8613775" y="5811838"/>
          <p14:tracePt t="24941" x="8694738" y="5811838"/>
          <p14:tracePt t="24967" x="8743950" y="5811838"/>
          <p14:tracePt t="24991" x="8774113" y="5811838"/>
          <p14:tracePt t="25015" x="8855075" y="5811838"/>
          <p14:tracePt t="25040" x="8936038" y="5811838"/>
          <p14:tracePt t="25064" x="9045575" y="5811838"/>
          <p14:tracePt t="25094" x="9126538" y="5811838"/>
          <p14:tracePt t="25117" x="9156700" y="5811838"/>
          <p14:tracePt t="25141" x="9207500" y="5811838"/>
          <p14:tracePt t="25162" x="9237663" y="5811838"/>
          <p14:tracePt t="25186" x="9286875" y="5811838"/>
          <p14:tracePt t="25209" x="9358313" y="5811838"/>
          <p14:tracePt t="25209" x="9367838" y="5811838"/>
          <p14:tracePt t="25234" x="9437688" y="5811838"/>
          <p14:tracePt t="25257" x="9458325" y="5811838"/>
          <p14:tracePt t="25305" x="9478963" y="5811838"/>
          <p14:tracePt t="25379" x="9488488" y="5811838"/>
          <p14:tracePt t="25953" x="9478963" y="5811838"/>
          <p14:tracePt t="25979" x="9367838" y="5811838"/>
          <p14:tracePt t="26003" x="9237663" y="5811838"/>
          <p14:tracePt t="26028" x="9156700" y="5811838"/>
          <p14:tracePt t="26052" x="9075738" y="5811838"/>
          <p14:tracePt t="26077" x="8924925" y="5811838"/>
          <p14:tracePt t="26101" x="8764588" y="5832475"/>
          <p14:tracePt t="26101" x="8734425" y="5832475"/>
          <p14:tracePt t="26124" x="8562975" y="5832475"/>
          <p14:tracePt t="26148" x="8423275" y="5832475"/>
          <p14:tracePt t="26172" x="8261350" y="5832475"/>
          <p14:tracePt t="26196" x="8201025" y="5832475"/>
          <p14:tracePt t="26250" x="8181975" y="5832475"/>
          <p14:tracePt t="26276" x="8151813" y="5832475"/>
          <p14:tracePt t="26300" x="8080375" y="5832475"/>
          <p14:tracePt t="26324" x="8070850" y="5832475"/>
          <p14:tracePt t="26348" x="8050213" y="5832475"/>
          <p14:tracePt t="26554" x="0" y="0"/>
        </p14:tracePtLst>
        <p14:tracePtLst>
          <p14:tracePt t="28806" x="8031163" y="4143375"/>
          <p14:tracePt t="30619" x="8031163" y="4162425"/>
          <p14:tracePt t="30642" x="8031163" y="4173538"/>
          <p14:tracePt t="30665" x="8031163" y="4192588"/>
          <p14:tracePt t="30690" x="8031163" y="4213225"/>
          <p14:tracePt t="30740" x="8031163" y="4222750"/>
          <p14:tracePt t="30787" x="8031163" y="4252913"/>
          <p14:tracePt t="30928" x="8031163" y="4273550"/>
          <p14:tracePt t="30953" x="8050213" y="4283075"/>
          <p14:tracePt t="31299" x="8050213" y="4303713"/>
          <p14:tracePt t="31322" x="8050213" y="4364038"/>
          <p14:tracePt t="31349" x="8050213" y="4394200"/>
          <p14:tracePt t="31844" x="8050213" y="4403725"/>
          <p14:tracePt t="31871" x="0" y="0"/>
        </p14:tracePtLst>
      </p14:laserTraceLst>
    </p:ext>
    <p:ext uri="{E180D4A7-C9FB-4DFB-919C-405C955672EB}">
      <p14:showEvtLst xmlns:p14="http://schemas.microsoft.com/office/powerpoint/2010/main">
        <p14:playEvt time="35" objId="7"/>
        <p14:stopEvt time="51385" objId="7"/>
      </p14:showEvtLst>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Calculating ARR ANS</a:t>
            </a:r>
          </a:p>
        </p:txBody>
      </p:sp>
      <p:sp>
        <p:nvSpPr>
          <p:cNvPr id="3" name="Slide Number Placeholder 2"/>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400" b="0" i="0" u="none" strike="noStrike" kern="1200" cap="none" spc="0" normalizeH="0" baseline="0" noProof="0" dirty="0">
              <a:ln>
                <a:noFill/>
              </a:ln>
              <a:solidFill>
                <a:srgbClr val="1F497D"/>
              </a:solidFill>
              <a:effectLst/>
              <a:uLnTx/>
              <a:uFillTx/>
              <a:latin typeface="Gill Sans MT"/>
              <a:ea typeface="+mn-ea"/>
              <a:cs typeface="+mn-cs"/>
            </a:endParaRPr>
          </a:p>
        </p:txBody>
      </p:sp>
      <p:sp>
        <p:nvSpPr>
          <p:cNvPr id="4" name="Content Placeholder 3"/>
          <p:cNvSpPr>
            <a:spLocks noGrp="1"/>
          </p:cNvSpPr>
          <p:nvPr>
            <p:ph sz="quarter" idx="1"/>
          </p:nvPr>
        </p:nvSpPr>
        <p:spPr>
          <a:xfrm>
            <a:off x="304800" y="1143000"/>
            <a:ext cx="7747672" cy="2133600"/>
          </a:xfrm>
        </p:spPr>
        <p:txBody>
          <a:bodyPr>
            <a:normAutofit/>
          </a:bodyPr>
          <a:lstStyle/>
          <a:p>
            <a:r>
              <a:rPr lang="en-US" sz="2000" dirty="0"/>
              <a:t>Suppose Timer Clock </a:t>
            </a:r>
            <a:r>
              <a:rPr lang="en-US" altLang="zh-CN" sz="2000" dirty="0"/>
              <a:t>Frequency</a:t>
            </a:r>
            <a:r>
              <a:rPr lang="en-US" sz="2000" dirty="0"/>
              <a:t> = </a:t>
            </a:r>
            <a:r>
              <a:rPr lang="en-US" sz="2000" dirty="0">
                <a:latin typeface="Consolas" panose="020B0609020204030204" pitchFamily="49" charset="0"/>
              </a:rPr>
              <a:t>80MHz</a:t>
            </a:r>
          </a:p>
          <a:p>
            <a:r>
              <a:rPr lang="en-US" sz="2000" dirty="0"/>
              <a:t>Goal: Timer Frequency = 100Hz</a:t>
            </a:r>
          </a:p>
          <a:p>
            <a:r>
              <a:rPr lang="en-US" sz="2000" dirty="0"/>
              <a:t>What should the ARR value be for 1. up-counting </a:t>
            </a:r>
            <a:r>
              <a:rPr lang="en-US" altLang="zh-CN" sz="2000" dirty="0"/>
              <a:t>mode</a:t>
            </a:r>
            <a:r>
              <a:rPr lang="en-US" sz="2000" dirty="0"/>
              <a:t>; 2. down-counting mode; 3. center-aligned counting mode?</a:t>
            </a:r>
          </a:p>
        </p:txBody>
      </p:sp>
      <p:sp>
        <p:nvSpPr>
          <p:cNvPr id="10" name="TextBox 9"/>
          <p:cNvSpPr txBox="1"/>
          <p:nvPr/>
        </p:nvSpPr>
        <p:spPr>
          <a:xfrm>
            <a:off x="706079" y="5050303"/>
            <a:ext cx="7980400" cy="1200329"/>
          </a:xfrm>
          <a:prstGeom prst="rect">
            <a:avLst/>
          </a:prstGeom>
          <a:noFill/>
        </p:spPr>
        <p:txBody>
          <a:bodyPr wrap="square" rtlCol="0">
            <a:spAutoFit/>
          </a:bodyPr>
          <a:lstStyle/>
          <a:p>
            <a:r>
              <a:rPr lang="en-US" dirty="0"/>
              <a:t>But a 16-bit ARR register has value range of [0, 65535], so ARR value of 799999 or 400000 is out of range </a:t>
            </a:r>
            <a:r>
              <a:rPr lang="en-US" dirty="0">
                <a:sym typeface="Wingdings" panose="05000000000000000000" pitchFamily="2" charset="2"/>
              </a:rPr>
              <a:t> cannot generate a 10ms timer from a 80MHz Timer Clock!</a:t>
            </a:r>
            <a:endParaRPr lang="en-US" dirty="0"/>
          </a:p>
          <a:p>
            <a:r>
              <a:rPr lang="en-US" dirty="0"/>
              <a:t>Solution: use </a:t>
            </a:r>
            <a:r>
              <a:rPr lang="en-US" dirty="0" err="1"/>
              <a:t>prescaler</a:t>
            </a:r>
            <a:r>
              <a:rPr lang="en-US" dirty="0"/>
              <a:t> (PSC) to reduce Timer Clock Frequency</a:t>
            </a:r>
          </a:p>
        </p:txBody>
      </p:sp>
      <p:sp>
        <p:nvSpPr>
          <p:cNvPr id="11" name="Rectangle 10"/>
          <p:cNvSpPr/>
          <p:nvPr/>
        </p:nvSpPr>
        <p:spPr>
          <a:xfrm>
            <a:off x="374209" y="3212068"/>
            <a:ext cx="4273991" cy="369332"/>
          </a:xfrm>
          <a:prstGeom prst="rect">
            <a:avLst/>
          </a:prstGeom>
        </p:spPr>
        <p:txBody>
          <a:bodyPr wrap="none">
            <a:spAutoFit/>
          </a:bodyPr>
          <a:lstStyle/>
          <a:p>
            <a:r>
              <a:rPr lang="en-US" altLang="zh-CN" dirty="0"/>
              <a:t>For </a:t>
            </a:r>
            <a:r>
              <a:rPr lang="en-US" dirty="0"/>
              <a:t>up-counting or down-counting mode: </a:t>
            </a:r>
          </a:p>
        </p:txBody>
      </p:sp>
      <p:sp>
        <p:nvSpPr>
          <p:cNvPr id="12" name="Rectangle 11"/>
          <p:cNvSpPr/>
          <p:nvPr/>
        </p:nvSpPr>
        <p:spPr>
          <a:xfrm>
            <a:off x="4623456" y="3212068"/>
            <a:ext cx="3429016" cy="369332"/>
          </a:xfrm>
          <a:prstGeom prst="rect">
            <a:avLst/>
          </a:prstGeom>
        </p:spPr>
        <p:txBody>
          <a:bodyPr wrap="none">
            <a:spAutoFit/>
          </a:bodyPr>
          <a:lstStyle/>
          <a:p>
            <a:r>
              <a:rPr lang="en-US" altLang="zh-CN" dirty="0"/>
              <a:t>For </a:t>
            </a:r>
            <a:r>
              <a:rPr lang="en-US" dirty="0"/>
              <a:t>center-aligned counting mode: </a:t>
            </a:r>
          </a:p>
        </p:txBody>
      </p:sp>
      <mc:AlternateContent xmlns:mc="http://schemas.openxmlformats.org/markup-compatibility/2006" xmlns:a14="http://schemas.microsoft.com/office/drawing/2010/main">
        <mc:Choice Requires="a14">
          <p:sp>
            <p:nvSpPr>
              <p:cNvPr id="13" name="Rectangle 12"/>
              <p:cNvSpPr/>
              <p:nvPr/>
            </p:nvSpPr>
            <p:spPr>
              <a:xfrm>
                <a:off x="319596" y="3733800"/>
                <a:ext cx="4075218" cy="62350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r>
                        <a:rPr lang="en-US" b="0" i="1" baseline="-25000" smtClean="0">
                          <a:latin typeface="Cambria Math" panose="02040503050406030204" pitchFamily="18" charset="0"/>
                        </a:rPr>
                        <m:t>𝑇𝑖𝑚𝑒𝑟</m:t>
                      </m:r>
                      <m:r>
                        <a:rPr lang="en-US" i="0">
                          <a:latin typeface="Cambria Math" panose="02040503050406030204" pitchFamily="18" charset="0"/>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num>
                        <m:den>
                          <m:r>
                            <a:rPr lang="en-US" i="1">
                              <a:solidFill>
                                <a:prstClr val="black"/>
                              </a:solidFill>
                              <a:latin typeface="Cambria Math" panose="02040503050406030204" pitchFamily="18" charset="0"/>
                            </a:rPr>
                            <m:t>𝐴𝑅𝑅</m:t>
                          </m:r>
                          <m:r>
                            <a:rPr lang="en-US" i="1">
                              <a:solidFill>
                                <a:prstClr val="black"/>
                              </a:solidFill>
                              <a:latin typeface="Cambria Math" panose="02040503050406030204" pitchFamily="18" charset="0"/>
                            </a:rPr>
                            <m:t>+1</m:t>
                          </m:r>
                        </m:den>
                      </m:f>
                      <m:r>
                        <a:rPr lang="en-US" b="0" i="1" smtClean="0">
                          <a:solidFill>
                            <a:prstClr val="black"/>
                          </a:solidFill>
                          <a:latin typeface="Cambria Math" panose="02040503050406030204" pitchFamily="18" charset="0"/>
                        </a:rPr>
                        <m:t>=</m:t>
                      </m:r>
                      <m:f>
                        <m:fPr>
                          <m:ctrlPr>
                            <a:rPr lang="en-US" i="1">
                              <a:latin typeface="Cambria Math" panose="02040503050406030204" pitchFamily="18" charset="0"/>
                            </a:rPr>
                          </m:ctrlPr>
                        </m:fPr>
                        <m:num>
                          <m:r>
                            <a:rPr lang="en-US" b="0" i="1" smtClean="0">
                              <a:latin typeface="Cambria Math" panose="02040503050406030204" pitchFamily="18" charset="0"/>
                            </a:rPr>
                            <m:t>80</m:t>
                          </m:r>
                          <m:r>
                            <a:rPr lang="en-US" i="1">
                              <a:latin typeface="Cambria Math" panose="02040503050406030204" pitchFamily="18" charset="0"/>
                            </a:rPr>
                            <m:t>𝑀𝐻𝑧</m:t>
                          </m:r>
                        </m:num>
                        <m:den>
                          <m:r>
                            <a:rPr lang="en-US" b="0" i="1" smtClean="0">
                              <a:latin typeface="Cambria Math" panose="02040503050406030204" pitchFamily="18" charset="0"/>
                            </a:rPr>
                            <m:t>𝐴𝑅𝑅</m:t>
                          </m:r>
                          <m:r>
                            <a:rPr lang="en-US" i="1">
                              <a:latin typeface="Cambria Math" panose="02040503050406030204" pitchFamily="18" charset="0"/>
                            </a:rPr>
                            <m:t>+1</m:t>
                          </m:r>
                        </m:den>
                      </m:f>
                      <m:r>
                        <a:rPr lang="en-US" i="1">
                          <a:latin typeface="Cambria Math" panose="02040503050406030204" pitchFamily="18" charset="0"/>
                        </a:rPr>
                        <m:t>=</m:t>
                      </m:r>
                      <m:r>
                        <a:rPr lang="en-US" b="0" i="1" smtClean="0">
                          <a:latin typeface="Cambria Math" panose="02040503050406030204" pitchFamily="18" charset="0"/>
                        </a:rPr>
                        <m:t>10</m:t>
                      </m:r>
                      <m:r>
                        <a:rPr lang="en-US" i="1">
                          <a:latin typeface="Cambria Math" panose="02040503050406030204" pitchFamily="18" charset="0"/>
                        </a:rPr>
                        <m:t>0</m:t>
                      </m:r>
                      <m:r>
                        <a:rPr lang="en-US" i="1">
                          <a:latin typeface="Cambria Math" panose="02040503050406030204" pitchFamily="18" charset="0"/>
                        </a:rPr>
                        <m:t>𝐻𝑧</m:t>
                      </m:r>
                    </m:oMath>
                  </m:oMathPara>
                </a14:m>
                <a:endParaRPr lang="en-US" i="1" dirty="0"/>
              </a:p>
            </p:txBody>
          </p:sp>
        </mc:Choice>
        <mc:Fallback xmlns="">
          <p:sp>
            <p:nvSpPr>
              <p:cNvPr id="13" name="Rectangle 12"/>
              <p:cNvSpPr>
                <a:spLocks noRot="1" noChangeAspect="1" noMove="1" noResize="1" noEditPoints="1" noAdjustHandles="1" noChangeArrowheads="1" noChangeShapeType="1" noTextEdit="1"/>
              </p:cNvSpPr>
              <p:nvPr/>
            </p:nvSpPr>
            <p:spPr>
              <a:xfrm>
                <a:off x="319596" y="3733800"/>
                <a:ext cx="4075218" cy="62350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p:cNvSpPr/>
              <p:nvPr/>
            </p:nvSpPr>
            <p:spPr>
              <a:xfrm>
                <a:off x="319596" y="4510364"/>
                <a:ext cx="176715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𝐴𝑅𝑅</m:t>
                      </m:r>
                      <m:r>
                        <a:rPr lang="en-US" b="0" i="1" smtClean="0">
                          <a:latin typeface="Cambria Math" panose="02040503050406030204" pitchFamily="18" charset="0"/>
                        </a:rPr>
                        <m:t>=799999</m:t>
                      </m:r>
                    </m:oMath>
                  </m:oMathPara>
                </a14:m>
                <a:endParaRPr lang="en-US" i="1" dirty="0"/>
              </a:p>
            </p:txBody>
          </p:sp>
        </mc:Choice>
        <mc:Fallback xmlns="">
          <p:sp>
            <p:nvSpPr>
              <p:cNvPr id="14" name="Rectangle 13"/>
              <p:cNvSpPr>
                <a:spLocks noRot="1" noChangeAspect="1" noMove="1" noResize="1" noEditPoints="1" noAdjustHandles="1" noChangeArrowheads="1" noChangeShapeType="1" noTextEdit="1"/>
              </p:cNvSpPr>
              <p:nvPr/>
            </p:nvSpPr>
            <p:spPr>
              <a:xfrm>
                <a:off x="319596" y="4510364"/>
                <a:ext cx="1767150"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p:cNvSpPr/>
              <p:nvPr/>
            </p:nvSpPr>
            <p:spPr>
              <a:xfrm>
                <a:off x="4611582" y="3733800"/>
                <a:ext cx="4074897" cy="61709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r>
                        <a:rPr lang="en-US" b="0" i="1" baseline="-25000" smtClean="0">
                          <a:latin typeface="Cambria Math" panose="02040503050406030204" pitchFamily="18" charset="0"/>
                        </a:rPr>
                        <m:t>𝑇𝑖𝑚𝑒𝑟</m:t>
                      </m:r>
                      <m:r>
                        <a:rPr lang="en-US" i="0">
                          <a:latin typeface="Cambria Math" panose="02040503050406030204" pitchFamily="18" charset="0"/>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num>
                        <m:den>
                          <m:r>
                            <a:rPr lang="en-US" b="0" i="1" smtClean="0">
                              <a:solidFill>
                                <a:prstClr val="black"/>
                              </a:solidFill>
                              <a:latin typeface="Cambria Math" panose="02040503050406030204" pitchFamily="18" charset="0"/>
                            </a:rPr>
                            <m:t>2∗</m:t>
                          </m:r>
                          <m:r>
                            <a:rPr lang="en-US" i="1">
                              <a:solidFill>
                                <a:prstClr val="black"/>
                              </a:solidFill>
                              <a:latin typeface="Cambria Math" panose="02040503050406030204" pitchFamily="18" charset="0"/>
                            </a:rPr>
                            <m:t>𝐴𝑅𝑅</m:t>
                          </m:r>
                        </m:den>
                      </m:f>
                      <m:r>
                        <a:rPr lang="en-US" b="0" i="1" smtClean="0">
                          <a:solidFill>
                            <a:prstClr val="black"/>
                          </a:solidFill>
                          <a:latin typeface="Cambria Math" panose="02040503050406030204" pitchFamily="18" charset="0"/>
                        </a:rPr>
                        <m:t>=</m:t>
                      </m:r>
                      <m:f>
                        <m:fPr>
                          <m:ctrlPr>
                            <a:rPr lang="en-US" i="1">
                              <a:latin typeface="Cambria Math" panose="02040503050406030204" pitchFamily="18" charset="0"/>
                            </a:rPr>
                          </m:ctrlPr>
                        </m:fPr>
                        <m:num>
                          <m:r>
                            <a:rPr lang="en-US" b="0" i="1" smtClean="0">
                              <a:latin typeface="Cambria Math" panose="02040503050406030204" pitchFamily="18" charset="0"/>
                            </a:rPr>
                            <m:t>80</m:t>
                          </m:r>
                          <m:r>
                            <a:rPr lang="en-US" i="1">
                              <a:latin typeface="Cambria Math" panose="02040503050406030204" pitchFamily="18" charset="0"/>
                            </a:rPr>
                            <m:t>𝑀𝐻𝑧</m:t>
                          </m:r>
                        </m:num>
                        <m:den>
                          <m:r>
                            <a:rPr lang="en-US" b="0" i="1" smtClean="0">
                              <a:latin typeface="Cambria Math" panose="02040503050406030204" pitchFamily="18" charset="0"/>
                            </a:rPr>
                            <m:t>2∗</m:t>
                          </m:r>
                          <m:r>
                            <a:rPr lang="en-US" b="0" i="1" smtClean="0">
                              <a:latin typeface="Cambria Math" panose="02040503050406030204" pitchFamily="18" charset="0"/>
                            </a:rPr>
                            <m:t>𝐴𝑅𝑅</m:t>
                          </m:r>
                        </m:den>
                      </m:f>
                      <m:r>
                        <a:rPr lang="en-US" i="1">
                          <a:latin typeface="Cambria Math" panose="02040503050406030204" pitchFamily="18" charset="0"/>
                        </a:rPr>
                        <m:t>=</m:t>
                      </m:r>
                      <m:r>
                        <a:rPr lang="en-US" b="0" i="1" smtClean="0">
                          <a:latin typeface="Cambria Math" panose="02040503050406030204" pitchFamily="18" charset="0"/>
                        </a:rPr>
                        <m:t>10</m:t>
                      </m:r>
                      <m:r>
                        <a:rPr lang="en-US" i="1">
                          <a:latin typeface="Cambria Math" panose="02040503050406030204" pitchFamily="18" charset="0"/>
                        </a:rPr>
                        <m:t>0</m:t>
                      </m:r>
                      <m:r>
                        <a:rPr lang="en-US" i="1">
                          <a:latin typeface="Cambria Math" panose="02040503050406030204" pitchFamily="18" charset="0"/>
                        </a:rPr>
                        <m:t>𝐻𝑧</m:t>
                      </m:r>
                    </m:oMath>
                  </m:oMathPara>
                </a14:m>
                <a:endParaRPr lang="en-US" i="1" dirty="0"/>
              </a:p>
            </p:txBody>
          </p:sp>
        </mc:Choice>
        <mc:Fallback xmlns="">
          <p:sp>
            <p:nvSpPr>
              <p:cNvPr id="15" name="Rectangle 14"/>
              <p:cNvSpPr>
                <a:spLocks noRot="1" noChangeAspect="1" noMove="1" noResize="1" noEditPoints="1" noAdjustHandles="1" noChangeArrowheads="1" noChangeShapeType="1" noTextEdit="1"/>
              </p:cNvSpPr>
              <p:nvPr/>
            </p:nvSpPr>
            <p:spPr>
              <a:xfrm>
                <a:off x="4611582" y="3733800"/>
                <a:ext cx="4074897" cy="61709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p:cNvSpPr/>
              <p:nvPr/>
            </p:nvSpPr>
            <p:spPr>
              <a:xfrm>
                <a:off x="4611582" y="4510364"/>
                <a:ext cx="176715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𝐴𝑅𝑅</m:t>
                      </m:r>
                      <m:r>
                        <a:rPr lang="en-US" b="0" i="1" smtClean="0">
                          <a:latin typeface="Cambria Math" panose="02040503050406030204" pitchFamily="18" charset="0"/>
                        </a:rPr>
                        <m:t>=400000</m:t>
                      </m:r>
                    </m:oMath>
                  </m:oMathPara>
                </a14:m>
                <a:endParaRPr lang="en-US" i="1" dirty="0"/>
              </a:p>
            </p:txBody>
          </p:sp>
        </mc:Choice>
        <mc:Fallback xmlns="">
          <p:sp>
            <p:nvSpPr>
              <p:cNvPr id="16" name="Rectangle 15"/>
              <p:cNvSpPr>
                <a:spLocks noRot="1" noChangeAspect="1" noMove="1" noResize="1" noEditPoints="1" noAdjustHandles="1" noChangeArrowheads="1" noChangeShapeType="1" noTextEdit="1"/>
              </p:cNvSpPr>
              <p:nvPr/>
            </p:nvSpPr>
            <p:spPr>
              <a:xfrm>
                <a:off x="4611582" y="4510364"/>
                <a:ext cx="1767150" cy="369332"/>
              </a:xfrm>
              <a:prstGeom prst="rect">
                <a:avLst/>
              </a:prstGeom>
              <a:blipFill>
                <a:blip r:embed="rId7"/>
                <a:stretch>
                  <a:fillRect/>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1063495253"/>
      </p:ext>
    </p:extLst>
  </p:cSld>
  <p:clrMapOvr>
    <a:masterClrMapping/>
  </p:clrMapOvr>
  <mc:AlternateContent xmlns:mc="http://schemas.openxmlformats.org/markup-compatibility/2006" xmlns:p14="http://schemas.microsoft.com/office/powerpoint/2010/main">
    <mc:Choice Requires="p14">
      <p:transition spd="slow" p14:dur="2000" advTm="57021"/>
    </mc:Choice>
    <mc:Fallback xmlns="">
      <p:transition spd="slow" advTm="57021"/>
    </mc:Fallback>
  </mc:AlternateContent>
  <p:extLst>
    <p:ext uri="{3A86A75C-4F4B-4683-9AE1-C65F6400EC91}">
      <p14:laserTraceLst xmlns:p14="http://schemas.microsoft.com/office/powerpoint/2010/main">
        <p14:tracePtLst>
          <p14:tracePt t="5374" x="3949700" y="1709738"/>
          <p14:tracePt t="6110" x="4010025" y="1709738"/>
          <p14:tracePt t="6133" x="4060825" y="1709738"/>
          <p14:tracePt t="6134" x="4070350" y="1709738"/>
          <p14:tracePt t="6154" x="4130675" y="1709738"/>
          <p14:tracePt t="6178" x="4211638" y="1719263"/>
          <p14:tracePt t="6199" x="4262438" y="1730375"/>
          <p14:tracePt t="6223" x="4302125" y="1730375"/>
          <p14:tracePt t="6247" x="4332288" y="1730375"/>
          <p14:tracePt t="6269" x="4341813" y="1730375"/>
          <p14:tracePt t="6291" x="4381500" y="1730375"/>
          <p14:tracePt t="6312" x="4411663" y="1730375"/>
          <p14:tracePt t="6336" x="4441825" y="1730375"/>
          <p14:tracePt t="6361" x="4452938" y="1730375"/>
          <p14:tracePt t="6385" x="4492625" y="1730375"/>
          <p14:tracePt t="6407" x="4543425" y="1730375"/>
          <p14:tracePt t="6434" x="4573588" y="1730375"/>
          <p14:tracePt t="6457" x="4583113" y="1730375"/>
          <p14:tracePt t="6500" x="4603750" y="1730375"/>
          <p14:tracePt t="7461" x="4613275" y="1730375"/>
          <p14:tracePt t="7462" x="0" y="0"/>
        </p14:tracePtLst>
        <p14:tracePtLst>
          <p14:tracePt t="10251" x="3870325" y="2201863"/>
          <p14:tracePt t="10351" x="3910013" y="2201863"/>
          <p14:tracePt t="10379" x="3979863" y="2201863"/>
          <p14:tracePt t="10404" x="4060825" y="2232025"/>
          <p14:tracePt t="10430" x="4111625" y="2243138"/>
          <p14:tracePt t="10454" x="4160838" y="2252663"/>
          <p14:tracePt t="10477" x="4211638" y="2252663"/>
          <p14:tracePt t="10501" x="4232275" y="2262188"/>
          <p14:tracePt t="10523" x="4251325" y="2273300"/>
          <p14:tracePt t="10546" x="4281488" y="2273300"/>
          <p14:tracePt t="10569" x="4311650" y="2273300"/>
          <p14:tracePt t="10592" x="4341813" y="2273300"/>
          <p14:tracePt t="10617" x="4362450" y="2273300"/>
          <p14:tracePt t="10645" x="4392613" y="2273300"/>
          <p14:tracePt t="10669" x="4432300" y="2273300"/>
          <p14:tracePt t="10693" x="4471988" y="2273300"/>
          <p14:tracePt t="10717" x="4492625" y="2273300"/>
          <p14:tracePt t="10743" x="4522788" y="2273300"/>
          <p14:tracePt t="10768" x="4562475" y="2273300"/>
          <p14:tracePt t="10792" x="4573588" y="2262188"/>
          <p14:tracePt t="11342" x="4583113" y="2262188"/>
          <p14:tracePt t="11343" x="0" y="0"/>
        </p14:tracePtLst>
        <p14:tracePtLst>
          <p14:tracePt t="11954" x="2201863" y="2635250"/>
          <p14:tracePt t="12023" x="2211388" y="2635250"/>
          <p14:tracePt t="12046" x="2251075" y="2635250"/>
          <p14:tracePt t="12068" x="2341563" y="2635250"/>
          <p14:tracePt t="12090" x="2401888" y="2635250"/>
          <p14:tracePt t="12114" x="2473325" y="2635250"/>
          <p14:tracePt t="12114" x="2482850" y="2635250"/>
          <p14:tracePt t="12138" x="2573338" y="2635250"/>
          <p14:tracePt t="12160" x="2613025" y="2635250"/>
          <p14:tracePt t="12181" x="2652713" y="2635250"/>
          <p14:tracePt t="12204" x="2703513" y="2635250"/>
          <p14:tracePt t="12204" x="2733675" y="2635250"/>
          <p14:tracePt t="12226" x="2794000" y="2635250"/>
          <p14:tracePt t="12249" x="2844800" y="2635250"/>
          <p14:tracePt t="12272" x="2924175" y="2635250"/>
          <p14:tracePt t="12272" x="2944813" y="2635250"/>
          <p14:tracePt t="12295" x="3014663" y="2635250"/>
          <p14:tracePt t="12317" x="3105150" y="2635250"/>
          <p14:tracePt t="12340" x="3165475" y="2635250"/>
          <p14:tracePt t="12340" x="3186113" y="2635250"/>
          <p14:tracePt t="12365" x="3267075" y="2635250"/>
          <p14:tracePt t="12387" x="3336925" y="2635250"/>
          <p14:tracePt t="12410" x="3448050" y="2635250"/>
          <p14:tracePt t="12433" x="3568700" y="2635250"/>
          <p14:tracePt t="12458" x="3617913" y="2635250"/>
          <p14:tracePt t="12613" x="3638550" y="2635250"/>
          <p14:tracePt t="12973" x="0" y="0"/>
        </p14:tracePtLst>
        <p14:tracePtLst>
          <p14:tracePt t="19905" x="7558088" y="2343150"/>
          <p14:tracePt t="19929" x="7569200" y="2343150"/>
          <p14:tracePt t="19951" x="7599363" y="2343150"/>
          <p14:tracePt t="19979" x="7780338" y="2322513"/>
          <p14:tracePt t="19979" x="7820025" y="2322513"/>
          <p14:tracePt t="20003" x="8140700" y="2282825"/>
          <p14:tracePt t="20004" x="8170863" y="2282825"/>
          <p14:tracePt t="20026" x="8583613" y="2262188"/>
          <p14:tracePt t="20047" x="8985250" y="2262188"/>
          <p14:tracePt t="20070" x="9267825" y="2262188"/>
          <p14:tracePt t="20094" x="9437688" y="2262188"/>
          <p14:tracePt t="20119" x="9548813" y="2262188"/>
          <p14:tracePt t="20145" x="9678988" y="2243138"/>
          <p14:tracePt t="20171" x="9729788" y="2232025"/>
          <p14:tracePt t="20196" x="9779000" y="2232025"/>
          <p14:tracePt t="20222" x="9880600" y="2212975"/>
          <p14:tracePt t="20244" x="9959975" y="2182813"/>
          <p14:tracePt t="20267" x="10031413" y="2182813"/>
          <p14:tracePt t="20267" x="10040938" y="2182813"/>
          <p14:tracePt t="20289" x="10091738" y="2182813"/>
          <p14:tracePt t="20315" x="10140950" y="2182813"/>
          <p14:tracePt t="20339" x="10161588" y="2182813"/>
          <p14:tracePt t="20392" x="10171113" y="2182813"/>
          <p14:tracePt t="20423" x="10191750" y="2182813"/>
          <p14:tracePt t="20608" x="10161588" y="2182813"/>
          <p14:tracePt t="20633" x="9959975" y="2182813"/>
          <p14:tracePt t="20657" x="9729788" y="2182813"/>
          <p14:tracePt t="20657" x="9709150" y="2182813"/>
          <p14:tracePt t="20681" x="9337675" y="2182813"/>
          <p14:tracePt t="20705" x="8845550" y="2162175"/>
          <p14:tracePt t="20731" x="8382000" y="2162175"/>
          <p14:tracePt t="20757" x="8091488" y="2152650"/>
          <p14:tracePt t="20781" x="7910513" y="2152650"/>
          <p14:tracePt t="20781" x="7889875" y="2152650"/>
          <p14:tracePt t="20805" x="7739063" y="2152650"/>
          <p14:tracePt t="20805" x="7708900" y="2152650"/>
          <p14:tracePt t="20828" x="7569200" y="2132013"/>
          <p14:tracePt t="20852" x="7478713" y="2132013"/>
          <p14:tracePt t="20876" x="7407275" y="2132013"/>
          <p14:tracePt t="20992" x="7437438" y="2111375"/>
          <p14:tracePt t="21017" x="7569200" y="2111375"/>
          <p14:tracePt t="21042" x="7850188" y="2111375"/>
          <p14:tracePt t="21067" x="8261350" y="2111375"/>
          <p14:tracePt t="21091" x="8743950" y="2092325"/>
          <p14:tracePt t="21118" x="9186863" y="2092325"/>
          <p14:tracePt t="21146" x="9598025" y="2092325"/>
          <p14:tracePt t="21174" x="10001250" y="2092325"/>
          <p14:tracePt t="21197" x="10231438" y="2092325"/>
          <p14:tracePt t="21197" x="10252075" y="2092325"/>
          <p14:tracePt t="21221" x="10363200" y="2092325"/>
          <p14:tracePt t="21245" x="10463213" y="2092325"/>
          <p14:tracePt t="21271" x="10583863" y="2092325"/>
          <p14:tracePt t="21318" x="10604500" y="2092325"/>
          <p14:tracePt t="21575" x="0" y="0"/>
        </p14:tracePtLst>
        <p14:tracePtLst>
          <p14:tracePt t="24608" x="8170863" y="5691188"/>
          <p14:tracePt t="24718" x="8170863" y="5702300"/>
          <p14:tracePt t="24742" x="8170863" y="5711825"/>
          <p14:tracePt t="24766" x="8191500" y="5721350"/>
          <p14:tracePt t="24791" x="8231188" y="5732463"/>
          <p14:tracePt t="24813" x="8302625" y="5772150"/>
          <p14:tracePt t="24836" x="8402638" y="5792788"/>
          <p14:tracePt t="24863" x="8472488" y="5792788"/>
          <p14:tracePt t="24863" x="8483600" y="5802313"/>
          <p14:tracePt t="24892" x="8553450" y="5811838"/>
          <p14:tracePt t="24915" x="8613775" y="5811838"/>
          <p14:tracePt t="24941" x="8694738" y="5811838"/>
          <p14:tracePt t="24967" x="8743950" y="5811838"/>
          <p14:tracePt t="24991" x="8774113" y="5811838"/>
          <p14:tracePt t="25015" x="8855075" y="5811838"/>
          <p14:tracePt t="25040" x="8936038" y="5811838"/>
          <p14:tracePt t="25064" x="9045575" y="5811838"/>
          <p14:tracePt t="25094" x="9126538" y="5811838"/>
          <p14:tracePt t="25117" x="9156700" y="5811838"/>
          <p14:tracePt t="25141" x="9207500" y="5811838"/>
          <p14:tracePt t="25162" x="9237663" y="5811838"/>
          <p14:tracePt t="25186" x="9286875" y="5811838"/>
          <p14:tracePt t="25209" x="9358313" y="5811838"/>
          <p14:tracePt t="25209" x="9367838" y="5811838"/>
          <p14:tracePt t="25234" x="9437688" y="5811838"/>
          <p14:tracePt t="25257" x="9458325" y="5811838"/>
          <p14:tracePt t="25305" x="9478963" y="5811838"/>
          <p14:tracePt t="25379" x="9488488" y="5811838"/>
          <p14:tracePt t="25953" x="9478963" y="5811838"/>
          <p14:tracePt t="25979" x="9367838" y="5811838"/>
          <p14:tracePt t="26003" x="9237663" y="5811838"/>
          <p14:tracePt t="26028" x="9156700" y="5811838"/>
          <p14:tracePt t="26052" x="9075738" y="5811838"/>
          <p14:tracePt t="26077" x="8924925" y="5811838"/>
          <p14:tracePt t="26101" x="8764588" y="5832475"/>
          <p14:tracePt t="26101" x="8734425" y="5832475"/>
          <p14:tracePt t="26124" x="8562975" y="5832475"/>
          <p14:tracePt t="26148" x="8423275" y="5832475"/>
          <p14:tracePt t="26172" x="8261350" y="5832475"/>
          <p14:tracePt t="26196" x="8201025" y="5832475"/>
          <p14:tracePt t="26250" x="8181975" y="5832475"/>
          <p14:tracePt t="26276" x="8151813" y="5832475"/>
          <p14:tracePt t="26300" x="8080375" y="5832475"/>
          <p14:tracePt t="26324" x="8070850" y="5832475"/>
          <p14:tracePt t="26348" x="8050213" y="5832475"/>
          <p14:tracePt t="26554" x="0" y="0"/>
        </p14:tracePtLst>
        <p14:tracePtLst>
          <p14:tracePt t="28806" x="8031163" y="4143375"/>
          <p14:tracePt t="30619" x="8031163" y="4162425"/>
          <p14:tracePt t="30642" x="8031163" y="4173538"/>
          <p14:tracePt t="30665" x="8031163" y="4192588"/>
          <p14:tracePt t="30690" x="8031163" y="4213225"/>
          <p14:tracePt t="30740" x="8031163" y="4222750"/>
          <p14:tracePt t="30787" x="8031163" y="4252913"/>
          <p14:tracePt t="30928" x="8031163" y="4273550"/>
          <p14:tracePt t="30953" x="8050213" y="4283075"/>
          <p14:tracePt t="31299" x="8050213" y="4303713"/>
          <p14:tracePt t="31322" x="8050213" y="4364038"/>
          <p14:tracePt t="31349" x="8050213" y="4394200"/>
          <p14:tracePt t="31844" x="8050213" y="4403725"/>
          <p14:tracePt t="31871" x="0" y="0"/>
        </p14:tracePtLst>
      </p14:laserTraceLst>
    </p:ext>
    <p:ext uri="{E180D4A7-C9FB-4DFB-919C-405C955672EB}">
      <p14:showEvtLst xmlns:p14="http://schemas.microsoft.com/office/powerpoint/2010/main">
        <p14:playEvt time="35" objId="7"/>
        <p14:stopEvt time="51385" objId="7"/>
      </p14:showEvtLst>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7FB9E-3835-5619-671A-69C59CA82F57}"/>
              </a:ext>
            </a:extLst>
          </p:cNvPr>
          <p:cNvSpPr>
            <a:spLocks noGrp="1"/>
          </p:cNvSpPr>
          <p:nvPr>
            <p:ph type="title"/>
          </p:nvPr>
        </p:nvSpPr>
        <p:spPr/>
        <p:txBody>
          <a:bodyPr/>
          <a:lstStyle/>
          <a:p>
            <a:r>
              <a:rPr lang="en-US" altLang="zh-CN" dirty="0" err="1"/>
              <a:t>Ilkustrat</a:t>
            </a:r>
            <a:r>
              <a:rPr lang="en-US" dirty="0"/>
              <a:t> ARR ANS</a:t>
            </a:r>
          </a:p>
        </p:txBody>
      </p:sp>
      <p:sp>
        <p:nvSpPr>
          <p:cNvPr id="3" name="Slide Number Placeholder 2">
            <a:extLst>
              <a:ext uri="{FF2B5EF4-FFF2-40B4-BE49-F238E27FC236}">
                <a16:creationId xmlns:a16="http://schemas.microsoft.com/office/drawing/2014/main" id="{40A288FA-83F8-08A6-1A88-75B93E8E8E75}"/>
              </a:ext>
            </a:extLst>
          </p:cNvPr>
          <p:cNvSpPr>
            <a:spLocks noGrp="1"/>
          </p:cNvSpPr>
          <p:nvPr>
            <p:ph type="sldNum" sz="quarter" idx="12"/>
          </p:nvPr>
        </p:nvSpPr>
        <p:spPr/>
        <p:txBody>
          <a:bodyPr/>
          <a:lstStyle/>
          <a:p>
            <a:fld id="{EA7C8D44-3667-46F6-9772-CC52308E2A7F}" type="slidenum">
              <a:rPr kumimoji="0" lang="en-US" smtClean="0"/>
              <a:pPr/>
              <a:t>5</a:t>
            </a:fld>
            <a:endParaRPr kumimoji="0" lang="en-US" dirty="0"/>
          </a:p>
        </p:txBody>
      </p:sp>
      <p:sp>
        <p:nvSpPr>
          <p:cNvPr id="4" name="Content Placeholder 3">
            <a:extLst>
              <a:ext uri="{FF2B5EF4-FFF2-40B4-BE49-F238E27FC236}">
                <a16:creationId xmlns:a16="http://schemas.microsoft.com/office/drawing/2014/main" id="{71060F99-3FFE-10D1-ED68-8E5FDFAECB99}"/>
              </a:ext>
            </a:extLst>
          </p:cNvPr>
          <p:cNvSpPr>
            <a:spLocks noGrp="1"/>
          </p:cNvSpPr>
          <p:nvPr>
            <p:ph sz="quarter" idx="1"/>
          </p:nvPr>
        </p:nvSpPr>
        <p:spPr/>
        <p:txBody>
          <a:bodyPr/>
          <a:lstStyle/>
          <a:p>
            <a:endParaRPr lang="en-US"/>
          </a:p>
        </p:txBody>
      </p:sp>
      <p:pic>
        <p:nvPicPr>
          <p:cNvPr id="5" name="Picture 4">
            <a:extLst>
              <a:ext uri="{FF2B5EF4-FFF2-40B4-BE49-F238E27FC236}">
                <a16:creationId xmlns:a16="http://schemas.microsoft.com/office/drawing/2014/main" id="{AA86EEE7-F16D-FECC-63A8-CD396ED02030}"/>
              </a:ext>
            </a:extLst>
          </p:cNvPr>
          <p:cNvPicPr>
            <a:picLocks noChangeAspect="1"/>
          </p:cNvPicPr>
          <p:nvPr/>
        </p:nvPicPr>
        <p:blipFill>
          <a:blip r:embed="rId2"/>
          <a:stretch>
            <a:fillRect/>
          </a:stretch>
        </p:blipFill>
        <p:spPr>
          <a:xfrm>
            <a:off x="1603248" y="1314485"/>
            <a:ext cx="5029200" cy="5040310"/>
          </a:xfrm>
          <a:prstGeom prst="rect">
            <a:avLst/>
          </a:prstGeom>
        </p:spPr>
      </p:pic>
    </p:spTree>
    <p:extLst>
      <p:ext uri="{BB962C8B-B14F-4D97-AF65-F5344CB8AC3E}">
        <p14:creationId xmlns:p14="http://schemas.microsoft.com/office/powerpoint/2010/main" val="4123800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152400"/>
            <a:ext cx="8434161" cy="990600"/>
          </a:xfrm>
        </p:spPr>
        <p:txBody>
          <a:bodyPr>
            <a:normAutofit/>
          </a:bodyPr>
          <a:lstStyle/>
          <a:p>
            <a:r>
              <a:rPr lang="en-US" dirty="0"/>
              <a:t>Calculating ARR </a:t>
            </a:r>
            <a:r>
              <a:rPr lang="en-US" altLang="zh-CN" dirty="0"/>
              <a:t>with </a:t>
            </a:r>
            <a:r>
              <a:rPr lang="en-US" altLang="zh-CN" dirty="0" err="1"/>
              <a:t>prescaler</a:t>
            </a:r>
            <a:endParaRPr lang="en-US" dirty="0"/>
          </a:p>
        </p:txBody>
      </p:sp>
      <p:sp>
        <p:nvSpPr>
          <p:cNvPr id="3" name="Slide Number Placeholder 2"/>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400" b="0" i="0" u="none" strike="noStrike" kern="1200" cap="none" spc="0" normalizeH="0" baseline="0" noProof="0" dirty="0">
              <a:ln>
                <a:noFill/>
              </a:ln>
              <a:solidFill>
                <a:srgbClr val="1F497D"/>
              </a:solidFill>
              <a:effectLst/>
              <a:uLnTx/>
              <a:uFillTx/>
              <a:latin typeface="Gill Sans MT"/>
              <a:ea typeface="+mn-ea"/>
              <a:cs typeface="+mn-cs"/>
            </a:endParaRPr>
          </a:p>
        </p:txBody>
      </p:sp>
      <p:sp>
        <p:nvSpPr>
          <p:cNvPr id="4" name="Content Placeholder 3"/>
          <p:cNvSpPr>
            <a:spLocks noGrp="1"/>
          </p:cNvSpPr>
          <p:nvPr>
            <p:ph sz="quarter" idx="1"/>
          </p:nvPr>
        </p:nvSpPr>
        <p:spPr>
          <a:xfrm>
            <a:off x="304800" y="1143001"/>
            <a:ext cx="7747672" cy="1335540"/>
          </a:xfrm>
        </p:spPr>
        <p:txBody>
          <a:bodyPr>
            <a:noAutofit/>
          </a:bodyPr>
          <a:lstStyle/>
          <a:p>
            <a:r>
              <a:rPr lang="en-US" sz="2000" dirty="0"/>
              <a:t>Suppose CPU Clock </a:t>
            </a:r>
            <a:r>
              <a:rPr lang="en-US" altLang="zh-CN" sz="2000" dirty="0"/>
              <a:t>Frequency</a:t>
            </a:r>
            <a:r>
              <a:rPr lang="en-US" sz="2000" dirty="0"/>
              <a:t> = </a:t>
            </a:r>
            <a:r>
              <a:rPr lang="en-US" sz="2000" dirty="0">
                <a:latin typeface="Consolas" panose="020B0609020204030204" pitchFamily="49" charset="0"/>
              </a:rPr>
              <a:t>80MHz, PSC=79</a:t>
            </a:r>
          </a:p>
          <a:p>
            <a:r>
              <a:rPr lang="en-US" sz="2000" dirty="0"/>
              <a:t>Goal: Timer Frequency = 100Hz</a:t>
            </a:r>
          </a:p>
          <a:p>
            <a:r>
              <a:rPr lang="en-US" sz="2000" dirty="0"/>
              <a:t>What should the ARR value be for 1. up-counting </a:t>
            </a:r>
            <a:r>
              <a:rPr lang="en-US" altLang="zh-CN" sz="2000" dirty="0"/>
              <a:t>mode</a:t>
            </a:r>
            <a:r>
              <a:rPr lang="en-US" sz="2000" dirty="0"/>
              <a:t>; 2. down-counting mode; 3. center-aligned counting mode?</a:t>
            </a:r>
          </a:p>
        </p:txBody>
      </p:sp>
    </p:spTree>
    <p:custDataLst>
      <p:tags r:id="rId1"/>
    </p:custDataLst>
    <p:extLst>
      <p:ext uri="{BB962C8B-B14F-4D97-AF65-F5344CB8AC3E}">
        <p14:creationId xmlns:p14="http://schemas.microsoft.com/office/powerpoint/2010/main" val="134236884"/>
      </p:ext>
    </p:extLst>
  </p:cSld>
  <p:clrMapOvr>
    <a:masterClrMapping/>
  </p:clrMapOvr>
  <mc:AlternateContent xmlns:mc="http://schemas.openxmlformats.org/markup-compatibility/2006" xmlns:p14="http://schemas.microsoft.com/office/powerpoint/2010/main">
    <mc:Choice Requires="p14">
      <p:transition spd="slow" p14:dur="2000" advTm="57021"/>
    </mc:Choice>
    <mc:Fallback xmlns="">
      <p:transition spd="slow" advTm="57021"/>
    </mc:Fallback>
  </mc:AlternateContent>
  <p:extLst>
    <p:ext uri="{3A86A75C-4F4B-4683-9AE1-C65F6400EC91}">
      <p14:laserTraceLst xmlns:p14="http://schemas.microsoft.com/office/powerpoint/2010/main">
        <p14:tracePtLst>
          <p14:tracePt t="5374" x="3949700" y="1709738"/>
          <p14:tracePt t="6110" x="4010025" y="1709738"/>
          <p14:tracePt t="6133" x="4060825" y="1709738"/>
          <p14:tracePt t="6134" x="4070350" y="1709738"/>
          <p14:tracePt t="6154" x="4130675" y="1709738"/>
          <p14:tracePt t="6178" x="4211638" y="1719263"/>
          <p14:tracePt t="6199" x="4262438" y="1730375"/>
          <p14:tracePt t="6223" x="4302125" y="1730375"/>
          <p14:tracePt t="6247" x="4332288" y="1730375"/>
          <p14:tracePt t="6269" x="4341813" y="1730375"/>
          <p14:tracePt t="6291" x="4381500" y="1730375"/>
          <p14:tracePt t="6312" x="4411663" y="1730375"/>
          <p14:tracePt t="6336" x="4441825" y="1730375"/>
          <p14:tracePt t="6361" x="4452938" y="1730375"/>
          <p14:tracePt t="6385" x="4492625" y="1730375"/>
          <p14:tracePt t="6407" x="4543425" y="1730375"/>
          <p14:tracePt t="6434" x="4573588" y="1730375"/>
          <p14:tracePt t="6457" x="4583113" y="1730375"/>
          <p14:tracePt t="6500" x="4603750" y="1730375"/>
          <p14:tracePt t="7461" x="4613275" y="1730375"/>
          <p14:tracePt t="7462" x="0" y="0"/>
        </p14:tracePtLst>
        <p14:tracePtLst>
          <p14:tracePt t="10251" x="3870325" y="2201863"/>
          <p14:tracePt t="10351" x="3910013" y="2201863"/>
          <p14:tracePt t="10379" x="3979863" y="2201863"/>
          <p14:tracePt t="10404" x="4060825" y="2232025"/>
          <p14:tracePt t="10430" x="4111625" y="2243138"/>
          <p14:tracePt t="10454" x="4160838" y="2252663"/>
          <p14:tracePt t="10477" x="4211638" y="2252663"/>
          <p14:tracePt t="10501" x="4232275" y="2262188"/>
          <p14:tracePt t="10523" x="4251325" y="2273300"/>
          <p14:tracePt t="10546" x="4281488" y="2273300"/>
          <p14:tracePt t="10569" x="4311650" y="2273300"/>
          <p14:tracePt t="10592" x="4341813" y="2273300"/>
          <p14:tracePt t="10617" x="4362450" y="2273300"/>
          <p14:tracePt t="10645" x="4392613" y="2273300"/>
          <p14:tracePt t="10669" x="4432300" y="2273300"/>
          <p14:tracePt t="10693" x="4471988" y="2273300"/>
          <p14:tracePt t="10717" x="4492625" y="2273300"/>
          <p14:tracePt t="10743" x="4522788" y="2273300"/>
          <p14:tracePt t="10768" x="4562475" y="2273300"/>
          <p14:tracePt t="10792" x="4573588" y="2262188"/>
          <p14:tracePt t="11342" x="4583113" y="2262188"/>
          <p14:tracePt t="11343" x="0" y="0"/>
        </p14:tracePtLst>
        <p14:tracePtLst>
          <p14:tracePt t="11954" x="2201863" y="2635250"/>
          <p14:tracePt t="12023" x="2211388" y="2635250"/>
          <p14:tracePt t="12046" x="2251075" y="2635250"/>
          <p14:tracePt t="12068" x="2341563" y="2635250"/>
          <p14:tracePt t="12090" x="2401888" y="2635250"/>
          <p14:tracePt t="12114" x="2473325" y="2635250"/>
          <p14:tracePt t="12114" x="2482850" y="2635250"/>
          <p14:tracePt t="12138" x="2573338" y="2635250"/>
          <p14:tracePt t="12160" x="2613025" y="2635250"/>
          <p14:tracePt t="12181" x="2652713" y="2635250"/>
          <p14:tracePt t="12204" x="2703513" y="2635250"/>
          <p14:tracePt t="12204" x="2733675" y="2635250"/>
          <p14:tracePt t="12226" x="2794000" y="2635250"/>
          <p14:tracePt t="12249" x="2844800" y="2635250"/>
          <p14:tracePt t="12272" x="2924175" y="2635250"/>
          <p14:tracePt t="12272" x="2944813" y="2635250"/>
          <p14:tracePt t="12295" x="3014663" y="2635250"/>
          <p14:tracePt t="12317" x="3105150" y="2635250"/>
          <p14:tracePt t="12340" x="3165475" y="2635250"/>
          <p14:tracePt t="12340" x="3186113" y="2635250"/>
          <p14:tracePt t="12365" x="3267075" y="2635250"/>
          <p14:tracePt t="12387" x="3336925" y="2635250"/>
          <p14:tracePt t="12410" x="3448050" y="2635250"/>
          <p14:tracePt t="12433" x="3568700" y="2635250"/>
          <p14:tracePt t="12458" x="3617913" y="2635250"/>
          <p14:tracePt t="12613" x="3638550" y="2635250"/>
          <p14:tracePt t="12973" x="0" y="0"/>
        </p14:tracePtLst>
        <p14:tracePtLst>
          <p14:tracePt t="19905" x="7558088" y="2343150"/>
          <p14:tracePt t="19929" x="7569200" y="2343150"/>
          <p14:tracePt t="19951" x="7599363" y="2343150"/>
          <p14:tracePt t="19979" x="7780338" y="2322513"/>
          <p14:tracePt t="19979" x="7820025" y="2322513"/>
          <p14:tracePt t="20003" x="8140700" y="2282825"/>
          <p14:tracePt t="20004" x="8170863" y="2282825"/>
          <p14:tracePt t="20026" x="8583613" y="2262188"/>
          <p14:tracePt t="20047" x="8985250" y="2262188"/>
          <p14:tracePt t="20070" x="9267825" y="2262188"/>
          <p14:tracePt t="20094" x="9437688" y="2262188"/>
          <p14:tracePt t="20119" x="9548813" y="2262188"/>
          <p14:tracePt t="20145" x="9678988" y="2243138"/>
          <p14:tracePt t="20171" x="9729788" y="2232025"/>
          <p14:tracePt t="20196" x="9779000" y="2232025"/>
          <p14:tracePt t="20222" x="9880600" y="2212975"/>
          <p14:tracePt t="20244" x="9959975" y="2182813"/>
          <p14:tracePt t="20267" x="10031413" y="2182813"/>
          <p14:tracePt t="20267" x="10040938" y="2182813"/>
          <p14:tracePt t="20289" x="10091738" y="2182813"/>
          <p14:tracePt t="20315" x="10140950" y="2182813"/>
          <p14:tracePt t="20339" x="10161588" y="2182813"/>
          <p14:tracePt t="20392" x="10171113" y="2182813"/>
          <p14:tracePt t="20423" x="10191750" y="2182813"/>
          <p14:tracePt t="20608" x="10161588" y="2182813"/>
          <p14:tracePt t="20633" x="9959975" y="2182813"/>
          <p14:tracePt t="20657" x="9729788" y="2182813"/>
          <p14:tracePt t="20657" x="9709150" y="2182813"/>
          <p14:tracePt t="20681" x="9337675" y="2182813"/>
          <p14:tracePt t="20705" x="8845550" y="2162175"/>
          <p14:tracePt t="20731" x="8382000" y="2162175"/>
          <p14:tracePt t="20757" x="8091488" y="2152650"/>
          <p14:tracePt t="20781" x="7910513" y="2152650"/>
          <p14:tracePt t="20781" x="7889875" y="2152650"/>
          <p14:tracePt t="20805" x="7739063" y="2152650"/>
          <p14:tracePt t="20805" x="7708900" y="2152650"/>
          <p14:tracePt t="20828" x="7569200" y="2132013"/>
          <p14:tracePt t="20852" x="7478713" y="2132013"/>
          <p14:tracePt t="20876" x="7407275" y="2132013"/>
          <p14:tracePt t="20992" x="7437438" y="2111375"/>
          <p14:tracePt t="21017" x="7569200" y="2111375"/>
          <p14:tracePt t="21042" x="7850188" y="2111375"/>
          <p14:tracePt t="21067" x="8261350" y="2111375"/>
          <p14:tracePt t="21091" x="8743950" y="2092325"/>
          <p14:tracePt t="21118" x="9186863" y="2092325"/>
          <p14:tracePt t="21146" x="9598025" y="2092325"/>
          <p14:tracePt t="21174" x="10001250" y="2092325"/>
          <p14:tracePt t="21197" x="10231438" y="2092325"/>
          <p14:tracePt t="21197" x="10252075" y="2092325"/>
          <p14:tracePt t="21221" x="10363200" y="2092325"/>
          <p14:tracePt t="21245" x="10463213" y="2092325"/>
          <p14:tracePt t="21271" x="10583863" y="2092325"/>
          <p14:tracePt t="21318" x="10604500" y="2092325"/>
          <p14:tracePt t="21575" x="0" y="0"/>
        </p14:tracePtLst>
        <p14:tracePtLst>
          <p14:tracePt t="24608" x="8170863" y="5691188"/>
          <p14:tracePt t="24718" x="8170863" y="5702300"/>
          <p14:tracePt t="24742" x="8170863" y="5711825"/>
          <p14:tracePt t="24766" x="8191500" y="5721350"/>
          <p14:tracePt t="24791" x="8231188" y="5732463"/>
          <p14:tracePt t="24813" x="8302625" y="5772150"/>
          <p14:tracePt t="24836" x="8402638" y="5792788"/>
          <p14:tracePt t="24863" x="8472488" y="5792788"/>
          <p14:tracePt t="24863" x="8483600" y="5802313"/>
          <p14:tracePt t="24892" x="8553450" y="5811838"/>
          <p14:tracePt t="24915" x="8613775" y="5811838"/>
          <p14:tracePt t="24941" x="8694738" y="5811838"/>
          <p14:tracePt t="24967" x="8743950" y="5811838"/>
          <p14:tracePt t="24991" x="8774113" y="5811838"/>
          <p14:tracePt t="25015" x="8855075" y="5811838"/>
          <p14:tracePt t="25040" x="8936038" y="5811838"/>
          <p14:tracePt t="25064" x="9045575" y="5811838"/>
          <p14:tracePt t="25094" x="9126538" y="5811838"/>
          <p14:tracePt t="25117" x="9156700" y="5811838"/>
          <p14:tracePt t="25141" x="9207500" y="5811838"/>
          <p14:tracePt t="25162" x="9237663" y="5811838"/>
          <p14:tracePt t="25186" x="9286875" y="5811838"/>
          <p14:tracePt t="25209" x="9358313" y="5811838"/>
          <p14:tracePt t="25209" x="9367838" y="5811838"/>
          <p14:tracePt t="25234" x="9437688" y="5811838"/>
          <p14:tracePt t="25257" x="9458325" y="5811838"/>
          <p14:tracePt t="25305" x="9478963" y="5811838"/>
          <p14:tracePt t="25379" x="9488488" y="5811838"/>
          <p14:tracePt t="25953" x="9478963" y="5811838"/>
          <p14:tracePt t="25979" x="9367838" y="5811838"/>
          <p14:tracePt t="26003" x="9237663" y="5811838"/>
          <p14:tracePt t="26028" x="9156700" y="5811838"/>
          <p14:tracePt t="26052" x="9075738" y="5811838"/>
          <p14:tracePt t="26077" x="8924925" y="5811838"/>
          <p14:tracePt t="26101" x="8764588" y="5832475"/>
          <p14:tracePt t="26101" x="8734425" y="5832475"/>
          <p14:tracePt t="26124" x="8562975" y="5832475"/>
          <p14:tracePt t="26148" x="8423275" y="5832475"/>
          <p14:tracePt t="26172" x="8261350" y="5832475"/>
          <p14:tracePt t="26196" x="8201025" y="5832475"/>
          <p14:tracePt t="26250" x="8181975" y="5832475"/>
          <p14:tracePt t="26276" x="8151813" y="5832475"/>
          <p14:tracePt t="26300" x="8080375" y="5832475"/>
          <p14:tracePt t="26324" x="8070850" y="5832475"/>
          <p14:tracePt t="26348" x="8050213" y="5832475"/>
          <p14:tracePt t="26554" x="0" y="0"/>
        </p14:tracePtLst>
        <p14:tracePtLst>
          <p14:tracePt t="28806" x="8031163" y="4143375"/>
          <p14:tracePt t="30619" x="8031163" y="4162425"/>
          <p14:tracePt t="30642" x="8031163" y="4173538"/>
          <p14:tracePt t="30665" x="8031163" y="4192588"/>
          <p14:tracePt t="30690" x="8031163" y="4213225"/>
          <p14:tracePt t="30740" x="8031163" y="4222750"/>
          <p14:tracePt t="30787" x="8031163" y="4252913"/>
          <p14:tracePt t="30928" x="8031163" y="4273550"/>
          <p14:tracePt t="30953" x="8050213" y="4283075"/>
          <p14:tracePt t="31299" x="8050213" y="4303713"/>
          <p14:tracePt t="31322" x="8050213" y="4364038"/>
          <p14:tracePt t="31349" x="8050213" y="4394200"/>
          <p14:tracePt t="31844" x="8050213" y="4403725"/>
          <p14:tracePt t="31871" x="0" y="0"/>
        </p14:tracePtLst>
      </p14:laserTraceLst>
    </p:ext>
    <p:ext uri="{E180D4A7-C9FB-4DFB-919C-405C955672EB}">
      <p14:showEvtLst xmlns:p14="http://schemas.microsoft.com/office/powerpoint/2010/main">
        <p14:playEvt time="35" objId="7"/>
        <p14:stopEvt time="51385" objId="7"/>
      </p14:showEvtLst>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152400"/>
            <a:ext cx="8434161" cy="990600"/>
          </a:xfrm>
        </p:spPr>
        <p:txBody>
          <a:bodyPr>
            <a:normAutofit/>
          </a:bodyPr>
          <a:lstStyle/>
          <a:p>
            <a:r>
              <a:rPr lang="en-US" dirty="0"/>
              <a:t>Calculating ARR </a:t>
            </a:r>
            <a:r>
              <a:rPr lang="en-US" altLang="zh-CN" dirty="0"/>
              <a:t>with </a:t>
            </a:r>
            <a:r>
              <a:rPr lang="en-US" altLang="zh-CN" dirty="0" err="1"/>
              <a:t>prescaler</a:t>
            </a:r>
            <a:r>
              <a:rPr lang="en-US" altLang="zh-CN" dirty="0"/>
              <a:t> ANS</a:t>
            </a:r>
            <a:endParaRPr lang="en-US" dirty="0"/>
          </a:p>
        </p:txBody>
      </p:sp>
      <p:sp>
        <p:nvSpPr>
          <p:cNvPr id="3" name="Slide Number Placeholder 2"/>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400" b="0" i="0" u="none" strike="noStrike" kern="1200" cap="none" spc="0" normalizeH="0" baseline="0" noProof="0" dirty="0">
              <a:ln>
                <a:noFill/>
              </a:ln>
              <a:solidFill>
                <a:srgbClr val="1F497D"/>
              </a:solidFill>
              <a:effectLst/>
              <a:uLnTx/>
              <a:uFillTx/>
              <a:latin typeface="Gill Sans MT"/>
              <a:ea typeface="+mn-ea"/>
              <a:cs typeface="+mn-cs"/>
            </a:endParaRPr>
          </a:p>
        </p:txBody>
      </p:sp>
      <p:sp>
        <p:nvSpPr>
          <p:cNvPr id="4" name="Content Placeholder 3"/>
          <p:cNvSpPr>
            <a:spLocks noGrp="1"/>
          </p:cNvSpPr>
          <p:nvPr>
            <p:ph sz="quarter" idx="1"/>
          </p:nvPr>
        </p:nvSpPr>
        <p:spPr>
          <a:xfrm>
            <a:off x="304800" y="1143001"/>
            <a:ext cx="8153400" cy="1335540"/>
          </a:xfrm>
        </p:spPr>
        <p:txBody>
          <a:bodyPr>
            <a:normAutofit lnSpcReduction="10000"/>
          </a:bodyPr>
          <a:lstStyle/>
          <a:p>
            <a:r>
              <a:rPr lang="en-US" sz="1800" dirty="0"/>
              <a:t>Suppose CPU Clock </a:t>
            </a:r>
            <a:r>
              <a:rPr lang="en-US" altLang="zh-CN" sz="1800" dirty="0"/>
              <a:t>Frequency</a:t>
            </a:r>
            <a:r>
              <a:rPr lang="en-US" sz="1800" dirty="0"/>
              <a:t> = </a:t>
            </a:r>
            <a:r>
              <a:rPr lang="en-US" sz="1800" dirty="0">
                <a:latin typeface="Consolas" panose="020B0609020204030204" pitchFamily="49" charset="0"/>
              </a:rPr>
              <a:t>80MHz, </a:t>
            </a:r>
            <a:r>
              <a:rPr lang="en-US" altLang="zh-CN" sz="1800" dirty="0" err="1"/>
              <a:t>prescaler</a:t>
            </a:r>
            <a:r>
              <a:rPr lang="en-US" altLang="zh-CN" sz="1800" dirty="0"/>
              <a:t> </a:t>
            </a:r>
            <a:r>
              <a:rPr lang="en-US" sz="1800" dirty="0">
                <a:latin typeface="Consolas" panose="020B0609020204030204" pitchFamily="49" charset="0"/>
              </a:rPr>
              <a:t>PSC=79</a:t>
            </a:r>
          </a:p>
          <a:p>
            <a:r>
              <a:rPr lang="en-US" sz="1800" dirty="0"/>
              <a:t>Goal: Timer Frequency = </a:t>
            </a:r>
            <a:r>
              <a:rPr lang="en-US" sz="1800" dirty="0">
                <a:latin typeface="Consolas" panose="020B0609020204030204" pitchFamily="49" charset="0"/>
              </a:rPr>
              <a:t>100Hz</a:t>
            </a:r>
          </a:p>
          <a:p>
            <a:r>
              <a:rPr lang="en-US" sz="1800" dirty="0"/>
              <a:t>What should the ARR value be for 1. up-counting </a:t>
            </a:r>
            <a:r>
              <a:rPr lang="en-US" altLang="zh-CN" sz="1800" dirty="0"/>
              <a:t>mode</a:t>
            </a:r>
            <a:r>
              <a:rPr lang="en-US" sz="1800" dirty="0"/>
              <a:t>; 2. down-counting mode; 3. center-aligned counting mode?</a:t>
            </a:r>
          </a:p>
        </p:txBody>
      </p:sp>
      <p:sp>
        <p:nvSpPr>
          <p:cNvPr id="9" name="Rectangle 8"/>
          <p:cNvSpPr/>
          <p:nvPr/>
        </p:nvSpPr>
        <p:spPr>
          <a:xfrm>
            <a:off x="4623456" y="3212068"/>
            <a:ext cx="3429016" cy="369332"/>
          </a:xfrm>
          <a:prstGeom prst="rect">
            <a:avLst/>
          </a:prstGeom>
        </p:spPr>
        <p:txBody>
          <a:bodyPr wrap="none">
            <a:spAutoFit/>
          </a:bodyPr>
          <a:lstStyle/>
          <a:p>
            <a:r>
              <a:rPr lang="en-US" altLang="zh-CN" dirty="0"/>
              <a:t>For </a:t>
            </a:r>
            <a:r>
              <a:rPr lang="en-US" dirty="0"/>
              <a:t>center-aligned counting mode: </a:t>
            </a:r>
          </a:p>
        </p:txBody>
      </p:sp>
      <p:sp>
        <p:nvSpPr>
          <p:cNvPr id="10" name="TextBox 9"/>
          <p:cNvSpPr txBox="1"/>
          <p:nvPr/>
        </p:nvSpPr>
        <p:spPr>
          <a:xfrm>
            <a:off x="531679" y="5334000"/>
            <a:ext cx="8285200" cy="646331"/>
          </a:xfrm>
          <a:prstGeom prst="rect">
            <a:avLst/>
          </a:prstGeom>
          <a:noFill/>
        </p:spPr>
        <p:txBody>
          <a:bodyPr wrap="square" rtlCol="0">
            <a:spAutoFit/>
          </a:bodyPr>
          <a:lstStyle/>
          <a:p>
            <a:r>
              <a:rPr lang="en-US" altLang="zh-CN" dirty="0"/>
              <a:t>With </a:t>
            </a:r>
            <a:r>
              <a:rPr lang="en-US" dirty="0" err="1"/>
              <a:t>prescaler</a:t>
            </a:r>
            <a:r>
              <a:rPr lang="en-US" dirty="0"/>
              <a:t>, the ARR value of 9999 or 5000 is now within the range of 16-bit ARR register.</a:t>
            </a:r>
          </a:p>
        </p:txBody>
      </p:sp>
      <mc:AlternateContent xmlns:mc="http://schemas.openxmlformats.org/markup-compatibility/2006" xmlns:a14="http://schemas.microsoft.com/office/drawing/2010/main">
        <mc:Choice Requires="a14">
          <p:sp>
            <p:nvSpPr>
              <p:cNvPr id="11" name="Rectangle 10"/>
              <p:cNvSpPr/>
              <p:nvPr/>
            </p:nvSpPr>
            <p:spPr>
              <a:xfrm>
                <a:off x="533400" y="2378770"/>
                <a:ext cx="6400800" cy="634661"/>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prstClr val="black"/>
                              </a:solidFill>
                              <a:latin typeface="Cambria Math" panose="02040503050406030204" pitchFamily="18" charset="0"/>
                            </a:rPr>
                          </m:ctrlPr>
                        </m:sSubPr>
                        <m:e>
                          <m:r>
                            <a:rPr lang="en-US" i="1">
                              <a:solidFill>
                                <a:prstClr val="black"/>
                              </a:solidFill>
                              <a:latin typeface="Cambria Math" panose="02040503050406030204" pitchFamily="18" charset="0"/>
                            </a:rPr>
                            <m:t>𝑇𝑖𝑚𝑒𝑟</m:t>
                          </m:r>
                          <m:r>
                            <a:rPr lang="en-US" i="1">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𝐶𝑙𝑜𝑐𝑘</m:t>
                          </m:r>
                          <m:r>
                            <a:rPr lang="en-US" i="1">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𝐹𝑟𝑒𝑞</m:t>
                          </m:r>
                          <m:r>
                            <a:rPr lang="en-US" i="1">
                              <a:solidFill>
                                <a:prstClr val="black"/>
                              </a:solidFill>
                              <a:latin typeface="Cambria Math" panose="02040503050406030204" pitchFamily="18" charset="0"/>
                            </a:rPr>
                            <m:t> </m:t>
                          </m:r>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r>
                        <a:rPr lang="en-US" i="1">
                          <a:solidFill>
                            <a:prstClr val="black"/>
                          </a:solidFill>
                          <a:latin typeface="Cambria Math"/>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m:t>
                              </m:r>
                              <m:sSub>
                                <m:sSubPr>
                                  <m:ctrlPr>
                                    <a:rPr lang="en-US" i="1">
                                      <a:solidFill>
                                        <a:prstClr val="black"/>
                                      </a:solidFill>
                                      <a:latin typeface="Cambria Math" panose="02040503050406030204" pitchFamily="18" charset="0"/>
                                    </a:rPr>
                                  </m:ctrlPr>
                                </m:sSubPr>
                                <m:e>
                                  <m:r>
                                    <a:rPr lang="en-US" b="0" i="1" smtClean="0">
                                      <a:solidFill>
                                        <a:prstClr val="black"/>
                                      </a:solidFill>
                                      <a:latin typeface="Cambria Math" panose="02040503050406030204" pitchFamily="18" charset="0"/>
                                    </a:rPr>
                                    <m:t>𝐾</m:t>
                                  </m:r>
                                </m:e>
                                <m:sub>
                                  <m:r>
                                    <a:rPr lang="en-US" i="1">
                                      <a:solidFill>
                                        <a:prstClr val="black"/>
                                      </a:solidFill>
                                      <a:latin typeface="Cambria Math"/>
                                    </a:rPr>
                                    <m:t>𝑃𝑆𝐶</m:t>
                                  </m:r>
                                </m:sub>
                              </m:sSub>
                            </m:sub>
                          </m:sSub>
                        </m:num>
                        <m:den>
                          <m:r>
                            <a:rPr lang="en-US" i="1">
                              <a:solidFill>
                                <a:prstClr val="black"/>
                              </a:solidFill>
                              <a:latin typeface="Cambria Math" panose="02040503050406030204" pitchFamily="18" charset="0"/>
                            </a:rPr>
                            <m:t>𝑃𝑆𝐶</m:t>
                          </m:r>
                          <m:r>
                            <a:rPr lang="en-US" i="1">
                              <a:solidFill>
                                <a:prstClr val="black"/>
                              </a:solidFill>
                              <a:latin typeface="Cambria Math"/>
                            </a:rPr>
                            <m:t>+1</m:t>
                          </m:r>
                        </m:den>
                      </m:f>
                      <m:r>
                        <a:rPr lang="en-US" b="0" i="1" smtClean="0">
                          <a:solidFill>
                            <a:prstClr val="black"/>
                          </a:solidFill>
                          <a:latin typeface="Cambria Math" panose="02040503050406030204" pitchFamily="18" charset="0"/>
                        </a:rPr>
                        <m:t>=</m:t>
                      </m:r>
                      <m:f>
                        <m:fPr>
                          <m:ctrlPr>
                            <a:rPr lang="en-US" b="0" i="1" smtClean="0">
                              <a:solidFill>
                                <a:prstClr val="black"/>
                              </a:solidFill>
                              <a:latin typeface="Cambria Math" panose="02040503050406030204" pitchFamily="18" charset="0"/>
                            </a:rPr>
                          </m:ctrlPr>
                        </m:fPr>
                        <m:num>
                          <m:r>
                            <a:rPr lang="en-US" b="0" i="1" smtClean="0">
                              <a:solidFill>
                                <a:prstClr val="black"/>
                              </a:solidFill>
                              <a:latin typeface="Cambria Math" panose="02040503050406030204" pitchFamily="18" charset="0"/>
                            </a:rPr>
                            <m:t>80</m:t>
                          </m:r>
                          <m:r>
                            <a:rPr lang="en-US" b="0" i="1" smtClean="0">
                              <a:solidFill>
                                <a:prstClr val="black"/>
                              </a:solidFill>
                              <a:latin typeface="Cambria Math" panose="02040503050406030204" pitchFamily="18" charset="0"/>
                            </a:rPr>
                            <m:t>𝑀𝐻𝑧</m:t>
                          </m:r>
                        </m:num>
                        <m:den>
                          <m:r>
                            <a:rPr lang="en-US" b="0" i="1" smtClean="0">
                              <a:solidFill>
                                <a:prstClr val="black"/>
                              </a:solidFill>
                              <a:latin typeface="Cambria Math" panose="02040503050406030204" pitchFamily="18" charset="0"/>
                            </a:rPr>
                            <m:t>80</m:t>
                          </m:r>
                        </m:den>
                      </m:f>
                      <m:r>
                        <a:rPr lang="en-US" b="0" i="1" smtClean="0">
                          <a:solidFill>
                            <a:prstClr val="black"/>
                          </a:solidFill>
                          <a:latin typeface="Cambria Math" panose="02040503050406030204" pitchFamily="18" charset="0"/>
                        </a:rPr>
                        <m:t>=1</m:t>
                      </m:r>
                      <m:r>
                        <a:rPr lang="en-US" b="0" i="1" smtClean="0">
                          <a:solidFill>
                            <a:prstClr val="black"/>
                          </a:solidFill>
                          <a:latin typeface="Cambria Math" panose="02040503050406030204" pitchFamily="18" charset="0"/>
                        </a:rPr>
                        <m:t>𝑀𝐻𝑧</m:t>
                      </m:r>
                    </m:oMath>
                  </m:oMathPara>
                </a14:m>
                <a:endParaRPr lang="en-US" dirty="0"/>
              </a:p>
            </p:txBody>
          </p:sp>
        </mc:Choice>
        <mc:Fallback xmlns="">
          <p:sp>
            <p:nvSpPr>
              <p:cNvPr id="11" name="Rectangle 10"/>
              <p:cNvSpPr>
                <a:spLocks noRot="1" noChangeAspect="1" noMove="1" noResize="1" noEditPoints="1" noAdjustHandles="1" noChangeArrowheads="1" noChangeShapeType="1" noTextEdit="1"/>
              </p:cNvSpPr>
              <p:nvPr/>
            </p:nvSpPr>
            <p:spPr>
              <a:xfrm>
                <a:off x="533400" y="2378770"/>
                <a:ext cx="6400800" cy="634661"/>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319596" y="3733800"/>
                <a:ext cx="4075218" cy="62350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r>
                        <a:rPr lang="en-US" b="0" i="1" baseline="-25000" smtClean="0">
                          <a:latin typeface="Cambria Math" panose="02040503050406030204" pitchFamily="18" charset="0"/>
                        </a:rPr>
                        <m:t>𝑇𝑖𝑚𝑒𝑟</m:t>
                      </m:r>
                      <m:r>
                        <a:rPr lang="en-US" i="0">
                          <a:latin typeface="Cambria Math" panose="02040503050406030204" pitchFamily="18" charset="0"/>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num>
                        <m:den>
                          <m:r>
                            <a:rPr lang="en-US" i="1">
                              <a:solidFill>
                                <a:prstClr val="black"/>
                              </a:solidFill>
                              <a:latin typeface="Cambria Math" panose="02040503050406030204" pitchFamily="18" charset="0"/>
                            </a:rPr>
                            <m:t>𝐴𝑅𝑅</m:t>
                          </m:r>
                          <m:r>
                            <a:rPr lang="en-US" i="1">
                              <a:solidFill>
                                <a:prstClr val="black"/>
                              </a:solidFill>
                              <a:latin typeface="Cambria Math" panose="02040503050406030204" pitchFamily="18" charset="0"/>
                            </a:rPr>
                            <m:t>+1</m:t>
                          </m:r>
                        </m:den>
                      </m:f>
                      <m:r>
                        <a:rPr lang="en-US" b="0" i="1" smtClean="0">
                          <a:solidFill>
                            <a:prstClr val="black"/>
                          </a:solidFill>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r>
                            <a:rPr lang="en-US" i="1">
                              <a:latin typeface="Cambria Math" panose="02040503050406030204" pitchFamily="18" charset="0"/>
                            </a:rPr>
                            <m:t>𝑀𝐻𝑧</m:t>
                          </m:r>
                        </m:num>
                        <m:den>
                          <m:r>
                            <a:rPr lang="en-US" b="0" i="1" smtClean="0">
                              <a:latin typeface="Cambria Math" panose="02040503050406030204" pitchFamily="18" charset="0"/>
                            </a:rPr>
                            <m:t>𝐴𝑅𝑅</m:t>
                          </m:r>
                          <m:r>
                            <a:rPr lang="en-US" i="1">
                              <a:latin typeface="Cambria Math" panose="02040503050406030204" pitchFamily="18" charset="0"/>
                            </a:rPr>
                            <m:t>+1</m:t>
                          </m:r>
                        </m:den>
                      </m:f>
                      <m:r>
                        <a:rPr lang="en-US" i="1">
                          <a:latin typeface="Cambria Math" panose="02040503050406030204" pitchFamily="18" charset="0"/>
                        </a:rPr>
                        <m:t>=</m:t>
                      </m:r>
                      <m:r>
                        <a:rPr lang="en-US" b="0" i="1" smtClean="0">
                          <a:latin typeface="Cambria Math" panose="02040503050406030204" pitchFamily="18" charset="0"/>
                        </a:rPr>
                        <m:t>10</m:t>
                      </m:r>
                      <m:r>
                        <a:rPr lang="en-US" i="1">
                          <a:latin typeface="Cambria Math" panose="02040503050406030204" pitchFamily="18" charset="0"/>
                        </a:rPr>
                        <m:t>0</m:t>
                      </m:r>
                      <m:r>
                        <a:rPr lang="en-US" i="1">
                          <a:latin typeface="Cambria Math" panose="02040503050406030204" pitchFamily="18" charset="0"/>
                        </a:rPr>
                        <m:t>𝐻𝑧</m:t>
                      </m:r>
                    </m:oMath>
                  </m:oMathPara>
                </a14:m>
                <a:endParaRPr lang="en-US" i="1" dirty="0"/>
              </a:p>
            </p:txBody>
          </p:sp>
        </mc:Choice>
        <mc:Fallback xmlns="">
          <p:sp>
            <p:nvSpPr>
              <p:cNvPr id="13" name="Rectangle 12"/>
              <p:cNvSpPr>
                <a:spLocks noRot="1" noChangeAspect="1" noMove="1" noResize="1" noEditPoints="1" noAdjustHandles="1" noChangeArrowheads="1" noChangeShapeType="1" noTextEdit="1"/>
              </p:cNvSpPr>
              <p:nvPr/>
            </p:nvSpPr>
            <p:spPr>
              <a:xfrm>
                <a:off x="319596" y="3733800"/>
                <a:ext cx="4075218" cy="623504"/>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p:cNvSpPr/>
              <p:nvPr/>
            </p:nvSpPr>
            <p:spPr>
              <a:xfrm>
                <a:off x="319596" y="4510364"/>
                <a:ext cx="151067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𝐴𝑅𝑅</m:t>
                      </m:r>
                      <m:r>
                        <a:rPr lang="en-US" b="0" i="1" smtClean="0">
                          <a:latin typeface="Cambria Math" panose="02040503050406030204" pitchFamily="18" charset="0"/>
                        </a:rPr>
                        <m:t>=9999</m:t>
                      </m:r>
                    </m:oMath>
                  </m:oMathPara>
                </a14:m>
                <a:endParaRPr lang="en-US" i="1" dirty="0"/>
              </a:p>
            </p:txBody>
          </p:sp>
        </mc:Choice>
        <mc:Fallback xmlns="">
          <p:sp>
            <p:nvSpPr>
              <p:cNvPr id="14" name="Rectangle 13"/>
              <p:cNvSpPr>
                <a:spLocks noRot="1" noChangeAspect="1" noMove="1" noResize="1" noEditPoints="1" noAdjustHandles="1" noChangeArrowheads="1" noChangeShapeType="1" noTextEdit="1"/>
              </p:cNvSpPr>
              <p:nvPr/>
            </p:nvSpPr>
            <p:spPr>
              <a:xfrm>
                <a:off x="319596" y="4510364"/>
                <a:ext cx="1510670"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p:cNvSpPr/>
              <p:nvPr/>
            </p:nvSpPr>
            <p:spPr>
              <a:xfrm>
                <a:off x="4611582" y="3733800"/>
                <a:ext cx="4074897" cy="61709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r>
                        <a:rPr lang="en-US" b="0" i="1" baseline="-25000" smtClean="0">
                          <a:latin typeface="Cambria Math" panose="02040503050406030204" pitchFamily="18" charset="0"/>
                        </a:rPr>
                        <m:t>𝑇𝑖𝑚𝑒𝑟</m:t>
                      </m:r>
                      <m:r>
                        <a:rPr lang="en-US" i="0">
                          <a:latin typeface="Cambria Math" panose="02040503050406030204" pitchFamily="18" charset="0"/>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num>
                        <m:den>
                          <m:r>
                            <a:rPr lang="en-US" b="0" i="1" smtClean="0">
                              <a:solidFill>
                                <a:prstClr val="black"/>
                              </a:solidFill>
                              <a:latin typeface="Cambria Math" panose="02040503050406030204" pitchFamily="18" charset="0"/>
                            </a:rPr>
                            <m:t>2∗</m:t>
                          </m:r>
                          <m:r>
                            <a:rPr lang="en-US" i="1">
                              <a:solidFill>
                                <a:prstClr val="black"/>
                              </a:solidFill>
                              <a:latin typeface="Cambria Math" panose="02040503050406030204" pitchFamily="18" charset="0"/>
                            </a:rPr>
                            <m:t>𝐴𝑅𝑅</m:t>
                          </m:r>
                        </m:den>
                      </m:f>
                      <m:r>
                        <a:rPr lang="en-US" b="0" i="1" smtClean="0">
                          <a:solidFill>
                            <a:prstClr val="black"/>
                          </a:solidFill>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r>
                            <a:rPr lang="en-US" i="1">
                              <a:latin typeface="Cambria Math" panose="02040503050406030204" pitchFamily="18" charset="0"/>
                            </a:rPr>
                            <m:t>𝑀𝐻𝑧</m:t>
                          </m:r>
                        </m:num>
                        <m:den>
                          <m:r>
                            <a:rPr lang="en-US" b="0" i="1" smtClean="0">
                              <a:latin typeface="Cambria Math" panose="02040503050406030204" pitchFamily="18" charset="0"/>
                            </a:rPr>
                            <m:t>2∗</m:t>
                          </m:r>
                          <m:r>
                            <a:rPr lang="en-US" b="0" i="1" smtClean="0">
                              <a:latin typeface="Cambria Math" panose="02040503050406030204" pitchFamily="18" charset="0"/>
                            </a:rPr>
                            <m:t>𝐴𝑅𝑅</m:t>
                          </m:r>
                        </m:den>
                      </m:f>
                      <m:r>
                        <a:rPr lang="en-US" i="1">
                          <a:latin typeface="Cambria Math" panose="02040503050406030204" pitchFamily="18" charset="0"/>
                        </a:rPr>
                        <m:t>=</m:t>
                      </m:r>
                      <m:r>
                        <a:rPr lang="en-US" b="0" i="1" smtClean="0">
                          <a:latin typeface="Cambria Math" panose="02040503050406030204" pitchFamily="18" charset="0"/>
                        </a:rPr>
                        <m:t>10</m:t>
                      </m:r>
                      <m:r>
                        <a:rPr lang="en-US" i="1">
                          <a:latin typeface="Cambria Math" panose="02040503050406030204" pitchFamily="18" charset="0"/>
                        </a:rPr>
                        <m:t>0</m:t>
                      </m:r>
                      <m:r>
                        <a:rPr lang="en-US" i="1">
                          <a:latin typeface="Cambria Math" panose="02040503050406030204" pitchFamily="18" charset="0"/>
                        </a:rPr>
                        <m:t>𝐻𝑧</m:t>
                      </m:r>
                    </m:oMath>
                  </m:oMathPara>
                </a14:m>
                <a:endParaRPr lang="en-US" i="1" dirty="0"/>
              </a:p>
            </p:txBody>
          </p:sp>
        </mc:Choice>
        <mc:Fallback xmlns="">
          <p:sp>
            <p:nvSpPr>
              <p:cNvPr id="15" name="Rectangle 14"/>
              <p:cNvSpPr>
                <a:spLocks noRot="1" noChangeAspect="1" noMove="1" noResize="1" noEditPoints="1" noAdjustHandles="1" noChangeArrowheads="1" noChangeShapeType="1" noTextEdit="1"/>
              </p:cNvSpPr>
              <p:nvPr/>
            </p:nvSpPr>
            <p:spPr>
              <a:xfrm>
                <a:off x="4611582" y="3733800"/>
                <a:ext cx="4074897" cy="61709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p:cNvSpPr/>
              <p:nvPr/>
            </p:nvSpPr>
            <p:spPr>
              <a:xfrm>
                <a:off x="4611582" y="4510364"/>
                <a:ext cx="151067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𝐴𝑅𝑅</m:t>
                      </m:r>
                      <m:r>
                        <a:rPr lang="en-US" b="0" i="1" smtClean="0">
                          <a:latin typeface="Cambria Math" panose="02040503050406030204" pitchFamily="18" charset="0"/>
                        </a:rPr>
                        <m:t>=5000</m:t>
                      </m:r>
                    </m:oMath>
                  </m:oMathPara>
                </a14:m>
                <a:endParaRPr lang="en-US" i="1" dirty="0"/>
              </a:p>
            </p:txBody>
          </p:sp>
        </mc:Choice>
        <mc:Fallback xmlns="">
          <p:sp>
            <p:nvSpPr>
              <p:cNvPr id="16" name="Rectangle 15"/>
              <p:cNvSpPr>
                <a:spLocks noRot="1" noChangeAspect="1" noMove="1" noResize="1" noEditPoints="1" noAdjustHandles="1" noChangeArrowheads="1" noChangeShapeType="1" noTextEdit="1"/>
              </p:cNvSpPr>
              <p:nvPr/>
            </p:nvSpPr>
            <p:spPr>
              <a:xfrm>
                <a:off x="4611582" y="4510364"/>
                <a:ext cx="1510670" cy="369332"/>
              </a:xfrm>
              <a:prstGeom prst="rect">
                <a:avLst/>
              </a:prstGeom>
              <a:blipFill>
                <a:blip r:embed="rId8"/>
                <a:stretch>
                  <a:fillRect/>
                </a:stretch>
              </a:blipFill>
            </p:spPr>
            <p:txBody>
              <a:bodyPr/>
              <a:lstStyle/>
              <a:p>
                <a:r>
                  <a:rPr lang="en-US">
                    <a:noFill/>
                  </a:rPr>
                  <a:t> </a:t>
                </a:r>
              </a:p>
            </p:txBody>
          </p:sp>
        </mc:Fallback>
      </mc:AlternateContent>
      <p:sp>
        <p:nvSpPr>
          <p:cNvPr id="17" name="Rectangle 16"/>
          <p:cNvSpPr/>
          <p:nvPr/>
        </p:nvSpPr>
        <p:spPr>
          <a:xfrm>
            <a:off x="374209" y="3212068"/>
            <a:ext cx="4273991" cy="369332"/>
          </a:xfrm>
          <a:prstGeom prst="rect">
            <a:avLst/>
          </a:prstGeom>
        </p:spPr>
        <p:txBody>
          <a:bodyPr wrap="none">
            <a:spAutoFit/>
          </a:bodyPr>
          <a:lstStyle/>
          <a:p>
            <a:r>
              <a:rPr lang="en-US" altLang="zh-CN" dirty="0"/>
              <a:t>For </a:t>
            </a:r>
            <a:r>
              <a:rPr lang="en-US" dirty="0"/>
              <a:t>up-counting or down-counting mode: </a:t>
            </a:r>
          </a:p>
        </p:txBody>
      </p:sp>
    </p:spTree>
    <p:custDataLst>
      <p:tags r:id="rId1"/>
    </p:custDataLst>
    <p:extLst>
      <p:ext uri="{BB962C8B-B14F-4D97-AF65-F5344CB8AC3E}">
        <p14:creationId xmlns:p14="http://schemas.microsoft.com/office/powerpoint/2010/main" val="1363681695"/>
      </p:ext>
    </p:extLst>
  </p:cSld>
  <p:clrMapOvr>
    <a:masterClrMapping/>
  </p:clrMapOvr>
  <mc:AlternateContent xmlns:mc="http://schemas.openxmlformats.org/markup-compatibility/2006" xmlns:p14="http://schemas.microsoft.com/office/powerpoint/2010/main">
    <mc:Choice Requires="p14">
      <p:transition spd="slow" p14:dur="2000" advTm="57021"/>
    </mc:Choice>
    <mc:Fallback xmlns="">
      <p:transition spd="slow" advTm="57021"/>
    </mc:Fallback>
  </mc:AlternateContent>
  <p:extLst>
    <p:ext uri="{3A86A75C-4F4B-4683-9AE1-C65F6400EC91}">
      <p14:laserTraceLst xmlns:p14="http://schemas.microsoft.com/office/powerpoint/2010/main">
        <p14:tracePtLst>
          <p14:tracePt t="5374" x="3949700" y="1709738"/>
          <p14:tracePt t="6110" x="4010025" y="1709738"/>
          <p14:tracePt t="6133" x="4060825" y="1709738"/>
          <p14:tracePt t="6134" x="4070350" y="1709738"/>
          <p14:tracePt t="6154" x="4130675" y="1709738"/>
          <p14:tracePt t="6178" x="4211638" y="1719263"/>
          <p14:tracePt t="6199" x="4262438" y="1730375"/>
          <p14:tracePt t="6223" x="4302125" y="1730375"/>
          <p14:tracePt t="6247" x="4332288" y="1730375"/>
          <p14:tracePt t="6269" x="4341813" y="1730375"/>
          <p14:tracePt t="6291" x="4381500" y="1730375"/>
          <p14:tracePt t="6312" x="4411663" y="1730375"/>
          <p14:tracePt t="6336" x="4441825" y="1730375"/>
          <p14:tracePt t="6361" x="4452938" y="1730375"/>
          <p14:tracePt t="6385" x="4492625" y="1730375"/>
          <p14:tracePt t="6407" x="4543425" y="1730375"/>
          <p14:tracePt t="6434" x="4573588" y="1730375"/>
          <p14:tracePt t="6457" x="4583113" y="1730375"/>
          <p14:tracePt t="6500" x="4603750" y="1730375"/>
          <p14:tracePt t="7461" x="4613275" y="1730375"/>
          <p14:tracePt t="7462" x="0" y="0"/>
        </p14:tracePtLst>
        <p14:tracePtLst>
          <p14:tracePt t="10251" x="3870325" y="2201863"/>
          <p14:tracePt t="10351" x="3910013" y="2201863"/>
          <p14:tracePt t="10379" x="3979863" y="2201863"/>
          <p14:tracePt t="10404" x="4060825" y="2232025"/>
          <p14:tracePt t="10430" x="4111625" y="2243138"/>
          <p14:tracePt t="10454" x="4160838" y="2252663"/>
          <p14:tracePt t="10477" x="4211638" y="2252663"/>
          <p14:tracePt t="10501" x="4232275" y="2262188"/>
          <p14:tracePt t="10523" x="4251325" y="2273300"/>
          <p14:tracePt t="10546" x="4281488" y="2273300"/>
          <p14:tracePt t="10569" x="4311650" y="2273300"/>
          <p14:tracePt t="10592" x="4341813" y="2273300"/>
          <p14:tracePt t="10617" x="4362450" y="2273300"/>
          <p14:tracePt t="10645" x="4392613" y="2273300"/>
          <p14:tracePt t="10669" x="4432300" y="2273300"/>
          <p14:tracePt t="10693" x="4471988" y="2273300"/>
          <p14:tracePt t="10717" x="4492625" y="2273300"/>
          <p14:tracePt t="10743" x="4522788" y="2273300"/>
          <p14:tracePt t="10768" x="4562475" y="2273300"/>
          <p14:tracePt t="10792" x="4573588" y="2262188"/>
          <p14:tracePt t="11342" x="4583113" y="2262188"/>
          <p14:tracePt t="11343" x="0" y="0"/>
        </p14:tracePtLst>
        <p14:tracePtLst>
          <p14:tracePt t="11954" x="2201863" y="2635250"/>
          <p14:tracePt t="12023" x="2211388" y="2635250"/>
          <p14:tracePt t="12046" x="2251075" y="2635250"/>
          <p14:tracePt t="12068" x="2341563" y="2635250"/>
          <p14:tracePt t="12090" x="2401888" y="2635250"/>
          <p14:tracePt t="12114" x="2473325" y="2635250"/>
          <p14:tracePt t="12114" x="2482850" y="2635250"/>
          <p14:tracePt t="12138" x="2573338" y="2635250"/>
          <p14:tracePt t="12160" x="2613025" y="2635250"/>
          <p14:tracePt t="12181" x="2652713" y="2635250"/>
          <p14:tracePt t="12204" x="2703513" y="2635250"/>
          <p14:tracePt t="12204" x="2733675" y="2635250"/>
          <p14:tracePt t="12226" x="2794000" y="2635250"/>
          <p14:tracePt t="12249" x="2844800" y="2635250"/>
          <p14:tracePt t="12272" x="2924175" y="2635250"/>
          <p14:tracePt t="12272" x="2944813" y="2635250"/>
          <p14:tracePt t="12295" x="3014663" y="2635250"/>
          <p14:tracePt t="12317" x="3105150" y="2635250"/>
          <p14:tracePt t="12340" x="3165475" y="2635250"/>
          <p14:tracePt t="12340" x="3186113" y="2635250"/>
          <p14:tracePt t="12365" x="3267075" y="2635250"/>
          <p14:tracePt t="12387" x="3336925" y="2635250"/>
          <p14:tracePt t="12410" x="3448050" y="2635250"/>
          <p14:tracePt t="12433" x="3568700" y="2635250"/>
          <p14:tracePt t="12458" x="3617913" y="2635250"/>
          <p14:tracePt t="12613" x="3638550" y="2635250"/>
          <p14:tracePt t="12973" x="0" y="0"/>
        </p14:tracePtLst>
        <p14:tracePtLst>
          <p14:tracePt t="19905" x="7558088" y="2343150"/>
          <p14:tracePt t="19929" x="7569200" y="2343150"/>
          <p14:tracePt t="19951" x="7599363" y="2343150"/>
          <p14:tracePt t="19979" x="7780338" y="2322513"/>
          <p14:tracePt t="19979" x="7820025" y="2322513"/>
          <p14:tracePt t="20003" x="8140700" y="2282825"/>
          <p14:tracePt t="20004" x="8170863" y="2282825"/>
          <p14:tracePt t="20026" x="8583613" y="2262188"/>
          <p14:tracePt t="20047" x="8985250" y="2262188"/>
          <p14:tracePt t="20070" x="9267825" y="2262188"/>
          <p14:tracePt t="20094" x="9437688" y="2262188"/>
          <p14:tracePt t="20119" x="9548813" y="2262188"/>
          <p14:tracePt t="20145" x="9678988" y="2243138"/>
          <p14:tracePt t="20171" x="9729788" y="2232025"/>
          <p14:tracePt t="20196" x="9779000" y="2232025"/>
          <p14:tracePt t="20222" x="9880600" y="2212975"/>
          <p14:tracePt t="20244" x="9959975" y="2182813"/>
          <p14:tracePt t="20267" x="10031413" y="2182813"/>
          <p14:tracePt t="20267" x="10040938" y="2182813"/>
          <p14:tracePt t="20289" x="10091738" y="2182813"/>
          <p14:tracePt t="20315" x="10140950" y="2182813"/>
          <p14:tracePt t="20339" x="10161588" y="2182813"/>
          <p14:tracePt t="20392" x="10171113" y="2182813"/>
          <p14:tracePt t="20423" x="10191750" y="2182813"/>
          <p14:tracePt t="20608" x="10161588" y="2182813"/>
          <p14:tracePt t="20633" x="9959975" y="2182813"/>
          <p14:tracePt t="20657" x="9729788" y="2182813"/>
          <p14:tracePt t="20657" x="9709150" y="2182813"/>
          <p14:tracePt t="20681" x="9337675" y="2182813"/>
          <p14:tracePt t="20705" x="8845550" y="2162175"/>
          <p14:tracePt t="20731" x="8382000" y="2162175"/>
          <p14:tracePt t="20757" x="8091488" y="2152650"/>
          <p14:tracePt t="20781" x="7910513" y="2152650"/>
          <p14:tracePt t="20781" x="7889875" y="2152650"/>
          <p14:tracePt t="20805" x="7739063" y="2152650"/>
          <p14:tracePt t="20805" x="7708900" y="2152650"/>
          <p14:tracePt t="20828" x="7569200" y="2132013"/>
          <p14:tracePt t="20852" x="7478713" y="2132013"/>
          <p14:tracePt t="20876" x="7407275" y="2132013"/>
          <p14:tracePt t="20992" x="7437438" y="2111375"/>
          <p14:tracePt t="21017" x="7569200" y="2111375"/>
          <p14:tracePt t="21042" x="7850188" y="2111375"/>
          <p14:tracePt t="21067" x="8261350" y="2111375"/>
          <p14:tracePt t="21091" x="8743950" y="2092325"/>
          <p14:tracePt t="21118" x="9186863" y="2092325"/>
          <p14:tracePt t="21146" x="9598025" y="2092325"/>
          <p14:tracePt t="21174" x="10001250" y="2092325"/>
          <p14:tracePt t="21197" x="10231438" y="2092325"/>
          <p14:tracePt t="21197" x="10252075" y="2092325"/>
          <p14:tracePt t="21221" x="10363200" y="2092325"/>
          <p14:tracePt t="21245" x="10463213" y="2092325"/>
          <p14:tracePt t="21271" x="10583863" y="2092325"/>
          <p14:tracePt t="21318" x="10604500" y="2092325"/>
          <p14:tracePt t="21575" x="0" y="0"/>
        </p14:tracePtLst>
        <p14:tracePtLst>
          <p14:tracePt t="24608" x="8170863" y="5691188"/>
          <p14:tracePt t="24718" x="8170863" y="5702300"/>
          <p14:tracePt t="24742" x="8170863" y="5711825"/>
          <p14:tracePt t="24766" x="8191500" y="5721350"/>
          <p14:tracePt t="24791" x="8231188" y="5732463"/>
          <p14:tracePt t="24813" x="8302625" y="5772150"/>
          <p14:tracePt t="24836" x="8402638" y="5792788"/>
          <p14:tracePt t="24863" x="8472488" y="5792788"/>
          <p14:tracePt t="24863" x="8483600" y="5802313"/>
          <p14:tracePt t="24892" x="8553450" y="5811838"/>
          <p14:tracePt t="24915" x="8613775" y="5811838"/>
          <p14:tracePt t="24941" x="8694738" y="5811838"/>
          <p14:tracePt t="24967" x="8743950" y="5811838"/>
          <p14:tracePt t="24991" x="8774113" y="5811838"/>
          <p14:tracePt t="25015" x="8855075" y="5811838"/>
          <p14:tracePt t="25040" x="8936038" y="5811838"/>
          <p14:tracePt t="25064" x="9045575" y="5811838"/>
          <p14:tracePt t="25094" x="9126538" y="5811838"/>
          <p14:tracePt t="25117" x="9156700" y="5811838"/>
          <p14:tracePt t="25141" x="9207500" y="5811838"/>
          <p14:tracePt t="25162" x="9237663" y="5811838"/>
          <p14:tracePt t="25186" x="9286875" y="5811838"/>
          <p14:tracePt t="25209" x="9358313" y="5811838"/>
          <p14:tracePt t="25209" x="9367838" y="5811838"/>
          <p14:tracePt t="25234" x="9437688" y="5811838"/>
          <p14:tracePt t="25257" x="9458325" y="5811838"/>
          <p14:tracePt t="25305" x="9478963" y="5811838"/>
          <p14:tracePt t="25379" x="9488488" y="5811838"/>
          <p14:tracePt t="25953" x="9478963" y="5811838"/>
          <p14:tracePt t="25979" x="9367838" y="5811838"/>
          <p14:tracePt t="26003" x="9237663" y="5811838"/>
          <p14:tracePt t="26028" x="9156700" y="5811838"/>
          <p14:tracePt t="26052" x="9075738" y="5811838"/>
          <p14:tracePt t="26077" x="8924925" y="5811838"/>
          <p14:tracePt t="26101" x="8764588" y="5832475"/>
          <p14:tracePt t="26101" x="8734425" y="5832475"/>
          <p14:tracePt t="26124" x="8562975" y="5832475"/>
          <p14:tracePt t="26148" x="8423275" y="5832475"/>
          <p14:tracePt t="26172" x="8261350" y="5832475"/>
          <p14:tracePt t="26196" x="8201025" y="5832475"/>
          <p14:tracePt t="26250" x="8181975" y="5832475"/>
          <p14:tracePt t="26276" x="8151813" y="5832475"/>
          <p14:tracePt t="26300" x="8080375" y="5832475"/>
          <p14:tracePt t="26324" x="8070850" y="5832475"/>
          <p14:tracePt t="26348" x="8050213" y="5832475"/>
          <p14:tracePt t="26554" x="0" y="0"/>
        </p14:tracePtLst>
        <p14:tracePtLst>
          <p14:tracePt t="28806" x="8031163" y="4143375"/>
          <p14:tracePt t="30619" x="8031163" y="4162425"/>
          <p14:tracePt t="30642" x="8031163" y="4173538"/>
          <p14:tracePt t="30665" x="8031163" y="4192588"/>
          <p14:tracePt t="30690" x="8031163" y="4213225"/>
          <p14:tracePt t="30740" x="8031163" y="4222750"/>
          <p14:tracePt t="30787" x="8031163" y="4252913"/>
          <p14:tracePt t="30928" x="8031163" y="4273550"/>
          <p14:tracePt t="30953" x="8050213" y="4283075"/>
          <p14:tracePt t="31299" x="8050213" y="4303713"/>
          <p14:tracePt t="31322" x="8050213" y="4364038"/>
          <p14:tracePt t="31349" x="8050213" y="4394200"/>
          <p14:tracePt t="31844" x="8050213" y="4403725"/>
          <p14:tracePt t="31871" x="0" y="0"/>
        </p14:tracePtLst>
      </p14:laserTraceLst>
    </p:ext>
    <p:ext uri="{E180D4A7-C9FB-4DFB-919C-405C955672EB}">
      <p14:showEvtLst xmlns:p14="http://schemas.microsoft.com/office/powerpoint/2010/main">
        <p14:playEvt time="35" objId="7"/>
        <p14:stopEvt time="51385" objId="7"/>
      </p14:showEvtLst>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Calculating the ARR</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8</a:t>
            </a:fld>
            <a:endParaRPr kumimoji="0" lang="en-US" dirty="0"/>
          </a:p>
        </p:txBody>
      </p:sp>
      <p:sp>
        <p:nvSpPr>
          <p:cNvPr id="4" name="Content Placeholder 3"/>
          <p:cNvSpPr>
            <a:spLocks noGrp="1"/>
          </p:cNvSpPr>
          <p:nvPr>
            <p:ph sz="quarter" idx="1"/>
          </p:nvPr>
        </p:nvSpPr>
        <p:spPr/>
        <p:txBody>
          <a:bodyPr/>
          <a:lstStyle/>
          <a:p>
            <a:pPr lvl="0"/>
            <a:r>
              <a:rPr lang="en-US" sz="2800" dirty="0"/>
              <a:t>Suppose a 16-bit timer has the following setting</a:t>
            </a:r>
            <a:r>
              <a:rPr lang="en-US" altLang="zh-CN" sz="2800" dirty="0"/>
              <a:t>s</a:t>
            </a:r>
            <a:r>
              <a:rPr lang="en-US" sz="2800" dirty="0"/>
              <a:t> </a:t>
            </a:r>
          </a:p>
          <a:p>
            <a:pPr lvl="2"/>
            <a:r>
              <a:rPr lang="en-US" sz="2100" dirty="0"/>
              <a:t>CPU clock frequency is 4 </a:t>
            </a:r>
            <a:r>
              <a:rPr lang="en-US" sz="2100" dirty="0" err="1"/>
              <a:t>MHz.</a:t>
            </a:r>
            <a:r>
              <a:rPr lang="en-US" sz="2100" dirty="0"/>
              <a:t> </a:t>
            </a:r>
          </a:p>
          <a:p>
            <a:pPr lvl="2"/>
            <a:r>
              <a:rPr lang="en-US" sz="2100" dirty="0" err="1"/>
              <a:t>Prescaler</a:t>
            </a:r>
            <a:r>
              <a:rPr lang="en-US" sz="2100" dirty="0"/>
              <a:t> PSC = 39</a:t>
            </a:r>
          </a:p>
          <a:p>
            <a:pPr lvl="2"/>
            <a:r>
              <a:rPr lang="en-US" sz="2100" dirty="0"/>
              <a:t>Counting direction: center-aligned counting</a:t>
            </a:r>
          </a:p>
          <a:p>
            <a:pPr lvl="2"/>
            <a:r>
              <a:rPr lang="en-US" sz="2100" dirty="0"/>
              <a:t>Desired timer frequency = 100 Hz</a:t>
            </a:r>
          </a:p>
          <a:p>
            <a:r>
              <a:rPr lang="en-US" sz="2800" dirty="0"/>
              <a:t>Calculate the ARR.</a:t>
            </a:r>
            <a:endParaRPr lang="en-US" dirty="0"/>
          </a:p>
          <a:p>
            <a:pPr marL="0" indent="0">
              <a:buNone/>
            </a:pPr>
            <a:endParaRPr lang="en-US" dirty="0"/>
          </a:p>
        </p:txBody>
      </p:sp>
    </p:spTree>
    <p:extLst>
      <p:ext uri="{BB962C8B-B14F-4D97-AF65-F5344CB8AC3E}">
        <p14:creationId xmlns:p14="http://schemas.microsoft.com/office/powerpoint/2010/main" val="11829178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Calculating the ARR ANS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9</a:t>
            </a:fld>
            <a:endParaRPr kumimoji="0" lang="en-US" dirty="0"/>
          </a:p>
        </p:txBody>
      </p:sp>
      <p:sp>
        <p:nvSpPr>
          <p:cNvPr id="4" name="Content Placeholder 3"/>
          <p:cNvSpPr>
            <a:spLocks noGrp="1"/>
          </p:cNvSpPr>
          <p:nvPr>
            <p:ph sz="quarter" idx="1"/>
          </p:nvPr>
        </p:nvSpPr>
        <p:spPr/>
        <p:txBody>
          <a:bodyPr/>
          <a:lstStyle/>
          <a:p>
            <a:pPr lvl="0"/>
            <a:r>
              <a:rPr lang="en-US" sz="2800" dirty="0"/>
              <a:t>Suppose a 16-bit timer has the following setting</a:t>
            </a:r>
            <a:r>
              <a:rPr lang="en-US" altLang="zh-CN" sz="2800" dirty="0"/>
              <a:t>s</a:t>
            </a:r>
            <a:r>
              <a:rPr lang="en-US" sz="2800" dirty="0"/>
              <a:t> </a:t>
            </a:r>
          </a:p>
          <a:p>
            <a:pPr lvl="2"/>
            <a:r>
              <a:rPr lang="en-US" sz="2100" dirty="0"/>
              <a:t>CPU clock frequency is 4 </a:t>
            </a:r>
            <a:r>
              <a:rPr lang="en-US" sz="2100" dirty="0" err="1"/>
              <a:t>MHz.</a:t>
            </a:r>
            <a:r>
              <a:rPr lang="en-US" sz="2100" dirty="0"/>
              <a:t> </a:t>
            </a:r>
          </a:p>
          <a:p>
            <a:pPr lvl="2"/>
            <a:r>
              <a:rPr lang="en-US" sz="2100" dirty="0" err="1"/>
              <a:t>Prescaler</a:t>
            </a:r>
            <a:r>
              <a:rPr lang="en-US" sz="2100" dirty="0"/>
              <a:t> PSC = 39</a:t>
            </a:r>
          </a:p>
          <a:p>
            <a:pPr lvl="2"/>
            <a:r>
              <a:rPr lang="en-US" sz="2100" dirty="0"/>
              <a:t>Counting direction: center-aligned counting</a:t>
            </a:r>
          </a:p>
          <a:p>
            <a:pPr lvl="2"/>
            <a:r>
              <a:rPr lang="en-US" sz="2100" dirty="0"/>
              <a:t>Desired timer frequency = 100 Hz</a:t>
            </a:r>
          </a:p>
          <a:p>
            <a:r>
              <a:rPr lang="en-US" sz="2800" dirty="0"/>
              <a:t>Calculate the ARR.</a:t>
            </a:r>
            <a:endParaRPr lang="en-US" dirty="0"/>
          </a:p>
          <a:p>
            <a:endParaRPr lang="en-US" dirty="0"/>
          </a:p>
        </p:txBody>
      </p:sp>
      <mc:AlternateContent xmlns:mc="http://schemas.openxmlformats.org/markup-compatibility/2006" xmlns:a14="http://schemas.microsoft.com/office/drawing/2010/main">
        <mc:Choice Requires="a14">
          <p:sp>
            <p:nvSpPr>
              <p:cNvPr id="5" name="Rectangle 4"/>
              <p:cNvSpPr/>
              <p:nvPr/>
            </p:nvSpPr>
            <p:spPr>
              <a:xfrm>
                <a:off x="1143000" y="3769115"/>
                <a:ext cx="6248400" cy="498085"/>
              </a:xfrm>
              <a:prstGeom prst="rect">
                <a:avLst/>
              </a:prstGeom>
            </p:spPr>
            <p:txBody>
              <a:bodyPr wrap="square">
                <a:spAutoFit/>
              </a:bodyPr>
              <a:lstStyle/>
              <a:p>
                <a14:m>
                  <m:oMath xmlns:m="http://schemas.openxmlformats.org/officeDocument/2006/math">
                    <m:sSub>
                      <m:sSubPr>
                        <m:ctrlPr>
                          <a:rPr lang="en-US" i="1" smtClean="0">
                            <a:solidFill>
                              <a:prstClr val="black"/>
                            </a:solidFill>
                            <a:latin typeface="Cambria Math" panose="02040503050406030204" pitchFamily="18" charset="0"/>
                          </a:rPr>
                        </m:ctrlPr>
                      </m:sSubPr>
                      <m:e>
                        <m:r>
                          <a:rPr lang="en-US" i="1">
                            <a:latin typeface="Cambria Math" panose="02040503050406030204" pitchFamily="18" charset="0"/>
                          </a:rPr>
                          <m:t>𝑇𝑖𝑚𝑒𝑟</m:t>
                        </m:r>
                        <m:r>
                          <a:rPr lang="en-US" smtClean="0">
                            <a:latin typeface="Cambria Math" panose="02040503050406030204" pitchFamily="18" charset="0"/>
                          </a:rPr>
                          <m:t> </m:t>
                        </m:r>
                        <m:r>
                          <a:rPr lang="en-US" b="0" i="1" smtClean="0">
                            <a:latin typeface="Cambria Math" panose="02040503050406030204" pitchFamily="18" charset="0"/>
                          </a:rPr>
                          <m:t>𝐶𝑙</m:t>
                        </m:r>
                        <m:r>
                          <a:rPr lang="en-US" i="1" smtClean="0">
                            <a:latin typeface="Cambria Math" panose="02040503050406030204" pitchFamily="18" charset="0"/>
                          </a:rPr>
                          <m:t>𝑜𝑐𝑘</m:t>
                        </m:r>
                        <m:r>
                          <a:rPr lang="en-US" i="1" smtClean="0">
                            <a:latin typeface="Cambria Math" panose="02040503050406030204" pitchFamily="18" charset="0"/>
                          </a:rPr>
                          <m:t> </m:t>
                        </m:r>
                        <m:r>
                          <a:rPr lang="en-US" b="0" i="1" smtClean="0">
                            <a:latin typeface="Cambria Math" panose="02040503050406030204" pitchFamily="18" charset="0"/>
                          </a:rPr>
                          <m:t>𝐹</m:t>
                        </m:r>
                        <m:r>
                          <a:rPr lang="en-US" i="1" smtClean="0">
                            <a:latin typeface="Cambria Math" panose="02040503050406030204" pitchFamily="18" charset="0"/>
                          </a:rPr>
                          <m:t>𝑟𝑒𝑞</m:t>
                        </m:r>
                        <m:r>
                          <a:rPr lang="en-US" b="0" i="1" smtClean="0">
                            <a:latin typeface="Cambria Math" panose="02040503050406030204" pitchFamily="18" charset="0"/>
                          </a:rPr>
                          <m:t> </m:t>
                        </m:r>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r>
                      <a:rPr lang="en-US" i="1">
                        <a:solidFill>
                          <a:prstClr val="black"/>
                        </a:solidFill>
                        <a:latin typeface="Cambria Math"/>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m:t>
                            </m:r>
                            <m:r>
                              <a:rPr lang="en-US" b="0" i="1" smtClean="0">
                                <a:solidFill>
                                  <a:prstClr val="black"/>
                                </a:solidFill>
                                <a:latin typeface="Cambria Math" panose="02040503050406030204" pitchFamily="18" charset="0"/>
                              </a:rPr>
                              <m:t>𝐾</m:t>
                            </m:r>
                            <m:r>
                              <a:rPr lang="en-US" i="1">
                                <a:solidFill>
                                  <a:prstClr val="black"/>
                                </a:solidFill>
                                <a:latin typeface="Cambria Math"/>
                              </a:rPr>
                              <m:t>_</m:t>
                            </m:r>
                            <m:r>
                              <a:rPr lang="en-US" i="1">
                                <a:solidFill>
                                  <a:prstClr val="black"/>
                                </a:solidFill>
                                <a:latin typeface="Cambria Math"/>
                              </a:rPr>
                              <m:t>𝑃𝑆𝐶</m:t>
                            </m:r>
                          </m:sub>
                        </m:sSub>
                      </m:num>
                      <m:den>
                        <m:r>
                          <a:rPr lang="en-US" i="1">
                            <a:solidFill>
                              <a:prstClr val="black"/>
                            </a:solidFill>
                            <a:latin typeface="Cambria Math" panose="02040503050406030204" pitchFamily="18" charset="0"/>
                          </a:rPr>
                          <m:t>𝑃𝑆𝐶</m:t>
                        </m:r>
                        <m:r>
                          <a:rPr lang="en-US" i="1">
                            <a:solidFill>
                              <a:prstClr val="black"/>
                            </a:solidFill>
                            <a:latin typeface="Cambria Math"/>
                          </a:rPr>
                          <m:t>+1</m:t>
                        </m:r>
                      </m:den>
                    </m:f>
                  </m:oMath>
                </a14:m>
                <a:r>
                  <a:rPr lang="en-US" dirty="0"/>
                  <a:t> = </a:t>
                </a:r>
                <a14:m>
                  <m:oMath xmlns:m="http://schemas.openxmlformats.org/officeDocument/2006/math">
                    <m:f>
                      <m:fPr>
                        <m:ctrlPr>
                          <a:rPr lang="en-US" i="1">
                            <a:solidFill>
                              <a:prstClr val="black"/>
                            </a:solidFill>
                            <a:latin typeface="Cambria Math" panose="02040503050406030204" pitchFamily="18" charset="0"/>
                          </a:rPr>
                        </m:ctrlPr>
                      </m:fPr>
                      <m:num>
                        <m:r>
                          <a:rPr lang="en-US" b="0" i="1" smtClean="0">
                            <a:solidFill>
                              <a:prstClr val="black"/>
                            </a:solidFill>
                            <a:latin typeface="Cambria Math" panose="02040503050406030204" pitchFamily="18" charset="0"/>
                          </a:rPr>
                          <m:t>4 </m:t>
                        </m:r>
                        <m:r>
                          <m:rPr>
                            <m:sty m:val="p"/>
                          </m:rPr>
                          <a:rPr lang="en-US" altLang="zh-CN" i="1">
                            <a:solidFill>
                              <a:prstClr val="black"/>
                            </a:solidFill>
                            <a:latin typeface="Cambria Math" panose="02040503050406030204" pitchFamily="18" charset="0"/>
                          </a:rPr>
                          <m:t>MHz</m:t>
                        </m:r>
                      </m:num>
                      <m:den>
                        <m:r>
                          <a:rPr lang="en-US" b="0" i="1" smtClean="0">
                            <a:solidFill>
                              <a:prstClr val="black"/>
                            </a:solidFill>
                            <a:latin typeface="Cambria Math" panose="02040503050406030204" pitchFamily="18" charset="0"/>
                          </a:rPr>
                          <m:t>40</m:t>
                        </m:r>
                      </m:den>
                    </m:f>
                    <m:r>
                      <a:rPr lang="en-US" altLang="zh-CN" i="1">
                        <a:solidFill>
                          <a:prstClr val="black"/>
                        </a:solidFill>
                        <a:latin typeface="Cambria Math" panose="02040503050406030204" pitchFamily="18" charset="0"/>
                      </a:rPr>
                      <m:t>=</m:t>
                    </m:r>
                  </m:oMath>
                </a14:m>
                <a:r>
                  <a:rPr lang="en-US" dirty="0"/>
                  <a:t>0.1 </a:t>
                </a:r>
                <a:r>
                  <a:rPr lang="en-US" altLang="zh-CN" dirty="0"/>
                  <a:t>MHz</a:t>
                </a:r>
                <a:endParaRPr lang="en-US" dirty="0"/>
              </a:p>
            </p:txBody>
          </p:sp>
        </mc:Choice>
        <mc:Fallback xmlns="">
          <p:sp>
            <p:nvSpPr>
              <p:cNvPr id="5" name="Rectangle 4"/>
              <p:cNvSpPr>
                <a:spLocks noRot="1" noChangeAspect="1" noMove="1" noResize="1" noEditPoints="1" noAdjustHandles="1" noChangeArrowheads="1" noChangeShapeType="1" noTextEdit="1"/>
              </p:cNvSpPr>
              <p:nvPr/>
            </p:nvSpPr>
            <p:spPr>
              <a:xfrm>
                <a:off x="1143000" y="3769115"/>
                <a:ext cx="6248400" cy="498085"/>
              </a:xfrm>
              <a:prstGeom prst="rect">
                <a:avLst/>
              </a:prstGeom>
              <a:blipFill>
                <a:blip r:embed="rId2"/>
                <a:stretch>
                  <a:fillRect b="-609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1066800" y="4466590"/>
                <a:ext cx="5358903" cy="61709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𝑇𝑖𝑚𝑒𝑟</m:t>
                      </m:r>
                      <m:r>
                        <a:rPr lang="en-US">
                          <a:latin typeface="Cambria Math" panose="02040503050406030204" pitchFamily="18" charset="0"/>
                        </a:rPr>
                        <m:t> </m:t>
                      </m:r>
                      <m:r>
                        <a:rPr lang="en-US" b="0" i="1" smtClean="0">
                          <a:latin typeface="Cambria Math" panose="02040503050406030204" pitchFamily="18" charset="0"/>
                        </a:rPr>
                        <m:t>𝐹</m:t>
                      </m:r>
                      <m:r>
                        <a:rPr lang="en-US" i="1">
                          <a:latin typeface="Cambria Math" panose="02040503050406030204" pitchFamily="18" charset="0"/>
                        </a:rPr>
                        <m:t>𝑟𝑒𝑞</m:t>
                      </m:r>
                      <m:r>
                        <a:rPr lang="en-US" b="0" i="1" smtClean="0">
                          <a:latin typeface="Cambria Math" panose="02040503050406030204" pitchFamily="18" charset="0"/>
                        </a:rPr>
                        <m:t> </m:t>
                      </m:r>
                      <m:r>
                        <a:rPr lang="en-US" b="0" i="1" smtClean="0">
                          <a:latin typeface="Cambria Math" panose="02040503050406030204" pitchFamily="18" charset="0"/>
                        </a:rPr>
                        <m:t>𝑓𝑇𝑖𝑚𝑒𝑟</m:t>
                      </m:r>
                      <m:r>
                        <a:rPr lang="en-US">
                          <a:latin typeface="Cambria Math" panose="02040503050406030204" pitchFamily="18" charset="0"/>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m:t>
                              </m:r>
                              <m:r>
                                <a:rPr lang="en-US" b="0" i="1" smtClean="0">
                                  <a:solidFill>
                                    <a:prstClr val="black"/>
                                  </a:solidFill>
                                  <a:latin typeface="Cambria Math" panose="02040503050406030204" pitchFamily="18" charset="0"/>
                                </a:rPr>
                                <m:t>𝐾</m:t>
                              </m:r>
                              <m:r>
                                <a:rPr lang="en-US" i="1">
                                  <a:solidFill>
                                    <a:prstClr val="black"/>
                                  </a:solidFill>
                                  <a:latin typeface="Cambria Math" panose="02040503050406030204" pitchFamily="18" charset="0"/>
                                </a:rPr>
                                <m:t>_</m:t>
                              </m:r>
                              <m:r>
                                <a:rPr lang="en-US" b="0" i="1" smtClean="0">
                                  <a:solidFill>
                                    <a:prstClr val="black"/>
                                  </a:solidFill>
                                  <a:latin typeface="Cambria Math" panose="02040503050406030204" pitchFamily="18" charset="0"/>
                                </a:rPr>
                                <m:t>𝐶𝑁𝑇</m:t>
                              </m:r>
                            </m:sub>
                          </m:sSub>
                        </m:num>
                        <m:den>
                          <m:r>
                            <a:rPr lang="en-US" i="1">
                              <a:solidFill>
                                <a:prstClr val="black"/>
                              </a:solidFill>
                              <a:latin typeface="Cambria Math" panose="02040503050406030204" pitchFamily="18" charset="0"/>
                            </a:rPr>
                            <m:t>2∗</m:t>
                          </m:r>
                          <m:r>
                            <a:rPr lang="en-US" i="1">
                              <a:solidFill>
                                <a:prstClr val="black"/>
                              </a:solidFill>
                              <a:latin typeface="Cambria Math" panose="02040503050406030204" pitchFamily="18" charset="0"/>
                            </a:rPr>
                            <m:t>𝐴𝑅𝑅</m:t>
                          </m:r>
                        </m:den>
                      </m:f>
                      <m:r>
                        <a:rPr lang="en-US" i="1">
                          <a:solidFill>
                            <a:prstClr val="black"/>
                          </a:solidFill>
                          <a:latin typeface="Cambria Math" panose="02040503050406030204" pitchFamily="18" charset="0"/>
                        </a:rPr>
                        <m:t>=</m:t>
                      </m:r>
                      <m:f>
                        <m:fPr>
                          <m:ctrlPr>
                            <a:rPr lang="en-US" i="1">
                              <a:latin typeface="Cambria Math" panose="02040503050406030204" pitchFamily="18" charset="0"/>
                            </a:rPr>
                          </m:ctrlPr>
                        </m:fPr>
                        <m:num>
                          <m:r>
                            <a:rPr lang="en-US">
                              <a:latin typeface="Cambria Math" panose="02040503050406030204" pitchFamily="18" charset="0"/>
                            </a:rPr>
                            <m:t>0.1 </m:t>
                          </m:r>
                          <m:r>
                            <a:rPr lang="en-US" i="1">
                              <a:latin typeface="Cambria Math" panose="02040503050406030204" pitchFamily="18" charset="0"/>
                            </a:rPr>
                            <m:t>𝑀𝐻𝑧</m:t>
                          </m:r>
                        </m:num>
                        <m:den>
                          <m:r>
                            <a:rPr lang="en-US">
                              <a:latin typeface="Cambria Math" panose="02040503050406030204" pitchFamily="18" charset="0"/>
                            </a:rPr>
                            <m:t>2∗</m:t>
                          </m:r>
                          <m:r>
                            <m:rPr>
                              <m:sty m:val="p"/>
                            </m:rPr>
                            <a:rPr lang="en-US">
                              <a:latin typeface="Cambria Math" panose="02040503050406030204" pitchFamily="18" charset="0"/>
                            </a:rPr>
                            <m:t>ARR</m:t>
                          </m:r>
                        </m:den>
                      </m:f>
                      <m:r>
                        <a:rPr lang="en-US">
                          <a:latin typeface="Cambria Math" panose="02040503050406030204" pitchFamily="18" charset="0"/>
                        </a:rPr>
                        <m:t>=100</m:t>
                      </m:r>
                      <m:r>
                        <a:rPr lang="en-US" i="1">
                          <a:latin typeface="Cambria Math" panose="02040503050406030204" pitchFamily="18" charset="0"/>
                        </a:rPr>
                        <m:t>𝐻𝑧</m:t>
                      </m:r>
                    </m:oMath>
                  </m:oMathPara>
                </a14:m>
                <a:endParaRPr lang="en-US" dirty="0"/>
              </a:p>
            </p:txBody>
          </p:sp>
        </mc:Choice>
        <mc:Fallback xmlns="">
          <p:sp>
            <p:nvSpPr>
              <p:cNvPr id="9" name="Rectangle 8"/>
              <p:cNvSpPr>
                <a:spLocks noRot="1" noChangeAspect="1" noMove="1" noResize="1" noEditPoints="1" noAdjustHandles="1" noChangeArrowheads="1" noChangeShapeType="1" noTextEdit="1"/>
              </p:cNvSpPr>
              <p:nvPr/>
            </p:nvSpPr>
            <p:spPr>
              <a:xfrm>
                <a:off x="1066800" y="4466590"/>
                <a:ext cx="5358903" cy="61709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1143000" y="5283072"/>
                <a:ext cx="138243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𝐴𝑅𝑅</m:t>
                      </m:r>
                      <m:r>
                        <a:rPr lang="en-US" b="0" i="1" smtClean="0">
                          <a:latin typeface="Cambria Math" panose="02040503050406030204" pitchFamily="18" charset="0"/>
                        </a:rPr>
                        <m:t>=500</m:t>
                      </m:r>
                    </m:oMath>
                  </m:oMathPara>
                </a14:m>
                <a:endParaRPr lang="en-US" dirty="0"/>
              </a:p>
            </p:txBody>
          </p:sp>
        </mc:Choice>
        <mc:Fallback xmlns="">
          <p:sp>
            <p:nvSpPr>
              <p:cNvPr id="10" name="Rectangle 9"/>
              <p:cNvSpPr>
                <a:spLocks noRot="1" noChangeAspect="1" noMove="1" noResize="1" noEditPoints="1" noAdjustHandles="1" noChangeArrowheads="1" noChangeShapeType="1" noTextEdit="1"/>
              </p:cNvSpPr>
              <p:nvPr/>
            </p:nvSpPr>
            <p:spPr>
              <a:xfrm>
                <a:off x="1143000" y="5283072"/>
                <a:ext cx="1382430" cy="369332"/>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8891443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Clock Frequency and Timer Frequency</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10</a:t>
            </a:fld>
            <a:endParaRPr kumimoji="0" lang="en-US" dirty="0"/>
          </a:p>
        </p:txBody>
      </p:sp>
      <p:sp>
        <p:nvSpPr>
          <p:cNvPr id="4" name="Content Placeholder 3"/>
          <p:cNvSpPr>
            <a:spLocks noGrp="1"/>
          </p:cNvSpPr>
          <p:nvPr>
            <p:ph sz="quarter" idx="1"/>
          </p:nvPr>
        </p:nvSpPr>
        <p:spPr/>
        <p:txBody>
          <a:bodyPr/>
          <a:lstStyle/>
          <a:p>
            <a:pPr lvl="0"/>
            <a:r>
              <a:rPr lang="en-US" sz="2800" dirty="0"/>
              <a:t>Suppose all registers are 16 bits. CPU clock frequency is 400 </a:t>
            </a:r>
            <a:r>
              <a:rPr lang="en-US" sz="2800" dirty="0" err="1"/>
              <a:t>MHz.</a:t>
            </a:r>
            <a:endParaRPr lang="en-US" sz="2800" dirty="0"/>
          </a:p>
          <a:p>
            <a:r>
              <a:rPr lang="en-US" sz="2800" dirty="0"/>
              <a:t>What is the maximum and minimum Clock Frequency, and Timer Frequency, assuming up-counting mode?</a:t>
            </a:r>
            <a:endParaRPr lang="en-US" dirty="0"/>
          </a:p>
        </p:txBody>
      </p:sp>
    </p:spTree>
    <p:extLst>
      <p:ext uri="{BB962C8B-B14F-4D97-AF65-F5344CB8AC3E}">
        <p14:creationId xmlns:p14="http://schemas.microsoft.com/office/powerpoint/2010/main" val="12719584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Clock Frequency and Timer Frequency ANS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11</a:t>
            </a:fld>
            <a:endParaRPr kumimoji="0" lang="en-US" dirty="0"/>
          </a:p>
        </p:txBody>
      </p:sp>
      <p:sp>
        <p:nvSpPr>
          <p:cNvPr id="4" name="Content Placeholder 3"/>
          <p:cNvSpPr>
            <a:spLocks noGrp="1"/>
          </p:cNvSpPr>
          <p:nvPr>
            <p:ph sz="quarter" idx="1"/>
          </p:nvPr>
        </p:nvSpPr>
        <p:spPr/>
        <p:txBody>
          <a:bodyPr>
            <a:normAutofit fontScale="92500" lnSpcReduction="20000"/>
          </a:bodyPr>
          <a:lstStyle/>
          <a:p>
            <a:pPr lvl="0"/>
            <a:r>
              <a:rPr lang="en-US" sz="2800" dirty="0"/>
              <a:t>Suppose all registers are 16 bits. CPU clock frequency is 400 </a:t>
            </a:r>
            <a:r>
              <a:rPr lang="en-US" sz="2800" dirty="0" err="1"/>
              <a:t>MHz.</a:t>
            </a:r>
            <a:endParaRPr lang="en-US" sz="2800" dirty="0"/>
          </a:p>
          <a:p>
            <a:r>
              <a:rPr lang="en-US" sz="2800" dirty="0"/>
              <a:t>What is the maximum and minimum Clock Frequency, and Timer Frequency, assuming up-counting mode?</a:t>
            </a:r>
          </a:p>
          <a:p>
            <a:r>
              <a:rPr lang="en-US" dirty="0"/>
              <a:t>PSC, ARR are both in the range </a:t>
            </a:r>
            <a:r>
              <a:rPr lang="en-US" altLang="zh-CN" dirty="0"/>
              <a:t>[0, 2</a:t>
            </a:r>
            <a:r>
              <a:rPr lang="en-US" altLang="zh-CN" baseline="30000" dirty="0"/>
              <a:t>16</a:t>
            </a:r>
            <a:r>
              <a:rPr lang="en-US" altLang="zh-CN" dirty="0"/>
              <a:t>-1=65535]</a:t>
            </a:r>
            <a:r>
              <a:rPr lang="en-US" dirty="0"/>
              <a:t>.</a:t>
            </a:r>
          </a:p>
          <a:p>
            <a:endParaRPr lang="en-US" dirty="0"/>
          </a:p>
          <a:p>
            <a:endParaRPr lang="en-US" dirty="0"/>
          </a:p>
          <a:p>
            <a:endParaRPr lang="en-US" dirty="0"/>
          </a:p>
          <a:p>
            <a:endParaRPr lang="en-US" dirty="0"/>
          </a:p>
          <a:p>
            <a:endParaRPr lang="en-US" dirty="0"/>
          </a:p>
          <a:p>
            <a:endParaRPr lang="en-US" dirty="0"/>
          </a:p>
          <a:p>
            <a:r>
              <a:rPr lang="en-US" dirty="0"/>
              <a:t>(A realistic Timer Frequency should not be higher than 1KHz, as mentioned before.)</a:t>
            </a:r>
          </a:p>
          <a:p>
            <a:endParaRPr lang="en-US" dirty="0"/>
          </a:p>
        </p:txBody>
      </p:sp>
      <mc:AlternateContent xmlns:mc="http://schemas.openxmlformats.org/markup-compatibility/2006" xmlns:a14="http://schemas.microsoft.com/office/drawing/2010/main">
        <mc:Choice Requires="a14">
          <p:sp>
            <p:nvSpPr>
              <p:cNvPr id="5" name="Rectangle 4"/>
              <p:cNvSpPr/>
              <p:nvPr/>
            </p:nvSpPr>
            <p:spPr>
              <a:xfrm>
                <a:off x="762000" y="3441480"/>
                <a:ext cx="7162800" cy="504818"/>
              </a:xfrm>
              <a:prstGeom prst="rect">
                <a:avLst/>
              </a:prstGeom>
            </p:spPr>
            <p:txBody>
              <a:bodyPr wrap="square">
                <a:spAutoFit/>
              </a:bodyPr>
              <a:lstStyle/>
              <a:p>
                <a14:m>
                  <m:oMath xmlns:m="http://schemas.openxmlformats.org/officeDocument/2006/math">
                    <m:sSub>
                      <m:sSubPr>
                        <m:ctrlPr>
                          <a:rPr lang="en-US" i="1" smtClean="0">
                            <a:solidFill>
                              <a:prstClr val="black"/>
                            </a:solidFill>
                            <a:latin typeface="Cambria Math" panose="02040503050406030204" pitchFamily="18" charset="0"/>
                          </a:rPr>
                        </m:ctrlPr>
                      </m:sSubPr>
                      <m:e>
                        <m:r>
                          <a:rPr lang="en-US" b="0" i="1" smtClean="0">
                            <a:latin typeface="Cambria Math" panose="02040503050406030204" pitchFamily="18" charset="0"/>
                          </a:rPr>
                          <m:t> </m:t>
                        </m:r>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r>
                      <a:rPr lang="en-US" i="1">
                        <a:solidFill>
                          <a:prstClr val="black"/>
                        </a:solidFill>
                        <a:latin typeface="Cambria Math"/>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m:t>
                            </m:r>
                            <m:r>
                              <a:rPr lang="en-US" b="0" i="1" smtClean="0">
                                <a:solidFill>
                                  <a:prstClr val="black"/>
                                </a:solidFill>
                                <a:latin typeface="Cambria Math" panose="02040503050406030204" pitchFamily="18" charset="0"/>
                              </a:rPr>
                              <m:t>𝐾</m:t>
                            </m:r>
                            <m:r>
                              <a:rPr lang="en-US" i="1">
                                <a:solidFill>
                                  <a:prstClr val="black"/>
                                </a:solidFill>
                                <a:latin typeface="Cambria Math"/>
                              </a:rPr>
                              <m:t>_</m:t>
                            </m:r>
                            <m:r>
                              <a:rPr lang="en-US" i="1">
                                <a:solidFill>
                                  <a:prstClr val="black"/>
                                </a:solidFill>
                                <a:latin typeface="Cambria Math"/>
                              </a:rPr>
                              <m:t>𝑃𝑆𝐶</m:t>
                            </m:r>
                          </m:sub>
                        </m:sSub>
                      </m:num>
                      <m:den>
                        <m:r>
                          <a:rPr lang="en-US" i="1">
                            <a:solidFill>
                              <a:prstClr val="black"/>
                            </a:solidFill>
                            <a:latin typeface="Cambria Math" panose="02040503050406030204" pitchFamily="18" charset="0"/>
                          </a:rPr>
                          <m:t>𝑃𝑆𝐶</m:t>
                        </m:r>
                        <m:r>
                          <a:rPr lang="en-US" i="1">
                            <a:solidFill>
                              <a:prstClr val="black"/>
                            </a:solidFill>
                            <a:latin typeface="Cambria Math"/>
                          </a:rPr>
                          <m:t>+1</m:t>
                        </m:r>
                      </m:den>
                    </m:f>
                  </m:oMath>
                </a14:m>
                <a:r>
                  <a:rPr lang="en-US" altLang="zh-CN" dirty="0">
                    <a:solidFill>
                      <a:prstClr val="black"/>
                    </a:solidFill>
                  </a:rPr>
                  <a:t>=</a:t>
                </a:r>
                <a14:m>
                  <m:oMath xmlns:m="http://schemas.openxmlformats.org/officeDocument/2006/math">
                    <m:r>
                      <a:rPr lang="en-US" i="0">
                        <a:latin typeface="Cambria Math" panose="02040503050406030204" pitchFamily="18" charset="0"/>
                      </a:rPr>
                      <m:t> </m:t>
                    </m:r>
                    <m:f>
                      <m:fPr>
                        <m:ctrlPr>
                          <a:rPr lang="en-US" i="1">
                            <a:latin typeface="Cambria Math" panose="02040503050406030204" pitchFamily="18" charset="0"/>
                          </a:rPr>
                        </m:ctrlPr>
                      </m:fPr>
                      <m:num>
                        <m:r>
                          <a:rPr lang="en-US" b="0" i="0" smtClean="0">
                            <a:latin typeface="Cambria Math" panose="02040503050406030204" pitchFamily="18" charset="0"/>
                          </a:rPr>
                          <m:t>400 </m:t>
                        </m:r>
                        <m:r>
                          <m:rPr>
                            <m:sty m:val="p"/>
                          </m:rPr>
                          <a:rPr lang="en-US" b="0" i="0" smtClean="0">
                            <a:latin typeface="Cambria Math" panose="02040503050406030204" pitchFamily="18" charset="0"/>
                          </a:rPr>
                          <m:t>MHz</m:t>
                        </m:r>
                      </m:num>
                      <m:den>
                        <m:r>
                          <m:rPr>
                            <m:sty m:val="p"/>
                          </m:rPr>
                          <a:rPr lang="en-US" b="0" i="0" smtClean="0">
                            <a:latin typeface="Cambria Math" panose="02040503050406030204" pitchFamily="18" charset="0"/>
                          </a:rPr>
                          <m:t>PSC</m:t>
                        </m:r>
                        <m:r>
                          <a:rPr lang="en-US" b="0" i="0" smtClean="0">
                            <a:latin typeface="Cambria Math" panose="02040503050406030204" pitchFamily="18" charset="0"/>
                          </a:rPr>
                          <m:t>+1 </m:t>
                        </m:r>
                      </m:den>
                    </m:f>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0" smtClean="0">
                                <a:latin typeface="Cambria Math" panose="02040503050406030204" pitchFamily="18" charset="0"/>
                              </a:rPr>
                              <m:t>400</m:t>
                            </m:r>
                            <m:r>
                              <m:rPr>
                                <m:sty m:val="p"/>
                              </m:rPr>
                              <a:rPr lang="en-US" b="0" i="0" smtClean="0">
                                <a:latin typeface="Cambria Math" panose="02040503050406030204" pitchFamily="18" charset="0"/>
                              </a:rPr>
                              <m:t>MHz</m:t>
                            </m:r>
                          </m:num>
                          <m:den>
                            <m:r>
                              <a:rPr lang="en-US" b="0" i="0" smtClean="0">
                                <a:latin typeface="Cambria Math" panose="02040503050406030204" pitchFamily="18" charset="0"/>
                              </a:rPr>
                              <m:t>65536</m:t>
                            </m:r>
                          </m:den>
                        </m:f>
                        <m:r>
                          <a:rPr lang="en-US" b="0" i="0" smtClean="0">
                            <a:latin typeface="Cambria Math" panose="02040503050406030204" pitchFamily="18" charset="0"/>
                          </a:rPr>
                          <m:t>,</m:t>
                        </m:r>
                        <m:f>
                          <m:fPr>
                            <m:ctrlPr>
                              <a:rPr lang="en-US" b="0" i="1" smtClean="0">
                                <a:latin typeface="Cambria Math" panose="02040503050406030204" pitchFamily="18" charset="0"/>
                              </a:rPr>
                            </m:ctrlPr>
                          </m:fPr>
                          <m:num>
                            <m:r>
                              <a:rPr lang="en-US" b="0" i="0" smtClean="0">
                                <a:latin typeface="Cambria Math" panose="02040503050406030204" pitchFamily="18" charset="0"/>
                              </a:rPr>
                              <m:t>400</m:t>
                            </m:r>
                            <m:r>
                              <m:rPr>
                                <m:sty m:val="p"/>
                              </m:rPr>
                              <a:rPr lang="en-US" b="0" i="0" smtClean="0">
                                <a:latin typeface="Cambria Math" panose="02040503050406030204" pitchFamily="18" charset="0"/>
                              </a:rPr>
                              <m:t>MHz</m:t>
                            </m:r>
                          </m:num>
                          <m:den>
                            <m:r>
                              <a:rPr lang="en-US" b="0" i="0" smtClean="0">
                                <a:latin typeface="Cambria Math" panose="02040503050406030204" pitchFamily="18" charset="0"/>
                              </a:rPr>
                              <m:t>1</m:t>
                            </m:r>
                          </m:den>
                        </m:f>
                      </m:e>
                    </m:d>
                    <m:r>
                      <a:rPr lang="en-US" b="0" i="0" smtClean="0">
                        <a:latin typeface="Cambria Math" panose="02040503050406030204" pitchFamily="18" charset="0"/>
                      </a:rPr>
                      <m:t>=[6.1 </m:t>
                    </m:r>
                    <m:r>
                      <m:rPr>
                        <m:sty m:val="p"/>
                      </m:rPr>
                      <a:rPr lang="en-US" b="0" i="0" smtClean="0">
                        <a:latin typeface="Cambria Math" panose="02040503050406030204" pitchFamily="18" charset="0"/>
                      </a:rPr>
                      <m:t>KHz</m:t>
                    </m:r>
                    <m:r>
                      <a:rPr lang="en-US" b="0" i="0" smtClean="0">
                        <a:latin typeface="Cambria Math" panose="02040503050406030204" pitchFamily="18" charset="0"/>
                      </a:rPr>
                      <m:t>, 400</m:t>
                    </m:r>
                    <m:r>
                      <m:rPr>
                        <m:sty m:val="p"/>
                      </m:rPr>
                      <a:rPr lang="en-US" b="0" i="0" smtClean="0">
                        <a:latin typeface="Cambria Math" panose="02040503050406030204" pitchFamily="18" charset="0"/>
                      </a:rPr>
                      <m:t>MHz</m:t>
                    </m:r>
                    <m:r>
                      <a:rPr lang="en-US" b="0" i="0" smtClean="0">
                        <a:latin typeface="Cambria Math" panose="02040503050406030204" pitchFamily="18" charset="0"/>
                      </a:rPr>
                      <m:t>]</m:t>
                    </m:r>
                  </m:oMath>
                </a14:m>
                <a:endParaRPr lang="en-US" dirty="0"/>
              </a:p>
            </p:txBody>
          </p:sp>
        </mc:Choice>
        <mc:Fallback xmlns="">
          <p:sp>
            <p:nvSpPr>
              <p:cNvPr id="5" name="Rectangle 4"/>
              <p:cNvSpPr>
                <a:spLocks noRot="1" noChangeAspect="1" noMove="1" noResize="1" noEditPoints="1" noAdjustHandles="1" noChangeArrowheads="1" noChangeShapeType="1" noTextEdit="1"/>
              </p:cNvSpPr>
              <p:nvPr/>
            </p:nvSpPr>
            <p:spPr>
              <a:xfrm>
                <a:off x="762000" y="3441480"/>
                <a:ext cx="7162800" cy="504818"/>
              </a:xfrm>
              <a:prstGeom prst="rect">
                <a:avLst/>
              </a:prstGeom>
              <a:blipFill>
                <a:blip r:embed="rId2"/>
                <a:stretch>
                  <a:fillRect b="-609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685800" y="4244280"/>
                <a:ext cx="6464975" cy="7087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r>
                        <a:rPr lang="en-US" b="0" i="1" baseline="-25000" smtClean="0">
                          <a:latin typeface="Cambria Math" panose="02040503050406030204" pitchFamily="18" charset="0"/>
                        </a:rPr>
                        <m:t>𝑇𝑖𝑚𝑒𝑟</m:t>
                      </m:r>
                      <m:r>
                        <a:rPr lang="en-US">
                          <a:latin typeface="Cambria Math" panose="02040503050406030204" pitchFamily="18" charset="0"/>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num>
                        <m:den>
                          <m:r>
                            <a:rPr lang="en-US" i="1">
                              <a:solidFill>
                                <a:prstClr val="black"/>
                              </a:solidFill>
                              <a:latin typeface="Cambria Math" panose="02040503050406030204" pitchFamily="18" charset="0"/>
                            </a:rPr>
                            <m:t>𝐴𝑅𝑅</m:t>
                          </m:r>
                          <m:r>
                            <a:rPr lang="en-US" b="0" i="1" smtClean="0">
                              <a:solidFill>
                                <a:prstClr val="black"/>
                              </a:solidFill>
                              <a:latin typeface="Cambria Math" panose="02040503050406030204" pitchFamily="18" charset="0"/>
                            </a:rPr>
                            <m:t>+1</m:t>
                          </m:r>
                        </m:den>
                      </m:f>
                      <m:r>
                        <a:rPr lang="en-US" i="1">
                          <a:latin typeface="Cambria Math" panose="02040503050406030204" pitchFamily="18" charset="0"/>
                        </a:rPr>
                        <m:t>∈</m:t>
                      </m:r>
                      <m:d>
                        <m:dPr>
                          <m:begChr m:val="["/>
                          <m:endChr m:val="]"/>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6.1</m:t>
                              </m:r>
                              <m:r>
                                <a:rPr lang="en-US" b="0" i="1" smtClean="0">
                                  <a:latin typeface="Cambria Math" panose="02040503050406030204" pitchFamily="18" charset="0"/>
                                </a:rPr>
                                <m:t>𝐾𝐻𝑧</m:t>
                              </m:r>
                            </m:num>
                            <m:den>
                              <m:r>
                                <a:rPr lang="en-US" b="0" i="1" smtClean="0">
                                  <a:latin typeface="Cambria Math" panose="02040503050406030204" pitchFamily="18" charset="0"/>
                                </a:rPr>
                                <m:t>65536</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400</m:t>
                              </m:r>
                              <m:r>
                                <a:rPr lang="en-US" b="0" i="1" smtClean="0">
                                  <a:latin typeface="Cambria Math" panose="02040503050406030204" pitchFamily="18" charset="0"/>
                                </a:rPr>
                                <m:t>𝑀𝐻𝑧</m:t>
                              </m:r>
                            </m:num>
                            <m:den>
                              <m:r>
                                <a:rPr lang="en-US" b="0" i="1" smtClean="0">
                                  <a:latin typeface="Cambria Math" panose="02040503050406030204" pitchFamily="18" charset="0"/>
                                </a:rPr>
                                <m:t>1</m:t>
                              </m:r>
                            </m:den>
                          </m:f>
                        </m:e>
                      </m:d>
                      <m:r>
                        <a:rPr lang="en-US" i="1">
                          <a:solidFill>
                            <a:prstClr val="black"/>
                          </a:solidFill>
                          <a:latin typeface="Cambria Math" panose="02040503050406030204" pitchFamily="18" charset="0"/>
                        </a:rPr>
                        <m:t>=</m:t>
                      </m:r>
                      <m:r>
                        <a:rPr lang="en-US" b="0" i="1" smtClean="0">
                          <a:solidFill>
                            <a:prstClr val="black"/>
                          </a:solidFill>
                          <a:latin typeface="Cambria Math" panose="02040503050406030204" pitchFamily="18" charset="0"/>
                        </a:rPr>
                        <m:t>[0.09</m:t>
                      </m:r>
                      <m:r>
                        <a:rPr lang="en-US" b="0" i="1" smtClean="0">
                          <a:solidFill>
                            <a:prstClr val="black"/>
                          </a:solidFill>
                          <a:latin typeface="Cambria Math" panose="02040503050406030204" pitchFamily="18" charset="0"/>
                        </a:rPr>
                        <m:t>𝐻𝑧</m:t>
                      </m:r>
                      <m:r>
                        <a:rPr lang="en-US" b="0" i="1" smtClean="0">
                          <a:solidFill>
                            <a:prstClr val="black"/>
                          </a:solidFill>
                          <a:latin typeface="Cambria Math" panose="02040503050406030204" pitchFamily="18" charset="0"/>
                        </a:rPr>
                        <m:t>, 400 </m:t>
                      </m:r>
                      <m:r>
                        <a:rPr lang="en-US" b="0" i="1" smtClean="0">
                          <a:solidFill>
                            <a:prstClr val="black"/>
                          </a:solidFill>
                          <a:latin typeface="Cambria Math" panose="02040503050406030204" pitchFamily="18" charset="0"/>
                        </a:rPr>
                        <m:t>𝑀𝐻𝑧</m:t>
                      </m:r>
                      <m:r>
                        <a:rPr lang="en-US" b="0" i="1" smtClean="0">
                          <a:solidFill>
                            <a:prstClr val="black"/>
                          </a:solidFill>
                          <a:latin typeface="Cambria Math" panose="02040503050406030204" pitchFamily="18" charset="0"/>
                        </a:rPr>
                        <m:t>]</m:t>
                      </m:r>
                    </m:oMath>
                  </m:oMathPara>
                </a14:m>
                <a:endParaRPr lang="en-US" dirty="0"/>
              </a:p>
            </p:txBody>
          </p:sp>
        </mc:Choice>
        <mc:Fallback xmlns="">
          <p:sp>
            <p:nvSpPr>
              <p:cNvPr id="10" name="Rectangle 9"/>
              <p:cNvSpPr>
                <a:spLocks noRot="1" noChangeAspect="1" noMove="1" noResize="1" noEditPoints="1" noAdjustHandles="1" noChangeArrowheads="1" noChangeShapeType="1" noTextEdit="1"/>
              </p:cNvSpPr>
              <p:nvPr/>
            </p:nvSpPr>
            <p:spPr>
              <a:xfrm>
                <a:off x="685800" y="4244280"/>
                <a:ext cx="6464975" cy="708720"/>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1071151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PWM duty cycle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12</a:t>
            </a:fld>
            <a:endParaRPr kumimoji="0" lang="en-US" dirty="0"/>
          </a:p>
        </p:txBody>
      </p:sp>
      <p:sp>
        <p:nvSpPr>
          <p:cNvPr id="4" name="Content Placeholder 3"/>
          <p:cNvSpPr>
            <a:spLocks noGrp="1"/>
          </p:cNvSpPr>
          <p:nvPr>
            <p:ph sz="quarter" idx="1"/>
          </p:nvPr>
        </p:nvSpPr>
        <p:spPr/>
        <p:txBody>
          <a:bodyPr/>
          <a:lstStyle/>
          <a:p>
            <a:pPr lvl="0"/>
            <a:r>
              <a:rPr lang="en-US" sz="2800" dirty="0"/>
              <a:t>Suppose a 16-bit timer has the following setting</a:t>
            </a:r>
            <a:r>
              <a:rPr lang="en-US" altLang="zh-CN" sz="2800" dirty="0"/>
              <a:t>s</a:t>
            </a:r>
            <a:r>
              <a:rPr lang="en-US" sz="2800" dirty="0"/>
              <a:t> </a:t>
            </a:r>
          </a:p>
          <a:p>
            <a:pPr lvl="2"/>
            <a:r>
              <a:rPr lang="en-US" sz="2100" dirty="0"/>
              <a:t>CPU Clock frequency is 16 </a:t>
            </a:r>
            <a:r>
              <a:rPr lang="en-US" sz="2100" dirty="0" err="1"/>
              <a:t>MHz.</a:t>
            </a:r>
            <a:r>
              <a:rPr lang="en-US" sz="2100" dirty="0"/>
              <a:t> </a:t>
            </a:r>
          </a:p>
          <a:p>
            <a:pPr lvl="2"/>
            <a:r>
              <a:rPr lang="en-US" sz="2100" dirty="0" err="1"/>
              <a:t>Prescaler</a:t>
            </a:r>
            <a:r>
              <a:rPr lang="en-US" sz="2100" dirty="0"/>
              <a:t> PSC = 159</a:t>
            </a:r>
          </a:p>
          <a:p>
            <a:pPr lvl="2"/>
            <a:r>
              <a:rPr lang="en-US" sz="2100" dirty="0"/>
              <a:t>ARR = 1999</a:t>
            </a:r>
          </a:p>
          <a:p>
            <a:pPr lvl="2"/>
            <a:r>
              <a:rPr lang="en-US" sz="2100" dirty="0"/>
              <a:t>CCR = 499</a:t>
            </a:r>
          </a:p>
          <a:p>
            <a:pPr lvl="2"/>
            <a:r>
              <a:rPr lang="en-US" sz="2100" dirty="0"/>
              <a:t>Counting direction: up-counting</a:t>
            </a:r>
          </a:p>
          <a:p>
            <a:pPr lvl="2"/>
            <a:r>
              <a:rPr lang="en-US" sz="2100" dirty="0"/>
              <a:t>Output is set as PWM Mode 2 (High True).</a:t>
            </a:r>
          </a:p>
          <a:p>
            <a:r>
              <a:rPr lang="en-US" sz="2800" b="1" dirty="0"/>
              <a:t> </a:t>
            </a:r>
            <a:r>
              <a:rPr lang="en-US" sz="2800" dirty="0"/>
              <a:t>Calculate the timer frequency and PWM duty cycle.</a:t>
            </a:r>
            <a:endParaRPr lang="en-US" dirty="0"/>
          </a:p>
        </p:txBody>
      </p:sp>
    </p:spTree>
    <p:extLst>
      <p:ext uri="{BB962C8B-B14F-4D97-AF65-F5344CB8AC3E}">
        <p14:creationId xmlns:p14="http://schemas.microsoft.com/office/powerpoint/2010/main" val="25737253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EA7C8D44-3667-46F6-9772-CC52308E2A7F}" type="slidenum">
              <a:rPr kumimoji="0" lang="en-US" smtClean="0"/>
              <a:pPr/>
              <a:t>13</a:t>
            </a:fld>
            <a:endParaRPr kumimoji="0" lang="en-US" dirty="0"/>
          </a:p>
        </p:txBody>
      </p:sp>
      <p:sp>
        <p:nvSpPr>
          <p:cNvPr id="4" name="Content Placeholder 3"/>
          <p:cNvSpPr>
            <a:spLocks noGrp="1"/>
          </p:cNvSpPr>
          <p:nvPr>
            <p:ph sz="quarter" idx="1"/>
          </p:nvPr>
        </p:nvSpPr>
        <p:spPr>
          <a:xfrm>
            <a:off x="457200" y="1219200"/>
            <a:ext cx="8229600" cy="2133600"/>
          </a:xfrm>
        </p:spPr>
        <p:txBody>
          <a:bodyPr>
            <a:normAutofit fontScale="70000" lnSpcReduction="20000"/>
          </a:bodyPr>
          <a:lstStyle/>
          <a:p>
            <a:pPr lvl="0"/>
            <a:r>
              <a:rPr lang="en-US" sz="2800" dirty="0"/>
              <a:t>Suppose a 16-bit timer has the following setting </a:t>
            </a:r>
          </a:p>
          <a:p>
            <a:pPr lvl="2"/>
            <a:r>
              <a:rPr lang="en-US" sz="2100" dirty="0"/>
              <a:t>CPU clock frequency is 16 </a:t>
            </a:r>
            <a:r>
              <a:rPr lang="en-US" sz="2100" dirty="0" err="1"/>
              <a:t>MHz.</a:t>
            </a:r>
            <a:r>
              <a:rPr lang="en-US" sz="2100" dirty="0"/>
              <a:t> </a:t>
            </a:r>
          </a:p>
          <a:p>
            <a:pPr lvl="2"/>
            <a:r>
              <a:rPr lang="en-US" sz="2100" dirty="0" err="1"/>
              <a:t>Prescaler</a:t>
            </a:r>
            <a:r>
              <a:rPr lang="en-US" sz="2100" dirty="0"/>
              <a:t> PSC = 159</a:t>
            </a:r>
          </a:p>
          <a:p>
            <a:pPr lvl="2"/>
            <a:r>
              <a:rPr lang="en-US" sz="2100" dirty="0"/>
              <a:t>ARR = 1999</a:t>
            </a:r>
          </a:p>
          <a:p>
            <a:pPr lvl="2"/>
            <a:r>
              <a:rPr lang="en-US" sz="2100" dirty="0"/>
              <a:t>CCR = 499</a:t>
            </a:r>
          </a:p>
          <a:p>
            <a:pPr lvl="2"/>
            <a:r>
              <a:rPr lang="en-US" sz="2100" dirty="0"/>
              <a:t>Counting direction: up-counting</a:t>
            </a:r>
          </a:p>
          <a:p>
            <a:pPr lvl="2"/>
            <a:r>
              <a:rPr lang="en-US" sz="2100" dirty="0"/>
              <a:t>Output is set as PWM Mode 2 (High True).</a:t>
            </a:r>
          </a:p>
          <a:p>
            <a:r>
              <a:rPr lang="en-US" sz="2800" b="1" dirty="0"/>
              <a:t> </a:t>
            </a:r>
            <a:r>
              <a:rPr lang="en-US" sz="2800" dirty="0"/>
              <a:t>Calculate the timer frequency and PWM duty cycle.</a:t>
            </a:r>
            <a:endParaRPr lang="en-US" dirty="0"/>
          </a:p>
        </p:txBody>
      </p:sp>
      <p:sp>
        <p:nvSpPr>
          <p:cNvPr id="5" name="Title 4"/>
          <p:cNvSpPr>
            <a:spLocks noGrp="1"/>
          </p:cNvSpPr>
          <p:nvPr>
            <p:ph type="title"/>
          </p:nvPr>
        </p:nvSpPr>
        <p:spPr/>
        <p:txBody>
          <a:bodyPr/>
          <a:lstStyle/>
          <a:p>
            <a:r>
              <a:rPr lang="en-US"/>
              <a:t>PWM duty cycle ANS</a:t>
            </a:r>
            <a:endParaRPr lang="en-US" dirty="0"/>
          </a:p>
        </p:txBody>
      </p:sp>
      <mc:AlternateContent xmlns:mc="http://schemas.openxmlformats.org/markup-compatibility/2006" xmlns:a14="http://schemas.microsoft.com/office/drawing/2010/main">
        <mc:Choice Requires="a14">
          <p:sp>
            <p:nvSpPr>
              <p:cNvPr id="6" name="Rectangle 5"/>
              <p:cNvSpPr/>
              <p:nvPr/>
            </p:nvSpPr>
            <p:spPr>
              <a:xfrm>
                <a:off x="807159" y="3376415"/>
                <a:ext cx="7117641" cy="498085"/>
              </a:xfrm>
              <a:prstGeom prst="rect">
                <a:avLst/>
              </a:prstGeom>
            </p:spPr>
            <p:txBody>
              <a:bodyPr wrap="square">
                <a:spAutoFit/>
              </a:bodyPr>
              <a:lstStyle/>
              <a:p>
                <a14:m>
                  <m:oMath xmlns:m="http://schemas.openxmlformats.org/officeDocument/2006/math">
                    <m:sSub>
                      <m:sSubPr>
                        <m:ctrlPr>
                          <a:rPr lang="en-US" i="1" smtClean="0">
                            <a:solidFill>
                              <a:prstClr val="black"/>
                            </a:solidFill>
                            <a:latin typeface="Cambria Math" panose="02040503050406030204" pitchFamily="18" charset="0"/>
                          </a:rPr>
                        </m:ctrlPr>
                      </m:sSubPr>
                      <m:e>
                        <m:r>
                          <a:rPr lang="en-US" i="1">
                            <a:latin typeface="Cambria Math" panose="02040503050406030204" pitchFamily="18" charset="0"/>
                          </a:rPr>
                          <m:t>𝑇𝑖𝑚𝑒𝑟</m:t>
                        </m:r>
                        <m:r>
                          <a:rPr lang="en-US">
                            <a:latin typeface="Cambria Math" panose="02040503050406030204" pitchFamily="18" charset="0"/>
                          </a:rPr>
                          <m:t> </m:t>
                        </m:r>
                        <m:r>
                          <a:rPr lang="en-US" b="0" i="1" smtClean="0">
                            <a:latin typeface="Cambria Math" panose="02040503050406030204" pitchFamily="18" charset="0"/>
                          </a:rPr>
                          <m:t>𝐶𝑙𝑜𝑐𝑘</m:t>
                        </m:r>
                        <m:r>
                          <a:rPr lang="en-US" b="0" i="1" smtClean="0">
                            <a:latin typeface="Cambria Math" panose="02040503050406030204" pitchFamily="18" charset="0"/>
                          </a:rPr>
                          <m:t> </m:t>
                        </m:r>
                        <m:r>
                          <a:rPr lang="en-US" b="0" i="1" smtClean="0">
                            <a:latin typeface="Cambria Math" panose="02040503050406030204" pitchFamily="18" charset="0"/>
                          </a:rPr>
                          <m:t>𝐹𝑟𝑒𝑞</m:t>
                        </m:r>
                        <m:r>
                          <a:rPr lang="en-US" b="0" i="1" smtClean="0">
                            <a:latin typeface="Cambria Math" panose="02040503050406030204" pitchFamily="18" charset="0"/>
                          </a:rPr>
                          <m:t> </m:t>
                        </m:r>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r>
                      <a:rPr lang="en-US" i="1">
                        <a:solidFill>
                          <a:prstClr val="black"/>
                        </a:solidFill>
                        <a:latin typeface="Cambria Math"/>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m:t>
                            </m:r>
                            <m:r>
                              <a:rPr lang="en-US" b="0" i="1" smtClean="0">
                                <a:solidFill>
                                  <a:prstClr val="black"/>
                                </a:solidFill>
                                <a:latin typeface="Cambria Math" panose="02040503050406030204" pitchFamily="18" charset="0"/>
                              </a:rPr>
                              <m:t>𝐾</m:t>
                            </m:r>
                            <m:r>
                              <a:rPr lang="en-US" i="1">
                                <a:solidFill>
                                  <a:prstClr val="black"/>
                                </a:solidFill>
                                <a:latin typeface="Cambria Math"/>
                              </a:rPr>
                              <m:t>_</m:t>
                            </m:r>
                            <m:r>
                              <a:rPr lang="en-US" i="1">
                                <a:solidFill>
                                  <a:prstClr val="black"/>
                                </a:solidFill>
                                <a:latin typeface="Cambria Math"/>
                              </a:rPr>
                              <m:t>𝑃𝑆𝐶</m:t>
                            </m:r>
                          </m:sub>
                        </m:sSub>
                      </m:num>
                      <m:den>
                        <m:r>
                          <a:rPr lang="en-US" i="1">
                            <a:solidFill>
                              <a:prstClr val="black"/>
                            </a:solidFill>
                            <a:latin typeface="Cambria Math" panose="02040503050406030204" pitchFamily="18" charset="0"/>
                          </a:rPr>
                          <m:t>𝑃𝑆𝐶</m:t>
                        </m:r>
                        <m:r>
                          <a:rPr lang="en-US" i="1">
                            <a:solidFill>
                              <a:prstClr val="black"/>
                            </a:solidFill>
                            <a:latin typeface="Cambria Math"/>
                          </a:rPr>
                          <m:t>+1</m:t>
                        </m:r>
                      </m:den>
                    </m:f>
                  </m:oMath>
                </a14:m>
                <a:r>
                  <a:rPr lang="en-US" altLang="zh-CN" dirty="0">
                    <a:solidFill>
                      <a:prstClr val="black"/>
                    </a:solidFill>
                  </a:rPr>
                  <a:t>=</a:t>
                </a:r>
                <a14:m>
                  <m:oMath xmlns:m="http://schemas.openxmlformats.org/officeDocument/2006/math">
                    <m:r>
                      <a:rPr lang="en-US" i="0">
                        <a:latin typeface="Cambria Math" panose="02040503050406030204" pitchFamily="18" charset="0"/>
                      </a:rPr>
                      <m:t> </m:t>
                    </m:r>
                    <m:f>
                      <m:fPr>
                        <m:ctrlPr>
                          <a:rPr lang="en-US" i="1">
                            <a:latin typeface="Cambria Math" panose="02040503050406030204" pitchFamily="18" charset="0"/>
                          </a:rPr>
                        </m:ctrlPr>
                      </m:fPr>
                      <m:num>
                        <m:r>
                          <a:rPr lang="en-US" i="0">
                            <a:latin typeface="Cambria Math" panose="02040503050406030204" pitchFamily="18" charset="0"/>
                          </a:rPr>
                          <m:t>16 </m:t>
                        </m:r>
                        <m:r>
                          <a:rPr lang="en-US" i="1">
                            <a:latin typeface="Cambria Math" panose="02040503050406030204" pitchFamily="18" charset="0"/>
                          </a:rPr>
                          <m:t>𝑀𝐻𝑧</m:t>
                        </m:r>
                      </m:num>
                      <m:den>
                        <m:r>
                          <a:rPr lang="en-US" i="0">
                            <a:latin typeface="Cambria Math" panose="02040503050406030204" pitchFamily="18" charset="0"/>
                          </a:rPr>
                          <m:t>159</m:t>
                        </m:r>
                        <m:r>
                          <a:rPr lang="en-US" b="0" i="0" smtClean="0">
                            <a:latin typeface="Cambria Math" panose="02040503050406030204" pitchFamily="18" charset="0"/>
                          </a:rPr>
                          <m:t>+1</m:t>
                        </m:r>
                        <m:r>
                          <a:rPr lang="en-US" i="0">
                            <a:latin typeface="Cambria Math" panose="02040503050406030204" pitchFamily="18" charset="0"/>
                          </a:rPr>
                          <m:t> </m:t>
                        </m:r>
                      </m:den>
                    </m:f>
                    <m:r>
                      <a:rPr lang="en-US" i="0">
                        <a:latin typeface="Cambria Math" panose="02040503050406030204" pitchFamily="18" charset="0"/>
                      </a:rPr>
                      <m:t>=0.1</m:t>
                    </m:r>
                    <m:r>
                      <a:rPr lang="en-US" i="1">
                        <a:latin typeface="Cambria Math" panose="02040503050406030204" pitchFamily="18" charset="0"/>
                      </a:rPr>
                      <m:t>𝑀𝐻𝑧</m:t>
                    </m:r>
                  </m:oMath>
                </a14:m>
                <a:endParaRPr lang="en-US" dirty="0"/>
              </a:p>
            </p:txBody>
          </p:sp>
        </mc:Choice>
        <mc:Fallback xmlns="">
          <p:sp>
            <p:nvSpPr>
              <p:cNvPr id="6" name="Rectangle 5"/>
              <p:cNvSpPr>
                <a:spLocks noRot="1" noChangeAspect="1" noMove="1" noResize="1" noEditPoints="1" noAdjustHandles="1" noChangeArrowheads="1" noChangeShapeType="1" noTextEdit="1"/>
              </p:cNvSpPr>
              <p:nvPr/>
            </p:nvSpPr>
            <p:spPr>
              <a:xfrm>
                <a:off x="807159" y="3376415"/>
                <a:ext cx="7117641" cy="498085"/>
              </a:xfrm>
              <a:prstGeom prst="rect">
                <a:avLst/>
              </a:prstGeom>
              <a:blipFill>
                <a:blip r:embed="rId2"/>
                <a:stretch>
                  <a:fillRect b="-609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807159" y="3973663"/>
                <a:ext cx="5309659" cy="62350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𝑇𝑖𝑚𝑒𝑟</m:t>
                      </m:r>
                      <m:r>
                        <a:rPr lang="en-US" i="0">
                          <a:latin typeface="Cambria Math" panose="02040503050406030204" pitchFamily="18" charset="0"/>
                        </a:rPr>
                        <m:t> </m:t>
                      </m:r>
                      <m:r>
                        <a:rPr lang="en-US" b="0" i="1" smtClean="0">
                          <a:latin typeface="Cambria Math" panose="02040503050406030204" pitchFamily="18" charset="0"/>
                        </a:rPr>
                        <m:t>𝐹</m:t>
                      </m:r>
                      <m:r>
                        <a:rPr lang="en-US" i="1">
                          <a:latin typeface="Cambria Math" panose="02040503050406030204" pitchFamily="18" charset="0"/>
                        </a:rPr>
                        <m:t>𝑟𝑒𝑞</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𝑇𝑖𝑚𝑒𝑟</m:t>
                          </m:r>
                        </m:sub>
                      </m:sSub>
                      <m:r>
                        <a:rPr lang="en-US" i="0">
                          <a:latin typeface="Cambria Math" panose="02040503050406030204" pitchFamily="18" charset="0"/>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num>
                        <m:den>
                          <m:r>
                            <a:rPr lang="en-US" i="1">
                              <a:solidFill>
                                <a:prstClr val="black"/>
                              </a:solidFill>
                              <a:latin typeface="Cambria Math" panose="02040503050406030204" pitchFamily="18" charset="0"/>
                            </a:rPr>
                            <m:t>𝐴𝑅𝑅</m:t>
                          </m:r>
                          <m:r>
                            <a:rPr lang="en-US" i="1">
                              <a:solidFill>
                                <a:prstClr val="black"/>
                              </a:solidFill>
                              <a:latin typeface="Cambria Math" panose="02040503050406030204" pitchFamily="18" charset="0"/>
                            </a:rPr>
                            <m:t>+1</m:t>
                          </m:r>
                        </m:den>
                      </m:f>
                      <m:r>
                        <a:rPr lang="en-US" b="0" i="1" smtClean="0">
                          <a:solidFill>
                            <a:prstClr val="black"/>
                          </a:solidFill>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0.1 </m:t>
                          </m:r>
                          <m:r>
                            <a:rPr lang="en-US" i="1">
                              <a:latin typeface="Cambria Math" panose="02040503050406030204" pitchFamily="18" charset="0"/>
                            </a:rPr>
                            <m:t>𝑀𝐻𝑧</m:t>
                          </m:r>
                        </m:num>
                        <m:den>
                          <m:r>
                            <a:rPr lang="en-US" i="1">
                              <a:latin typeface="Cambria Math" panose="02040503050406030204" pitchFamily="18" charset="0"/>
                            </a:rPr>
                            <m:t>1999+1</m:t>
                          </m:r>
                        </m:den>
                      </m:f>
                      <m:r>
                        <a:rPr lang="en-US" i="1">
                          <a:latin typeface="Cambria Math" panose="02040503050406030204" pitchFamily="18" charset="0"/>
                        </a:rPr>
                        <m:t>=50</m:t>
                      </m:r>
                      <m:r>
                        <a:rPr lang="en-US" i="1">
                          <a:latin typeface="Cambria Math" panose="02040503050406030204" pitchFamily="18" charset="0"/>
                        </a:rPr>
                        <m:t>𝐻𝑧</m:t>
                      </m:r>
                    </m:oMath>
                  </m:oMathPara>
                </a14:m>
                <a:endParaRPr lang="en-US" i="1" dirty="0"/>
              </a:p>
            </p:txBody>
          </p:sp>
        </mc:Choice>
        <mc:Fallback xmlns="">
          <p:sp>
            <p:nvSpPr>
              <p:cNvPr id="7" name="Rectangle 6"/>
              <p:cNvSpPr>
                <a:spLocks noRot="1" noChangeAspect="1" noMove="1" noResize="1" noEditPoints="1" noAdjustHandles="1" noChangeArrowheads="1" noChangeShapeType="1" noTextEdit="1"/>
              </p:cNvSpPr>
              <p:nvPr/>
            </p:nvSpPr>
            <p:spPr>
              <a:xfrm>
                <a:off x="807159" y="3973663"/>
                <a:ext cx="5309659" cy="623504"/>
              </a:xfrm>
              <a:prstGeom prst="rect">
                <a:avLst/>
              </a:prstGeom>
              <a:blipFill>
                <a:blip r:embed="rId3"/>
                <a:stretch>
                  <a:fillRect/>
                </a:stretch>
              </a:blipFill>
            </p:spPr>
            <p:txBody>
              <a:bodyPr/>
              <a:lstStyle/>
              <a:p>
                <a:r>
                  <a:rPr lang="en-US">
                    <a:noFill/>
                  </a:rPr>
                  <a:t> </a:t>
                </a:r>
              </a:p>
            </p:txBody>
          </p:sp>
        </mc:Fallback>
      </mc:AlternateContent>
      <p:sp>
        <p:nvSpPr>
          <p:cNvPr id="8" name="Rectangle 7"/>
          <p:cNvSpPr/>
          <p:nvPr/>
        </p:nvSpPr>
        <p:spPr>
          <a:xfrm>
            <a:off x="640625" y="5410200"/>
            <a:ext cx="7868442" cy="707886"/>
          </a:xfrm>
          <a:prstGeom prst="rect">
            <a:avLst/>
          </a:prstGeom>
        </p:spPr>
        <p:txBody>
          <a:bodyPr wrap="square">
            <a:spAutoFit/>
          </a:bodyPr>
          <a:lstStyle/>
          <a:p>
            <a:pPr>
              <a:spcBef>
                <a:spcPts val="1000"/>
              </a:spcBef>
            </a:pPr>
            <a:r>
              <a:rPr lang="en-US" sz="2000" dirty="0">
                <a:latin typeface="Times New Roman" panose="02020603050405020304" pitchFamily="18" charset="0"/>
                <a:ea typeface="SimSun" panose="02010600030101010101" pitchFamily="2" charset="-122"/>
              </a:rPr>
              <a:t>PWM output is high on when the counter is 499, 500, 501, …, 1999, a total of 1501 cycles. (This statement is not required in the exam.)</a:t>
            </a:r>
          </a:p>
        </p:txBody>
      </p:sp>
      <mc:AlternateContent xmlns:mc="http://schemas.openxmlformats.org/markup-compatibility/2006" xmlns:a14="http://schemas.microsoft.com/office/drawing/2010/main">
        <mc:Choice Requires="a14">
          <p:sp>
            <p:nvSpPr>
              <p:cNvPr id="9" name="Rectangle 8"/>
              <p:cNvSpPr/>
              <p:nvPr/>
            </p:nvSpPr>
            <p:spPr>
              <a:xfrm>
                <a:off x="807159" y="4600977"/>
                <a:ext cx="6638099" cy="62292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𝐷𝑢𝑡𝑦</m:t>
                      </m:r>
                      <m:r>
                        <a:rPr lang="en-US" i="0">
                          <a:latin typeface="Cambria Math" panose="02040503050406030204" pitchFamily="18" charset="0"/>
                        </a:rPr>
                        <m:t> </m:t>
                      </m:r>
                      <m:r>
                        <a:rPr lang="en-US" i="1">
                          <a:latin typeface="Cambria Math" panose="02040503050406030204" pitchFamily="18" charset="0"/>
                        </a:rPr>
                        <m:t>𝐶𝑦𝑐𝑙𝑒</m:t>
                      </m:r>
                      <m:r>
                        <a:rPr lang="en-US" i="0">
                          <a:latin typeface="Cambria Math" panose="02040503050406030204" pitchFamily="18" charset="0"/>
                        </a:rPr>
                        <m:t>=</m:t>
                      </m:r>
                      <m:r>
                        <a:rPr lang="en-US" b="0" i="0" smtClean="0">
                          <a:latin typeface="Cambria Math" panose="02040503050406030204" pitchFamily="18" charset="0"/>
                        </a:rPr>
                        <m:t>1−</m:t>
                      </m:r>
                      <m:f>
                        <m:fPr>
                          <m:ctrlPr>
                            <a:rPr lang="en-US" b="0" i="1" smtClean="0">
                              <a:latin typeface="Cambria Math" panose="02040503050406030204" pitchFamily="18" charset="0"/>
                            </a:rPr>
                          </m:ctrlPr>
                        </m:fPr>
                        <m:num>
                          <m:r>
                            <a:rPr lang="en-US" b="0" i="1" smtClean="0">
                              <a:latin typeface="Cambria Math" panose="02040503050406030204" pitchFamily="18" charset="0"/>
                            </a:rPr>
                            <m:t>𝐶𝐶𝑅</m:t>
                          </m:r>
                        </m:num>
                        <m:den>
                          <m:r>
                            <a:rPr lang="en-US" b="0" i="1" smtClean="0">
                              <a:latin typeface="Cambria Math" panose="02040503050406030204" pitchFamily="18" charset="0"/>
                            </a:rPr>
                            <m:t>𝐴𝑅𝑅</m:t>
                          </m:r>
                          <m:r>
                            <a:rPr lang="en-US" b="0" i="1" smtClean="0">
                              <a:latin typeface="Cambria Math" panose="02040503050406030204" pitchFamily="18" charset="0"/>
                            </a:rPr>
                            <m:t>+1</m:t>
                          </m:r>
                        </m:den>
                      </m:f>
                      <m:r>
                        <a:rPr lang="en-US" b="0" i="0" smtClean="0">
                          <a:latin typeface="Cambria Math" panose="02040503050406030204" pitchFamily="18" charset="0"/>
                        </a:rPr>
                        <m:t>=</m:t>
                      </m:r>
                      <m:r>
                        <a:rPr lang="en-US" b="0" i="1" smtClean="0">
                          <a:latin typeface="Cambria Math" panose="02040503050406030204" pitchFamily="18" charset="0"/>
                        </a:rPr>
                        <m:t>1−</m:t>
                      </m:r>
                      <m:f>
                        <m:fPr>
                          <m:ctrlPr>
                            <a:rPr lang="en-US" b="0" i="1" smtClean="0">
                              <a:latin typeface="Cambria Math" panose="02040503050406030204" pitchFamily="18" charset="0"/>
                            </a:rPr>
                          </m:ctrlPr>
                        </m:fPr>
                        <m:num>
                          <m:r>
                            <a:rPr lang="en-US" b="0" i="1" smtClean="0">
                              <a:latin typeface="Cambria Math" panose="02040503050406030204" pitchFamily="18" charset="0"/>
                            </a:rPr>
                            <m:t>499</m:t>
                          </m:r>
                        </m:num>
                        <m:den>
                          <m:r>
                            <a:rPr lang="en-US" b="0" i="1" smtClean="0">
                              <a:latin typeface="Cambria Math" panose="02040503050406030204" pitchFamily="18" charset="0"/>
                            </a:rPr>
                            <m:t>1999+1</m:t>
                          </m:r>
                        </m:den>
                      </m:f>
                      <m:r>
                        <a:rPr lang="en-US" b="0" i="1" smtClean="0">
                          <a:latin typeface="Cambria Math" panose="02040503050406030204" pitchFamily="18" charset="0"/>
                        </a:rPr>
                        <m:t>=</m:t>
                      </m:r>
                      <m:f>
                        <m:fPr>
                          <m:ctrlPr>
                            <a:rPr lang="en-US" i="1">
                              <a:latin typeface="Cambria Math" panose="02040503050406030204" pitchFamily="18" charset="0"/>
                            </a:rPr>
                          </m:ctrlPr>
                        </m:fPr>
                        <m:num>
                          <m:r>
                            <a:rPr lang="en-US" i="0">
                              <a:latin typeface="Cambria Math" panose="02040503050406030204" pitchFamily="18" charset="0"/>
                            </a:rPr>
                            <m:t>1501</m:t>
                          </m:r>
                        </m:num>
                        <m:den>
                          <m:r>
                            <a:rPr lang="en-US" b="0" i="0" smtClean="0">
                              <a:latin typeface="Cambria Math" panose="02040503050406030204" pitchFamily="18" charset="0"/>
                            </a:rPr>
                            <m:t>2000</m:t>
                          </m:r>
                        </m:den>
                      </m:f>
                      <m:r>
                        <a:rPr lang="en-US" i="0">
                          <a:latin typeface="Cambria Math" panose="02040503050406030204" pitchFamily="18" charset="0"/>
                        </a:rPr>
                        <m:t>=75.05% </m:t>
                      </m:r>
                    </m:oMath>
                  </m:oMathPara>
                </a14:m>
                <a:endParaRPr lang="en-US" dirty="0"/>
              </a:p>
            </p:txBody>
          </p:sp>
        </mc:Choice>
        <mc:Fallback xmlns="">
          <p:sp>
            <p:nvSpPr>
              <p:cNvPr id="9" name="Rectangle 8"/>
              <p:cNvSpPr>
                <a:spLocks noRot="1" noChangeAspect="1" noMove="1" noResize="1" noEditPoints="1" noAdjustHandles="1" noChangeArrowheads="1" noChangeShapeType="1" noTextEdit="1"/>
              </p:cNvSpPr>
              <p:nvPr/>
            </p:nvSpPr>
            <p:spPr>
              <a:xfrm>
                <a:off x="807159" y="4600977"/>
                <a:ext cx="6638099" cy="622927"/>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2315990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237FA-AF0B-A9D5-0143-7F7F740ED378}"/>
              </a:ext>
            </a:extLst>
          </p:cNvPr>
          <p:cNvSpPr>
            <a:spLocks noGrp="1"/>
          </p:cNvSpPr>
          <p:nvPr>
            <p:ph type="title"/>
          </p:nvPr>
        </p:nvSpPr>
        <p:spPr/>
        <p:txBody>
          <a:bodyPr/>
          <a:lstStyle/>
          <a:p>
            <a:r>
              <a:rPr lang="en-US" dirty="0"/>
              <a:t>Timer</a:t>
            </a:r>
          </a:p>
        </p:txBody>
      </p:sp>
      <p:sp>
        <p:nvSpPr>
          <p:cNvPr id="3" name="Slide Number Placeholder 2">
            <a:extLst>
              <a:ext uri="{FF2B5EF4-FFF2-40B4-BE49-F238E27FC236}">
                <a16:creationId xmlns:a16="http://schemas.microsoft.com/office/drawing/2014/main" id="{9E4B925F-2AC7-4B00-818B-352DB6B02206}"/>
              </a:ext>
            </a:extLst>
          </p:cNvPr>
          <p:cNvSpPr>
            <a:spLocks noGrp="1"/>
          </p:cNvSpPr>
          <p:nvPr>
            <p:ph type="sldNum" sz="quarter" idx="12"/>
          </p:nvPr>
        </p:nvSpPr>
        <p:spPr/>
        <p:txBody>
          <a:bodyPr/>
          <a:lstStyle/>
          <a:p>
            <a:fld id="{EA7C8D44-3667-46F6-9772-CC52308E2A7F}" type="slidenum">
              <a:rPr kumimoji="0" lang="en-US" smtClean="0"/>
              <a:pPr/>
              <a:t>14</a:t>
            </a:fld>
            <a:endParaRPr kumimoji="0" lang="en-US" dirty="0"/>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93A465D7-A56D-2251-BB5D-10176AEAE2C1}"/>
                  </a:ext>
                </a:extLst>
              </p:cNvPr>
              <p:cNvSpPr>
                <a:spLocks noGrp="1"/>
              </p:cNvSpPr>
              <p:nvPr>
                <p:ph sz="quarter" idx="1"/>
              </p:nvPr>
            </p:nvSpPr>
            <p:spPr/>
            <p:txBody>
              <a:bodyPr>
                <a:normAutofit/>
              </a:bodyPr>
              <a:lstStyle/>
              <a:p>
                <a:r>
                  <a:rPr lang="en-US" dirty="0"/>
                  <a:t>If Timer clock frequency </a:t>
                </a:r>
                <a14:m>
                  <m:oMath xmlns:m="http://schemas.openxmlformats.org/officeDocument/2006/math">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oMath>
                </a14:m>
                <a:r>
                  <a:rPr lang="en-US" dirty="0"/>
                  <a:t> = 24 </a:t>
                </a:r>
                <a:r>
                  <a:rPr lang="en-US" dirty="0" err="1"/>
                  <a:t>Mhz</a:t>
                </a:r>
                <a:r>
                  <a:rPr lang="en-US" dirty="0"/>
                  <a:t>, Timer interrupt frequency </a:t>
                </a:r>
                <a14:m>
                  <m:oMath xmlns:m="http://schemas.openxmlformats.org/officeDocument/2006/math">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panose="02040503050406030204" pitchFamily="18" charset="0"/>
                          </a:rPr>
                          <m:t>𝑇𝑖𝑚𝑒𝑟</m:t>
                        </m:r>
                      </m:sub>
                    </m:sSub>
                    <m:r>
                      <a:rPr lang="en-US" i="1">
                        <a:solidFill>
                          <a:prstClr val="black"/>
                        </a:solidFill>
                        <a:latin typeface="Cambria Math" panose="02040503050406030204" pitchFamily="18" charset="0"/>
                      </a:rPr>
                      <m:t>=</m:t>
                    </m:r>
                    <m:r>
                      <a:rPr lang="en-US" b="0" i="1" smtClean="0">
                        <a:solidFill>
                          <a:prstClr val="black"/>
                        </a:solidFill>
                        <a:latin typeface="Cambria Math" panose="02040503050406030204" pitchFamily="18" charset="0"/>
                      </a:rPr>
                      <m:t>2</m:t>
                    </m:r>
                  </m:oMath>
                </a14:m>
                <a:r>
                  <a:rPr lang="en-US" dirty="0"/>
                  <a:t> KHz, what is the ARR (maximum timer counter value) </a:t>
                </a:r>
                <a:r>
                  <a:rPr lang="en-US" altLang="zh-CN" dirty="0"/>
                  <a:t>with </a:t>
                </a:r>
                <a:r>
                  <a:rPr lang="en-US" dirty="0"/>
                  <a:t>up-counting or down-counting mode? </a:t>
                </a:r>
              </a:p>
              <a:p>
                <a:pPr lvl="1"/>
                <a:r>
                  <a:rPr lang="en-US" dirty="0"/>
                  <a:t>ANS:  </a:t>
                </a:r>
                <a14:m>
                  <m:oMath xmlns:m="http://schemas.openxmlformats.org/officeDocument/2006/math">
                    <m:r>
                      <a:rPr lang="en-US" i="1">
                        <a:latin typeface="Cambria Math" panose="02040503050406030204" pitchFamily="18" charset="0"/>
                      </a:rPr>
                      <m:t>𝑓</m:t>
                    </m:r>
                    <m:r>
                      <a:rPr lang="en-US" i="1" baseline="-25000">
                        <a:latin typeface="Cambria Math" panose="02040503050406030204" pitchFamily="18" charset="0"/>
                      </a:rPr>
                      <m:t>𝑇𝑖𝑚𝑒𝑟</m:t>
                    </m:r>
                    <m:r>
                      <a:rPr lang="en-US"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a:rPr>
                              <m:t>𝑓</m:t>
                            </m:r>
                          </m:e>
                          <m:sub>
                            <m:r>
                              <a:rPr lang="en-US" i="1">
                                <a:latin typeface="Cambria Math"/>
                              </a:rPr>
                              <m:t>𝐶𝐾</m:t>
                            </m:r>
                            <m:r>
                              <a:rPr lang="en-US" i="1">
                                <a:latin typeface="Cambria Math"/>
                              </a:rPr>
                              <m:t>_</m:t>
                            </m:r>
                            <m:r>
                              <a:rPr lang="en-US" i="1">
                                <a:latin typeface="Cambria Math"/>
                              </a:rPr>
                              <m:t>𝐶𝑁𝑇</m:t>
                            </m:r>
                          </m:sub>
                        </m:sSub>
                      </m:num>
                      <m:den>
                        <m:r>
                          <a:rPr lang="en-US" i="1">
                            <a:latin typeface="Cambria Math" panose="02040503050406030204" pitchFamily="18" charset="0"/>
                          </a:rPr>
                          <m:t>𝐴𝑅𝑅</m:t>
                        </m:r>
                        <m:r>
                          <a:rPr lang="en-US" i="1">
                            <a:latin typeface="Cambria Math" panose="02040503050406030204" pitchFamily="18" charset="0"/>
                          </a:rPr>
                          <m:t>+1</m:t>
                        </m:r>
                      </m:den>
                    </m:f>
                    <m:r>
                      <a:rPr lang="en-US" i="1">
                        <a:latin typeface="Cambria Math" panose="02040503050406030204" pitchFamily="18" charset="0"/>
                      </a:rPr>
                      <m:t>, </m:t>
                    </m:r>
                    <m:r>
                      <a:rPr lang="en-US" i="1">
                        <a:latin typeface="Cambria Math" panose="02040503050406030204" pitchFamily="18" charset="0"/>
                      </a:rPr>
                      <m:t>𝐴𝑅𝑅</m:t>
                    </m:r>
                    <m:r>
                      <a:rPr lang="en-US"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a:rPr>
                              <m:t>𝑓</m:t>
                            </m:r>
                          </m:e>
                          <m:sub>
                            <m:r>
                              <a:rPr lang="en-US" i="1">
                                <a:latin typeface="Cambria Math"/>
                              </a:rPr>
                              <m:t>𝐶𝐾</m:t>
                            </m:r>
                            <m:r>
                              <a:rPr lang="en-US" i="1">
                                <a:latin typeface="Cambria Math"/>
                              </a:rPr>
                              <m:t>_</m:t>
                            </m:r>
                            <m:r>
                              <a:rPr lang="en-US" i="1">
                                <a:latin typeface="Cambria Math"/>
                              </a:rPr>
                              <m:t>𝐶𝑁𝑇</m:t>
                            </m:r>
                          </m:sub>
                        </m:sSub>
                      </m:num>
                      <m:den>
                        <m:sSub>
                          <m:sSubPr>
                            <m:ctrlPr>
                              <a:rPr lang="en-US" i="1">
                                <a:latin typeface="Cambria Math" panose="02040503050406030204" pitchFamily="18" charset="0"/>
                              </a:rPr>
                            </m:ctrlPr>
                          </m:sSubPr>
                          <m:e>
                            <m:r>
                              <a:rPr lang="en-US" i="1">
                                <a:latin typeface="Cambria Math"/>
                              </a:rPr>
                              <m:t>𝑓</m:t>
                            </m:r>
                          </m:e>
                          <m:sub>
                            <m:r>
                              <a:rPr lang="en-US" i="1">
                                <a:latin typeface="Cambria Math" panose="02040503050406030204" pitchFamily="18" charset="0"/>
                              </a:rPr>
                              <m:t>𝑇𝑖𝑚𝑒𝑟</m:t>
                            </m:r>
                          </m:sub>
                        </m:sSub>
                      </m:den>
                    </m:f>
                    <m:r>
                      <a:rPr lang="en-US" i="1">
                        <a:latin typeface="Cambria Math" panose="02040503050406030204" pitchFamily="18" charset="0"/>
                      </a:rPr>
                      <m:t>−1=</m:t>
                    </m:r>
                    <m:r>
                      <m:rPr>
                        <m:nor/>
                      </m:rPr>
                      <a:rPr lang="en-US" dirty="0"/>
                      <m:t> (24 </m:t>
                    </m:r>
                    <m:r>
                      <m:rPr>
                        <m:nor/>
                      </m:rPr>
                      <a:rPr lang="en-US" dirty="0"/>
                      <m:t>MHz</m:t>
                    </m:r>
                    <m:r>
                      <m:rPr>
                        <m:nor/>
                      </m:rPr>
                      <a:rPr lang="en-US" dirty="0"/>
                      <m:t>/2 </m:t>
                    </m:r>
                    <m:r>
                      <m:rPr>
                        <m:nor/>
                      </m:rPr>
                      <a:rPr lang="en-US" dirty="0"/>
                      <m:t>KHz</m:t>
                    </m:r>
                    <m:r>
                      <m:rPr>
                        <m:nor/>
                      </m:rPr>
                      <a:rPr lang="en-US" dirty="0"/>
                      <m:t>) − 1 = 11999</m:t>
                    </m:r>
                  </m:oMath>
                </a14:m>
                <a:endParaRPr lang="en-US" dirty="0"/>
              </a:p>
              <a:p>
                <a:r>
                  <a:rPr lang="en-US" dirty="0"/>
                  <a:t>Redo the problem for </a:t>
                </a:r>
                <a14:m>
                  <m:oMath xmlns:m="http://schemas.openxmlformats.org/officeDocument/2006/math">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panose="02040503050406030204" pitchFamily="18" charset="0"/>
                          </a:rPr>
                          <m:t>𝑇𝑖𝑚𝑒𝑟</m:t>
                        </m:r>
                      </m:sub>
                    </m:sSub>
                    <m:r>
                      <a:rPr lang="en-US" i="1">
                        <a:solidFill>
                          <a:prstClr val="black"/>
                        </a:solidFill>
                        <a:latin typeface="Cambria Math" panose="02040503050406030204" pitchFamily="18" charset="0"/>
                      </a:rPr>
                      <m:t>=</m:t>
                    </m:r>
                    <m:r>
                      <a:rPr lang="en-US" b="0" i="1" smtClean="0">
                        <a:solidFill>
                          <a:prstClr val="black"/>
                        </a:solidFill>
                        <a:latin typeface="Cambria Math" panose="02040503050406030204" pitchFamily="18" charset="0"/>
                      </a:rPr>
                      <m:t>10</m:t>
                    </m:r>
                  </m:oMath>
                </a14:m>
                <a:r>
                  <a:rPr lang="en-US" dirty="0"/>
                  <a:t> Hz. </a:t>
                </a:r>
              </a:p>
              <a:p>
                <a:pPr lvl="1"/>
                <a:r>
                  <a:rPr lang="en-US" dirty="0">
                    <a:solidFill>
                      <a:prstClr val="black"/>
                    </a:solidFill>
                  </a:rPr>
                  <a:t>ANS: </a:t>
                </a:r>
                <a14:m>
                  <m:oMath xmlns:m="http://schemas.openxmlformats.org/officeDocument/2006/math">
                    <m:r>
                      <a:rPr lang="en-US" i="1">
                        <a:solidFill>
                          <a:prstClr val="black"/>
                        </a:solidFill>
                        <a:latin typeface="Cambria Math" panose="02040503050406030204" pitchFamily="18" charset="0"/>
                      </a:rPr>
                      <m:t>𝐴𝑅𝑅</m:t>
                    </m:r>
                    <m:r>
                      <a:rPr lang="en-US" i="1">
                        <a:solidFill>
                          <a:prstClr val="black"/>
                        </a:solidFill>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a:rPr>
                              <m:t>𝑓</m:t>
                            </m:r>
                          </m:e>
                          <m:sub>
                            <m:r>
                              <a:rPr lang="en-US" i="1">
                                <a:latin typeface="Cambria Math"/>
                              </a:rPr>
                              <m:t>𝐶𝐾</m:t>
                            </m:r>
                            <m:r>
                              <a:rPr lang="en-US" i="1">
                                <a:latin typeface="Cambria Math"/>
                              </a:rPr>
                              <m:t>_</m:t>
                            </m:r>
                            <m:r>
                              <a:rPr lang="en-US" i="1">
                                <a:latin typeface="Cambria Math"/>
                              </a:rPr>
                              <m:t>𝐶𝑁𝑇</m:t>
                            </m:r>
                          </m:sub>
                        </m:sSub>
                      </m:num>
                      <m:den>
                        <m:sSub>
                          <m:sSubPr>
                            <m:ctrlPr>
                              <a:rPr lang="en-US" i="1">
                                <a:latin typeface="Cambria Math" panose="02040503050406030204" pitchFamily="18" charset="0"/>
                              </a:rPr>
                            </m:ctrlPr>
                          </m:sSubPr>
                          <m:e>
                            <m:r>
                              <a:rPr lang="en-US" i="1">
                                <a:latin typeface="Cambria Math"/>
                              </a:rPr>
                              <m:t>𝑓</m:t>
                            </m:r>
                          </m:e>
                          <m:sub>
                            <m:r>
                              <a:rPr lang="en-US" i="1">
                                <a:latin typeface="Cambria Math" panose="02040503050406030204" pitchFamily="18" charset="0"/>
                              </a:rPr>
                              <m:t>𝑇𝑖𝑚𝑒𝑟</m:t>
                            </m:r>
                          </m:sub>
                        </m:sSub>
                      </m:den>
                    </m:f>
                    <m:r>
                      <a:rPr lang="en-US" i="1">
                        <a:latin typeface="Cambria Math" panose="02040503050406030204" pitchFamily="18" charset="0"/>
                      </a:rPr>
                      <m:t>−1=</m:t>
                    </m:r>
                    <m:r>
                      <m:rPr>
                        <m:nor/>
                      </m:rPr>
                      <a:rPr lang="en-US" dirty="0"/>
                      <m:t> (24 </m:t>
                    </m:r>
                    <m:r>
                      <m:rPr>
                        <m:nor/>
                      </m:rPr>
                      <a:rPr lang="en-US" dirty="0"/>
                      <m:t>MHz</m:t>
                    </m:r>
                    <m:r>
                      <m:rPr>
                        <m:nor/>
                      </m:rPr>
                      <a:rPr lang="en-US" dirty="0"/>
                      <m:t>/10 </m:t>
                    </m:r>
                    <m:r>
                      <m:rPr>
                        <m:nor/>
                      </m:rPr>
                      <a:rPr lang="en-US" dirty="0"/>
                      <m:t>Hz</m:t>
                    </m:r>
                    <m:r>
                      <m:rPr>
                        <m:nor/>
                      </m:rPr>
                      <a:rPr lang="en-US" dirty="0"/>
                      <m:t>) − 1 = 2,399,999</m:t>
                    </m:r>
                  </m:oMath>
                </a14:m>
                <a:endParaRPr lang="en-US" dirty="0"/>
              </a:p>
            </p:txBody>
          </p:sp>
        </mc:Choice>
        <mc:Fallback>
          <p:sp>
            <p:nvSpPr>
              <p:cNvPr id="4" name="Content Placeholder 3">
                <a:extLst>
                  <a:ext uri="{FF2B5EF4-FFF2-40B4-BE49-F238E27FC236}">
                    <a16:creationId xmlns:a16="http://schemas.microsoft.com/office/drawing/2014/main" id="{93A465D7-A56D-2251-BB5D-10176AEAE2C1}"/>
                  </a:ext>
                </a:extLst>
              </p:cNvPr>
              <p:cNvSpPr>
                <a:spLocks noGrp="1" noRot="1" noChangeAspect="1" noMove="1" noResize="1" noEditPoints="1" noAdjustHandles="1" noChangeArrowheads="1" noChangeShapeType="1" noTextEdit="1"/>
              </p:cNvSpPr>
              <p:nvPr>
                <p:ph sz="quarter" idx="1"/>
              </p:nvPr>
            </p:nvSpPr>
            <p:spPr>
              <a:blipFill>
                <a:blip r:embed="rId3"/>
                <a:stretch>
                  <a:fillRect l="-667" t="-1111"/>
                </a:stretch>
              </a:blipFill>
            </p:spPr>
            <p:txBody>
              <a:bodyPr/>
              <a:lstStyle/>
              <a:p>
                <a:r>
                  <a:rPr lang="en-US">
                    <a:noFill/>
                  </a:rPr>
                  <a:t> </a:t>
                </a:r>
              </a:p>
            </p:txBody>
          </p:sp>
        </mc:Fallback>
      </mc:AlternateContent>
    </p:spTree>
    <p:extLst>
      <p:ext uri="{BB962C8B-B14F-4D97-AF65-F5344CB8AC3E}">
        <p14:creationId xmlns:p14="http://schemas.microsoft.com/office/powerpoint/2010/main" val="9310789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39476-B0A6-786E-4C09-FAF9C7A32F12}"/>
              </a:ext>
            </a:extLst>
          </p:cNvPr>
          <p:cNvSpPr>
            <a:spLocks noGrp="1"/>
          </p:cNvSpPr>
          <p:nvPr>
            <p:ph type="title"/>
          </p:nvPr>
        </p:nvSpPr>
        <p:spPr/>
        <p:txBody>
          <a:bodyPr/>
          <a:lstStyle/>
          <a:p>
            <a:r>
              <a:rPr lang="en-US" dirty="0"/>
              <a:t>Timer ANS</a:t>
            </a:r>
          </a:p>
        </p:txBody>
      </p:sp>
      <p:sp>
        <p:nvSpPr>
          <p:cNvPr id="3" name="Slide Number Placeholder 2">
            <a:extLst>
              <a:ext uri="{FF2B5EF4-FFF2-40B4-BE49-F238E27FC236}">
                <a16:creationId xmlns:a16="http://schemas.microsoft.com/office/drawing/2014/main" id="{45CE82D7-5259-D28B-CB38-9D7C3A50DC71}"/>
              </a:ext>
            </a:extLst>
          </p:cNvPr>
          <p:cNvSpPr>
            <a:spLocks noGrp="1"/>
          </p:cNvSpPr>
          <p:nvPr>
            <p:ph type="sldNum" sz="quarter" idx="12"/>
          </p:nvPr>
        </p:nvSpPr>
        <p:spPr/>
        <p:txBody>
          <a:bodyPr/>
          <a:lstStyle/>
          <a:p>
            <a:fld id="{EA7C8D44-3667-46F6-9772-CC52308E2A7F}" type="slidenum">
              <a:rPr kumimoji="0" lang="en-US" smtClean="0"/>
              <a:pPr/>
              <a:t>15</a:t>
            </a:fld>
            <a:endParaRPr kumimoji="0" lang="en-US" dirty="0"/>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8691F9C2-52EA-94A0-4F55-CF24C8688B3A}"/>
                  </a:ext>
                </a:extLst>
              </p:cNvPr>
              <p:cNvSpPr>
                <a:spLocks noGrp="1"/>
              </p:cNvSpPr>
              <p:nvPr>
                <p:ph sz="quarter" idx="1"/>
              </p:nvPr>
            </p:nvSpPr>
            <p:spPr/>
            <p:txBody>
              <a:bodyPr>
                <a:normAutofit lnSpcReduction="10000"/>
              </a:bodyPr>
              <a:lstStyle/>
              <a:p>
                <a:r>
                  <a:rPr lang="en-US" dirty="0"/>
                  <a:t>Q.  What value should you use for ARR to get a timer interrupt every 70 </a:t>
                </a:r>
                <a:r>
                  <a:rPr lang="en-US" dirty="0" err="1"/>
                  <a:t>ms</a:t>
                </a:r>
                <a:r>
                  <a:rPr lang="en-US" dirty="0"/>
                  <a:t> on a processor with CPU frequency of 100 MHz (no </a:t>
                </a:r>
                <a:r>
                  <a:rPr lang="en-US" dirty="0" err="1"/>
                  <a:t>prescaler</a:t>
                </a:r>
                <a:r>
                  <a:rPr lang="en-US" dirty="0"/>
                  <a:t>, PSC=0)?</a:t>
                </a:r>
              </a:p>
              <a:p>
                <a:pPr lvl="1"/>
                <a:r>
                  <a:rPr lang="en-US" dirty="0"/>
                  <a:t>ANS:  Timer frequency </a:t>
                </a:r>
                <a14:m>
                  <m:oMath xmlns:m="http://schemas.openxmlformats.org/officeDocument/2006/math">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panose="02040503050406030204" pitchFamily="18" charset="0"/>
                          </a:rPr>
                          <m:t>𝑇𝑖𝑚𝑒𝑟</m:t>
                        </m:r>
                      </m:sub>
                    </m:sSub>
                    <m:r>
                      <a:rPr lang="en-US" i="1">
                        <a:solidFill>
                          <a:prstClr val="black"/>
                        </a:solidFill>
                        <a:latin typeface="Cambria Math" panose="02040503050406030204" pitchFamily="18" charset="0"/>
                      </a:rPr>
                      <m:t>=</m:t>
                    </m:r>
                    <m:f>
                      <m:fPr>
                        <m:ctrlPr>
                          <a:rPr lang="en-US" i="1">
                            <a:solidFill>
                              <a:prstClr val="black"/>
                            </a:solidFill>
                            <a:latin typeface="Cambria Math" panose="02040503050406030204" pitchFamily="18" charset="0"/>
                          </a:rPr>
                        </m:ctrlPr>
                      </m:fPr>
                      <m:num>
                        <m:r>
                          <a:rPr lang="en-US" i="1">
                            <a:solidFill>
                              <a:prstClr val="black"/>
                            </a:solidFill>
                            <a:latin typeface="Cambria Math" panose="02040503050406030204" pitchFamily="18" charset="0"/>
                          </a:rPr>
                          <m:t>1</m:t>
                        </m:r>
                      </m:num>
                      <m:den>
                        <m:r>
                          <a:rPr lang="en-US" b="0" i="1" smtClean="0">
                            <a:solidFill>
                              <a:prstClr val="black"/>
                            </a:solidFill>
                            <a:latin typeface="Cambria Math" panose="02040503050406030204" pitchFamily="18" charset="0"/>
                          </a:rPr>
                          <m:t>𝑇𝑖𝑚𝑒𝑟</m:t>
                        </m:r>
                        <m:r>
                          <a:rPr lang="en-US" b="0" i="1" smtClean="0">
                            <a:solidFill>
                              <a:prstClr val="black"/>
                            </a:solidFill>
                            <a:latin typeface="Cambria Math" panose="02040503050406030204" pitchFamily="18" charset="0"/>
                          </a:rPr>
                          <m:t> </m:t>
                        </m:r>
                        <m:r>
                          <a:rPr lang="en-US" b="0" i="1" smtClean="0">
                            <a:solidFill>
                              <a:prstClr val="black"/>
                            </a:solidFill>
                            <a:latin typeface="Cambria Math" panose="02040503050406030204" pitchFamily="18" charset="0"/>
                          </a:rPr>
                          <m:t>𝑃𝑒𝑟𝑖𝑜𝑑</m:t>
                        </m:r>
                      </m:den>
                    </m:f>
                  </m:oMath>
                </a14:m>
                <a:r>
                  <a:rPr lang="en-US" dirty="0"/>
                  <a:t>. Timer period is determined by the formula:  T = (ARR + 1) / </a:t>
                </a:r>
                <a:r>
                  <a:rPr lang="en-US" dirty="0" err="1"/>
                  <a:t>CPU_frequency</a:t>
                </a:r>
                <a:r>
                  <a:rPr lang="en-US" dirty="0"/>
                  <a:t> (no </a:t>
                </a:r>
                <a:r>
                  <a:rPr lang="en-US" dirty="0" err="1"/>
                  <a:t>prescaler</a:t>
                </a:r>
                <a:r>
                  <a:rPr lang="en-US" dirty="0"/>
                  <a:t>, PSC=0)</a:t>
                </a:r>
              </a:p>
              <a:p>
                <a:pPr lvl="1"/>
                <a:r>
                  <a:rPr lang="en-US" dirty="0"/>
                  <a:t>ARR = (T * </a:t>
                </a:r>
                <a:r>
                  <a:rPr lang="en-US" dirty="0" err="1"/>
                  <a:t>CPU_frequency</a:t>
                </a:r>
                <a:r>
                  <a:rPr lang="en-US" dirty="0"/>
                  <a:t>) – 1 = (70 * 10</a:t>
                </a:r>
                <a:r>
                  <a:rPr lang="en-US" baseline="30000" dirty="0"/>
                  <a:t>-3</a:t>
                </a:r>
                <a:r>
                  <a:rPr lang="en-US" dirty="0"/>
                  <a:t> s) * (100 * 10</a:t>
                </a:r>
                <a:r>
                  <a:rPr lang="en-US" baseline="30000" dirty="0"/>
                  <a:t>6</a:t>
                </a:r>
                <a:r>
                  <a:rPr lang="en-US" dirty="0"/>
                  <a:t> cycles/s) - 1 = 6,999,999.</a:t>
                </a:r>
              </a:p>
              <a:p>
                <a:r>
                  <a:rPr lang="en-US" dirty="0"/>
                  <a:t>Q. What is the timer period, if you used the same ARR value on a 500 MHz processor?</a:t>
                </a:r>
              </a:p>
              <a:p>
                <a:pPr lvl="1"/>
                <a:r>
                  <a:rPr lang="en-US" dirty="0"/>
                  <a:t>ANS:  T = (ARR + 1) / </a:t>
                </a:r>
                <a:r>
                  <a:rPr lang="en-US" dirty="0" err="1"/>
                  <a:t>CPU_frequency</a:t>
                </a:r>
                <a:r>
                  <a:rPr lang="en-US" dirty="0"/>
                  <a:t> = (6,999,999 + 1) / (500 * 10</a:t>
                </a:r>
                <a:r>
                  <a:rPr lang="en-US" baseline="30000" dirty="0"/>
                  <a:t>6</a:t>
                </a:r>
                <a:r>
                  <a:rPr lang="en-US" dirty="0"/>
                  <a:t> cycles/s) = 0.014 s = 14 </a:t>
                </a:r>
                <a:r>
                  <a:rPr lang="en-US" dirty="0" err="1"/>
                  <a:t>ms</a:t>
                </a:r>
                <a:endParaRPr lang="en-US" dirty="0"/>
              </a:p>
            </p:txBody>
          </p:sp>
        </mc:Choice>
        <mc:Fallback>
          <p:sp>
            <p:nvSpPr>
              <p:cNvPr id="4" name="Content Placeholder 3">
                <a:extLst>
                  <a:ext uri="{FF2B5EF4-FFF2-40B4-BE49-F238E27FC236}">
                    <a16:creationId xmlns:a16="http://schemas.microsoft.com/office/drawing/2014/main" id="{8691F9C2-52EA-94A0-4F55-CF24C8688B3A}"/>
                  </a:ext>
                </a:extLst>
              </p:cNvPr>
              <p:cNvSpPr>
                <a:spLocks noGrp="1" noRot="1" noChangeAspect="1" noMove="1" noResize="1" noEditPoints="1" noAdjustHandles="1" noChangeArrowheads="1" noChangeShapeType="1" noTextEdit="1"/>
              </p:cNvSpPr>
              <p:nvPr>
                <p:ph sz="quarter" idx="1"/>
              </p:nvPr>
            </p:nvSpPr>
            <p:spPr>
              <a:blipFill>
                <a:blip r:embed="rId3"/>
                <a:stretch>
                  <a:fillRect l="-667" t="-1852" r="-1852"/>
                </a:stretch>
              </a:blipFill>
            </p:spPr>
            <p:txBody>
              <a:bodyPr/>
              <a:lstStyle/>
              <a:p>
                <a:r>
                  <a:rPr lang="en-US">
                    <a:noFill/>
                  </a:rPr>
                  <a:t> </a:t>
                </a:r>
              </a:p>
            </p:txBody>
          </p:sp>
        </mc:Fallback>
      </mc:AlternateContent>
    </p:spTree>
    <p:extLst>
      <p:ext uri="{BB962C8B-B14F-4D97-AF65-F5344CB8AC3E}">
        <p14:creationId xmlns:p14="http://schemas.microsoft.com/office/powerpoint/2010/main" val="34145024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2112C-584F-361C-F04D-047D28B34543}"/>
              </a:ext>
            </a:extLst>
          </p:cNvPr>
          <p:cNvSpPr>
            <a:spLocks noGrp="1"/>
          </p:cNvSpPr>
          <p:nvPr>
            <p:ph type="title"/>
          </p:nvPr>
        </p:nvSpPr>
        <p:spPr/>
        <p:txBody>
          <a:bodyPr/>
          <a:lstStyle/>
          <a:p>
            <a:r>
              <a:rPr lang="en-US" dirty="0">
                <a:solidFill>
                  <a:schemeClr val="bg1">
                    <a:lumMod val="75000"/>
                  </a:schemeClr>
                </a:solidFill>
              </a:rPr>
              <a:t>Interrupt (NOT COVERED)</a:t>
            </a:r>
          </a:p>
        </p:txBody>
      </p:sp>
      <p:sp>
        <p:nvSpPr>
          <p:cNvPr id="3" name="Slide Number Placeholder 2">
            <a:extLst>
              <a:ext uri="{FF2B5EF4-FFF2-40B4-BE49-F238E27FC236}">
                <a16:creationId xmlns:a16="http://schemas.microsoft.com/office/drawing/2014/main" id="{B6D5C9B9-7D76-0284-08B6-A91735096445}"/>
              </a:ext>
            </a:extLst>
          </p:cNvPr>
          <p:cNvSpPr>
            <a:spLocks noGrp="1"/>
          </p:cNvSpPr>
          <p:nvPr>
            <p:ph type="sldNum" sz="quarter" idx="12"/>
          </p:nvPr>
        </p:nvSpPr>
        <p:spPr/>
        <p:txBody>
          <a:bodyPr/>
          <a:lstStyle/>
          <a:p>
            <a:fld id="{EA7C8D44-3667-46F6-9772-CC52308E2A7F}" type="slidenum">
              <a:rPr kumimoji="0" lang="en-US" smtClean="0"/>
              <a:pPr/>
              <a:t>16</a:t>
            </a:fld>
            <a:endParaRPr kumimoji="0" lang="en-US" dirty="0"/>
          </a:p>
        </p:txBody>
      </p:sp>
      <p:sp>
        <p:nvSpPr>
          <p:cNvPr id="4" name="Content Placeholder 3">
            <a:extLst>
              <a:ext uri="{FF2B5EF4-FFF2-40B4-BE49-F238E27FC236}">
                <a16:creationId xmlns:a16="http://schemas.microsoft.com/office/drawing/2014/main" id="{306AF55F-06A9-F112-5FB4-9B7BF0166B2C}"/>
              </a:ext>
            </a:extLst>
          </p:cNvPr>
          <p:cNvSpPr>
            <a:spLocks noGrp="1"/>
          </p:cNvSpPr>
          <p:nvPr>
            <p:ph sz="quarter" idx="1"/>
          </p:nvPr>
        </p:nvSpPr>
        <p:spPr>
          <a:xfrm>
            <a:off x="457200" y="1219200"/>
            <a:ext cx="5562600" cy="4937760"/>
          </a:xfrm>
        </p:spPr>
        <p:txBody>
          <a:bodyPr>
            <a:normAutofit fontScale="77500" lnSpcReduction="20000"/>
          </a:bodyPr>
          <a:lstStyle/>
          <a:p>
            <a:r>
              <a:rPr lang="en-US" dirty="0">
                <a:solidFill>
                  <a:schemeClr val="bg1">
                    <a:lumMod val="75000"/>
                  </a:schemeClr>
                </a:solidFill>
              </a:rPr>
              <a:t>Suppose register </a:t>
            </a:r>
            <a:r>
              <a:rPr lang="en-US" i="1" dirty="0" err="1">
                <a:solidFill>
                  <a:schemeClr val="bg1">
                    <a:lumMod val="75000"/>
                  </a:schemeClr>
                </a:solidFill>
              </a:rPr>
              <a:t>i</a:t>
            </a:r>
            <a:r>
              <a:rPr lang="en-US" dirty="0">
                <a:solidFill>
                  <a:schemeClr val="bg1">
                    <a:lumMod val="75000"/>
                  </a:schemeClr>
                </a:solidFill>
              </a:rPr>
              <a:t> (</a:t>
            </a:r>
            <a:r>
              <a:rPr lang="en-US" i="1" dirty="0" err="1">
                <a:solidFill>
                  <a:schemeClr val="bg1">
                    <a:lumMod val="75000"/>
                  </a:schemeClr>
                </a:solidFill>
              </a:rPr>
              <a:t>i</a:t>
            </a:r>
            <a:r>
              <a:rPr lang="en-US" dirty="0">
                <a:solidFill>
                  <a:schemeClr val="bg1">
                    <a:lumMod val="75000"/>
                  </a:schemeClr>
                </a:solidFill>
              </a:rPr>
              <a:t> ≤ 12) is initialized to have a value of </a:t>
            </a:r>
            <a:r>
              <a:rPr lang="en-US" i="1" dirty="0" err="1">
                <a:solidFill>
                  <a:schemeClr val="bg1">
                    <a:lumMod val="75000"/>
                  </a:schemeClr>
                </a:solidFill>
              </a:rPr>
              <a:t>i</a:t>
            </a:r>
            <a:r>
              <a:rPr lang="en-US" dirty="0">
                <a:solidFill>
                  <a:schemeClr val="bg1">
                    <a:lumMod val="75000"/>
                  </a:schemeClr>
                </a:solidFill>
              </a:rPr>
              <a:t> (e.g. r0 = 0, r1= 1, r2 = 2, r3 = 3, etc.). Assume the main stack (MSP) is used. (Recall: in the interrupt handler, if LR = 0xFFFFFFF9, then the main stack (MSP) is used. If LR = 0xFFFFFFFD, then the process stack (PSP) is used. ) The program status register (PSR) = 0x00000020, PC = 0x08000020, and LR = 0x20008020, when the interrupt occurs.</a:t>
            </a:r>
          </a:p>
          <a:p>
            <a:r>
              <a:rPr lang="en-US" dirty="0">
                <a:solidFill>
                  <a:schemeClr val="bg1">
                    <a:lumMod val="75000"/>
                  </a:schemeClr>
                </a:solidFill>
              </a:rPr>
              <a:t>(1) Show the stack content immediately before the PUSH instruction runs. Suppose the stack pointer SP, </a:t>
            </a:r>
            <a:r>
              <a:rPr lang="en-US" i="1" dirty="0">
                <a:solidFill>
                  <a:schemeClr val="bg1">
                    <a:lumMod val="75000"/>
                  </a:schemeClr>
                </a:solidFill>
              </a:rPr>
              <a:t>i.e.</a:t>
            </a:r>
            <a:r>
              <a:rPr lang="en-US" dirty="0">
                <a:solidFill>
                  <a:schemeClr val="bg1">
                    <a:lumMod val="75000"/>
                  </a:schemeClr>
                </a:solidFill>
              </a:rPr>
              <a:t> MSP in this case, was 0x20000600 immediately before the system timer interrupt occurs</a:t>
            </a:r>
          </a:p>
          <a:p>
            <a:r>
              <a:rPr lang="en-US" dirty="0">
                <a:solidFill>
                  <a:schemeClr val="bg1">
                    <a:lumMod val="75000"/>
                  </a:schemeClr>
                </a:solidFill>
              </a:rPr>
              <a:t>(2) What are the values of these registers (R0-R12, LR, SP, PC, and PSR) immediately after the interrupt exits?</a:t>
            </a:r>
          </a:p>
        </p:txBody>
      </p:sp>
      <p:graphicFrame>
        <p:nvGraphicFramePr>
          <p:cNvPr id="6" name="Table 5">
            <a:extLst>
              <a:ext uri="{FF2B5EF4-FFF2-40B4-BE49-F238E27FC236}">
                <a16:creationId xmlns:a16="http://schemas.microsoft.com/office/drawing/2014/main" id="{03ED02B2-B7A4-6AE0-0F84-7EDDFDACF3E1}"/>
              </a:ext>
            </a:extLst>
          </p:cNvPr>
          <p:cNvGraphicFramePr>
            <a:graphicFrameLocks noGrp="1"/>
          </p:cNvGraphicFramePr>
          <p:nvPr/>
        </p:nvGraphicFramePr>
        <p:xfrm>
          <a:off x="6172200" y="1752600"/>
          <a:ext cx="2835275" cy="3878580"/>
        </p:xfrm>
        <a:graphic>
          <a:graphicData uri="http://schemas.openxmlformats.org/drawingml/2006/table">
            <a:tbl>
              <a:tblPr firstRow="1" firstCol="1" bandRow="1"/>
              <a:tblGrid>
                <a:gridCol w="2835275">
                  <a:extLst>
                    <a:ext uri="{9D8B030D-6E8A-4147-A177-3AD203B41FA5}">
                      <a16:colId xmlns:a16="http://schemas.microsoft.com/office/drawing/2014/main" val="1987105656"/>
                    </a:ext>
                  </a:extLst>
                </a:gridCol>
              </a:tblGrid>
              <a:tr h="2122170">
                <a:tc>
                  <a:txBody>
                    <a:bodyPr/>
                    <a:lstStyle/>
                    <a:p>
                      <a:pPr>
                        <a:spcBef>
                          <a:spcPts val="300"/>
                        </a:spcBef>
                        <a:buNone/>
                      </a:pPr>
                      <a:r>
                        <a:rPr lang="en-US" sz="1400" dirty="0" err="1">
                          <a:effectLst/>
                          <a:latin typeface="Consolas" panose="020B0609020204030204" pitchFamily="49" charset="0"/>
                          <a:ea typeface="SimSun" panose="02010600030101010101" pitchFamily="2" charset="-122"/>
                          <a:cs typeface="Consolas" panose="020B0609020204030204" pitchFamily="49" charset="0"/>
                        </a:rPr>
                        <a:t>SysTick_Handler</a:t>
                      </a:r>
                      <a:r>
                        <a:rPr lang="en-US" sz="1400" dirty="0">
                          <a:effectLst/>
                          <a:latin typeface="Consolas" panose="020B0609020204030204" pitchFamily="49" charset="0"/>
                          <a:ea typeface="SimSun" panose="02010600030101010101" pitchFamily="2" charset="-122"/>
                          <a:cs typeface="Consolas" panose="020B0609020204030204" pitchFamily="49" charset="0"/>
                        </a:rPr>
                        <a:t> PROC</a:t>
                      </a:r>
                      <a:endParaRPr lang="en-US" sz="2000" dirty="0">
                        <a:effectLst/>
                        <a:latin typeface="Times New Roman" panose="02020603050405020304" pitchFamily="18" charset="0"/>
                        <a:ea typeface="SimSun" panose="02010600030101010101" pitchFamily="2" charset="-122"/>
                      </a:endParaRPr>
                    </a:p>
                    <a:p>
                      <a:pPr>
                        <a:spcBef>
                          <a:spcPts val="300"/>
                        </a:spcBef>
                        <a:buNone/>
                      </a:pPr>
                      <a:r>
                        <a:rPr lang="en-US" sz="1400" dirty="0">
                          <a:effectLst/>
                          <a:latin typeface="Consolas" panose="020B0609020204030204" pitchFamily="49" charset="0"/>
                          <a:ea typeface="SimSun" panose="02010600030101010101" pitchFamily="2" charset="-122"/>
                          <a:cs typeface="Consolas" panose="020B0609020204030204" pitchFamily="49" charset="0"/>
                        </a:rPr>
                        <a:t>    EXPORT </a:t>
                      </a:r>
                      <a:r>
                        <a:rPr lang="en-US" sz="1400" dirty="0" err="1">
                          <a:effectLst/>
                          <a:latin typeface="Consolas" panose="020B0609020204030204" pitchFamily="49" charset="0"/>
                          <a:ea typeface="SimSun" panose="02010600030101010101" pitchFamily="2" charset="-122"/>
                          <a:cs typeface="Consolas" panose="020B0609020204030204" pitchFamily="49" charset="0"/>
                        </a:rPr>
                        <a:t>SysTick_Handler</a:t>
                      </a:r>
                      <a:endParaRPr lang="en-US" sz="2000" dirty="0">
                        <a:effectLst/>
                        <a:latin typeface="Times New Roman" panose="02020603050405020304" pitchFamily="18" charset="0"/>
                        <a:ea typeface="SimSun" panose="02010600030101010101" pitchFamily="2" charset="-122"/>
                      </a:endParaRPr>
                    </a:p>
                    <a:p>
                      <a:pPr>
                        <a:buNone/>
                      </a:pPr>
                      <a:r>
                        <a:rPr lang="en-US" sz="1400" dirty="0">
                          <a:effectLst/>
                          <a:latin typeface="Consolas" panose="020B0609020204030204" pitchFamily="49" charset="0"/>
                          <a:ea typeface="SimSun" panose="02010600030101010101" pitchFamily="2" charset="-122"/>
                          <a:cs typeface="Consolas" panose="020B0609020204030204" pitchFamily="49" charset="0"/>
                        </a:rPr>
                        <a:t>    PUSH {</a:t>
                      </a:r>
                      <a:r>
                        <a:rPr lang="en-US" sz="1400" dirty="0" err="1">
                          <a:effectLst/>
                          <a:latin typeface="Consolas" panose="020B0609020204030204" pitchFamily="49" charset="0"/>
                          <a:ea typeface="SimSun" panose="02010600030101010101" pitchFamily="2" charset="-122"/>
                          <a:cs typeface="Consolas" panose="020B0609020204030204" pitchFamily="49" charset="0"/>
                        </a:rPr>
                        <a:t>lr</a:t>
                      </a:r>
                      <a:r>
                        <a:rPr lang="en-US" sz="1400" dirty="0">
                          <a:effectLst/>
                          <a:latin typeface="Consolas" panose="020B0609020204030204" pitchFamily="49" charset="0"/>
                          <a:ea typeface="SimSun" panose="02010600030101010101" pitchFamily="2" charset="-122"/>
                          <a:cs typeface="Consolas" panose="020B0609020204030204" pitchFamily="49" charset="0"/>
                        </a:rPr>
                        <a:t>, r0, r7}</a:t>
                      </a:r>
                      <a:endParaRPr lang="en-US" sz="2000" dirty="0">
                        <a:effectLst/>
                        <a:latin typeface="Times New Roman" panose="02020603050405020304" pitchFamily="18" charset="0"/>
                        <a:ea typeface="SimSun" panose="02010600030101010101" pitchFamily="2" charset="-122"/>
                      </a:endParaRPr>
                    </a:p>
                    <a:p>
                      <a:pPr>
                        <a:buNone/>
                      </a:pPr>
                      <a:r>
                        <a:rPr lang="en-US" sz="1400" dirty="0">
                          <a:effectLst/>
                          <a:latin typeface="Consolas" panose="020B0609020204030204" pitchFamily="49" charset="0"/>
                          <a:ea typeface="SimSun" panose="02010600030101010101" pitchFamily="2" charset="-122"/>
                          <a:cs typeface="Consolas" panose="020B0609020204030204" pitchFamily="49" charset="0"/>
                        </a:rPr>
                        <a:t>    ADD  r0, r0, #1</a:t>
                      </a:r>
                      <a:endParaRPr lang="en-US" sz="2000" dirty="0">
                        <a:effectLst/>
                        <a:latin typeface="Times New Roman" panose="02020603050405020304" pitchFamily="18" charset="0"/>
                        <a:ea typeface="SimSun" panose="02010600030101010101" pitchFamily="2" charset="-122"/>
                      </a:endParaRPr>
                    </a:p>
                    <a:p>
                      <a:pPr>
                        <a:buNone/>
                      </a:pPr>
                      <a:r>
                        <a:rPr lang="en-US" sz="1400" dirty="0">
                          <a:effectLst/>
                          <a:latin typeface="Consolas" panose="020B0609020204030204" pitchFamily="49" charset="0"/>
                          <a:ea typeface="SimSun" panose="02010600030101010101" pitchFamily="2" charset="-122"/>
                          <a:cs typeface="Consolas" panose="020B0609020204030204" pitchFamily="49" charset="0"/>
                        </a:rPr>
                        <a:t>    ADD  r1, r1, #1</a:t>
                      </a:r>
                      <a:endParaRPr lang="en-US" sz="2000" dirty="0">
                        <a:effectLst/>
                        <a:latin typeface="Times New Roman" panose="02020603050405020304" pitchFamily="18" charset="0"/>
                        <a:ea typeface="SimSun" panose="02010600030101010101" pitchFamily="2" charset="-122"/>
                      </a:endParaRPr>
                    </a:p>
                    <a:p>
                      <a:pPr>
                        <a:buNone/>
                      </a:pPr>
                      <a:r>
                        <a:rPr lang="en-US" sz="1400" dirty="0">
                          <a:effectLst/>
                          <a:latin typeface="Consolas" panose="020B0609020204030204" pitchFamily="49" charset="0"/>
                          <a:ea typeface="SimSun" panose="02010600030101010101" pitchFamily="2" charset="-122"/>
                          <a:cs typeface="Consolas" panose="020B0609020204030204" pitchFamily="49" charset="0"/>
                        </a:rPr>
                        <a:t>    ADD  r2, r2, #1</a:t>
                      </a:r>
                      <a:endParaRPr lang="en-US" sz="2000" dirty="0">
                        <a:effectLst/>
                        <a:latin typeface="Times New Roman" panose="02020603050405020304" pitchFamily="18" charset="0"/>
                        <a:ea typeface="SimSun" panose="02010600030101010101" pitchFamily="2" charset="-122"/>
                      </a:endParaRPr>
                    </a:p>
                    <a:p>
                      <a:pPr>
                        <a:buNone/>
                      </a:pPr>
                      <a:r>
                        <a:rPr lang="en-US" sz="1400" dirty="0">
                          <a:effectLst/>
                          <a:latin typeface="Consolas" panose="020B0609020204030204" pitchFamily="49" charset="0"/>
                          <a:ea typeface="SimSun" panose="02010600030101010101" pitchFamily="2" charset="-122"/>
                          <a:cs typeface="Consolas" panose="020B0609020204030204" pitchFamily="49" charset="0"/>
                        </a:rPr>
                        <a:t>    ADD  r3, r3, #1</a:t>
                      </a:r>
                      <a:endParaRPr lang="en-US" sz="2000" dirty="0">
                        <a:effectLst/>
                        <a:latin typeface="Times New Roman" panose="02020603050405020304" pitchFamily="18" charset="0"/>
                        <a:ea typeface="SimSun" panose="02010600030101010101" pitchFamily="2" charset="-122"/>
                      </a:endParaRPr>
                    </a:p>
                    <a:p>
                      <a:pPr>
                        <a:buNone/>
                      </a:pPr>
                      <a:r>
                        <a:rPr lang="en-US" sz="1400" dirty="0">
                          <a:effectLst/>
                          <a:latin typeface="Consolas" panose="020B0609020204030204" pitchFamily="49" charset="0"/>
                          <a:ea typeface="SimSun" panose="02010600030101010101" pitchFamily="2" charset="-122"/>
                          <a:cs typeface="Consolas" panose="020B0609020204030204" pitchFamily="49" charset="0"/>
                        </a:rPr>
                        <a:t>    ADD  r4, r4, #1</a:t>
                      </a:r>
                      <a:endParaRPr lang="en-US" sz="2000" dirty="0">
                        <a:effectLst/>
                        <a:latin typeface="Times New Roman" panose="02020603050405020304" pitchFamily="18" charset="0"/>
                        <a:ea typeface="SimSun" panose="02010600030101010101" pitchFamily="2" charset="-122"/>
                      </a:endParaRPr>
                    </a:p>
                    <a:p>
                      <a:pPr>
                        <a:buNone/>
                      </a:pPr>
                      <a:r>
                        <a:rPr lang="en-US" sz="1400" dirty="0">
                          <a:effectLst/>
                          <a:latin typeface="Consolas" panose="020B0609020204030204" pitchFamily="49" charset="0"/>
                          <a:ea typeface="SimSun" panose="02010600030101010101" pitchFamily="2" charset="-122"/>
                          <a:cs typeface="Consolas" panose="020B0609020204030204" pitchFamily="49" charset="0"/>
                        </a:rPr>
                        <a:t>    ADD  r5, r5, #1</a:t>
                      </a:r>
                      <a:endParaRPr lang="en-US" sz="2000" dirty="0">
                        <a:effectLst/>
                        <a:latin typeface="Times New Roman" panose="02020603050405020304" pitchFamily="18" charset="0"/>
                        <a:ea typeface="SimSun" panose="02010600030101010101" pitchFamily="2" charset="-122"/>
                      </a:endParaRPr>
                    </a:p>
                    <a:p>
                      <a:pPr>
                        <a:buNone/>
                      </a:pPr>
                      <a:r>
                        <a:rPr lang="en-US" sz="1400" dirty="0">
                          <a:effectLst/>
                          <a:latin typeface="Consolas" panose="020B0609020204030204" pitchFamily="49" charset="0"/>
                          <a:ea typeface="SimSun" panose="02010600030101010101" pitchFamily="2" charset="-122"/>
                          <a:cs typeface="Consolas" panose="020B0609020204030204" pitchFamily="49" charset="0"/>
                        </a:rPr>
                        <a:t>    ADD  r6, r6, #1</a:t>
                      </a:r>
                      <a:endParaRPr lang="en-US" sz="2000" dirty="0">
                        <a:effectLst/>
                        <a:latin typeface="Times New Roman" panose="02020603050405020304" pitchFamily="18" charset="0"/>
                        <a:ea typeface="SimSun" panose="02010600030101010101" pitchFamily="2" charset="-122"/>
                      </a:endParaRPr>
                    </a:p>
                    <a:p>
                      <a:pPr>
                        <a:buNone/>
                      </a:pPr>
                      <a:r>
                        <a:rPr lang="en-US" sz="1400" dirty="0">
                          <a:effectLst/>
                          <a:latin typeface="Consolas" panose="020B0609020204030204" pitchFamily="49" charset="0"/>
                          <a:ea typeface="SimSun" panose="02010600030101010101" pitchFamily="2" charset="-122"/>
                          <a:cs typeface="Consolas" panose="020B0609020204030204" pitchFamily="49" charset="0"/>
                        </a:rPr>
                        <a:t>    ADD  r7, r7, #1</a:t>
                      </a:r>
                      <a:endParaRPr lang="en-US" sz="2000" dirty="0">
                        <a:effectLst/>
                        <a:latin typeface="Times New Roman" panose="02020603050405020304" pitchFamily="18" charset="0"/>
                        <a:ea typeface="SimSun" panose="02010600030101010101" pitchFamily="2" charset="-122"/>
                      </a:endParaRPr>
                    </a:p>
                    <a:p>
                      <a:pPr>
                        <a:buNone/>
                      </a:pPr>
                      <a:r>
                        <a:rPr lang="en-US" sz="1400" dirty="0">
                          <a:effectLst/>
                          <a:latin typeface="Consolas" panose="020B0609020204030204" pitchFamily="49" charset="0"/>
                          <a:ea typeface="SimSun" panose="02010600030101010101" pitchFamily="2" charset="-122"/>
                          <a:cs typeface="Consolas" panose="020B0609020204030204" pitchFamily="49" charset="0"/>
                        </a:rPr>
                        <a:t>    ADD  r8, r8, #1</a:t>
                      </a:r>
                      <a:endParaRPr lang="en-US" sz="2000" dirty="0">
                        <a:effectLst/>
                        <a:latin typeface="Times New Roman" panose="02020603050405020304" pitchFamily="18" charset="0"/>
                        <a:ea typeface="SimSun" panose="02010600030101010101" pitchFamily="2" charset="-122"/>
                      </a:endParaRPr>
                    </a:p>
                    <a:p>
                      <a:pPr>
                        <a:buNone/>
                      </a:pPr>
                      <a:r>
                        <a:rPr lang="en-US" sz="1400" dirty="0">
                          <a:effectLst/>
                          <a:latin typeface="Consolas" panose="020B0609020204030204" pitchFamily="49" charset="0"/>
                          <a:ea typeface="SimSun" panose="02010600030101010101" pitchFamily="2" charset="-122"/>
                          <a:cs typeface="Consolas" panose="020B0609020204030204" pitchFamily="49" charset="0"/>
                        </a:rPr>
                        <a:t>    ADD  r9, r9, #1</a:t>
                      </a:r>
                      <a:endParaRPr lang="en-US" sz="2000" dirty="0">
                        <a:effectLst/>
                        <a:latin typeface="Times New Roman" panose="02020603050405020304" pitchFamily="18" charset="0"/>
                        <a:ea typeface="SimSun" panose="02010600030101010101" pitchFamily="2" charset="-122"/>
                      </a:endParaRPr>
                    </a:p>
                    <a:p>
                      <a:pPr>
                        <a:buNone/>
                      </a:pPr>
                      <a:r>
                        <a:rPr lang="en-US" sz="1400" dirty="0">
                          <a:effectLst/>
                          <a:latin typeface="Consolas" panose="020B0609020204030204" pitchFamily="49" charset="0"/>
                          <a:ea typeface="SimSun" panose="02010600030101010101" pitchFamily="2" charset="-122"/>
                          <a:cs typeface="Consolas" panose="020B0609020204030204" pitchFamily="49" charset="0"/>
                        </a:rPr>
                        <a:t>    ADD  r10, r10, #1</a:t>
                      </a:r>
                      <a:endParaRPr lang="en-US" sz="2000" dirty="0">
                        <a:effectLst/>
                        <a:latin typeface="Times New Roman" panose="02020603050405020304" pitchFamily="18" charset="0"/>
                        <a:ea typeface="SimSun" panose="02010600030101010101" pitchFamily="2" charset="-122"/>
                      </a:endParaRPr>
                    </a:p>
                    <a:p>
                      <a:pPr>
                        <a:buNone/>
                      </a:pPr>
                      <a:r>
                        <a:rPr lang="en-US" sz="1400" dirty="0">
                          <a:effectLst/>
                          <a:latin typeface="Consolas" panose="020B0609020204030204" pitchFamily="49" charset="0"/>
                          <a:ea typeface="SimSun" panose="02010600030101010101" pitchFamily="2" charset="-122"/>
                          <a:cs typeface="Consolas" panose="020B0609020204030204" pitchFamily="49" charset="0"/>
                        </a:rPr>
                        <a:t>    ADD  r11, r11, #1</a:t>
                      </a:r>
                      <a:endParaRPr lang="en-US" sz="2000" dirty="0">
                        <a:effectLst/>
                        <a:latin typeface="Times New Roman" panose="02020603050405020304" pitchFamily="18" charset="0"/>
                        <a:ea typeface="SimSun" panose="02010600030101010101" pitchFamily="2" charset="-122"/>
                      </a:endParaRPr>
                    </a:p>
                    <a:p>
                      <a:pPr>
                        <a:buNone/>
                      </a:pPr>
                      <a:r>
                        <a:rPr lang="en-US" sz="1400" dirty="0">
                          <a:effectLst/>
                          <a:latin typeface="Consolas" panose="020B0609020204030204" pitchFamily="49" charset="0"/>
                          <a:ea typeface="SimSun" panose="02010600030101010101" pitchFamily="2" charset="-122"/>
                          <a:cs typeface="Consolas" panose="020B0609020204030204" pitchFamily="49" charset="0"/>
                        </a:rPr>
                        <a:t>    ADD  r12, r12, #1</a:t>
                      </a:r>
                      <a:endParaRPr lang="en-US" sz="2000" dirty="0">
                        <a:effectLst/>
                        <a:latin typeface="Times New Roman" panose="02020603050405020304" pitchFamily="18" charset="0"/>
                        <a:ea typeface="SimSun" panose="02010600030101010101" pitchFamily="2" charset="-122"/>
                      </a:endParaRPr>
                    </a:p>
                    <a:p>
                      <a:pPr>
                        <a:buNone/>
                      </a:pPr>
                      <a:r>
                        <a:rPr lang="en-US" sz="1400" dirty="0">
                          <a:effectLst/>
                          <a:latin typeface="Consolas" panose="020B0609020204030204" pitchFamily="49" charset="0"/>
                          <a:ea typeface="SimSun" panose="02010600030101010101" pitchFamily="2" charset="-122"/>
                          <a:cs typeface="Consolas" panose="020B0609020204030204" pitchFamily="49" charset="0"/>
                        </a:rPr>
                        <a:t>    POP  {r0, r7, pc}</a:t>
                      </a:r>
                      <a:endParaRPr lang="en-US" sz="2000" dirty="0">
                        <a:effectLst/>
                        <a:latin typeface="Times New Roman" panose="02020603050405020304" pitchFamily="18" charset="0"/>
                        <a:ea typeface="SimSun" panose="02010600030101010101" pitchFamily="2" charset="-122"/>
                      </a:endParaRPr>
                    </a:p>
                    <a:p>
                      <a:pPr>
                        <a:spcAft>
                          <a:spcPts val="300"/>
                        </a:spcAft>
                        <a:buNone/>
                      </a:pPr>
                      <a:r>
                        <a:rPr lang="en-US" sz="1400" dirty="0">
                          <a:effectLst/>
                          <a:latin typeface="Consolas" panose="020B0609020204030204" pitchFamily="49" charset="0"/>
                          <a:ea typeface="SimSun" panose="02010600030101010101" pitchFamily="2" charset="-122"/>
                          <a:cs typeface="Consolas" panose="020B0609020204030204" pitchFamily="49" charset="0"/>
                        </a:rPr>
                        <a:t>    ENDP</a:t>
                      </a:r>
                      <a:endParaRPr lang="en-US" sz="2000" dirty="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04318800"/>
                  </a:ext>
                </a:extLst>
              </a:tr>
            </a:tbl>
          </a:graphicData>
        </a:graphic>
      </p:graphicFrame>
    </p:spTree>
    <p:extLst>
      <p:ext uri="{BB962C8B-B14F-4D97-AF65-F5344CB8AC3E}">
        <p14:creationId xmlns:p14="http://schemas.microsoft.com/office/powerpoint/2010/main" val="7115082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81413-78DE-49B8-B0C8-1A5AEBD8A8DF}"/>
              </a:ext>
            </a:extLst>
          </p:cNvPr>
          <p:cNvSpPr>
            <a:spLocks noGrp="1"/>
          </p:cNvSpPr>
          <p:nvPr>
            <p:ph type="title"/>
          </p:nvPr>
        </p:nvSpPr>
        <p:spPr/>
        <p:txBody>
          <a:bodyPr/>
          <a:lstStyle/>
          <a:p>
            <a:r>
              <a:rPr lang="en-US" dirty="0">
                <a:solidFill>
                  <a:schemeClr val="bg1">
                    <a:lumMod val="75000"/>
                  </a:schemeClr>
                </a:solidFill>
              </a:rPr>
              <a:t>Interrupt ANS</a:t>
            </a:r>
          </a:p>
        </p:txBody>
      </p:sp>
      <p:sp>
        <p:nvSpPr>
          <p:cNvPr id="3" name="Slide Number Placeholder 2">
            <a:extLst>
              <a:ext uri="{FF2B5EF4-FFF2-40B4-BE49-F238E27FC236}">
                <a16:creationId xmlns:a16="http://schemas.microsoft.com/office/drawing/2014/main" id="{9B209CD3-AAB9-9C6F-15DF-BA9391900195}"/>
              </a:ext>
            </a:extLst>
          </p:cNvPr>
          <p:cNvSpPr>
            <a:spLocks noGrp="1"/>
          </p:cNvSpPr>
          <p:nvPr>
            <p:ph type="sldNum" sz="quarter" idx="12"/>
          </p:nvPr>
        </p:nvSpPr>
        <p:spPr/>
        <p:txBody>
          <a:bodyPr/>
          <a:lstStyle/>
          <a:p>
            <a:fld id="{EA7C8D44-3667-46F6-9772-CC52308E2A7F}" type="slidenum">
              <a:rPr kumimoji="0" lang="en-US" smtClean="0"/>
              <a:pPr/>
              <a:t>17</a:t>
            </a:fld>
            <a:endParaRPr kumimoji="0" lang="en-US" dirty="0"/>
          </a:p>
        </p:txBody>
      </p:sp>
      <p:sp>
        <p:nvSpPr>
          <p:cNvPr id="4" name="Content Placeholder 3">
            <a:extLst>
              <a:ext uri="{FF2B5EF4-FFF2-40B4-BE49-F238E27FC236}">
                <a16:creationId xmlns:a16="http://schemas.microsoft.com/office/drawing/2014/main" id="{01048E9F-978D-E1AC-E55B-891E2B164B3B}"/>
              </a:ext>
            </a:extLst>
          </p:cNvPr>
          <p:cNvSpPr>
            <a:spLocks noGrp="1"/>
          </p:cNvSpPr>
          <p:nvPr>
            <p:ph sz="quarter" idx="1"/>
          </p:nvPr>
        </p:nvSpPr>
        <p:spPr/>
        <p:txBody>
          <a:bodyPr/>
          <a:lstStyle/>
          <a:p>
            <a:r>
              <a:rPr lang="en-US" dirty="0"/>
              <a:t>(1)</a:t>
            </a:r>
          </a:p>
        </p:txBody>
      </p:sp>
      <p:graphicFrame>
        <p:nvGraphicFramePr>
          <p:cNvPr id="7" name="Table 6">
            <a:extLst>
              <a:ext uri="{FF2B5EF4-FFF2-40B4-BE49-F238E27FC236}">
                <a16:creationId xmlns:a16="http://schemas.microsoft.com/office/drawing/2014/main" id="{236CC83D-E382-1C35-9A67-05FC90821CD7}"/>
              </a:ext>
            </a:extLst>
          </p:cNvPr>
          <p:cNvGraphicFramePr>
            <a:graphicFrameLocks noGrp="1"/>
          </p:cNvGraphicFramePr>
          <p:nvPr/>
        </p:nvGraphicFramePr>
        <p:xfrm>
          <a:off x="1524000" y="1371600"/>
          <a:ext cx="3810000" cy="3764280"/>
        </p:xfrm>
        <a:graphic>
          <a:graphicData uri="http://schemas.openxmlformats.org/drawingml/2006/table">
            <a:tbl>
              <a:tblPr firstRow="1" bandRow="1">
                <a:tableStyleId>{5940675A-B579-460E-94D1-54222C63F5DA}</a:tableStyleId>
              </a:tblPr>
              <a:tblGrid>
                <a:gridCol w="1905000">
                  <a:extLst>
                    <a:ext uri="{9D8B030D-6E8A-4147-A177-3AD203B41FA5}">
                      <a16:colId xmlns:a16="http://schemas.microsoft.com/office/drawing/2014/main" val="3952883727"/>
                    </a:ext>
                  </a:extLst>
                </a:gridCol>
                <a:gridCol w="1905000">
                  <a:extLst>
                    <a:ext uri="{9D8B030D-6E8A-4147-A177-3AD203B41FA5}">
                      <a16:colId xmlns:a16="http://schemas.microsoft.com/office/drawing/2014/main" val="575375637"/>
                    </a:ext>
                  </a:extLst>
                </a:gridCol>
              </a:tblGrid>
              <a:tr h="370840">
                <a:tc>
                  <a:txBody>
                    <a:bodyPr/>
                    <a:lstStyle/>
                    <a:p>
                      <a:pPr marL="457200" algn="l">
                        <a:buNone/>
                      </a:pPr>
                      <a:r>
                        <a:rPr lang="en-US" sz="1400" dirty="0">
                          <a:solidFill>
                            <a:schemeClr val="bg1">
                              <a:lumMod val="75000"/>
                            </a:schemeClr>
                          </a:solidFill>
                          <a:effectLst/>
                        </a:rPr>
                        <a:t>0x20000600</a:t>
                      </a:r>
                      <a:endParaRPr lang="en-US" sz="1400" dirty="0">
                        <a:solidFill>
                          <a:schemeClr val="bg1">
                            <a:lumMod val="75000"/>
                          </a:schemeClr>
                        </a:solidFill>
                        <a:effectLst/>
                        <a:latin typeface="Times New Roman" panose="02020603050405020304" pitchFamily="18" charset="0"/>
                        <a:ea typeface="SimSun" panose="02010600030101010101" pitchFamily="2" charset="-122"/>
                      </a:endParaRPr>
                    </a:p>
                  </a:txBody>
                  <a:tcPr marL="68580" marR="68580" marT="0" marB="0"/>
                </a:tc>
                <a:tc>
                  <a:txBody>
                    <a:bodyPr/>
                    <a:lstStyle/>
                    <a:p>
                      <a:pPr marL="457200" algn="l">
                        <a:buNone/>
                      </a:pPr>
                      <a:r>
                        <a:rPr lang="en-US" sz="1400">
                          <a:solidFill>
                            <a:schemeClr val="bg1">
                              <a:lumMod val="75000"/>
                            </a:schemeClr>
                          </a:solidFill>
                          <a:effectLst/>
                        </a:rPr>
                        <a:t> </a:t>
                      </a:r>
                      <a:endParaRPr lang="en-US" sz="1400">
                        <a:solidFill>
                          <a:schemeClr val="bg1">
                            <a:lumMod val="75000"/>
                          </a:schemeClr>
                        </a:solidFill>
                        <a:effectLst/>
                        <a:latin typeface="Times New Roman" panose="02020603050405020304" pitchFamily="18" charset="0"/>
                        <a:ea typeface="SimSun" panose="02010600030101010101" pitchFamily="2" charset="-122"/>
                      </a:endParaRPr>
                    </a:p>
                  </a:txBody>
                  <a:tcPr marL="68580" marR="68580" marT="0" marB="0"/>
                </a:tc>
                <a:extLst>
                  <a:ext uri="{0D108BD9-81ED-4DB2-BD59-A6C34878D82A}">
                    <a16:rowId xmlns:a16="http://schemas.microsoft.com/office/drawing/2014/main" val="1515543264"/>
                  </a:ext>
                </a:extLst>
              </a:tr>
              <a:tr h="370840">
                <a:tc>
                  <a:txBody>
                    <a:bodyPr/>
                    <a:lstStyle/>
                    <a:p>
                      <a:pPr marL="457200" algn="l">
                        <a:buNone/>
                      </a:pPr>
                      <a:r>
                        <a:rPr lang="en-US" sz="1400">
                          <a:solidFill>
                            <a:schemeClr val="bg1">
                              <a:lumMod val="75000"/>
                            </a:schemeClr>
                          </a:solidFill>
                          <a:effectLst/>
                        </a:rPr>
                        <a:t>0x200005FC</a:t>
                      </a:r>
                      <a:endParaRPr lang="en-US" sz="1400">
                        <a:solidFill>
                          <a:schemeClr val="bg1">
                            <a:lumMod val="75000"/>
                          </a:schemeClr>
                        </a:solidFill>
                        <a:effectLst/>
                        <a:latin typeface="Times New Roman" panose="02020603050405020304" pitchFamily="18" charset="0"/>
                        <a:ea typeface="SimSun" panose="02010600030101010101" pitchFamily="2" charset="-122"/>
                      </a:endParaRPr>
                    </a:p>
                  </a:txBody>
                  <a:tcPr marL="68580" marR="68580" marT="0" marB="0"/>
                </a:tc>
                <a:tc>
                  <a:txBody>
                    <a:bodyPr/>
                    <a:lstStyle/>
                    <a:p>
                      <a:pPr marL="457200" algn="l">
                        <a:buNone/>
                      </a:pPr>
                      <a:r>
                        <a:rPr lang="en-US" sz="1400">
                          <a:solidFill>
                            <a:schemeClr val="bg1">
                              <a:lumMod val="75000"/>
                            </a:schemeClr>
                          </a:solidFill>
                          <a:effectLst/>
                        </a:rPr>
                        <a:t>0x00000020 (PSR)</a:t>
                      </a:r>
                      <a:endParaRPr lang="en-US" sz="1400">
                        <a:solidFill>
                          <a:schemeClr val="bg1">
                            <a:lumMod val="75000"/>
                          </a:schemeClr>
                        </a:solidFill>
                        <a:effectLst/>
                        <a:latin typeface="Times New Roman" panose="02020603050405020304" pitchFamily="18" charset="0"/>
                        <a:ea typeface="SimSun" panose="02010600030101010101" pitchFamily="2" charset="-122"/>
                      </a:endParaRPr>
                    </a:p>
                  </a:txBody>
                  <a:tcPr marL="68580" marR="68580" marT="0" marB="0"/>
                </a:tc>
                <a:extLst>
                  <a:ext uri="{0D108BD9-81ED-4DB2-BD59-A6C34878D82A}">
                    <a16:rowId xmlns:a16="http://schemas.microsoft.com/office/drawing/2014/main" val="3667204674"/>
                  </a:ext>
                </a:extLst>
              </a:tr>
              <a:tr h="370840">
                <a:tc>
                  <a:txBody>
                    <a:bodyPr/>
                    <a:lstStyle/>
                    <a:p>
                      <a:pPr marL="457200" algn="l">
                        <a:buNone/>
                      </a:pPr>
                      <a:r>
                        <a:rPr lang="en-US" sz="1400">
                          <a:solidFill>
                            <a:schemeClr val="bg1">
                              <a:lumMod val="75000"/>
                            </a:schemeClr>
                          </a:solidFill>
                          <a:effectLst/>
                        </a:rPr>
                        <a:t>0x200005F8</a:t>
                      </a:r>
                      <a:endParaRPr lang="en-US" sz="1400">
                        <a:solidFill>
                          <a:schemeClr val="bg1">
                            <a:lumMod val="75000"/>
                          </a:schemeClr>
                        </a:solidFill>
                        <a:effectLst/>
                        <a:latin typeface="Times New Roman" panose="02020603050405020304" pitchFamily="18" charset="0"/>
                        <a:ea typeface="SimSun" panose="02010600030101010101" pitchFamily="2" charset="-122"/>
                      </a:endParaRPr>
                    </a:p>
                  </a:txBody>
                  <a:tcPr marL="68580" marR="68580" marT="0" marB="0"/>
                </a:tc>
                <a:tc>
                  <a:txBody>
                    <a:bodyPr/>
                    <a:lstStyle/>
                    <a:p>
                      <a:pPr marL="457200" algn="l">
                        <a:buNone/>
                      </a:pPr>
                      <a:r>
                        <a:rPr lang="en-US" sz="1400" dirty="0">
                          <a:solidFill>
                            <a:schemeClr val="bg1">
                              <a:lumMod val="75000"/>
                            </a:schemeClr>
                          </a:solidFill>
                          <a:effectLst/>
                        </a:rPr>
                        <a:t>0x08000020 (PC)</a:t>
                      </a:r>
                      <a:endParaRPr lang="en-US" sz="1400" dirty="0">
                        <a:solidFill>
                          <a:schemeClr val="bg1">
                            <a:lumMod val="75000"/>
                          </a:schemeClr>
                        </a:solidFill>
                        <a:effectLst/>
                        <a:latin typeface="Times New Roman" panose="02020603050405020304" pitchFamily="18" charset="0"/>
                        <a:ea typeface="SimSun" panose="02010600030101010101" pitchFamily="2" charset="-122"/>
                      </a:endParaRPr>
                    </a:p>
                  </a:txBody>
                  <a:tcPr marL="68580" marR="68580" marT="0" marB="0"/>
                </a:tc>
                <a:extLst>
                  <a:ext uri="{0D108BD9-81ED-4DB2-BD59-A6C34878D82A}">
                    <a16:rowId xmlns:a16="http://schemas.microsoft.com/office/drawing/2014/main" val="1689526887"/>
                  </a:ext>
                </a:extLst>
              </a:tr>
              <a:tr h="370840">
                <a:tc>
                  <a:txBody>
                    <a:bodyPr/>
                    <a:lstStyle/>
                    <a:p>
                      <a:pPr marL="457200" algn="l">
                        <a:buNone/>
                      </a:pPr>
                      <a:r>
                        <a:rPr lang="en-US" sz="1400">
                          <a:solidFill>
                            <a:schemeClr val="bg1">
                              <a:lumMod val="75000"/>
                            </a:schemeClr>
                          </a:solidFill>
                          <a:effectLst/>
                        </a:rPr>
                        <a:t>0x200005F4</a:t>
                      </a:r>
                      <a:endParaRPr lang="en-US" sz="1400">
                        <a:solidFill>
                          <a:schemeClr val="bg1">
                            <a:lumMod val="75000"/>
                          </a:schemeClr>
                        </a:solidFill>
                        <a:effectLst/>
                        <a:latin typeface="Times New Roman" panose="02020603050405020304" pitchFamily="18" charset="0"/>
                        <a:ea typeface="SimSun" panose="02010600030101010101" pitchFamily="2" charset="-122"/>
                      </a:endParaRPr>
                    </a:p>
                  </a:txBody>
                  <a:tcPr marL="68580" marR="68580" marT="0" marB="0"/>
                </a:tc>
                <a:tc>
                  <a:txBody>
                    <a:bodyPr/>
                    <a:lstStyle/>
                    <a:p>
                      <a:pPr marL="457200" algn="l">
                        <a:buNone/>
                      </a:pPr>
                      <a:r>
                        <a:rPr lang="en-US" sz="1400" dirty="0">
                          <a:solidFill>
                            <a:schemeClr val="bg1">
                              <a:lumMod val="75000"/>
                            </a:schemeClr>
                          </a:solidFill>
                          <a:effectLst/>
                        </a:rPr>
                        <a:t>0x20008020 (LR)</a:t>
                      </a:r>
                      <a:endParaRPr lang="en-US" sz="1400" dirty="0">
                        <a:solidFill>
                          <a:schemeClr val="bg1">
                            <a:lumMod val="75000"/>
                          </a:schemeClr>
                        </a:solidFill>
                        <a:effectLst/>
                        <a:latin typeface="Times New Roman" panose="02020603050405020304" pitchFamily="18" charset="0"/>
                        <a:ea typeface="SimSun" panose="02010600030101010101" pitchFamily="2" charset="-122"/>
                      </a:endParaRPr>
                    </a:p>
                  </a:txBody>
                  <a:tcPr marL="68580" marR="68580" marT="0" marB="0"/>
                </a:tc>
                <a:extLst>
                  <a:ext uri="{0D108BD9-81ED-4DB2-BD59-A6C34878D82A}">
                    <a16:rowId xmlns:a16="http://schemas.microsoft.com/office/drawing/2014/main" val="2142994718"/>
                  </a:ext>
                </a:extLst>
              </a:tr>
              <a:tr h="370840">
                <a:tc>
                  <a:txBody>
                    <a:bodyPr/>
                    <a:lstStyle/>
                    <a:p>
                      <a:pPr marL="457200" algn="l">
                        <a:buNone/>
                      </a:pPr>
                      <a:r>
                        <a:rPr lang="en-US" sz="1400">
                          <a:solidFill>
                            <a:schemeClr val="bg1">
                              <a:lumMod val="75000"/>
                            </a:schemeClr>
                          </a:solidFill>
                          <a:effectLst/>
                        </a:rPr>
                        <a:t>0x200005F0</a:t>
                      </a:r>
                      <a:endParaRPr lang="en-US" sz="1400">
                        <a:solidFill>
                          <a:schemeClr val="bg1">
                            <a:lumMod val="75000"/>
                          </a:schemeClr>
                        </a:solidFill>
                        <a:effectLst/>
                        <a:latin typeface="Times New Roman" panose="02020603050405020304" pitchFamily="18" charset="0"/>
                        <a:ea typeface="SimSun" panose="02010600030101010101" pitchFamily="2" charset="-122"/>
                      </a:endParaRPr>
                    </a:p>
                  </a:txBody>
                  <a:tcPr marL="68580" marR="68580" marT="0" marB="0"/>
                </a:tc>
                <a:tc>
                  <a:txBody>
                    <a:bodyPr/>
                    <a:lstStyle/>
                    <a:p>
                      <a:pPr marL="457200" algn="l">
                        <a:buNone/>
                      </a:pPr>
                      <a:r>
                        <a:rPr lang="en-US" sz="1400" dirty="0">
                          <a:solidFill>
                            <a:schemeClr val="bg1">
                              <a:lumMod val="75000"/>
                            </a:schemeClr>
                          </a:solidFill>
                          <a:effectLst/>
                        </a:rPr>
                        <a:t>12 (R12)</a:t>
                      </a:r>
                      <a:endParaRPr lang="en-US" sz="1400" dirty="0">
                        <a:solidFill>
                          <a:schemeClr val="bg1">
                            <a:lumMod val="75000"/>
                          </a:schemeClr>
                        </a:solidFill>
                        <a:effectLst/>
                        <a:latin typeface="Times New Roman" panose="02020603050405020304" pitchFamily="18" charset="0"/>
                        <a:ea typeface="SimSun" panose="02010600030101010101" pitchFamily="2" charset="-122"/>
                      </a:endParaRPr>
                    </a:p>
                  </a:txBody>
                  <a:tcPr marL="68580" marR="68580" marT="0" marB="0"/>
                </a:tc>
                <a:extLst>
                  <a:ext uri="{0D108BD9-81ED-4DB2-BD59-A6C34878D82A}">
                    <a16:rowId xmlns:a16="http://schemas.microsoft.com/office/drawing/2014/main" val="789351382"/>
                  </a:ext>
                </a:extLst>
              </a:tr>
              <a:tr h="370840">
                <a:tc>
                  <a:txBody>
                    <a:bodyPr/>
                    <a:lstStyle/>
                    <a:p>
                      <a:pPr marL="457200" algn="l">
                        <a:buNone/>
                      </a:pPr>
                      <a:r>
                        <a:rPr lang="en-US" sz="1400">
                          <a:solidFill>
                            <a:schemeClr val="bg1">
                              <a:lumMod val="75000"/>
                            </a:schemeClr>
                          </a:solidFill>
                          <a:effectLst/>
                        </a:rPr>
                        <a:t>0x200005EC</a:t>
                      </a:r>
                      <a:endParaRPr lang="en-US" sz="1400">
                        <a:solidFill>
                          <a:schemeClr val="bg1">
                            <a:lumMod val="75000"/>
                          </a:schemeClr>
                        </a:solidFill>
                        <a:effectLst/>
                        <a:latin typeface="Times New Roman" panose="02020603050405020304" pitchFamily="18" charset="0"/>
                        <a:ea typeface="SimSun" panose="02010600030101010101" pitchFamily="2" charset="-122"/>
                      </a:endParaRPr>
                    </a:p>
                  </a:txBody>
                  <a:tcPr marL="68580" marR="68580" marT="0" marB="0"/>
                </a:tc>
                <a:tc>
                  <a:txBody>
                    <a:bodyPr/>
                    <a:lstStyle/>
                    <a:p>
                      <a:pPr marL="457200" algn="l">
                        <a:buNone/>
                      </a:pPr>
                      <a:r>
                        <a:rPr lang="en-US" sz="1400">
                          <a:solidFill>
                            <a:schemeClr val="bg1">
                              <a:lumMod val="75000"/>
                            </a:schemeClr>
                          </a:solidFill>
                          <a:effectLst/>
                        </a:rPr>
                        <a:t>3 (R3)</a:t>
                      </a:r>
                      <a:endParaRPr lang="en-US" sz="1400">
                        <a:solidFill>
                          <a:schemeClr val="bg1">
                            <a:lumMod val="75000"/>
                          </a:schemeClr>
                        </a:solidFill>
                        <a:effectLst/>
                        <a:latin typeface="Times New Roman" panose="02020603050405020304" pitchFamily="18" charset="0"/>
                        <a:ea typeface="SimSun" panose="02010600030101010101" pitchFamily="2" charset="-122"/>
                      </a:endParaRPr>
                    </a:p>
                  </a:txBody>
                  <a:tcPr marL="68580" marR="68580" marT="0" marB="0"/>
                </a:tc>
                <a:extLst>
                  <a:ext uri="{0D108BD9-81ED-4DB2-BD59-A6C34878D82A}">
                    <a16:rowId xmlns:a16="http://schemas.microsoft.com/office/drawing/2014/main" val="367961182"/>
                  </a:ext>
                </a:extLst>
              </a:tr>
              <a:tr h="370840">
                <a:tc>
                  <a:txBody>
                    <a:bodyPr/>
                    <a:lstStyle/>
                    <a:p>
                      <a:pPr marL="457200" algn="l">
                        <a:buNone/>
                      </a:pPr>
                      <a:r>
                        <a:rPr lang="en-US" sz="1400">
                          <a:solidFill>
                            <a:schemeClr val="bg1">
                              <a:lumMod val="75000"/>
                            </a:schemeClr>
                          </a:solidFill>
                          <a:effectLst/>
                        </a:rPr>
                        <a:t>0x200005E8</a:t>
                      </a:r>
                      <a:endParaRPr lang="en-US" sz="1400">
                        <a:solidFill>
                          <a:schemeClr val="bg1">
                            <a:lumMod val="75000"/>
                          </a:schemeClr>
                        </a:solidFill>
                        <a:effectLst/>
                        <a:latin typeface="Times New Roman" panose="02020603050405020304" pitchFamily="18" charset="0"/>
                        <a:ea typeface="SimSun" panose="02010600030101010101" pitchFamily="2" charset="-122"/>
                      </a:endParaRPr>
                    </a:p>
                  </a:txBody>
                  <a:tcPr marL="68580" marR="68580" marT="0" marB="0"/>
                </a:tc>
                <a:tc>
                  <a:txBody>
                    <a:bodyPr/>
                    <a:lstStyle/>
                    <a:p>
                      <a:pPr marL="457200" algn="l">
                        <a:buNone/>
                      </a:pPr>
                      <a:r>
                        <a:rPr lang="en-US" sz="1400">
                          <a:solidFill>
                            <a:schemeClr val="bg1">
                              <a:lumMod val="75000"/>
                            </a:schemeClr>
                          </a:solidFill>
                          <a:effectLst/>
                        </a:rPr>
                        <a:t>2 (R2)</a:t>
                      </a:r>
                      <a:endParaRPr lang="en-US" sz="1400">
                        <a:solidFill>
                          <a:schemeClr val="bg1">
                            <a:lumMod val="75000"/>
                          </a:schemeClr>
                        </a:solidFill>
                        <a:effectLst/>
                        <a:latin typeface="Times New Roman" panose="02020603050405020304" pitchFamily="18" charset="0"/>
                        <a:ea typeface="SimSun" panose="02010600030101010101" pitchFamily="2" charset="-122"/>
                      </a:endParaRPr>
                    </a:p>
                  </a:txBody>
                  <a:tcPr marL="68580" marR="68580" marT="0" marB="0"/>
                </a:tc>
                <a:extLst>
                  <a:ext uri="{0D108BD9-81ED-4DB2-BD59-A6C34878D82A}">
                    <a16:rowId xmlns:a16="http://schemas.microsoft.com/office/drawing/2014/main" val="2219792115"/>
                  </a:ext>
                </a:extLst>
              </a:tr>
              <a:tr h="370840">
                <a:tc>
                  <a:txBody>
                    <a:bodyPr/>
                    <a:lstStyle/>
                    <a:p>
                      <a:pPr marL="457200" algn="l">
                        <a:buNone/>
                      </a:pPr>
                      <a:r>
                        <a:rPr lang="en-US" sz="1400">
                          <a:solidFill>
                            <a:schemeClr val="bg1">
                              <a:lumMod val="75000"/>
                            </a:schemeClr>
                          </a:solidFill>
                          <a:effectLst/>
                        </a:rPr>
                        <a:t>0x200005E4</a:t>
                      </a:r>
                      <a:endParaRPr lang="en-US" sz="1400">
                        <a:solidFill>
                          <a:schemeClr val="bg1">
                            <a:lumMod val="75000"/>
                          </a:schemeClr>
                        </a:solidFill>
                        <a:effectLst/>
                        <a:latin typeface="Times New Roman" panose="02020603050405020304" pitchFamily="18" charset="0"/>
                        <a:ea typeface="SimSun" panose="02010600030101010101" pitchFamily="2" charset="-122"/>
                      </a:endParaRPr>
                    </a:p>
                  </a:txBody>
                  <a:tcPr marL="68580" marR="68580" marT="0" marB="0"/>
                </a:tc>
                <a:tc>
                  <a:txBody>
                    <a:bodyPr/>
                    <a:lstStyle/>
                    <a:p>
                      <a:pPr marL="457200" algn="l">
                        <a:buNone/>
                      </a:pPr>
                      <a:r>
                        <a:rPr lang="en-US" sz="1400">
                          <a:solidFill>
                            <a:schemeClr val="bg1">
                              <a:lumMod val="75000"/>
                            </a:schemeClr>
                          </a:solidFill>
                          <a:effectLst/>
                        </a:rPr>
                        <a:t>1 (R1)</a:t>
                      </a:r>
                      <a:endParaRPr lang="en-US" sz="1400">
                        <a:solidFill>
                          <a:schemeClr val="bg1">
                            <a:lumMod val="75000"/>
                          </a:schemeClr>
                        </a:solidFill>
                        <a:effectLst/>
                        <a:latin typeface="Times New Roman" panose="02020603050405020304" pitchFamily="18" charset="0"/>
                        <a:ea typeface="SimSun" panose="02010600030101010101" pitchFamily="2" charset="-122"/>
                      </a:endParaRPr>
                    </a:p>
                  </a:txBody>
                  <a:tcPr marL="68580" marR="68580" marT="0" marB="0"/>
                </a:tc>
                <a:extLst>
                  <a:ext uri="{0D108BD9-81ED-4DB2-BD59-A6C34878D82A}">
                    <a16:rowId xmlns:a16="http://schemas.microsoft.com/office/drawing/2014/main" val="1654564635"/>
                  </a:ext>
                </a:extLst>
              </a:tr>
              <a:tr h="370840">
                <a:tc>
                  <a:txBody>
                    <a:bodyPr/>
                    <a:lstStyle/>
                    <a:p>
                      <a:pPr marL="457200" algn="l">
                        <a:buNone/>
                      </a:pPr>
                      <a:r>
                        <a:rPr lang="en-US" sz="1400">
                          <a:solidFill>
                            <a:schemeClr val="bg1">
                              <a:lumMod val="75000"/>
                            </a:schemeClr>
                          </a:solidFill>
                          <a:effectLst/>
                        </a:rPr>
                        <a:t>0x200005E0</a:t>
                      </a:r>
                      <a:endParaRPr lang="en-US" sz="1400">
                        <a:solidFill>
                          <a:schemeClr val="bg1">
                            <a:lumMod val="75000"/>
                          </a:schemeClr>
                        </a:solidFill>
                        <a:effectLst/>
                        <a:latin typeface="Times New Roman" panose="02020603050405020304" pitchFamily="18" charset="0"/>
                        <a:ea typeface="SimSun" panose="02010600030101010101" pitchFamily="2" charset="-122"/>
                      </a:endParaRPr>
                    </a:p>
                  </a:txBody>
                  <a:tcPr marL="68580" marR="68580" marT="0" marB="0"/>
                </a:tc>
                <a:tc>
                  <a:txBody>
                    <a:bodyPr/>
                    <a:lstStyle/>
                    <a:p>
                      <a:pPr marL="457200" algn="l">
                        <a:buNone/>
                      </a:pPr>
                      <a:r>
                        <a:rPr lang="en-US" sz="1400">
                          <a:solidFill>
                            <a:schemeClr val="bg1">
                              <a:lumMod val="75000"/>
                            </a:schemeClr>
                          </a:solidFill>
                          <a:effectLst/>
                        </a:rPr>
                        <a:t>0 (R0)</a:t>
                      </a:r>
                      <a:endParaRPr lang="en-US" sz="1400">
                        <a:solidFill>
                          <a:schemeClr val="bg1">
                            <a:lumMod val="75000"/>
                          </a:schemeClr>
                        </a:solidFill>
                        <a:effectLst/>
                        <a:latin typeface="Times New Roman" panose="02020603050405020304" pitchFamily="18" charset="0"/>
                        <a:ea typeface="SimSun" panose="02010600030101010101" pitchFamily="2" charset="-122"/>
                      </a:endParaRPr>
                    </a:p>
                  </a:txBody>
                  <a:tcPr marL="68580" marR="68580" marT="0" marB="0"/>
                </a:tc>
                <a:extLst>
                  <a:ext uri="{0D108BD9-81ED-4DB2-BD59-A6C34878D82A}">
                    <a16:rowId xmlns:a16="http://schemas.microsoft.com/office/drawing/2014/main" val="2444150665"/>
                  </a:ext>
                </a:extLst>
              </a:tr>
              <a:tr h="370840">
                <a:tc>
                  <a:txBody>
                    <a:bodyPr/>
                    <a:lstStyle/>
                    <a:p>
                      <a:pPr marL="457200" algn="l">
                        <a:buNone/>
                      </a:pPr>
                      <a:r>
                        <a:rPr lang="en-US" sz="1400">
                          <a:solidFill>
                            <a:schemeClr val="bg1">
                              <a:lumMod val="75000"/>
                            </a:schemeClr>
                          </a:solidFill>
                          <a:effectLst/>
                        </a:rPr>
                        <a:t>0x200005DC</a:t>
                      </a:r>
                      <a:endParaRPr lang="en-US" sz="1400">
                        <a:solidFill>
                          <a:schemeClr val="bg1">
                            <a:lumMod val="75000"/>
                          </a:schemeClr>
                        </a:solidFill>
                        <a:effectLst/>
                        <a:latin typeface="Times New Roman" panose="02020603050405020304" pitchFamily="18" charset="0"/>
                        <a:ea typeface="SimSun" panose="02010600030101010101" pitchFamily="2" charset="-122"/>
                      </a:endParaRPr>
                    </a:p>
                  </a:txBody>
                  <a:tcPr marL="68580" marR="68580" marT="0" marB="0"/>
                </a:tc>
                <a:tc>
                  <a:txBody>
                    <a:bodyPr/>
                    <a:lstStyle/>
                    <a:p>
                      <a:pPr marL="457200" algn="l">
                        <a:buNone/>
                      </a:pPr>
                      <a:r>
                        <a:rPr lang="en-US" sz="1400" dirty="0">
                          <a:solidFill>
                            <a:schemeClr val="bg1">
                              <a:lumMod val="75000"/>
                            </a:schemeClr>
                          </a:solidFill>
                          <a:effectLst/>
                        </a:rPr>
                        <a:t> </a:t>
                      </a:r>
                      <a:endParaRPr lang="en-US" sz="1400" dirty="0">
                        <a:solidFill>
                          <a:schemeClr val="bg1">
                            <a:lumMod val="75000"/>
                          </a:schemeClr>
                        </a:solidFill>
                        <a:effectLst/>
                        <a:latin typeface="Times New Roman" panose="02020603050405020304" pitchFamily="18" charset="0"/>
                        <a:ea typeface="SimSun" panose="02010600030101010101" pitchFamily="2" charset="-122"/>
                      </a:endParaRPr>
                    </a:p>
                  </a:txBody>
                  <a:tcPr marL="68580" marR="68580" marT="0" marB="0"/>
                </a:tc>
                <a:extLst>
                  <a:ext uri="{0D108BD9-81ED-4DB2-BD59-A6C34878D82A}">
                    <a16:rowId xmlns:a16="http://schemas.microsoft.com/office/drawing/2014/main" val="3053191397"/>
                  </a:ext>
                </a:extLst>
              </a:tr>
            </a:tbl>
          </a:graphicData>
        </a:graphic>
      </p:graphicFrame>
    </p:spTree>
    <p:extLst>
      <p:ext uri="{BB962C8B-B14F-4D97-AF65-F5344CB8AC3E}">
        <p14:creationId xmlns:p14="http://schemas.microsoft.com/office/powerpoint/2010/main" val="126393661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5|18.9|6.9|6.4"/>
</p:tagLst>
</file>

<file path=ppt/tags/tag2.xml><?xml version="1.0" encoding="utf-8"?>
<p:tagLst xmlns:a="http://schemas.openxmlformats.org/drawingml/2006/main" xmlns:r="http://schemas.openxmlformats.org/officeDocument/2006/relationships" xmlns:p="http://schemas.openxmlformats.org/presentationml/2006/main">
  <p:tag name="TIMING" val="|15|18.9|6.9|6.4"/>
</p:tagLst>
</file>

<file path=ppt/tags/tag3.xml><?xml version="1.0" encoding="utf-8"?>
<p:tagLst xmlns:a="http://schemas.openxmlformats.org/drawingml/2006/main" xmlns:r="http://schemas.openxmlformats.org/officeDocument/2006/relationships" xmlns:p="http://schemas.openxmlformats.org/presentationml/2006/main">
  <p:tag name="TIMING" val="|15|18.9|6.9|6.4"/>
</p:tagLst>
</file>

<file path=ppt/tags/tag4.xml><?xml version="1.0" encoding="utf-8"?>
<p:tagLst xmlns:a="http://schemas.openxmlformats.org/drawingml/2006/main" xmlns:r="http://schemas.openxmlformats.org/officeDocument/2006/relationships" xmlns:p="http://schemas.openxmlformats.org/presentationml/2006/main">
  <p:tag name="TIMING" val="|15|18.9|6.9|6.4"/>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2_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3268</TotalTime>
  <Words>2266</Words>
  <Application>Microsoft Office PowerPoint</Application>
  <PresentationFormat>On-screen Show (4:3)</PresentationFormat>
  <Paragraphs>194</Paragraphs>
  <Slides>17</Slides>
  <Notes>7</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17</vt:i4>
      </vt:variant>
    </vt:vector>
  </HeadingPairs>
  <TitlesOfParts>
    <vt:vector size="29" baseType="lpstr">
      <vt:lpstr>Bookman Old Style (Headings)</vt:lpstr>
      <vt:lpstr>Gill Sans Light</vt:lpstr>
      <vt:lpstr>Bookman Old Style</vt:lpstr>
      <vt:lpstr>Calibri</vt:lpstr>
      <vt:lpstr>Cambria Math</vt:lpstr>
      <vt:lpstr>Consolas</vt:lpstr>
      <vt:lpstr>Gill Sans MT</vt:lpstr>
      <vt:lpstr>Times New Roman</vt:lpstr>
      <vt:lpstr>Wingdings</vt:lpstr>
      <vt:lpstr>Wingdings 3</vt:lpstr>
      <vt:lpstr>Origin</vt:lpstr>
      <vt:lpstr>2_Origin</vt:lpstr>
      <vt:lpstr>PowerPoint Presentation</vt:lpstr>
      <vt:lpstr>Summary of Equations</vt:lpstr>
      <vt:lpstr>Calculating ARR</vt:lpstr>
      <vt:lpstr>Calculating ARR ANS</vt:lpstr>
      <vt:lpstr>Ilkustrat ARR ANS</vt:lpstr>
      <vt:lpstr>Calculating ARR with prescaler</vt:lpstr>
      <vt:lpstr>Calculating ARR with prescaler ANS</vt:lpstr>
      <vt:lpstr>Calculating the ARR</vt:lpstr>
      <vt:lpstr>Calculating the ARR ANS</vt:lpstr>
      <vt:lpstr>Clock Frequency and Timer Frequency</vt:lpstr>
      <vt:lpstr>Clock Frequency and Timer Frequency ANS</vt:lpstr>
      <vt:lpstr>PWM duty cycle</vt:lpstr>
      <vt:lpstr>PWM duty cycle ANS</vt:lpstr>
      <vt:lpstr>Timer</vt:lpstr>
      <vt:lpstr>Timer ANS</vt:lpstr>
      <vt:lpstr>Interrupt (NOT COVERED)</vt:lpstr>
      <vt:lpstr>Interrupt ANS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 Yifeng Zhu Electrical and Computer Engineering University of Maine</dc:title>
  <dc:creator>zhu</dc:creator>
  <cp:lastModifiedBy>Zonghua Gu</cp:lastModifiedBy>
  <cp:revision>352</cp:revision>
  <cp:lastPrinted>2018-03-23T02:32:24Z</cp:lastPrinted>
  <dcterms:created xsi:type="dcterms:W3CDTF">2013-02-03T05:36:57Z</dcterms:created>
  <dcterms:modified xsi:type="dcterms:W3CDTF">2025-12-02T02:31:08Z</dcterms:modified>
</cp:coreProperties>
</file>