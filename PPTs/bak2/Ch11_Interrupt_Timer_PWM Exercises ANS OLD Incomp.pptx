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0"/>
  </p:notesMasterIdLst>
  <p:handoutMasterIdLst>
    <p:handoutMasterId r:id="rId11"/>
  </p:handoutMasterIdLst>
  <p:sldIdLst>
    <p:sldId id="256" r:id="rId3"/>
    <p:sldId id="314" r:id="rId4"/>
    <p:sldId id="324" r:id="rId5"/>
    <p:sldId id="327" r:id="rId6"/>
    <p:sldId id="318" r:id="rId7"/>
    <p:sldId id="322" r:id="rId8"/>
    <p:sldId id="311" r:id="rId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E2A68-189E-48B7-B18F-3D6CBC663442}" v="275" dt="2025-12-02T02:28:16.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042" autoAdjust="0"/>
    <p:restoredTop sz="80915" autoAdjust="0"/>
  </p:normalViewPr>
  <p:slideViewPr>
    <p:cSldViewPr>
      <p:cViewPr varScale="1">
        <p:scale>
          <a:sx n="66" d="100"/>
          <a:sy n="66" d="100"/>
        </p:scale>
        <p:origin x="2189" y="6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delMainMaster">
      <pc:chgData name="Zonghua Gu" userId="9a7e1853e1951ef5" providerId="LiveId" clId="{CF1FAA12-072C-4ED5-BA76-0FFFAEFDB88A}" dt="2025-12-02T02:29:42.585" v="1635" actId="2696"/>
      <pc:docMkLst>
        <pc:docMk/>
      </pc:docMkLst>
      <pc:sldChg chg="add">
        <pc:chgData name="Zonghua Gu" userId="9a7e1853e1951ef5" providerId="LiveId" clId="{CF1FAA12-072C-4ED5-BA76-0FFFAEFDB88A}" dt="2025-12-02T01:56:34.985" v="1415"/>
        <pc:sldMkLst>
          <pc:docMk/>
          <pc:sldMk cId="2573725380" sldId="311"/>
        </pc:sldMkLst>
      </pc:sldChg>
      <pc:sldChg chg="modSp del mod modNotesTx">
        <pc:chgData name="Zonghua Gu" userId="9a7e1853e1951ef5" providerId="LiveId" clId="{CF1FAA12-072C-4ED5-BA76-0FFFAEFDB88A}" dt="2025-12-02T02:29:42.585" v="1635" actId="2696"/>
        <pc:sldMkLst>
          <pc:docMk/>
          <pc:sldMk cId="931078930" sldId="315"/>
        </pc:sldMkLst>
        <pc:spChg chg="mod">
          <ac:chgData name="Zonghua Gu" userId="9a7e1853e1951ef5" providerId="LiveId" clId="{CF1FAA12-072C-4ED5-BA76-0FFFAEFDB88A}" dt="2025-12-02T02:28:16.804" v="1634" actId="6549"/>
          <ac:spMkLst>
            <pc:docMk/>
            <pc:sldMk cId="931078930" sldId="315"/>
            <ac:spMk id="4" creationId="{93A465D7-A56D-2251-BB5D-10176AEAE2C1}"/>
          </ac:spMkLst>
        </pc:spChg>
      </pc:sldChg>
      <pc:sldChg chg="modSp del mod ord">
        <pc:chgData name="Zonghua Gu" userId="9a7e1853e1951ef5" providerId="LiveId" clId="{CF1FAA12-072C-4ED5-BA76-0FFFAEFDB88A}" dt="2025-12-02T02:29:42.585" v="1635" actId="2696"/>
        <pc:sldMkLst>
          <pc:docMk/>
          <pc:sldMk cId="711508281" sldId="316"/>
        </pc:sldMkLst>
        <pc:spChg chg="mod">
          <ac:chgData name="Zonghua Gu" userId="9a7e1853e1951ef5" providerId="LiveId" clId="{CF1FAA12-072C-4ED5-BA76-0FFFAEFDB88A}" dt="2025-12-02T01:11:59.827" v="1221" actId="207"/>
          <ac:spMkLst>
            <pc:docMk/>
            <pc:sldMk cId="711508281" sldId="316"/>
            <ac:spMk id="2" creationId="{E9F2112C-584F-361C-F04D-047D28B34543}"/>
          </ac:spMkLst>
        </pc:spChg>
        <pc:spChg chg="mod">
          <ac:chgData name="Zonghua Gu" userId="9a7e1853e1951ef5" providerId="LiveId" clId="{CF1FAA12-072C-4ED5-BA76-0FFFAEFDB88A}" dt="2025-12-02T01:12:02.100" v="1222" actId="207"/>
          <ac:spMkLst>
            <pc:docMk/>
            <pc:sldMk cId="711508281" sldId="316"/>
            <ac:spMk id="4" creationId="{306AF55F-06A9-F112-5FB4-9B7BF0166B2C}"/>
          </ac:spMkLst>
        </pc:spChg>
      </pc:sldChg>
      <pc:sldChg chg="modSp del mod ord">
        <pc:chgData name="Zonghua Gu" userId="9a7e1853e1951ef5" providerId="LiveId" clId="{CF1FAA12-072C-4ED5-BA76-0FFFAEFDB88A}" dt="2025-12-02T02:29:42.585" v="1635" actId="2696"/>
        <pc:sldMkLst>
          <pc:docMk/>
          <pc:sldMk cId="1263936613" sldId="317"/>
        </pc:sldMkLst>
        <pc:spChg chg="mod">
          <ac:chgData name="Zonghua Gu" userId="9a7e1853e1951ef5" providerId="LiveId" clId="{CF1FAA12-072C-4ED5-BA76-0FFFAEFDB88A}" dt="2025-12-02T01:12:06.616" v="1223" actId="207"/>
          <ac:spMkLst>
            <pc:docMk/>
            <pc:sldMk cId="1263936613" sldId="317"/>
            <ac:spMk id="2" creationId="{80381413-78DE-49B8-B0C8-1A5AEBD8A8DF}"/>
          </ac:spMkLst>
        </pc:spChg>
        <pc:graphicFrameChg chg="modGraphic">
          <ac:chgData name="Zonghua Gu" userId="9a7e1853e1951ef5" providerId="LiveId" clId="{CF1FAA12-072C-4ED5-BA76-0FFFAEFDB88A}" dt="2025-12-02T01:12:15.135" v="1224" actId="207"/>
          <ac:graphicFrameMkLst>
            <pc:docMk/>
            <pc:sldMk cId="1263936613" sldId="317"/>
            <ac:graphicFrameMk id="7" creationId="{236CC83D-E382-1C35-9A67-05FC90821CD7}"/>
          </ac:graphicFrameMkLst>
        </pc:graphicFrameChg>
      </pc:sldChg>
      <pc:sldChg chg="modSp add mod">
        <pc:chgData name="Zonghua Gu" userId="9a7e1853e1951ef5" providerId="LiveId" clId="{CF1FAA12-072C-4ED5-BA76-0FFFAEFDB88A}" dt="2025-12-02T02:26:23.072" v="1616" actId="20577"/>
        <pc:sldMkLst>
          <pc:docMk/>
          <pc:sldMk cId="1182917876" sldId="318"/>
        </pc:sldMkLst>
        <pc:spChg chg="mod">
          <ac:chgData name="Zonghua Gu" userId="9a7e1853e1951ef5" providerId="LiveId" clId="{CF1FAA12-072C-4ED5-BA76-0FFFAEFDB88A}" dt="2025-12-02T02:26:23.072" v="1616" actId="20577"/>
          <ac:spMkLst>
            <pc:docMk/>
            <pc:sldMk cId="1182917876" sldId="318"/>
            <ac:spMk id="4" creationId="{00000000-0000-0000-0000-000000000000}"/>
          </ac:spMkLst>
        </pc:spChg>
      </pc:sldChg>
      <pc:sldChg chg="modSp del mod">
        <pc:chgData name="Zonghua Gu" userId="9a7e1853e1951ef5" providerId="LiveId" clId="{CF1FAA12-072C-4ED5-BA76-0FFFAEFDB88A}" dt="2025-12-02T02:27:48.704" v="1619" actId="47"/>
        <pc:sldMkLst>
          <pc:docMk/>
          <pc:sldMk cId="3607974989" sldId="319"/>
        </pc:sldMkLst>
        <pc:spChg chg="mod">
          <ac:chgData name="Zonghua Gu" userId="9a7e1853e1951ef5" providerId="LiveId" clId="{CF1FAA12-072C-4ED5-BA76-0FFFAEFDB88A}" dt="2025-12-02T02:27:45.865" v="1618" actId="21"/>
          <ac:spMkLst>
            <pc:docMk/>
            <pc:sldMk cId="3607974989" sldId="319"/>
            <ac:spMk id="4" creationId="{BB049634-DC49-9DF2-9DEE-AB904ABCF786}"/>
          </ac:spMkLst>
        </pc:spChg>
      </pc:sldChg>
      <pc:sldChg chg="addSp delSp modSp new del mod">
        <pc:chgData name="Zonghua Gu" userId="9a7e1853e1951ef5" providerId="LiveId" clId="{CF1FAA12-072C-4ED5-BA76-0FFFAEFDB88A}" dt="2025-12-02T02:29:42.585" v="1635" actId="2696"/>
        <pc:sldMkLst>
          <pc:docMk/>
          <pc:sldMk cId="3414502414" sldId="320"/>
        </pc:sldMkLst>
        <pc:spChg chg="mod">
          <ac:chgData name="Zonghua Gu" userId="9a7e1853e1951ef5" providerId="LiveId" clId="{CF1FAA12-072C-4ED5-BA76-0FFFAEFDB88A}" dt="2025-12-02T02:27:27.628" v="1617" actId="20577"/>
          <ac:spMkLst>
            <pc:docMk/>
            <pc:sldMk cId="3414502414" sldId="320"/>
            <ac:spMk id="4" creationId="{8691F9C2-52EA-94A0-4F55-CF24C8688B3A}"/>
          </ac:spMkLst>
        </pc:spChg>
        <pc:picChg chg="add del mod">
          <ac:chgData name="Zonghua Gu" userId="9a7e1853e1951ef5" providerId="LiveId" clId="{CF1FAA12-072C-4ED5-BA76-0FFFAEFDB88A}" dt="2025-12-02T01:54:45.364" v="1414" actId="478"/>
          <ac:picMkLst>
            <pc:docMk/>
            <pc:sldMk cId="3414502414" sldId="320"/>
            <ac:picMk id="6" creationId="{8FAB7E4A-C91A-3902-7C5B-E538181E6311}"/>
          </ac:picMkLst>
        </pc:picChg>
      </pc:sldChg>
      <pc:sldChg chg="add del">
        <pc:chgData name="Zonghua Gu" userId="9a7e1853e1951ef5" providerId="LiveId" clId="{CF1FAA12-072C-4ED5-BA76-0FFFAEFDB88A}" dt="2025-12-02T01:57:11.505" v="1416" actId="47"/>
        <pc:sldMkLst>
          <pc:docMk/>
          <pc:sldMk cId="4166934081" sldId="321"/>
        </pc:sldMkLst>
      </pc:sldChg>
      <pc:sldChg chg="add">
        <pc:chgData name="Zonghua Gu" userId="9a7e1853e1951ef5" providerId="LiveId" clId="{CF1FAA12-072C-4ED5-BA76-0FFFAEFDB88A}" dt="2025-12-02T01:56:34.985" v="1415"/>
        <pc:sldMkLst>
          <pc:docMk/>
          <pc:sldMk cId="1271958434" sldId="322"/>
        </pc:sldMkLst>
      </pc:sldChg>
      <pc:sldChg chg="modSp add mod">
        <pc:chgData name="Zonghua Gu" userId="9a7e1853e1951ef5" providerId="LiveId" clId="{CF1FAA12-072C-4ED5-BA76-0FFFAEFDB88A}" dt="2025-12-02T02:24:40.257" v="1583" actId="20577"/>
        <pc:sldMkLst>
          <pc:docMk/>
          <pc:sldMk cId="2719984395" sldId="324"/>
        </pc:sldMkLst>
        <pc:spChg chg="mod">
          <ac:chgData name="Zonghua Gu" userId="9a7e1853e1951ef5" providerId="LiveId" clId="{CF1FAA12-072C-4ED5-BA76-0FFFAEFDB88A}" dt="2025-12-02T02:24:40.257" v="1583" actId="20577"/>
          <ac:spMkLst>
            <pc:docMk/>
            <pc:sldMk cId="2719984395" sldId="324"/>
            <ac:spMk id="4" creationId="{00000000-0000-0000-0000-000000000000}"/>
          </ac:spMkLst>
        </pc:spChg>
      </pc:sldChg>
      <pc:sldChg chg="modSp add mod">
        <pc:chgData name="Zonghua Gu" userId="9a7e1853e1951ef5" providerId="LiveId" clId="{CF1FAA12-072C-4ED5-BA76-0FFFAEFDB88A}" dt="2025-12-02T02:24:43.759" v="1585" actId="20577"/>
        <pc:sldMkLst>
          <pc:docMk/>
          <pc:sldMk cId="134236884" sldId="327"/>
        </pc:sldMkLst>
        <pc:spChg chg="mod">
          <ac:chgData name="Zonghua Gu" userId="9a7e1853e1951ef5" providerId="LiveId" clId="{CF1FAA12-072C-4ED5-BA76-0FFFAEFDB88A}" dt="2025-12-02T02:24:43.759" v="1585" actId="20577"/>
          <ac:spMkLst>
            <pc:docMk/>
            <pc:sldMk cId="134236884" sldId="327"/>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12/1/2025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12/1/2025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12/1/2025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12/1/2025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12/1/2025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12/1/2025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0.png"/><Relationship Id="rId7" Type="http://schemas.openxmlformats.org/officeDocument/2006/relationships/image" Target="../media/image14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20.png"/><Relationship Id="rId4" Type="http://schemas.openxmlformats.org/officeDocument/2006/relationships/image" Target="../media/image110.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dirty="0">
                <a:solidFill>
                  <a:srgbClr val="C00000"/>
                </a:solidFill>
                <a:latin typeface="Gill Sans MT"/>
              </a:rPr>
              <a:t>Chapter 11</a:t>
            </a:r>
          </a:p>
          <a:p>
            <a:pPr algn="r" defTabSz="685800"/>
            <a:r>
              <a:rPr lang="en-US" b="1">
                <a:solidFill>
                  <a:srgbClr val="C00000"/>
                </a:solidFill>
                <a:latin typeface="Gill Sans MT"/>
              </a:rPr>
              <a:t>Interrupt, Timer </a:t>
            </a:r>
            <a:r>
              <a:rPr lang="en-US" b="1" dirty="0">
                <a:solidFill>
                  <a:srgbClr val="C00000"/>
                </a:solidFill>
                <a:latin typeface="Gill Sans MT"/>
              </a:rPr>
              <a:t>and PWM</a:t>
            </a:r>
          </a:p>
          <a:p>
            <a:pPr algn="r" defTabSz="685800"/>
            <a:r>
              <a:rPr lang="en-US" b="1" dirty="0">
                <a:solidFill>
                  <a:srgbClr val="C00000"/>
                </a:solidFill>
                <a:latin typeface="Gill Sans MT"/>
              </a:rPr>
              <a:t>Exercises ANS</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a:xfrm>
                <a:off x="304800" y="1143000"/>
                <a:ext cx="7747672" cy="50292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a:t>
                </a:r>
                <a14:m>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a:rPr>
                          <m:t>𝐶𝐾</m:t>
                        </m:r>
                        <m:r>
                          <a:rPr lang="en-US" sz="2000" i="1">
                            <a:solidFill>
                              <a:prstClr val="black"/>
                            </a:solidFill>
                            <a:latin typeface="Cambria Math"/>
                          </a:rPr>
                          <m:t>_</m:t>
                        </m:r>
                        <m:r>
                          <a:rPr lang="en-US" sz="2000" i="1">
                            <a:solidFill>
                              <a:prstClr val="black"/>
                            </a:solidFill>
                            <a:latin typeface="Cambria Math"/>
                          </a:rPr>
                          <m:t>𝐶𝑁𝑇</m:t>
                        </m:r>
                      </m:sub>
                    </m:sSub>
                    <m:r>
                      <a:rPr lang="en-US" sz="2000" i="1">
                        <a:solidFill>
                          <a:prstClr val="black"/>
                        </a:solidFill>
                        <a:latin typeface="Cambria Math" panose="02040503050406030204" pitchFamily="18" charset="0"/>
                      </a:rPr>
                      <m:t> </m:t>
                    </m:r>
                  </m:oMath>
                </a14:m>
                <a:r>
                  <a:rPr lang="en-US" sz="2000" dirty="0">
                    <a:solidFill>
                      <a:prstClr val="black"/>
                    </a:solidFill>
                  </a:rPr>
                  <a:t>= </a:t>
                </a:r>
                <a:r>
                  <a:rPr lang="en-US" sz="2000" dirty="0">
                    <a:solidFill>
                      <a:prstClr val="black"/>
                    </a:solidFill>
                    <a:latin typeface="Consolas" panose="020B0609020204030204" pitchFamily="49" charset="0"/>
                  </a:rPr>
                  <a:t>80 MHz</a:t>
                </a:r>
              </a:p>
              <a:p>
                <a:r>
                  <a:rPr lang="en-US" sz="2000" dirty="0"/>
                  <a:t>Goal: Timer Frequency </a:t>
                </a:r>
                <a14:m>
                  <m:oMath xmlns:m="http://schemas.openxmlformats.org/officeDocument/2006/math">
                    <m:r>
                      <a:rPr lang="en-US" sz="2000" i="1">
                        <a:solidFill>
                          <a:prstClr val="black"/>
                        </a:solidFill>
                        <a:latin typeface="Cambria Math" panose="02040503050406030204" pitchFamily="18" charset="0"/>
                      </a:rPr>
                      <m:t>𝑓</m:t>
                    </m:r>
                    <m:r>
                      <a:rPr lang="en-US" sz="2000" i="1" baseline="-25000">
                        <a:solidFill>
                          <a:prstClr val="black"/>
                        </a:solidFill>
                        <a:latin typeface="Cambria Math" panose="02040503050406030204" pitchFamily="18" charset="0"/>
                      </a:rPr>
                      <m:t>𝑇𝑖𝑚𝑒𝑟</m:t>
                    </m:r>
                    <m:r>
                      <a:rPr lang="en-US" sz="2000" i="1" baseline="-25000">
                        <a:solidFill>
                          <a:prstClr val="black"/>
                        </a:solidFill>
                        <a:latin typeface="Cambria Math" panose="02040503050406030204" pitchFamily="18" charset="0"/>
                      </a:rPr>
                      <m:t> </m:t>
                    </m:r>
                  </m:oMath>
                </a14:m>
                <a:r>
                  <a:rPr lang="en-US" sz="2000" dirty="0"/>
                  <a:t> = 100 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a:p>
                <a:pPr lvl="0">
                  <a:buClr>
                    <a:srgbClr val="4F81BD"/>
                  </a:buClr>
                </a:pPr>
                <a:r>
                  <a:rPr lang="en-US" sz="2000" dirty="0">
                    <a:solidFill>
                      <a:prstClr val="black"/>
                    </a:solidFill>
                  </a:rPr>
                  <a:t>ANS:</a:t>
                </a:r>
              </a:p>
              <a:p>
                <a:pPr lvl="0">
                  <a:buClr>
                    <a:srgbClr val="4F81BD"/>
                  </a:buClr>
                </a:pPr>
                <a:r>
                  <a:rPr lang="en-US" sz="2000" dirty="0">
                    <a:solidFill>
                      <a:prstClr val="black"/>
                    </a:solidFill>
                  </a:rPr>
                  <a:t>For 1. up-counting </a:t>
                </a:r>
                <a:r>
                  <a:rPr lang="en-US" altLang="zh-CN" sz="2000" dirty="0">
                    <a:solidFill>
                      <a:prstClr val="black"/>
                    </a:solidFill>
                  </a:rPr>
                  <a:t>mode</a:t>
                </a:r>
                <a:r>
                  <a:rPr lang="en-US" sz="2000" dirty="0">
                    <a:solidFill>
                      <a:prstClr val="black"/>
                    </a:solidFill>
                  </a:rPr>
                  <a:t>; 2. down-counting mode:</a:t>
                </a:r>
              </a:p>
              <a:p>
                <a:pPr lvl="1">
                  <a:buClr>
                    <a:srgbClr val="4F81BD"/>
                  </a:buClr>
                </a:pPr>
                <a14:m>
                  <m:oMath xmlns:m="http://schemas.openxmlformats.org/officeDocument/2006/math">
                    <m:r>
                      <a:rPr lang="en-US" sz="1800" i="1">
                        <a:solidFill>
                          <a:prstClr val="black"/>
                        </a:solidFill>
                        <a:latin typeface="Cambria Math" panose="02040503050406030204" pitchFamily="18" charset="0"/>
                      </a:rPr>
                      <m:t>𝑓</m:t>
                    </m:r>
                    <m:r>
                      <a:rPr lang="en-US" sz="1800" i="1" baseline="-25000">
                        <a:solidFill>
                          <a:prstClr val="black"/>
                        </a:solidFill>
                        <a:latin typeface="Cambria Math" panose="02040503050406030204" pitchFamily="18" charset="0"/>
                      </a:rPr>
                      <m:t>𝑇𝑖𝑚𝑒𝑟</m:t>
                    </m:r>
                    <m:r>
                      <a:rPr lang="en-US" sz="1800" i="1">
                        <a:solidFill>
                          <a:prstClr val="black"/>
                        </a:solidFill>
                        <a:latin typeface="Cambria Math" panose="02040503050406030204" pitchFamily="18" charset="0"/>
                      </a:rPr>
                      <m:t>=</m:t>
                    </m:r>
                    <m:f>
                      <m:fPr>
                        <m:ctrlPr>
                          <a:rPr lang="en-US" sz="1800" i="1">
                            <a:solidFill>
                              <a:prstClr val="black"/>
                            </a:solidFill>
                            <a:latin typeface="Cambria Math" panose="02040503050406030204" pitchFamily="18" charset="0"/>
                          </a:rPr>
                        </m:ctrlPr>
                      </m:fPr>
                      <m:num>
                        <m:sSub>
                          <m:sSubPr>
                            <m:ctrlPr>
                              <a:rPr lang="en-US" sz="1800" i="1">
                                <a:solidFill>
                                  <a:prstClr val="black"/>
                                </a:solidFill>
                                <a:latin typeface="Cambria Math" panose="02040503050406030204" pitchFamily="18" charset="0"/>
                              </a:rPr>
                            </m:ctrlPr>
                          </m:sSubPr>
                          <m:e>
                            <m:r>
                              <a:rPr lang="en-US" sz="1800" i="1">
                                <a:solidFill>
                                  <a:prstClr val="black"/>
                                </a:solidFill>
                                <a:latin typeface="Cambria Math"/>
                              </a:rPr>
                              <m:t>𝑓</m:t>
                            </m:r>
                          </m:e>
                          <m:sub>
                            <m:r>
                              <a:rPr lang="en-US" sz="1800" i="1">
                                <a:solidFill>
                                  <a:prstClr val="black"/>
                                </a:solidFill>
                                <a:latin typeface="Cambria Math"/>
                              </a:rPr>
                              <m:t>𝐶𝐾</m:t>
                            </m:r>
                            <m:r>
                              <a:rPr lang="en-US" sz="1800" i="1">
                                <a:solidFill>
                                  <a:prstClr val="black"/>
                                </a:solidFill>
                                <a:latin typeface="Cambria Math"/>
                              </a:rPr>
                              <m:t>_</m:t>
                            </m:r>
                            <m:r>
                              <a:rPr lang="en-US" sz="1800" i="1">
                                <a:solidFill>
                                  <a:prstClr val="black"/>
                                </a:solidFill>
                                <a:latin typeface="Cambria Math"/>
                              </a:rPr>
                              <m:t>𝐶𝑁𝑇</m:t>
                            </m:r>
                          </m:sub>
                        </m:sSub>
                      </m:num>
                      <m:den>
                        <m:r>
                          <a:rPr lang="en-US" sz="1800" i="1">
                            <a:solidFill>
                              <a:prstClr val="black"/>
                            </a:solidFill>
                            <a:latin typeface="Cambria Math" panose="02040503050406030204" pitchFamily="18" charset="0"/>
                          </a:rPr>
                          <m:t>𝐴𝑅𝑅</m:t>
                        </m:r>
                        <m:r>
                          <a:rPr lang="en-US" sz="1800" i="1">
                            <a:solidFill>
                              <a:prstClr val="black"/>
                            </a:solidFill>
                            <a:latin typeface="Cambria Math" panose="02040503050406030204" pitchFamily="18" charset="0"/>
                          </a:rPr>
                          <m:t>+1</m:t>
                        </m:r>
                      </m:den>
                    </m:f>
                    <m:r>
                      <a:rPr lang="en-US" sz="1800" b="0" i="1" smtClean="0">
                        <a:solidFill>
                          <a:prstClr val="black"/>
                        </a:solidFill>
                        <a:latin typeface="Cambria Math" panose="02040503050406030204" pitchFamily="18" charset="0"/>
                      </a:rPr>
                      <m:t>, </m:t>
                    </m:r>
                    <m:r>
                      <a:rPr lang="en-US" sz="1800" b="0" i="1" smtClean="0">
                        <a:solidFill>
                          <a:prstClr val="black"/>
                        </a:solidFill>
                        <a:latin typeface="Cambria Math" panose="02040503050406030204" pitchFamily="18" charset="0"/>
                      </a:rPr>
                      <m:t>𝐴𝑅𝑅</m:t>
                    </m:r>
                    <m:r>
                      <a:rPr lang="en-US" sz="1800" b="0" i="1" smtClean="0">
                        <a:solidFill>
                          <a:prstClr val="black"/>
                        </a:solidFill>
                        <a:latin typeface="Cambria Math" panose="02040503050406030204" pitchFamily="18" charset="0"/>
                      </a:rPr>
                      <m:t>=</m:t>
                    </m:r>
                    <m:f>
                      <m:fPr>
                        <m:ctrlPr>
                          <a:rPr lang="en-US" sz="1800" i="1">
                            <a:solidFill>
                              <a:prstClr val="black"/>
                            </a:solidFill>
                            <a:latin typeface="Cambria Math" panose="02040503050406030204" pitchFamily="18" charset="0"/>
                          </a:rPr>
                        </m:ctrlPr>
                      </m:fPr>
                      <m:num>
                        <m:sSub>
                          <m:sSubPr>
                            <m:ctrlPr>
                              <a:rPr lang="en-US" sz="1800" i="1">
                                <a:solidFill>
                                  <a:prstClr val="black"/>
                                </a:solidFill>
                                <a:latin typeface="Cambria Math" panose="02040503050406030204" pitchFamily="18" charset="0"/>
                              </a:rPr>
                            </m:ctrlPr>
                          </m:sSubPr>
                          <m:e>
                            <m:r>
                              <a:rPr lang="en-US" sz="1800" i="1">
                                <a:solidFill>
                                  <a:prstClr val="black"/>
                                </a:solidFill>
                                <a:latin typeface="Cambria Math"/>
                              </a:rPr>
                              <m:t>𝑓</m:t>
                            </m:r>
                          </m:e>
                          <m:sub>
                            <m:r>
                              <a:rPr lang="en-US" sz="1800" i="1">
                                <a:solidFill>
                                  <a:prstClr val="black"/>
                                </a:solidFill>
                                <a:latin typeface="Cambria Math"/>
                              </a:rPr>
                              <m:t>𝐶𝐾</m:t>
                            </m:r>
                            <m:r>
                              <a:rPr lang="en-US" sz="1800" i="1">
                                <a:solidFill>
                                  <a:prstClr val="black"/>
                                </a:solidFill>
                                <a:latin typeface="Cambria Math"/>
                              </a:rPr>
                              <m:t>_</m:t>
                            </m:r>
                            <m:r>
                              <a:rPr lang="en-US" sz="1800" i="1">
                                <a:solidFill>
                                  <a:prstClr val="black"/>
                                </a:solidFill>
                                <a:latin typeface="Cambria Math"/>
                              </a:rPr>
                              <m:t>𝐶𝑁𝑇</m:t>
                            </m:r>
                          </m:sub>
                        </m:sSub>
                      </m:num>
                      <m:den>
                        <m:r>
                          <a:rPr lang="en-US" sz="1800" i="1">
                            <a:solidFill>
                              <a:prstClr val="black"/>
                            </a:solidFill>
                            <a:latin typeface="Cambria Math" panose="02040503050406030204" pitchFamily="18" charset="0"/>
                          </a:rPr>
                          <m:t>𝑓</m:t>
                        </m:r>
                        <m:r>
                          <a:rPr lang="en-US" sz="1800" i="1" baseline="-25000">
                            <a:solidFill>
                              <a:prstClr val="black"/>
                            </a:solidFill>
                            <a:latin typeface="Cambria Math" panose="02040503050406030204" pitchFamily="18" charset="0"/>
                          </a:rPr>
                          <m:t>𝑇𝑖𝑚𝑒𝑟</m:t>
                        </m:r>
                      </m:den>
                    </m:f>
                    <m:r>
                      <a:rPr lang="en-US" sz="1800" b="0" i="1" smtClean="0">
                        <a:solidFill>
                          <a:prstClr val="black"/>
                        </a:solidFill>
                        <a:latin typeface="Cambria Math" panose="02040503050406030204" pitchFamily="18" charset="0"/>
                      </a:rPr>
                      <m:t>−1=</m:t>
                    </m:r>
                    <m:f>
                      <m:fPr>
                        <m:ctrlPr>
                          <a:rPr lang="en-US" sz="1800" b="0" i="1" smtClean="0">
                            <a:solidFill>
                              <a:prstClr val="black"/>
                            </a:solidFill>
                            <a:latin typeface="Cambria Math" panose="02040503050406030204" pitchFamily="18" charset="0"/>
                          </a:rPr>
                        </m:ctrlPr>
                      </m:fPr>
                      <m:num>
                        <m:r>
                          <a:rPr lang="en-US" sz="1800" b="0" i="1" smtClean="0">
                            <a:solidFill>
                              <a:prstClr val="black"/>
                            </a:solidFill>
                            <a:latin typeface="Cambria Math" panose="02040503050406030204" pitchFamily="18" charset="0"/>
                          </a:rPr>
                          <m:t>80</m:t>
                        </m:r>
                        <m:r>
                          <a:rPr lang="en-US" sz="1800" b="0" i="1" smtClean="0">
                            <a:solidFill>
                              <a:prstClr val="black"/>
                            </a:solidFill>
                            <a:latin typeface="Cambria Math" panose="02040503050406030204" pitchFamily="18" charset="0"/>
                          </a:rPr>
                          <m:t>𝑀𝐻𝑧</m:t>
                        </m:r>
                      </m:num>
                      <m:den>
                        <m:r>
                          <a:rPr lang="en-US" sz="1800" b="0" i="1" smtClean="0">
                            <a:solidFill>
                              <a:prstClr val="black"/>
                            </a:solidFill>
                            <a:latin typeface="Cambria Math" panose="02040503050406030204" pitchFamily="18" charset="0"/>
                          </a:rPr>
                          <m:t>100</m:t>
                        </m:r>
                        <m:r>
                          <a:rPr lang="en-US" sz="1800" b="0" i="1" smtClean="0">
                            <a:solidFill>
                              <a:prstClr val="black"/>
                            </a:solidFill>
                            <a:latin typeface="Cambria Math" panose="02040503050406030204" pitchFamily="18" charset="0"/>
                          </a:rPr>
                          <m:t>𝐻𝑧</m:t>
                        </m:r>
                      </m:den>
                    </m:f>
                    <m:r>
                      <a:rPr lang="en-US" sz="1800" b="0" i="1" smtClean="0">
                        <a:solidFill>
                          <a:prstClr val="black"/>
                        </a:solidFill>
                        <a:latin typeface="Cambria Math" panose="02040503050406030204" pitchFamily="18" charset="0"/>
                      </a:rPr>
                      <m:t>−1=800,000−1=799,999</m:t>
                    </m:r>
                  </m:oMath>
                </a14:m>
                <a:endParaRPr lang="en-US" sz="1700" dirty="0">
                  <a:solidFill>
                    <a:prstClr val="black"/>
                  </a:solidFill>
                </a:endParaRPr>
              </a:p>
              <a:p>
                <a:pPr>
                  <a:buClr>
                    <a:srgbClr val="4F81BD"/>
                  </a:buClr>
                </a:pPr>
                <a:r>
                  <a:rPr lang="en-US" sz="2000" dirty="0">
                    <a:solidFill>
                      <a:prstClr val="black"/>
                    </a:solidFill>
                  </a:rPr>
                  <a:t>For 3. center-aligned counting mode:</a:t>
                </a:r>
              </a:p>
              <a:p>
                <a:pPr lvl="1">
                  <a:buClr>
                    <a:srgbClr val="4F81BD"/>
                  </a:buClr>
                </a:pPr>
                <a14:m>
                  <m:oMath xmlns:m="http://schemas.openxmlformats.org/officeDocument/2006/math">
                    <m:r>
                      <a:rPr lang="en-US" sz="1600" i="1">
                        <a:solidFill>
                          <a:prstClr val="black"/>
                        </a:solidFill>
                        <a:latin typeface="Cambria Math" panose="02040503050406030204" pitchFamily="18" charset="0"/>
                      </a:rPr>
                      <m:t>𝑓</m:t>
                    </m:r>
                    <m:r>
                      <a:rPr lang="en-US" sz="1600" i="1" baseline="-25000">
                        <a:solidFill>
                          <a:prstClr val="black"/>
                        </a:solidFill>
                        <a:latin typeface="Cambria Math" panose="02040503050406030204" pitchFamily="18" charset="0"/>
                      </a:rPr>
                      <m:t>𝑇𝑖𝑚𝑒𝑟</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b="0" i="1" smtClean="0">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𝐴𝑅𝑅</m:t>
                        </m:r>
                      </m:den>
                    </m:f>
                    <m:r>
                      <a:rPr lang="en-US" sz="1600" i="1">
                        <a:solidFill>
                          <a:prstClr val="black"/>
                        </a:solidFill>
                        <a:latin typeface="Cambria Math" panose="02040503050406030204" pitchFamily="18" charset="0"/>
                      </a:rPr>
                      <m:t>, </m:t>
                    </m:r>
                    <m:r>
                      <a:rPr lang="en-US" sz="1600" i="1">
                        <a:solidFill>
                          <a:prstClr val="black"/>
                        </a:solidFill>
                        <a:latin typeface="Cambria Math" panose="02040503050406030204" pitchFamily="18" charset="0"/>
                      </a:rPr>
                      <m:t>𝐴𝑅𝑅</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b="0" i="1" smtClean="0">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𝑓</m:t>
                        </m:r>
                        <m:r>
                          <a:rPr lang="en-US" sz="1600" i="1" baseline="-25000">
                            <a:solidFill>
                              <a:prstClr val="black"/>
                            </a:solidFill>
                            <a:latin typeface="Cambria Math" panose="02040503050406030204" pitchFamily="18" charset="0"/>
                          </a:rPr>
                          <m:t>𝑇𝑖𝑚𝑒𝑟</m:t>
                        </m:r>
                      </m:den>
                    </m:f>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r>
                          <a:rPr lang="en-US" sz="1600" i="1">
                            <a:solidFill>
                              <a:prstClr val="black"/>
                            </a:solidFill>
                            <a:latin typeface="Cambria Math" panose="02040503050406030204" pitchFamily="18" charset="0"/>
                          </a:rPr>
                          <m:t>80</m:t>
                        </m:r>
                        <m:r>
                          <a:rPr lang="en-US" sz="1600" i="1">
                            <a:solidFill>
                              <a:prstClr val="black"/>
                            </a:solidFill>
                            <a:latin typeface="Cambria Math" panose="02040503050406030204" pitchFamily="18" charset="0"/>
                          </a:rPr>
                          <m:t>𝑀𝐻𝑧</m:t>
                        </m:r>
                      </m:num>
                      <m:den>
                        <m:r>
                          <a:rPr lang="en-US" sz="1600" b="0" i="1" smtClean="0">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00</m:t>
                        </m:r>
                        <m:r>
                          <a:rPr lang="en-US" sz="1600" i="1">
                            <a:solidFill>
                              <a:prstClr val="black"/>
                            </a:solidFill>
                            <a:latin typeface="Cambria Math" panose="02040503050406030204" pitchFamily="18" charset="0"/>
                          </a:rPr>
                          <m:t>𝐻𝑧</m:t>
                        </m:r>
                      </m:den>
                    </m:f>
                    <m:r>
                      <a:rPr lang="en-US" sz="1600" i="1">
                        <a:solidFill>
                          <a:prstClr val="black"/>
                        </a:solidFill>
                        <a:latin typeface="Cambria Math" panose="02040503050406030204" pitchFamily="18" charset="0"/>
                      </a:rPr>
                      <m:t>=</m:t>
                    </m:r>
                    <m:r>
                      <a:rPr lang="en-US" sz="1600" b="0" i="1" smtClean="0">
                        <a:solidFill>
                          <a:prstClr val="black"/>
                        </a:solidFill>
                        <a:latin typeface="Cambria Math" panose="02040503050406030204" pitchFamily="18" charset="0"/>
                      </a:rPr>
                      <m:t>4</m:t>
                    </m:r>
                    <m:r>
                      <a:rPr lang="en-US" sz="1600" i="1">
                        <a:solidFill>
                          <a:prstClr val="black"/>
                        </a:solidFill>
                        <a:latin typeface="Cambria Math" panose="02040503050406030204" pitchFamily="18" charset="0"/>
                      </a:rPr>
                      <m:t>00,000</m:t>
                    </m:r>
                  </m:oMath>
                </a14:m>
                <a:endParaRPr lang="en-US" sz="1600" dirty="0">
                  <a:solidFill>
                    <a:prstClr val="black"/>
                  </a:solidFill>
                </a:endParaRPr>
              </a:p>
              <a:p>
                <a:pPr lvl="1">
                  <a:buClr>
                    <a:srgbClr val="4F81BD"/>
                  </a:buClr>
                </a:pPr>
                <a:endParaRPr lang="en-US" sz="1700" dirty="0">
                  <a:solidFill>
                    <a:prstClr val="black"/>
                  </a:solidFill>
                </a:endParaRPr>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xfrm>
                <a:off x="304800" y="1143000"/>
                <a:ext cx="7747672" cy="5029200"/>
              </a:xfrm>
              <a:blipFill>
                <a:blip r:embed="rId4"/>
                <a:stretch>
                  <a:fillRect l="-315" t="-72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a:xfrm>
                <a:off x="304800" y="1143000"/>
                <a:ext cx="7747672" cy="4876800"/>
              </a:xfrm>
            </p:spPr>
            <p:txBody>
              <a:bodyPr>
                <a:noAutofit/>
              </a:bodyPr>
              <a:lstStyle/>
              <a:p>
                <a:r>
                  <a:rPr lang="en-US" sz="2000" dirty="0"/>
                  <a:t>Suppose CPU Clock </a:t>
                </a:r>
                <a:r>
                  <a:rPr lang="en-US" altLang="zh-CN" sz="2000" dirty="0"/>
                  <a:t>Frequency</a:t>
                </a:r>
                <a:r>
                  <a:rPr lang="en-US" sz="2000" dirty="0"/>
                  <a:t> </a:t>
                </a:r>
                <a14:m>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panose="02040503050406030204" pitchFamily="18" charset="0"/>
                          </a:rPr>
                          <m:t>𝑆𝑂𝑈𝑅𝐶𝐸</m:t>
                        </m:r>
                      </m:sub>
                    </m:sSub>
                    <m:r>
                      <a:rPr lang="en-US" sz="2000" i="1">
                        <a:solidFill>
                          <a:prstClr val="black"/>
                        </a:solidFill>
                        <a:latin typeface="Cambria Math" panose="02040503050406030204" pitchFamily="18" charset="0"/>
                      </a:rPr>
                      <m:t> </m:t>
                    </m:r>
                  </m:oMath>
                </a14:m>
                <a:r>
                  <a:rPr lang="en-US" sz="2000" dirty="0"/>
                  <a:t>= </a:t>
                </a:r>
                <a:r>
                  <a:rPr lang="en-US" sz="2000" dirty="0">
                    <a:latin typeface="Consolas" panose="020B0609020204030204" pitchFamily="49" charset="0"/>
                  </a:rPr>
                  <a:t>80 MHz, PSC=79</a:t>
                </a:r>
              </a:p>
              <a:p>
                <a:r>
                  <a:rPr lang="en-US" sz="2000" dirty="0"/>
                  <a:t>Goal: Timer Frequency </a:t>
                </a:r>
                <a14:m>
                  <m:oMath xmlns:m="http://schemas.openxmlformats.org/officeDocument/2006/math">
                    <m:r>
                      <a:rPr lang="en-US" sz="2000" i="1">
                        <a:solidFill>
                          <a:prstClr val="black"/>
                        </a:solidFill>
                        <a:latin typeface="Cambria Math" panose="02040503050406030204" pitchFamily="18" charset="0"/>
                      </a:rPr>
                      <m:t>𝑓</m:t>
                    </m:r>
                    <m:r>
                      <a:rPr lang="en-US" sz="2000" i="1" baseline="-25000">
                        <a:solidFill>
                          <a:prstClr val="black"/>
                        </a:solidFill>
                        <a:latin typeface="Cambria Math" panose="02040503050406030204" pitchFamily="18" charset="0"/>
                      </a:rPr>
                      <m:t>𝑇𝑖𝑚𝑒𝑟</m:t>
                    </m:r>
                    <m:r>
                      <a:rPr lang="en-US" sz="2000" i="1" baseline="-25000">
                        <a:solidFill>
                          <a:prstClr val="black"/>
                        </a:solidFill>
                        <a:latin typeface="Cambria Math" panose="02040503050406030204" pitchFamily="18" charset="0"/>
                      </a:rPr>
                      <m:t> </m:t>
                    </m:r>
                  </m:oMath>
                </a14:m>
                <a:r>
                  <a:rPr lang="en-US" sz="2000" dirty="0"/>
                  <a:t>= 100 Hz</a:t>
                </a:r>
              </a:p>
              <a:p>
                <a:r>
                  <a:rPr lang="en-US" sz="2000" dirty="0"/>
                  <a:t>What should the ARR value be for 1. up-counting </a:t>
                </a:r>
                <a:r>
                  <a:rPr lang="en-US" altLang="zh-CN" sz="2000" dirty="0"/>
                  <a:t>mode</a:t>
                </a:r>
                <a:r>
                  <a:rPr lang="en-US" sz="2000" dirty="0"/>
                  <a:t>; 2. down-counting mode; 3. center-aligned counting mode?</a:t>
                </a:r>
              </a:p>
              <a:p>
                <a:r>
                  <a:rPr lang="en-US" sz="2000" dirty="0"/>
                  <a:t>ANS: </a:t>
                </a:r>
                <a:r>
                  <a:rPr lang="en-US" sz="2000" dirty="0">
                    <a:solidFill>
                      <a:prstClr val="black"/>
                    </a:solidFill>
                  </a:rPr>
                  <a:t>Timer Clock </a:t>
                </a:r>
                <a:r>
                  <a:rPr lang="en-US" altLang="zh-CN" sz="2000" dirty="0">
                    <a:solidFill>
                      <a:prstClr val="black"/>
                    </a:solidFill>
                  </a:rPr>
                  <a:t>Frequency</a:t>
                </a:r>
                <a:r>
                  <a:rPr lang="en-US" sz="2000" dirty="0">
                    <a:solidFill>
                      <a:prstClr val="black"/>
                    </a:solidFill>
                  </a:rPr>
                  <a:t> </a:t>
                </a:r>
                <a14:m>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a:rPr>
                          <m:t>𝐶𝐾</m:t>
                        </m:r>
                        <m:r>
                          <a:rPr lang="en-US" sz="2000" i="1">
                            <a:solidFill>
                              <a:prstClr val="black"/>
                            </a:solidFill>
                            <a:latin typeface="Cambria Math"/>
                          </a:rPr>
                          <m:t>_</m:t>
                        </m:r>
                        <m:r>
                          <a:rPr lang="en-US" sz="2000" i="1">
                            <a:solidFill>
                              <a:prstClr val="black"/>
                            </a:solidFill>
                            <a:latin typeface="Cambria Math"/>
                          </a:rPr>
                          <m:t>𝐶𝑁𝑇</m:t>
                        </m:r>
                      </m:sub>
                    </m:sSub>
                    <m:r>
                      <a:rPr lang="en-US" sz="2000" i="1">
                        <a:solidFill>
                          <a:prstClr val="black"/>
                        </a:solidFill>
                        <a:latin typeface="Cambria Math"/>
                      </a:rPr>
                      <m:t>=</m:t>
                    </m:r>
                    <m:f>
                      <m:fPr>
                        <m:ctrlPr>
                          <a:rPr lang="en-US" sz="2000" i="1">
                            <a:solidFill>
                              <a:prstClr val="black"/>
                            </a:solidFill>
                            <a:latin typeface="Cambria Math" panose="02040503050406030204" pitchFamily="18" charset="0"/>
                          </a:rPr>
                        </m:ctrlPr>
                      </m:fPr>
                      <m:num>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panose="02040503050406030204" pitchFamily="18" charset="0"/>
                              </a:rPr>
                              <m:t>𝑆𝑂𝑈𝑅𝐶𝐸</m:t>
                            </m:r>
                          </m:sub>
                        </m:sSub>
                      </m:num>
                      <m:den>
                        <m:r>
                          <a:rPr lang="en-US" sz="2000" i="1">
                            <a:solidFill>
                              <a:prstClr val="black"/>
                            </a:solidFill>
                            <a:latin typeface="Cambria Math" panose="02040503050406030204" pitchFamily="18" charset="0"/>
                          </a:rPr>
                          <m:t>𝑃𝑆𝐶</m:t>
                        </m:r>
                        <m:r>
                          <a:rPr lang="en-US" sz="2000" i="1">
                            <a:solidFill>
                              <a:prstClr val="black"/>
                            </a:solidFill>
                            <a:latin typeface="Cambria Math"/>
                          </a:rPr>
                          <m:t>+1</m:t>
                        </m:r>
                      </m:den>
                    </m:f>
                    <m:r>
                      <a:rPr lang="en-US" sz="2000" b="0" i="1" smtClean="0">
                        <a:solidFill>
                          <a:prstClr val="black"/>
                        </a:solidFill>
                        <a:latin typeface="Cambria Math" panose="02040503050406030204" pitchFamily="18" charset="0"/>
                      </a:rPr>
                      <m:t>=</m:t>
                    </m:r>
                    <m:f>
                      <m:fPr>
                        <m:ctrlPr>
                          <a:rPr lang="en-US" sz="2000" b="0" i="1" smtClean="0">
                            <a:solidFill>
                              <a:prstClr val="black"/>
                            </a:solidFill>
                            <a:latin typeface="Cambria Math" panose="02040503050406030204" pitchFamily="18" charset="0"/>
                          </a:rPr>
                        </m:ctrlPr>
                      </m:fPr>
                      <m:num>
                        <m:r>
                          <a:rPr lang="en-US" sz="2000" b="0" i="1" smtClean="0">
                            <a:solidFill>
                              <a:prstClr val="black"/>
                            </a:solidFill>
                            <a:latin typeface="Cambria Math" panose="02040503050406030204" pitchFamily="18" charset="0"/>
                          </a:rPr>
                          <m:t>80 </m:t>
                        </m:r>
                        <m:r>
                          <a:rPr lang="en-US" sz="2000" b="0" i="1" smtClean="0">
                            <a:solidFill>
                              <a:prstClr val="black"/>
                            </a:solidFill>
                            <a:latin typeface="Cambria Math" panose="02040503050406030204" pitchFamily="18" charset="0"/>
                          </a:rPr>
                          <m:t>𝑀𝐻𝑧</m:t>
                        </m:r>
                      </m:num>
                      <m:den>
                        <m:r>
                          <a:rPr lang="en-US" sz="2000" b="0" i="1" smtClean="0">
                            <a:solidFill>
                              <a:prstClr val="black"/>
                            </a:solidFill>
                            <a:latin typeface="Cambria Math" panose="02040503050406030204" pitchFamily="18" charset="0"/>
                          </a:rPr>
                          <m:t>79+1</m:t>
                        </m:r>
                      </m:den>
                    </m:f>
                    <m:r>
                      <a:rPr lang="en-US" sz="2000" b="0" i="1" smtClean="0">
                        <a:solidFill>
                          <a:prstClr val="black"/>
                        </a:solidFill>
                        <a:latin typeface="Cambria Math" panose="02040503050406030204" pitchFamily="18" charset="0"/>
                      </a:rPr>
                      <m:t>=1</m:t>
                    </m:r>
                    <m:r>
                      <a:rPr lang="en-US" sz="2000" b="0" i="1" smtClean="0">
                        <a:solidFill>
                          <a:prstClr val="black"/>
                        </a:solidFill>
                        <a:latin typeface="Cambria Math" panose="02040503050406030204" pitchFamily="18" charset="0"/>
                      </a:rPr>
                      <m:t>𝑀𝐻𝑧</m:t>
                    </m:r>
                  </m:oMath>
                </a14:m>
                <a:endParaRPr lang="en-US" sz="2000" dirty="0"/>
              </a:p>
              <a:p>
                <a:pPr lvl="0">
                  <a:buClr>
                    <a:srgbClr val="4F81BD"/>
                  </a:buClr>
                </a:pPr>
                <a:r>
                  <a:rPr lang="en-US" sz="2000" dirty="0">
                    <a:solidFill>
                      <a:prstClr val="black"/>
                    </a:solidFill>
                  </a:rPr>
                  <a:t>For 1. up-counting </a:t>
                </a:r>
                <a:r>
                  <a:rPr lang="en-US" altLang="zh-CN" sz="2000" dirty="0">
                    <a:solidFill>
                      <a:prstClr val="black"/>
                    </a:solidFill>
                  </a:rPr>
                  <a:t>mode</a:t>
                </a:r>
                <a:r>
                  <a:rPr lang="en-US" sz="2000" dirty="0">
                    <a:solidFill>
                      <a:prstClr val="black"/>
                    </a:solidFill>
                  </a:rPr>
                  <a:t>; 2. down-counting mode:</a:t>
                </a:r>
              </a:p>
              <a:p>
                <a:pPr lvl="1">
                  <a:buClr>
                    <a:srgbClr val="4F81BD"/>
                  </a:buClr>
                </a:pPr>
                <a14:m>
                  <m:oMath xmlns:m="http://schemas.openxmlformats.org/officeDocument/2006/math">
                    <m:r>
                      <a:rPr lang="en-US" sz="1800" i="1">
                        <a:solidFill>
                          <a:prstClr val="black"/>
                        </a:solidFill>
                        <a:latin typeface="Cambria Math" panose="02040503050406030204" pitchFamily="18" charset="0"/>
                      </a:rPr>
                      <m:t>𝑓</m:t>
                    </m:r>
                    <m:r>
                      <a:rPr lang="en-US" sz="1800" i="1" baseline="-25000">
                        <a:solidFill>
                          <a:prstClr val="black"/>
                        </a:solidFill>
                        <a:latin typeface="Cambria Math" panose="02040503050406030204" pitchFamily="18" charset="0"/>
                      </a:rPr>
                      <m:t>𝑇𝑖𝑚𝑒𝑟</m:t>
                    </m:r>
                    <m:r>
                      <a:rPr lang="en-US" sz="1800" i="1">
                        <a:solidFill>
                          <a:prstClr val="black"/>
                        </a:solidFill>
                        <a:latin typeface="Cambria Math" panose="02040503050406030204" pitchFamily="18" charset="0"/>
                      </a:rPr>
                      <m:t>=</m:t>
                    </m:r>
                    <m:f>
                      <m:fPr>
                        <m:ctrlPr>
                          <a:rPr lang="en-US" sz="1800" i="1">
                            <a:solidFill>
                              <a:prstClr val="black"/>
                            </a:solidFill>
                            <a:latin typeface="Cambria Math" panose="02040503050406030204" pitchFamily="18" charset="0"/>
                          </a:rPr>
                        </m:ctrlPr>
                      </m:fPr>
                      <m:num>
                        <m:sSub>
                          <m:sSubPr>
                            <m:ctrlPr>
                              <a:rPr lang="en-US" sz="1800" i="1">
                                <a:solidFill>
                                  <a:prstClr val="black"/>
                                </a:solidFill>
                                <a:latin typeface="Cambria Math" panose="02040503050406030204" pitchFamily="18" charset="0"/>
                              </a:rPr>
                            </m:ctrlPr>
                          </m:sSubPr>
                          <m:e>
                            <m:r>
                              <a:rPr lang="en-US" sz="1800" i="1">
                                <a:solidFill>
                                  <a:prstClr val="black"/>
                                </a:solidFill>
                                <a:latin typeface="Cambria Math"/>
                              </a:rPr>
                              <m:t>𝑓</m:t>
                            </m:r>
                          </m:e>
                          <m:sub>
                            <m:r>
                              <a:rPr lang="en-US" sz="1800" i="1">
                                <a:solidFill>
                                  <a:prstClr val="black"/>
                                </a:solidFill>
                                <a:latin typeface="Cambria Math"/>
                              </a:rPr>
                              <m:t>𝐶𝐾</m:t>
                            </m:r>
                            <m:r>
                              <a:rPr lang="en-US" sz="1800" i="1">
                                <a:solidFill>
                                  <a:prstClr val="black"/>
                                </a:solidFill>
                                <a:latin typeface="Cambria Math"/>
                              </a:rPr>
                              <m:t>_</m:t>
                            </m:r>
                            <m:r>
                              <a:rPr lang="en-US" sz="1800" i="1">
                                <a:solidFill>
                                  <a:prstClr val="black"/>
                                </a:solidFill>
                                <a:latin typeface="Cambria Math"/>
                              </a:rPr>
                              <m:t>𝐶𝑁𝑇</m:t>
                            </m:r>
                          </m:sub>
                        </m:sSub>
                      </m:num>
                      <m:den>
                        <m:r>
                          <a:rPr lang="en-US" sz="1800" i="1">
                            <a:solidFill>
                              <a:prstClr val="black"/>
                            </a:solidFill>
                            <a:latin typeface="Cambria Math" panose="02040503050406030204" pitchFamily="18" charset="0"/>
                          </a:rPr>
                          <m:t>𝐴𝑅𝑅</m:t>
                        </m:r>
                        <m:r>
                          <a:rPr lang="en-US" sz="1800" i="1">
                            <a:solidFill>
                              <a:prstClr val="black"/>
                            </a:solidFill>
                            <a:latin typeface="Cambria Math" panose="02040503050406030204" pitchFamily="18" charset="0"/>
                          </a:rPr>
                          <m:t>+1</m:t>
                        </m:r>
                      </m:den>
                    </m:f>
                    <m:r>
                      <a:rPr lang="en-US" sz="1800" i="1">
                        <a:solidFill>
                          <a:prstClr val="black"/>
                        </a:solidFill>
                        <a:latin typeface="Cambria Math" panose="02040503050406030204" pitchFamily="18" charset="0"/>
                      </a:rPr>
                      <m:t>, </m:t>
                    </m:r>
                    <m:r>
                      <a:rPr lang="en-US" sz="1800" i="1">
                        <a:solidFill>
                          <a:prstClr val="black"/>
                        </a:solidFill>
                        <a:latin typeface="Cambria Math" panose="02040503050406030204" pitchFamily="18" charset="0"/>
                      </a:rPr>
                      <m:t>𝐴𝑅𝑅</m:t>
                    </m:r>
                    <m:r>
                      <a:rPr lang="en-US" sz="1800" i="1">
                        <a:solidFill>
                          <a:prstClr val="black"/>
                        </a:solidFill>
                        <a:latin typeface="Cambria Math" panose="02040503050406030204" pitchFamily="18" charset="0"/>
                      </a:rPr>
                      <m:t>=</m:t>
                    </m:r>
                    <m:f>
                      <m:fPr>
                        <m:ctrlPr>
                          <a:rPr lang="en-US" sz="1800" i="1">
                            <a:solidFill>
                              <a:prstClr val="black"/>
                            </a:solidFill>
                            <a:latin typeface="Cambria Math" panose="02040503050406030204" pitchFamily="18" charset="0"/>
                          </a:rPr>
                        </m:ctrlPr>
                      </m:fPr>
                      <m:num>
                        <m:sSub>
                          <m:sSubPr>
                            <m:ctrlPr>
                              <a:rPr lang="en-US" sz="1800" i="1">
                                <a:solidFill>
                                  <a:prstClr val="black"/>
                                </a:solidFill>
                                <a:latin typeface="Cambria Math" panose="02040503050406030204" pitchFamily="18" charset="0"/>
                              </a:rPr>
                            </m:ctrlPr>
                          </m:sSubPr>
                          <m:e>
                            <m:r>
                              <a:rPr lang="en-US" sz="1800" i="1">
                                <a:solidFill>
                                  <a:prstClr val="black"/>
                                </a:solidFill>
                                <a:latin typeface="Cambria Math"/>
                              </a:rPr>
                              <m:t>𝑓</m:t>
                            </m:r>
                          </m:e>
                          <m:sub>
                            <m:r>
                              <a:rPr lang="en-US" sz="1800" i="1">
                                <a:solidFill>
                                  <a:prstClr val="black"/>
                                </a:solidFill>
                                <a:latin typeface="Cambria Math"/>
                              </a:rPr>
                              <m:t>𝐶𝐾</m:t>
                            </m:r>
                            <m:r>
                              <a:rPr lang="en-US" sz="1800" i="1">
                                <a:solidFill>
                                  <a:prstClr val="black"/>
                                </a:solidFill>
                                <a:latin typeface="Cambria Math"/>
                              </a:rPr>
                              <m:t>_</m:t>
                            </m:r>
                            <m:r>
                              <a:rPr lang="en-US" sz="1800" i="1">
                                <a:solidFill>
                                  <a:prstClr val="black"/>
                                </a:solidFill>
                                <a:latin typeface="Cambria Math"/>
                              </a:rPr>
                              <m:t>𝐶𝑁𝑇</m:t>
                            </m:r>
                          </m:sub>
                        </m:sSub>
                      </m:num>
                      <m:den>
                        <m:r>
                          <a:rPr lang="en-US" sz="1800" i="1">
                            <a:solidFill>
                              <a:prstClr val="black"/>
                            </a:solidFill>
                            <a:latin typeface="Cambria Math" panose="02040503050406030204" pitchFamily="18" charset="0"/>
                          </a:rPr>
                          <m:t>𝑓</m:t>
                        </m:r>
                        <m:r>
                          <a:rPr lang="en-US" sz="1800" i="1" baseline="-25000">
                            <a:solidFill>
                              <a:prstClr val="black"/>
                            </a:solidFill>
                            <a:latin typeface="Cambria Math" panose="02040503050406030204" pitchFamily="18" charset="0"/>
                          </a:rPr>
                          <m:t>𝑇𝑖𝑚𝑒𝑟</m:t>
                        </m:r>
                      </m:den>
                    </m:f>
                    <m:r>
                      <a:rPr lang="en-US" sz="1800" i="1">
                        <a:solidFill>
                          <a:prstClr val="black"/>
                        </a:solidFill>
                        <a:latin typeface="Cambria Math" panose="02040503050406030204" pitchFamily="18" charset="0"/>
                      </a:rPr>
                      <m:t>−1=</m:t>
                    </m:r>
                    <m:f>
                      <m:fPr>
                        <m:ctrlPr>
                          <a:rPr lang="en-US" sz="1800" i="1">
                            <a:solidFill>
                              <a:prstClr val="black"/>
                            </a:solidFill>
                            <a:latin typeface="Cambria Math" panose="02040503050406030204" pitchFamily="18" charset="0"/>
                          </a:rPr>
                        </m:ctrlPr>
                      </m:fPr>
                      <m:num>
                        <m:r>
                          <a:rPr lang="en-US" sz="1800" b="0" i="1" smtClean="0">
                            <a:solidFill>
                              <a:prstClr val="black"/>
                            </a:solidFill>
                            <a:latin typeface="Cambria Math" panose="02040503050406030204" pitchFamily="18" charset="0"/>
                          </a:rPr>
                          <m:t>1</m:t>
                        </m:r>
                        <m:r>
                          <a:rPr lang="en-US" sz="1800" i="1">
                            <a:solidFill>
                              <a:prstClr val="black"/>
                            </a:solidFill>
                            <a:latin typeface="Cambria Math" panose="02040503050406030204" pitchFamily="18" charset="0"/>
                          </a:rPr>
                          <m:t>𝑀𝐻𝑧</m:t>
                        </m:r>
                      </m:num>
                      <m:den>
                        <m:r>
                          <a:rPr lang="en-US" sz="1800" i="1">
                            <a:solidFill>
                              <a:prstClr val="black"/>
                            </a:solidFill>
                            <a:latin typeface="Cambria Math" panose="02040503050406030204" pitchFamily="18" charset="0"/>
                          </a:rPr>
                          <m:t>100</m:t>
                        </m:r>
                        <m:r>
                          <a:rPr lang="en-US" sz="1800" i="1">
                            <a:solidFill>
                              <a:prstClr val="black"/>
                            </a:solidFill>
                            <a:latin typeface="Cambria Math" panose="02040503050406030204" pitchFamily="18" charset="0"/>
                          </a:rPr>
                          <m:t>𝐻𝑧</m:t>
                        </m:r>
                      </m:den>
                    </m:f>
                    <m:r>
                      <a:rPr lang="en-US" sz="1800" i="1">
                        <a:solidFill>
                          <a:prstClr val="black"/>
                        </a:solidFill>
                        <a:latin typeface="Cambria Math" panose="02040503050406030204" pitchFamily="18" charset="0"/>
                      </a:rPr>
                      <m:t>−1=</m:t>
                    </m:r>
                    <m:r>
                      <a:rPr lang="en-US" sz="1800" b="0" i="1" smtClean="0">
                        <a:solidFill>
                          <a:prstClr val="black"/>
                        </a:solidFill>
                        <a:latin typeface="Cambria Math" panose="02040503050406030204" pitchFamily="18" charset="0"/>
                      </a:rPr>
                      <m:t>1</m:t>
                    </m:r>
                    <m:r>
                      <a:rPr lang="en-US" sz="1800" i="1">
                        <a:solidFill>
                          <a:prstClr val="black"/>
                        </a:solidFill>
                        <a:latin typeface="Cambria Math" panose="02040503050406030204" pitchFamily="18" charset="0"/>
                      </a:rPr>
                      <m:t>0,000−1=9,999</m:t>
                    </m:r>
                  </m:oMath>
                </a14:m>
                <a:endParaRPr lang="en-US" sz="1700" dirty="0">
                  <a:solidFill>
                    <a:prstClr val="black"/>
                  </a:solidFill>
                </a:endParaRPr>
              </a:p>
              <a:p>
                <a:pPr>
                  <a:buClr>
                    <a:srgbClr val="4F81BD"/>
                  </a:buClr>
                </a:pPr>
                <a:r>
                  <a:rPr lang="en-US" sz="2000" dirty="0">
                    <a:solidFill>
                      <a:prstClr val="black"/>
                    </a:solidFill>
                  </a:rPr>
                  <a:t>For 3. center-aligned counting mode:</a:t>
                </a:r>
              </a:p>
              <a:p>
                <a:pPr lvl="1">
                  <a:buClr>
                    <a:srgbClr val="4F81BD"/>
                  </a:buClr>
                </a:pPr>
                <a14:m>
                  <m:oMath xmlns:m="http://schemas.openxmlformats.org/officeDocument/2006/math">
                    <m:r>
                      <a:rPr lang="en-US" sz="1600" i="1">
                        <a:solidFill>
                          <a:prstClr val="black"/>
                        </a:solidFill>
                        <a:latin typeface="Cambria Math" panose="02040503050406030204" pitchFamily="18" charset="0"/>
                      </a:rPr>
                      <m:t>𝑓</m:t>
                    </m:r>
                    <m:r>
                      <a:rPr lang="en-US" sz="1600" i="1" baseline="-25000">
                        <a:solidFill>
                          <a:prstClr val="black"/>
                        </a:solidFill>
                        <a:latin typeface="Cambria Math" panose="02040503050406030204" pitchFamily="18" charset="0"/>
                      </a:rPr>
                      <m:t>𝑇𝑖𝑚𝑒𝑟</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i="1">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𝐴𝑅𝑅</m:t>
                        </m:r>
                      </m:den>
                    </m:f>
                    <m:r>
                      <a:rPr lang="en-US" sz="1600" i="1">
                        <a:solidFill>
                          <a:prstClr val="black"/>
                        </a:solidFill>
                        <a:latin typeface="Cambria Math" panose="02040503050406030204" pitchFamily="18" charset="0"/>
                      </a:rPr>
                      <m:t>, </m:t>
                    </m:r>
                    <m:r>
                      <a:rPr lang="en-US" sz="1600" i="1">
                        <a:solidFill>
                          <a:prstClr val="black"/>
                        </a:solidFill>
                        <a:latin typeface="Cambria Math" panose="02040503050406030204" pitchFamily="18" charset="0"/>
                      </a:rPr>
                      <m:t>𝐴𝑅𝑅</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i="1">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𝑓</m:t>
                        </m:r>
                        <m:r>
                          <a:rPr lang="en-US" sz="1600" i="1" baseline="-25000">
                            <a:solidFill>
                              <a:prstClr val="black"/>
                            </a:solidFill>
                            <a:latin typeface="Cambria Math" panose="02040503050406030204" pitchFamily="18" charset="0"/>
                          </a:rPr>
                          <m:t>𝑇𝑖𝑚𝑒𝑟</m:t>
                        </m:r>
                      </m:den>
                    </m:f>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r>
                          <a:rPr lang="en-US" sz="1600" b="0" i="1" smtClean="0">
                            <a:solidFill>
                              <a:prstClr val="black"/>
                            </a:solidFill>
                            <a:latin typeface="Cambria Math" panose="02040503050406030204" pitchFamily="18" charset="0"/>
                          </a:rPr>
                          <m:t>1</m:t>
                        </m:r>
                        <m:r>
                          <a:rPr lang="en-US" sz="1600" i="1">
                            <a:solidFill>
                              <a:prstClr val="black"/>
                            </a:solidFill>
                            <a:latin typeface="Cambria Math" panose="02040503050406030204" pitchFamily="18" charset="0"/>
                          </a:rPr>
                          <m:t>𝑀𝐻𝑧</m:t>
                        </m:r>
                      </m:num>
                      <m:den>
                        <m:r>
                          <a:rPr lang="en-US" sz="1600" i="1">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00</m:t>
                        </m:r>
                        <m:r>
                          <a:rPr lang="en-US" sz="1600" i="1">
                            <a:solidFill>
                              <a:prstClr val="black"/>
                            </a:solidFill>
                            <a:latin typeface="Cambria Math" panose="02040503050406030204" pitchFamily="18" charset="0"/>
                          </a:rPr>
                          <m:t>𝐻𝑧</m:t>
                        </m:r>
                      </m:den>
                    </m:f>
                    <m:r>
                      <a:rPr lang="en-US" sz="1600" i="1">
                        <a:solidFill>
                          <a:prstClr val="black"/>
                        </a:solidFill>
                        <a:latin typeface="Cambria Math" panose="02040503050406030204" pitchFamily="18" charset="0"/>
                      </a:rPr>
                      <m:t>=</m:t>
                    </m:r>
                    <m:r>
                      <a:rPr lang="en-US" sz="1600" b="0" i="1" smtClean="0">
                        <a:solidFill>
                          <a:prstClr val="black"/>
                        </a:solidFill>
                        <a:latin typeface="Cambria Math" panose="02040503050406030204" pitchFamily="18" charset="0"/>
                      </a:rPr>
                      <m:t>5</m:t>
                    </m:r>
                    <m:r>
                      <a:rPr lang="en-US" sz="1600" i="1">
                        <a:solidFill>
                          <a:prstClr val="black"/>
                        </a:solidFill>
                        <a:latin typeface="Cambria Math" panose="02040503050406030204" pitchFamily="18" charset="0"/>
                      </a:rPr>
                      <m:t>,000</m:t>
                    </m:r>
                  </m:oMath>
                </a14:m>
                <a:endParaRPr lang="en-US" sz="1600" dirty="0">
                  <a:solidFill>
                    <a:prstClr val="black"/>
                  </a:solidFill>
                </a:endParaRPr>
              </a:p>
              <a:p>
                <a:endParaRPr lang="en-US" sz="2000" dirty="0"/>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xfrm>
                <a:off x="304800" y="1143000"/>
                <a:ext cx="7747672" cy="4876800"/>
              </a:xfrm>
              <a:blipFill>
                <a:blip r:embed="rId4"/>
                <a:stretch>
                  <a:fillRect l="-315" t="-87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p:txBody>
              <a:bodyPr>
                <a:normAutofit/>
              </a:bodyPr>
              <a:lstStyle/>
              <a:p>
                <a:pPr lvl="0"/>
                <a:r>
                  <a:rPr lang="en-US" sz="2000" dirty="0"/>
                  <a:t>Suppose a 16-bit timer has the following setting</a:t>
                </a:r>
                <a:r>
                  <a:rPr lang="en-US" altLang="zh-CN" sz="2000" dirty="0"/>
                  <a:t>s</a:t>
                </a:r>
                <a:r>
                  <a:rPr lang="en-US" sz="2000" dirty="0"/>
                  <a:t> </a:t>
                </a:r>
              </a:p>
              <a:p>
                <a:pPr lvl="2"/>
                <a:r>
                  <a:rPr lang="en-US" sz="1800" dirty="0"/>
                  <a:t>CPU clock frequency is 4 </a:t>
                </a:r>
                <a:r>
                  <a:rPr lang="en-US" sz="1800" dirty="0" err="1"/>
                  <a:t>MHz.</a:t>
                </a:r>
                <a:r>
                  <a:rPr lang="en-US" sz="1800" dirty="0"/>
                  <a:t> </a:t>
                </a:r>
              </a:p>
              <a:p>
                <a:pPr lvl="2"/>
                <a:r>
                  <a:rPr lang="en-US" sz="1800" dirty="0" err="1"/>
                  <a:t>Prescaler</a:t>
                </a:r>
                <a:r>
                  <a:rPr lang="en-US" sz="1800" dirty="0"/>
                  <a:t> PSC = 39</a:t>
                </a:r>
              </a:p>
              <a:p>
                <a:pPr lvl="2"/>
                <a:r>
                  <a:rPr lang="en-US" sz="1800" dirty="0"/>
                  <a:t>Counting direction: center-aligned counting</a:t>
                </a:r>
              </a:p>
              <a:p>
                <a:pPr lvl="2"/>
                <a:r>
                  <a:rPr lang="en-US" sz="1800" dirty="0"/>
                  <a:t>Desired timer frequency = 100 Hz</a:t>
                </a:r>
              </a:p>
              <a:p>
                <a:r>
                  <a:rPr lang="en-US" sz="2000" dirty="0"/>
                  <a:t>Calculate the ARR.</a:t>
                </a:r>
              </a:p>
              <a:p>
                <a:r>
                  <a:rPr lang="en-US" sz="2000" dirty="0"/>
                  <a:t>ANS: </a:t>
                </a:r>
                <a:r>
                  <a:rPr lang="en-US" sz="2000" dirty="0">
                    <a:solidFill>
                      <a:prstClr val="black"/>
                    </a:solidFill>
                  </a:rPr>
                  <a:t>Timer Clock </a:t>
                </a:r>
                <a:r>
                  <a:rPr lang="en-US" altLang="zh-CN" sz="2000" dirty="0">
                    <a:solidFill>
                      <a:prstClr val="black"/>
                    </a:solidFill>
                  </a:rPr>
                  <a:t>Frequency</a:t>
                </a:r>
                <a:r>
                  <a:rPr lang="en-US" sz="2000" dirty="0">
                    <a:solidFill>
                      <a:prstClr val="black"/>
                    </a:solidFill>
                  </a:rPr>
                  <a:t> </a:t>
                </a:r>
                <a14:m>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a:rPr>
                          <m:t>𝐶𝐾</m:t>
                        </m:r>
                        <m:r>
                          <a:rPr lang="en-US" sz="2000" i="1">
                            <a:solidFill>
                              <a:prstClr val="black"/>
                            </a:solidFill>
                            <a:latin typeface="Cambria Math"/>
                          </a:rPr>
                          <m:t>_</m:t>
                        </m:r>
                        <m:r>
                          <a:rPr lang="en-US" sz="2000" i="1">
                            <a:solidFill>
                              <a:prstClr val="black"/>
                            </a:solidFill>
                            <a:latin typeface="Cambria Math"/>
                          </a:rPr>
                          <m:t>𝐶𝑁𝑇</m:t>
                        </m:r>
                      </m:sub>
                    </m:sSub>
                    <m:r>
                      <a:rPr lang="en-US" sz="2000" i="1">
                        <a:solidFill>
                          <a:prstClr val="black"/>
                        </a:solidFill>
                        <a:latin typeface="Cambria Math"/>
                      </a:rPr>
                      <m:t>=</m:t>
                    </m:r>
                    <m:f>
                      <m:fPr>
                        <m:ctrlPr>
                          <a:rPr lang="en-US" sz="2000" i="1">
                            <a:solidFill>
                              <a:prstClr val="black"/>
                            </a:solidFill>
                            <a:latin typeface="Cambria Math" panose="02040503050406030204" pitchFamily="18" charset="0"/>
                          </a:rPr>
                        </m:ctrlPr>
                      </m:fPr>
                      <m:num>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𝑓</m:t>
                            </m:r>
                          </m:e>
                          <m:sub>
                            <m:r>
                              <a:rPr lang="en-US" sz="2000" i="1">
                                <a:solidFill>
                                  <a:prstClr val="black"/>
                                </a:solidFill>
                                <a:latin typeface="Cambria Math" panose="02040503050406030204" pitchFamily="18" charset="0"/>
                              </a:rPr>
                              <m:t>𝑆𝑂𝑈𝑅𝐶𝐸</m:t>
                            </m:r>
                          </m:sub>
                        </m:sSub>
                      </m:num>
                      <m:den>
                        <m:r>
                          <a:rPr lang="en-US" sz="2000" i="1">
                            <a:solidFill>
                              <a:prstClr val="black"/>
                            </a:solidFill>
                            <a:latin typeface="Cambria Math" panose="02040503050406030204" pitchFamily="18" charset="0"/>
                          </a:rPr>
                          <m:t>𝑃𝑆𝐶</m:t>
                        </m:r>
                        <m:r>
                          <a:rPr lang="en-US" sz="2000" i="1">
                            <a:solidFill>
                              <a:prstClr val="black"/>
                            </a:solidFill>
                            <a:latin typeface="Cambria Math"/>
                          </a:rPr>
                          <m:t>+1</m:t>
                        </m:r>
                      </m:den>
                    </m:f>
                    <m:r>
                      <a:rPr lang="en-US" sz="2000" i="1">
                        <a:solidFill>
                          <a:prstClr val="black"/>
                        </a:solidFill>
                        <a:latin typeface="Cambria Math" panose="02040503050406030204" pitchFamily="18" charset="0"/>
                      </a:rPr>
                      <m:t>=</m:t>
                    </m:r>
                    <m:f>
                      <m:fPr>
                        <m:ctrlPr>
                          <a:rPr lang="en-US" sz="2000" i="1">
                            <a:solidFill>
                              <a:prstClr val="black"/>
                            </a:solidFill>
                            <a:latin typeface="Cambria Math" panose="02040503050406030204" pitchFamily="18" charset="0"/>
                          </a:rPr>
                        </m:ctrlPr>
                      </m:fPr>
                      <m:num>
                        <m:r>
                          <a:rPr lang="en-US" sz="2000" b="0" i="1" smtClean="0">
                            <a:solidFill>
                              <a:prstClr val="black"/>
                            </a:solidFill>
                            <a:latin typeface="Cambria Math" panose="02040503050406030204" pitchFamily="18" charset="0"/>
                          </a:rPr>
                          <m:t>4</m:t>
                        </m:r>
                        <m:r>
                          <a:rPr lang="en-US" sz="2000" i="1">
                            <a:solidFill>
                              <a:prstClr val="black"/>
                            </a:solidFill>
                            <a:latin typeface="Cambria Math" panose="02040503050406030204" pitchFamily="18" charset="0"/>
                          </a:rPr>
                          <m:t> </m:t>
                        </m:r>
                        <m:r>
                          <a:rPr lang="en-US" sz="2000" i="1">
                            <a:solidFill>
                              <a:prstClr val="black"/>
                            </a:solidFill>
                            <a:latin typeface="Cambria Math" panose="02040503050406030204" pitchFamily="18" charset="0"/>
                          </a:rPr>
                          <m:t>𝑀𝐻𝑧</m:t>
                        </m:r>
                      </m:num>
                      <m:den>
                        <m:r>
                          <a:rPr lang="en-US" sz="2000" b="0" i="1" smtClean="0">
                            <a:solidFill>
                              <a:prstClr val="black"/>
                            </a:solidFill>
                            <a:latin typeface="Cambria Math" panose="02040503050406030204" pitchFamily="18" charset="0"/>
                          </a:rPr>
                          <m:t>3</m:t>
                        </m:r>
                        <m:r>
                          <a:rPr lang="en-US" sz="2000" i="1">
                            <a:solidFill>
                              <a:prstClr val="black"/>
                            </a:solidFill>
                            <a:latin typeface="Cambria Math" panose="02040503050406030204" pitchFamily="18" charset="0"/>
                          </a:rPr>
                          <m:t>9+1</m:t>
                        </m:r>
                      </m:den>
                    </m:f>
                    <m:r>
                      <a:rPr lang="en-US" sz="2000" i="1">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0.</m:t>
                    </m:r>
                    <m:r>
                      <a:rPr lang="en-US" sz="2000" i="1">
                        <a:solidFill>
                          <a:prstClr val="black"/>
                        </a:solidFill>
                        <a:latin typeface="Cambria Math" panose="02040503050406030204" pitchFamily="18" charset="0"/>
                      </a:rPr>
                      <m:t>1</m:t>
                    </m:r>
                    <m:r>
                      <a:rPr lang="en-US" sz="2000" i="1">
                        <a:solidFill>
                          <a:prstClr val="black"/>
                        </a:solidFill>
                        <a:latin typeface="Cambria Math" panose="02040503050406030204" pitchFamily="18" charset="0"/>
                      </a:rPr>
                      <m:t>𝑀𝐻𝑧</m:t>
                    </m:r>
                  </m:oMath>
                </a14:m>
                <a:endParaRPr lang="en-US" sz="2000" dirty="0"/>
              </a:p>
              <a:p>
                <a:pPr>
                  <a:buClr>
                    <a:srgbClr val="4F81BD"/>
                  </a:buClr>
                </a:pPr>
                <a:r>
                  <a:rPr lang="en-US" sz="2000" dirty="0">
                    <a:solidFill>
                      <a:prstClr val="black"/>
                    </a:solidFill>
                  </a:rPr>
                  <a:t>For center-aligned counting mode:</a:t>
                </a:r>
              </a:p>
              <a:p>
                <a:pPr lvl="1">
                  <a:buClr>
                    <a:srgbClr val="4F81BD"/>
                  </a:buClr>
                </a:pPr>
                <a14:m>
                  <m:oMath xmlns:m="http://schemas.openxmlformats.org/officeDocument/2006/math">
                    <m:r>
                      <a:rPr lang="en-US" sz="1600" i="1">
                        <a:solidFill>
                          <a:prstClr val="black"/>
                        </a:solidFill>
                        <a:latin typeface="Cambria Math" panose="02040503050406030204" pitchFamily="18" charset="0"/>
                      </a:rPr>
                      <m:t>𝑓</m:t>
                    </m:r>
                    <m:r>
                      <a:rPr lang="en-US" sz="1600" i="1" baseline="-25000">
                        <a:solidFill>
                          <a:prstClr val="black"/>
                        </a:solidFill>
                        <a:latin typeface="Cambria Math" panose="02040503050406030204" pitchFamily="18" charset="0"/>
                      </a:rPr>
                      <m:t>𝑇𝑖𝑚𝑒𝑟</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i="1">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𝐴𝑅𝑅</m:t>
                        </m:r>
                      </m:den>
                    </m:f>
                    <m:r>
                      <a:rPr lang="en-US" sz="1600" i="1">
                        <a:solidFill>
                          <a:prstClr val="black"/>
                        </a:solidFill>
                        <a:latin typeface="Cambria Math" panose="02040503050406030204" pitchFamily="18" charset="0"/>
                      </a:rPr>
                      <m:t>, </m:t>
                    </m:r>
                    <m:r>
                      <a:rPr lang="en-US" sz="1600" i="1">
                        <a:solidFill>
                          <a:prstClr val="black"/>
                        </a:solidFill>
                        <a:latin typeface="Cambria Math" panose="02040503050406030204" pitchFamily="18" charset="0"/>
                      </a:rPr>
                      <m:t>𝐴𝑅𝑅</m:t>
                    </m:r>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sSub>
                          <m:sSubPr>
                            <m:ctrlPr>
                              <a:rPr lang="en-US" sz="1600" i="1">
                                <a:solidFill>
                                  <a:prstClr val="black"/>
                                </a:solidFill>
                                <a:latin typeface="Cambria Math" panose="02040503050406030204" pitchFamily="18" charset="0"/>
                              </a:rPr>
                            </m:ctrlPr>
                          </m:sSubPr>
                          <m:e>
                            <m:r>
                              <a:rPr lang="en-US" sz="1600" i="1">
                                <a:solidFill>
                                  <a:prstClr val="black"/>
                                </a:solidFill>
                                <a:latin typeface="Cambria Math"/>
                              </a:rPr>
                              <m:t>𝑓</m:t>
                            </m:r>
                          </m:e>
                          <m:sub>
                            <m:r>
                              <a:rPr lang="en-US" sz="1600" i="1">
                                <a:solidFill>
                                  <a:prstClr val="black"/>
                                </a:solidFill>
                                <a:latin typeface="Cambria Math"/>
                              </a:rPr>
                              <m:t>𝐶𝐾</m:t>
                            </m:r>
                            <m:r>
                              <a:rPr lang="en-US" sz="1600" i="1">
                                <a:solidFill>
                                  <a:prstClr val="black"/>
                                </a:solidFill>
                                <a:latin typeface="Cambria Math"/>
                              </a:rPr>
                              <m:t>_</m:t>
                            </m:r>
                            <m:r>
                              <a:rPr lang="en-US" sz="1600" i="1">
                                <a:solidFill>
                                  <a:prstClr val="black"/>
                                </a:solidFill>
                                <a:latin typeface="Cambria Math"/>
                              </a:rPr>
                              <m:t>𝐶𝑁𝑇</m:t>
                            </m:r>
                          </m:sub>
                        </m:sSub>
                      </m:num>
                      <m:den>
                        <m:r>
                          <a:rPr lang="en-US" sz="1600" i="1">
                            <a:solidFill>
                              <a:prstClr val="black"/>
                            </a:solidFill>
                            <a:latin typeface="Cambria Math" panose="02040503050406030204" pitchFamily="18" charset="0"/>
                          </a:rPr>
                          <m:t>2∗</m:t>
                        </m:r>
                        <m:r>
                          <a:rPr lang="en-US" sz="1600" i="1">
                            <a:solidFill>
                              <a:prstClr val="black"/>
                            </a:solidFill>
                            <a:latin typeface="Cambria Math" panose="02040503050406030204" pitchFamily="18" charset="0"/>
                          </a:rPr>
                          <m:t>𝑓𝑇𝑖</m:t>
                        </m:r>
                        <m:r>
                          <a:rPr lang="en-US" sz="1600" i="1" baseline="-25000">
                            <a:solidFill>
                              <a:prstClr val="black"/>
                            </a:solidFill>
                            <a:latin typeface="Cambria Math" panose="02040503050406030204" pitchFamily="18" charset="0"/>
                          </a:rPr>
                          <m:t>𝑚𝑒𝑟</m:t>
                        </m:r>
                      </m:den>
                    </m:f>
                    <m:r>
                      <a:rPr lang="en-US" sz="1600" i="1">
                        <a:solidFill>
                          <a:prstClr val="black"/>
                        </a:solidFill>
                        <a:latin typeface="Cambria Math" panose="02040503050406030204" pitchFamily="18" charset="0"/>
                      </a:rPr>
                      <m:t>=</m:t>
                    </m:r>
                    <m:f>
                      <m:fPr>
                        <m:ctrlPr>
                          <a:rPr lang="en-US" sz="1600" i="1">
                            <a:solidFill>
                              <a:prstClr val="black"/>
                            </a:solidFill>
                            <a:latin typeface="Cambria Math" panose="02040503050406030204" pitchFamily="18" charset="0"/>
                          </a:rPr>
                        </m:ctrlPr>
                      </m:fPr>
                      <m:num>
                        <m:r>
                          <a:rPr lang="en-US" sz="1600" b="0" i="1" smtClean="0">
                            <a:solidFill>
                              <a:prstClr val="black"/>
                            </a:solidFill>
                            <a:latin typeface="Cambria Math" panose="02040503050406030204" pitchFamily="18" charset="0"/>
                          </a:rPr>
                          <m:t>0.</m:t>
                        </m:r>
                        <m:r>
                          <a:rPr lang="en-US" sz="1600" i="1">
                            <a:solidFill>
                              <a:prstClr val="black"/>
                            </a:solidFill>
                            <a:latin typeface="Cambria Math" panose="02040503050406030204" pitchFamily="18" charset="0"/>
                          </a:rPr>
                          <m:t>1</m:t>
                        </m:r>
                        <m:r>
                          <a:rPr lang="en-US" sz="1600" i="1">
                            <a:solidFill>
                              <a:prstClr val="black"/>
                            </a:solidFill>
                            <a:latin typeface="Cambria Math" panose="02040503050406030204" pitchFamily="18" charset="0"/>
                          </a:rPr>
                          <m:t>𝑀𝐻𝑧</m:t>
                        </m:r>
                      </m:num>
                      <m:den>
                        <m:r>
                          <a:rPr lang="en-US" sz="1600" i="1">
                            <a:solidFill>
                              <a:prstClr val="black"/>
                            </a:solidFill>
                            <a:latin typeface="Cambria Math" panose="02040503050406030204" pitchFamily="18" charset="0"/>
                          </a:rPr>
                          <m:t>200</m:t>
                        </m:r>
                        <m:r>
                          <a:rPr lang="en-US" sz="1600" i="1">
                            <a:solidFill>
                              <a:prstClr val="black"/>
                            </a:solidFill>
                            <a:latin typeface="Cambria Math" panose="02040503050406030204" pitchFamily="18" charset="0"/>
                          </a:rPr>
                          <m:t>𝐻𝑧</m:t>
                        </m:r>
                      </m:den>
                    </m:f>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5</m:t>
                    </m:r>
                    <m:r>
                      <a:rPr lang="en-US" sz="1600" i="1">
                        <a:solidFill>
                          <a:prstClr val="black"/>
                        </a:solidFill>
                        <a:latin typeface="Cambria Math" panose="02040503050406030204" pitchFamily="18" charset="0"/>
                      </a:rPr>
                      <m:t>00</m:t>
                    </m:r>
                  </m:oMath>
                </a14:m>
                <a:endParaRPr lang="en-US" sz="1600" dirty="0">
                  <a:solidFill>
                    <a:prstClr val="black"/>
                  </a:solidFill>
                </a:endParaRPr>
              </a:p>
              <a:p>
                <a:endParaRPr lang="en-US" dirty="0"/>
              </a:p>
              <a:p>
                <a:pPr marL="0" indent="0">
                  <a:buNone/>
                </a:pPr>
                <a:endParaRPr lang="en-US" dirty="0"/>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blipFill>
                <a:blip r:embed="rId2"/>
                <a:stretch>
                  <a:fillRect l="-296" t="-617"/>
                </a:stretch>
              </a:blipFill>
            </p:spPr>
            <p:txBody>
              <a:bodyPr/>
              <a:lstStyle/>
              <a:p>
                <a:r>
                  <a:rPr lang="en-US">
                    <a:noFill/>
                  </a:rPr>
                  <a:t> </a:t>
                </a:r>
              </a:p>
            </p:txBody>
          </p:sp>
        </mc:Fallback>
      </mc:AlternateContent>
    </p:spTree>
    <p:extLst>
      <p:ext uri="{BB962C8B-B14F-4D97-AF65-F5344CB8AC3E}">
        <p14:creationId xmlns:p14="http://schemas.microsoft.com/office/powerpoint/2010/main" val="118291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3601</TotalTime>
  <Words>861</Words>
  <Application>Microsoft Office PowerPoint</Application>
  <PresentationFormat>On-screen Show (4:3)</PresentationFormat>
  <Paragraphs>70</Paragraphs>
  <Slides>7</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vt:i4>
      </vt:variant>
    </vt:vector>
  </HeadingPairs>
  <TitlesOfParts>
    <vt:vector size="18" baseType="lpstr">
      <vt:lpstr>Bookman Old Style (Headings)</vt:lpstr>
      <vt:lpstr>Gill Sans Light</vt:lpstr>
      <vt:lpstr>Bookman Old Style</vt:lpstr>
      <vt:lpstr>Calibri</vt:lpstr>
      <vt:lpstr>Cambria Math</vt:lpstr>
      <vt:lpstr>Consolas</vt:lpstr>
      <vt:lpstr>Gill Sans MT</vt:lpstr>
      <vt:lpstr>Wingdings</vt:lpstr>
      <vt:lpstr>Wingdings 3</vt:lpstr>
      <vt:lpstr>Origin</vt:lpstr>
      <vt:lpstr>2_Origin</vt:lpstr>
      <vt:lpstr>PowerPoint Presentation</vt:lpstr>
      <vt:lpstr>Summary of Equations</vt:lpstr>
      <vt:lpstr>Calculating ARR</vt:lpstr>
      <vt:lpstr>Calculating ARR with prescaler</vt:lpstr>
      <vt:lpstr>Calculating the ARR</vt:lpstr>
      <vt:lpstr>Clock Frequency and Timer Frequency</vt:lpstr>
      <vt:lpstr>PWM duty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357</cp:revision>
  <cp:lastPrinted>2018-03-23T02:32:24Z</cp:lastPrinted>
  <dcterms:created xsi:type="dcterms:W3CDTF">2013-02-03T05:36:57Z</dcterms:created>
  <dcterms:modified xsi:type="dcterms:W3CDTF">2025-12-02T02:29:52Z</dcterms:modified>
</cp:coreProperties>
</file>