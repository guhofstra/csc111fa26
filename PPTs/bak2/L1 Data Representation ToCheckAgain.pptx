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5.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6.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1.xml" ContentType="application/inkml+xml"/>
  <Override PartName="/ppt/ink/ink2.xml" ContentType="application/inkml+xml"/>
  <Override PartName="/ppt/notesSlides/notesSlide17.xml" ContentType="application/vnd.openxmlformats-officedocument.presentationml.notesSlide+xml"/>
  <Override PartName="/ppt/tags/tag9.xml" ContentType="application/vnd.openxmlformats-officedocument.presentationml.tags+xml"/>
  <Override PartName="/ppt/notesSlides/notesSlide18.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19.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62" r:id="rId2"/>
    <p:sldMasterId id="2147483674" r:id="rId3"/>
  </p:sldMasterIdLst>
  <p:notesMasterIdLst>
    <p:notesMasterId r:id="rId44"/>
  </p:notesMasterIdLst>
  <p:handoutMasterIdLst>
    <p:handoutMasterId r:id="rId45"/>
  </p:handoutMasterIdLst>
  <p:sldIdLst>
    <p:sldId id="507" r:id="rId4"/>
    <p:sldId id="508" r:id="rId5"/>
    <p:sldId id="509" r:id="rId6"/>
    <p:sldId id="511" r:id="rId7"/>
    <p:sldId id="512" r:id="rId8"/>
    <p:sldId id="513" r:id="rId9"/>
    <p:sldId id="514" r:id="rId10"/>
    <p:sldId id="515" r:id="rId11"/>
    <p:sldId id="516" r:id="rId12"/>
    <p:sldId id="517" r:id="rId13"/>
    <p:sldId id="518" r:id="rId14"/>
    <p:sldId id="519" r:id="rId15"/>
    <p:sldId id="520" r:id="rId16"/>
    <p:sldId id="555" r:id="rId17"/>
    <p:sldId id="557" r:id="rId18"/>
    <p:sldId id="521" r:id="rId19"/>
    <p:sldId id="551" r:id="rId20"/>
    <p:sldId id="556" r:id="rId21"/>
    <p:sldId id="547" r:id="rId22"/>
    <p:sldId id="548" r:id="rId23"/>
    <p:sldId id="522" r:id="rId24"/>
    <p:sldId id="552" r:id="rId25"/>
    <p:sldId id="523" r:id="rId26"/>
    <p:sldId id="524" r:id="rId27"/>
    <p:sldId id="535" r:id="rId28"/>
    <p:sldId id="553" r:id="rId29"/>
    <p:sldId id="526" r:id="rId30"/>
    <p:sldId id="549" r:id="rId31"/>
    <p:sldId id="525" r:id="rId32"/>
    <p:sldId id="531" r:id="rId33"/>
    <p:sldId id="532" r:id="rId34"/>
    <p:sldId id="533" r:id="rId35"/>
    <p:sldId id="534" r:id="rId36"/>
    <p:sldId id="538" r:id="rId37"/>
    <p:sldId id="539" r:id="rId38"/>
    <p:sldId id="540" r:id="rId39"/>
    <p:sldId id="541" r:id="rId40"/>
    <p:sldId id="542" r:id="rId41"/>
    <p:sldId id="550" r:id="rId42"/>
    <p:sldId id="554" r:id="rId43"/>
  </p:sldIdLst>
  <p:sldSz cx="9144000" cy="6858000" type="screen4x3"/>
  <p:notesSz cx="6858000" cy="9144000"/>
  <p:defaultTextStyle>
    <a:defPPr>
      <a:defRPr lang="en-US"/>
    </a:defPPr>
    <a:lvl1pPr algn="l" rtl="0" eaLnBrk="0" fontAlgn="base" hangingPunct="0">
      <a:spcBef>
        <a:spcPct val="0"/>
      </a:spcBef>
      <a:spcAft>
        <a:spcPct val="0"/>
      </a:spcAft>
      <a:defRPr sz="2000" b="1" kern="1200">
        <a:solidFill>
          <a:schemeClr val="bg1"/>
        </a:solidFill>
        <a:latin typeface="Tahoma" pitchFamily="34" charset="0"/>
        <a:ea typeface="+mn-ea"/>
        <a:cs typeface="+mn-cs"/>
      </a:defRPr>
    </a:lvl1pPr>
    <a:lvl2pPr marL="457200" algn="l" rtl="0" eaLnBrk="0" fontAlgn="base" hangingPunct="0">
      <a:spcBef>
        <a:spcPct val="0"/>
      </a:spcBef>
      <a:spcAft>
        <a:spcPct val="0"/>
      </a:spcAft>
      <a:defRPr sz="2000" b="1" kern="1200">
        <a:solidFill>
          <a:schemeClr val="bg1"/>
        </a:solidFill>
        <a:latin typeface="Tahoma" pitchFamily="34" charset="0"/>
        <a:ea typeface="+mn-ea"/>
        <a:cs typeface="+mn-cs"/>
      </a:defRPr>
    </a:lvl2pPr>
    <a:lvl3pPr marL="914400" algn="l" rtl="0" eaLnBrk="0" fontAlgn="base" hangingPunct="0">
      <a:spcBef>
        <a:spcPct val="0"/>
      </a:spcBef>
      <a:spcAft>
        <a:spcPct val="0"/>
      </a:spcAft>
      <a:defRPr sz="2000" b="1" kern="1200">
        <a:solidFill>
          <a:schemeClr val="bg1"/>
        </a:solidFill>
        <a:latin typeface="Tahoma" pitchFamily="34" charset="0"/>
        <a:ea typeface="+mn-ea"/>
        <a:cs typeface="+mn-cs"/>
      </a:defRPr>
    </a:lvl3pPr>
    <a:lvl4pPr marL="1371600" algn="l" rtl="0" eaLnBrk="0" fontAlgn="base" hangingPunct="0">
      <a:spcBef>
        <a:spcPct val="0"/>
      </a:spcBef>
      <a:spcAft>
        <a:spcPct val="0"/>
      </a:spcAft>
      <a:defRPr sz="2000" b="1" kern="1200">
        <a:solidFill>
          <a:schemeClr val="bg1"/>
        </a:solidFill>
        <a:latin typeface="Tahoma" pitchFamily="34" charset="0"/>
        <a:ea typeface="+mn-ea"/>
        <a:cs typeface="+mn-cs"/>
      </a:defRPr>
    </a:lvl4pPr>
    <a:lvl5pPr marL="1828800" algn="l" rtl="0" eaLnBrk="0" fontAlgn="base" hangingPunct="0">
      <a:spcBef>
        <a:spcPct val="0"/>
      </a:spcBef>
      <a:spcAft>
        <a:spcPct val="0"/>
      </a:spcAft>
      <a:defRPr sz="2000" b="1" kern="1200">
        <a:solidFill>
          <a:schemeClr val="bg1"/>
        </a:solidFill>
        <a:latin typeface="Tahoma" pitchFamily="34" charset="0"/>
        <a:ea typeface="+mn-ea"/>
        <a:cs typeface="+mn-cs"/>
      </a:defRPr>
    </a:lvl5pPr>
    <a:lvl6pPr marL="2286000" algn="l" defTabSz="914400" rtl="0" eaLnBrk="1" latinLnBrk="0" hangingPunct="1">
      <a:defRPr sz="2000" b="1" kern="1200">
        <a:solidFill>
          <a:schemeClr val="bg1"/>
        </a:solidFill>
        <a:latin typeface="Tahoma" pitchFamily="34" charset="0"/>
        <a:ea typeface="+mn-ea"/>
        <a:cs typeface="+mn-cs"/>
      </a:defRPr>
    </a:lvl6pPr>
    <a:lvl7pPr marL="2743200" algn="l" defTabSz="914400" rtl="0" eaLnBrk="1" latinLnBrk="0" hangingPunct="1">
      <a:defRPr sz="2000" b="1" kern="1200">
        <a:solidFill>
          <a:schemeClr val="bg1"/>
        </a:solidFill>
        <a:latin typeface="Tahoma" pitchFamily="34" charset="0"/>
        <a:ea typeface="+mn-ea"/>
        <a:cs typeface="+mn-cs"/>
      </a:defRPr>
    </a:lvl7pPr>
    <a:lvl8pPr marL="3200400" algn="l" defTabSz="914400" rtl="0" eaLnBrk="1" latinLnBrk="0" hangingPunct="1">
      <a:defRPr sz="2000" b="1" kern="1200">
        <a:solidFill>
          <a:schemeClr val="bg1"/>
        </a:solidFill>
        <a:latin typeface="Tahoma" pitchFamily="34" charset="0"/>
        <a:ea typeface="+mn-ea"/>
        <a:cs typeface="+mn-cs"/>
      </a:defRPr>
    </a:lvl8pPr>
    <a:lvl9pPr marL="3657600" algn="l" defTabSz="914400" rtl="0" eaLnBrk="1" latinLnBrk="0" hangingPunct="1">
      <a:defRPr sz="2000" b="1" kern="1200">
        <a:solidFill>
          <a:schemeClr val="bg1"/>
        </a:solidFill>
        <a:latin typeface="Tahom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66FF33"/>
    <a:srgbClr val="00FF00"/>
    <a:srgbClr val="FF0000"/>
    <a:srgbClr val="99FFCC"/>
    <a:srgbClr val="FFFF99"/>
    <a:srgbClr val="FFFF66"/>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C90162-43E3-456F-9DF2-6CD2E1E696F5}" v="6" dt="2025-12-30T21:39:46.2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275" autoAdjust="0"/>
    <p:restoredTop sz="85738" autoAdjust="0"/>
  </p:normalViewPr>
  <p:slideViewPr>
    <p:cSldViewPr snapToGrid="0">
      <p:cViewPr>
        <p:scale>
          <a:sx n="75" d="100"/>
          <a:sy n="75" d="100"/>
        </p:scale>
        <p:origin x="1637"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3413"/>
    </p:cViewPr>
  </p:sorterViewPr>
  <p:notesViewPr>
    <p:cSldViewPr snapToGrid="0">
      <p:cViewPr varScale="1">
        <p:scale>
          <a:sx n="126" d="100"/>
          <a:sy n="126" d="100"/>
        </p:scale>
        <p:origin x="4912" y="6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handoutMaster" Target="handoutMasters/handout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theme" Target="theme/theme1.xml"/><Relationship Id="rId8" Type="http://schemas.openxmlformats.org/officeDocument/2006/relationships/slide" Target="slides/slide5.xml"/><Relationship Id="rId51" Type="http://schemas.microsoft.com/office/2015/10/relationships/revisionInfo" Target="revisionInfo.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custSel addSld delSld modSld">
      <pc:chgData name="Zonghua Gu" userId="9a7e1853e1951ef5" providerId="LiveId" clId="{CF1FAA12-072C-4ED5-BA76-0FFFAEFDB88A}" dt="2025-12-30T21:39:46.233" v="485" actId="20577"/>
      <pc:docMkLst>
        <pc:docMk/>
      </pc:docMkLst>
      <pc:sldChg chg="modSp add del">
        <pc:chgData name="Zonghua Gu" userId="9a7e1853e1951ef5" providerId="LiveId" clId="{CF1FAA12-072C-4ED5-BA76-0FFFAEFDB88A}" dt="2025-12-30T21:26:04.631" v="473"/>
        <pc:sldMkLst>
          <pc:docMk/>
          <pc:sldMk cId="1683281344" sldId="256"/>
        </pc:sldMkLst>
        <pc:spChg chg="mod">
          <ac:chgData name="Zonghua Gu" userId="9a7e1853e1951ef5" providerId="LiveId" clId="{CF1FAA12-072C-4ED5-BA76-0FFFAEFDB88A}" dt="2025-12-30T21:26:03.309" v="472"/>
          <ac:spMkLst>
            <pc:docMk/>
            <pc:sldMk cId="1683281344" sldId="256"/>
            <ac:spMk id="7" creationId="{00000000-0000-0000-0000-000000000000}"/>
          </ac:spMkLst>
        </pc:spChg>
      </pc:sldChg>
      <pc:sldChg chg="modSp mod">
        <pc:chgData name="Zonghua Gu" userId="9a7e1853e1951ef5" providerId="LiveId" clId="{CF1FAA12-072C-4ED5-BA76-0FFFAEFDB88A}" dt="2025-12-30T21:39:46.233" v="485" actId="20577"/>
        <pc:sldMkLst>
          <pc:docMk/>
          <pc:sldMk cId="3150338549" sldId="556"/>
        </pc:sldMkLst>
        <pc:spChg chg="mod">
          <ac:chgData name="Zonghua Gu" userId="9a7e1853e1951ef5" providerId="LiveId" clId="{CF1FAA12-072C-4ED5-BA76-0FFFAEFDB88A}" dt="2025-12-30T21:39:46.233" v="485" actId="20577"/>
          <ac:spMkLst>
            <pc:docMk/>
            <pc:sldMk cId="3150338549" sldId="556"/>
            <ac:spMk id="3" creationId="{4E059009-6D02-98F8-E261-D490B4CD59C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D9EC5AB-9ABD-4631-B05F-46FAC90D6183}" type="datetimeFigureOut">
              <a:rPr lang="en-US" smtClean="0"/>
              <a:t>12/30/2025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7D55C69-938C-47E3-8094-01E3593FFD22}" type="slidenum">
              <a:rPr lang="en-US" smtClean="0"/>
              <a:t>‹#›</a:t>
            </a:fld>
            <a:endParaRPr lang="en-US"/>
          </a:p>
        </p:txBody>
      </p:sp>
    </p:spTree>
    <p:extLst>
      <p:ext uri="{BB962C8B-B14F-4D97-AF65-F5344CB8AC3E}">
        <p14:creationId xmlns:p14="http://schemas.microsoft.com/office/powerpoint/2010/main" val="1855299935"/>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09T23:11:40.555"/>
    </inkml:context>
    <inkml:brush xml:id="br0">
      <inkml:brushProperty name="width" value="0.05" units="cm"/>
      <inkml:brushProperty name="height" value="0.05" units="cm"/>
      <inkml:brushProperty name="ignorePressure" value="1"/>
    </inkml:brush>
  </inkml:definitions>
  <inkml:trace contextRef="#ctx0" brushRef="#br0">0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09T23:11:41.335"/>
    </inkml:context>
    <inkml:brush xml:id="br0">
      <inkml:brushProperty name="width" value="0.05" units="cm"/>
      <inkml:brushProperty name="height" value="0.05" units="cm"/>
      <inkml:brushProperty name="ignorePressure" value="1"/>
    </inkml:brush>
  </inkml:definitions>
  <inkml:trace contextRef="#ctx0" brushRef="#br0">0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746199-50B6-4D57-82C9-281804AC6C8E}" type="datetimeFigureOut">
              <a:rPr lang="en-US" smtClean="0"/>
              <a:t>12/30/2025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3BBA0F-9BBE-41FE-A859-D6EE6CD9FB52}" type="slidenum">
              <a:rPr lang="en-US" smtClean="0"/>
              <a:t>‹#›</a:t>
            </a:fld>
            <a:endParaRPr lang="en-US"/>
          </a:p>
        </p:txBody>
      </p:sp>
    </p:spTree>
    <p:extLst>
      <p:ext uri="{BB962C8B-B14F-4D97-AF65-F5344CB8AC3E}">
        <p14:creationId xmlns:p14="http://schemas.microsoft.com/office/powerpoint/2010/main" val="23051319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3BBA0F-9BBE-41FE-A859-D6EE6CD9FB52}" type="slidenum">
              <a:rPr lang="en-US" smtClean="0"/>
              <a:t>1</a:t>
            </a:fld>
            <a:endParaRPr lang="en-US"/>
          </a:p>
        </p:txBody>
      </p:sp>
    </p:spTree>
    <p:extLst>
      <p:ext uri="{BB962C8B-B14F-4D97-AF65-F5344CB8AC3E}">
        <p14:creationId xmlns:p14="http://schemas.microsoft.com/office/powerpoint/2010/main" val="34644561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24DF53-3DD3-9F45-9E7E-472B96F1AB8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02063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For unsigned numbers, the carry flag is set when adding two numbers and the result is larger than the maximum that can represented. For subtraction, the borrow bit is set when the result is positive, representing no borrowing occurs. The borrow bit is cleared when the result is negative. On the ARM processor, the carry bit and borrow bit are the same flag bit in the status register.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24DF53-3DD3-9F45-9E7E-472B96F1AB8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664565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For unsigned numbers, the carry flag is set when adding two numbers and the result is larger than the maximum that can represented. For subtraction, the borrow bit is set when the result is positive, representing no borrowing occurs. The borrow bit is cleared when the result is negative. On the ARM processor, the carry bit and borrow bit are the same flag bit in the status register.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Gill Sans MT"/>
                <a:ea typeface="+mn-ea"/>
                <a:cs typeface="+mn-cs"/>
              </a:rPr>
              <a:t>For subtraction, carry = NOT borrow.</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24DF53-3DD3-9F45-9E7E-472B96F1AB8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62814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9C167F7-1B06-44DE-A83B-5844B4E34198}"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86370" name="Rectangle 2"/>
          <p:cNvSpPr>
            <a:spLocks noGrp="1" noRot="1" noChangeAspect="1" noChangeArrowheads="1" noTextEdit="1"/>
          </p:cNvSpPr>
          <p:nvPr>
            <p:ph type="sldImg"/>
          </p:nvPr>
        </p:nvSpPr>
        <p:spPr>
          <a:ln/>
        </p:spPr>
      </p:sp>
      <p:sp>
        <p:nvSpPr>
          <p:cNvPr id="18637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9410915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77A2E23-6A31-4B03-9F0A-B60919A3DF29}"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88418" name="Rectangle 2"/>
          <p:cNvSpPr>
            <a:spLocks noGrp="1" noRot="1" noChangeAspect="1" noChangeArrowheads="1" noTextEdit="1"/>
          </p:cNvSpPr>
          <p:nvPr>
            <p:ph type="sldImg"/>
          </p:nvPr>
        </p:nvSpPr>
        <p:spPr>
          <a:ln/>
        </p:spPr>
      </p:sp>
      <p:sp>
        <p:nvSpPr>
          <p:cNvPr id="18841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7938555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4034" name="Rectangle 2"/>
          <p:cNvSpPr>
            <a:spLocks noGrp="1" noRot="1" noChangeAspect="1" noChangeArrowheads="1" noTextEdit="1"/>
          </p:cNvSpPr>
          <p:nvPr>
            <p:ph type="sldImg"/>
          </p:nvPr>
        </p:nvSpPr>
        <p:spPr/>
      </p:sp>
      <p:sp>
        <p:nvSpPr>
          <p:cNvPr id="13240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3884742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4034" name="Rectangle 2"/>
          <p:cNvSpPr>
            <a:spLocks noGrp="1" noRot="1" noChangeAspect="1" noChangeArrowheads="1" noTextEdit="1"/>
          </p:cNvSpPr>
          <p:nvPr>
            <p:ph type="sldImg"/>
          </p:nvPr>
        </p:nvSpPr>
        <p:spPr/>
      </p:sp>
      <p:sp>
        <p:nvSpPr>
          <p:cNvPr id="13240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8818323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4034" name="Rectangle 2"/>
          <p:cNvSpPr>
            <a:spLocks noGrp="1" noRot="1" noChangeAspect="1" noChangeArrowheads="1" noTextEdit="1"/>
          </p:cNvSpPr>
          <p:nvPr>
            <p:ph type="sldImg"/>
          </p:nvPr>
        </p:nvSpPr>
        <p:spPr/>
      </p:sp>
      <p:sp>
        <p:nvSpPr>
          <p:cNvPr id="13240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6668895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8C674-7B50-7AE4-A5CD-F98AB88C6344}"/>
            </a:ext>
          </a:extLst>
        </p:cNvPr>
        <p:cNvGrpSpPr/>
        <p:nvPr/>
      </p:nvGrpSpPr>
      <p:grpSpPr>
        <a:xfrm>
          <a:off x="0" y="0"/>
          <a:ext cx="0" cy="0"/>
          <a:chOff x="0" y="0"/>
          <a:chExt cx="0" cy="0"/>
        </a:xfrm>
      </p:grpSpPr>
      <p:sp>
        <p:nvSpPr>
          <p:cNvPr id="1324034" name="Rectangle 2">
            <a:extLst>
              <a:ext uri="{FF2B5EF4-FFF2-40B4-BE49-F238E27FC236}">
                <a16:creationId xmlns:a16="http://schemas.microsoft.com/office/drawing/2014/main" id="{87588E4E-45E9-EA0A-BA85-1E5080D077B8}"/>
              </a:ext>
            </a:extLst>
          </p:cNvPr>
          <p:cNvSpPr>
            <a:spLocks noGrp="1" noRot="1" noChangeAspect="1" noChangeArrowheads="1" noTextEdit="1"/>
          </p:cNvSpPr>
          <p:nvPr>
            <p:ph type="sldImg"/>
          </p:nvPr>
        </p:nvSpPr>
        <p:spPr/>
      </p:sp>
      <p:sp>
        <p:nvSpPr>
          <p:cNvPr id="1324035" name="Rectangle 3">
            <a:extLst>
              <a:ext uri="{FF2B5EF4-FFF2-40B4-BE49-F238E27FC236}">
                <a16:creationId xmlns:a16="http://schemas.microsoft.com/office/drawing/2014/main" id="{35AF9DD0-4629-A162-3F6B-6C6FDC7B7315}"/>
              </a:ext>
            </a:extLst>
          </p:cNvPr>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7604543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For a 6-bit two's complement number:</a:t>
                </a:r>
              </a:p>
              <a:p>
                <a:r>
                  <a:rPr lang="en-US" sz="1200" b="0" i="0" kern="1200" dirty="0">
                    <a:solidFill>
                      <a:schemeClr val="tx1"/>
                    </a:solidFill>
                    <a:effectLst/>
                    <a:latin typeface="+mn-lt"/>
                    <a:ea typeface="+mn-ea"/>
                    <a:cs typeface="+mn-cs"/>
                  </a:rPr>
                  <a:t>The range of representable integers is from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32</m:t>
                    </m:r>
                  </m:oMath>
                </a14:m>
                <a:r>
                  <a:rPr lang="en-US" sz="1200" b="0" i="0" kern="1200" dirty="0">
                    <a:solidFill>
                      <a:schemeClr val="tx1"/>
                    </a:solidFill>
                    <a:effectLst/>
                    <a:latin typeface="+mn-lt"/>
                    <a:ea typeface="+mn-ea"/>
                    <a:cs typeface="+mn-cs"/>
                  </a:rPr>
                  <a:t> to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31</m:t>
                    </m:r>
                  </m:oMath>
                </a14:m>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To represent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16</m:t>
                    </m:r>
                  </m:oMath>
                </a14:m>
                <a:r>
                  <a:rPr lang="en-US" sz="1200" b="0" i="0" kern="1200" dirty="0">
                    <a:solidFill>
                      <a:schemeClr val="tx1"/>
                    </a:solidFill>
                    <a:effectLst/>
                    <a:latin typeface="+mn-lt"/>
                    <a:ea typeface="+mn-ea"/>
                    <a:cs typeface="+mn-cs"/>
                  </a:rPr>
                  <a:t> in 6 bits:</a:t>
                </a:r>
              </a:p>
              <a:p>
                <a:pPr lvl="1"/>
                <a:r>
                  <a:rPr lang="en-US" sz="1200" b="0" i="0" kern="1200" dirty="0">
                    <a:solidFill>
                      <a:schemeClr val="tx1"/>
                    </a:solidFill>
                    <a:effectLst/>
                    <a:latin typeface="+mn-lt"/>
                    <a:ea typeface="+mn-ea"/>
                    <a:cs typeface="+mn-cs"/>
                  </a:rPr>
                  <a:t>Write </a:t>
                </a:r>
                <a14:m>
                  <m:oMath xmlns:m="http://schemas.openxmlformats.org/officeDocument/2006/math">
                    <m:r>
                      <a:rPr lang="en-US" sz="1200" kern="1200">
                        <a:solidFill>
                          <a:schemeClr val="tx1"/>
                        </a:solidFill>
                        <a:latin typeface="Cambria Math" panose="02040503050406030204" pitchFamily="18" charset="0"/>
                        <a:ea typeface="+mn-ea"/>
                        <a:cs typeface="+mn-cs"/>
                      </a:rPr>
                      <m:t>16</m:t>
                    </m:r>
                  </m:oMath>
                </a14:m>
                <a:r>
                  <a:rPr lang="en-US" sz="1200" b="0" i="0" kern="1200" dirty="0">
                    <a:solidFill>
                      <a:schemeClr val="tx1"/>
                    </a:solidFill>
                    <a:effectLst/>
                    <a:latin typeface="+mn-lt"/>
                    <a:ea typeface="+mn-ea"/>
                    <a:cs typeface="+mn-cs"/>
                  </a:rPr>
                  <a:t> in binary: </a:t>
                </a:r>
                <a14:m>
                  <m:oMath xmlns:m="http://schemas.openxmlformats.org/officeDocument/2006/math">
                    <m:r>
                      <a:rPr lang="en-US" sz="1200" kern="1200">
                        <a:solidFill>
                          <a:schemeClr val="tx1"/>
                        </a:solidFill>
                        <a:latin typeface="Cambria Math" panose="02040503050406030204" pitchFamily="18" charset="0"/>
                        <a:ea typeface="+mn-ea"/>
                        <a:cs typeface="+mn-cs"/>
                      </a:rPr>
                      <m:t>010000</m:t>
                    </m:r>
                  </m:oMath>
                </a14:m>
                <a:endParaRPr lang="en-US" sz="1200" b="0" i="0" kern="1200" dirty="0">
                  <a:solidFill>
                    <a:schemeClr val="tx1"/>
                  </a:solidFill>
                  <a:effectLst/>
                  <a:latin typeface="+mn-lt"/>
                  <a:ea typeface="+mn-ea"/>
                  <a:cs typeface="+mn-cs"/>
                </a:endParaRPr>
              </a:p>
              <a:p>
                <a:pPr lvl="1"/>
                <a:r>
                  <a:rPr lang="en-US" sz="1200" b="0" i="0" kern="1200" dirty="0">
                    <a:solidFill>
                      <a:schemeClr val="tx1"/>
                    </a:solidFill>
                    <a:effectLst/>
                    <a:latin typeface="+mn-lt"/>
                    <a:ea typeface="+mn-ea"/>
                    <a:cs typeface="+mn-cs"/>
                  </a:rPr>
                  <a:t>Take the two's complement (invert bits and add 1):</a:t>
                </a:r>
              </a:p>
              <a:p>
                <a:pPr lvl="2"/>
                <a:r>
                  <a:rPr lang="en-US" sz="1200" b="0" i="0" kern="1200" dirty="0">
                    <a:solidFill>
                      <a:schemeClr val="tx1"/>
                    </a:solidFill>
                    <a:effectLst/>
                    <a:latin typeface="+mn-lt"/>
                    <a:ea typeface="+mn-ea"/>
                    <a:cs typeface="+mn-cs"/>
                  </a:rPr>
                  <a:t>Invert bits: </a:t>
                </a:r>
                <a14:m>
                  <m:oMath xmlns:m="http://schemas.openxmlformats.org/officeDocument/2006/math">
                    <m:r>
                      <a:rPr lang="en-US" sz="1200" kern="1200">
                        <a:solidFill>
                          <a:schemeClr val="tx1"/>
                        </a:solidFill>
                        <a:latin typeface="Cambria Math" panose="02040503050406030204" pitchFamily="18" charset="0"/>
                        <a:ea typeface="+mn-ea"/>
                        <a:cs typeface="+mn-cs"/>
                      </a:rPr>
                      <m:t>101111</m:t>
                    </m:r>
                  </m:oMath>
                </a14:m>
                <a:endParaRPr lang="en-US" sz="1200" b="0" i="0" kern="1200" dirty="0">
                  <a:solidFill>
                    <a:schemeClr val="tx1"/>
                  </a:solidFill>
                  <a:effectLst/>
                  <a:latin typeface="+mn-lt"/>
                  <a:ea typeface="+mn-ea"/>
                  <a:cs typeface="+mn-cs"/>
                </a:endParaRPr>
              </a:p>
              <a:p>
                <a:pPr lvl="2"/>
                <a:r>
                  <a:rPr lang="en-US" sz="1200" b="0" i="0" kern="1200" dirty="0">
                    <a:solidFill>
                      <a:schemeClr val="tx1"/>
                    </a:solidFill>
                    <a:effectLst/>
                    <a:latin typeface="+mn-lt"/>
                    <a:ea typeface="+mn-ea"/>
                    <a:cs typeface="+mn-cs"/>
                  </a:rPr>
                  <a:t>Add 1: </a:t>
                </a:r>
                <a14:m>
                  <m:oMath xmlns:m="http://schemas.openxmlformats.org/officeDocument/2006/math">
                    <m:r>
                      <a:rPr lang="en-US" sz="1200" kern="1200">
                        <a:solidFill>
                          <a:schemeClr val="tx1"/>
                        </a:solidFill>
                        <a:latin typeface="Cambria Math" panose="02040503050406030204" pitchFamily="18" charset="0"/>
                        <a:ea typeface="+mn-ea"/>
                        <a:cs typeface="+mn-cs"/>
                      </a:rPr>
                      <m:t>101111</m:t>
                    </m:r>
                    <m:r>
                      <a:rPr lang="en-US" sz="1200" i="0" kern="1200">
                        <a:solidFill>
                          <a:schemeClr val="tx1"/>
                        </a:solidFill>
                        <a:latin typeface="Cambria Math" panose="02040503050406030204" pitchFamily="18" charset="0"/>
                        <a:ea typeface="+mn-ea"/>
                        <a:cs typeface="+mn-cs"/>
                      </a:rPr>
                      <m:t>+1=110000</m:t>
                    </m:r>
                  </m:oMath>
                </a14:m>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So,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16</m:t>
                    </m:r>
                  </m:oMath>
                </a14:m>
                <a:r>
                  <a:rPr lang="en-US" sz="1200" b="0" i="0" kern="1200" dirty="0">
                    <a:solidFill>
                      <a:schemeClr val="tx1"/>
                    </a:solidFill>
                    <a:effectLst/>
                    <a:latin typeface="+mn-lt"/>
                    <a:ea typeface="+mn-ea"/>
                    <a:cs typeface="+mn-cs"/>
                  </a:rPr>
                  <a:t> in 6-bit two's complement is </a:t>
                </a:r>
                <a14:m>
                  <m:oMath xmlns:m="http://schemas.openxmlformats.org/officeDocument/2006/math">
                    <m:r>
                      <a:rPr lang="en-US" sz="1200" kern="1200">
                        <a:solidFill>
                          <a:schemeClr val="tx1"/>
                        </a:solidFill>
                        <a:latin typeface="Cambria Math" panose="02040503050406030204" pitchFamily="18" charset="0"/>
                        <a:ea typeface="+mn-ea"/>
                        <a:cs typeface="+mn-cs"/>
                      </a:rPr>
                      <m:t>110000</m:t>
                    </m:r>
                  </m:oMath>
                </a14:m>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To take the negation of this (i.e., find the two's complement of </a:t>
                </a:r>
                <a14:m>
                  <m:oMath xmlns:m="http://schemas.openxmlformats.org/officeDocument/2006/math">
                    <m:r>
                      <a:rPr lang="en-US" sz="1200" kern="1200">
                        <a:solidFill>
                          <a:schemeClr val="tx1"/>
                        </a:solidFill>
                        <a:latin typeface="Cambria Math" panose="02040503050406030204" pitchFamily="18" charset="0"/>
                        <a:ea typeface="+mn-ea"/>
                        <a:cs typeface="+mn-cs"/>
                      </a:rPr>
                      <m:t>110000</m:t>
                    </m:r>
                  </m:oMath>
                </a14:m>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Invert bits: </a:t>
                </a:r>
                <a14:m>
                  <m:oMath xmlns:m="http://schemas.openxmlformats.org/officeDocument/2006/math">
                    <m:r>
                      <a:rPr lang="en-US" sz="1200" kern="1200">
                        <a:solidFill>
                          <a:schemeClr val="tx1"/>
                        </a:solidFill>
                        <a:latin typeface="Cambria Math" panose="02040503050406030204" pitchFamily="18" charset="0"/>
                        <a:ea typeface="+mn-ea"/>
                        <a:cs typeface="+mn-cs"/>
                      </a:rPr>
                      <m:t>001111</m:t>
                    </m:r>
                  </m:oMath>
                </a14:m>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Add 1: </a:t>
                </a:r>
                <a14:m>
                  <m:oMath xmlns:m="http://schemas.openxmlformats.org/officeDocument/2006/math">
                    <m:r>
                      <a:rPr lang="en-US" sz="1200" kern="1200">
                        <a:solidFill>
                          <a:schemeClr val="tx1"/>
                        </a:solidFill>
                        <a:latin typeface="Cambria Math" panose="02040503050406030204" pitchFamily="18" charset="0"/>
                        <a:ea typeface="+mn-ea"/>
                        <a:cs typeface="+mn-cs"/>
                      </a:rPr>
                      <m:t>001111</m:t>
                    </m:r>
                    <m:r>
                      <a:rPr lang="en-US" sz="1200" i="0" kern="1200">
                        <a:solidFill>
                          <a:schemeClr val="tx1"/>
                        </a:solidFill>
                        <a:latin typeface="Cambria Math" panose="02040503050406030204" pitchFamily="18" charset="0"/>
                        <a:ea typeface="+mn-ea"/>
                        <a:cs typeface="+mn-cs"/>
                      </a:rPr>
                      <m:t>+1=010000</m:t>
                    </m:r>
                  </m:oMath>
                </a14:m>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is </a:t>
                </a:r>
                <a14:m>
                  <m:oMath xmlns:m="http://schemas.openxmlformats.org/officeDocument/2006/math">
                    <m:r>
                      <a:rPr lang="en-US" sz="1200" kern="1200">
                        <a:solidFill>
                          <a:schemeClr val="tx1"/>
                        </a:solidFill>
                        <a:latin typeface="Cambria Math" panose="02040503050406030204" pitchFamily="18" charset="0"/>
                        <a:ea typeface="+mn-ea"/>
                        <a:cs typeface="+mn-cs"/>
                      </a:rPr>
                      <m:t>16</m:t>
                    </m:r>
                  </m:oMath>
                </a14:m>
                <a:r>
                  <a:rPr lang="en-US" sz="1200" b="0" i="0" kern="1200" dirty="0">
                    <a:solidFill>
                      <a:schemeClr val="tx1"/>
                    </a:solidFill>
                    <a:effectLst/>
                    <a:latin typeface="+mn-lt"/>
                    <a:ea typeface="+mn-ea"/>
                    <a:cs typeface="+mn-cs"/>
                  </a:rPr>
                  <a:t> in binary, so the negation of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16</m:t>
                    </m:r>
                  </m:oMath>
                </a14:m>
                <a:r>
                  <a:rPr lang="en-US" sz="1200" b="0" i="0" kern="1200" dirty="0">
                    <a:solidFill>
                      <a:schemeClr val="tx1"/>
                    </a:solidFill>
                    <a:effectLst/>
                    <a:latin typeface="+mn-lt"/>
                    <a:ea typeface="+mn-ea"/>
                    <a:cs typeface="+mn-cs"/>
                  </a:rPr>
                  <a:t> is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16</m:t>
                    </m:r>
                  </m:oMath>
                </a14:m>
                <a:r>
                  <a:rPr lang="en-US" sz="1200" b="0" i="0" kern="1200" dirty="0">
                    <a:solidFill>
                      <a:schemeClr val="tx1"/>
                    </a:solidFill>
                    <a:effectLst/>
                    <a:latin typeface="+mn-lt"/>
                    <a:ea typeface="+mn-ea"/>
                    <a:cs typeface="+mn-cs"/>
                  </a:rPr>
                  <a:t> as expected.</a:t>
                </a:r>
              </a:p>
              <a:p>
                <a:r>
                  <a:rPr lang="en-US" sz="1200" b="0" i="0" kern="1200" dirty="0">
                    <a:solidFill>
                      <a:schemeClr val="tx1"/>
                    </a:solidFill>
                    <a:effectLst/>
                    <a:latin typeface="+mn-lt"/>
                    <a:ea typeface="+mn-ea"/>
                    <a:cs typeface="+mn-cs"/>
                  </a:rPr>
                  <a:t>Unlike the 5-bit case where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16</m:t>
                    </m:r>
                  </m:oMath>
                </a14:m>
                <a:r>
                  <a:rPr lang="en-US" sz="1200" b="0" i="0" kern="1200" dirty="0">
                    <a:solidFill>
                      <a:schemeClr val="tx1"/>
                    </a:solidFill>
                    <a:effectLst/>
                    <a:latin typeface="+mn-lt"/>
                    <a:ea typeface="+mn-ea"/>
                    <a:cs typeface="+mn-cs"/>
                  </a:rPr>
                  <a:t> is the minimum and its negation wraps onto itself, in 6 bits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16</m:t>
                    </m:r>
                  </m:oMath>
                </a14:m>
                <a:r>
                  <a:rPr lang="en-US" sz="1200" b="0" i="0" kern="1200" dirty="0">
                    <a:solidFill>
                      <a:schemeClr val="tx1"/>
                    </a:solidFill>
                    <a:effectLst/>
                    <a:latin typeface="+mn-lt"/>
                    <a:ea typeface="+mn-ea"/>
                    <a:cs typeface="+mn-cs"/>
                  </a:rPr>
                  <a:t> behaves normally with correct negation.</a:t>
                </a:r>
              </a:p>
              <a:p>
                <a:endParaRPr lang="en-US" dirty="0"/>
              </a:p>
            </p:txBody>
          </p:sp>
        </mc:Choice>
        <mc:Fallback xmlns="">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For a 6-bit two's complement number:</a:t>
                </a:r>
              </a:p>
              <a:p>
                <a:r>
                  <a:rPr lang="en-US" sz="1200" b="0" i="0" kern="1200" dirty="0">
                    <a:solidFill>
                      <a:schemeClr val="tx1"/>
                    </a:solidFill>
                    <a:effectLst/>
                    <a:latin typeface="+mn-lt"/>
                    <a:ea typeface="+mn-ea"/>
                    <a:cs typeface="+mn-cs"/>
                  </a:rPr>
                  <a:t>The range of representable integers is from </a:t>
                </a:r>
                <a:r>
                  <a:rPr lang="en-US" sz="1200" i="0" kern="1200">
                    <a:solidFill>
                      <a:schemeClr val="tx1"/>
                    </a:solidFill>
                    <a:latin typeface="+mn-lt"/>
                    <a:ea typeface="+mn-ea"/>
                    <a:cs typeface="+mn-cs"/>
                  </a:rPr>
                  <a:t>−32</a:t>
                </a:r>
                <a:r>
                  <a:rPr lang="en-US" sz="1200" b="0" i="0" kern="1200" dirty="0">
                    <a:solidFill>
                      <a:schemeClr val="tx1"/>
                    </a:solidFill>
                    <a:effectLst/>
                    <a:latin typeface="+mn-lt"/>
                    <a:ea typeface="+mn-ea"/>
                    <a:cs typeface="+mn-cs"/>
                  </a:rPr>
                  <a:t> to </a:t>
                </a:r>
                <a:r>
                  <a:rPr lang="en-US" sz="1200" i="0" kern="1200">
                    <a:solidFill>
                      <a:schemeClr val="tx1"/>
                    </a:solidFill>
                    <a:latin typeface="+mn-lt"/>
                    <a:ea typeface="+mn-ea"/>
                    <a:cs typeface="+mn-cs"/>
                  </a:rPr>
                  <a:t>+31</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To represent </a:t>
                </a:r>
                <a:r>
                  <a:rPr lang="en-US" sz="1200" i="0" kern="1200">
                    <a:solidFill>
                      <a:schemeClr val="tx1"/>
                    </a:solidFill>
                    <a:latin typeface="+mn-lt"/>
                    <a:ea typeface="+mn-ea"/>
                    <a:cs typeface="+mn-cs"/>
                  </a:rPr>
                  <a:t>−16</a:t>
                </a:r>
                <a:r>
                  <a:rPr lang="en-US" sz="1200" b="0" i="0" kern="1200" dirty="0">
                    <a:solidFill>
                      <a:schemeClr val="tx1"/>
                    </a:solidFill>
                    <a:effectLst/>
                    <a:latin typeface="+mn-lt"/>
                    <a:ea typeface="+mn-ea"/>
                    <a:cs typeface="+mn-cs"/>
                  </a:rPr>
                  <a:t> in 6 bits:</a:t>
                </a:r>
              </a:p>
              <a:p>
                <a:pPr lvl="1"/>
                <a:r>
                  <a:rPr lang="en-US" sz="1200" b="0" i="0" kern="1200" dirty="0">
                    <a:solidFill>
                      <a:schemeClr val="tx1"/>
                    </a:solidFill>
                    <a:effectLst/>
                    <a:latin typeface="+mn-lt"/>
                    <a:ea typeface="+mn-ea"/>
                    <a:cs typeface="+mn-cs"/>
                  </a:rPr>
                  <a:t>Write </a:t>
                </a:r>
                <a:r>
                  <a:rPr lang="en-US" sz="1200" i="0" kern="1200">
                    <a:solidFill>
                      <a:schemeClr val="tx1"/>
                    </a:solidFill>
                    <a:latin typeface="+mn-lt"/>
                    <a:ea typeface="+mn-ea"/>
                    <a:cs typeface="+mn-cs"/>
                  </a:rPr>
                  <a:t>16</a:t>
                </a:r>
                <a:r>
                  <a:rPr lang="en-US" sz="1200" b="0" i="0" kern="1200" dirty="0">
                    <a:solidFill>
                      <a:schemeClr val="tx1"/>
                    </a:solidFill>
                    <a:effectLst/>
                    <a:latin typeface="+mn-lt"/>
                    <a:ea typeface="+mn-ea"/>
                    <a:cs typeface="+mn-cs"/>
                  </a:rPr>
                  <a:t> in binary: </a:t>
                </a:r>
                <a:r>
                  <a:rPr lang="en-US" sz="1200" i="0" kern="1200">
                    <a:solidFill>
                      <a:schemeClr val="tx1"/>
                    </a:solidFill>
                    <a:latin typeface="+mn-lt"/>
                    <a:ea typeface="+mn-ea"/>
                    <a:cs typeface="+mn-cs"/>
                  </a:rPr>
                  <a:t>010000</a:t>
                </a:r>
                <a:endParaRPr lang="en-US" sz="1200" b="0" i="0" kern="1200" dirty="0">
                  <a:solidFill>
                    <a:schemeClr val="tx1"/>
                  </a:solidFill>
                  <a:effectLst/>
                  <a:latin typeface="+mn-lt"/>
                  <a:ea typeface="+mn-ea"/>
                  <a:cs typeface="+mn-cs"/>
                </a:endParaRPr>
              </a:p>
              <a:p>
                <a:pPr lvl="1"/>
                <a:r>
                  <a:rPr lang="en-US" sz="1200" b="0" i="0" kern="1200" dirty="0">
                    <a:solidFill>
                      <a:schemeClr val="tx1"/>
                    </a:solidFill>
                    <a:effectLst/>
                    <a:latin typeface="+mn-lt"/>
                    <a:ea typeface="+mn-ea"/>
                    <a:cs typeface="+mn-cs"/>
                  </a:rPr>
                  <a:t>Take the two's complement (invert bits and add 1):</a:t>
                </a:r>
              </a:p>
              <a:p>
                <a:pPr lvl="2"/>
                <a:r>
                  <a:rPr lang="en-US" sz="1200" b="0" i="0" kern="1200" dirty="0">
                    <a:solidFill>
                      <a:schemeClr val="tx1"/>
                    </a:solidFill>
                    <a:effectLst/>
                    <a:latin typeface="+mn-lt"/>
                    <a:ea typeface="+mn-ea"/>
                    <a:cs typeface="+mn-cs"/>
                  </a:rPr>
                  <a:t>Invert bits: </a:t>
                </a:r>
                <a:r>
                  <a:rPr lang="en-US" sz="1200" i="0" kern="1200">
                    <a:solidFill>
                      <a:schemeClr val="tx1"/>
                    </a:solidFill>
                    <a:latin typeface="+mn-lt"/>
                    <a:ea typeface="+mn-ea"/>
                    <a:cs typeface="+mn-cs"/>
                  </a:rPr>
                  <a:t>101111</a:t>
                </a:r>
                <a:endParaRPr lang="en-US" sz="1200" b="0" i="0" kern="1200" dirty="0">
                  <a:solidFill>
                    <a:schemeClr val="tx1"/>
                  </a:solidFill>
                  <a:effectLst/>
                  <a:latin typeface="+mn-lt"/>
                  <a:ea typeface="+mn-ea"/>
                  <a:cs typeface="+mn-cs"/>
                </a:endParaRPr>
              </a:p>
              <a:p>
                <a:pPr lvl="2"/>
                <a:r>
                  <a:rPr lang="en-US" sz="1200" b="0" i="0" kern="1200" dirty="0">
                    <a:solidFill>
                      <a:schemeClr val="tx1"/>
                    </a:solidFill>
                    <a:effectLst/>
                    <a:latin typeface="+mn-lt"/>
                    <a:ea typeface="+mn-ea"/>
                    <a:cs typeface="+mn-cs"/>
                  </a:rPr>
                  <a:t>Add 1: </a:t>
                </a:r>
                <a:r>
                  <a:rPr lang="en-US" sz="1200" i="0" kern="1200">
                    <a:solidFill>
                      <a:schemeClr val="tx1"/>
                    </a:solidFill>
                    <a:latin typeface="+mn-lt"/>
                    <a:ea typeface="+mn-ea"/>
                    <a:cs typeface="+mn-cs"/>
                  </a:rPr>
                  <a:t>101111+1=110000</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So, </a:t>
                </a:r>
                <a:r>
                  <a:rPr lang="en-US" sz="1200" i="0" kern="1200">
                    <a:solidFill>
                      <a:schemeClr val="tx1"/>
                    </a:solidFill>
                    <a:latin typeface="+mn-lt"/>
                    <a:ea typeface="+mn-ea"/>
                    <a:cs typeface="+mn-cs"/>
                  </a:rPr>
                  <a:t>−16</a:t>
                </a:r>
                <a:r>
                  <a:rPr lang="en-US" sz="1200" b="0" i="0" kern="1200" dirty="0">
                    <a:solidFill>
                      <a:schemeClr val="tx1"/>
                    </a:solidFill>
                    <a:effectLst/>
                    <a:latin typeface="+mn-lt"/>
                    <a:ea typeface="+mn-ea"/>
                    <a:cs typeface="+mn-cs"/>
                  </a:rPr>
                  <a:t> in 6-bit two's complement is </a:t>
                </a:r>
                <a:r>
                  <a:rPr lang="en-US" sz="1200" i="0" kern="1200">
                    <a:solidFill>
                      <a:schemeClr val="tx1"/>
                    </a:solidFill>
                    <a:latin typeface="+mn-lt"/>
                    <a:ea typeface="+mn-ea"/>
                    <a:cs typeface="+mn-cs"/>
                  </a:rPr>
                  <a:t>110000</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To take the negation of this (i.e., find the two's complement of </a:t>
                </a:r>
                <a:r>
                  <a:rPr lang="en-US" sz="1200" i="0" kern="1200">
                    <a:solidFill>
                      <a:schemeClr val="tx1"/>
                    </a:solidFill>
                    <a:latin typeface="+mn-lt"/>
                    <a:ea typeface="+mn-ea"/>
                    <a:cs typeface="+mn-cs"/>
                  </a:rPr>
                  <a:t>110000</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Invert bits: </a:t>
                </a:r>
                <a:r>
                  <a:rPr lang="en-US" sz="1200" i="0" kern="1200">
                    <a:solidFill>
                      <a:schemeClr val="tx1"/>
                    </a:solidFill>
                    <a:latin typeface="+mn-lt"/>
                    <a:ea typeface="+mn-ea"/>
                    <a:cs typeface="+mn-cs"/>
                  </a:rPr>
                  <a:t>001111</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Add 1: </a:t>
                </a:r>
                <a:r>
                  <a:rPr lang="en-US" sz="1200" i="0" kern="1200">
                    <a:solidFill>
                      <a:schemeClr val="tx1"/>
                    </a:solidFill>
                    <a:latin typeface="+mn-lt"/>
                    <a:ea typeface="+mn-ea"/>
                    <a:cs typeface="+mn-cs"/>
                  </a:rPr>
                  <a:t>001111+1=010000</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is </a:t>
                </a:r>
                <a:r>
                  <a:rPr lang="en-US" sz="1200" i="0" kern="1200">
                    <a:solidFill>
                      <a:schemeClr val="tx1"/>
                    </a:solidFill>
                    <a:latin typeface="+mn-lt"/>
                    <a:ea typeface="+mn-ea"/>
                    <a:cs typeface="+mn-cs"/>
                  </a:rPr>
                  <a:t>16</a:t>
                </a:r>
                <a:r>
                  <a:rPr lang="en-US" sz="1200" b="0" i="0" kern="1200" dirty="0">
                    <a:solidFill>
                      <a:schemeClr val="tx1"/>
                    </a:solidFill>
                    <a:effectLst/>
                    <a:latin typeface="+mn-lt"/>
                    <a:ea typeface="+mn-ea"/>
                    <a:cs typeface="+mn-cs"/>
                  </a:rPr>
                  <a:t> in binary, so the negation of </a:t>
                </a:r>
                <a:r>
                  <a:rPr lang="en-US" sz="1200" i="0" kern="1200">
                    <a:solidFill>
                      <a:schemeClr val="tx1"/>
                    </a:solidFill>
                    <a:latin typeface="+mn-lt"/>
                    <a:ea typeface="+mn-ea"/>
                    <a:cs typeface="+mn-cs"/>
                  </a:rPr>
                  <a:t>−16</a:t>
                </a:r>
                <a:r>
                  <a:rPr lang="en-US" sz="1200" b="0" i="0" kern="1200" dirty="0">
                    <a:solidFill>
                      <a:schemeClr val="tx1"/>
                    </a:solidFill>
                    <a:effectLst/>
                    <a:latin typeface="+mn-lt"/>
                    <a:ea typeface="+mn-ea"/>
                    <a:cs typeface="+mn-cs"/>
                  </a:rPr>
                  <a:t> is </a:t>
                </a:r>
                <a:r>
                  <a:rPr lang="en-US" sz="1200" i="0" kern="1200">
                    <a:solidFill>
                      <a:schemeClr val="tx1"/>
                    </a:solidFill>
                    <a:latin typeface="+mn-lt"/>
                    <a:ea typeface="+mn-ea"/>
                    <a:cs typeface="+mn-cs"/>
                  </a:rPr>
                  <a:t>+16</a:t>
                </a:r>
                <a:r>
                  <a:rPr lang="en-US" sz="1200" b="0" i="0" kern="1200" dirty="0">
                    <a:solidFill>
                      <a:schemeClr val="tx1"/>
                    </a:solidFill>
                    <a:effectLst/>
                    <a:latin typeface="+mn-lt"/>
                    <a:ea typeface="+mn-ea"/>
                    <a:cs typeface="+mn-cs"/>
                  </a:rPr>
                  <a:t> as expected.</a:t>
                </a:r>
              </a:p>
              <a:p>
                <a:r>
                  <a:rPr lang="en-US" sz="1200" b="0" i="0" kern="1200" dirty="0">
                    <a:solidFill>
                      <a:schemeClr val="tx1"/>
                    </a:solidFill>
                    <a:effectLst/>
                    <a:latin typeface="+mn-lt"/>
                    <a:ea typeface="+mn-ea"/>
                    <a:cs typeface="+mn-cs"/>
                  </a:rPr>
                  <a:t>Unlike the 5-bit case where </a:t>
                </a:r>
                <a:r>
                  <a:rPr lang="en-US" sz="1200" i="0" kern="1200">
                    <a:solidFill>
                      <a:schemeClr val="tx1"/>
                    </a:solidFill>
                    <a:latin typeface="+mn-lt"/>
                    <a:ea typeface="+mn-ea"/>
                    <a:cs typeface="+mn-cs"/>
                  </a:rPr>
                  <a:t>−16</a:t>
                </a:r>
                <a:r>
                  <a:rPr lang="en-US" sz="1200" b="0" i="0" kern="1200" dirty="0">
                    <a:solidFill>
                      <a:schemeClr val="tx1"/>
                    </a:solidFill>
                    <a:effectLst/>
                    <a:latin typeface="+mn-lt"/>
                    <a:ea typeface="+mn-ea"/>
                    <a:cs typeface="+mn-cs"/>
                  </a:rPr>
                  <a:t> is the minimum and its negation wraps onto itself, in 6 bits </a:t>
                </a:r>
                <a:r>
                  <a:rPr lang="en-US" sz="1200" i="0" kern="1200">
                    <a:solidFill>
                      <a:schemeClr val="tx1"/>
                    </a:solidFill>
                    <a:latin typeface="+mn-lt"/>
                    <a:ea typeface="+mn-ea"/>
                    <a:cs typeface="+mn-cs"/>
                  </a:rPr>
                  <a:t>−16</a:t>
                </a:r>
                <a:r>
                  <a:rPr lang="en-US" sz="1200" b="0" i="0" kern="1200" dirty="0">
                    <a:solidFill>
                      <a:schemeClr val="tx1"/>
                    </a:solidFill>
                    <a:effectLst/>
                    <a:latin typeface="+mn-lt"/>
                    <a:ea typeface="+mn-ea"/>
                    <a:cs typeface="+mn-cs"/>
                  </a:rPr>
                  <a:t> behaves normally with correct negation.</a:t>
                </a:r>
              </a:p>
              <a:p>
                <a:endParaRPr lang="en-US" dirty="0"/>
              </a:p>
            </p:txBody>
          </p:sp>
        </mc:Fallback>
      </mc:AlternateContent>
      <p:sp>
        <p:nvSpPr>
          <p:cNvPr id="4" name="Slide Number Placeholder 3"/>
          <p:cNvSpPr>
            <a:spLocks noGrp="1"/>
          </p:cNvSpPr>
          <p:nvPr>
            <p:ph type="sldNum" sz="quarter" idx="5"/>
          </p:nvPr>
        </p:nvSpPr>
        <p:spPr/>
        <p:txBody>
          <a:bodyPr/>
          <a:lstStyle/>
          <a:p>
            <a:fld id="{633BBA0F-9BBE-41FE-A859-D6EE6CD9FB52}" type="slidenum">
              <a:rPr lang="en-US" smtClean="0"/>
              <a:t>15</a:t>
            </a:fld>
            <a:endParaRPr lang="en-US"/>
          </a:p>
        </p:txBody>
      </p:sp>
    </p:spTree>
    <p:extLst>
      <p:ext uri="{BB962C8B-B14F-4D97-AF65-F5344CB8AC3E}">
        <p14:creationId xmlns:p14="http://schemas.microsoft.com/office/powerpoint/2010/main" val="2459963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857500" y="514350"/>
            <a:ext cx="3429000" cy="25717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90BD9A7-939F-844E-AA9E-BD9AA155276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300330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For signed numbers represented in two’s complement, an overflow occurs only in two scenarios: </a:t>
            </a:r>
          </a:p>
          <a:p>
            <a:pPr marL="228600" lvl="0" indent="-228600">
              <a:buFont typeface="+mj-lt"/>
              <a:buAutoNum type="arabicPeriod"/>
            </a:pPr>
            <a:r>
              <a:rPr lang="en-US" sz="1200" kern="1200" dirty="0">
                <a:solidFill>
                  <a:schemeClr val="tx1"/>
                </a:solidFill>
                <a:effectLst/>
                <a:latin typeface="+mn-lt"/>
                <a:ea typeface="+mn-ea"/>
                <a:cs typeface="+mn-cs"/>
              </a:rPr>
              <a:t>Add two positive numbers and get a negative result</a:t>
            </a:r>
          </a:p>
          <a:p>
            <a:pPr marL="228600" lvl="0" indent="-228600">
              <a:buFont typeface="+mj-lt"/>
              <a:buAutoNum type="arabicPeriod"/>
            </a:pPr>
            <a:r>
              <a:rPr lang="en-US" sz="1200" kern="1200" dirty="0">
                <a:solidFill>
                  <a:schemeClr val="tx1"/>
                </a:solidFill>
                <a:effectLst/>
                <a:latin typeface="+mn-lt"/>
                <a:ea typeface="+mn-ea"/>
                <a:cs typeface="+mn-cs"/>
              </a:rPr>
              <a:t>Add two negative numbers and get a positive result</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24DF53-3DD3-9F45-9E7E-472B96F1AB8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710372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For signed numbers represented in two’s complement, an overflow occurs only in two scenarios: </a:t>
            </a:r>
          </a:p>
          <a:p>
            <a:pPr marL="228600" lvl="0" indent="-228600">
              <a:buFont typeface="+mj-lt"/>
              <a:buAutoNum type="arabicPeriod"/>
            </a:pPr>
            <a:r>
              <a:rPr lang="en-US" sz="1200" kern="1200" dirty="0">
                <a:solidFill>
                  <a:schemeClr val="tx1"/>
                </a:solidFill>
                <a:effectLst/>
                <a:latin typeface="+mn-lt"/>
                <a:ea typeface="+mn-ea"/>
                <a:cs typeface="+mn-cs"/>
              </a:rPr>
              <a:t>Add two positive numbers and get a negative result</a:t>
            </a:r>
          </a:p>
          <a:p>
            <a:pPr marL="228600" lvl="0" indent="-228600">
              <a:buFont typeface="+mj-lt"/>
              <a:buAutoNum type="arabicPeriod"/>
            </a:pPr>
            <a:r>
              <a:rPr lang="en-US" sz="1200" kern="1200" dirty="0">
                <a:solidFill>
                  <a:schemeClr val="tx1"/>
                </a:solidFill>
                <a:effectLst/>
                <a:latin typeface="+mn-lt"/>
                <a:ea typeface="+mn-ea"/>
                <a:cs typeface="+mn-cs"/>
              </a:rPr>
              <a:t>Add two negative numbers and get a positive result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 is cleared </a:t>
            </a:r>
            <a:r>
              <a:rPr lang="en-US" dirty="0">
                <a:cs typeface="Times New Roman" pitchFamily="18" charset="0"/>
              </a:rPr>
              <a:t>upon </a:t>
            </a:r>
            <a:r>
              <a:rPr lang="en-US" dirty="0"/>
              <a:t>an </a:t>
            </a:r>
            <a:r>
              <a:rPr lang="en-US" b="1" u="sng" dirty="0">
                <a:solidFill>
                  <a:srgbClr val="800000"/>
                </a:solidFill>
              </a:rPr>
              <a:t>unsigned</a:t>
            </a:r>
            <a:r>
              <a:rPr lang="en-US" dirty="0"/>
              <a:t> subtract if the answer is wrong</a:t>
            </a:r>
            <a:endParaRPr lang="en-US" sz="300"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24DF53-3DD3-9F45-9E7E-472B96F1AB8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800241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2"/>
          <p:cNvSpPr>
            <a:spLocks noGrp="1" noRot="1" noChangeAspect="1" noChangeArrowheads="1" noTextEdit="1"/>
          </p:cNvSpPr>
          <p:nvPr>
            <p:ph type="sldImg"/>
          </p:nvPr>
        </p:nvSpPr>
        <p:spPr>
          <a:ln/>
        </p:spPr>
      </p:sp>
      <p:sp>
        <p:nvSpPr>
          <p:cNvPr id="324611" name="Rectangle 3"/>
          <p:cNvSpPr>
            <a:spLocks noGrp="1" noChangeArrowheads="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Gill Sans MT"/>
                <a:ea typeface="+mn-ea"/>
                <a:cs typeface="+mn-cs"/>
              </a:rPr>
              <a:t>C is cleared </a:t>
            </a:r>
            <a:r>
              <a:rPr kumimoji="0" lang="en-US" sz="1200" b="0" i="0" u="none" strike="noStrike" kern="1200" cap="none" spc="0" normalizeH="0" baseline="0" noProof="0" dirty="0">
                <a:ln>
                  <a:noFill/>
                </a:ln>
                <a:solidFill>
                  <a:prstClr val="black"/>
                </a:solidFill>
                <a:effectLst/>
                <a:uLnTx/>
                <a:uFillTx/>
                <a:latin typeface="Gill Sans MT"/>
                <a:ea typeface="+mn-ea"/>
                <a:cs typeface="Times New Roman" pitchFamily="18" charset="0"/>
              </a:rPr>
              <a:t>upon </a:t>
            </a:r>
            <a:r>
              <a:rPr kumimoji="0" lang="en-US" sz="1200" b="0" i="0" u="none" strike="noStrike" kern="1200" cap="none" spc="0" normalizeH="0" baseline="0" noProof="0" dirty="0">
                <a:ln>
                  <a:noFill/>
                </a:ln>
                <a:solidFill>
                  <a:prstClr val="black"/>
                </a:solidFill>
                <a:effectLst/>
                <a:uLnTx/>
                <a:uFillTx/>
                <a:latin typeface="Gill Sans MT"/>
                <a:ea typeface="+mn-ea"/>
                <a:cs typeface="+mn-cs"/>
              </a:rPr>
              <a:t>an </a:t>
            </a:r>
            <a:r>
              <a:rPr kumimoji="0" lang="en-US" sz="1200" b="1" i="0" u="sng" strike="noStrike" kern="1200" cap="none" spc="0" normalizeH="0" baseline="0" noProof="0" dirty="0">
                <a:ln>
                  <a:noFill/>
                </a:ln>
                <a:solidFill>
                  <a:srgbClr val="800000"/>
                </a:solidFill>
                <a:effectLst/>
                <a:uLnTx/>
                <a:uFillTx/>
                <a:latin typeface="Gill Sans MT"/>
                <a:ea typeface="+mn-ea"/>
                <a:cs typeface="+mn-cs"/>
              </a:rPr>
              <a:t>unsigned</a:t>
            </a:r>
            <a:r>
              <a:rPr kumimoji="0" lang="en-US" sz="1200" b="0" i="0" u="none" strike="noStrike" kern="1200" cap="none" spc="0" normalizeH="0" baseline="0" noProof="0" dirty="0">
                <a:ln>
                  <a:noFill/>
                </a:ln>
                <a:solidFill>
                  <a:prstClr val="black"/>
                </a:solidFill>
                <a:effectLst/>
                <a:uLnTx/>
                <a:uFillTx/>
                <a:latin typeface="Gill Sans MT"/>
                <a:ea typeface="+mn-ea"/>
                <a:cs typeface="+mn-cs"/>
              </a:rPr>
              <a:t> subtract if the answer is wrong</a:t>
            </a:r>
            <a:endParaRPr kumimoji="0" lang="en-US" sz="300" b="0" i="0" u="none" strike="noStrike" kern="1200" cap="none" spc="0" normalizeH="0" baseline="0" noProof="0" dirty="0">
              <a:ln>
                <a:noFill/>
              </a:ln>
              <a:solidFill>
                <a:prstClr val="black"/>
              </a:solidFill>
              <a:effectLst/>
              <a:uLnTx/>
              <a:uFillTx/>
              <a:latin typeface="Gill Sans MT"/>
              <a:ea typeface="+mn-ea"/>
              <a:cs typeface="+mn-cs"/>
            </a:endParaRPr>
          </a:p>
          <a:p>
            <a:endParaRPr lang="en-US" dirty="0"/>
          </a:p>
        </p:txBody>
      </p:sp>
    </p:spTree>
    <p:extLst>
      <p:ext uri="{BB962C8B-B14F-4D97-AF65-F5344CB8AC3E}">
        <p14:creationId xmlns:p14="http://schemas.microsoft.com/office/powerpoint/2010/main" val="23496305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2"/>
          <p:cNvSpPr>
            <a:spLocks noGrp="1" noRot="1" noChangeAspect="1" noChangeArrowheads="1" noTextEdit="1"/>
          </p:cNvSpPr>
          <p:nvPr>
            <p:ph type="sldImg"/>
          </p:nvPr>
        </p:nvSpPr>
        <p:spPr>
          <a:ln/>
        </p:spPr>
      </p:sp>
      <p:sp>
        <p:nvSpPr>
          <p:cNvPr id="324611" name="Rectangle 3"/>
          <p:cNvSpPr>
            <a:spLocks noGrp="1" noChangeArrowheads="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Gill Sans MT"/>
                <a:ea typeface="+mn-ea"/>
                <a:cs typeface="+mn-cs"/>
              </a:rPr>
              <a:t>C is cleared </a:t>
            </a:r>
            <a:r>
              <a:rPr kumimoji="0" lang="en-US" sz="1200" b="0" i="0" u="none" strike="noStrike" kern="1200" cap="none" spc="0" normalizeH="0" baseline="0" noProof="0" dirty="0">
                <a:ln>
                  <a:noFill/>
                </a:ln>
                <a:solidFill>
                  <a:prstClr val="black"/>
                </a:solidFill>
                <a:effectLst/>
                <a:uLnTx/>
                <a:uFillTx/>
                <a:latin typeface="Gill Sans MT"/>
                <a:ea typeface="+mn-ea"/>
                <a:cs typeface="Times New Roman" pitchFamily="18" charset="0"/>
              </a:rPr>
              <a:t>upon </a:t>
            </a:r>
            <a:r>
              <a:rPr kumimoji="0" lang="en-US" sz="1200" b="0" i="0" u="none" strike="noStrike" kern="1200" cap="none" spc="0" normalizeH="0" baseline="0" noProof="0" dirty="0">
                <a:ln>
                  <a:noFill/>
                </a:ln>
                <a:solidFill>
                  <a:prstClr val="black"/>
                </a:solidFill>
                <a:effectLst/>
                <a:uLnTx/>
                <a:uFillTx/>
                <a:latin typeface="Gill Sans MT"/>
                <a:ea typeface="+mn-ea"/>
                <a:cs typeface="+mn-cs"/>
              </a:rPr>
              <a:t>an </a:t>
            </a:r>
            <a:r>
              <a:rPr kumimoji="0" lang="en-US" sz="1200" b="1" i="0" u="sng" strike="noStrike" kern="1200" cap="none" spc="0" normalizeH="0" baseline="0" noProof="0" dirty="0">
                <a:ln>
                  <a:noFill/>
                </a:ln>
                <a:solidFill>
                  <a:srgbClr val="800000"/>
                </a:solidFill>
                <a:effectLst/>
                <a:uLnTx/>
                <a:uFillTx/>
                <a:latin typeface="Gill Sans MT"/>
                <a:ea typeface="+mn-ea"/>
                <a:cs typeface="+mn-cs"/>
              </a:rPr>
              <a:t>unsigned</a:t>
            </a:r>
            <a:r>
              <a:rPr kumimoji="0" lang="en-US" sz="1200" b="0" i="0" u="none" strike="noStrike" kern="1200" cap="none" spc="0" normalizeH="0" baseline="0" noProof="0" dirty="0">
                <a:ln>
                  <a:noFill/>
                </a:ln>
                <a:solidFill>
                  <a:prstClr val="black"/>
                </a:solidFill>
                <a:effectLst/>
                <a:uLnTx/>
                <a:uFillTx/>
                <a:latin typeface="Gill Sans MT"/>
                <a:ea typeface="+mn-ea"/>
                <a:cs typeface="+mn-cs"/>
              </a:rPr>
              <a:t> subtract if the answer is wrong</a:t>
            </a:r>
            <a:endParaRPr kumimoji="0" lang="en-US" sz="300" b="0" i="0" u="none" strike="noStrike" kern="1200" cap="none" spc="0" normalizeH="0" baseline="0" noProof="0" dirty="0">
              <a:ln>
                <a:noFill/>
              </a:ln>
              <a:solidFill>
                <a:prstClr val="black"/>
              </a:solidFill>
              <a:effectLst/>
              <a:uLnTx/>
              <a:uFillTx/>
              <a:latin typeface="Gill Sans MT"/>
              <a:ea typeface="+mn-ea"/>
              <a:cs typeface="+mn-cs"/>
            </a:endParaRPr>
          </a:p>
          <a:p>
            <a:r>
              <a:rPr lang="en-US" sz="1200" b="0" i="0" kern="1200" dirty="0">
                <a:solidFill>
                  <a:schemeClr val="tx1"/>
                </a:solidFill>
                <a:effectLst/>
                <a:latin typeface="+mn-lt"/>
                <a:ea typeface="+mn-ea"/>
                <a:cs typeface="+mn-cs"/>
              </a:rPr>
              <a:t>The carry flag (CF) is set differently for unsigned addition and subtraction:</a:t>
            </a:r>
          </a:p>
          <a:p>
            <a:r>
              <a:rPr lang="en-US" sz="1200" b="1" i="0" kern="1200" dirty="0">
                <a:solidFill>
                  <a:schemeClr val="tx1"/>
                </a:solidFill>
                <a:effectLst/>
                <a:latin typeface="+mn-lt"/>
                <a:ea typeface="+mn-ea"/>
                <a:cs typeface="+mn-cs"/>
              </a:rPr>
              <a:t>Unsigned Addition:</a:t>
            </a:r>
          </a:p>
          <a:p>
            <a:r>
              <a:rPr lang="en-US" sz="1200" b="0" i="0" kern="1200" dirty="0">
                <a:solidFill>
                  <a:schemeClr val="tx1"/>
                </a:solidFill>
                <a:effectLst/>
                <a:latin typeface="+mn-lt"/>
                <a:ea typeface="+mn-ea"/>
                <a:cs typeface="+mn-cs"/>
              </a:rPr>
              <a:t>The carry flag is set to 1 if there is a </a:t>
            </a:r>
            <a:r>
              <a:rPr lang="en-US" sz="1200" b="1" i="0" kern="1200" dirty="0">
                <a:solidFill>
                  <a:schemeClr val="tx1"/>
                </a:solidFill>
                <a:effectLst/>
                <a:latin typeface="+mn-lt"/>
                <a:ea typeface="+mn-ea"/>
                <a:cs typeface="+mn-cs"/>
              </a:rPr>
              <a:t>carry out</a:t>
            </a:r>
            <a:r>
              <a:rPr lang="en-US" sz="1200" b="0" i="0" kern="1200" dirty="0">
                <a:solidFill>
                  <a:schemeClr val="tx1"/>
                </a:solidFill>
                <a:effectLst/>
                <a:latin typeface="+mn-lt"/>
                <a:ea typeface="+mn-ea"/>
                <a:cs typeface="+mn-cs"/>
              </a:rPr>
              <a:t> from the most significant bit (MSB) during the addition.</a:t>
            </a:r>
          </a:p>
          <a:p>
            <a:r>
              <a:rPr lang="en-US" sz="1200" b="0" i="0" kern="1200" dirty="0">
                <a:solidFill>
                  <a:schemeClr val="tx1"/>
                </a:solidFill>
                <a:effectLst/>
                <a:latin typeface="+mn-lt"/>
                <a:ea typeface="+mn-ea"/>
                <a:cs typeface="+mn-cs"/>
              </a:rPr>
              <a:t>This means the sum exceeds the maximum value that can be represented in the given number of bits.</a:t>
            </a:r>
          </a:p>
          <a:p>
            <a:r>
              <a:rPr lang="en-US" sz="1200" b="0" i="0" kern="1200" dirty="0">
                <a:solidFill>
                  <a:schemeClr val="tx1"/>
                </a:solidFill>
                <a:effectLst/>
                <a:latin typeface="+mn-lt"/>
                <a:ea typeface="+mn-ea"/>
                <a:cs typeface="+mn-cs"/>
              </a:rPr>
              <a:t>Example: Adding two 8-bit numbers resulting in a value greater than 255 will set CF = 1.</a:t>
            </a:r>
          </a:p>
          <a:p>
            <a:r>
              <a:rPr lang="en-US" sz="1200" b="1" i="0" kern="1200" dirty="0">
                <a:solidFill>
                  <a:schemeClr val="tx1"/>
                </a:solidFill>
                <a:effectLst/>
                <a:latin typeface="+mn-lt"/>
                <a:ea typeface="+mn-ea"/>
                <a:cs typeface="+mn-cs"/>
              </a:rPr>
              <a:t>Unsigned Subtraction:</a:t>
            </a:r>
          </a:p>
          <a:p>
            <a:r>
              <a:rPr lang="en-US" sz="1200" b="0" i="0" kern="1200" dirty="0">
                <a:solidFill>
                  <a:schemeClr val="tx1"/>
                </a:solidFill>
                <a:effectLst/>
                <a:latin typeface="+mn-lt"/>
                <a:ea typeface="+mn-ea"/>
                <a:cs typeface="+mn-cs"/>
              </a:rPr>
              <a:t>The carry flag acts as a </a:t>
            </a:r>
            <a:r>
              <a:rPr lang="en-US" sz="1200" b="1" i="0" kern="1200" dirty="0">
                <a:solidFill>
                  <a:schemeClr val="tx1"/>
                </a:solidFill>
                <a:effectLst/>
                <a:latin typeface="+mn-lt"/>
                <a:ea typeface="+mn-ea"/>
                <a:cs typeface="+mn-cs"/>
              </a:rPr>
              <a:t>borrow indicator</a:t>
            </a:r>
            <a:r>
              <a:rPr lang="en-US" sz="1200" b="0" i="0" kern="1200" dirty="0">
                <a:solidFill>
                  <a:schemeClr val="tx1"/>
                </a:solidFill>
                <a:effectLst/>
                <a:latin typeface="+mn-lt"/>
                <a:ea typeface="+mn-ea"/>
                <a:cs typeface="+mn-cs"/>
              </a:rPr>
              <a:t> for subtraction.</a:t>
            </a:r>
          </a:p>
          <a:p>
            <a:r>
              <a:rPr lang="en-US" sz="1200" b="0" i="0" kern="1200" dirty="0">
                <a:solidFill>
                  <a:schemeClr val="tx1"/>
                </a:solidFill>
                <a:effectLst/>
                <a:latin typeface="+mn-lt"/>
                <a:ea typeface="+mn-ea"/>
                <a:cs typeface="+mn-cs"/>
              </a:rPr>
              <a:t>CF is cleared (set to 0) if a borrow is needed (i.e., if the minuend is less than the subtrahend).</a:t>
            </a:r>
          </a:p>
          <a:p>
            <a:r>
              <a:rPr lang="en-US" sz="1200" b="0" i="0" kern="1200" dirty="0">
                <a:solidFill>
                  <a:schemeClr val="tx1"/>
                </a:solidFill>
                <a:effectLst/>
                <a:latin typeface="+mn-lt"/>
                <a:ea typeface="+mn-ea"/>
                <a:cs typeface="+mn-cs"/>
              </a:rPr>
              <a:t>CF is set to 1 if no borrow is needed, meaning the subtraction did not underflow.</a:t>
            </a:r>
          </a:p>
          <a:p>
            <a:r>
              <a:rPr lang="en-US" sz="1200" b="1" i="0" kern="1200" dirty="0">
                <a:solidFill>
                  <a:schemeClr val="tx1"/>
                </a:solidFill>
                <a:effectLst/>
                <a:latin typeface="+mn-lt"/>
                <a:ea typeface="+mn-ea"/>
                <a:cs typeface="+mn-cs"/>
              </a:rPr>
              <a:t>Summary:</a:t>
            </a:r>
          </a:p>
          <a:p>
            <a:r>
              <a:rPr lang="en-US" sz="1200" b="0" i="0" kern="1200" dirty="0">
                <a:solidFill>
                  <a:schemeClr val="tx1"/>
                </a:solidFill>
                <a:effectLst/>
                <a:latin typeface="+mn-lt"/>
                <a:ea typeface="+mn-ea"/>
                <a:cs typeface="+mn-cs"/>
              </a:rPr>
              <a:t>For </a:t>
            </a:r>
            <a:r>
              <a:rPr lang="en-US" sz="1200" b="1" i="0" kern="1200" dirty="0">
                <a:solidFill>
                  <a:schemeClr val="tx1"/>
                </a:solidFill>
                <a:effectLst/>
                <a:latin typeface="+mn-lt"/>
                <a:ea typeface="+mn-ea"/>
                <a:cs typeface="+mn-cs"/>
              </a:rPr>
              <a:t>unsigned addition</a:t>
            </a:r>
            <a:r>
              <a:rPr lang="en-US" sz="1200" b="0" i="0" kern="1200" dirty="0">
                <a:solidFill>
                  <a:schemeClr val="tx1"/>
                </a:solidFill>
                <a:effectLst/>
                <a:latin typeface="+mn-lt"/>
                <a:ea typeface="+mn-ea"/>
                <a:cs typeface="+mn-cs"/>
              </a:rPr>
              <a:t>, CF = 1 means an overflow beyond the MSB (carry out).</a:t>
            </a:r>
          </a:p>
          <a:p>
            <a:r>
              <a:rPr lang="en-US" sz="1200" b="0" i="0" kern="1200" dirty="0">
                <a:solidFill>
                  <a:schemeClr val="tx1"/>
                </a:solidFill>
                <a:effectLst/>
                <a:latin typeface="+mn-lt"/>
                <a:ea typeface="+mn-ea"/>
                <a:cs typeface="+mn-cs"/>
              </a:rPr>
              <a:t>For </a:t>
            </a:r>
            <a:r>
              <a:rPr lang="en-US" sz="1200" b="1" i="0" kern="1200" dirty="0">
                <a:solidFill>
                  <a:schemeClr val="tx1"/>
                </a:solidFill>
                <a:effectLst/>
                <a:latin typeface="+mn-lt"/>
                <a:ea typeface="+mn-ea"/>
                <a:cs typeface="+mn-cs"/>
              </a:rPr>
              <a:t>unsigned subtraction</a:t>
            </a:r>
            <a:r>
              <a:rPr lang="en-US" sz="1200" b="0" i="0" kern="1200" dirty="0">
                <a:solidFill>
                  <a:schemeClr val="tx1"/>
                </a:solidFill>
                <a:effectLst/>
                <a:latin typeface="+mn-lt"/>
                <a:ea typeface="+mn-ea"/>
                <a:cs typeface="+mn-cs"/>
              </a:rPr>
              <a:t>, CF = 0 means a borrow (underflow), CF = 1 means no borrow.</a:t>
            </a:r>
          </a:p>
          <a:p>
            <a:r>
              <a:rPr lang="en-US" sz="1200" b="0" i="0" kern="1200" dirty="0">
                <a:solidFill>
                  <a:schemeClr val="tx1"/>
                </a:solidFill>
                <a:effectLst/>
                <a:latin typeface="+mn-lt"/>
                <a:ea typeface="+mn-ea"/>
                <a:cs typeface="+mn-cs"/>
              </a:rPr>
              <a:t>The carry flag thus helps detect unsigned overflow or underflow conditions.</a:t>
            </a:r>
          </a:p>
          <a:p>
            <a:r>
              <a:rPr lang="en-US" sz="1200" b="0" i="0" kern="1200" dirty="0">
                <a:solidFill>
                  <a:schemeClr val="tx1"/>
                </a:solidFill>
                <a:effectLst/>
                <a:latin typeface="+mn-lt"/>
                <a:ea typeface="+mn-ea"/>
                <a:cs typeface="+mn-cs"/>
              </a:rPr>
              <a:t>This behavior contrasts with signed arithmetic, where the overflow flag (OF) signals signed overflow, and the carry flag is generally not used.</a:t>
            </a:r>
          </a:p>
          <a:p>
            <a:r>
              <a:rPr lang="en-US" sz="1200" b="0" i="0" kern="1200">
                <a:solidFill>
                  <a:schemeClr val="tx1"/>
                </a:solidFill>
                <a:effectLst/>
                <a:latin typeface="+mn-lt"/>
                <a:ea typeface="+mn-ea"/>
                <a:cs typeface="+mn-cs"/>
              </a:rPr>
              <a:t>References from teaching and documentation explain this clearly: The carry flag signals actual carry for addition and borrow for subtraction in unsigned arithmetic scenarios.</a:t>
            </a:r>
          </a:p>
          <a:p>
            <a:endParaRPr lang="en-US" dirty="0"/>
          </a:p>
        </p:txBody>
      </p:sp>
    </p:spTree>
    <p:extLst>
      <p:ext uri="{BB962C8B-B14F-4D97-AF65-F5344CB8AC3E}">
        <p14:creationId xmlns:p14="http://schemas.microsoft.com/office/powerpoint/2010/main" val="31600375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Why</a:t>
            </a:r>
            <a:r>
              <a:rPr lang="en-US" baseline="0" dirty="0"/>
              <a:t> do we use two’s complement? {{Pause=0.5}}  One of the advantages is that two’s complement can simplify the hardware implementation of arithmetic functions. </a:t>
            </a:r>
            <a:r>
              <a:rPr lang="en-US" dirty="0"/>
              <a:t>If signed</a:t>
            </a:r>
            <a:r>
              <a:rPr lang="en-US" baseline="0" dirty="0"/>
              <a:t> integers are represented in two’s complement, the hardware can ignore the sign of operands for addition or subtraction. If </a:t>
            </a:r>
            <a:r>
              <a:rPr lang="en-US" sz="1200" dirty="0"/>
              <a:t>the product is required to keep the same number of bits as operands, the multiplication hardware can also ignore the sign of operands. This property of two’s complement </a:t>
            </a:r>
            <a:r>
              <a:rPr lang="en-US" sz="1200" baseline="0" dirty="0"/>
              <a:t>simplifies the hardware design for addition, subtraction and multiplication. Note that this property does not hold true for division.</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24DF53-3DD3-9F45-9E7E-472B96F1AB8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816701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 {{Pause=1}}  We will use a very simple example to show that, the hardware adder  for adding unsigned numbers, also works correctly for adding signed numbers. {{Pause=0.5}}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Suppose we are adding  negative nine and six. {{Pause=0.5}}  These two signed numbers are represented in two’s complement in computers.  {{Pause=0.5}}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Specifically, we can obtain the two’s complement representation of negative nine by flipping all bits and adding one. {{Pause=0.5}} The two’s complement of a positive number is itself. {{Pause=0.5}}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Let’s see what will happen if the hardware treats these two inputs as unsigned numbers. If these binary bits represent unsigned numbers,  they are 23 and 6, respectively. Therefore, the hardware adds 23 and 6, and produces 29, in decimal,  {{Pause=0.3}} or one, one, one, zero, one, in binary. {{Pause=0.5}}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If the output represents a signed integer in two’s complement, it actually represents negative 3. This can be proved by inverting all the bits and adding one. The result, negative three, is exactly the sum of the original signed inputs. {{Pause=0.5}}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This example shows that, without any modification, the hardware adder designed for adding unsigned numbers,  works correctly for adding signed numbers.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24DF53-3DD3-9F45-9E7E-472B96F1AB8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89867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baseline="0" dirty="0"/>
              <a:t>{{Pause=1}} Similarly, the same subtraction hardware works correctly for both signed and unsigned subtraction, even though the sign of input operands is not examined. {{Pause=0.3}} This example subtracts 6 from negative 9. The hardware ignores the sign of the inputs, and subtracts 6 from 23. The result is 17, in decimal, {{Pause=0.3}} or one, zero, zero, zero, one, in binary.  If the result represents a signed integer in two’s complement, then the result is negative 15. This is exactly the result of subtracting the original signed integers.</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24DF53-3DD3-9F45-9E7E-472B96F1AB8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318404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
        <p:nvSpPr>
          <p:cNvPr id="4" name="Rectangle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12B3B80B-8EBB-4EAE-8AB2-EAFDC9CB1299}" type="slidenum">
              <a:rPr lang="en-US"/>
              <a:pPr>
                <a:defRPr/>
              </a:pPr>
              <a:t>‹#›</a:t>
            </a:fld>
            <a:endParaRPr lang="en-US"/>
          </a:p>
        </p:txBody>
      </p:sp>
    </p:spTree>
    <p:extLst>
      <p:ext uri="{BB962C8B-B14F-4D97-AF65-F5344CB8AC3E}">
        <p14:creationId xmlns:p14="http://schemas.microsoft.com/office/powerpoint/2010/main" val="358814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25A70D5D-EAE2-4045-9090-F0AB00B0962C}" type="slidenum">
              <a:rPr lang="en-US"/>
              <a:pPr>
                <a:defRPr/>
              </a:pPr>
              <a:t>‹#›</a:t>
            </a:fld>
            <a:endParaRPr lang="en-US"/>
          </a:p>
        </p:txBody>
      </p:sp>
    </p:spTree>
    <p:extLst>
      <p:ext uri="{BB962C8B-B14F-4D97-AF65-F5344CB8AC3E}">
        <p14:creationId xmlns:p14="http://schemas.microsoft.com/office/powerpoint/2010/main" val="725665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37A250B5-6249-4CB3-8F62-38413D9819EE}" type="slidenum">
              <a:rPr lang="en-US"/>
              <a:pPr>
                <a:defRPr/>
              </a:pPr>
              <a:t>‹#›</a:t>
            </a:fld>
            <a:endParaRPr lang="en-US"/>
          </a:p>
        </p:txBody>
      </p:sp>
    </p:spTree>
    <p:extLst>
      <p:ext uri="{BB962C8B-B14F-4D97-AF65-F5344CB8AC3E}">
        <p14:creationId xmlns:p14="http://schemas.microsoft.com/office/powerpoint/2010/main" val="3519439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1"/>
          </p:nvPr>
        </p:nvSpPr>
        <p:spPr>
          <a:ln/>
        </p:spPr>
        <p:txBody>
          <a:bodyPr/>
          <a:lstStyle>
            <a:lvl1pPr>
              <a:defRPr/>
            </a:lvl1pPr>
          </a:lstStyle>
          <a:p>
            <a:pPr>
              <a:defRPr/>
            </a:pPr>
            <a:fld id="{4C7AE639-0C02-4F3E-A0F7-669FEA935DB4}" type="slidenum">
              <a:rPr lang="en-US"/>
              <a:pPr>
                <a:defRPr/>
              </a:pPr>
              <a:t>‹#›</a:t>
            </a:fld>
            <a:endParaRPr lang="en-US"/>
          </a:p>
        </p:txBody>
      </p:sp>
    </p:spTree>
    <p:extLst>
      <p:ext uri="{BB962C8B-B14F-4D97-AF65-F5344CB8AC3E}">
        <p14:creationId xmlns:p14="http://schemas.microsoft.com/office/powerpoint/2010/main" val="24526966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p>
        </p:txBody>
      </p:sp>
      <p:sp>
        <p:nvSpPr>
          <p:cNvPr id="8" name="Rectangle 6"/>
          <p:cNvSpPr>
            <a:spLocks noGrp="1" noChangeArrowheads="1"/>
          </p:cNvSpPr>
          <p:nvPr>
            <p:ph type="sldNum" sz="quarter" idx="11"/>
          </p:nvPr>
        </p:nvSpPr>
        <p:spPr>
          <a:ln/>
        </p:spPr>
        <p:txBody>
          <a:bodyPr/>
          <a:lstStyle>
            <a:lvl1pPr>
              <a:defRPr/>
            </a:lvl1pPr>
          </a:lstStyle>
          <a:p>
            <a:pPr>
              <a:defRPr/>
            </a:pPr>
            <a:fld id="{23090691-9988-4E45-A7C1-971733D1779D}" type="slidenum">
              <a:rPr lang="en-US"/>
              <a:pPr>
                <a:defRPr/>
              </a:pPr>
              <a:t>‹#›</a:t>
            </a:fld>
            <a:endParaRPr lang="en-US"/>
          </a:p>
        </p:txBody>
      </p:sp>
    </p:spTree>
    <p:extLst>
      <p:ext uri="{BB962C8B-B14F-4D97-AF65-F5344CB8AC3E}">
        <p14:creationId xmlns:p14="http://schemas.microsoft.com/office/powerpoint/2010/main" val="3377721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p>
        </p:txBody>
      </p:sp>
      <p:sp>
        <p:nvSpPr>
          <p:cNvPr id="4" name="Rectangle 6"/>
          <p:cNvSpPr>
            <a:spLocks noGrp="1" noChangeArrowheads="1"/>
          </p:cNvSpPr>
          <p:nvPr>
            <p:ph type="sldNum" sz="quarter" idx="11"/>
          </p:nvPr>
        </p:nvSpPr>
        <p:spPr>
          <a:ln/>
        </p:spPr>
        <p:txBody>
          <a:bodyPr/>
          <a:lstStyle>
            <a:lvl1pPr>
              <a:defRPr/>
            </a:lvl1pPr>
          </a:lstStyle>
          <a:p>
            <a:pPr>
              <a:defRPr/>
            </a:pPr>
            <a:fld id="{8D43B739-56F2-41EE-BBB5-C352609D8380}" type="slidenum">
              <a:rPr lang="en-US"/>
              <a:pPr>
                <a:defRPr/>
              </a:pPr>
              <a:t>‹#›</a:t>
            </a:fld>
            <a:endParaRPr lang="en-US"/>
          </a:p>
        </p:txBody>
      </p:sp>
    </p:spTree>
    <p:extLst>
      <p:ext uri="{BB962C8B-B14F-4D97-AF65-F5344CB8AC3E}">
        <p14:creationId xmlns:p14="http://schemas.microsoft.com/office/powerpoint/2010/main" val="6476700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p>
        </p:txBody>
      </p:sp>
      <p:sp>
        <p:nvSpPr>
          <p:cNvPr id="3" name="Rectangle 6"/>
          <p:cNvSpPr>
            <a:spLocks noGrp="1" noChangeArrowheads="1"/>
          </p:cNvSpPr>
          <p:nvPr>
            <p:ph type="sldNum" sz="quarter" idx="11"/>
          </p:nvPr>
        </p:nvSpPr>
        <p:spPr>
          <a:ln/>
        </p:spPr>
        <p:txBody>
          <a:bodyPr/>
          <a:lstStyle>
            <a:lvl1pPr>
              <a:defRPr/>
            </a:lvl1pPr>
          </a:lstStyle>
          <a:p>
            <a:pPr>
              <a:defRPr/>
            </a:pPr>
            <a:fld id="{E437C3FA-45C9-4666-A5E7-637F30BA6269}" type="slidenum">
              <a:rPr lang="en-US"/>
              <a:pPr>
                <a:defRPr/>
              </a:pPr>
              <a:t>‹#›</a:t>
            </a:fld>
            <a:endParaRPr lang="en-US"/>
          </a:p>
        </p:txBody>
      </p:sp>
    </p:spTree>
    <p:extLst>
      <p:ext uri="{BB962C8B-B14F-4D97-AF65-F5344CB8AC3E}">
        <p14:creationId xmlns:p14="http://schemas.microsoft.com/office/powerpoint/2010/main" val="35181851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1"/>
          </p:nvPr>
        </p:nvSpPr>
        <p:spPr>
          <a:ln/>
        </p:spPr>
        <p:txBody>
          <a:bodyPr/>
          <a:lstStyle>
            <a:lvl1pPr>
              <a:defRPr/>
            </a:lvl1pPr>
          </a:lstStyle>
          <a:p>
            <a:pPr>
              <a:defRPr/>
            </a:pPr>
            <a:fld id="{54BDE0AF-8B3B-414B-AF62-0678AF328DE8}" type="slidenum">
              <a:rPr lang="en-US"/>
              <a:pPr>
                <a:defRPr/>
              </a:pPr>
              <a:t>‹#›</a:t>
            </a:fld>
            <a:endParaRPr lang="en-US"/>
          </a:p>
        </p:txBody>
      </p:sp>
    </p:spTree>
    <p:extLst>
      <p:ext uri="{BB962C8B-B14F-4D97-AF65-F5344CB8AC3E}">
        <p14:creationId xmlns:p14="http://schemas.microsoft.com/office/powerpoint/2010/main" val="4185973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1"/>
          </p:nvPr>
        </p:nvSpPr>
        <p:spPr>
          <a:ln/>
        </p:spPr>
        <p:txBody>
          <a:bodyPr/>
          <a:lstStyle>
            <a:lvl1pPr>
              <a:defRPr/>
            </a:lvl1pPr>
          </a:lstStyle>
          <a:p>
            <a:pPr>
              <a:defRPr/>
            </a:pPr>
            <a:fld id="{CBAA5024-0C29-4A04-B67E-F0BF510BCC23}" type="slidenum">
              <a:rPr lang="en-US"/>
              <a:pPr>
                <a:defRPr/>
              </a:pPr>
              <a:t>‹#›</a:t>
            </a:fld>
            <a:endParaRPr lang="en-US"/>
          </a:p>
        </p:txBody>
      </p:sp>
    </p:spTree>
    <p:extLst>
      <p:ext uri="{BB962C8B-B14F-4D97-AF65-F5344CB8AC3E}">
        <p14:creationId xmlns:p14="http://schemas.microsoft.com/office/powerpoint/2010/main" val="10561678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D0AE470B-FAE9-470B-83FC-0A687BADD799}" type="slidenum">
              <a:rPr lang="en-US"/>
              <a:pPr>
                <a:defRPr/>
              </a:pPr>
              <a:t>‹#›</a:t>
            </a:fld>
            <a:endParaRPr lang="en-US"/>
          </a:p>
        </p:txBody>
      </p:sp>
    </p:spTree>
    <p:extLst>
      <p:ext uri="{BB962C8B-B14F-4D97-AF65-F5344CB8AC3E}">
        <p14:creationId xmlns:p14="http://schemas.microsoft.com/office/powerpoint/2010/main" val="10516119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9B8AA3CB-84CB-4D2E-A514-F831DAFB3147}" type="slidenum">
              <a:rPr lang="en-US"/>
              <a:pPr>
                <a:defRPr/>
              </a:pPr>
              <a:t>‹#›</a:t>
            </a:fld>
            <a:endParaRPr lang="en-US"/>
          </a:p>
        </p:txBody>
      </p:sp>
    </p:spTree>
    <p:extLst>
      <p:ext uri="{BB962C8B-B14F-4D97-AF65-F5344CB8AC3E}">
        <p14:creationId xmlns:p14="http://schemas.microsoft.com/office/powerpoint/2010/main" val="33493597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able Placeholder 2"/>
          <p:cNvSpPr>
            <a:spLocks noGrp="1"/>
          </p:cNvSpPr>
          <p:nvPr>
            <p:ph type="tbl" idx="1"/>
          </p:nvPr>
        </p:nvSpPr>
        <p:spPr>
          <a:xfrm>
            <a:off x="685800" y="1981200"/>
            <a:ext cx="7772400" cy="4114800"/>
          </a:xfrm>
        </p:spPr>
        <p:txBody>
          <a:bodyPr/>
          <a:lstStyle/>
          <a:p>
            <a:pPr lvl="0"/>
            <a:endParaRPr lang="en-US" noProof="0"/>
          </a:p>
        </p:txBody>
      </p:sp>
      <p:sp>
        <p:nvSpPr>
          <p:cNvPr id="4" name="Rectangle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7D3083A4-9012-4F92-8AC9-739FC4D3B103}" type="slidenum">
              <a:rPr lang="en-US"/>
              <a:pPr>
                <a:defRPr/>
              </a:pPr>
              <a:t>‹#›</a:t>
            </a:fld>
            <a:endParaRPr lang="en-US"/>
          </a:p>
        </p:txBody>
      </p:sp>
    </p:spTree>
    <p:extLst>
      <p:ext uri="{BB962C8B-B14F-4D97-AF65-F5344CB8AC3E}">
        <p14:creationId xmlns:p14="http://schemas.microsoft.com/office/powerpoint/2010/main" val="7119003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1"/>
          </p:nvPr>
        </p:nvSpPr>
        <p:spPr>
          <a:ln/>
        </p:spPr>
        <p:txBody>
          <a:bodyPr/>
          <a:lstStyle>
            <a:lvl1pPr>
              <a:defRPr/>
            </a:lvl1pPr>
          </a:lstStyle>
          <a:p>
            <a:pPr>
              <a:defRPr/>
            </a:pPr>
            <a:fld id="{9B7204A0-866A-4C6B-ACC6-B587B369E722}" type="slidenum">
              <a:rPr lang="en-US"/>
              <a:pPr>
                <a:defRPr/>
              </a:pPr>
              <a:t>‹#›</a:t>
            </a:fld>
            <a:endParaRPr lang="en-US"/>
          </a:p>
        </p:txBody>
      </p:sp>
    </p:spTree>
    <p:extLst>
      <p:ext uri="{BB962C8B-B14F-4D97-AF65-F5344CB8AC3E}">
        <p14:creationId xmlns:p14="http://schemas.microsoft.com/office/powerpoint/2010/main" val="11279421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a:prstGeom prst="rect">
            <a:avLst/>
          </a:prstGeom>
        </p:spPr>
        <p:txBody>
          <a:bodyPr/>
          <a:lstStyle>
            <a:lvl1pPr>
              <a:defRPr sz="1400"/>
            </a:lvl1pPr>
          </a:lstStyle>
          <a:p>
            <a:pPr eaLnBrk="1" latinLnBrk="0" hangingPunct="1"/>
            <a:endParaRPr lang="en-US" sz="1600" dirty="0"/>
          </a:p>
        </p:txBody>
      </p:sp>
      <p:sp>
        <p:nvSpPr>
          <p:cNvPr id="17" name="Footer Placeholder 16"/>
          <p:cNvSpPr>
            <a:spLocks noGrp="1"/>
          </p:cNvSpPr>
          <p:nvPr>
            <p:ph type="ftr" sz="quarter" idx="11"/>
          </p:nvPr>
        </p:nvSpPr>
        <p:spPr>
          <a:xfrm>
            <a:off x="2898648" y="6355080"/>
            <a:ext cx="3474720" cy="365760"/>
          </a:xfrm>
          <a:prstGeom prst="rect">
            <a:avLst/>
          </a:prstGeo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a:prstGeom prst="rect">
            <a:avLst/>
          </a:prstGeom>
        </p:spPr>
        <p:txBody>
          <a:bodyPr/>
          <a:lstStyle/>
          <a:p>
            <a:fld id="{EA7C8D44-3667-46F6-9772-CC52308E2A7F}" type="slidenum">
              <a:rPr kumimoji="0" lang="en-US" smtClean="0"/>
              <a:pPr/>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extLst>
      <p:ext uri="{BB962C8B-B14F-4D97-AF65-F5344CB8AC3E}">
        <p14:creationId xmlns:p14="http://schemas.microsoft.com/office/powerpoint/2010/main" val="7216480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376426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a:prstGeom prst="rect">
            <a:avLst/>
          </a:prstGeom>
        </p:spPr>
        <p:txBody>
          <a:bodyPr/>
          <a:lstStyle/>
          <a:p>
            <a:pPr eaLnBrk="1" latinLnBrk="0" hangingPunct="1"/>
            <a:endParaRPr lang="en-US" dirty="0"/>
          </a:p>
        </p:txBody>
      </p:sp>
      <p:sp>
        <p:nvSpPr>
          <p:cNvPr id="5" name="Footer Placeholder 4"/>
          <p:cNvSpPr>
            <a:spLocks noGrp="1"/>
          </p:cNvSpPr>
          <p:nvPr>
            <p:ph type="ftr" sz="quarter" idx="11"/>
          </p:nvPr>
        </p:nvSpPr>
        <p:spPr>
          <a:xfrm>
            <a:off x="2898648" y="6355080"/>
            <a:ext cx="3474720" cy="365760"/>
          </a:xfrm>
          <a:prstGeom prst="rect">
            <a:avLst/>
          </a:prstGeom>
        </p:spPr>
        <p:txBody>
          <a:bodyPr/>
          <a:lstStyle/>
          <a:p>
            <a:endParaRPr kumimoji="0" lang="en-US" dirty="0"/>
          </a:p>
        </p:txBody>
      </p:sp>
      <p:sp>
        <p:nvSpPr>
          <p:cNvPr id="6" name="Slide Number Placeholder 5"/>
          <p:cNvSpPr>
            <a:spLocks noGrp="1"/>
          </p:cNvSpPr>
          <p:nvPr>
            <p:ph type="sldNum" sz="quarter" idx="12"/>
          </p:nvPr>
        </p:nvSpPr>
        <p:spPr>
          <a:xfrm>
            <a:off x="8023098" y="6355080"/>
            <a:ext cx="1520952" cy="365760"/>
          </a:xfrm>
          <a:prstGeom prst="rect">
            <a:avLst/>
          </a:prstGeom>
        </p:spPr>
        <p:txBody>
          <a:bodyPr/>
          <a:lstStyle/>
          <a:p>
            <a:fld id="{EA7C8D44-3667-46F6-9772-CC52308E2A7F}" type="slidenum">
              <a:rPr kumimoji="0" lang="en-US" smtClean="0"/>
              <a:pPr/>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extLst>
      <p:ext uri="{BB962C8B-B14F-4D97-AF65-F5344CB8AC3E}">
        <p14:creationId xmlns:p14="http://schemas.microsoft.com/office/powerpoint/2010/main" val="836903823"/>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1655306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5041704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Tree>
    <p:extLst>
      <p:ext uri="{BB962C8B-B14F-4D97-AF65-F5344CB8AC3E}">
        <p14:creationId xmlns:p14="http://schemas.microsoft.com/office/powerpoint/2010/main" val="22160728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extLst>
      <p:ext uri="{BB962C8B-B14F-4D97-AF65-F5344CB8AC3E}">
        <p14:creationId xmlns:p14="http://schemas.microsoft.com/office/powerpoint/2010/main" val="42101327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5700384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extLst>
      <p:ext uri="{BB962C8B-B14F-4D97-AF65-F5344CB8AC3E}">
        <p14:creationId xmlns:p14="http://schemas.microsoft.com/office/powerpoint/2010/main" val="2877819416"/>
      </p:ext>
    </p:extLst>
  </p:cSld>
  <p:clrMapOvr>
    <a:overrideClrMapping bg1="dk1" tx1="lt1" bg2="dk2" tx2="lt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3756412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extLst>
      <p:ext uri="{BB962C8B-B14F-4D97-AF65-F5344CB8AC3E}">
        <p14:creationId xmlns:p14="http://schemas.microsoft.com/office/powerpoint/2010/main" val="5048941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52"/>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rgbClr val="3366FF"/>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C31F198E-4891-0744-982A-035A8E9D5E57}" type="datetime1">
              <a:rPr lang="en-US" smtClean="0"/>
              <a:t>12/30/2025</a:t>
            </a:fld>
            <a:endParaRPr lang="en-US"/>
          </a:p>
        </p:txBody>
      </p:sp>
      <p:sp>
        <p:nvSpPr>
          <p:cNvPr id="6" name="Slide Number Placeholder 5"/>
          <p:cNvSpPr>
            <a:spLocks noGrp="1"/>
          </p:cNvSpPr>
          <p:nvPr>
            <p:ph type="sldNum" sz="quarter" idx="12"/>
          </p:nvPr>
        </p:nvSpPr>
        <p:spPr/>
        <p:txBody>
          <a:bodyPr/>
          <a:lstStyle/>
          <a:p>
            <a:fld id="{3CC63E4C-4642-794D-A2FD-70F6B81535F5}" type="slidenum">
              <a:rPr lang="en-US" smtClean="0"/>
              <a:pPr/>
              <a:t>‹#›</a:t>
            </a:fld>
            <a:endParaRPr lang="en-US"/>
          </a:p>
        </p:txBody>
      </p:sp>
      <p:sp>
        <p:nvSpPr>
          <p:cNvPr id="7" name="Footer Placeholder 4"/>
          <p:cNvSpPr>
            <a:spLocks noGrp="1"/>
          </p:cNvSpPr>
          <p:nvPr>
            <p:ph type="ftr" sz="quarter" idx="3"/>
          </p:nvPr>
        </p:nvSpPr>
        <p:spPr>
          <a:xfrm>
            <a:off x="3124200" y="6356354"/>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Fall </a:t>
            </a:r>
            <a:r>
              <a:rPr lang="is-IS" dirty="0"/>
              <a:t>2017</a:t>
            </a:r>
            <a:r>
              <a:rPr lang="en-US" dirty="0"/>
              <a:t> - Lecture #1</a:t>
            </a:r>
          </a:p>
        </p:txBody>
      </p:sp>
    </p:spTree>
    <p:extLst>
      <p:ext uri="{BB962C8B-B14F-4D97-AF65-F5344CB8AC3E}">
        <p14:creationId xmlns:p14="http://schemas.microsoft.com/office/powerpoint/2010/main" val="21185290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240954-B576-9D4D-A4A4-BAF4EBC7B2CF}" type="datetime1">
              <a:rPr lang="en-US" smtClean="0"/>
              <a:t>12/30/2025</a:t>
            </a:fld>
            <a:endParaRPr lang="en-US"/>
          </a:p>
        </p:txBody>
      </p:sp>
      <p:sp>
        <p:nvSpPr>
          <p:cNvPr id="6" name="Slide Number Placeholder 5"/>
          <p:cNvSpPr>
            <a:spLocks noGrp="1"/>
          </p:cNvSpPr>
          <p:nvPr>
            <p:ph type="sldNum" sz="quarter" idx="12"/>
          </p:nvPr>
        </p:nvSpPr>
        <p:spPr/>
        <p:txBody>
          <a:bodyPr/>
          <a:lstStyle/>
          <a:p>
            <a:fld id="{3CC63E4C-4642-794D-A2FD-70F6B81535F5}" type="slidenum">
              <a:rPr lang="en-US" smtClean="0"/>
              <a:pPr/>
              <a:t>‹#›</a:t>
            </a:fld>
            <a:endParaRPr lang="en-US"/>
          </a:p>
        </p:txBody>
      </p:sp>
      <p:sp>
        <p:nvSpPr>
          <p:cNvPr id="7" name="Footer Placeholder 4"/>
          <p:cNvSpPr>
            <a:spLocks noGrp="1"/>
          </p:cNvSpPr>
          <p:nvPr>
            <p:ph type="ftr" sz="quarter" idx="3"/>
          </p:nvPr>
        </p:nvSpPr>
        <p:spPr>
          <a:xfrm>
            <a:off x="3124200" y="6356354"/>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Fall </a:t>
            </a:r>
            <a:r>
              <a:rPr lang="is-IS" dirty="0"/>
              <a:t>2017</a:t>
            </a:r>
            <a:r>
              <a:rPr lang="en-US" dirty="0"/>
              <a:t> - Lecture #1</a:t>
            </a:r>
          </a:p>
        </p:txBody>
      </p:sp>
    </p:spTree>
    <p:extLst>
      <p:ext uri="{BB962C8B-B14F-4D97-AF65-F5344CB8AC3E}">
        <p14:creationId xmlns:p14="http://schemas.microsoft.com/office/powerpoint/2010/main" val="237016992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3"/>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BDD84B5-E081-4443-9C9D-23B64540996F}" type="datetime1">
              <a:rPr lang="en-US" smtClean="0"/>
              <a:t>12/30/2025</a:t>
            </a:fld>
            <a:endParaRPr lang="en-US"/>
          </a:p>
        </p:txBody>
      </p:sp>
      <p:sp>
        <p:nvSpPr>
          <p:cNvPr id="6" name="Slide Number Placeholder 5"/>
          <p:cNvSpPr>
            <a:spLocks noGrp="1"/>
          </p:cNvSpPr>
          <p:nvPr>
            <p:ph type="sldNum" sz="quarter" idx="12"/>
          </p:nvPr>
        </p:nvSpPr>
        <p:spPr/>
        <p:txBody>
          <a:bodyPr/>
          <a:lstStyle/>
          <a:p>
            <a:fld id="{3CC63E4C-4642-794D-A2FD-70F6B81535F5}" type="slidenum">
              <a:rPr lang="en-US" smtClean="0"/>
              <a:pPr/>
              <a:t>‹#›</a:t>
            </a:fld>
            <a:endParaRPr lang="en-US"/>
          </a:p>
        </p:txBody>
      </p:sp>
      <p:sp>
        <p:nvSpPr>
          <p:cNvPr id="7" name="Footer Placeholder 4"/>
          <p:cNvSpPr>
            <a:spLocks noGrp="1"/>
          </p:cNvSpPr>
          <p:nvPr>
            <p:ph type="ftr" sz="quarter" idx="3"/>
          </p:nvPr>
        </p:nvSpPr>
        <p:spPr>
          <a:xfrm>
            <a:off x="3124200" y="6356354"/>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Fall </a:t>
            </a:r>
            <a:r>
              <a:rPr lang="is-IS" dirty="0"/>
              <a:t>2017</a:t>
            </a:r>
            <a:r>
              <a:rPr lang="en-US" dirty="0"/>
              <a:t> - Lecture #1</a:t>
            </a:r>
          </a:p>
        </p:txBody>
      </p:sp>
    </p:spTree>
    <p:extLst>
      <p:ext uri="{BB962C8B-B14F-4D97-AF65-F5344CB8AC3E}">
        <p14:creationId xmlns:p14="http://schemas.microsoft.com/office/powerpoint/2010/main" val="214618444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3"/>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3"/>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203B415-761D-814B-B6F6-D8584C5DFB68}" type="datetime1">
              <a:rPr lang="en-US" smtClean="0"/>
              <a:t>12/30/2025</a:t>
            </a:fld>
            <a:endParaRPr lang="en-US"/>
          </a:p>
        </p:txBody>
      </p:sp>
      <p:sp>
        <p:nvSpPr>
          <p:cNvPr id="7" name="Slide Number Placeholder 6"/>
          <p:cNvSpPr>
            <a:spLocks noGrp="1"/>
          </p:cNvSpPr>
          <p:nvPr>
            <p:ph type="sldNum" sz="quarter" idx="12"/>
          </p:nvPr>
        </p:nvSpPr>
        <p:spPr/>
        <p:txBody>
          <a:bodyPr/>
          <a:lstStyle/>
          <a:p>
            <a:fld id="{3CC63E4C-4642-794D-A2FD-70F6B81535F5}" type="slidenum">
              <a:rPr lang="en-US" smtClean="0"/>
              <a:pPr/>
              <a:t>‹#›</a:t>
            </a:fld>
            <a:endParaRPr lang="en-US"/>
          </a:p>
        </p:txBody>
      </p:sp>
      <p:sp>
        <p:nvSpPr>
          <p:cNvPr id="8" name="Footer Placeholder 4"/>
          <p:cNvSpPr>
            <a:spLocks noGrp="1"/>
          </p:cNvSpPr>
          <p:nvPr>
            <p:ph type="ftr" sz="quarter" idx="3"/>
          </p:nvPr>
        </p:nvSpPr>
        <p:spPr>
          <a:xfrm>
            <a:off x="3124200" y="6356354"/>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Fall </a:t>
            </a:r>
            <a:r>
              <a:rPr lang="is-IS" dirty="0"/>
              <a:t>2017</a:t>
            </a:r>
            <a:r>
              <a:rPr lang="en-US" dirty="0"/>
              <a:t> - Lecture #1</a:t>
            </a:r>
          </a:p>
        </p:txBody>
      </p:sp>
    </p:spTree>
    <p:extLst>
      <p:ext uri="{BB962C8B-B14F-4D97-AF65-F5344CB8AC3E}">
        <p14:creationId xmlns:p14="http://schemas.microsoft.com/office/powerpoint/2010/main" val="33737300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5"/>
            <a:ext cx="4040188" cy="63976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4" y="1535115"/>
            <a:ext cx="4041775" cy="63976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34"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E4CC544-E270-624B-A146-427A1328771C}" type="datetime1">
              <a:rPr lang="en-US" smtClean="0"/>
              <a:t>12/30/2025</a:t>
            </a:fld>
            <a:endParaRPr lang="en-US"/>
          </a:p>
        </p:txBody>
      </p:sp>
      <p:sp>
        <p:nvSpPr>
          <p:cNvPr id="9" name="Slide Number Placeholder 8"/>
          <p:cNvSpPr>
            <a:spLocks noGrp="1"/>
          </p:cNvSpPr>
          <p:nvPr>
            <p:ph type="sldNum" sz="quarter" idx="12"/>
          </p:nvPr>
        </p:nvSpPr>
        <p:spPr/>
        <p:txBody>
          <a:bodyPr/>
          <a:lstStyle/>
          <a:p>
            <a:fld id="{3CC63E4C-4642-794D-A2FD-70F6B81535F5}" type="slidenum">
              <a:rPr lang="en-US" smtClean="0"/>
              <a:pPr/>
              <a:t>‹#›</a:t>
            </a:fld>
            <a:endParaRPr lang="en-US"/>
          </a:p>
        </p:txBody>
      </p:sp>
      <p:sp>
        <p:nvSpPr>
          <p:cNvPr id="10" name="Footer Placeholder 4"/>
          <p:cNvSpPr>
            <a:spLocks noGrp="1"/>
          </p:cNvSpPr>
          <p:nvPr>
            <p:ph type="ftr" sz="quarter" idx="13"/>
          </p:nvPr>
        </p:nvSpPr>
        <p:spPr>
          <a:xfrm>
            <a:off x="3124200" y="6356354"/>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Fall </a:t>
            </a:r>
            <a:r>
              <a:rPr lang="is-IS" dirty="0"/>
              <a:t>2017</a:t>
            </a:r>
            <a:r>
              <a:rPr lang="en-US" dirty="0"/>
              <a:t> - Lecture #1</a:t>
            </a:r>
          </a:p>
        </p:txBody>
      </p:sp>
    </p:spTree>
    <p:extLst>
      <p:ext uri="{BB962C8B-B14F-4D97-AF65-F5344CB8AC3E}">
        <p14:creationId xmlns:p14="http://schemas.microsoft.com/office/powerpoint/2010/main" val="15126875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CEF9BDF-98D8-2E40-B9CD-119F66CA07F0}" type="datetime1">
              <a:rPr lang="en-US" smtClean="0"/>
              <a:t>12/30/2025</a:t>
            </a:fld>
            <a:endParaRPr lang="en-US"/>
          </a:p>
        </p:txBody>
      </p:sp>
      <p:sp>
        <p:nvSpPr>
          <p:cNvPr id="5" name="Slide Number Placeholder 4"/>
          <p:cNvSpPr>
            <a:spLocks noGrp="1"/>
          </p:cNvSpPr>
          <p:nvPr>
            <p:ph type="sldNum" sz="quarter" idx="12"/>
          </p:nvPr>
        </p:nvSpPr>
        <p:spPr/>
        <p:txBody>
          <a:bodyPr/>
          <a:lstStyle/>
          <a:p>
            <a:fld id="{3CC63E4C-4642-794D-A2FD-70F6B81535F5}" type="slidenum">
              <a:rPr lang="en-US" smtClean="0"/>
              <a:pPr/>
              <a:t>‹#›</a:t>
            </a:fld>
            <a:endParaRPr lang="en-US"/>
          </a:p>
        </p:txBody>
      </p:sp>
      <p:sp>
        <p:nvSpPr>
          <p:cNvPr id="6" name="Footer Placeholder 4"/>
          <p:cNvSpPr>
            <a:spLocks noGrp="1"/>
          </p:cNvSpPr>
          <p:nvPr>
            <p:ph type="ftr" sz="quarter" idx="3"/>
          </p:nvPr>
        </p:nvSpPr>
        <p:spPr>
          <a:xfrm>
            <a:off x="3124200" y="6356354"/>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Fall </a:t>
            </a:r>
            <a:r>
              <a:rPr lang="is-IS" dirty="0"/>
              <a:t>2017</a:t>
            </a:r>
            <a:r>
              <a:rPr lang="en-US" dirty="0"/>
              <a:t> - Lecture #1</a:t>
            </a:r>
          </a:p>
        </p:txBody>
      </p:sp>
    </p:spTree>
    <p:extLst>
      <p:ext uri="{BB962C8B-B14F-4D97-AF65-F5344CB8AC3E}">
        <p14:creationId xmlns:p14="http://schemas.microsoft.com/office/powerpoint/2010/main" val="123816934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FB255F-2FE0-274D-998F-31FB20EFB046}" type="datetime1">
              <a:rPr lang="en-US" smtClean="0"/>
              <a:t>12/30/2025</a:t>
            </a:fld>
            <a:endParaRPr lang="en-US"/>
          </a:p>
        </p:txBody>
      </p:sp>
      <p:sp>
        <p:nvSpPr>
          <p:cNvPr id="4" name="Slide Number Placeholder 3"/>
          <p:cNvSpPr>
            <a:spLocks noGrp="1"/>
          </p:cNvSpPr>
          <p:nvPr>
            <p:ph type="sldNum" sz="quarter" idx="12"/>
          </p:nvPr>
        </p:nvSpPr>
        <p:spPr/>
        <p:txBody>
          <a:bodyPr/>
          <a:lstStyle/>
          <a:p>
            <a:fld id="{3CC63E4C-4642-794D-A2FD-70F6B81535F5}" type="slidenum">
              <a:rPr lang="en-US" smtClean="0"/>
              <a:pPr/>
              <a:t>‹#›</a:t>
            </a:fld>
            <a:endParaRPr lang="en-US"/>
          </a:p>
        </p:txBody>
      </p:sp>
      <p:sp>
        <p:nvSpPr>
          <p:cNvPr id="5" name="Footer Placeholder 4"/>
          <p:cNvSpPr>
            <a:spLocks noGrp="1"/>
          </p:cNvSpPr>
          <p:nvPr>
            <p:ph type="ftr" sz="quarter" idx="3"/>
          </p:nvPr>
        </p:nvSpPr>
        <p:spPr>
          <a:xfrm>
            <a:off x="3124200" y="6356354"/>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Fall </a:t>
            </a:r>
            <a:r>
              <a:rPr lang="is-IS" dirty="0"/>
              <a:t>2017</a:t>
            </a:r>
            <a:r>
              <a:rPr lang="en-US" dirty="0"/>
              <a:t> - Lecture #1</a:t>
            </a:r>
          </a:p>
        </p:txBody>
      </p:sp>
    </p:spTree>
    <p:extLst>
      <p:ext uri="{BB962C8B-B14F-4D97-AF65-F5344CB8AC3E}">
        <p14:creationId xmlns:p14="http://schemas.microsoft.com/office/powerpoint/2010/main" val="19121467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19" y="273051"/>
            <a:ext cx="3008313" cy="1162051"/>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78"/>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19" y="1435104"/>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C3975A16-A311-5046-89EC-B02DC029DBB6}" type="datetime1">
              <a:rPr lang="en-US" smtClean="0"/>
              <a:t>12/30/2025</a:t>
            </a:fld>
            <a:endParaRPr lang="en-US"/>
          </a:p>
        </p:txBody>
      </p:sp>
      <p:sp>
        <p:nvSpPr>
          <p:cNvPr id="7" name="Slide Number Placeholder 6"/>
          <p:cNvSpPr>
            <a:spLocks noGrp="1"/>
          </p:cNvSpPr>
          <p:nvPr>
            <p:ph type="sldNum" sz="quarter" idx="12"/>
          </p:nvPr>
        </p:nvSpPr>
        <p:spPr/>
        <p:txBody>
          <a:bodyPr/>
          <a:lstStyle/>
          <a:p>
            <a:fld id="{3CC63E4C-4642-794D-A2FD-70F6B81535F5}" type="slidenum">
              <a:rPr lang="en-US" smtClean="0"/>
              <a:pPr/>
              <a:t>‹#›</a:t>
            </a:fld>
            <a:endParaRPr lang="en-US"/>
          </a:p>
        </p:txBody>
      </p:sp>
      <p:sp>
        <p:nvSpPr>
          <p:cNvPr id="8" name="Footer Placeholder 4"/>
          <p:cNvSpPr>
            <a:spLocks noGrp="1"/>
          </p:cNvSpPr>
          <p:nvPr>
            <p:ph type="ftr" sz="quarter" idx="3"/>
          </p:nvPr>
        </p:nvSpPr>
        <p:spPr>
          <a:xfrm>
            <a:off x="3124200" y="6356354"/>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Fall </a:t>
            </a:r>
            <a:r>
              <a:rPr lang="is-IS" dirty="0"/>
              <a:t>2017</a:t>
            </a:r>
            <a:r>
              <a:rPr lang="en-US" dirty="0"/>
              <a:t> - Lecture #1</a:t>
            </a:r>
          </a:p>
        </p:txBody>
      </p:sp>
    </p:spTree>
    <p:extLst>
      <p:ext uri="{BB962C8B-B14F-4D97-AF65-F5344CB8AC3E}">
        <p14:creationId xmlns:p14="http://schemas.microsoft.com/office/powerpoint/2010/main" val="373314084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3"/>
            <a:ext cx="5486400" cy="566739"/>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5367364"/>
            <a:ext cx="5486400" cy="8048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1CADE38-462A-F74A-9AF0-365C45329AEC}" type="datetime1">
              <a:rPr lang="en-US" smtClean="0"/>
              <a:t>12/30/2025</a:t>
            </a:fld>
            <a:endParaRPr lang="en-US"/>
          </a:p>
        </p:txBody>
      </p:sp>
      <p:sp>
        <p:nvSpPr>
          <p:cNvPr id="6" name="Footer Placeholder 5"/>
          <p:cNvSpPr>
            <a:spLocks noGrp="1"/>
          </p:cNvSpPr>
          <p:nvPr>
            <p:ph type="ftr" sz="quarter" idx="11"/>
          </p:nvPr>
        </p:nvSpPr>
        <p:spPr/>
        <p:txBody>
          <a:bodyPr/>
          <a:lstStyle/>
          <a:p>
            <a:r>
              <a:rPr lang="en-US" dirty="0"/>
              <a:t>Fall </a:t>
            </a:r>
            <a:r>
              <a:rPr lang="is-IS" dirty="0"/>
              <a:t>2017</a:t>
            </a:r>
            <a:r>
              <a:rPr lang="en-US" dirty="0"/>
              <a:t> - Lecture #1</a:t>
            </a:r>
          </a:p>
        </p:txBody>
      </p:sp>
      <p:sp>
        <p:nvSpPr>
          <p:cNvPr id="7" name="Slide Number Placeholder 6"/>
          <p:cNvSpPr>
            <a:spLocks noGrp="1"/>
          </p:cNvSpPr>
          <p:nvPr>
            <p:ph type="sldNum" sz="quarter" idx="12"/>
          </p:nvPr>
        </p:nvSpPr>
        <p:spPr/>
        <p:txBody>
          <a:bodyPr/>
          <a:lstStyle/>
          <a:p>
            <a:fld id="{3CC63E4C-4642-794D-A2FD-70F6B81535F5}" type="slidenum">
              <a:rPr lang="en-US" smtClean="0"/>
              <a:pPr/>
              <a:t>‹#›</a:t>
            </a:fld>
            <a:endParaRPr lang="en-US"/>
          </a:p>
        </p:txBody>
      </p:sp>
    </p:spTree>
    <p:extLst>
      <p:ext uri="{BB962C8B-B14F-4D97-AF65-F5344CB8AC3E}">
        <p14:creationId xmlns:p14="http://schemas.microsoft.com/office/powerpoint/2010/main" val="93354154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7E5EB6D-9795-774A-B846-CEE32CCDB9F4}" type="datetime1">
              <a:rPr lang="en-US" smtClean="0"/>
              <a:t>12/30/2025</a:t>
            </a:fld>
            <a:endParaRPr lang="en-US"/>
          </a:p>
        </p:txBody>
      </p:sp>
      <p:sp>
        <p:nvSpPr>
          <p:cNvPr id="5" name="Footer Placeholder 4"/>
          <p:cNvSpPr>
            <a:spLocks noGrp="1"/>
          </p:cNvSpPr>
          <p:nvPr>
            <p:ph type="ftr" sz="quarter" idx="11"/>
          </p:nvPr>
        </p:nvSpPr>
        <p:spPr/>
        <p:txBody>
          <a:bodyPr/>
          <a:lstStyle/>
          <a:p>
            <a:r>
              <a:rPr lang="en-US" dirty="0"/>
              <a:t>Fall </a:t>
            </a:r>
            <a:r>
              <a:rPr lang="is-IS" dirty="0"/>
              <a:t>2017</a:t>
            </a:r>
            <a:r>
              <a:rPr lang="en-US" dirty="0"/>
              <a:t> - Lecture #1</a:t>
            </a:r>
          </a:p>
        </p:txBody>
      </p:sp>
      <p:sp>
        <p:nvSpPr>
          <p:cNvPr id="6" name="Slide Number Placeholder 5"/>
          <p:cNvSpPr>
            <a:spLocks noGrp="1"/>
          </p:cNvSpPr>
          <p:nvPr>
            <p:ph type="sldNum" sz="quarter" idx="12"/>
          </p:nvPr>
        </p:nvSpPr>
        <p:spPr/>
        <p:txBody>
          <a:bodyPr/>
          <a:lstStyle/>
          <a:p>
            <a:fld id="{3CC63E4C-4642-794D-A2FD-70F6B81535F5}" type="slidenum">
              <a:rPr lang="en-US" smtClean="0"/>
              <a:pPr/>
              <a:t>‹#›</a:t>
            </a:fld>
            <a:endParaRPr lang="en-US"/>
          </a:p>
        </p:txBody>
      </p:sp>
    </p:spTree>
    <p:extLst>
      <p:ext uri="{BB962C8B-B14F-4D97-AF65-F5344CB8AC3E}">
        <p14:creationId xmlns:p14="http://schemas.microsoft.com/office/powerpoint/2010/main" val="30620924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2"/>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2"/>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2FCB11-01EB-AC45-9E2D-185B38D86EC5}" type="datetime1">
              <a:rPr lang="en-US" smtClean="0"/>
              <a:t>12/30/2025</a:t>
            </a:fld>
            <a:endParaRPr lang="en-US"/>
          </a:p>
        </p:txBody>
      </p:sp>
      <p:sp>
        <p:nvSpPr>
          <p:cNvPr id="5" name="Footer Placeholder 4"/>
          <p:cNvSpPr>
            <a:spLocks noGrp="1"/>
          </p:cNvSpPr>
          <p:nvPr>
            <p:ph type="ftr" sz="quarter" idx="11"/>
          </p:nvPr>
        </p:nvSpPr>
        <p:spPr/>
        <p:txBody>
          <a:bodyPr/>
          <a:lstStyle/>
          <a:p>
            <a:r>
              <a:rPr lang="en-US" dirty="0"/>
              <a:t>Fall </a:t>
            </a:r>
            <a:r>
              <a:rPr lang="is-IS" dirty="0"/>
              <a:t>2017</a:t>
            </a:r>
            <a:r>
              <a:rPr lang="en-US" dirty="0"/>
              <a:t> - Lecture #1</a:t>
            </a:r>
          </a:p>
        </p:txBody>
      </p:sp>
      <p:sp>
        <p:nvSpPr>
          <p:cNvPr id="6" name="Slide Number Placeholder 5"/>
          <p:cNvSpPr>
            <a:spLocks noGrp="1"/>
          </p:cNvSpPr>
          <p:nvPr>
            <p:ph type="sldNum" sz="quarter" idx="12"/>
          </p:nvPr>
        </p:nvSpPr>
        <p:spPr/>
        <p:txBody>
          <a:bodyPr/>
          <a:lstStyle/>
          <a:p>
            <a:fld id="{3CC63E4C-4642-794D-A2FD-70F6B81535F5}" type="slidenum">
              <a:rPr lang="en-US" smtClean="0"/>
              <a:pPr/>
              <a:t>‹#›</a:t>
            </a:fld>
            <a:endParaRPr lang="en-US"/>
          </a:p>
        </p:txBody>
      </p:sp>
    </p:spTree>
    <p:extLst>
      <p:ext uri="{BB962C8B-B14F-4D97-AF65-F5344CB8AC3E}">
        <p14:creationId xmlns:p14="http://schemas.microsoft.com/office/powerpoint/2010/main" val="230898668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28"/>
            <a:ext cx="5727700" cy="474663"/>
          </a:xfrm>
        </p:spPr>
        <p:txBody>
          <a:bodyPr/>
          <a:lstStyle/>
          <a:p>
            <a:r>
              <a:rPr lang="en-US"/>
              <a:t>Click to edit Master title style</a:t>
            </a:r>
          </a:p>
        </p:txBody>
      </p:sp>
      <p:sp>
        <p:nvSpPr>
          <p:cNvPr id="3" name="Text Placeholder 2"/>
          <p:cNvSpPr>
            <a:spLocks noGrp="1"/>
          </p:cNvSpPr>
          <p:nvPr>
            <p:ph type="body" sz="half" idx="1"/>
          </p:nvPr>
        </p:nvSpPr>
        <p:spPr>
          <a:xfrm>
            <a:off x="685800" y="1143003"/>
            <a:ext cx="3848100" cy="2138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86300" y="1143003"/>
            <a:ext cx="3848100" cy="992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86300" y="2287616"/>
            <a:ext cx="3848100" cy="993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627012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28"/>
            <a:ext cx="5727700" cy="474663"/>
          </a:xfrm>
        </p:spPr>
        <p:txBody>
          <a:bodyPr/>
          <a:lstStyle/>
          <a:p>
            <a:r>
              <a:rPr lang="en-US"/>
              <a:t>Click to edit Master title style</a:t>
            </a:r>
          </a:p>
        </p:txBody>
      </p:sp>
      <p:sp>
        <p:nvSpPr>
          <p:cNvPr id="3" name="Text Placeholder 2"/>
          <p:cNvSpPr>
            <a:spLocks noGrp="1"/>
          </p:cNvSpPr>
          <p:nvPr>
            <p:ph type="body" sz="half" idx="1"/>
          </p:nvPr>
        </p:nvSpPr>
        <p:spPr>
          <a:xfrm>
            <a:off x="685800" y="1143003"/>
            <a:ext cx="3848100" cy="2138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86300" y="1143003"/>
            <a:ext cx="3848100" cy="2138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717551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0">
                <a:solidFill>
                  <a:srgbClr val="000000"/>
                </a:solidFill>
                <a:latin typeface="Calibri" pitchFamily="34" charset="0"/>
                <a:cs typeface="Calibri" pitchFamily="34" charset="0"/>
              </a:defRPr>
            </a:lvl1pPr>
          </a:lstStyle>
          <a:p>
            <a:pPr>
              <a:defRPr/>
            </a:pPr>
            <a:fld id="{7FD49473-76C1-48EC-A353-3AF4A85EDBF6}" type="slidenum">
              <a:rPr lang="en-US" smtClean="0"/>
              <a:pPr>
                <a:defRPr/>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ctr" rtl="0" eaLnBrk="0" fontAlgn="base" hangingPunct="0">
        <a:spcBef>
          <a:spcPct val="0"/>
        </a:spcBef>
        <a:spcAft>
          <a:spcPct val="0"/>
        </a:spcAft>
        <a:defRPr sz="4400">
          <a:solidFill>
            <a:srgbClr val="000000"/>
          </a:solidFill>
          <a:latin typeface="Calibri" pitchFamily="34" charset="0"/>
          <a:ea typeface="+mj-ea"/>
          <a:cs typeface="Calibri" pitchFamily="34" charset="0"/>
        </a:defRPr>
      </a:lvl1pPr>
      <a:lvl2pPr algn="ctr" rtl="0" eaLnBrk="0" fontAlgn="base" hangingPunct="0">
        <a:spcBef>
          <a:spcPct val="0"/>
        </a:spcBef>
        <a:spcAft>
          <a:spcPct val="0"/>
        </a:spcAft>
        <a:defRPr sz="4400">
          <a:solidFill>
            <a:srgbClr val="000000"/>
          </a:solidFill>
          <a:latin typeface="Arial" charset="0"/>
        </a:defRPr>
      </a:lvl2pPr>
      <a:lvl3pPr algn="ctr" rtl="0" eaLnBrk="0" fontAlgn="base" hangingPunct="0">
        <a:spcBef>
          <a:spcPct val="0"/>
        </a:spcBef>
        <a:spcAft>
          <a:spcPct val="0"/>
        </a:spcAft>
        <a:defRPr sz="4400">
          <a:solidFill>
            <a:srgbClr val="000000"/>
          </a:solidFill>
          <a:latin typeface="Arial" charset="0"/>
        </a:defRPr>
      </a:lvl3pPr>
      <a:lvl4pPr algn="ctr" rtl="0" eaLnBrk="0" fontAlgn="base" hangingPunct="0">
        <a:spcBef>
          <a:spcPct val="0"/>
        </a:spcBef>
        <a:spcAft>
          <a:spcPct val="0"/>
        </a:spcAft>
        <a:defRPr sz="4400">
          <a:solidFill>
            <a:srgbClr val="000000"/>
          </a:solidFill>
          <a:latin typeface="Arial" charset="0"/>
        </a:defRPr>
      </a:lvl4pPr>
      <a:lvl5pPr algn="ctr" rtl="0" eaLnBrk="0" fontAlgn="base" hangingPunct="0">
        <a:spcBef>
          <a:spcPct val="0"/>
        </a:spcBef>
        <a:spcAft>
          <a:spcPct val="0"/>
        </a:spcAft>
        <a:defRPr sz="4400">
          <a:solidFill>
            <a:srgbClr val="000000"/>
          </a:solidFill>
          <a:latin typeface="Arial" charset="0"/>
        </a:defRPr>
      </a:lvl5pPr>
      <a:lvl6pPr marL="457200" algn="ctr" rtl="0" eaLnBrk="0" fontAlgn="base" hangingPunct="0">
        <a:spcBef>
          <a:spcPct val="0"/>
        </a:spcBef>
        <a:spcAft>
          <a:spcPct val="0"/>
        </a:spcAft>
        <a:defRPr sz="4400">
          <a:solidFill>
            <a:srgbClr val="000000"/>
          </a:solidFill>
          <a:latin typeface="Arial" charset="0"/>
        </a:defRPr>
      </a:lvl6pPr>
      <a:lvl7pPr marL="914400" algn="ctr" rtl="0" eaLnBrk="0" fontAlgn="base" hangingPunct="0">
        <a:spcBef>
          <a:spcPct val="0"/>
        </a:spcBef>
        <a:spcAft>
          <a:spcPct val="0"/>
        </a:spcAft>
        <a:defRPr sz="4400">
          <a:solidFill>
            <a:srgbClr val="000000"/>
          </a:solidFill>
          <a:latin typeface="Arial" charset="0"/>
        </a:defRPr>
      </a:lvl7pPr>
      <a:lvl8pPr marL="1371600" algn="ctr" rtl="0" eaLnBrk="0" fontAlgn="base" hangingPunct="0">
        <a:spcBef>
          <a:spcPct val="0"/>
        </a:spcBef>
        <a:spcAft>
          <a:spcPct val="0"/>
        </a:spcAft>
        <a:defRPr sz="4400">
          <a:solidFill>
            <a:srgbClr val="000000"/>
          </a:solidFill>
          <a:latin typeface="Arial" charset="0"/>
        </a:defRPr>
      </a:lvl8pPr>
      <a:lvl9pPr marL="1828800" algn="ctr" rtl="0" eaLnBrk="0" fontAlgn="base" hangingPunct="0">
        <a:spcBef>
          <a:spcPct val="0"/>
        </a:spcBef>
        <a:spcAft>
          <a:spcPct val="0"/>
        </a:spcAft>
        <a:defRPr sz="4400">
          <a:solidFill>
            <a:srgbClr val="000000"/>
          </a:solidFill>
          <a:latin typeface="Arial" charset="0"/>
        </a:defRPr>
      </a:lvl9pPr>
    </p:titleStyle>
    <p:bodyStyle>
      <a:lvl1pPr marL="342900" indent="-342900" algn="l" rtl="0" eaLnBrk="0" fontAlgn="base" hangingPunct="0">
        <a:spcBef>
          <a:spcPct val="20000"/>
        </a:spcBef>
        <a:spcAft>
          <a:spcPct val="0"/>
        </a:spcAft>
        <a:buChar char="•"/>
        <a:defRPr sz="3200">
          <a:solidFill>
            <a:srgbClr val="000000"/>
          </a:solidFill>
          <a:latin typeface="Calibri" pitchFamily="34" charset="0"/>
          <a:ea typeface="+mn-ea"/>
          <a:cs typeface="Calibri" pitchFamily="34" charset="0"/>
        </a:defRPr>
      </a:lvl1pPr>
      <a:lvl2pPr marL="742950" indent="-285750" algn="l" rtl="0" eaLnBrk="0" fontAlgn="base" hangingPunct="0">
        <a:spcBef>
          <a:spcPct val="20000"/>
        </a:spcBef>
        <a:spcAft>
          <a:spcPct val="0"/>
        </a:spcAft>
        <a:buChar char="–"/>
        <a:defRPr sz="2800">
          <a:solidFill>
            <a:srgbClr val="000000"/>
          </a:solidFill>
          <a:latin typeface="Calibri" pitchFamily="34" charset="0"/>
          <a:cs typeface="Calibri" pitchFamily="34" charset="0"/>
        </a:defRPr>
      </a:lvl2pPr>
      <a:lvl3pPr marL="1143000" indent="-228600" algn="l" rtl="0" eaLnBrk="0" fontAlgn="base" hangingPunct="0">
        <a:spcBef>
          <a:spcPct val="20000"/>
        </a:spcBef>
        <a:spcAft>
          <a:spcPct val="0"/>
        </a:spcAft>
        <a:buChar char="•"/>
        <a:defRPr sz="2400">
          <a:solidFill>
            <a:srgbClr val="000000"/>
          </a:solidFill>
          <a:latin typeface="Calibri" pitchFamily="34" charset="0"/>
          <a:cs typeface="Calibri" pitchFamily="34" charset="0"/>
        </a:defRPr>
      </a:lvl3pPr>
      <a:lvl4pPr marL="1600200" indent="-228600" algn="l" rtl="0" eaLnBrk="0" fontAlgn="base" hangingPunct="0">
        <a:spcBef>
          <a:spcPct val="20000"/>
        </a:spcBef>
        <a:spcAft>
          <a:spcPct val="0"/>
        </a:spcAft>
        <a:buChar char="–"/>
        <a:defRPr sz="2000">
          <a:solidFill>
            <a:srgbClr val="000000"/>
          </a:solidFill>
          <a:latin typeface="Calibri" pitchFamily="34" charset="0"/>
          <a:cs typeface="Calibri" pitchFamily="34" charset="0"/>
        </a:defRPr>
      </a:lvl4pPr>
      <a:lvl5pPr marL="2057400" indent="-228600" algn="l" rtl="0" eaLnBrk="0" fontAlgn="base" hangingPunct="0">
        <a:spcBef>
          <a:spcPct val="20000"/>
        </a:spcBef>
        <a:spcAft>
          <a:spcPct val="0"/>
        </a:spcAft>
        <a:buChar char="»"/>
        <a:defRPr sz="2000">
          <a:solidFill>
            <a:srgbClr val="000000"/>
          </a:solidFill>
          <a:latin typeface="Calibri" pitchFamily="34" charset="0"/>
          <a:cs typeface="Calibri" pitchFamily="34" charset="0"/>
        </a:defRPr>
      </a:lvl5pPr>
      <a:lvl6pPr marL="2514600" indent="-228600" algn="l" rtl="0" eaLnBrk="0" fontAlgn="base" hangingPunct="0">
        <a:spcBef>
          <a:spcPct val="20000"/>
        </a:spcBef>
        <a:spcAft>
          <a:spcPct val="0"/>
        </a:spcAft>
        <a:buChar char="»"/>
        <a:defRPr sz="2000">
          <a:solidFill>
            <a:srgbClr val="000000"/>
          </a:solidFill>
          <a:latin typeface="+mn-lt"/>
        </a:defRPr>
      </a:lvl6pPr>
      <a:lvl7pPr marL="2971800" indent="-228600" algn="l" rtl="0" eaLnBrk="0" fontAlgn="base" hangingPunct="0">
        <a:spcBef>
          <a:spcPct val="20000"/>
        </a:spcBef>
        <a:spcAft>
          <a:spcPct val="0"/>
        </a:spcAft>
        <a:buChar char="»"/>
        <a:defRPr sz="2000">
          <a:solidFill>
            <a:srgbClr val="000000"/>
          </a:solidFill>
          <a:latin typeface="+mn-lt"/>
        </a:defRPr>
      </a:lvl7pPr>
      <a:lvl8pPr marL="3429000" indent="-228600" algn="l" rtl="0" eaLnBrk="0" fontAlgn="base" hangingPunct="0">
        <a:spcBef>
          <a:spcPct val="20000"/>
        </a:spcBef>
        <a:spcAft>
          <a:spcPct val="0"/>
        </a:spcAft>
        <a:buChar char="»"/>
        <a:defRPr sz="2000">
          <a:solidFill>
            <a:srgbClr val="000000"/>
          </a:solidFill>
          <a:latin typeface="+mn-lt"/>
        </a:defRPr>
      </a:lvl8pPr>
      <a:lvl9pPr marL="3886200" indent="-228600" algn="l" rtl="0" eaLnBrk="0" fontAlgn="base" hangingPunct="0">
        <a:spcBef>
          <a:spcPct val="20000"/>
        </a:spcBef>
        <a:spcAft>
          <a:spcPct val="0"/>
        </a:spcAft>
        <a:buChar char="»"/>
        <a:defRPr sz="2000">
          <a:solidFill>
            <a:srgbClr val="000000"/>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dirty="0"/>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extLst>
      <p:ext uri="{BB962C8B-B14F-4D97-AF65-F5344CB8AC3E}">
        <p14:creationId xmlns:p14="http://schemas.microsoft.com/office/powerpoint/2010/main" val="1839848126"/>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hdr="0" ftr="0" dt="0"/>
  <p:txStyles>
    <p:titleStyle>
      <a:lvl1pPr algn="ctr" rtl="0" eaLnBrk="1" latinLnBrk="0" hangingPunct="1">
        <a:spcBef>
          <a:spcPct val="0"/>
        </a:spcBef>
        <a:buNone/>
        <a:defRPr kumimoji="0" sz="3200" kern="1200">
          <a:solidFill>
            <a:srgbClr val="FF0000"/>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3"/>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4"/>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0BAFD48-45E2-B54F-B7CB-E8D59064A99E}" type="datetime1">
              <a:rPr lang="en-US" smtClean="0"/>
              <a:t>12/30/2025</a:t>
            </a:fld>
            <a:endParaRPr lang="en-US"/>
          </a:p>
        </p:txBody>
      </p:sp>
      <p:sp>
        <p:nvSpPr>
          <p:cNvPr id="5" name="Footer Placeholder 4"/>
          <p:cNvSpPr>
            <a:spLocks noGrp="1"/>
          </p:cNvSpPr>
          <p:nvPr>
            <p:ph type="ftr" sz="quarter" idx="3"/>
          </p:nvPr>
        </p:nvSpPr>
        <p:spPr>
          <a:xfrm>
            <a:off x="3124200" y="6356354"/>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Fall </a:t>
            </a:r>
            <a:r>
              <a:rPr lang="is-IS" dirty="0"/>
              <a:t>2017</a:t>
            </a:r>
            <a:r>
              <a:rPr lang="en-US" dirty="0"/>
              <a:t> - Lecture #1</a:t>
            </a:r>
          </a:p>
        </p:txBody>
      </p:sp>
      <p:sp>
        <p:nvSpPr>
          <p:cNvPr id="6" name="Slide Number Placeholder 5"/>
          <p:cNvSpPr>
            <a:spLocks noGrp="1"/>
          </p:cNvSpPr>
          <p:nvPr>
            <p:ph type="sldNum" sz="quarter" idx="4"/>
          </p:nvPr>
        </p:nvSpPr>
        <p:spPr>
          <a:xfrm>
            <a:off x="6553200" y="6356354"/>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CC63E4C-4642-794D-A2FD-70F6B81535F5}" type="slidenum">
              <a:rPr lang="en-US" smtClean="0"/>
              <a:pPr/>
              <a:t>‹#›</a:t>
            </a:fld>
            <a:endParaRPr lang="en-US"/>
          </a:p>
        </p:txBody>
      </p:sp>
    </p:spTree>
    <p:extLst>
      <p:ext uri="{BB962C8B-B14F-4D97-AF65-F5344CB8AC3E}">
        <p14:creationId xmlns:p14="http://schemas.microsoft.com/office/powerpoint/2010/main" val="2822689148"/>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Lst>
  <p:hf hdr="0"/>
  <p:txStyles>
    <p:titleStyle>
      <a:lvl1pPr algn="ctr" defTabSz="342900" rtl="0" eaLnBrk="1" latinLnBrk="0" hangingPunct="1">
        <a:spcBef>
          <a:spcPct val="0"/>
        </a:spcBef>
        <a:buNone/>
        <a:defRPr sz="3300" kern="1200">
          <a:solidFill>
            <a:srgbClr val="FF0000"/>
          </a:solidFill>
          <a:latin typeface="+mj-lt"/>
          <a:ea typeface="+mj-ea"/>
          <a:cs typeface="+mj-cs"/>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image" Target="../media/image6.emf"/><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notesSlide" Target="../notesSlides/notesSlide3.xml"/><Relationship Id="rId11" Type="http://schemas.openxmlformats.org/officeDocument/2006/relationships/image" Target="../media/image7.emf"/><Relationship Id="rId5" Type="http://schemas.openxmlformats.org/officeDocument/2006/relationships/slideLayout" Target="../slideLayouts/slideLayout15.xml"/><Relationship Id="rId10" Type="http://schemas.openxmlformats.org/officeDocument/2006/relationships/image" Target="../media/image8.png"/><Relationship Id="rId4" Type="http://schemas.openxmlformats.org/officeDocument/2006/relationships/tags" Target="../tags/tag4.xml"/><Relationship Id="rId9" Type="http://schemas.openxmlformats.org/officeDocument/2006/relationships/image" Target="../media/image9.png"/></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emf"/><Relationship Id="rId2" Type="http://schemas.openxmlformats.org/officeDocument/2006/relationships/notesSlide" Target="../notesSlides/notesSlide4.xml"/><Relationship Id="rId1" Type="http://schemas.openxmlformats.org/officeDocument/2006/relationships/slideLayout" Target="../slideLayouts/slideLayout15.xml"/><Relationship Id="rId10" Type="http://schemas.openxmlformats.org/officeDocument/2006/relationships/image" Target="../media/image9.emf"/><Relationship Id="rId9" Type="http://schemas.openxmlformats.org/officeDocument/2006/relationships/image" Target="../media/image11.png"/></Relationships>
</file>

<file path=ppt/slides/_rels/slide9.xml.rels><?xml version="1.0" encoding="UTF-8" standalone="yes"?>
<Relationships xmlns="http://schemas.openxmlformats.org/package/2006/relationships"><Relationship Id="rId7" Type="http://schemas.openxmlformats.org/officeDocument/2006/relationships/image" Target="../media/image110.png"/><Relationship Id="rId2" Type="http://schemas.openxmlformats.org/officeDocument/2006/relationships/notesSlide" Target="../notesSlides/notesSlide5.xml"/><Relationship Id="rId1" Type="http://schemas.openxmlformats.org/officeDocument/2006/relationships/slideLayout" Target="../slideLayouts/slideLayout15.xml"/><Relationship Id="rId6"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 Id="rId5" Type="http://schemas.openxmlformats.org/officeDocument/2006/relationships/image" Target="../media/image10.png"/><Relationship Id="rId4" Type="http://schemas.openxmlformats.org/officeDocument/2006/relationships/image" Target="../media/image14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 Id="rId10" Type="http://schemas.openxmlformats.org/officeDocument/2006/relationships/image" Target="../media/image14.png"/><Relationship Id="rId9" Type="http://schemas.openxmlformats.org/officeDocument/2006/relationships/image" Target="../media/image16.png"/></Relationships>
</file>

<file path=ppt/slides/_rels/slide12.xml.rels><?xml version="1.0" encoding="UTF-8" standalone="yes"?>
<Relationships xmlns="http://schemas.openxmlformats.org/package/2006/relationships"><Relationship Id="rId8" Type="http://schemas.openxmlformats.org/officeDocument/2006/relationships/image" Target="../media/image171.png"/><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5.xml"/><Relationship Id="rId4" Type="http://schemas.openxmlformats.org/officeDocument/2006/relationships/image" Target="../media/image170.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12" Type="http://schemas.openxmlformats.org/officeDocument/2006/relationships/image" Target="../media/image170.png"/><Relationship Id="rId2" Type="http://schemas.openxmlformats.org/officeDocument/2006/relationships/slideLayout" Target="../slideLayouts/slideLayout15.xml"/><Relationship Id="rId1" Type="http://schemas.openxmlformats.org/officeDocument/2006/relationships/tags" Target="../tags/tag5.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slideLayout" Target="../slideLayouts/slideLayout15.xml"/><Relationship Id="rId1" Type="http://schemas.openxmlformats.org/officeDocument/2006/relationships/tags" Target="../tags/tag6.xml"/><Relationship Id="rId5" Type="http://schemas.openxmlformats.org/officeDocument/2006/relationships/image" Target="../media/image18.emf"/><Relationship Id="rId4" Type="http://schemas.openxmlformats.org/officeDocument/2006/relationships/image" Target="../media/image17.emf"/></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emf"/><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3.xml"/><Relationship Id="rId1" Type="http://schemas.openxmlformats.org/officeDocument/2006/relationships/slideLayout" Target="../slideLayouts/slideLayout15.xml"/><Relationship Id="rId15" Type="http://schemas.openxmlformats.org/officeDocument/2006/relationships/image" Target="../media/image24.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25.png"/><Relationship Id="rId5" Type="http://schemas.openxmlformats.org/officeDocument/2006/relationships/image" Target="../media/image23.emf"/><Relationship Id="rId4" Type="http://schemas.openxmlformats.org/officeDocument/2006/relationships/notesSlide" Target="../notesSlides/notesSlide14.xml"/><Relationship Id="rId9" Type="http://schemas.openxmlformats.org/officeDocument/2006/relationships/image" Target="../media/image27.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6.xml"/><Relationship Id="rId1" Type="http://schemas.openxmlformats.org/officeDocument/2006/relationships/slideLayout" Target="../slideLayouts/slideLayout15.xml"/><Relationship Id="rId5" Type="http://schemas.openxmlformats.org/officeDocument/2006/relationships/customXml" Target="../ink/ink2.xml"/><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5.xml"/><Relationship Id="rId1" Type="http://schemas.openxmlformats.org/officeDocument/2006/relationships/tags" Target="../tags/tag9.xml"/></Relationships>
</file>

<file path=ppt/slides/_rels/slide32.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notesSlide" Target="../notesSlides/notesSlide19.xml"/><Relationship Id="rId4"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4"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1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3" Type="http://schemas.openxmlformats.org/officeDocument/2006/relationships/hyperlink" Target="https://www.youtube.com/watch?v=MxGW2WurKuM&amp;list=PLRJhV4hUhIymmp5CCeIFPyxbknsdcXCc8&amp;index=2" TargetMode="External"/><Relationship Id="rId2" Type="http://schemas.openxmlformats.org/officeDocument/2006/relationships/hyperlink" Target="https://www.youtube.com/watch?v=lJCefqV80ck&amp;list=PLRJhV4hUhIymmp5CCeIFPyxbknsdcXCc8&amp;index=1" TargetMode="External"/><Relationship Id="rId1" Type="http://schemas.openxmlformats.org/officeDocument/2006/relationships/slideLayout" Target="../slideLayouts/slideLayout15.xml"/><Relationship Id="rId4" Type="http://schemas.openxmlformats.org/officeDocument/2006/relationships/hyperlink" Target="https://www.youtube.com/watch?v=BIn6iyYIGio&amp;list=PLRJhV4hUhIymmp5CCeIFPyxbknsdcXCc8&amp;index=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609600" y="2743200"/>
            <a:ext cx="7772400" cy="1143000"/>
          </a:xfrm>
        </p:spPr>
        <p:txBody>
          <a:bodyPr>
            <a:normAutofit fontScale="90000"/>
          </a:bodyPr>
          <a:lstStyle/>
          <a:p>
            <a:r>
              <a:rPr lang="en-US" altLang="zh-CN" dirty="0">
                <a:solidFill>
                  <a:srgbClr val="FF0000"/>
                </a:solidFill>
              </a:rPr>
              <a:t>L1 (</a:t>
            </a:r>
            <a:r>
              <a:rPr lang="en-US" dirty="0">
                <a:solidFill>
                  <a:srgbClr val="FF0000"/>
                </a:solidFill>
              </a:rPr>
              <a:t>CHAPTER 2)</a:t>
            </a:r>
            <a:br>
              <a:rPr lang="en-US" dirty="0">
                <a:solidFill>
                  <a:srgbClr val="FF0000"/>
                </a:solidFill>
              </a:rPr>
            </a:br>
            <a:br>
              <a:rPr lang="en-US" dirty="0">
                <a:solidFill>
                  <a:srgbClr val="FF0000"/>
                </a:solidFill>
              </a:rPr>
            </a:br>
            <a:r>
              <a:rPr lang="en-US" altLang="zh-CN" dirty="0">
                <a:solidFill>
                  <a:srgbClr val="FF0000"/>
                </a:solidFill>
                <a:cs typeface="Times New Roman" pitchFamily="18" charset="0"/>
              </a:rPr>
              <a:t>Data Representation</a:t>
            </a:r>
            <a:endParaRPr lang="en-US" dirty="0">
              <a:solidFill>
                <a:srgbClr val="FF0000"/>
              </a:solidFill>
            </a:endParaRPr>
          </a:p>
        </p:txBody>
      </p:sp>
      <p:sp>
        <p:nvSpPr>
          <p:cNvPr id="2" name="Slide Number Placeholder 1"/>
          <p:cNvSpPr>
            <a:spLocks noGrp="1"/>
          </p:cNvSpPr>
          <p:nvPr>
            <p:ph type="sldNum" sz="quarter" idx="11"/>
          </p:nvPr>
        </p:nvSpPr>
        <p:spPr/>
        <p:txBody>
          <a:bodyPr/>
          <a:lstStyle/>
          <a:p>
            <a:pPr>
              <a:defRPr/>
            </a:pPr>
            <a:fld id="{8D43B739-56F2-41EE-BBB5-C352609D8380}" type="slidenum">
              <a:rPr lang="en-US" smtClean="0"/>
              <a:pPr>
                <a:defRPr/>
              </a:pPr>
              <a:t>1</a:t>
            </a:fld>
            <a:endParaRPr lang="en-US" dirty="0"/>
          </a:p>
        </p:txBody>
      </p:sp>
      <p:sp>
        <p:nvSpPr>
          <p:cNvPr id="4" name="Rectangle 3"/>
          <p:cNvSpPr/>
          <p:nvPr/>
        </p:nvSpPr>
        <p:spPr>
          <a:xfrm>
            <a:off x="2992401" y="6582489"/>
            <a:ext cx="4031873" cy="246221"/>
          </a:xfrm>
          <a:prstGeom prst="rect">
            <a:avLst/>
          </a:prstGeom>
        </p:spPr>
        <p:txBody>
          <a:bodyPr wrap="none">
            <a:spAutoFit/>
          </a:bodyPr>
          <a:lstStyle/>
          <a:p>
            <a:r>
              <a:rPr lang="en-US" sz="1000" b="0" dirty="0">
                <a:solidFill>
                  <a:schemeClr val="bg1">
                    <a:lumMod val="50000"/>
                  </a:schemeClr>
                </a:solidFill>
              </a:rPr>
              <a:t>Acknowledgement: some slides taken from Yifeng Zhu’s courseware</a:t>
            </a:r>
          </a:p>
        </p:txBody>
      </p:sp>
    </p:spTree>
    <p:extLst>
      <p:ext uri="{BB962C8B-B14F-4D97-AF65-F5344CB8AC3E}">
        <p14:creationId xmlns:p14="http://schemas.microsoft.com/office/powerpoint/2010/main" val="6692187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0000"/>
                </a:solidFill>
              </a:rPr>
              <a:t>Bit, Byte, Half-word, Word, Double-Word</a:t>
            </a:r>
          </a:p>
        </p:txBody>
      </p:sp>
      <p:sp>
        <p:nvSpPr>
          <p:cNvPr id="3" name="Slide Number Placeholder 2"/>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pic>
        <p:nvPicPr>
          <p:cNvPr id="368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162173"/>
            <a:ext cx="8774494" cy="3019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18883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Decimal, Binary and Hex</a:t>
            </a:r>
          </a:p>
        </p:txBody>
      </p:sp>
      <p:sp>
        <p:nvSpPr>
          <p:cNvPr id="3" name="Slide Number Placeholder 2"/>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graphicFrame>
        <p:nvGraphicFramePr>
          <p:cNvPr id="5" name="Table 4"/>
          <p:cNvGraphicFramePr>
            <a:graphicFrameLocks noGrp="1"/>
          </p:cNvGraphicFramePr>
          <p:nvPr>
            <p:extLst>
              <p:ext uri="{D42A27DB-BD31-4B8C-83A1-F6EECF244321}">
                <p14:modId xmlns:p14="http://schemas.microsoft.com/office/powerpoint/2010/main" val="1714534680"/>
              </p:ext>
            </p:extLst>
          </p:nvPr>
        </p:nvGraphicFramePr>
        <p:xfrm>
          <a:off x="2689674" y="1295400"/>
          <a:ext cx="3886200" cy="4775200"/>
        </p:xfrm>
        <a:graphic>
          <a:graphicData uri="http://schemas.openxmlformats.org/drawingml/2006/table">
            <a:tbl>
              <a:tblPr firstRow="1" firstCol="1" bandRow="1">
                <a:tableStyleId>{B301B821-A1FF-4177-AEE7-76D212191A09}</a:tableStyleId>
              </a:tblPr>
              <a:tblGrid>
                <a:gridCol w="1223175">
                  <a:extLst>
                    <a:ext uri="{9D8B030D-6E8A-4147-A177-3AD203B41FA5}">
                      <a16:colId xmlns:a16="http://schemas.microsoft.com/office/drawing/2014/main" val="20000"/>
                    </a:ext>
                  </a:extLst>
                </a:gridCol>
                <a:gridCol w="1215225">
                  <a:extLst>
                    <a:ext uri="{9D8B030D-6E8A-4147-A177-3AD203B41FA5}">
                      <a16:colId xmlns:a16="http://schemas.microsoft.com/office/drawing/2014/main" val="20001"/>
                    </a:ext>
                  </a:extLst>
                </a:gridCol>
                <a:gridCol w="1447800">
                  <a:extLst>
                    <a:ext uri="{9D8B030D-6E8A-4147-A177-3AD203B41FA5}">
                      <a16:colId xmlns:a16="http://schemas.microsoft.com/office/drawing/2014/main" val="20003"/>
                    </a:ext>
                  </a:extLst>
                </a:gridCol>
              </a:tblGrid>
              <a:tr h="304800">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Decimal</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Binary</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Hex</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0"/>
                  </a:ext>
                </a:extLst>
              </a:tr>
              <a:tr h="279400">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0000</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0x0</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279400">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1</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0001</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0x1</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2</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0010</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0x2</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3"/>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3</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0011</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0x3</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4"/>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4</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0100</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0x4</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5"/>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5</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0101</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effectLst/>
                          <a:latin typeface="Consolas" panose="020B0609020204030204" pitchFamily="49" charset="0"/>
                          <a:cs typeface="Consolas" panose="020B0609020204030204" pitchFamily="49" charset="0"/>
                        </a:rPr>
                        <a:t>0x5</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6"/>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6</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0110</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0x6</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7"/>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7</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0111</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0x7</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8"/>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8</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1000</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effectLst/>
                          <a:latin typeface="Consolas" panose="020B0609020204030204" pitchFamily="49" charset="0"/>
                          <a:cs typeface="Consolas" panose="020B0609020204030204" pitchFamily="49" charset="0"/>
                        </a:rPr>
                        <a:t>0x8</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9"/>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9</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1001</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effectLst/>
                          <a:latin typeface="Consolas" panose="020B0609020204030204" pitchFamily="49" charset="0"/>
                          <a:cs typeface="Consolas" panose="020B0609020204030204" pitchFamily="49" charset="0"/>
                        </a:rPr>
                        <a:t>0x9</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10"/>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10</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1010</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effectLst/>
                          <a:latin typeface="Consolas" panose="020B0609020204030204" pitchFamily="49" charset="0"/>
                          <a:cs typeface="Consolas" panose="020B0609020204030204" pitchFamily="49" charset="0"/>
                        </a:rPr>
                        <a:t>0xA</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11"/>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11</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1011</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effectLst/>
                          <a:latin typeface="Consolas" panose="020B0609020204030204" pitchFamily="49" charset="0"/>
                          <a:cs typeface="Consolas" panose="020B0609020204030204" pitchFamily="49" charset="0"/>
                        </a:rPr>
                        <a:t>0xB</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12"/>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12</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1100</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effectLst/>
                          <a:latin typeface="Consolas" panose="020B0609020204030204" pitchFamily="49" charset="0"/>
                          <a:cs typeface="Consolas" panose="020B0609020204030204" pitchFamily="49" charset="0"/>
                        </a:rPr>
                        <a:t>0xC</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13"/>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13</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1101</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effectLst/>
                          <a:latin typeface="Consolas" panose="020B0609020204030204" pitchFamily="49" charset="0"/>
                          <a:cs typeface="Consolas" panose="020B0609020204030204" pitchFamily="49" charset="0"/>
                        </a:rPr>
                        <a:t>0xD</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14"/>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14</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1110</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effectLst/>
                          <a:latin typeface="Consolas" panose="020B0609020204030204" pitchFamily="49" charset="0"/>
                          <a:cs typeface="Consolas" panose="020B0609020204030204" pitchFamily="49" charset="0"/>
                        </a:rPr>
                        <a:t>0xE</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15"/>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15</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1111</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effectLst/>
                          <a:latin typeface="Consolas" panose="020B0609020204030204" pitchFamily="49" charset="0"/>
                          <a:cs typeface="Consolas" panose="020B0609020204030204" pitchFamily="49" charset="0"/>
                        </a:rPr>
                        <a:t>0xF</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16"/>
                  </a:ext>
                </a:extLst>
              </a:tr>
            </a:tbl>
          </a:graphicData>
        </a:graphic>
      </p:graphicFrame>
      <p:sp>
        <p:nvSpPr>
          <p:cNvPr id="6" name="TextBox 5"/>
          <p:cNvSpPr txBox="1"/>
          <p:nvPr/>
        </p:nvSpPr>
        <p:spPr>
          <a:xfrm>
            <a:off x="3624220" y="6223000"/>
            <a:ext cx="2233497" cy="369332"/>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Prefix 0x</a:t>
            </a:r>
            <a:r>
              <a:rPr kumimoji="0" lang="en-US" sz="1800" b="0" i="0" u="none" strike="noStrike" kern="1200" cap="none" spc="0" normalizeH="0" noProof="0" dirty="0">
                <a:ln>
                  <a:noFill/>
                </a:ln>
                <a:solidFill>
                  <a:prstClr val="black"/>
                </a:solidFill>
                <a:effectLst/>
                <a:uLnTx/>
                <a:uFillTx/>
                <a:latin typeface="Gill Sans MT"/>
                <a:ea typeface="+mn-ea"/>
                <a:cs typeface="+mn-cs"/>
              </a:rPr>
              <a:t> denotes hex</a:t>
            </a:r>
            <a:endParaRPr kumimoji="0" lang="en-US" sz="1800" b="0" i="0" u="none" strike="noStrike" kern="1200" cap="none" spc="0" normalizeH="0" baseline="0" noProof="0" dirty="0">
              <a:ln>
                <a:noFill/>
              </a:ln>
              <a:solidFill>
                <a:prstClr val="black"/>
              </a:solidFill>
              <a:effectLst/>
              <a:uLnTx/>
              <a:uFillTx/>
              <a:latin typeface="Gill Sans MT"/>
              <a:ea typeface="+mn-ea"/>
              <a:cs typeface="+mn-cs"/>
            </a:endParaRPr>
          </a:p>
        </p:txBody>
      </p:sp>
    </p:spTree>
    <p:extLst>
      <p:ext uri="{BB962C8B-B14F-4D97-AF65-F5344CB8AC3E}">
        <p14:creationId xmlns:p14="http://schemas.microsoft.com/office/powerpoint/2010/main" val="10498073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Unsigned Integers</a:t>
            </a:r>
          </a:p>
        </p:txBody>
      </p:sp>
      <p:sp>
        <p:nvSpPr>
          <p:cNvPr id="3" name="Slide Number Placeholder 2"/>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pic>
        <p:nvPicPr>
          <p:cNvPr id="389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399" y="1371600"/>
            <a:ext cx="4659567" cy="44855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5" name="Rectangle 4"/>
              <p:cNvSpPr/>
              <p:nvPr/>
            </p:nvSpPr>
            <p:spPr>
              <a:xfrm>
                <a:off x="5035194" y="2438400"/>
                <a:ext cx="4074559" cy="85369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6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600" b="1" i="1" u="none" strike="noStrike" kern="1200" cap="none" spc="0" normalizeH="0" baseline="0" noProof="0">
                              <a:ln>
                                <a:noFill/>
                              </a:ln>
                              <a:solidFill>
                                <a:prstClr val="black"/>
                              </a:solidFill>
                              <a:effectLst/>
                              <a:uLnTx/>
                              <a:uFillTx/>
                              <a:latin typeface="Cambria Math"/>
                              <a:ea typeface="+mn-ea"/>
                              <a:cs typeface="+mn-cs"/>
                            </a:rPr>
                            <m:t>𝟏𝟎𝟏𝟏</m:t>
                          </m:r>
                        </m:e>
                        <m:sub>
                          <m:r>
                            <a:rPr kumimoji="0" lang="en-US" sz="1600" b="1" i="1" u="none" strike="noStrike" kern="1200" cap="none" spc="0" normalizeH="0" baseline="0" noProof="0">
                              <a:ln>
                                <a:noFill/>
                              </a:ln>
                              <a:solidFill>
                                <a:prstClr val="black"/>
                              </a:solidFill>
                              <a:effectLst/>
                              <a:uLnTx/>
                              <a:uFillTx/>
                              <a:latin typeface="Cambria Math"/>
                              <a:ea typeface="+mn-ea"/>
                              <a:cs typeface="+mn-cs"/>
                            </a:rPr>
                            <m:t>𝟐</m:t>
                          </m:r>
                        </m:sub>
                      </m:sSub>
                      <m:r>
                        <m:rPr>
                          <m:aln/>
                        </m:rPr>
                        <a:rPr kumimoji="0" lang="en-US" sz="1600" b="1" i="1" u="none" strike="noStrike" kern="1200" cap="none" spc="0" normalizeH="0" baseline="0" noProof="0">
                          <a:ln>
                            <a:noFill/>
                          </a:ln>
                          <a:solidFill>
                            <a:prstClr val="black"/>
                          </a:solidFill>
                          <a:effectLst/>
                          <a:uLnTx/>
                          <a:uFillTx/>
                          <a:latin typeface="Cambria Math"/>
                          <a:ea typeface="+mn-ea"/>
                          <a:cs typeface="+mn-cs"/>
                        </a:rPr>
                        <m:t>=</m:t>
                      </m:r>
                      <m:r>
                        <a:rPr kumimoji="0" lang="en-US" sz="1600" b="1" i="1" u="none" strike="noStrike" kern="1200" cap="none" spc="0" normalizeH="0" baseline="0" noProof="0" smtClean="0">
                          <a:ln>
                            <a:noFill/>
                          </a:ln>
                          <a:solidFill>
                            <a:srgbClr val="FF0000"/>
                          </a:solidFill>
                          <a:effectLst/>
                          <a:uLnTx/>
                          <a:uFillTx/>
                          <a:latin typeface="Cambria Math"/>
                          <a:ea typeface="+mn-ea"/>
                          <a:cs typeface="+mn-cs"/>
                        </a:rPr>
                        <m:t>𝟏</m:t>
                      </m:r>
                      <m:sSup>
                        <m:sSupPr>
                          <m:ctrlPr>
                            <a:rPr kumimoji="0" lang="en-US" sz="16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600" b="1" i="1" u="none" strike="noStrike" kern="1200" cap="none" spc="0" normalizeH="0" baseline="0" noProof="0">
                              <a:ln>
                                <a:noFill/>
                              </a:ln>
                              <a:solidFill>
                                <a:prstClr val="black"/>
                              </a:solidFill>
                              <a:effectLst/>
                              <a:uLnTx/>
                              <a:uFillTx/>
                              <a:latin typeface="Cambria Math"/>
                              <a:ea typeface="+mn-ea"/>
                              <a:cs typeface="+mn-cs"/>
                            </a:rPr>
                            <m:t>×</m:t>
                          </m:r>
                          <m:r>
                            <a:rPr kumimoji="0" lang="en-US" sz="1600" b="1" i="1" u="none" strike="noStrike" kern="1200" cap="none" spc="0" normalizeH="0" baseline="0" noProof="0">
                              <a:ln>
                                <a:noFill/>
                              </a:ln>
                              <a:solidFill>
                                <a:prstClr val="black"/>
                              </a:solidFill>
                              <a:effectLst/>
                              <a:uLnTx/>
                              <a:uFillTx/>
                              <a:latin typeface="Cambria Math"/>
                              <a:ea typeface="+mn-ea"/>
                              <a:cs typeface="+mn-cs"/>
                            </a:rPr>
                            <m:t>𝟐</m:t>
                          </m:r>
                        </m:e>
                        <m:sup>
                          <m:r>
                            <a:rPr kumimoji="0" lang="en-US" sz="1600" b="1" i="1" u="none" strike="noStrike" kern="1200" cap="none" spc="0" normalizeH="0" baseline="0" noProof="0">
                              <a:ln>
                                <a:noFill/>
                              </a:ln>
                              <a:solidFill>
                                <a:prstClr val="black"/>
                              </a:solidFill>
                              <a:effectLst/>
                              <a:uLnTx/>
                              <a:uFillTx/>
                              <a:latin typeface="Cambria Math"/>
                              <a:ea typeface="+mn-ea"/>
                              <a:cs typeface="+mn-cs"/>
                            </a:rPr>
                            <m:t>𝟑</m:t>
                          </m:r>
                        </m:sup>
                      </m:sSup>
                      <m:r>
                        <a:rPr kumimoji="0" lang="en-US" sz="1600" b="1" i="1" u="none" strike="noStrike" kern="1200" cap="none" spc="0" normalizeH="0" baseline="0" noProof="0">
                          <a:ln>
                            <a:noFill/>
                          </a:ln>
                          <a:solidFill>
                            <a:prstClr val="black"/>
                          </a:solidFill>
                          <a:effectLst/>
                          <a:uLnTx/>
                          <a:uFillTx/>
                          <a:latin typeface="Cambria Math"/>
                          <a:ea typeface="+mn-ea"/>
                          <a:cs typeface="+mn-cs"/>
                        </a:rPr>
                        <m:t>+</m:t>
                      </m:r>
                      <m:r>
                        <a:rPr kumimoji="0" lang="en-US" sz="1600" b="1" i="1" u="none" strike="noStrike" kern="1200" cap="none" spc="0" normalizeH="0" baseline="0" noProof="0" smtClean="0">
                          <a:ln>
                            <a:noFill/>
                          </a:ln>
                          <a:solidFill>
                            <a:srgbClr val="FF0000"/>
                          </a:solidFill>
                          <a:effectLst/>
                          <a:uLnTx/>
                          <a:uFillTx/>
                          <a:latin typeface="Cambria Math"/>
                          <a:ea typeface="+mn-ea"/>
                          <a:cs typeface="+mn-cs"/>
                        </a:rPr>
                        <m:t>𝟎</m:t>
                      </m:r>
                      <m:sSup>
                        <m:sSupPr>
                          <m:ctrlPr>
                            <a:rPr kumimoji="0" lang="en-US" sz="16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600" b="1" i="1" u="none" strike="noStrike" kern="1200" cap="none" spc="0" normalizeH="0" baseline="0" noProof="0">
                              <a:ln>
                                <a:noFill/>
                              </a:ln>
                              <a:solidFill>
                                <a:prstClr val="black"/>
                              </a:solidFill>
                              <a:effectLst/>
                              <a:uLnTx/>
                              <a:uFillTx/>
                              <a:latin typeface="Cambria Math"/>
                              <a:ea typeface="+mn-ea"/>
                              <a:cs typeface="+mn-cs"/>
                            </a:rPr>
                            <m:t>×</m:t>
                          </m:r>
                          <m:r>
                            <a:rPr kumimoji="0" lang="en-US" sz="1600" b="1" i="1" u="none" strike="noStrike" kern="1200" cap="none" spc="0" normalizeH="0" baseline="0" noProof="0">
                              <a:ln>
                                <a:noFill/>
                              </a:ln>
                              <a:solidFill>
                                <a:prstClr val="black"/>
                              </a:solidFill>
                              <a:effectLst/>
                              <a:uLnTx/>
                              <a:uFillTx/>
                              <a:latin typeface="Cambria Math"/>
                              <a:ea typeface="+mn-ea"/>
                              <a:cs typeface="+mn-cs"/>
                            </a:rPr>
                            <m:t>𝟐</m:t>
                          </m:r>
                        </m:e>
                        <m:sup>
                          <m:r>
                            <a:rPr kumimoji="0" lang="en-US" sz="1600" b="1" i="1" u="none" strike="noStrike" kern="1200" cap="none" spc="0" normalizeH="0" baseline="0" noProof="0">
                              <a:ln>
                                <a:noFill/>
                              </a:ln>
                              <a:solidFill>
                                <a:prstClr val="black"/>
                              </a:solidFill>
                              <a:effectLst/>
                              <a:uLnTx/>
                              <a:uFillTx/>
                              <a:latin typeface="Cambria Math"/>
                              <a:ea typeface="+mn-ea"/>
                              <a:cs typeface="+mn-cs"/>
                            </a:rPr>
                            <m:t>𝟐</m:t>
                          </m:r>
                        </m:sup>
                      </m:sSup>
                      <m:r>
                        <a:rPr kumimoji="0" lang="en-US" sz="1600" b="1" i="1" u="none" strike="noStrike" kern="1200" cap="none" spc="0" normalizeH="0" baseline="0" noProof="0">
                          <a:ln>
                            <a:noFill/>
                          </a:ln>
                          <a:solidFill>
                            <a:prstClr val="black"/>
                          </a:solidFill>
                          <a:effectLst/>
                          <a:uLnTx/>
                          <a:uFillTx/>
                          <a:latin typeface="Cambria Math"/>
                          <a:ea typeface="+mn-ea"/>
                          <a:cs typeface="+mn-cs"/>
                        </a:rPr>
                        <m:t>+</m:t>
                      </m:r>
                      <m:r>
                        <a:rPr kumimoji="0" lang="en-US" sz="1600" b="1" i="1" u="none" strike="noStrike" kern="1200" cap="none" spc="0" normalizeH="0" baseline="0" noProof="0" smtClean="0">
                          <a:ln>
                            <a:noFill/>
                          </a:ln>
                          <a:solidFill>
                            <a:srgbClr val="FF0000"/>
                          </a:solidFill>
                          <a:effectLst/>
                          <a:uLnTx/>
                          <a:uFillTx/>
                          <a:latin typeface="Cambria Math"/>
                          <a:ea typeface="+mn-ea"/>
                          <a:cs typeface="+mn-cs"/>
                        </a:rPr>
                        <m:t>𝟏</m:t>
                      </m:r>
                      <m:sSup>
                        <m:sSupPr>
                          <m:ctrlPr>
                            <a:rPr kumimoji="0" lang="en-US" sz="16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600" b="1" i="1" u="none" strike="noStrike" kern="1200" cap="none" spc="0" normalizeH="0" baseline="0" noProof="0">
                              <a:ln>
                                <a:noFill/>
                              </a:ln>
                              <a:solidFill>
                                <a:prstClr val="black"/>
                              </a:solidFill>
                              <a:effectLst/>
                              <a:uLnTx/>
                              <a:uFillTx/>
                              <a:latin typeface="Cambria Math"/>
                              <a:ea typeface="+mn-ea"/>
                              <a:cs typeface="+mn-cs"/>
                            </a:rPr>
                            <m:t>×</m:t>
                          </m:r>
                          <m:r>
                            <a:rPr kumimoji="0" lang="en-US" sz="1600" b="1" i="1" u="none" strike="noStrike" kern="1200" cap="none" spc="0" normalizeH="0" baseline="0" noProof="0">
                              <a:ln>
                                <a:noFill/>
                              </a:ln>
                              <a:solidFill>
                                <a:prstClr val="black"/>
                              </a:solidFill>
                              <a:effectLst/>
                              <a:uLnTx/>
                              <a:uFillTx/>
                              <a:latin typeface="Cambria Math"/>
                              <a:ea typeface="+mn-ea"/>
                              <a:cs typeface="+mn-cs"/>
                            </a:rPr>
                            <m:t>𝟐</m:t>
                          </m:r>
                        </m:e>
                        <m:sup>
                          <m:r>
                            <a:rPr kumimoji="0" lang="en-US" sz="1600" b="1" i="1" u="none" strike="noStrike" kern="1200" cap="none" spc="0" normalizeH="0" baseline="0" noProof="0">
                              <a:ln>
                                <a:noFill/>
                              </a:ln>
                              <a:solidFill>
                                <a:prstClr val="black"/>
                              </a:solidFill>
                              <a:effectLst/>
                              <a:uLnTx/>
                              <a:uFillTx/>
                              <a:latin typeface="Cambria Math"/>
                              <a:ea typeface="+mn-ea"/>
                              <a:cs typeface="+mn-cs"/>
                            </a:rPr>
                            <m:t>𝟏</m:t>
                          </m:r>
                        </m:sup>
                      </m:sSup>
                      <m:r>
                        <a:rPr kumimoji="0" lang="en-US" sz="1600" b="1" i="1" u="none" strike="noStrike" kern="1200" cap="none" spc="0" normalizeH="0" baseline="0" noProof="0">
                          <a:ln>
                            <a:noFill/>
                          </a:ln>
                          <a:solidFill>
                            <a:prstClr val="black"/>
                          </a:solidFill>
                          <a:effectLst/>
                          <a:uLnTx/>
                          <a:uFillTx/>
                          <a:latin typeface="Cambria Math"/>
                          <a:ea typeface="+mn-ea"/>
                          <a:cs typeface="+mn-cs"/>
                        </a:rPr>
                        <m:t>+ </m:t>
                      </m:r>
                      <m:r>
                        <a:rPr kumimoji="0" lang="en-US" sz="1600" b="1" i="1" u="none" strike="noStrike" kern="1200" cap="none" spc="0" normalizeH="0" baseline="0" noProof="0" smtClean="0">
                          <a:ln>
                            <a:noFill/>
                          </a:ln>
                          <a:solidFill>
                            <a:srgbClr val="FF0000"/>
                          </a:solidFill>
                          <a:effectLst/>
                          <a:uLnTx/>
                          <a:uFillTx/>
                          <a:latin typeface="Cambria Math"/>
                          <a:ea typeface="+mn-ea"/>
                          <a:cs typeface="+mn-cs"/>
                        </a:rPr>
                        <m:t>𝟏</m:t>
                      </m:r>
                      <m:sSup>
                        <m:sSupPr>
                          <m:ctrlPr>
                            <a:rPr kumimoji="0" lang="en-US" sz="16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600" b="1" i="1" u="none" strike="noStrike" kern="1200" cap="none" spc="0" normalizeH="0" baseline="0" noProof="0">
                              <a:ln>
                                <a:noFill/>
                              </a:ln>
                              <a:solidFill>
                                <a:prstClr val="black"/>
                              </a:solidFill>
                              <a:effectLst/>
                              <a:uLnTx/>
                              <a:uFillTx/>
                              <a:latin typeface="Cambria Math"/>
                              <a:ea typeface="+mn-ea"/>
                              <a:cs typeface="+mn-cs"/>
                            </a:rPr>
                            <m:t>×</m:t>
                          </m:r>
                          <m:r>
                            <a:rPr kumimoji="0" lang="en-US" sz="1600" b="1" i="1" u="none" strike="noStrike" kern="1200" cap="none" spc="0" normalizeH="0" baseline="0" noProof="0">
                              <a:ln>
                                <a:noFill/>
                              </a:ln>
                              <a:solidFill>
                                <a:prstClr val="black"/>
                              </a:solidFill>
                              <a:effectLst/>
                              <a:uLnTx/>
                              <a:uFillTx/>
                              <a:latin typeface="Cambria Math"/>
                              <a:ea typeface="+mn-ea"/>
                              <a:cs typeface="+mn-cs"/>
                            </a:rPr>
                            <m:t>𝟐</m:t>
                          </m:r>
                        </m:e>
                        <m:sup>
                          <m:r>
                            <a:rPr kumimoji="0" lang="en-US" sz="1600" b="1" i="1" u="none" strike="noStrike" kern="1200" cap="none" spc="0" normalizeH="0" baseline="0" noProof="0">
                              <a:ln>
                                <a:noFill/>
                              </a:ln>
                              <a:solidFill>
                                <a:prstClr val="black"/>
                              </a:solidFill>
                              <a:effectLst/>
                              <a:uLnTx/>
                              <a:uFillTx/>
                              <a:latin typeface="Cambria Math"/>
                              <a:ea typeface="+mn-ea"/>
                              <a:cs typeface="+mn-cs"/>
                            </a:rPr>
                            <m:t>𝟎</m:t>
                          </m:r>
                        </m:sup>
                      </m:sSup>
                    </m:oMath>
                    <m:oMath xmlns:m="http://schemas.openxmlformats.org/officeDocument/2006/math">
                      <m:r>
                        <m:rPr>
                          <m:aln/>
                        </m:rPr>
                        <a:rPr kumimoji="0" lang="en-US" sz="1600" b="1" i="1" u="none" strike="noStrike" kern="1200" cap="none" spc="0" normalizeH="0" baseline="0" noProof="0">
                          <a:ln>
                            <a:noFill/>
                          </a:ln>
                          <a:solidFill>
                            <a:prstClr val="black"/>
                          </a:solidFill>
                          <a:effectLst/>
                          <a:uLnTx/>
                          <a:uFillTx/>
                          <a:latin typeface="Cambria Math"/>
                          <a:ea typeface="+mn-ea"/>
                          <a:cs typeface="+mn-cs"/>
                        </a:rPr>
                        <m:t>=</m:t>
                      </m:r>
                      <m:r>
                        <a:rPr kumimoji="0" lang="en-US" sz="1600" b="1" i="1" u="none" strike="noStrike" kern="1200" cap="none" spc="0" normalizeH="0" baseline="0" noProof="0">
                          <a:ln>
                            <a:noFill/>
                          </a:ln>
                          <a:solidFill>
                            <a:prstClr val="black"/>
                          </a:solidFill>
                          <a:effectLst/>
                          <a:uLnTx/>
                          <a:uFillTx/>
                          <a:latin typeface="Cambria Math"/>
                          <a:ea typeface="+mn-ea"/>
                          <a:cs typeface="+mn-cs"/>
                        </a:rPr>
                        <m:t>𝟖</m:t>
                      </m:r>
                      <m:r>
                        <a:rPr kumimoji="0" lang="en-US" sz="1600" b="1" i="1" u="none" strike="noStrike" kern="1200" cap="none" spc="0" normalizeH="0" baseline="0" noProof="0">
                          <a:ln>
                            <a:noFill/>
                          </a:ln>
                          <a:solidFill>
                            <a:prstClr val="black"/>
                          </a:solidFill>
                          <a:effectLst/>
                          <a:uLnTx/>
                          <a:uFillTx/>
                          <a:latin typeface="Cambria Math"/>
                          <a:ea typeface="+mn-ea"/>
                          <a:cs typeface="+mn-cs"/>
                        </a:rPr>
                        <m:t>+</m:t>
                      </m:r>
                      <m:r>
                        <a:rPr kumimoji="0" lang="en-US" sz="1600" b="1" i="1" u="none" strike="noStrike" kern="1200" cap="none" spc="0" normalizeH="0" baseline="0" noProof="0">
                          <a:ln>
                            <a:noFill/>
                          </a:ln>
                          <a:solidFill>
                            <a:prstClr val="black"/>
                          </a:solidFill>
                          <a:effectLst/>
                          <a:uLnTx/>
                          <a:uFillTx/>
                          <a:latin typeface="Cambria Math"/>
                          <a:ea typeface="+mn-ea"/>
                          <a:cs typeface="+mn-cs"/>
                        </a:rPr>
                        <m:t>𝟐</m:t>
                      </m:r>
                      <m:r>
                        <a:rPr kumimoji="0" lang="en-US" sz="1600" b="1" i="1" u="none" strike="noStrike" kern="1200" cap="none" spc="0" normalizeH="0" baseline="0" noProof="0">
                          <a:ln>
                            <a:noFill/>
                          </a:ln>
                          <a:solidFill>
                            <a:prstClr val="black"/>
                          </a:solidFill>
                          <a:effectLst/>
                          <a:uLnTx/>
                          <a:uFillTx/>
                          <a:latin typeface="Cambria Math"/>
                          <a:ea typeface="+mn-ea"/>
                          <a:cs typeface="+mn-cs"/>
                        </a:rPr>
                        <m:t>+</m:t>
                      </m:r>
                      <m:r>
                        <a:rPr kumimoji="0" lang="en-US" sz="1600" b="1" i="1" u="none" strike="noStrike" kern="1200" cap="none" spc="0" normalizeH="0" baseline="0" noProof="0">
                          <a:ln>
                            <a:noFill/>
                          </a:ln>
                          <a:solidFill>
                            <a:prstClr val="black"/>
                          </a:solidFill>
                          <a:effectLst/>
                          <a:uLnTx/>
                          <a:uFillTx/>
                          <a:latin typeface="Cambria Math"/>
                          <a:ea typeface="+mn-ea"/>
                          <a:cs typeface="+mn-cs"/>
                        </a:rPr>
                        <m:t>𝟏</m:t>
                      </m:r>
                    </m:oMath>
                    <m:oMath xmlns:m="http://schemas.openxmlformats.org/officeDocument/2006/math">
                      <m:r>
                        <m:rPr>
                          <m:aln/>
                        </m:rPr>
                        <a:rPr kumimoji="0" lang="en-US" sz="1600" b="1" i="1" u="none" strike="noStrike" kern="1200" cap="none" spc="0" normalizeH="0" baseline="0" noProof="0">
                          <a:ln>
                            <a:noFill/>
                          </a:ln>
                          <a:solidFill>
                            <a:prstClr val="black"/>
                          </a:solidFill>
                          <a:effectLst/>
                          <a:uLnTx/>
                          <a:uFillTx/>
                          <a:latin typeface="Cambria Math"/>
                          <a:ea typeface="+mn-ea"/>
                          <a:cs typeface="+mn-cs"/>
                        </a:rPr>
                        <m:t>=</m:t>
                      </m:r>
                      <m:r>
                        <a:rPr kumimoji="0" lang="en-US" sz="1600" b="1" i="1" u="none" strike="noStrike" kern="1200" cap="none" spc="0" normalizeH="0" baseline="0" noProof="0">
                          <a:ln>
                            <a:noFill/>
                          </a:ln>
                          <a:solidFill>
                            <a:prstClr val="black"/>
                          </a:solidFill>
                          <a:effectLst/>
                          <a:uLnTx/>
                          <a:uFillTx/>
                          <a:latin typeface="Cambria Math"/>
                          <a:ea typeface="+mn-ea"/>
                          <a:cs typeface="+mn-cs"/>
                        </a:rPr>
                        <m:t>𝟏𝟏</m:t>
                      </m:r>
                    </m:oMath>
                  </m:oMathPara>
                </a14:m>
                <a:endParaRPr kumimoji="0" lang="en-US" sz="1600" b="1" i="0" u="none" strike="noStrike" kern="1200" cap="none" spc="0" normalizeH="0" baseline="0" noProof="0" dirty="0">
                  <a:ln>
                    <a:noFill/>
                  </a:ln>
                  <a:solidFill>
                    <a:prstClr val="black"/>
                  </a:solidFill>
                  <a:effectLst/>
                  <a:uLnTx/>
                  <a:uFillTx/>
                  <a:latin typeface="Gill Sans MT"/>
                  <a:ea typeface="+mn-ea"/>
                  <a:cs typeface="+mn-cs"/>
                </a:endParaRPr>
              </a:p>
            </p:txBody>
          </p:sp>
        </mc:Choice>
        <mc:Fallback xmlns="">
          <p:sp>
            <p:nvSpPr>
              <p:cNvPr id="5" name="Rectangle 4"/>
              <p:cNvSpPr>
                <a:spLocks noRot="1" noChangeAspect="1" noMove="1" noResize="1" noEditPoints="1" noAdjustHandles="1" noChangeArrowheads="1" noChangeShapeType="1" noTextEdit="1"/>
              </p:cNvSpPr>
              <p:nvPr/>
            </p:nvSpPr>
            <p:spPr>
              <a:xfrm>
                <a:off x="5035194" y="2438400"/>
                <a:ext cx="4074559" cy="853695"/>
              </a:xfrm>
              <a:prstGeom prst="rect">
                <a:avLst/>
              </a:prstGeom>
              <a:blipFill rotWithShape="1">
                <a:blip r:embed="rId3"/>
                <a:stretch>
                  <a:fillRect/>
                </a:stretch>
              </a:blipFill>
            </p:spPr>
            <p:txBody>
              <a:bodyPr/>
              <a:lstStyle/>
              <a:p>
                <a:r>
                  <a:rPr lang="en-US">
                    <a:noFill/>
                  </a:rPr>
                  <a:t> </a:t>
                </a:r>
              </a:p>
            </p:txBody>
          </p:sp>
        </mc:Fallback>
      </mc:AlternateContent>
      <p:sp>
        <p:nvSpPr>
          <p:cNvPr id="6" name="TextBox 5"/>
          <p:cNvSpPr txBox="1"/>
          <p:nvPr/>
        </p:nvSpPr>
        <p:spPr>
          <a:xfrm>
            <a:off x="4876800" y="1905000"/>
            <a:ext cx="378982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Gill Sans MT"/>
                <a:ea typeface="+mn-ea"/>
                <a:cs typeface="+mn-cs"/>
              </a:rPr>
              <a:t>Convert from Binary to Decimal: </a:t>
            </a:r>
          </a:p>
        </p:txBody>
      </p:sp>
      <p:sp>
        <p:nvSpPr>
          <p:cNvPr id="4" name="TextBox 3"/>
          <p:cNvSpPr txBox="1"/>
          <p:nvPr/>
        </p:nvSpPr>
        <p:spPr>
          <a:xfrm>
            <a:off x="1465397" y="5911334"/>
            <a:ext cx="203357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Five-bit binary code</a:t>
            </a:r>
          </a:p>
        </p:txBody>
      </p:sp>
    </p:spTree>
    <p:extLst>
      <p:ext uri="{BB962C8B-B14F-4D97-AF65-F5344CB8AC3E}">
        <p14:creationId xmlns:p14="http://schemas.microsoft.com/office/powerpoint/2010/main" val="12233302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Unsigned Integers</a:t>
            </a:r>
          </a:p>
        </p:txBody>
      </p:sp>
      <p:sp>
        <p:nvSpPr>
          <p:cNvPr id="3" name="Slide Number Placeholder 2"/>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6" name="TextBox 5"/>
          <p:cNvSpPr txBox="1"/>
          <p:nvPr/>
        </p:nvSpPr>
        <p:spPr>
          <a:xfrm>
            <a:off x="304800" y="1302199"/>
            <a:ext cx="315983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Gill Sans MT"/>
                <a:ea typeface="+mn-ea"/>
                <a:cs typeface="+mn-cs"/>
              </a:rPr>
              <a:t>Convert Decimal to Binary </a:t>
            </a:r>
          </a:p>
        </p:txBody>
      </p:sp>
      <p:pic>
        <p:nvPicPr>
          <p:cNvPr id="3994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8743" y="2514599"/>
            <a:ext cx="3810857" cy="30887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7"/>
          <p:cNvSpPr/>
          <p:nvPr/>
        </p:nvSpPr>
        <p:spPr>
          <a:xfrm>
            <a:off x="1631265" y="5794087"/>
            <a:ext cx="1715534"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FF"/>
                </a:solidFill>
                <a:effectLst/>
                <a:uLnTx/>
                <a:uFillTx/>
                <a:latin typeface="Gill Sans MT"/>
                <a:ea typeface="+mn-ea"/>
                <a:cs typeface="+mn-cs"/>
              </a:rPr>
              <a:t>52</a:t>
            </a:r>
            <a:r>
              <a:rPr kumimoji="0" lang="en-US" sz="1800" b="1" i="0" u="none" strike="noStrike" kern="1200" cap="none" spc="0" normalizeH="0" baseline="-25000" noProof="0" dirty="0">
                <a:ln>
                  <a:noFill/>
                </a:ln>
                <a:solidFill>
                  <a:prstClr val="black"/>
                </a:solidFill>
                <a:effectLst/>
                <a:uLnTx/>
                <a:uFillTx/>
                <a:latin typeface="Gill Sans MT"/>
                <a:ea typeface="+mn-ea"/>
                <a:cs typeface="+mn-cs"/>
              </a:rPr>
              <a:t>10</a:t>
            </a:r>
            <a:r>
              <a:rPr kumimoji="0" lang="en-US" sz="1800" b="1" i="0" u="none" strike="noStrike" kern="1200" cap="none" spc="0" normalizeH="0" baseline="0" noProof="0" dirty="0">
                <a:ln>
                  <a:noFill/>
                </a:ln>
                <a:solidFill>
                  <a:prstClr val="black"/>
                </a:solidFill>
                <a:effectLst/>
                <a:uLnTx/>
                <a:uFillTx/>
                <a:latin typeface="Gill Sans MT"/>
                <a:ea typeface="+mn-ea"/>
                <a:cs typeface="+mn-cs"/>
              </a:rPr>
              <a:t> = </a:t>
            </a:r>
            <a:r>
              <a:rPr kumimoji="0" lang="en-US" sz="1800" b="1" i="0" u="none" strike="noStrike" kern="1200" cap="none" spc="0" normalizeH="0" baseline="0" noProof="0" dirty="0">
                <a:ln>
                  <a:noFill/>
                </a:ln>
                <a:solidFill>
                  <a:srgbClr val="C00000"/>
                </a:solidFill>
                <a:effectLst/>
                <a:uLnTx/>
                <a:uFillTx/>
                <a:latin typeface="Gill Sans MT"/>
                <a:ea typeface="+mn-ea"/>
                <a:cs typeface="+mn-cs"/>
              </a:rPr>
              <a:t>110100</a:t>
            </a:r>
            <a:r>
              <a:rPr kumimoji="0" lang="en-US" sz="1800" b="1" i="0" u="none" strike="noStrike" kern="1200" cap="none" spc="0" normalizeH="0" baseline="-25000" noProof="0" dirty="0">
                <a:ln>
                  <a:noFill/>
                </a:ln>
                <a:solidFill>
                  <a:prstClr val="black"/>
                </a:solidFill>
                <a:effectLst/>
                <a:uLnTx/>
                <a:uFillTx/>
                <a:latin typeface="Gill Sans MT"/>
                <a:ea typeface="+mn-ea"/>
                <a:cs typeface="+mn-cs"/>
              </a:rPr>
              <a:t>2</a:t>
            </a:r>
            <a:endParaRPr kumimoji="0" lang="en-US" sz="1800" b="1" i="0" u="none" strike="noStrike" kern="1200" cap="none" spc="0" normalizeH="0" baseline="0" noProof="0" dirty="0">
              <a:ln>
                <a:noFill/>
              </a:ln>
              <a:solidFill>
                <a:prstClr val="black"/>
              </a:solidFill>
              <a:effectLst/>
              <a:uLnTx/>
              <a:uFillTx/>
              <a:latin typeface="Gill Sans MT"/>
              <a:ea typeface="+mn-ea"/>
              <a:cs typeface="+mn-cs"/>
            </a:endParaRPr>
          </a:p>
        </p:txBody>
      </p:sp>
      <p:sp>
        <p:nvSpPr>
          <p:cNvPr id="11" name="Rectangle 10"/>
          <p:cNvSpPr/>
          <p:nvPr/>
        </p:nvSpPr>
        <p:spPr>
          <a:xfrm>
            <a:off x="1799580" y="1920654"/>
            <a:ext cx="1378904"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Gill Sans MT"/>
                <a:ea typeface="+mn-ea"/>
                <a:cs typeface="+mn-cs"/>
              </a:rPr>
              <a:t>Example 1 </a:t>
            </a:r>
          </a:p>
        </p:txBody>
      </p:sp>
      <p:grpSp>
        <p:nvGrpSpPr>
          <p:cNvPr id="13" name="Group 12"/>
          <p:cNvGrpSpPr/>
          <p:nvPr/>
        </p:nvGrpSpPr>
        <p:grpSpPr>
          <a:xfrm>
            <a:off x="4800600" y="1302199"/>
            <a:ext cx="4272503" cy="5022401"/>
            <a:chOff x="4800600" y="1302199"/>
            <a:chExt cx="4272503" cy="5022401"/>
          </a:xfrm>
        </p:grpSpPr>
        <p:pic>
          <p:nvPicPr>
            <p:cNvPr id="3994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8171" y="2289986"/>
              <a:ext cx="4144932" cy="3274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7" name="Straight Connector 6"/>
            <p:cNvCxnSpPr/>
            <p:nvPr/>
          </p:nvCxnSpPr>
          <p:spPr>
            <a:xfrm>
              <a:off x="4800600" y="1302199"/>
              <a:ext cx="0" cy="5022401"/>
            </a:xfrm>
            <a:prstGeom prst="line">
              <a:avLst/>
            </a:prstGeom>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6203659" y="5799224"/>
              <a:ext cx="1715534"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FF"/>
                  </a:solidFill>
                  <a:effectLst/>
                  <a:uLnTx/>
                  <a:uFillTx/>
                  <a:latin typeface="Gill Sans MT"/>
                  <a:ea typeface="+mn-ea"/>
                  <a:cs typeface="+mn-cs"/>
                </a:rPr>
                <a:t>32</a:t>
              </a:r>
              <a:r>
                <a:rPr kumimoji="0" lang="en-US" sz="1800" b="1" i="0" u="none" strike="noStrike" kern="1200" cap="none" spc="0" normalizeH="0" baseline="-25000" noProof="0" dirty="0">
                  <a:ln>
                    <a:noFill/>
                  </a:ln>
                  <a:solidFill>
                    <a:prstClr val="black"/>
                  </a:solidFill>
                  <a:effectLst/>
                  <a:uLnTx/>
                  <a:uFillTx/>
                  <a:latin typeface="Gill Sans MT"/>
                  <a:ea typeface="+mn-ea"/>
                  <a:cs typeface="+mn-cs"/>
                </a:rPr>
                <a:t>10</a:t>
              </a:r>
              <a:r>
                <a:rPr kumimoji="0" lang="en-US" sz="1800" b="1" i="0" u="none" strike="noStrike" kern="1200" cap="none" spc="0" normalizeH="0" baseline="0" noProof="0" dirty="0">
                  <a:ln>
                    <a:noFill/>
                  </a:ln>
                  <a:solidFill>
                    <a:prstClr val="black"/>
                  </a:solidFill>
                  <a:effectLst/>
                  <a:uLnTx/>
                  <a:uFillTx/>
                  <a:latin typeface="Gill Sans MT"/>
                  <a:ea typeface="+mn-ea"/>
                  <a:cs typeface="+mn-cs"/>
                </a:rPr>
                <a:t> = </a:t>
              </a:r>
              <a:r>
                <a:rPr kumimoji="0" lang="en-US" sz="1800" b="1" i="0" u="none" strike="noStrike" kern="1200" cap="none" spc="0" normalizeH="0" baseline="0" noProof="0" dirty="0">
                  <a:ln>
                    <a:noFill/>
                  </a:ln>
                  <a:solidFill>
                    <a:srgbClr val="C00000"/>
                  </a:solidFill>
                  <a:effectLst/>
                  <a:uLnTx/>
                  <a:uFillTx/>
                  <a:latin typeface="Gill Sans MT"/>
                  <a:ea typeface="+mn-ea"/>
                  <a:cs typeface="+mn-cs"/>
                </a:rPr>
                <a:t>100000</a:t>
              </a:r>
              <a:r>
                <a:rPr kumimoji="0" lang="en-US" sz="1800" b="1" i="0" u="none" strike="noStrike" kern="1200" cap="none" spc="0" normalizeH="0" baseline="-25000" noProof="0" dirty="0">
                  <a:ln>
                    <a:noFill/>
                  </a:ln>
                  <a:solidFill>
                    <a:prstClr val="black"/>
                  </a:solidFill>
                  <a:effectLst/>
                  <a:uLnTx/>
                  <a:uFillTx/>
                  <a:latin typeface="Gill Sans MT"/>
                  <a:ea typeface="+mn-ea"/>
                  <a:cs typeface="+mn-cs"/>
                </a:rPr>
                <a:t>2</a:t>
              </a:r>
              <a:endParaRPr kumimoji="0" lang="en-US" sz="1800" b="1" i="0" u="none" strike="noStrike" kern="1200" cap="none" spc="0" normalizeH="0" baseline="0" noProof="0" dirty="0">
                <a:ln>
                  <a:noFill/>
                </a:ln>
                <a:solidFill>
                  <a:prstClr val="black"/>
                </a:solidFill>
                <a:effectLst/>
                <a:uLnTx/>
                <a:uFillTx/>
                <a:latin typeface="Gill Sans MT"/>
                <a:ea typeface="+mn-ea"/>
                <a:cs typeface="+mn-cs"/>
              </a:endParaRPr>
            </a:p>
          </p:txBody>
        </p:sp>
        <p:sp>
          <p:nvSpPr>
            <p:cNvPr id="12" name="Rectangle 11"/>
            <p:cNvSpPr/>
            <p:nvPr/>
          </p:nvSpPr>
          <p:spPr>
            <a:xfrm>
              <a:off x="6311185" y="1956101"/>
              <a:ext cx="1378904"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Gill Sans MT"/>
                  <a:ea typeface="+mn-ea"/>
                  <a:cs typeface="+mn-cs"/>
                </a:rPr>
                <a:t>Example 2 </a:t>
              </a:r>
            </a:p>
          </p:txBody>
        </p:sp>
      </p:grpSp>
    </p:spTree>
    <p:extLst>
      <p:ext uri="{BB962C8B-B14F-4D97-AF65-F5344CB8AC3E}">
        <p14:creationId xmlns:p14="http://schemas.microsoft.com/office/powerpoint/2010/main" val="1743022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a:t>Carry/borrow flag bit for unsigned arithmetic</a:t>
            </a:r>
          </a:p>
        </p:txBody>
      </p:sp>
      <p:sp>
        <p:nvSpPr>
          <p:cNvPr id="2" name="Slide Number Placeholder 1"/>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400" b="0" i="0" u="none" strike="noStrike" kern="1200" cap="none" spc="0" normalizeH="0" baseline="0" noProof="0">
              <a:ln>
                <a:noFill/>
              </a:ln>
              <a:solidFill>
                <a:srgbClr val="1F497D"/>
              </a:solidFill>
              <a:effectLst/>
              <a:uLnTx/>
              <a:uFillTx/>
              <a:latin typeface="Gill Sans MT"/>
              <a:ea typeface="+mn-ea"/>
              <a:cs typeface="+mn-cs"/>
            </a:endParaRPr>
          </a:p>
        </p:txBody>
      </p:sp>
      <mc:AlternateContent xmlns:mc="http://schemas.openxmlformats.org/markup-compatibility/2006" xmlns:a14="http://schemas.microsoft.com/office/drawing/2010/main">
        <mc:Choice Requires="a14">
          <p:sp>
            <p:nvSpPr>
              <p:cNvPr id="7" name="Rectangle 6"/>
              <p:cNvSpPr/>
              <p:nvPr/>
            </p:nvSpPr>
            <p:spPr>
              <a:xfrm>
                <a:off x="609600" y="1371600"/>
                <a:ext cx="7924800" cy="5262979"/>
              </a:xfrm>
              <a:prstGeom prst="rect">
                <a:avLst/>
              </a:prstGeom>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Gill Sans MT"/>
                    <a:ea typeface="+mn-ea"/>
                    <a:cs typeface="+mn-cs"/>
                  </a:rPr>
                  <a:t>When adding two unsigned numbers in an </a:t>
                </a:r>
                <a:r>
                  <a:rPr kumimoji="0" lang="en-US" sz="2400" b="0" i="1" u="none" strike="noStrike" kern="1200" cap="none" spc="0" normalizeH="0" baseline="0" noProof="0" dirty="0">
                    <a:ln>
                      <a:noFill/>
                    </a:ln>
                    <a:solidFill>
                      <a:prstClr val="black"/>
                    </a:solidFill>
                    <a:effectLst/>
                    <a:uLnTx/>
                    <a:uFillTx/>
                    <a:latin typeface="Gill Sans MT"/>
                    <a:ea typeface="+mn-ea"/>
                    <a:cs typeface="+mn-cs"/>
                  </a:rPr>
                  <a:t>n</a:t>
                </a:r>
                <a:r>
                  <a:rPr kumimoji="0" lang="en-US" sz="2400" b="0" i="0" u="none" strike="noStrike" kern="1200" cap="none" spc="0" normalizeH="0" baseline="0" noProof="0" dirty="0">
                    <a:ln>
                      <a:noFill/>
                    </a:ln>
                    <a:solidFill>
                      <a:prstClr val="black"/>
                    </a:solidFill>
                    <a:effectLst/>
                    <a:uLnTx/>
                    <a:uFillTx/>
                    <a:latin typeface="Gill Sans MT"/>
                    <a:ea typeface="+mn-ea"/>
                    <a:cs typeface="+mn-cs"/>
                  </a:rPr>
                  <a:t>-bit system, a carry occurs if </a:t>
                </a:r>
                <a:r>
                  <a:rPr kumimoji="0" lang="en-US" sz="2400" b="0" i="0" u="none" strike="noStrike" kern="1200" cap="none" spc="0" normalizeH="0" baseline="0" noProof="0" dirty="0">
                    <a:ln>
                      <a:noFill/>
                    </a:ln>
                    <a:solidFill>
                      <a:srgbClr val="C00000"/>
                    </a:solidFill>
                    <a:effectLst/>
                    <a:uLnTx/>
                    <a:uFillTx/>
                    <a:latin typeface="Gill Sans MT"/>
                    <a:ea typeface="+mn-ea"/>
                    <a:cs typeface="+mn-cs"/>
                  </a:rPr>
                  <a:t>the result is larger than the maximum unsigned integer</a:t>
                </a:r>
                <a:r>
                  <a:rPr kumimoji="0" lang="en-US" sz="2400" b="0" i="0" u="none" strike="noStrike" kern="1200" cap="none" spc="0" normalizeH="0" baseline="0" noProof="0" dirty="0">
                    <a:ln>
                      <a:noFill/>
                    </a:ln>
                    <a:solidFill>
                      <a:prstClr val="black"/>
                    </a:solidFill>
                    <a:effectLst/>
                    <a:uLnTx/>
                    <a:uFillTx/>
                    <a:latin typeface="Gill Sans MT"/>
                    <a:ea typeface="+mn-ea"/>
                    <a:cs typeface="+mn-cs"/>
                  </a:rPr>
                  <a:t> that can be represented (</a:t>
                </a:r>
                <a:r>
                  <a:rPr kumimoji="0" lang="en-US" sz="2400" b="0" i="1" u="none" strike="noStrike" kern="1200" cap="none" spc="0" normalizeH="0" baseline="0" noProof="0" dirty="0">
                    <a:ln>
                      <a:noFill/>
                    </a:ln>
                    <a:solidFill>
                      <a:prstClr val="black"/>
                    </a:solidFill>
                    <a:effectLst/>
                    <a:uLnTx/>
                    <a:uFillTx/>
                    <a:latin typeface="Gill Sans MT"/>
                    <a:ea typeface="+mn-ea"/>
                    <a:cs typeface="+mn-cs"/>
                  </a:rPr>
                  <a:t>i.e.</a:t>
                </a:r>
                <a:r>
                  <a:rPr kumimoji="0" lang="en-US" sz="2400" b="0" i="0" u="none" strike="noStrike" kern="1200" cap="none" spc="0" normalizeH="0" baseline="0" noProof="0" dirty="0">
                    <a:ln>
                      <a:noFill/>
                    </a:ln>
                    <a:solidFill>
                      <a:prstClr val="black"/>
                    </a:solidFill>
                    <a:effectLst/>
                    <a:uLnTx/>
                    <a:uFillTx/>
                    <a:latin typeface="Gill Sans MT"/>
                    <a:ea typeface="+mn-ea"/>
                    <a:cs typeface="+mn-cs"/>
                  </a:rPr>
                  <a:t> </a:t>
                </a:r>
                <a14:m>
                  <m:oMath xmlns:m="http://schemas.openxmlformats.org/officeDocument/2006/math">
                    <m:sSup>
                      <m:sSup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2400" b="0" i="1" u="none" strike="noStrike" kern="1200" cap="none" spc="0" normalizeH="0" baseline="0" noProof="0">
                            <a:ln>
                              <a:noFill/>
                            </a:ln>
                            <a:solidFill>
                              <a:prstClr val="black"/>
                            </a:solidFill>
                            <a:effectLst/>
                            <a:uLnTx/>
                            <a:uFillTx/>
                            <a:latin typeface="Cambria Math"/>
                            <a:ea typeface="+mn-ea"/>
                            <a:cs typeface="+mn-cs"/>
                          </a:rPr>
                          <m:t>2</m:t>
                        </m:r>
                      </m:e>
                      <m:sup>
                        <m:r>
                          <a:rPr kumimoji="0" lang="en-US" sz="2400" b="0" i="1" u="none" strike="noStrike" kern="1200" cap="none" spc="0" normalizeH="0" baseline="0" noProof="0">
                            <a:ln>
                              <a:noFill/>
                            </a:ln>
                            <a:solidFill>
                              <a:prstClr val="black"/>
                            </a:solidFill>
                            <a:effectLst/>
                            <a:uLnTx/>
                            <a:uFillTx/>
                            <a:latin typeface="Cambria Math"/>
                            <a:ea typeface="+mn-ea"/>
                            <a:cs typeface="+mn-cs"/>
                          </a:rPr>
                          <m:t>𝑛</m:t>
                        </m:r>
                      </m:sup>
                    </m:sSup>
                    <m:r>
                      <a:rPr kumimoji="0" lang="en-US" sz="2400" b="0" i="1" u="none" strike="noStrike" kern="1200" cap="none" spc="0" normalizeH="0" baseline="0" noProof="0">
                        <a:ln>
                          <a:noFill/>
                        </a:ln>
                        <a:solidFill>
                          <a:prstClr val="black"/>
                        </a:solidFill>
                        <a:effectLst/>
                        <a:uLnTx/>
                        <a:uFillTx/>
                        <a:latin typeface="Cambria Math"/>
                        <a:ea typeface="+mn-ea"/>
                        <a:cs typeface="+mn-cs"/>
                      </a:rPr>
                      <m:t>−1</m:t>
                    </m:r>
                  </m:oMath>
                </a14:m>
                <a:r>
                  <a:rPr kumimoji="0" lang="en-US" sz="2400" b="0" i="0" u="none" strike="noStrike" kern="1200" cap="none" spc="0" normalizeH="0" baseline="0" noProof="0" dirty="0">
                    <a:ln>
                      <a:noFill/>
                    </a:ln>
                    <a:solidFill>
                      <a:prstClr val="black"/>
                    </a:solidFill>
                    <a:effectLst/>
                    <a:uLnTx/>
                    <a:uFillTx/>
                    <a:latin typeface="Gill Sans MT"/>
                    <a:ea typeface="+mn-ea"/>
                    <a:cs typeface="+mn-cs"/>
                  </a:rPr>
                  <a:t>).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Gill Sans MT"/>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Gill Sans MT"/>
                    <a:ea typeface="+mn-ea"/>
                    <a:cs typeface="+mn-cs"/>
                  </a:rPr>
                  <a:t>When subtracting two unsigned numbers, borrow occurs if </a:t>
                </a:r>
                <a:r>
                  <a:rPr kumimoji="0" lang="en-US" sz="2400" b="0" i="0" u="none" strike="noStrike" kern="1200" cap="none" spc="0" normalizeH="0" baseline="0" noProof="0" dirty="0">
                    <a:ln>
                      <a:noFill/>
                    </a:ln>
                    <a:solidFill>
                      <a:srgbClr val="C00000"/>
                    </a:solidFill>
                    <a:effectLst/>
                    <a:uLnTx/>
                    <a:uFillTx/>
                    <a:latin typeface="Gill Sans MT"/>
                    <a:ea typeface="+mn-ea"/>
                    <a:cs typeface="+mn-cs"/>
                  </a:rPr>
                  <a:t>the result is negative</a:t>
                </a:r>
                <a:r>
                  <a:rPr kumimoji="0" lang="en-US" sz="2400" b="0" i="0" u="none" strike="noStrike" kern="1200" cap="none" spc="0" normalizeH="0" baseline="0" noProof="0" dirty="0">
                    <a:ln>
                      <a:noFill/>
                    </a:ln>
                    <a:solidFill>
                      <a:prstClr val="black"/>
                    </a:solidFill>
                    <a:effectLst/>
                    <a:uLnTx/>
                    <a:uFillTx/>
                    <a:latin typeface="Gill Sans MT"/>
                    <a:ea typeface="+mn-ea"/>
                    <a:cs typeface="+mn-cs"/>
                  </a:rPr>
                  <a:t>, smaller than the smallest unsigned integer that can be represented (</a:t>
                </a:r>
                <a:r>
                  <a:rPr kumimoji="0" lang="en-US" sz="2400" b="0" i="1" u="none" strike="noStrike" kern="1200" cap="none" spc="0" normalizeH="0" baseline="0" noProof="0" dirty="0">
                    <a:ln>
                      <a:noFill/>
                    </a:ln>
                    <a:solidFill>
                      <a:prstClr val="black"/>
                    </a:solidFill>
                    <a:effectLst/>
                    <a:uLnTx/>
                    <a:uFillTx/>
                    <a:latin typeface="Gill Sans MT"/>
                    <a:ea typeface="+mn-ea"/>
                    <a:cs typeface="+mn-cs"/>
                  </a:rPr>
                  <a:t>i.e.</a:t>
                </a:r>
                <a:r>
                  <a:rPr kumimoji="0" lang="en-US" sz="2400" b="0" i="0" u="none" strike="noStrike" kern="1200" cap="none" spc="0" normalizeH="0" baseline="0" noProof="0" dirty="0">
                    <a:ln>
                      <a:noFill/>
                    </a:ln>
                    <a:solidFill>
                      <a:prstClr val="black"/>
                    </a:solidFill>
                    <a:effectLst/>
                    <a:uLnTx/>
                    <a:uFillTx/>
                    <a:latin typeface="Gill Sans MT"/>
                    <a:ea typeface="+mn-ea"/>
                    <a:cs typeface="+mn-cs"/>
                  </a:rPr>
                  <a:t> 0).</a:t>
                </a:r>
              </a:p>
              <a:p>
                <a:pPr marL="342900" lvl="0" indent="-342900" eaLnBrk="1" fontAlgn="auto" hangingPunct="1">
                  <a:spcBef>
                    <a:spcPts val="0"/>
                  </a:spcBef>
                  <a:spcAft>
                    <a:spcPts val="0"/>
                  </a:spcAft>
                  <a:buFont typeface="Arial" panose="020B0604020202020204" pitchFamily="34" charset="0"/>
                  <a:buChar char="•"/>
                </a:pPr>
                <a:endParaRPr lang="en-US" sz="2400" b="0" dirty="0">
                  <a:solidFill>
                    <a:prstClr val="black"/>
                  </a:solidFill>
                  <a:latin typeface="Gill Sans MT"/>
                </a:endParaRPr>
              </a:p>
              <a:p>
                <a:pPr marL="342900" lvl="0" indent="-342900" eaLnBrk="1" fontAlgn="auto" hangingPunct="1">
                  <a:spcBef>
                    <a:spcPts val="0"/>
                  </a:spcBef>
                  <a:spcAft>
                    <a:spcPts val="0"/>
                  </a:spcAft>
                  <a:buFont typeface="Arial" panose="020B0604020202020204" pitchFamily="34" charset="0"/>
                  <a:buChar char="•"/>
                </a:pPr>
                <a:r>
                  <a:rPr lang="en-US" sz="2400" b="0" dirty="0">
                    <a:solidFill>
                      <a:prstClr val="black"/>
                    </a:solidFill>
                    <a:latin typeface="Gill Sans MT"/>
                  </a:rPr>
                  <a:t>On ARM Cortex-M3 processors, the carry flag and the borrow flag are physically the same flag bit in the CPSR (Current Program Status Register). </a:t>
                </a:r>
              </a:p>
              <a:p>
                <a:pPr marL="800100" lvl="1" indent="-342900" eaLnBrk="1" fontAlgn="auto" hangingPunct="1">
                  <a:spcBef>
                    <a:spcPts val="0"/>
                  </a:spcBef>
                  <a:spcAft>
                    <a:spcPts val="0"/>
                  </a:spcAft>
                  <a:buFont typeface="Arial" panose="020B0604020202020204" pitchFamily="34" charset="0"/>
                  <a:buChar char="•"/>
                </a:pPr>
                <a:r>
                  <a:rPr lang="en-US" sz="2400" b="0" dirty="0">
                    <a:solidFill>
                      <a:srgbClr val="FF0000"/>
                    </a:solidFill>
                    <a:latin typeface="Gill Sans MT"/>
                  </a:rPr>
                  <a:t>Carry = NOT Borrow</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Gill Sans MT"/>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Gill Sans MT"/>
                  <a:ea typeface="+mn-ea"/>
                  <a:cs typeface="+mn-cs"/>
                </a:endParaRPr>
              </a:p>
            </p:txBody>
          </p:sp>
        </mc:Choice>
        <mc:Fallback xmlns="">
          <p:sp>
            <p:nvSpPr>
              <p:cNvPr id="7" name="Rectangle 6"/>
              <p:cNvSpPr>
                <a:spLocks noRot="1" noChangeAspect="1" noMove="1" noResize="1" noEditPoints="1" noAdjustHandles="1" noChangeArrowheads="1" noChangeShapeType="1" noTextEdit="1"/>
              </p:cNvSpPr>
              <p:nvPr/>
            </p:nvSpPr>
            <p:spPr>
              <a:xfrm>
                <a:off x="609600" y="1371600"/>
                <a:ext cx="7924800" cy="5262979"/>
              </a:xfrm>
              <a:prstGeom prst="rect">
                <a:avLst/>
              </a:prstGeom>
              <a:blipFill>
                <a:blip r:embed="rId3"/>
                <a:stretch>
                  <a:fillRect l="-1000" t="-927" r="-769"/>
                </a:stretch>
              </a:blipFill>
            </p:spPr>
            <p:txBody>
              <a:bodyPr/>
              <a:lstStyle/>
              <a:p>
                <a:r>
                  <a:rPr lang="en-US">
                    <a:noFill/>
                  </a:rPr>
                  <a:t> </a:t>
                </a:r>
              </a:p>
            </p:txBody>
          </p:sp>
        </mc:Fallback>
      </mc:AlternateContent>
    </p:spTree>
    <p:extLst>
      <p:ext uri="{BB962C8B-B14F-4D97-AF65-F5344CB8AC3E}">
        <p14:creationId xmlns:p14="http://schemas.microsoft.com/office/powerpoint/2010/main" val="4629042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a:t>Carry/borrow flag bit for unsigned arithmetic</a:t>
            </a:r>
          </a:p>
        </p:txBody>
      </p:sp>
      <p:sp>
        <p:nvSpPr>
          <p:cNvPr id="2" name="Slide Number Placeholder 1"/>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400" b="0" i="0" u="none" strike="noStrike" kern="1200" cap="none" spc="0" normalizeH="0" baseline="0" noProof="0">
              <a:ln>
                <a:noFill/>
              </a:ln>
              <a:solidFill>
                <a:srgbClr val="1F497D"/>
              </a:solidFill>
              <a:effectLst/>
              <a:uLnTx/>
              <a:uFillTx/>
              <a:latin typeface="Gill Sans MT"/>
              <a:ea typeface="+mn-ea"/>
              <a:cs typeface="+mn-cs"/>
            </a:endParaRPr>
          </a:p>
        </p:txBody>
      </p:sp>
      <p:pic>
        <p:nvPicPr>
          <p:cNvPr id="37890"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400" y="1986417"/>
            <a:ext cx="4210404" cy="3880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304800" y="5867400"/>
            <a:ext cx="5242012" cy="369332"/>
          </a:xfrm>
          <a:prstGeom prst="rect">
            <a:avLst/>
          </a:prstGeom>
        </p:spPr>
        <p:txBody>
          <a:bodyPr wrap="none">
            <a:spAutoFit/>
          </a:bodyPr>
          <a:lstStyle/>
          <a:p>
            <a:pPr lvl="0" eaLnBrk="1" fontAlgn="auto" hangingPunct="1">
              <a:spcBef>
                <a:spcPts val="0"/>
              </a:spcBef>
              <a:spcAft>
                <a:spcPts val="0"/>
              </a:spcAft>
            </a:pPr>
            <a:r>
              <a:rPr lang="en-US" sz="1800" b="0" dirty="0">
                <a:solidFill>
                  <a:prstClr val="black"/>
                </a:solidFill>
                <a:latin typeface="Gill Sans MT"/>
              </a:rPr>
              <a:t>For 5-bit </a:t>
            </a:r>
            <a:r>
              <a:rPr lang="en-US" altLang="zh-CN" sz="1800" b="0" dirty="0">
                <a:solidFill>
                  <a:prstClr val="black"/>
                </a:solidFill>
                <a:latin typeface="Gill Sans MT"/>
              </a:rPr>
              <a:t>system</a:t>
            </a:r>
            <a:r>
              <a:rPr lang="en-US" sz="1800" b="0" dirty="0">
                <a:solidFill>
                  <a:prstClr val="black"/>
                </a:solidFill>
                <a:latin typeface="Gill Sans MT"/>
              </a:rPr>
              <a:t>, </a:t>
            </a:r>
            <a:r>
              <a:rPr kumimoji="0" lang="en-US" sz="1800" b="0" i="0" u="none" strike="noStrike" kern="1200" cap="none" spc="0" normalizeH="0" baseline="0" noProof="0" dirty="0">
                <a:ln>
                  <a:noFill/>
                </a:ln>
                <a:solidFill>
                  <a:prstClr val="black"/>
                </a:solidFill>
                <a:effectLst/>
                <a:uLnTx/>
                <a:uFillTx/>
                <a:latin typeface="Gill Sans MT"/>
                <a:ea typeface="+mn-ea"/>
                <a:cs typeface="+mn-cs"/>
              </a:rPr>
              <a:t>a carry occurs when adding 28 and 6</a:t>
            </a:r>
          </a:p>
        </p:txBody>
      </p:sp>
      <mc:AlternateContent xmlns:mc="http://schemas.openxmlformats.org/markup-compatibility/2006" xmlns:a14="http://schemas.microsoft.com/office/drawing/2010/main">
        <mc:Choice Requires="a14">
          <p:sp>
            <p:nvSpPr>
              <p:cNvPr id="8" name="Rectangle 7"/>
              <p:cNvSpPr/>
              <p:nvPr/>
            </p:nvSpPr>
            <p:spPr>
              <a:xfrm>
                <a:off x="457200" y="1219200"/>
                <a:ext cx="8499334"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a:ln>
                      <a:noFill/>
                    </a:ln>
                    <a:solidFill>
                      <a:srgbClr val="C00000"/>
                    </a:solidFill>
                    <a:effectLst/>
                    <a:uLnTx/>
                    <a:uFillTx/>
                    <a:latin typeface="Gill Sans MT"/>
                    <a:ea typeface="+mn-ea"/>
                    <a:cs typeface="+mn-cs"/>
                  </a:rPr>
                  <a:t>If </a:t>
                </a:r>
                <a:r>
                  <a:rPr kumimoji="0" lang="en-US" altLang="zh-CN" sz="1800" b="1" i="1" u="none" strike="noStrike" kern="1200" cap="none" spc="0" normalizeH="0" baseline="0" noProof="0" dirty="0">
                    <a:ln>
                      <a:noFill/>
                    </a:ln>
                    <a:solidFill>
                      <a:srgbClr val="C00000"/>
                    </a:solidFill>
                    <a:effectLst/>
                    <a:uLnTx/>
                    <a:uFillTx/>
                    <a:latin typeface="Gill Sans MT"/>
                    <a:ea typeface="+mn-ea"/>
                    <a:cs typeface="+mn-cs"/>
                  </a:rPr>
                  <a:t>result of addition </a:t>
                </a:r>
                <a:r>
                  <a:rPr kumimoji="0" lang="en-US" sz="1800" b="1" i="1" u="none" strike="noStrike" kern="1200" cap="none" spc="0" normalizeH="0" baseline="0" noProof="0" dirty="0">
                    <a:ln>
                      <a:noFill/>
                    </a:ln>
                    <a:solidFill>
                      <a:srgbClr val="C00000"/>
                    </a:solidFill>
                    <a:effectLst/>
                    <a:uLnTx/>
                    <a:uFillTx/>
                    <a:latin typeface="Gill Sans MT"/>
                    <a:ea typeface="+mn-ea"/>
                    <a:cs typeface="+mn-cs"/>
                  </a:rPr>
                  <a:t>crosses the boundary between 0 and  </a:t>
                </a:r>
                <a14:m>
                  <m:oMath xmlns:m="http://schemas.openxmlformats.org/officeDocument/2006/math">
                    <m:sSup>
                      <m:sSupPr>
                        <m:ctrlPr>
                          <a:rPr kumimoji="0" lang="en-US" sz="1800" b="1" i="1" u="none" strike="noStrike" kern="1200" cap="none" spc="0" normalizeH="0" baseline="0" noProof="0">
                            <a:ln>
                              <a:noFill/>
                            </a:ln>
                            <a:solidFill>
                              <a:srgbClr val="C00000"/>
                            </a:solidFill>
                            <a:effectLst/>
                            <a:uLnTx/>
                            <a:uFillTx/>
                            <a:latin typeface="Cambria Math" panose="02040503050406030204" pitchFamily="18" charset="0"/>
                            <a:ea typeface="+mn-ea"/>
                            <a:cs typeface="+mn-cs"/>
                          </a:rPr>
                        </m:ctrlPr>
                      </m:sSupPr>
                      <m:e>
                        <m:r>
                          <a:rPr kumimoji="0" lang="en-US" sz="1800" b="1" i="1" u="none" strike="noStrike" kern="1200" cap="none" spc="0" normalizeH="0" baseline="0" noProof="0">
                            <a:ln>
                              <a:noFill/>
                            </a:ln>
                            <a:solidFill>
                              <a:srgbClr val="C00000"/>
                            </a:solidFill>
                            <a:effectLst/>
                            <a:uLnTx/>
                            <a:uFillTx/>
                            <a:latin typeface="Cambria Math"/>
                            <a:ea typeface="+mn-ea"/>
                            <a:cs typeface="+mn-cs"/>
                          </a:rPr>
                          <m:t>𝟐</m:t>
                        </m:r>
                      </m:e>
                      <m:sup>
                        <m:r>
                          <a:rPr kumimoji="0" lang="en-US" sz="1800" b="1" i="1" u="none" strike="noStrike" kern="1200" cap="none" spc="0" normalizeH="0" baseline="0" noProof="0">
                            <a:ln>
                              <a:noFill/>
                            </a:ln>
                            <a:solidFill>
                              <a:srgbClr val="C00000"/>
                            </a:solidFill>
                            <a:effectLst/>
                            <a:uLnTx/>
                            <a:uFillTx/>
                            <a:latin typeface="Cambria Math"/>
                            <a:ea typeface="+mn-ea"/>
                            <a:cs typeface="+mn-cs"/>
                          </a:rPr>
                          <m:t>𝒏</m:t>
                        </m:r>
                      </m:sup>
                    </m:sSup>
                    <m:r>
                      <a:rPr kumimoji="0" lang="en-US" sz="1800" b="1" i="1" u="none" strike="noStrike" kern="1200" cap="none" spc="0" normalizeH="0" baseline="0" noProof="0">
                        <a:ln>
                          <a:noFill/>
                        </a:ln>
                        <a:solidFill>
                          <a:srgbClr val="C00000"/>
                        </a:solidFill>
                        <a:effectLst/>
                        <a:uLnTx/>
                        <a:uFillTx/>
                        <a:latin typeface="Cambria Math"/>
                        <a:ea typeface="+mn-ea"/>
                        <a:cs typeface="+mn-cs"/>
                      </a:rPr>
                      <m:t>−</m:t>
                    </m:r>
                    <m:r>
                      <a:rPr kumimoji="0" lang="en-US" sz="1800" b="1" i="1" u="none" strike="noStrike" kern="1200" cap="none" spc="0" normalizeH="0" baseline="0" noProof="0">
                        <a:ln>
                          <a:noFill/>
                        </a:ln>
                        <a:solidFill>
                          <a:srgbClr val="C00000"/>
                        </a:solidFill>
                        <a:effectLst/>
                        <a:uLnTx/>
                        <a:uFillTx/>
                        <a:latin typeface="Cambria Math"/>
                        <a:ea typeface="+mn-ea"/>
                        <a:cs typeface="+mn-cs"/>
                      </a:rPr>
                      <m:t>𝟏</m:t>
                    </m:r>
                  </m:oMath>
                </a14:m>
                <a:r>
                  <a:rPr kumimoji="0" lang="en-US" sz="1800" b="1" i="1" u="none" strike="noStrike" kern="1200" cap="none" spc="0" normalizeH="0" baseline="0" noProof="0" dirty="0">
                    <a:ln>
                      <a:noFill/>
                    </a:ln>
                    <a:solidFill>
                      <a:srgbClr val="C00000"/>
                    </a:solidFill>
                    <a:effectLst/>
                    <a:uLnTx/>
                    <a:uFillTx/>
                    <a:latin typeface="Gill Sans MT"/>
                    <a:ea typeface="+mn-ea"/>
                    <a:cs typeface="+mn-cs"/>
                  </a:rPr>
                  <a:t>, the carry flag is set</a:t>
                </a:r>
                <a:r>
                  <a:rPr kumimoji="0" lang="en-US" sz="1800" b="1" i="0" u="none" strike="noStrike" kern="1200" cap="none" spc="0" normalizeH="0" baseline="0" noProof="0" dirty="0">
                    <a:ln>
                      <a:noFill/>
                    </a:ln>
                    <a:solidFill>
                      <a:srgbClr val="C00000"/>
                    </a:solidFill>
                    <a:effectLst/>
                    <a:uLnTx/>
                    <a:uFillTx/>
                    <a:latin typeface="Gill Sans MT"/>
                    <a:ea typeface="+mn-ea"/>
                    <a:cs typeface="+mn-cs"/>
                  </a:rPr>
                  <a:t>. </a:t>
                </a:r>
              </a:p>
            </p:txBody>
          </p:sp>
        </mc:Choice>
        <mc:Fallback xmlns="">
          <p:sp>
            <p:nvSpPr>
              <p:cNvPr id="8" name="Rectangle 7"/>
              <p:cNvSpPr>
                <a:spLocks noRot="1" noChangeAspect="1" noMove="1" noResize="1" noEditPoints="1" noAdjustHandles="1" noChangeArrowheads="1" noChangeShapeType="1" noTextEdit="1"/>
              </p:cNvSpPr>
              <p:nvPr/>
            </p:nvSpPr>
            <p:spPr>
              <a:xfrm>
                <a:off x="457200" y="1219200"/>
                <a:ext cx="8499334" cy="646331"/>
              </a:xfrm>
              <a:prstGeom prst="rect">
                <a:avLst/>
              </a:prstGeom>
              <a:blipFill>
                <a:blip r:embed="rId9"/>
                <a:stretch>
                  <a:fillRect l="-574" t="-4717"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4514014" y="4724400"/>
                <a:ext cx="4581211" cy="372410"/>
              </a:xfrm>
              <a:prstGeom prst="rect">
                <a:avLst/>
              </a:prstGeom>
            </p:spPr>
            <p:txBody>
              <a:bodyPr wrap="square">
                <a:spAutoFit/>
              </a:bodyPr>
              <a:lstStyle/>
              <a:p>
                <a:pPr lvl="0" eaLnBrk="1" fontAlgn="auto" hangingPunct="1">
                  <a:spcBef>
                    <a:spcPts val="0"/>
                  </a:spcBef>
                  <a:spcAft>
                    <a:spcPts val="0"/>
                  </a:spcAf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Carry flag = </a:t>
                </a: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1</a:t>
                </a:r>
                <a:r>
                  <a:rPr kumimoji="0" lang="en-US" sz="1800" b="0" i="0" u="none" strike="noStrike" kern="1200" cap="none" spc="0" normalizeH="0" baseline="0" noProof="0" dirty="0">
                    <a:ln>
                      <a:noFill/>
                    </a:ln>
                    <a:solidFill>
                      <a:prstClr val="black"/>
                    </a:solidFill>
                    <a:effectLst/>
                    <a:uLnTx/>
                    <a:uFillTx/>
                    <a:latin typeface="Gill Sans MT"/>
                    <a:ea typeface="+mn-ea"/>
                    <a:cs typeface="+mn-cs"/>
                  </a:rPr>
                  <a:t>, </a:t>
                </a:r>
                <a:r>
                  <a:rPr lang="en-US" sz="1800" b="0" dirty="0">
                    <a:solidFill>
                      <a:prstClr val="black"/>
                    </a:solidFill>
                    <a:latin typeface="Gill Sans MT"/>
                  </a:rPr>
                  <a:t>since true result </a:t>
                </a:r>
                <a14:m>
                  <m:oMath xmlns:m="http://schemas.openxmlformats.org/officeDocument/2006/math">
                    <m:r>
                      <a:rPr lang="en-US" sz="1800" b="0">
                        <a:solidFill>
                          <a:prstClr val="black"/>
                        </a:solidFill>
                        <a:latin typeface="Cambria Math" panose="02040503050406030204" pitchFamily="18" charset="0"/>
                      </a:rPr>
                      <m:t>34&gt; </m:t>
                    </m:r>
                    <m:sSup>
                      <m:sSupPr>
                        <m:ctrlPr>
                          <a:rPr lang="en-US" sz="1800" b="0" i="1">
                            <a:solidFill>
                              <a:prstClr val="black"/>
                            </a:solidFill>
                            <a:latin typeface="Cambria Math" panose="02040503050406030204" pitchFamily="18" charset="0"/>
                          </a:rPr>
                        </m:ctrlPr>
                      </m:sSupPr>
                      <m:e>
                        <m:r>
                          <a:rPr lang="en-US" sz="1800" b="0" i="1">
                            <a:solidFill>
                              <a:prstClr val="black"/>
                            </a:solidFill>
                            <a:latin typeface="Cambria Math"/>
                          </a:rPr>
                          <m:t>2</m:t>
                        </m:r>
                      </m:e>
                      <m:sup>
                        <m:r>
                          <a:rPr lang="en-US" sz="1800" b="0" i="1">
                            <a:solidFill>
                              <a:prstClr val="black"/>
                            </a:solidFill>
                            <a:latin typeface="Cambria Math" panose="02040503050406030204" pitchFamily="18" charset="0"/>
                          </a:rPr>
                          <m:t>5</m:t>
                        </m:r>
                      </m:sup>
                    </m:sSup>
                    <m:r>
                      <a:rPr lang="en-US" sz="1800" b="0" i="1">
                        <a:solidFill>
                          <a:prstClr val="black"/>
                        </a:solidFill>
                        <a:latin typeface="Cambria Math" panose="02040503050406030204" pitchFamily="18" charset="0"/>
                      </a:rPr>
                      <m:t>−1</m:t>
                    </m:r>
                  </m:oMath>
                </a14:m>
                <a:r>
                  <a:rPr kumimoji="0" lang="en-US" sz="1800" b="0" i="0" u="none" strike="noStrike" kern="1200" cap="none" spc="0" normalizeH="0" baseline="0" noProof="0" dirty="0">
                    <a:ln>
                      <a:noFill/>
                    </a:ln>
                    <a:solidFill>
                      <a:prstClr val="black"/>
                    </a:solidFill>
                    <a:effectLst/>
                    <a:uLnTx/>
                    <a:uFillTx/>
                    <a:latin typeface="Gill Sans MT"/>
                    <a:ea typeface="+mn-ea"/>
                    <a:cs typeface="+mn-cs"/>
                  </a:rPr>
                  <a:t>. </a:t>
                </a:r>
              </a:p>
            </p:txBody>
          </p:sp>
        </mc:Choice>
        <mc:Fallback xmlns="">
          <p:sp>
            <p:nvSpPr>
              <p:cNvPr id="9" name="Rectangle 8"/>
              <p:cNvSpPr>
                <a:spLocks noRot="1" noChangeAspect="1" noMove="1" noResize="1" noEditPoints="1" noAdjustHandles="1" noChangeArrowheads="1" noChangeShapeType="1" noTextEdit="1"/>
              </p:cNvSpPr>
              <p:nvPr/>
            </p:nvSpPr>
            <p:spPr>
              <a:xfrm>
                <a:off x="4514014" y="4724400"/>
                <a:ext cx="4581211" cy="372410"/>
              </a:xfrm>
              <a:prstGeom prst="rect">
                <a:avLst/>
              </a:prstGeom>
              <a:blipFill>
                <a:blip r:embed="rId10"/>
                <a:stretch>
                  <a:fillRect l="-1064" t="-8197" b="-26230"/>
                </a:stretch>
              </a:blipFill>
            </p:spPr>
            <p:txBody>
              <a:bodyPr/>
              <a:lstStyle/>
              <a:p>
                <a:r>
                  <a:rPr lang="en-US">
                    <a:noFill/>
                  </a:rPr>
                  <a:t> </a:t>
                </a:r>
              </a:p>
            </p:txBody>
          </p:sp>
        </mc:Fallback>
      </mc:AlternateContent>
      <p:pic>
        <p:nvPicPr>
          <p:cNvPr id="4" name="Picture 3"/>
          <p:cNvPicPr>
            <a:picLocks noChangeAspect="1"/>
          </p:cNvPicPr>
          <p:nvPr/>
        </p:nvPicPr>
        <p:blipFill>
          <a:blip r:embed="rId11"/>
          <a:stretch>
            <a:fillRect/>
          </a:stretch>
        </p:blipFill>
        <p:spPr>
          <a:xfrm>
            <a:off x="4953000" y="2133600"/>
            <a:ext cx="3851134" cy="2316133"/>
          </a:xfrm>
          <a:prstGeom prst="rect">
            <a:avLst/>
          </a:prstGeom>
        </p:spPr>
      </p:pic>
      <p:grpSp>
        <p:nvGrpSpPr>
          <p:cNvPr id="10" name="SMARTInkShape-Group1">
            <a:extLst>
              <a:ext uri="{FF2B5EF4-FFF2-40B4-BE49-F238E27FC236}">
                <a16:creationId xmlns:a16="http://schemas.microsoft.com/office/drawing/2014/main" id="{C53BD143-50C6-43B5-AD3F-36E7A11D99C9}"/>
              </a:ext>
            </a:extLst>
          </p:cNvPr>
          <p:cNvGrpSpPr/>
          <p:nvPr/>
        </p:nvGrpSpPr>
        <p:grpSpPr>
          <a:xfrm>
            <a:off x="1492250" y="3257550"/>
            <a:ext cx="25401" cy="31751"/>
            <a:chOff x="1492250" y="3257550"/>
            <a:chExt cx="25401" cy="31751"/>
          </a:xfrm>
        </p:grpSpPr>
        <p:sp>
          <p:nvSpPr>
            <p:cNvPr id="6" name="SMARTInkShape-1">
              <a:extLst>
                <a:ext uri="{FF2B5EF4-FFF2-40B4-BE49-F238E27FC236}">
                  <a16:creationId xmlns:a16="http://schemas.microsoft.com/office/drawing/2014/main" id="{57E6EC6C-3F68-4C73-8726-362FC15CFF17}"/>
                </a:ext>
              </a:extLst>
            </p:cNvPr>
            <p:cNvSpPr/>
            <p:nvPr>
              <p:custDataLst>
                <p:tags r:id="rId3"/>
              </p:custDataLst>
            </p:nvPr>
          </p:nvSpPr>
          <p:spPr>
            <a:xfrm>
              <a:off x="1492250" y="3257550"/>
              <a:ext cx="12701" cy="6351"/>
            </a:xfrm>
            <a:custGeom>
              <a:avLst/>
              <a:gdLst/>
              <a:ahLst/>
              <a:cxnLst/>
              <a:rect l="0" t="0" r="0" b="0"/>
              <a:pathLst>
                <a:path w="12701" h="6351">
                  <a:moveTo>
                    <a:pt x="12700" y="0"/>
                  </a:moveTo>
                  <a:lnTo>
                    <a:pt x="12700" y="0"/>
                  </a:lnTo>
                  <a:lnTo>
                    <a:pt x="0" y="6350"/>
                  </a:lnTo>
                </a:path>
              </a:pathLst>
            </a:cu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SMARTInkShape-2">
              <a:extLst>
                <a:ext uri="{FF2B5EF4-FFF2-40B4-BE49-F238E27FC236}">
                  <a16:creationId xmlns:a16="http://schemas.microsoft.com/office/drawing/2014/main" id="{A5459A94-B233-4532-BA9F-55BB264F7539}"/>
                </a:ext>
              </a:extLst>
            </p:cNvPr>
            <p:cNvSpPr/>
            <p:nvPr>
              <p:custDataLst>
                <p:tags r:id="rId4"/>
              </p:custDataLst>
            </p:nvPr>
          </p:nvSpPr>
          <p:spPr>
            <a:xfrm>
              <a:off x="1498600" y="3276600"/>
              <a:ext cx="19051" cy="12701"/>
            </a:xfrm>
            <a:custGeom>
              <a:avLst/>
              <a:gdLst/>
              <a:ahLst/>
              <a:cxnLst/>
              <a:rect l="0" t="0" r="0" b="0"/>
              <a:pathLst>
                <a:path w="19051" h="12701">
                  <a:moveTo>
                    <a:pt x="19050" y="0"/>
                  </a:moveTo>
                  <a:lnTo>
                    <a:pt x="19050" y="0"/>
                  </a:lnTo>
                  <a:lnTo>
                    <a:pt x="8219" y="10125"/>
                  </a:lnTo>
                  <a:lnTo>
                    <a:pt x="0" y="12700"/>
                  </a:lnTo>
                </a:path>
              </a:pathLst>
            </a:cu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11" name="SMARTInkShape-3">
            <a:extLst>
              <a:ext uri="{FF2B5EF4-FFF2-40B4-BE49-F238E27FC236}">
                <a16:creationId xmlns:a16="http://schemas.microsoft.com/office/drawing/2014/main" id="{2B858861-431D-4B3E-9E8F-8E47B6652673}"/>
              </a:ext>
            </a:extLst>
          </p:cNvPr>
          <p:cNvSpPr/>
          <p:nvPr>
            <p:custDataLst>
              <p:tags r:id="rId1"/>
            </p:custDataLst>
          </p:nvPr>
        </p:nvSpPr>
        <p:spPr>
          <a:xfrm>
            <a:off x="1428750" y="2863850"/>
            <a:ext cx="31751" cy="19051"/>
          </a:xfrm>
          <a:custGeom>
            <a:avLst/>
            <a:gdLst/>
            <a:ahLst/>
            <a:cxnLst/>
            <a:rect l="0" t="0" r="0" b="0"/>
            <a:pathLst>
              <a:path w="31751" h="19051">
                <a:moveTo>
                  <a:pt x="0" y="19050"/>
                </a:moveTo>
                <a:lnTo>
                  <a:pt x="0" y="19050"/>
                </a:lnTo>
                <a:lnTo>
                  <a:pt x="3371" y="19050"/>
                </a:lnTo>
                <a:lnTo>
                  <a:pt x="6907" y="15287"/>
                </a:lnTo>
                <a:lnTo>
                  <a:pt x="8838" y="12308"/>
                </a:lnTo>
                <a:lnTo>
                  <a:pt x="31750" y="0"/>
                </a:lnTo>
              </a:path>
            </a:pathLst>
          </a:cu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SMARTInkShape-4">
            <a:extLst>
              <a:ext uri="{FF2B5EF4-FFF2-40B4-BE49-F238E27FC236}">
                <a16:creationId xmlns:a16="http://schemas.microsoft.com/office/drawing/2014/main" id="{640ACE10-051B-4B2F-986F-261EEA356DCF}"/>
              </a:ext>
            </a:extLst>
          </p:cNvPr>
          <p:cNvSpPr/>
          <p:nvPr>
            <p:custDataLst>
              <p:tags r:id="rId2"/>
            </p:custDataLst>
          </p:nvPr>
        </p:nvSpPr>
        <p:spPr>
          <a:xfrm>
            <a:off x="1752600" y="2717800"/>
            <a:ext cx="6351" cy="6351"/>
          </a:xfrm>
          <a:custGeom>
            <a:avLst/>
            <a:gdLst/>
            <a:ahLst/>
            <a:cxnLst/>
            <a:rect l="0" t="0" r="0" b="0"/>
            <a:pathLst>
              <a:path w="6351" h="6351">
                <a:moveTo>
                  <a:pt x="6350" y="0"/>
                </a:moveTo>
                <a:lnTo>
                  <a:pt x="6350" y="0"/>
                </a:lnTo>
                <a:lnTo>
                  <a:pt x="0" y="6350"/>
                </a:lnTo>
              </a:path>
            </a:pathLst>
          </a:cu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965223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a:t>Carry/borrow flag bit for unsigned arithmetic</a:t>
            </a:r>
          </a:p>
        </p:txBody>
      </p:sp>
      <p:sp>
        <p:nvSpPr>
          <p:cNvPr id="2" name="Slide Number Placeholder 1"/>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400" b="0" i="0" u="none" strike="noStrike" kern="1200" cap="none" spc="0" normalizeH="0" baseline="0" noProof="0">
              <a:ln>
                <a:noFill/>
              </a:ln>
              <a:solidFill>
                <a:srgbClr val="1F497D"/>
              </a:solidFill>
              <a:effectLst/>
              <a:uLnTx/>
              <a:uFillTx/>
              <a:latin typeface="Gill Sans MT"/>
              <a:ea typeface="+mn-ea"/>
              <a:cs typeface="+mn-cs"/>
            </a:endParaRPr>
          </a:p>
        </p:txBody>
      </p:sp>
      <p:pic>
        <p:nvPicPr>
          <p:cNvPr id="378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762" y="1931457"/>
            <a:ext cx="4114801" cy="3886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439220" y="5834413"/>
            <a:ext cx="6046912" cy="369332"/>
          </a:xfrm>
          <a:prstGeom prst="rect">
            <a:avLst/>
          </a:prstGeom>
        </p:spPr>
        <p:txBody>
          <a:bodyPr wrap="none">
            <a:spAutoFit/>
          </a:bodyPr>
          <a:lstStyle/>
          <a:p>
            <a:pPr lvl="0" eaLnBrk="1" fontAlgn="auto" hangingPunct="1">
              <a:spcBef>
                <a:spcPts val="0"/>
              </a:spcBef>
              <a:spcAft>
                <a:spcPts val="0"/>
              </a:spcAft>
            </a:pPr>
            <a:r>
              <a:rPr lang="en-US" sz="1800" b="0" dirty="0">
                <a:solidFill>
                  <a:prstClr val="black"/>
                </a:solidFill>
                <a:latin typeface="Gill Sans MT"/>
              </a:rPr>
              <a:t>For 5-bit </a:t>
            </a:r>
            <a:r>
              <a:rPr lang="en-US" altLang="zh-CN" sz="1800" b="0" dirty="0">
                <a:solidFill>
                  <a:prstClr val="black"/>
                </a:solidFill>
                <a:latin typeface="Gill Sans MT"/>
              </a:rPr>
              <a:t>system</a:t>
            </a:r>
            <a:r>
              <a:rPr lang="en-US" sz="1800" b="0" dirty="0">
                <a:solidFill>
                  <a:prstClr val="black"/>
                </a:solidFill>
                <a:latin typeface="Gill Sans MT"/>
              </a:rPr>
              <a:t>,  </a:t>
            </a:r>
            <a:r>
              <a:rPr kumimoji="0" lang="en-US" sz="1800" b="0" i="0" u="none" strike="noStrike" kern="1200" cap="none" spc="0" normalizeH="0" baseline="0" noProof="0" dirty="0">
                <a:ln>
                  <a:noFill/>
                </a:ln>
                <a:solidFill>
                  <a:prstClr val="black"/>
                </a:solidFill>
                <a:effectLst/>
                <a:uLnTx/>
                <a:uFillTx/>
                <a:latin typeface="Gill Sans MT"/>
                <a:ea typeface="+mn-ea"/>
                <a:cs typeface="+mn-cs"/>
              </a:rPr>
              <a:t>a borrow occurs when subtracting 5 from 3.</a:t>
            </a:r>
          </a:p>
        </p:txBody>
      </p:sp>
      <mc:AlternateContent xmlns:mc="http://schemas.openxmlformats.org/markup-compatibility/2006" xmlns:a14="http://schemas.microsoft.com/office/drawing/2010/main">
        <mc:Choice Requires="a14">
          <p:sp>
            <p:nvSpPr>
              <p:cNvPr id="8" name="Rectangle 7"/>
              <p:cNvSpPr/>
              <p:nvPr/>
            </p:nvSpPr>
            <p:spPr>
              <a:xfrm>
                <a:off x="457200" y="1295400"/>
                <a:ext cx="8499334" cy="646331"/>
              </a:xfrm>
              <a:prstGeom prst="rect">
                <a:avLst/>
              </a:prstGeom>
            </p:spPr>
            <p:txBody>
              <a:bodyPr wrap="square">
                <a:spAutoFit/>
              </a:bodyPr>
              <a:lstStyle/>
              <a:p>
                <a:pPr lvl="0" eaLnBrk="1" fontAlgn="auto" hangingPunct="1">
                  <a:spcBef>
                    <a:spcPts val="0"/>
                  </a:spcBef>
                  <a:spcAft>
                    <a:spcPts val="0"/>
                  </a:spcAft>
                </a:pPr>
                <a:r>
                  <a:rPr kumimoji="0" lang="en-US" sz="1800" b="1" i="1" u="none" strike="noStrike" kern="1200" cap="none" spc="0" normalizeH="0" baseline="0" noProof="0" dirty="0">
                    <a:ln>
                      <a:noFill/>
                    </a:ln>
                    <a:solidFill>
                      <a:srgbClr val="C00000"/>
                    </a:solidFill>
                    <a:effectLst/>
                    <a:uLnTx/>
                    <a:uFillTx/>
                    <a:latin typeface="Gill Sans MT"/>
                    <a:ea typeface="+mn-ea"/>
                    <a:cs typeface="+mn-cs"/>
                  </a:rPr>
                  <a:t>If </a:t>
                </a:r>
                <a:r>
                  <a:rPr lang="en-US" altLang="zh-CN" sz="1800" i="1" dirty="0">
                    <a:solidFill>
                      <a:srgbClr val="C00000"/>
                    </a:solidFill>
                    <a:latin typeface="Gill Sans MT"/>
                  </a:rPr>
                  <a:t>result of subtraction</a:t>
                </a:r>
                <a:r>
                  <a:rPr kumimoji="0" lang="en-US" sz="1800" b="1" i="1" u="none" strike="noStrike" kern="1200" cap="none" spc="0" normalizeH="0" baseline="0" noProof="0" dirty="0">
                    <a:ln>
                      <a:noFill/>
                    </a:ln>
                    <a:solidFill>
                      <a:srgbClr val="C00000"/>
                    </a:solidFill>
                    <a:effectLst/>
                    <a:uLnTx/>
                    <a:uFillTx/>
                    <a:latin typeface="Gill Sans MT"/>
                    <a:ea typeface="+mn-ea"/>
                    <a:cs typeface="+mn-cs"/>
                  </a:rPr>
                  <a:t> crosses the boundary between 0 and  </a:t>
                </a:r>
                <a14:m>
                  <m:oMath xmlns:m="http://schemas.openxmlformats.org/officeDocument/2006/math">
                    <m:sSup>
                      <m:sSupPr>
                        <m:ctrlPr>
                          <a:rPr kumimoji="0" lang="en-US" sz="1800" b="1" i="1" u="none" strike="noStrike" kern="1200" cap="none" spc="0" normalizeH="0" baseline="0" noProof="0">
                            <a:ln>
                              <a:noFill/>
                            </a:ln>
                            <a:solidFill>
                              <a:srgbClr val="C00000"/>
                            </a:solidFill>
                            <a:effectLst/>
                            <a:uLnTx/>
                            <a:uFillTx/>
                            <a:latin typeface="Cambria Math" panose="02040503050406030204" pitchFamily="18" charset="0"/>
                            <a:ea typeface="+mn-ea"/>
                            <a:cs typeface="+mn-cs"/>
                          </a:rPr>
                        </m:ctrlPr>
                      </m:sSupPr>
                      <m:e>
                        <m:r>
                          <a:rPr kumimoji="0" lang="en-US" sz="1800" b="1" i="1" u="none" strike="noStrike" kern="1200" cap="none" spc="0" normalizeH="0" baseline="0" noProof="0">
                            <a:ln>
                              <a:noFill/>
                            </a:ln>
                            <a:solidFill>
                              <a:srgbClr val="C00000"/>
                            </a:solidFill>
                            <a:effectLst/>
                            <a:uLnTx/>
                            <a:uFillTx/>
                            <a:latin typeface="Cambria Math"/>
                            <a:ea typeface="+mn-ea"/>
                            <a:cs typeface="+mn-cs"/>
                          </a:rPr>
                          <m:t>𝟐</m:t>
                        </m:r>
                      </m:e>
                      <m:sup>
                        <m:r>
                          <a:rPr kumimoji="0" lang="en-US" sz="1800" b="1" i="1" u="none" strike="noStrike" kern="1200" cap="none" spc="0" normalizeH="0" baseline="0" noProof="0">
                            <a:ln>
                              <a:noFill/>
                            </a:ln>
                            <a:solidFill>
                              <a:srgbClr val="C00000"/>
                            </a:solidFill>
                            <a:effectLst/>
                            <a:uLnTx/>
                            <a:uFillTx/>
                            <a:latin typeface="Cambria Math"/>
                            <a:ea typeface="+mn-ea"/>
                            <a:cs typeface="+mn-cs"/>
                          </a:rPr>
                          <m:t>𝒏</m:t>
                        </m:r>
                      </m:sup>
                    </m:sSup>
                    <m:r>
                      <a:rPr kumimoji="0" lang="en-US" sz="1800" b="1" i="1" u="none" strike="noStrike" kern="1200" cap="none" spc="0" normalizeH="0" baseline="0" noProof="0">
                        <a:ln>
                          <a:noFill/>
                        </a:ln>
                        <a:solidFill>
                          <a:srgbClr val="C00000"/>
                        </a:solidFill>
                        <a:effectLst/>
                        <a:uLnTx/>
                        <a:uFillTx/>
                        <a:latin typeface="Cambria Math"/>
                        <a:ea typeface="+mn-ea"/>
                        <a:cs typeface="+mn-cs"/>
                      </a:rPr>
                      <m:t>−</m:t>
                    </m:r>
                    <m:r>
                      <a:rPr kumimoji="0" lang="en-US" sz="1800" b="1" i="1" u="none" strike="noStrike" kern="1200" cap="none" spc="0" normalizeH="0" baseline="0" noProof="0">
                        <a:ln>
                          <a:noFill/>
                        </a:ln>
                        <a:solidFill>
                          <a:srgbClr val="C00000"/>
                        </a:solidFill>
                        <a:effectLst/>
                        <a:uLnTx/>
                        <a:uFillTx/>
                        <a:latin typeface="Cambria Math"/>
                        <a:ea typeface="+mn-ea"/>
                        <a:cs typeface="+mn-cs"/>
                      </a:rPr>
                      <m:t>𝟏</m:t>
                    </m:r>
                  </m:oMath>
                </a14:m>
                <a:r>
                  <a:rPr kumimoji="0" lang="en-US" sz="1800" b="1" i="1" u="none" strike="noStrike" kern="1200" cap="none" spc="0" normalizeH="0" baseline="0" noProof="0" dirty="0">
                    <a:ln>
                      <a:noFill/>
                    </a:ln>
                    <a:solidFill>
                      <a:srgbClr val="C00000"/>
                    </a:solidFill>
                    <a:effectLst/>
                    <a:uLnTx/>
                    <a:uFillTx/>
                    <a:latin typeface="Gill Sans MT"/>
                    <a:ea typeface="+mn-ea"/>
                    <a:cs typeface="+mn-cs"/>
                  </a:rPr>
                  <a:t>, the borrow flag is set</a:t>
                </a:r>
                <a:r>
                  <a:rPr kumimoji="0" lang="en-US" sz="1800" b="1" i="0" u="none" strike="noStrike" kern="1200" cap="none" spc="0" normalizeH="0" baseline="0" noProof="0" dirty="0">
                    <a:ln>
                      <a:noFill/>
                    </a:ln>
                    <a:solidFill>
                      <a:srgbClr val="C00000"/>
                    </a:solidFill>
                    <a:effectLst/>
                    <a:uLnTx/>
                    <a:uFillTx/>
                    <a:latin typeface="Gill Sans MT"/>
                    <a:ea typeface="+mn-ea"/>
                    <a:cs typeface="+mn-cs"/>
                  </a:rPr>
                  <a:t>. </a:t>
                </a:r>
              </a:p>
            </p:txBody>
          </p:sp>
        </mc:Choice>
        <mc:Fallback xmlns="">
          <p:sp>
            <p:nvSpPr>
              <p:cNvPr id="8" name="Rectangle 7"/>
              <p:cNvSpPr>
                <a:spLocks noRot="1" noChangeAspect="1" noMove="1" noResize="1" noEditPoints="1" noAdjustHandles="1" noChangeArrowheads="1" noChangeShapeType="1" noTextEdit="1"/>
              </p:cNvSpPr>
              <p:nvPr/>
            </p:nvSpPr>
            <p:spPr>
              <a:xfrm>
                <a:off x="457200" y="1295400"/>
                <a:ext cx="8499334" cy="646331"/>
              </a:xfrm>
              <a:prstGeom prst="rect">
                <a:avLst/>
              </a:prstGeom>
              <a:blipFill>
                <a:blip r:embed="rId8"/>
                <a:stretch>
                  <a:fillRect l="-574" t="-5660" b="-132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4718854" y="4648200"/>
                <a:ext cx="4147412" cy="646331"/>
              </a:xfrm>
              <a:prstGeom prst="rect">
                <a:avLst/>
              </a:prstGeom>
            </p:spPr>
            <p:txBody>
              <a:bodyPr wrap="square">
                <a:spAutoFit/>
              </a:bodyPr>
              <a:lstStyle/>
              <a:p>
                <a:pPr lvl="0" eaLnBrk="1" fontAlgn="auto" hangingPunct="1">
                  <a:spcBef>
                    <a:spcPts val="0"/>
                  </a:spcBef>
                  <a:spcAft>
                    <a:spcPts val="0"/>
                  </a:spcAft>
                  <a:defRPr/>
                </a:pPr>
                <a:r>
                  <a:rPr lang="en-US" sz="1800" b="0" dirty="0">
                    <a:solidFill>
                      <a:prstClr val="black"/>
                    </a:solidFill>
                    <a:latin typeface="Gill Sans MT"/>
                  </a:rPr>
                  <a:t>Carry flag = 0 (Borrow flag = 1), since true result </a:t>
                </a:r>
                <a14:m>
                  <m:oMath xmlns:m="http://schemas.openxmlformats.org/officeDocument/2006/math">
                    <m:r>
                      <a:rPr lang="en-US" altLang="zh-CN" sz="1800" b="0" i="1" dirty="0">
                        <a:solidFill>
                          <a:prstClr val="black"/>
                        </a:solidFill>
                        <a:latin typeface="Cambria Math" panose="02040503050406030204" pitchFamily="18" charset="0"/>
                      </a:rPr>
                      <m:t>−</m:t>
                    </m:r>
                    <m:r>
                      <a:rPr lang="en-US" altLang="zh-CN" sz="1800" b="0" i="0" dirty="0" smtClean="0">
                        <a:solidFill>
                          <a:prstClr val="black"/>
                        </a:solidFill>
                        <a:latin typeface="Cambria Math" panose="02040503050406030204" pitchFamily="18" charset="0"/>
                      </a:rPr>
                      <m:t>2</m:t>
                    </m:r>
                    <m:r>
                      <a:rPr lang="en-US" altLang="zh-CN" sz="1800" b="0" i="1" dirty="0" smtClean="0">
                        <a:solidFill>
                          <a:prstClr val="black"/>
                        </a:solidFill>
                        <a:latin typeface="Cambria Math" panose="02040503050406030204" pitchFamily="18" charset="0"/>
                      </a:rPr>
                      <m:t>&lt;</m:t>
                    </m:r>
                    <m:r>
                      <a:rPr lang="en-US" sz="1800" b="0" i="1" smtClean="0">
                        <a:solidFill>
                          <a:prstClr val="black"/>
                        </a:solidFill>
                        <a:latin typeface="Cambria Math" panose="02040503050406030204" pitchFamily="18" charset="0"/>
                      </a:rPr>
                      <m:t>0</m:t>
                    </m:r>
                  </m:oMath>
                </a14:m>
                <a:r>
                  <a:rPr lang="en-US" sz="1800" b="0" dirty="0">
                    <a:solidFill>
                      <a:prstClr val="black"/>
                    </a:solidFill>
                    <a:latin typeface="Gill Sans MT"/>
                  </a:rPr>
                  <a:t>. </a:t>
                </a:r>
              </a:p>
            </p:txBody>
          </p:sp>
        </mc:Choice>
        <mc:Fallback xmlns="">
          <p:sp>
            <p:nvSpPr>
              <p:cNvPr id="4" name="Rectangle 3"/>
              <p:cNvSpPr>
                <a:spLocks noRot="1" noChangeAspect="1" noMove="1" noResize="1" noEditPoints="1" noAdjustHandles="1" noChangeArrowheads="1" noChangeShapeType="1" noTextEdit="1"/>
              </p:cNvSpPr>
              <p:nvPr/>
            </p:nvSpPr>
            <p:spPr>
              <a:xfrm>
                <a:off x="4718854" y="4648200"/>
                <a:ext cx="4147412" cy="646331"/>
              </a:xfrm>
              <a:prstGeom prst="rect">
                <a:avLst/>
              </a:prstGeom>
              <a:blipFill>
                <a:blip r:embed="rId9"/>
                <a:stretch>
                  <a:fillRect l="-1176" t="-5660" r="-2794" b="-13208"/>
                </a:stretch>
              </a:blipFill>
            </p:spPr>
            <p:txBody>
              <a:bodyPr/>
              <a:lstStyle/>
              <a:p>
                <a:r>
                  <a:rPr lang="en-US">
                    <a:noFill/>
                  </a:rPr>
                  <a:t> </a:t>
                </a:r>
              </a:p>
            </p:txBody>
          </p:sp>
        </mc:Fallback>
      </mc:AlternateContent>
      <p:pic>
        <p:nvPicPr>
          <p:cNvPr id="5" name="Picture 4"/>
          <p:cNvPicPr>
            <a:picLocks noChangeAspect="1"/>
          </p:cNvPicPr>
          <p:nvPr/>
        </p:nvPicPr>
        <p:blipFill>
          <a:blip r:embed="rId10"/>
          <a:stretch>
            <a:fillRect/>
          </a:stretch>
        </p:blipFill>
        <p:spPr>
          <a:xfrm>
            <a:off x="5001656" y="2240636"/>
            <a:ext cx="3864610" cy="2144681"/>
          </a:xfrm>
          <a:prstGeom prst="rect">
            <a:avLst/>
          </a:prstGeom>
        </p:spPr>
      </p:pic>
    </p:spTree>
    <p:extLst>
      <p:ext uri="{BB962C8B-B14F-4D97-AF65-F5344CB8AC3E}">
        <p14:creationId xmlns:p14="http://schemas.microsoft.com/office/powerpoint/2010/main" val="26285565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0CDAA7F-72E9-4BAF-9D1D-807702175D95}" type="slidenum">
              <a:rPr kumimoji="0" lang="en-US" sz="1400" b="0" i="0" u="none" strike="noStrike" kern="1200" cap="none" spc="0" normalizeH="0" baseline="0" noProof="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400" b="0" i="0" u="none" strike="noStrike" kern="1200" cap="none" spc="0" normalizeH="0" baseline="0" noProof="0">
              <a:ln>
                <a:noFill/>
              </a:ln>
              <a:solidFill>
                <a:srgbClr val="1F497D"/>
              </a:solidFill>
              <a:effectLst/>
              <a:uLnTx/>
              <a:uFillTx/>
              <a:latin typeface="Gill Sans MT"/>
              <a:ea typeface="+mn-ea"/>
              <a:cs typeface="+mn-cs"/>
            </a:endParaRPr>
          </a:p>
        </p:txBody>
      </p:sp>
      <mc:AlternateContent xmlns:mc="http://schemas.openxmlformats.org/markup-compatibility/2006" xmlns:a14="http://schemas.microsoft.com/office/drawing/2010/main">
        <mc:Choice Requires="a14">
          <p:sp>
            <p:nvSpPr>
              <p:cNvPr id="185347" name="Rectangle 3"/>
              <p:cNvSpPr>
                <a:spLocks noGrp="1" noChangeArrowheads="1"/>
              </p:cNvSpPr>
              <p:nvPr>
                <p:ph type="body" idx="1"/>
              </p:nvPr>
            </p:nvSpPr>
            <p:spPr>
              <a:xfrm>
                <a:off x="457200" y="1295400"/>
                <a:ext cx="7696200" cy="4572000"/>
              </a:xfrm>
              <a:noFill/>
              <a:extLst>
                <a:ext uri="{909E8E84-426E-40DD-AFC4-6F175D3DCCD1}">
                  <a14:hiddenFill>
                    <a:solidFill>
                      <a:srgbClr val="E4F5FF"/>
                    </a:solidFill>
                  </a14:hiddenFill>
                </a:ext>
              </a:extLst>
            </p:spPr>
            <p:txBody>
              <a:bodyPr/>
              <a:lstStyle/>
              <a:p>
                <a:r>
                  <a:rPr lang="en-US" sz="2600" dirty="0">
                    <a:latin typeface="Arial" charset="0"/>
                  </a:rPr>
                  <a:t>Three ways to represent signed binary integers:  </a:t>
                </a:r>
              </a:p>
              <a:p>
                <a:pPr lvl="1"/>
                <a:r>
                  <a:rPr lang="en-US" sz="2200" dirty="0">
                    <a:latin typeface="Arial" charset="0"/>
                  </a:rPr>
                  <a:t>Signed magnitude </a:t>
                </a:r>
              </a:p>
              <a:p>
                <a:pPr lvl="2"/>
                <a14:m>
                  <m:oMath xmlns:m="http://schemas.openxmlformats.org/officeDocument/2006/math">
                    <m:r>
                      <a:rPr lang="en-US" sz="1800" b="1" i="1">
                        <a:latin typeface="Cambria Math"/>
                      </a:rPr>
                      <m:t>𝒗𝒂𝒍𝒖𝒆</m:t>
                    </m:r>
                    <m:r>
                      <a:rPr lang="en-US" sz="1800" b="1" i="1">
                        <a:latin typeface="Cambria Math"/>
                      </a:rPr>
                      <m:t>=</m:t>
                    </m:r>
                    <m:sSup>
                      <m:sSupPr>
                        <m:ctrlPr>
                          <a:rPr lang="en-US" sz="1800" b="1" i="1">
                            <a:latin typeface="Cambria Math" panose="02040503050406030204" pitchFamily="18" charset="0"/>
                          </a:rPr>
                        </m:ctrlPr>
                      </m:sSupPr>
                      <m:e>
                        <m:r>
                          <a:rPr lang="en-US" sz="1800" b="1" i="1">
                            <a:latin typeface="Cambria Math"/>
                          </a:rPr>
                          <m:t>(−</m:t>
                        </m:r>
                        <m:r>
                          <a:rPr lang="en-US" sz="1800" b="1" i="1">
                            <a:latin typeface="Cambria Math"/>
                          </a:rPr>
                          <m:t>𝟏</m:t>
                        </m:r>
                        <m:r>
                          <a:rPr lang="en-US" sz="1800" b="1" i="1">
                            <a:latin typeface="Cambria Math"/>
                          </a:rPr>
                          <m:t>)</m:t>
                        </m:r>
                      </m:e>
                      <m:sup>
                        <m:r>
                          <a:rPr lang="en-US" sz="1800" b="1" i="1">
                            <a:solidFill>
                              <a:srgbClr val="FF0000"/>
                            </a:solidFill>
                            <a:latin typeface="Cambria Math"/>
                          </a:rPr>
                          <m:t>𝒔𝒊𝒈𝒏</m:t>
                        </m:r>
                      </m:sup>
                    </m:sSup>
                    <m:r>
                      <a:rPr lang="en-US" sz="1800" b="1" i="1">
                        <a:latin typeface="Cambria Math"/>
                      </a:rPr>
                      <m:t>×</m:t>
                    </m:r>
                    <m:r>
                      <a:rPr lang="en-US" sz="1800" b="1" i="1">
                        <a:solidFill>
                          <a:srgbClr val="0000FF"/>
                        </a:solidFill>
                        <a:latin typeface="Cambria Math"/>
                      </a:rPr>
                      <m:t>𝑴𝒂𝒈𝒏𝒊𝒕𝒖𝒅𝒆</m:t>
                    </m:r>
                  </m:oMath>
                </a14:m>
                <a:endParaRPr lang="en-US" sz="1900" dirty="0">
                  <a:latin typeface="Arial" charset="0"/>
                </a:endParaRPr>
              </a:p>
              <a:p>
                <a:pPr lvl="1"/>
                <a:r>
                  <a:rPr lang="en-US" sz="2200" dirty="0">
                    <a:latin typeface="Arial" charset="0"/>
                  </a:rPr>
                  <a:t>One’s complement (</a:t>
                </a:r>
                <a14:m>
                  <m:oMath xmlns:m="http://schemas.openxmlformats.org/officeDocument/2006/math">
                    <m:acc>
                      <m:accPr>
                        <m:chr m:val="̃"/>
                        <m:ctrlPr>
                          <a:rPr lang="en-US" sz="2400" b="1" i="1">
                            <a:latin typeface="Cambria Math" panose="02040503050406030204" pitchFamily="18" charset="0"/>
                          </a:rPr>
                        </m:ctrlPr>
                      </m:accPr>
                      <m:e>
                        <m:r>
                          <a:rPr lang="en-US" sz="2400" b="1" i="1">
                            <a:latin typeface="Cambria Math"/>
                          </a:rPr>
                          <m:t>𝜶</m:t>
                        </m:r>
                      </m:e>
                    </m:acc>
                  </m:oMath>
                </a14:m>
                <a:r>
                  <a:rPr lang="en-US" sz="2200" dirty="0">
                    <a:latin typeface="Arial" charset="0"/>
                  </a:rPr>
                  <a:t>)</a:t>
                </a:r>
              </a:p>
              <a:p>
                <a:pPr lvl="2"/>
                <a14:m>
                  <m:oMath xmlns:m="http://schemas.openxmlformats.org/officeDocument/2006/math">
                    <m:r>
                      <a:rPr lang="en-US" sz="1800" b="1" i="1">
                        <a:latin typeface="Cambria Math"/>
                      </a:rPr>
                      <m:t>𝜶</m:t>
                    </m:r>
                    <m:r>
                      <a:rPr lang="en-US" sz="1800" b="1" i="1">
                        <a:latin typeface="Cambria Math"/>
                      </a:rPr>
                      <m:t>+</m:t>
                    </m:r>
                    <m:acc>
                      <m:accPr>
                        <m:chr m:val="̃"/>
                        <m:ctrlPr>
                          <a:rPr lang="en-US" sz="1800" b="1" i="1">
                            <a:latin typeface="Cambria Math" panose="02040503050406030204" pitchFamily="18" charset="0"/>
                          </a:rPr>
                        </m:ctrlPr>
                      </m:accPr>
                      <m:e>
                        <m:r>
                          <a:rPr lang="en-US" sz="1800" b="1" i="1">
                            <a:latin typeface="Cambria Math"/>
                          </a:rPr>
                          <m:t>𝜶</m:t>
                        </m:r>
                      </m:e>
                    </m:acc>
                    <m:r>
                      <a:rPr lang="en-US" sz="1800" b="1" i="1">
                        <a:latin typeface="Cambria Math"/>
                      </a:rPr>
                      <m:t>=</m:t>
                    </m:r>
                    <m:sSup>
                      <m:sSupPr>
                        <m:ctrlPr>
                          <a:rPr lang="en-US" sz="1800" b="1" i="1">
                            <a:latin typeface="Cambria Math" panose="02040503050406030204" pitchFamily="18" charset="0"/>
                          </a:rPr>
                        </m:ctrlPr>
                      </m:sSupPr>
                      <m:e>
                        <m:r>
                          <a:rPr lang="en-US" sz="1800" b="1" i="1">
                            <a:latin typeface="Cambria Math"/>
                          </a:rPr>
                          <m:t>𝟐</m:t>
                        </m:r>
                      </m:e>
                      <m:sup>
                        <m:r>
                          <a:rPr lang="en-US" sz="1800" b="1" i="1">
                            <a:latin typeface="Cambria Math"/>
                          </a:rPr>
                          <m:t>𝒏</m:t>
                        </m:r>
                      </m:sup>
                    </m:sSup>
                    <m:r>
                      <a:rPr lang="en-US" sz="1800" b="1" i="1">
                        <a:latin typeface="Cambria Math"/>
                      </a:rPr>
                      <m:t>−</m:t>
                    </m:r>
                    <m:r>
                      <a:rPr lang="en-US" sz="1800" b="1" i="1">
                        <a:latin typeface="Cambria Math"/>
                      </a:rPr>
                      <m:t>𝟏</m:t>
                    </m:r>
                  </m:oMath>
                </a14:m>
                <a:endParaRPr lang="en-US" sz="1900" dirty="0">
                  <a:latin typeface="Arial" charset="0"/>
                </a:endParaRPr>
              </a:p>
              <a:p>
                <a:pPr lvl="1"/>
                <a:r>
                  <a:rPr lang="en-US" sz="2200" dirty="0">
                    <a:latin typeface="Arial" charset="0"/>
                  </a:rPr>
                  <a:t>Two’s complement (</a:t>
                </a:r>
                <a14:m>
                  <m:oMath xmlns:m="http://schemas.openxmlformats.org/officeDocument/2006/math">
                    <m:acc>
                      <m:accPr>
                        <m:chr m:val="̅"/>
                        <m:ctrlPr>
                          <a:rPr lang="en-US" sz="2400" b="1" i="1">
                            <a:latin typeface="Cambria Math" panose="02040503050406030204" pitchFamily="18" charset="0"/>
                          </a:rPr>
                        </m:ctrlPr>
                      </m:accPr>
                      <m:e>
                        <m:r>
                          <a:rPr lang="en-US" sz="2400" b="1" i="1">
                            <a:latin typeface="Cambria Math"/>
                          </a:rPr>
                          <m:t>𝜶</m:t>
                        </m:r>
                      </m:e>
                    </m:acc>
                  </m:oMath>
                </a14:m>
                <a:r>
                  <a:rPr lang="en-US" sz="2200" dirty="0">
                    <a:latin typeface="Arial" charset="0"/>
                  </a:rPr>
                  <a:t>)</a:t>
                </a:r>
              </a:p>
              <a:p>
                <a:pPr lvl="2"/>
                <a14:m>
                  <m:oMath xmlns:m="http://schemas.openxmlformats.org/officeDocument/2006/math">
                    <m:r>
                      <a:rPr lang="en-US" sz="1800" b="1" i="1">
                        <a:latin typeface="Cambria Math"/>
                      </a:rPr>
                      <m:t>𝜶</m:t>
                    </m:r>
                    <m:r>
                      <a:rPr lang="en-US" sz="1800" b="1" i="1">
                        <a:latin typeface="Cambria Math"/>
                      </a:rPr>
                      <m:t>+</m:t>
                    </m:r>
                    <m:acc>
                      <m:accPr>
                        <m:chr m:val="̅"/>
                        <m:ctrlPr>
                          <a:rPr lang="en-US" sz="1800" b="1" i="1">
                            <a:latin typeface="Cambria Math" panose="02040503050406030204" pitchFamily="18" charset="0"/>
                          </a:rPr>
                        </m:ctrlPr>
                      </m:accPr>
                      <m:e>
                        <m:r>
                          <a:rPr lang="en-US" sz="1800" b="1" i="1">
                            <a:latin typeface="Cambria Math"/>
                          </a:rPr>
                          <m:t>𝜶</m:t>
                        </m:r>
                      </m:e>
                    </m:acc>
                    <m:r>
                      <a:rPr lang="en-US" sz="1800" b="1" i="1">
                        <a:latin typeface="Cambria Math"/>
                      </a:rPr>
                      <m:t>=</m:t>
                    </m:r>
                    <m:sSup>
                      <m:sSupPr>
                        <m:ctrlPr>
                          <a:rPr lang="en-US" sz="1800" b="1" i="1">
                            <a:latin typeface="Cambria Math" panose="02040503050406030204" pitchFamily="18" charset="0"/>
                          </a:rPr>
                        </m:ctrlPr>
                      </m:sSupPr>
                      <m:e>
                        <m:r>
                          <a:rPr lang="en-US" sz="1800" b="1" i="1">
                            <a:latin typeface="Cambria Math"/>
                          </a:rPr>
                          <m:t>𝟐</m:t>
                        </m:r>
                      </m:e>
                      <m:sup>
                        <m:r>
                          <a:rPr lang="en-US" sz="1800" b="1" i="1">
                            <a:latin typeface="Cambria Math"/>
                          </a:rPr>
                          <m:t>𝒏</m:t>
                        </m:r>
                      </m:sup>
                    </m:sSup>
                  </m:oMath>
                </a14:m>
                <a:endParaRPr lang="en-US" sz="1800" dirty="0"/>
              </a:p>
              <a:p>
                <a:pPr marL="594360" lvl="2" indent="0">
                  <a:buNone/>
                </a:pPr>
                <a:endParaRPr lang="en-US" sz="1900" dirty="0">
                  <a:latin typeface="Arial" charset="0"/>
                </a:endParaRPr>
              </a:p>
            </p:txBody>
          </p:sp>
        </mc:Choice>
        <mc:Fallback xmlns="">
          <p:sp>
            <p:nvSpPr>
              <p:cNvPr id="185347" name="Rectangle 3"/>
              <p:cNvSpPr>
                <a:spLocks noGrp="1" noRot="1" noChangeAspect="1" noMove="1" noResize="1" noEditPoints="1" noAdjustHandles="1" noChangeArrowheads="1" noChangeShapeType="1" noTextEdit="1"/>
              </p:cNvSpPr>
              <p:nvPr>
                <p:ph type="body" idx="1"/>
              </p:nvPr>
            </p:nvSpPr>
            <p:spPr>
              <a:xfrm>
                <a:off x="457200" y="1295400"/>
                <a:ext cx="7696200" cy="4572000"/>
              </a:xfrm>
              <a:blipFill rotWithShape="1">
                <a:blip r:embed="rId6"/>
                <a:stretch>
                  <a:fillRect l="-633" t="-1200" r="-475"/>
                </a:stretch>
              </a:blipFill>
              <a:extLst>
                <a:ext uri="{909E8E84-426E-40DD-AFC4-6F175D3DCCD1}">
                  <a14:hiddenFill xmlns:a14="http://schemas.microsoft.com/office/drawing/2010/main">
                    <a:solidFill>
                      <a:srgbClr val="E4F5FF"/>
                    </a:solidFill>
                  </a14:hiddenFill>
                </a:ext>
              </a:extLst>
            </p:spPr>
            <p:txBody>
              <a:bodyPr/>
              <a:lstStyle/>
              <a:p>
                <a:r>
                  <a:rPr lang="en-US">
                    <a:noFill/>
                  </a:rPr>
                  <a:t> </a:t>
                </a:r>
              </a:p>
            </p:txBody>
          </p:sp>
        </mc:Fallback>
      </mc:AlternateContent>
      <p:sp>
        <p:nvSpPr>
          <p:cNvPr id="2" name="Title 1"/>
          <p:cNvSpPr>
            <a:spLocks noGrp="1"/>
          </p:cNvSpPr>
          <p:nvPr>
            <p:ph type="title"/>
          </p:nvPr>
        </p:nvSpPr>
        <p:spPr/>
        <p:txBody>
          <a:bodyPr>
            <a:normAutofit fontScale="90000"/>
          </a:bodyPr>
          <a:lstStyle/>
          <a:p>
            <a:r>
              <a:rPr lang="en-US" dirty="0"/>
              <a:t>Signed Integer Representation</a:t>
            </a:r>
            <a:br>
              <a:rPr lang="en-US" dirty="0"/>
            </a:br>
            <a:r>
              <a:rPr lang="en-US" dirty="0"/>
              <a:t>Overview</a:t>
            </a: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3333176628"/>
                  </p:ext>
                </p:extLst>
              </p:nvPr>
            </p:nvGraphicFramePr>
            <p:xfrm>
              <a:off x="228600" y="4267200"/>
              <a:ext cx="8763001" cy="1813560"/>
            </p:xfrm>
            <a:graphic>
              <a:graphicData uri="http://schemas.openxmlformats.org/drawingml/2006/table">
                <a:tbl>
                  <a:tblPr firstRow="1" firstCol="1" bandRow="1">
                    <a:tableStyleId>{5C22544A-7EE6-4342-B048-85BDC9FD1C3A}</a:tableStyleId>
                  </a:tblPr>
                  <a:tblGrid>
                    <a:gridCol w="14478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gridCol w="2057401">
                      <a:extLst>
                        <a:ext uri="{9D8B030D-6E8A-4147-A177-3AD203B41FA5}">
                          <a16:colId xmlns:a16="http://schemas.microsoft.com/office/drawing/2014/main" val="20003"/>
                        </a:ext>
                      </a:extLst>
                    </a:gridCol>
                  </a:tblGrid>
                  <a:tr h="0">
                    <a:tc>
                      <a:txBody>
                        <a:bodyPr/>
                        <a:lstStyle/>
                        <a:p>
                          <a:pPr marL="0" marR="0" algn="just">
                            <a:spcBef>
                              <a:spcPts val="0"/>
                            </a:spcBef>
                            <a:spcAft>
                              <a:spcPts val="0"/>
                            </a:spcAft>
                          </a:pPr>
                          <a:r>
                            <a:rPr lang="en-US" sz="1800" dirty="0">
                              <a:effectLst/>
                            </a:rPr>
                            <a:t> </a:t>
                          </a:r>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a:effectLst/>
                            </a:rPr>
                            <a:t>Sign-and-Magnitude</a:t>
                          </a:r>
                          <a:endParaRPr lang="en-US" sz="180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dirty="0">
                              <a:effectLst/>
                            </a:rPr>
                            <a:t>One’s </a:t>
                          </a:r>
                        </a:p>
                        <a:p>
                          <a:pPr marL="0" marR="0" algn="ctr">
                            <a:spcBef>
                              <a:spcPts val="0"/>
                            </a:spcBef>
                            <a:spcAft>
                              <a:spcPts val="0"/>
                            </a:spcAft>
                          </a:pPr>
                          <a:r>
                            <a:rPr lang="en-US" sz="1800" dirty="0">
                              <a:effectLst/>
                            </a:rPr>
                            <a:t>Complement</a:t>
                          </a:r>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a:effectLst/>
                            </a:rPr>
                            <a:t>Two’s Complement</a:t>
                          </a:r>
                          <a:endParaRPr lang="en-US" sz="180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0"/>
                      </a:ext>
                    </a:extLst>
                  </a:tr>
                  <a:tr h="441960">
                    <a:tc>
                      <a:txBody>
                        <a:bodyPr/>
                        <a:lstStyle/>
                        <a:p>
                          <a:pPr marL="0" marR="0" algn="ctr">
                            <a:spcBef>
                              <a:spcPts val="0"/>
                            </a:spcBef>
                            <a:spcAft>
                              <a:spcPts val="0"/>
                            </a:spcAft>
                          </a:pPr>
                          <a:r>
                            <a:rPr lang="en-US" sz="1800" dirty="0">
                              <a:effectLst/>
                            </a:rPr>
                            <a:t>Range</a:t>
                          </a:r>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a:rPr>
                                  <m:t>[−</m:t>
                                </m:r>
                                <m:sSup>
                                  <m:sSupPr>
                                    <m:ctrlPr>
                                      <a:rPr lang="en-US" sz="1800" i="1">
                                        <a:effectLst/>
                                        <a:latin typeface="Cambria Math" panose="02040503050406030204" pitchFamily="18" charset="0"/>
                                      </a:rPr>
                                    </m:ctrlPr>
                                  </m:sSupPr>
                                  <m:e>
                                    <m:r>
                                      <a:rPr lang="en-US" sz="1800">
                                        <a:effectLst/>
                                        <a:latin typeface="Cambria Math"/>
                                      </a:rPr>
                                      <m:t>2</m:t>
                                    </m:r>
                                  </m:e>
                                  <m:sup>
                                    <m:r>
                                      <a:rPr lang="en-US" sz="1800">
                                        <a:effectLst/>
                                        <a:latin typeface="Cambria Math"/>
                                      </a:rPr>
                                      <m:t>𝑛</m:t>
                                    </m:r>
                                    <m:r>
                                      <a:rPr lang="en-US" sz="1800">
                                        <a:effectLst/>
                                        <a:latin typeface="Cambria Math"/>
                                      </a:rPr>
                                      <m:t>−1</m:t>
                                    </m:r>
                                  </m:sup>
                                </m:sSup>
                                <m:r>
                                  <a:rPr lang="en-US" sz="1800">
                                    <a:effectLst/>
                                    <a:latin typeface="Cambria Math"/>
                                  </a:rPr>
                                  <m:t>+1, </m:t>
                                </m:r>
                                <m:sSup>
                                  <m:sSupPr>
                                    <m:ctrlPr>
                                      <a:rPr lang="en-US" sz="1800" i="1">
                                        <a:effectLst/>
                                        <a:latin typeface="Cambria Math" panose="02040503050406030204" pitchFamily="18" charset="0"/>
                                      </a:rPr>
                                    </m:ctrlPr>
                                  </m:sSupPr>
                                  <m:e>
                                    <m:r>
                                      <a:rPr lang="en-US" sz="1800">
                                        <a:effectLst/>
                                        <a:latin typeface="Cambria Math"/>
                                      </a:rPr>
                                      <m:t>2</m:t>
                                    </m:r>
                                  </m:e>
                                  <m:sup>
                                    <m:r>
                                      <a:rPr lang="en-US" sz="1800">
                                        <a:effectLst/>
                                        <a:latin typeface="Cambria Math"/>
                                      </a:rPr>
                                      <m:t>𝑛</m:t>
                                    </m:r>
                                    <m:r>
                                      <a:rPr lang="en-US" sz="1800">
                                        <a:effectLst/>
                                        <a:latin typeface="Cambria Math"/>
                                      </a:rPr>
                                      <m:t>−1</m:t>
                                    </m:r>
                                  </m:sup>
                                </m:sSup>
                                <m:r>
                                  <a:rPr lang="en-US" sz="1800">
                                    <a:effectLst/>
                                    <a:latin typeface="Cambria Math"/>
                                  </a:rPr>
                                  <m:t>−1]</m:t>
                                </m:r>
                              </m:oMath>
                            </m:oMathPara>
                          </a14:m>
                          <a:endParaRPr lang="en-US" sz="180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a:rPr>
                                  <m:t>[−</m:t>
                                </m:r>
                                <m:sSup>
                                  <m:sSupPr>
                                    <m:ctrlPr>
                                      <a:rPr lang="en-US" sz="1800" i="1">
                                        <a:effectLst/>
                                        <a:latin typeface="Cambria Math" panose="02040503050406030204" pitchFamily="18" charset="0"/>
                                      </a:rPr>
                                    </m:ctrlPr>
                                  </m:sSupPr>
                                  <m:e>
                                    <m:r>
                                      <a:rPr lang="en-US" sz="1800">
                                        <a:effectLst/>
                                        <a:latin typeface="Cambria Math"/>
                                      </a:rPr>
                                      <m:t>2</m:t>
                                    </m:r>
                                  </m:e>
                                  <m:sup>
                                    <m:r>
                                      <a:rPr lang="en-US" sz="1800">
                                        <a:effectLst/>
                                        <a:latin typeface="Cambria Math"/>
                                      </a:rPr>
                                      <m:t>𝑛</m:t>
                                    </m:r>
                                    <m:r>
                                      <a:rPr lang="en-US" sz="1800">
                                        <a:effectLst/>
                                        <a:latin typeface="Cambria Math"/>
                                      </a:rPr>
                                      <m:t>−1</m:t>
                                    </m:r>
                                  </m:sup>
                                </m:sSup>
                                <m:r>
                                  <a:rPr lang="en-US" sz="1800">
                                    <a:effectLst/>
                                    <a:latin typeface="Cambria Math"/>
                                  </a:rPr>
                                  <m:t>+1, </m:t>
                                </m:r>
                                <m:sSup>
                                  <m:sSupPr>
                                    <m:ctrlPr>
                                      <a:rPr lang="en-US" sz="1800" i="1">
                                        <a:effectLst/>
                                        <a:latin typeface="Cambria Math" panose="02040503050406030204" pitchFamily="18" charset="0"/>
                                      </a:rPr>
                                    </m:ctrlPr>
                                  </m:sSupPr>
                                  <m:e>
                                    <m:r>
                                      <a:rPr lang="en-US" sz="1800">
                                        <a:effectLst/>
                                        <a:latin typeface="Cambria Math"/>
                                      </a:rPr>
                                      <m:t>2</m:t>
                                    </m:r>
                                  </m:e>
                                  <m:sup>
                                    <m:r>
                                      <a:rPr lang="en-US" sz="1800">
                                        <a:effectLst/>
                                        <a:latin typeface="Cambria Math"/>
                                      </a:rPr>
                                      <m:t>𝑛</m:t>
                                    </m:r>
                                    <m:r>
                                      <a:rPr lang="en-US" sz="1800">
                                        <a:effectLst/>
                                        <a:latin typeface="Cambria Math"/>
                                      </a:rPr>
                                      <m:t>−1</m:t>
                                    </m:r>
                                  </m:sup>
                                </m:sSup>
                                <m:r>
                                  <a:rPr lang="en-US" sz="1800">
                                    <a:effectLst/>
                                    <a:latin typeface="Cambria Math"/>
                                  </a:rPr>
                                  <m:t>−1]</m:t>
                                </m:r>
                              </m:oMath>
                            </m:oMathPara>
                          </a14:m>
                          <a:endParaRPr lang="en-US" sz="180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a:rPr>
                                  <m:t> </m:t>
                                </m:r>
                                <m:r>
                                  <a:rPr lang="en-US" sz="1800" smtClean="0">
                                    <a:solidFill>
                                      <a:srgbClr val="FF0000"/>
                                    </a:solidFill>
                                    <a:effectLst/>
                                    <a:latin typeface="Cambria Math"/>
                                  </a:rPr>
                                  <m:t>[−</m:t>
                                </m:r>
                                <m:sSup>
                                  <m:sSupPr>
                                    <m:ctrlPr>
                                      <a:rPr lang="en-US" sz="1800" i="1">
                                        <a:solidFill>
                                          <a:srgbClr val="FF0000"/>
                                        </a:solidFill>
                                        <a:effectLst/>
                                        <a:latin typeface="Cambria Math" panose="02040503050406030204" pitchFamily="18" charset="0"/>
                                      </a:rPr>
                                    </m:ctrlPr>
                                  </m:sSupPr>
                                  <m:e>
                                    <m:r>
                                      <a:rPr lang="en-US" sz="1800">
                                        <a:solidFill>
                                          <a:srgbClr val="FF0000"/>
                                        </a:solidFill>
                                        <a:effectLst/>
                                        <a:latin typeface="Cambria Math"/>
                                      </a:rPr>
                                      <m:t>2</m:t>
                                    </m:r>
                                  </m:e>
                                  <m:sup>
                                    <m:r>
                                      <a:rPr lang="en-US" sz="1800">
                                        <a:solidFill>
                                          <a:srgbClr val="FF0000"/>
                                        </a:solidFill>
                                        <a:effectLst/>
                                        <a:latin typeface="Cambria Math"/>
                                      </a:rPr>
                                      <m:t>𝑛</m:t>
                                    </m:r>
                                    <m:r>
                                      <a:rPr lang="en-US" sz="1800">
                                        <a:solidFill>
                                          <a:srgbClr val="FF0000"/>
                                        </a:solidFill>
                                        <a:effectLst/>
                                        <a:latin typeface="Cambria Math"/>
                                      </a:rPr>
                                      <m:t>−1</m:t>
                                    </m:r>
                                  </m:sup>
                                </m:sSup>
                                <m:r>
                                  <a:rPr lang="en-US" sz="1800">
                                    <a:solidFill>
                                      <a:srgbClr val="FF0000"/>
                                    </a:solidFill>
                                    <a:effectLst/>
                                    <a:latin typeface="Cambria Math"/>
                                  </a:rPr>
                                  <m:t>, </m:t>
                                </m:r>
                                <m:sSup>
                                  <m:sSupPr>
                                    <m:ctrlPr>
                                      <a:rPr lang="en-US" sz="1800" i="1">
                                        <a:solidFill>
                                          <a:srgbClr val="FF0000"/>
                                        </a:solidFill>
                                        <a:effectLst/>
                                        <a:latin typeface="Cambria Math" panose="02040503050406030204" pitchFamily="18" charset="0"/>
                                      </a:rPr>
                                    </m:ctrlPr>
                                  </m:sSupPr>
                                  <m:e>
                                    <m:r>
                                      <a:rPr lang="en-US" sz="1800">
                                        <a:solidFill>
                                          <a:srgbClr val="FF0000"/>
                                        </a:solidFill>
                                        <a:effectLst/>
                                        <a:latin typeface="Cambria Math"/>
                                      </a:rPr>
                                      <m:t>2</m:t>
                                    </m:r>
                                  </m:e>
                                  <m:sup>
                                    <m:r>
                                      <a:rPr lang="en-US" sz="1800">
                                        <a:solidFill>
                                          <a:srgbClr val="FF0000"/>
                                        </a:solidFill>
                                        <a:effectLst/>
                                        <a:latin typeface="Cambria Math"/>
                                      </a:rPr>
                                      <m:t>𝑛</m:t>
                                    </m:r>
                                    <m:r>
                                      <a:rPr lang="en-US" sz="1800">
                                        <a:solidFill>
                                          <a:srgbClr val="FF0000"/>
                                        </a:solidFill>
                                        <a:effectLst/>
                                        <a:latin typeface="Cambria Math"/>
                                      </a:rPr>
                                      <m:t>−1</m:t>
                                    </m:r>
                                  </m:sup>
                                </m:sSup>
                                <m:r>
                                  <a:rPr lang="en-US" sz="1800">
                                    <a:solidFill>
                                      <a:srgbClr val="FF0000"/>
                                    </a:solidFill>
                                    <a:effectLst/>
                                    <a:latin typeface="Cambria Math"/>
                                  </a:rPr>
                                  <m:t>−1]</m:t>
                                </m:r>
                              </m:oMath>
                            </m:oMathPara>
                          </a14:m>
                          <a:endParaRPr lang="en-US" sz="1800" dirty="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1"/>
                      </a:ext>
                    </a:extLst>
                  </a:tr>
                  <a:tr h="0">
                    <a:tc>
                      <a:txBody>
                        <a:bodyPr/>
                        <a:lstStyle/>
                        <a:p>
                          <a:pPr marL="0" marR="0" algn="ctr">
                            <a:spcBef>
                              <a:spcPts val="0"/>
                            </a:spcBef>
                            <a:spcAft>
                              <a:spcPts val="0"/>
                            </a:spcAft>
                          </a:pPr>
                          <a:r>
                            <a:rPr lang="en-US" sz="1800">
                              <a:effectLst/>
                            </a:rPr>
                            <a:t>Zero</a:t>
                          </a:r>
                          <a:endParaRPr lang="en-US" sz="180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dirty="0">
                              <a:effectLst/>
                            </a:rPr>
                            <a:t>Two zeroes (</a:t>
                          </a:r>
                          <a14:m>
                            <m:oMath xmlns:m="http://schemas.openxmlformats.org/officeDocument/2006/math">
                              <m:r>
                                <a:rPr lang="en-US" sz="1800">
                                  <a:effectLst/>
                                  <a:latin typeface="Cambria Math"/>
                                </a:rPr>
                                <m:t>±0</m:t>
                              </m:r>
                            </m:oMath>
                          </a14:m>
                          <a:r>
                            <a:rPr lang="en-US" sz="1800" dirty="0">
                              <a:effectLst/>
                            </a:rPr>
                            <a:t>)</a:t>
                          </a:r>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a:effectLst/>
                            </a:rPr>
                            <a:t>Two zeroes (</a:t>
                          </a:r>
                          <a14:m>
                            <m:oMath xmlns:m="http://schemas.openxmlformats.org/officeDocument/2006/math">
                              <m:r>
                                <a:rPr lang="en-US" sz="1800">
                                  <a:effectLst/>
                                  <a:latin typeface="Cambria Math"/>
                                </a:rPr>
                                <m:t>±0</m:t>
                              </m:r>
                            </m:oMath>
                          </a14:m>
                          <a:r>
                            <a:rPr lang="en-US" sz="1800">
                              <a:effectLst/>
                            </a:rPr>
                            <a:t>)</a:t>
                          </a:r>
                          <a:endParaRPr lang="en-US" sz="180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a:effectLst/>
                            </a:rPr>
                            <a:t>One zero</a:t>
                          </a:r>
                          <a:endParaRPr lang="en-US" sz="180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2"/>
                      </a:ext>
                    </a:extLst>
                  </a:tr>
                  <a:tr h="0">
                    <a:tc>
                      <a:txBody>
                        <a:bodyPr/>
                        <a:lstStyle/>
                        <a:p>
                          <a:pPr marL="0" marR="0" algn="ctr">
                            <a:spcBef>
                              <a:spcPts val="0"/>
                            </a:spcBef>
                            <a:spcAft>
                              <a:spcPts val="0"/>
                            </a:spcAft>
                          </a:pPr>
                          <a:r>
                            <a:rPr lang="en-US" sz="1800">
                              <a:effectLst/>
                            </a:rPr>
                            <a:t>Unique Numbers</a:t>
                          </a:r>
                          <a:endParaRPr lang="en-US" sz="180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800" i="1">
                                        <a:effectLst/>
                                        <a:latin typeface="Cambria Math" panose="02040503050406030204" pitchFamily="18" charset="0"/>
                                      </a:rPr>
                                    </m:ctrlPr>
                                  </m:sSupPr>
                                  <m:e>
                                    <m:r>
                                      <a:rPr lang="en-US" sz="1800">
                                        <a:effectLst/>
                                        <a:latin typeface="Cambria Math"/>
                                      </a:rPr>
                                      <m:t>2</m:t>
                                    </m:r>
                                  </m:e>
                                  <m:sup>
                                    <m:r>
                                      <a:rPr lang="en-US" sz="1800">
                                        <a:effectLst/>
                                        <a:latin typeface="Cambria Math"/>
                                      </a:rPr>
                                      <m:t>𝑛</m:t>
                                    </m:r>
                                  </m:sup>
                                </m:sSup>
                                <m:r>
                                  <a:rPr lang="en-US" sz="1800">
                                    <a:effectLst/>
                                    <a:latin typeface="Cambria Math"/>
                                  </a:rPr>
                                  <m:t>−1</m:t>
                                </m:r>
                              </m:oMath>
                            </m:oMathPara>
                          </a14:m>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800" i="1">
                                        <a:effectLst/>
                                        <a:latin typeface="Cambria Math" panose="02040503050406030204" pitchFamily="18" charset="0"/>
                                      </a:rPr>
                                    </m:ctrlPr>
                                  </m:sSupPr>
                                  <m:e>
                                    <m:r>
                                      <a:rPr lang="en-US" sz="1800">
                                        <a:effectLst/>
                                        <a:latin typeface="Cambria Math"/>
                                      </a:rPr>
                                      <m:t>2</m:t>
                                    </m:r>
                                  </m:e>
                                  <m:sup>
                                    <m:r>
                                      <a:rPr lang="en-US" sz="1800">
                                        <a:effectLst/>
                                        <a:latin typeface="Cambria Math"/>
                                      </a:rPr>
                                      <m:t>𝑛</m:t>
                                    </m:r>
                                  </m:sup>
                                </m:sSup>
                                <m:r>
                                  <a:rPr lang="en-US" sz="1800">
                                    <a:effectLst/>
                                    <a:latin typeface="Cambria Math"/>
                                  </a:rPr>
                                  <m:t>−1</m:t>
                                </m:r>
                              </m:oMath>
                            </m:oMathPara>
                          </a14:m>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800" i="1">
                                        <a:effectLst/>
                                        <a:latin typeface="Cambria Math" panose="02040503050406030204" pitchFamily="18" charset="0"/>
                                      </a:rPr>
                                    </m:ctrlPr>
                                  </m:sSupPr>
                                  <m:e>
                                    <m:r>
                                      <a:rPr lang="en-US" sz="1800">
                                        <a:effectLst/>
                                        <a:latin typeface="Cambria Math"/>
                                      </a:rPr>
                                      <m:t>2</m:t>
                                    </m:r>
                                  </m:e>
                                  <m:sup>
                                    <m:r>
                                      <a:rPr lang="en-US" sz="1800">
                                        <a:effectLst/>
                                        <a:latin typeface="Cambria Math"/>
                                      </a:rPr>
                                      <m:t>𝑛</m:t>
                                    </m:r>
                                  </m:sup>
                                </m:sSup>
                              </m:oMath>
                            </m:oMathPara>
                          </a14:m>
                          <a:endParaRPr lang="en-US" sz="1800" dirty="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3"/>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3333176628"/>
                  </p:ext>
                </p:extLst>
              </p:nvPr>
            </p:nvGraphicFramePr>
            <p:xfrm>
              <a:off x="228600" y="4267200"/>
              <a:ext cx="8763001" cy="1813560"/>
            </p:xfrm>
            <a:graphic>
              <a:graphicData uri="http://schemas.openxmlformats.org/drawingml/2006/table">
                <a:tbl>
                  <a:tblPr firstRow="1" firstCol="1" bandRow="1">
                    <a:tableStyleId>{5C22544A-7EE6-4342-B048-85BDC9FD1C3A}</a:tableStyleId>
                  </a:tblPr>
                  <a:tblGrid>
                    <a:gridCol w="14478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gridCol w="2057401">
                      <a:extLst>
                        <a:ext uri="{9D8B030D-6E8A-4147-A177-3AD203B41FA5}">
                          <a16:colId xmlns:a16="http://schemas.microsoft.com/office/drawing/2014/main" val="20003"/>
                        </a:ext>
                      </a:extLst>
                    </a:gridCol>
                  </a:tblGrid>
                  <a:tr h="548640">
                    <a:tc>
                      <a:txBody>
                        <a:bodyPr/>
                        <a:lstStyle/>
                        <a:p>
                          <a:pPr marL="0" marR="0" algn="just">
                            <a:spcBef>
                              <a:spcPts val="0"/>
                            </a:spcBef>
                            <a:spcAft>
                              <a:spcPts val="0"/>
                            </a:spcAft>
                          </a:pPr>
                          <a:r>
                            <a:rPr lang="en-US" sz="1800" dirty="0">
                              <a:effectLst/>
                            </a:rPr>
                            <a:t> </a:t>
                          </a:r>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a:effectLst/>
                            </a:rPr>
                            <a:t>Sign-and-Magnitude</a:t>
                          </a:r>
                          <a:endParaRPr lang="en-US" sz="180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dirty="0">
                              <a:effectLst/>
                            </a:rPr>
                            <a:t>One’s </a:t>
                          </a:r>
                        </a:p>
                        <a:p>
                          <a:pPr marL="0" marR="0" algn="ctr">
                            <a:spcBef>
                              <a:spcPts val="0"/>
                            </a:spcBef>
                            <a:spcAft>
                              <a:spcPts val="0"/>
                            </a:spcAft>
                          </a:pPr>
                          <a:r>
                            <a:rPr lang="en-US" sz="1800" dirty="0">
                              <a:effectLst/>
                            </a:rPr>
                            <a:t>Complement</a:t>
                          </a:r>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a:effectLst/>
                            </a:rPr>
                            <a:t>Two’s Complement</a:t>
                          </a:r>
                          <a:endParaRPr lang="en-US" sz="180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0"/>
                      </a:ext>
                    </a:extLst>
                  </a:tr>
                  <a:tr h="441960">
                    <a:tc>
                      <a:txBody>
                        <a:bodyPr/>
                        <a:lstStyle/>
                        <a:p>
                          <a:pPr marL="0" marR="0" algn="ctr">
                            <a:spcBef>
                              <a:spcPts val="0"/>
                            </a:spcBef>
                            <a:spcAft>
                              <a:spcPts val="0"/>
                            </a:spcAft>
                          </a:pPr>
                          <a:r>
                            <a:rPr lang="en-US" sz="1800" dirty="0">
                              <a:effectLst/>
                            </a:rPr>
                            <a:t>Range</a:t>
                          </a:r>
                          <a:endParaRPr lang="en-US" sz="1800" dirty="0">
                            <a:effectLst/>
                            <a:latin typeface="Palatino Linotype"/>
                            <a:ea typeface="宋体"/>
                            <a:cs typeface="Times New Roman"/>
                          </a:endParaRPr>
                        </a:p>
                      </a:txBody>
                      <a:tcPr marL="68580" marR="68580" marT="0" marB="0" anchor="ctr"/>
                    </a:tc>
                    <a:tc>
                      <a:txBody>
                        <a:bodyPr/>
                        <a:lstStyle/>
                        <a:p>
                          <a:endParaRPr lang="en-US"/>
                        </a:p>
                      </a:txBody>
                      <a:tcPr marL="68580" marR="68580" marT="0" marB="0" anchor="ctr">
                        <a:blipFill>
                          <a:blip r:embed="rId7"/>
                          <a:stretch>
                            <a:fillRect l="-54566" t="-141096" r="-175114" b="-215068"/>
                          </a:stretch>
                        </a:blipFill>
                      </a:tcPr>
                    </a:tc>
                    <a:tc>
                      <a:txBody>
                        <a:bodyPr/>
                        <a:lstStyle/>
                        <a:p>
                          <a:endParaRPr lang="en-US"/>
                        </a:p>
                      </a:txBody>
                      <a:tcPr marL="68580" marR="68580" marT="0" marB="0" anchor="ctr">
                        <a:blipFill>
                          <a:blip r:embed="rId7"/>
                          <a:stretch>
                            <a:fillRect l="-159294" t="-141096" r="-80471" b="-215068"/>
                          </a:stretch>
                        </a:blipFill>
                      </a:tcPr>
                    </a:tc>
                    <a:tc>
                      <a:txBody>
                        <a:bodyPr/>
                        <a:lstStyle/>
                        <a:p>
                          <a:endParaRPr lang="en-US"/>
                        </a:p>
                      </a:txBody>
                      <a:tcPr marL="68580" marR="68580" marT="0" marB="0" anchor="ctr">
                        <a:blipFill>
                          <a:blip r:embed="rId7"/>
                          <a:stretch>
                            <a:fillRect l="-326036" t="-141096" r="-1183" b="-215068"/>
                          </a:stretch>
                        </a:blipFill>
                      </a:tcPr>
                    </a:tc>
                    <a:extLst>
                      <a:ext uri="{0D108BD9-81ED-4DB2-BD59-A6C34878D82A}">
                        <a16:rowId xmlns:a16="http://schemas.microsoft.com/office/drawing/2014/main" val="10001"/>
                      </a:ext>
                    </a:extLst>
                  </a:tr>
                  <a:tr h="274320">
                    <a:tc>
                      <a:txBody>
                        <a:bodyPr/>
                        <a:lstStyle/>
                        <a:p>
                          <a:pPr marL="0" marR="0" algn="ctr">
                            <a:spcBef>
                              <a:spcPts val="0"/>
                            </a:spcBef>
                            <a:spcAft>
                              <a:spcPts val="0"/>
                            </a:spcAft>
                          </a:pPr>
                          <a:r>
                            <a:rPr lang="en-US" sz="1800">
                              <a:effectLst/>
                            </a:rPr>
                            <a:t>Zero</a:t>
                          </a:r>
                          <a:endParaRPr lang="en-US" sz="1800">
                            <a:effectLst/>
                            <a:latin typeface="Palatino Linotype"/>
                            <a:ea typeface="宋体"/>
                            <a:cs typeface="Times New Roman"/>
                          </a:endParaRPr>
                        </a:p>
                      </a:txBody>
                      <a:tcPr marL="68580" marR="68580" marT="0" marB="0" anchor="ctr"/>
                    </a:tc>
                    <a:tc>
                      <a:txBody>
                        <a:bodyPr/>
                        <a:lstStyle/>
                        <a:p>
                          <a:endParaRPr lang="en-US"/>
                        </a:p>
                      </a:txBody>
                      <a:tcPr marL="68580" marR="68580" marT="0" marB="0" anchor="ctr">
                        <a:blipFill>
                          <a:blip r:embed="rId7"/>
                          <a:stretch>
                            <a:fillRect l="-54566" t="-391111" r="-175114" b="-248889"/>
                          </a:stretch>
                        </a:blipFill>
                      </a:tcPr>
                    </a:tc>
                    <a:tc>
                      <a:txBody>
                        <a:bodyPr/>
                        <a:lstStyle/>
                        <a:p>
                          <a:endParaRPr lang="en-US"/>
                        </a:p>
                      </a:txBody>
                      <a:tcPr marL="68580" marR="68580" marT="0" marB="0" anchor="ctr">
                        <a:blipFill>
                          <a:blip r:embed="rId7"/>
                          <a:stretch>
                            <a:fillRect l="-159294" t="-391111" r="-80471" b="-248889"/>
                          </a:stretch>
                        </a:blipFill>
                      </a:tcPr>
                    </a:tc>
                    <a:tc>
                      <a:txBody>
                        <a:bodyPr/>
                        <a:lstStyle/>
                        <a:p>
                          <a:pPr marL="0" marR="0" algn="ctr">
                            <a:spcBef>
                              <a:spcPts val="0"/>
                            </a:spcBef>
                            <a:spcAft>
                              <a:spcPts val="0"/>
                            </a:spcAft>
                          </a:pPr>
                          <a:r>
                            <a:rPr lang="en-US" sz="1800">
                              <a:effectLst/>
                            </a:rPr>
                            <a:t>One zero</a:t>
                          </a:r>
                          <a:endParaRPr lang="en-US" sz="180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2"/>
                      </a:ext>
                    </a:extLst>
                  </a:tr>
                  <a:tr h="548640">
                    <a:tc>
                      <a:txBody>
                        <a:bodyPr/>
                        <a:lstStyle/>
                        <a:p>
                          <a:pPr marL="0" marR="0" algn="ctr">
                            <a:spcBef>
                              <a:spcPts val="0"/>
                            </a:spcBef>
                            <a:spcAft>
                              <a:spcPts val="0"/>
                            </a:spcAft>
                          </a:pPr>
                          <a:r>
                            <a:rPr lang="en-US" sz="1800">
                              <a:effectLst/>
                            </a:rPr>
                            <a:t>Unique Numbers</a:t>
                          </a:r>
                          <a:endParaRPr lang="en-US" sz="1800">
                            <a:effectLst/>
                            <a:latin typeface="Palatino Linotype"/>
                            <a:ea typeface="宋体"/>
                            <a:cs typeface="Times New Roman"/>
                          </a:endParaRPr>
                        </a:p>
                      </a:txBody>
                      <a:tcPr marL="68580" marR="68580" marT="0" marB="0" anchor="ctr"/>
                    </a:tc>
                    <a:tc>
                      <a:txBody>
                        <a:bodyPr/>
                        <a:lstStyle/>
                        <a:p>
                          <a:endParaRPr lang="en-US"/>
                        </a:p>
                      </a:txBody>
                      <a:tcPr marL="68580" marR="68580" marT="0" marB="0" anchor="ctr">
                        <a:blipFill>
                          <a:blip r:embed="rId7"/>
                          <a:stretch>
                            <a:fillRect l="-54566" t="-245556" r="-175114" b="-24444"/>
                          </a:stretch>
                        </a:blipFill>
                      </a:tcPr>
                    </a:tc>
                    <a:tc>
                      <a:txBody>
                        <a:bodyPr/>
                        <a:lstStyle/>
                        <a:p>
                          <a:endParaRPr lang="en-US"/>
                        </a:p>
                      </a:txBody>
                      <a:tcPr marL="68580" marR="68580" marT="0" marB="0" anchor="ctr">
                        <a:blipFill>
                          <a:blip r:embed="rId7"/>
                          <a:stretch>
                            <a:fillRect l="-159294" t="-245556" r="-80471" b="-24444"/>
                          </a:stretch>
                        </a:blipFill>
                      </a:tcPr>
                    </a:tc>
                    <a:tc>
                      <a:txBody>
                        <a:bodyPr/>
                        <a:lstStyle/>
                        <a:p>
                          <a:endParaRPr lang="en-US"/>
                        </a:p>
                      </a:txBody>
                      <a:tcPr marL="68580" marR="68580" marT="0" marB="0" anchor="ctr">
                        <a:blipFill>
                          <a:blip r:embed="rId7"/>
                          <a:stretch>
                            <a:fillRect l="-326036" t="-245556" r="-1183" b="-24444"/>
                          </a:stretch>
                        </a:blipFill>
                      </a:tcPr>
                    </a:tc>
                    <a:extLst>
                      <a:ext uri="{0D108BD9-81ED-4DB2-BD59-A6C34878D82A}">
                        <a16:rowId xmlns:a16="http://schemas.microsoft.com/office/drawing/2014/main" val="10003"/>
                      </a:ext>
                    </a:extLst>
                  </a:tr>
                </a:tbl>
              </a:graphicData>
            </a:graphic>
          </p:graphicFrame>
        </mc:Fallback>
      </mc:AlternateContent>
    </p:spTree>
    <p:extLst>
      <p:ext uri="{BB962C8B-B14F-4D97-AF65-F5344CB8AC3E}">
        <p14:creationId xmlns:p14="http://schemas.microsoft.com/office/powerpoint/2010/main" val="946825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3C89448-AD74-4018-9305-3850ACD33B3A}" type="slidenum">
              <a:rPr kumimoji="0" lang="en-US" sz="1400" b="0" i="0" u="none" strike="noStrike" kern="1200" cap="none" spc="0" normalizeH="0" baseline="0" noProof="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187395" name="Rectangle 3"/>
          <p:cNvSpPr>
            <a:spLocks noGrp="1" noChangeArrowheads="1"/>
          </p:cNvSpPr>
          <p:nvPr>
            <p:ph type="body" idx="1"/>
          </p:nvPr>
        </p:nvSpPr>
        <p:spPr>
          <a:xfrm>
            <a:off x="381000" y="3124200"/>
            <a:ext cx="4419600" cy="3352800"/>
          </a:xfrm>
          <a:noFill/>
          <a:extLst>
            <a:ext uri="{909E8E84-426E-40DD-AFC4-6F175D3DCCD1}">
              <a14:hiddenFill xmlns:a14="http://schemas.microsoft.com/office/drawing/2010/main">
                <a:solidFill>
                  <a:srgbClr val="E4F5FF"/>
                </a:solidFill>
              </a14:hiddenFill>
            </a:ext>
          </a:extLst>
        </p:spPr>
        <p:txBody>
          <a:bodyPr>
            <a:normAutofit fontScale="77500" lnSpcReduction="20000"/>
          </a:bodyPr>
          <a:lstStyle/>
          <a:p>
            <a:r>
              <a:rPr lang="en-US" dirty="0"/>
              <a:t>Example:  in a 5-bit system</a:t>
            </a:r>
          </a:p>
          <a:p>
            <a:pPr lvl="1"/>
            <a:r>
              <a:rPr lang="en-US" dirty="0">
                <a:solidFill>
                  <a:schemeClr val="tx1"/>
                </a:solidFill>
                <a:latin typeface="Consolas" panose="020B0609020204030204" pitchFamily="49" charset="0"/>
                <a:cs typeface="Consolas" panose="020B0609020204030204" pitchFamily="49" charset="0"/>
              </a:rPr>
              <a:t>+7</a:t>
            </a:r>
            <a:r>
              <a:rPr lang="en-US" baseline="-25000" dirty="0">
                <a:solidFill>
                  <a:schemeClr val="tx1"/>
                </a:solidFill>
                <a:latin typeface="Consolas" panose="020B0609020204030204" pitchFamily="49" charset="0"/>
                <a:cs typeface="Consolas" panose="020B0609020204030204" pitchFamily="49" charset="0"/>
              </a:rPr>
              <a:t>10</a:t>
            </a:r>
            <a:r>
              <a:rPr lang="en-US" dirty="0">
                <a:solidFill>
                  <a:schemeClr val="tx1"/>
                </a:solidFill>
                <a:latin typeface="Consolas" panose="020B0609020204030204" pitchFamily="49" charset="0"/>
                <a:cs typeface="Consolas" panose="020B0609020204030204" pitchFamily="49" charset="0"/>
              </a:rPr>
              <a:t> = </a:t>
            </a:r>
            <a:r>
              <a:rPr lang="en-US" dirty="0">
                <a:solidFill>
                  <a:srgbClr val="FF0000"/>
                </a:solidFill>
                <a:latin typeface="Consolas" panose="020B0609020204030204" pitchFamily="49" charset="0"/>
                <a:cs typeface="Consolas" panose="020B0609020204030204" pitchFamily="49" charset="0"/>
              </a:rPr>
              <a:t>0</a:t>
            </a:r>
            <a:r>
              <a:rPr lang="en-US" dirty="0">
                <a:solidFill>
                  <a:srgbClr val="0000FF"/>
                </a:solidFill>
                <a:latin typeface="Consolas" panose="020B0609020204030204" pitchFamily="49" charset="0"/>
                <a:cs typeface="Consolas" panose="020B0609020204030204" pitchFamily="49" charset="0"/>
              </a:rPr>
              <a:t>0111</a:t>
            </a:r>
            <a:r>
              <a:rPr lang="en-US" baseline="-25000" dirty="0">
                <a:solidFill>
                  <a:schemeClr val="tx1"/>
                </a:solidFill>
                <a:latin typeface="Consolas" panose="020B0609020204030204" pitchFamily="49" charset="0"/>
                <a:cs typeface="Consolas" panose="020B0609020204030204" pitchFamily="49" charset="0"/>
              </a:rPr>
              <a:t>2</a:t>
            </a:r>
          </a:p>
          <a:p>
            <a:pPr lvl="1"/>
            <a:r>
              <a:rPr lang="en-US" dirty="0">
                <a:solidFill>
                  <a:schemeClr val="tx1"/>
                </a:solidFill>
                <a:latin typeface="Consolas" panose="020B0609020204030204" pitchFamily="49" charset="0"/>
                <a:cs typeface="Consolas" panose="020B0609020204030204" pitchFamily="49" charset="0"/>
              </a:rPr>
              <a:t>-7</a:t>
            </a:r>
            <a:r>
              <a:rPr lang="en-US" baseline="-25000" dirty="0">
                <a:solidFill>
                  <a:schemeClr val="tx1"/>
                </a:solidFill>
                <a:latin typeface="Consolas" panose="020B0609020204030204" pitchFamily="49" charset="0"/>
                <a:cs typeface="Consolas" panose="020B0609020204030204" pitchFamily="49" charset="0"/>
              </a:rPr>
              <a:t>10</a:t>
            </a:r>
            <a:r>
              <a:rPr lang="en-US" dirty="0">
                <a:solidFill>
                  <a:schemeClr val="tx1"/>
                </a:solidFill>
                <a:latin typeface="Consolas" panose="020B0609020204030204" pitchFamily="49" charset="0"/>
                <a:cs typeface="Consolas" panose="020B0609020204030204" pitchFamily="49" charset="0"/>
              </a:rPr>
              <a:t> = </a:t>
            </a:r>
            <a:r>
              <a:rPr lang="en-US" dirty="0">
                <a:solidFill>
                  <a:srgbClr val="FF0000"/>
                </a:solidFill>
                <a:latin typeface="Consolas" panose="020B0609020204030204" pitchFamily="49" charset="0"/>
                <a:cs typeface="Consolas" panose="020B0609020204030204" pitchFamily="49" charset="0"/>
              </a:rPr>
              <a:t>1</a:t>
            </a:r>
            <a:r>
              <a:rPr lang="en-US" dirty="0">
                <a:solidFill>
                  <a:srgbClr val="0000FF"/>
                </a:solidFill>
                <a:latin typeface="Consolas" panose="020B0609020204030204" pitchFamily="49" charset="0"/>
                <a:cs typeface="Consolas" panose="020B0609020204030204" pitchFamily="49" charset="0"/>
              </a:rPr>
              <a:t>0111</a:t>
            </a:r>
            <a:r>
              <a:rPr lang="en-US" baseline="-25000" dirty="0">
                <a:solidFill>
                  <a:schemeClr val="tx1"/>
                </a:solidFill>
                <a:latin typeface="Consolas" panose="020B0609020204030204" pitchFamily="49" charset="0"/>
                <a:cs typeface="Consolas" panose="020B0609020204030204" pitchFamily="49" charset="0"/>
              </a:rPr>
              <a:t>2</a:t>
            </a:r>
          </a:p>
          <a:p>
            <a:pPr lvl="1"/>
            <a:endParaRPr lang="en-US" dirty="0">
              <a:solidFill>
                <a:srgbClr val="0000FF"/>
              </a:solidFill>
              <a:latin typeface="Consolas" panose="020B0609020204030204" pitchFamily="49" charset="0"/>
              <a:cs typeface="Consolas" panose="020B0609020204030204" pitchFamily="49" charset="0"/>
            </a:endParaRPr>
          </a:p>
          <a:p>
            <a:r>
              <a:rPr lang="en-US" dirty="0"/>
              <a:t>Two ways to represent zero </a:t>
            </a:r>
          </a:p>
          <a:p>
            <a:pPr lvl="1"/>
            <a:r>
              <a:rPr lang="en-US" dirty="0">
                <a:solidFill>
                  <a:schemeClr val="tx1"/>
                </a:solidFill>
                <a:latin typeface="Consolas" panose="020B0609020204030204" pitchFamily="49" charset="0"/>
                <a:cs typeface="Consolas" panose="020B0609020204030204" pitchFamily="49" charset="0"/>
              </a:rPr>
              <a:t>+0</a:t>
            </a:r>
            <a:r>
              <a:rPr lang="en-US" baseline="-25000" dirty="0">
                <a:solidFill>
                  <a:schemeClr val="tx1"/>
                </a:solidFill>
                <a:latin typeface="Consolas" panose="020B0609020204030204" pitchFamily="49" charset="0"/>
                <a:cs typeface="Consolas" panose="020B0609020204030204" pitchFamily="49" charset="0"/>
              </a:rPr>
              <a:t>10</a:t>
            </a:r>
            <a:r>
              <a:rPr lang="en-US" dirty="0">
                <a:solidFill>
                  <a:schemeClr val="tx1"/>
                </a:solidFill>
                <a:latin typeface="Consolas" panose="020B0609020204030204" pitchFamily="49" charset="0"/>
                <a:cs typeface="Consolas" panose="020B0609020204030204" pitchFamily="49" charset="0"/>
              </a:rPr>
              <a:t> = </a:t>
            </a:r>
            <a:r>
              <a:rPr lang="en-US" dirty="0">
                <a:solidFill>
                  <a:srgbClr val="FF0000"/>
                </a:solidFill>
                <a:latin typeface="Consolas" panose="020B0609020204030204" pitchFamily="49" charset="0"/>
                <a:cs typeface="Consolas" panose="020B0609020204030204" pitchFamily="49" charset="0"/>
              </a:rPr>
              <a:t>0</a:t>
            </a:r>
            <a:r>
              <a:rPr lang="en-US" dirty="0">
                <a:solidFill>
                  <a:srgbClr val="0000FF"/>
                </a:solidFill>
                <a:latin typeface="Consolas" panose="020B0609020204030204" pitchFamily="49" charset="0"/>
                <a:cs typeface="Consolas" panose="020B0609020204030204" pitchFamily="49" charset="0"/>
              </a:rPr>
              <a:t>0000</a:t>
            </a:r>
            <a:r>
              <a:rPr lang="en-US" baseline="-25000" dirty="0">
                <a:solidFill>
                  <a:schemeClr val="tx1"/>
                </a:solidFill>
                <a:latin typeface="Consolas" panose="020B0609020204030204" pitchFamily="49" charset="0"/>
                <a:cs typeface="Consolas" panose="020B0609020204030204" pitchFamily="49" charset="0"/>
              </a:rPr>
              <a:t>2</a:t>
            </a:r>
            <a:r>
              <a:rPr lang="en-US" dirty="0">
                <a:solidFill>
                  <a:srgbClr val="0000FF"/>
                </a:solidFill>
                <a:latin typeface="Consolas" panose="020B0609020204030204" pitchFamily="49" charset="0"/>
                <a:cs typeface="Consolas" panose="020B0609020204030204" pitchFamily="49" charset="0"/>
              </a:rPr>
              <a:t> </a:t>
            </a:r>
          </a:p>
          <a:p>
            <a:pPr lvl="1"/>
            <a:r>
              <a:rPr lang="en-US" dirty="0">
                <a:solidFill>
                  <a:schemeClr val="tx1"/>
                </a:solidFill>
                <a:latin typeface="Consolas" panose="020B0609020204030204" pitchFamily="49" charset="0"/>
                <a:cs typeface="Consolas" panose="020B0609020204030204" pitchFamily="49" charset="0"/>
              </a:rPr>
              <a:t>-0</a:t>
            </a:r>
            <a:r>
              <a:rPr lang="en-US" baseline="-25000" dirty="0">
                <a:solidFill>
                  <a:schemeClr val="tx1"/>
                </a:solidFill>
                <a:latin typeface="Consolas" panose="020B0609020204030204" pitchFamily="49" charset="0"/>
                <a:cs typeface="Consolas" panose="020B0609020204030204" pitchFamily="49" charset="0"/>
              </a:rPr>
              <a:t>10</a:t>
            </a:r>
            <a:r>
              <a:rPr lang="en-US" dirty="0">
                <a:solidFill>
                  <a:schemeClr val="tx1"/>
                </a:solidFill>
                <a:latin typeface="Consolas" panose="020B0609020204030204" pitchFamily="49" charset="0"/>
                <a:cs typeface="Consolas" panose="020B0609020204030204" pitchFamily="49" charset="0"/>
              </a:rPr>
              <a:t> = </a:t>
            </a:r>
            <a:r>
              <a:rPr lang="en-US" dirty="0">
                <a:solidFill>
                  <a:srgbClr val="FF0000"/>
                </a:solidFill>
                <a:latin typeface="Consolas" panose="020B0609020204030204" pitchFamily="49" charset="0"/>
                <a:cs typeface="Consolas" panose="020B0609020204030204" pitchFamily="49" charset="0"/>
              </a:rPr>
              <a:t>1</a:t>
            </a:r>
            <a:r>
              <a:rPr lang="en-US" dirty="0">
                <a:solidFill>
                  <a:srgbClr val="0000FF"/>
                </a:solidFill>
                <a:latin typeface="Consolas" panose="020B0609020204030204" pitchFamily="49" charset="0"/>
                <a:cs typeface="Consolas" panose="020B0609020204030204" pitchFamily="49" charset="0"/>
              </a:rPr>
              <a:t>0000</a:t>
            </a:r>
            <a:r>
              <a:rPr lang="en-US" baseline="-25000" dirty="0">
                <a:solidFill>
                  <a:schemeClr val="tx1"/>
                </a:solidFill>
                <a:latin typeface="Consolas" panose="020B0609020204030204" pitchFamily="49" charset="0"/>
                <a:cs typeface="Consolas" panose="020B0609020204030204" pitchFamily="49" charset="0"/>
              </a:rPr>
              <a:t>2</a:t>
            </a:r>
            <a:endParaRPr lang="en-US" dirty="0">
              <a:solidFill>
                <a:schemeClr val="tx1"/>
              </a:solidFill>
              <a:latin typeface="Consolas" panose="020B0609020204030204" pitchFamily="49" charset="0"/>
              <a:cs typeface="Consolas" panose="020B0609020204030204" pitchFamily="49" charset="0"/>
            </a:endParaRPr>
          </a:p>
          <a:p>
            <a:pPr lvl="1"/>
            <a:endParaRPr lang="en-US" baseline="-25000" dirty="0">
              <a:solidFill>
                <a:schemeClr val="tx1"/>
              </a:solidFill>
              <a:latin typeface="Consolas" panose="020B0609020204030204" pitchFamily="49" charset="0"/>
              <a:cs typeface="Consolas" panose="020B0609020204030204" pitchFamily="49" charset="0"/>
            </a:endParaRPr>
          </a:p>
          <a:p>
            <a:r>
              <a:rPr lang="en-US" dirty="0">
                <a:cs typeface="Consolas" panose="020B0609020204030204" pitchFamily="49" charset="0"/>
              </a:rPr>
              <a:t>Not used in modern systems</a:t>
            </a:r>
          </a:p>
          <a:p>
            <a:pPr lvl="1"/>
            <a:r>
              <a:rPr lang="en-US" dirty="0">
                <a:cs typeface="Consolas" panose="020B0609020204030204" pitchFamily="49" charset="0"/>
              </a:rPr>
              <a:t>Hardware complexity</a:t>
            </a:r>
          </a:p>
          <a:p>
            <a:pPr lvl="1"/>
            <a:r>
              <a:rPr lang="en-US" dirty="0">
                <a:cs typeface="Consolas" panose="020B0609020204030204" pitchFamily="49" charset="0"/>
              </a:rPr>
              <a:t>Two zeros </a:t>
            </a:r>
            <a:endParaRPr lang="en-US" dirty="0">
              <a:solidFill>
                <a:schemeClr val="tx1"/>
              </a:solidFill>
              <a:cs typeface="Consolas" panose="020B0609020204030204" pitchFamily="49" charset="0"/>
            </a:endParaRPr>
          </a:p>
        </p:txBody>
      </p:sp>
      <p:sp>
        <p:nvSpPr>
          <p:cNvPr id="2" name="Title 1"/>
          <p:cNvSpPr>
            <a:spLocks noGrp="1"/>
          </p:cNvSpPr>
          <p:nvPr>
            <p:ph type="title"/>
          </p:nvPr>
        </p:nvSpPr>
        <p:spPr/>
        <p:txBody>
          <a:bodyPr>
            <a:normAutofit fontScale="90000"/>
          </a:bodyPr>
          <a:lstStyle/>
          <a:p>
            <a:r>
              <a:rPr lang="en-US" dirty="0"/>
              <a:t>Signed Integers</a:t>
            </a:r>
            <a:br>
              <a:rPr lang="en-US" dirty="0"/>
            </a:br>
            <a:r>
              <a:rPr lang="en-US" dirty="0">
                <a:solidFill>
                  <a:schemeClr val="accent2"/>
                </a:solidFill>
              </a:rPr>
              <a:t>Method 1: Signed magnitude </a:t>
            </a:r>
          </a:p>
        </p:txBody>
      </p:sp>
      <mc:AlternateContent xmlns:mc="http://schemas.openxmlformats.org/markup-compatibility/2006" xmlns:a14="http://schemas.microsoft.com/office/drawing/2010/main">
        <mc:Choice Requires="a14">
          <p:sp>
            <p:nvSpPr>
              <p:cNvPr id="3" name="Rectangle 2"/>
              <p:cNvSpPr/>
              <p:nvPr/>
            </p:nvSpPr>
            <p:spPr>
              <a:xfrm>
                <a:off x="381000" y="1275707"/>
                <a:ext cx="5181600" cy="875753"/>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1" u="none" strike="noStrike" kern="1200" cap="none" spc="0" normalizeH="0" baseline="0" noProof="0" dirty="0">
                    <a:ln>
                      <a:noFill/>
                    </a:ln>
                    <a:solidFill>
                      <a:prstClr val="black"/>
                    </a:solidFill>
                    <a:effectLst/>
                    <a:uLnTx/>
                    <a:uFillTx/>
                    <a:latin typeface="Gill Sans MT"/>
                    <a:ea typeface="+mn-ea"/>
                    <a:cs typeface="+mn-cs"/>
                  </a:rPr>
                  <a:t>Sign-and-Magnitude:</a:t>
                </a:r>
                <a:endParaRPr kumimoji="0" lang="en-US" sz="2400" b="0" i="0" u="none" strike="noStrike" kern="1200" cap="none" spc="0" normalizeH="0" baseline="0" noProof="0" dirty="0">
                  <a:ln>
                    <a:noFill/>
                  </a:ln>
                  <a:solidFill>
                    <a:prstClr val="black"/>
                  </a:solidFill>
                  <a:effectLst/>
                  <a:uLnTx/>
                  <a:uFillTx/>
                  <a:latin typeface="Gill Sans M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1" i="1" u="none" strike="noStrike" kern="1200" cap="none" spc="0" normalizeH="0" baseline="0" noProof="0">
                          <a:ln>
                            <a:noFill/>
                          </a:ln>
                          <a:solidFill>
                            <a:prstClr val="black"/>
                          </a:solidFill>
                          <a:effectLst/>
                          <a:uLnTx/>
                          <a:uFillTx/>
                          <a:latin typeface="Cambria Math"/>
                          <a:ea typeface="+mn-ea"/>
                          <a:cs typeface="+mn-cs"/>
                        </a:rPr>
                        <m:t>𝒗𝒂𝒍𝒖𝒆</m:t>
                      </m:r>
                      <m:r>
                        <a:rPr kumimoji="0" lang="en-US" sz="2400" b="1" i="1" u="none" strike="noStrike" kern="1200" cap="none" spc="0" normalizeH="0" baseline="0" noProof="0">
                          <a:ln>
                            <a:noFill/>
                          </a:ln>
                          <a:solidFill>
                            <a:prstClr val="black"/>
                          </a:solidFill>
                          <a:effectLst/>
                          <a:uLnTx/>
                          <a:uFillTx/>
                          <a:latin typeface="Cambria Math"/>
                          <a:ea typeface="+mn-ea"/>
                          <a:cs typeface="+mn-cs"/>
                        </a:rPr>
                        <m:t>=</m:t>
                      </m:r>
                      <m:sSup>
                        <m:sSup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2400" b="1" i="1" u="none" strike="noStrike" kern="1200" cap="none" spc="0" normalizeH="0" baseline="0" noProof="0">
                              <a:ln>
                                <a:noFill/>
                              </a:ln>
                              <a:solidFill>
                                <a:prstClr val="black"/>
                              </a:solidFill>
                              <a:effectLst/>
                              <a:uLnTx/>
                              <a:uFillTx/>
                              <a:latin typeface="Cambria Math"/>
                              <a:ea typeface="+mn-ea"/>
                              <a:cs typeface="+mn-cs"/>
                            </a:rPr>
                            <m:t>(−</m:t>
                          </m:r>
                          <m:r>
                            <a:rPr kumimoji="0" lang="en-US" sz="2400" b="1" i="1" u="none" strike="noStrike" kern="1200" cap="none" spc="0" normalizeH="0" baseline="0" noProof="0">
                              <a:ln>
                                <a:noFill/>
                              </a:ln>
                              <a:solidFill>
                                <a:prstClr val="black"/>
                              </a:solidFill>
                              <a:effectLst/>
                              <a:uLnTx/>
                              <a:uFillTx/>
                              <a:latin typeface="Cambria Math"/>
                              <a:ea typeface="+mn-ea"/>
                              <a:cs typeface="+mn-cs"/>
                            </a:rPr>
                            <m:t>𝟏</m:t>
                          </m:r>
                          <m:r>
                            <a:rPr kumimoji="0" lang="en-US" sz="2400" b="1" i="1" u="none" strike="noStrike" kern="1200" cap="none" spc="0" normalizeH="0" baseline="0" noProof="0">
                              <a:ln>
                                <a:noFill/>
                              </a:ln>
                              <a:solidFill>
                                <a:prstClr val="black"/>
                              </a:solidFill>
                              <a:effectLst/>
                              <a:uLnTx/>
                              <a:uFillTx/>
                              <a:latin typeface="Cambria Math"/>
                              <a:ea typeface="+mn-ea"/>
                              <a:cs typeface="+mn-cs"/>
                            </a:rPr>
                            <m:t>)</m:t>
                          </m:r>
                        </m:e>
                        <m:sup>
                          <m:r>
                            <a:rPr kumimoji="0" lang="en-US" sz="2400" b="1" i="1" u="none" strike="noStrike" kern="1200" cap="none" spc="0" normalizeH="0" baseline="0" noProof="0" smtClean="0">
                              <a:ln>
                                <a:noFill/>
                              </a:ln>
                              <a:solidFill>
                                <a:srgbClr val="FF0000"/>
                              </a:solidFill>
                              <a:effectLst/>
                              <a:uLnTx/>
                              <a:uFillTx/>
                              <a:latin typeface="Cambria Math"/>
                              <a:ea typeface="+mn-ea"/>
                              <a:cs typeface="+mn-cs"/>
                            </a:rPr>
                            <m:t>𝒔𝒊𝒈𝒏</m:t>
                          </m:r>
                        </m:sup>
                      </m:sSup>
                      <m:r>
                        <a:rPr kumimoji="0" lang="en-US" sz="2400" b="1" i="1" u="none" strike="noStrike" kern="1200" cap="none" spc="0" normalizeH="0" baseline="0" noProof="0">
                          <a:ln>
                            <a:noFill/>
                          </a:ln>
                          <a:solidFill>
                            <a:prstClr val="black"/>
                          </a:solidFill>
                          <a:effectLst/>
                          <a:uLnTx/>
                          <a:uFillTx/>
                          <a:latin typeface="Cambria Math"/>
                          <a:ea typeface="+mn-ea"/>
                          <a:cs typeface="+mn-cs"/>
                        </a:rPr>
                        <m:t>×</m:t>
                      </m:r>
                      <m:r>
                        <a:rPr kumimoji="0" lang="en-US" sz="2400" b="1" i="1" u="none" strike="noStrike" kern="1200" cap="none" spc="0" normalizeH="0" baseline="0" noProof="0" smtClean="0">
                          <a:ln>
                            <a:noFill/>
                          </a:ln>
                          <a:solidFill>
                            <a:srgbClr val="0000FF"/>
                          </a:solidFill>
                          <a:effectLst/>
                          <a:uLnTx/>
                          <a:uFillTx/>
                          <a:latin typeface="Cambria Math"/>
                          <a:ea typeface="+mn-ea"/>
                          <a:cs typeface="+mn-cs"/>
                        </a:rPr>
                        <m:t>𝑴𝒂𝒈𝒏𝒊𝒕𝒖𝒅</m:t>
                      </m:r>
                      <m:r>
                        <a:rPr kumimoji="0" lang="en-US" sz="2400" b="1" i="1" u="none" strike="noStrike" kern="1200" cap="none" spc="0" normalizeH="0" baseline="0" noProof="0">
                          <a:ln>
                            <a:noFill/>
                          </a:ln>
                          <a:solidFill>
                            <a:srgbClr val="0000FF"/>
                          </a:solidFill>
                          <a:effectLst/>
                          <a:uLnTx/>
                          <a:uFillTx/>
                          <a:latin typeface="Cambria Math"/>
                          <a:ea typeface="+mn-ea"/>
                          <a:cs typeface="+mn-cs"/>
                        </a:rPr>
                        <m:t>𝒆</m:t>
                      </m:r>
                    </m:oMath>
                  </m:oMathPara>
                </a14:m>
                <a:endParaRPr kumimoji="0" lang="en-US" sz="2400" b="0" i="0" u="none" strike="noStrike" kern="1200" cap="none" spc="0" normalizeH="0" baseline="0" noProof="0" dirty="0">
                  <a:ln>
                    <a:noFill/>
                  </a:ln>
                  <a:solidFill>
                    <a:srgbClr val="0000FF"/>
                  </a:solidFill>
                  <a:effectLst/>
                  <a:uLnTx/>
                  <a:uFillTx/>
                  <a:latin typeface="Gill Sans MT"/>
                  <a:ea typeface="+mn-ea"/>
                  <a:cs typeface="+mn-cs"/>
                </a:endParaRPr>
              </a:p>
            </p:txBody>
          </p:sp>
        </mc:Choice>
        <mc:Fallback xmlns="">
          <p:sp>
            <p:nvSpPr>
              <p:cNvPr id="3" name="Rectangle 2"/>
              <p:cNvSpPr>
                <a:spLocks noRot="1" noChangeAspect="1" noMove="1" noResize="1" noEditPoints="1" noAdjustHandles="1" noChangeArrowheads="1" noChangeShapeType="1" noTextEdit="1"/>
              </p:cNvSpPr>
              <p:nvPr/>
            </p:nvSpPr>
            <p:spPr>
              <a:xfrm>
                <a:off x="381000" y="1275707"/>
                <a:ext cx="5181600" cy="875753"/>
              </a:xfrm>
              <a:prstGeom prst="rect">
                <a:avLst/>
              </a:prstGeom>
              <a:blipFill rotWithShape="1">
                <a:blip r:embed="rId4"/>
                <a:stretch>
                  <a:fillRect l="-1882" t="-5556"/>
                </a:stretch>
              </a:blipFill>
            </p:spPr>
            <p:txBody>
              <a:bodyPr/>
              <a:lstStyle/>
              <a:p>
                <a:r>
                  <a:rPr lang="en-US">
                    <a:noFill/>
                  </a:rPr>
                  <a:t> </a:t>
                </a:r>
              </a:p>
            </p:txBody>
          </p:sp>
        </mc:Fallback>
      </mc:AlternateContent>
      <p:sp>
        <p:nvSpPr>
          <p:cNvPr id="5" name="TextBox 4"/>
          <p:cNvSpPr txBox="1"/>
          <p:nvPr/>
        </p:nvSpPr>
        <p:spPr>
          <a:xfrm>
            <a:off x="870732" y="2200382"/>
            <a:ext cx="3744936" cy="646331"/>
          </a:xfrm>
          <a:prstGeom prst="rect">
            <a:avLst/>
          </a:prstGeom>
          <a:noFill/>
        </p:spPr>
        <p:txBody>
          <a:bodyPr wrap="non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The most significant bit is the sign.</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The rest bits are magnitude.</a:t>
            </a:r>
          </a:p>
        </p:txBody>
      </p:sp>
      <p:pic>
        <p:nvPicPr>
          <p:cNvPr id="4198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36216" y="2181627"/>
            <a:ext cx="4343400" cy="40993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Oval 5"/>
          <p:cNvSpPr/>
          <p:nvPr/>
        </p:nvSpPr>
        <p:spPr>
          <a:xfrm rot="636563">
            <a:off x="4576221" y="3736092"/>
            <a:ext cx="902864" cy="4150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9" name="Oval 8"/>
          <p:cNvSpPr/>
          <p:nvPr/>
        </p:nvSpPr>
        <p:spPr>
          <a:xfrm rot="20917649">
            <a:off x="8069218" y="3755591"/>
            <a:ext cx="902864" cy="4150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10" name="Oval 9"/>
          <p:cNvSpPr/>
          <p:nvPr/>
        </p:nvSpPr>
        <p:spPr>
          <a:xfrm rot="16200000">
            <a:off x="6292268" y="2242132"/>
            <a:ext cx="979064" cy="457200"/>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Tree>
    <p:extLst>
      <p:ext uri="{BB962C8B-B14F-4D97-AF65-F5344CB8AC3E}">
        <p14:creationId xmlns:p14="http://schemas.microsoft.com/office/powerpoint/2010/main" val="22190316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4" name="Title 3"/>
          <p:cNvSpPr>
            <a:spLocks noGrp="1"/>
          </p:cNvSpPr>
          <p:nvPr>
            <p:ph type="title"/>
          </p:nvPr>
        </p:nvSpPr>
        <p:spPr/>
        <p:txBody>
          <a:bodyPr>
            <a:normAutofit fontScale="90000"/>
          </a:bodyPr>
          <a:lstStyle/>
          <a:p>
            <a:r>
              <a:rPr lang="en-US" dirty="0"/>
              <a:t>Signed Integers</a:t>
            </a:r>
            <a:br>
              <a:rPr lang="en-US" dirty="0"/>
            </a:br>
            <a:r>
              <a:rPr lang="en-US" dirty="0">
                <a:solidFill>
                  <a:schemeClr val="accent2"/>
                </a:solidFill>
              </a:rPr>
              <a:t>Method 2: One’s Complement</a:t>
            </a:r>
          </a:p>
        </p:txBody>
      </p:sp>
      <mc:AlternateContent xmlns:mc="http://schemas.openxmlformats.org/markup-compatibility/2006" xmlns:a14="http://schemas.microsoft.com/office/drawing/2010/main">
        <mc:Choice Requires="a14">
          <p:sp>
            <p:nvSpPr>
              <p:cNvPr id="5" name="Rectangle 4"/>
              <p:cNvSpPr/>
              <p:nvPr/>
            </p:nvSpPr>
            <p:spPr>
              <a:xfrm>
                <a:off x="457200" y="1249233"/>
                <a:ext cx="3962400" cy="70788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1" u="none" strike="noStrike" kern="1200" cap="none" spc="0" normalizeH="0" baseline="0" noProof="0" dirty="0">
                    <a:ln>
                      <a:noFill/>
                    </a:ln>
                    <a:solidFill>
                      <a:prstClr val="black"/>
                    </a:solidFill>
                    <a:effectLst/>
                    <a:uLnTx/>
                    <a:uFillTx/>
                    <a:latin typeface="Gill Sans MT"/>
                    <a:ea typeface="+mn-ea"/>
                    <a:cs typeface="+mn-cs"/>
                  </a:rPr>
                  <a:t>One’s Complement (</a:t>
                </a:r>
                <a14:m>
                  <m:oMath xmlns:m="http://schemas.openxmlformats.org/officeDocument/2006/math">
                    <m:acc>
                      <m:accPr>
                        <m:chr m:val="̃"/>
                        <m:ctrlPr>
                          <a:rPr kumimoji="0" lang="en-US" sz="20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accPr>
                      <m:e>
                        <m:r>
                          <a:rPr kumimoji="0" lang="en-US" sz="2000" b="1" i="1" u="none" strike="noStrike" kern="1200" cap="none" spc="0" normalizeH="0" baseline="0" noProof="0">
                            <a:ln>
                              <a:noFill/>
                            </a:ln>
                            <a:solidFill>
                              <a:prstClr val="black"/>
                            </a:solidFill>
                            <a:effectLst/>
                            <a:uLnTx/>
                            <a:uFillTx/>
                            <a:latin typeface="Cambria Math"/>
                            <a:ea typeface="+mn-ea"/>
                            <a:cs typeface="+mn-cs"/>
                          </a:rPr>
                          <m:t>𝜶</m:t>
                        </m:r>
                      </m:e>
                    </m:acc>
                  </m:oMath>
                </a14:m>
                <a:r>
                  <a:rPr kumimoji="0" lang="en-US" sz="2000" b="1" i="1" u="none" strike="noStrike" kern="1200" cap="none" spc="0" normalizeH="0" baseline="0" noProof="0" dirty="0">
                    <a:ln>
                      <a:noFill/>
                    </a:ln>
                    <a:solidFill>
                      <a:prstClr val="black"/>
                    </a:solidFill>
                    <a:effectLst/>
                    <a:uLnTx/>
                    <a:uFillTx/>
                    <a:latin typeface="Gill Sans MT"/>
                    <a:ea typeface="+mn-ea"/>
                    <a:cs typeface="+mn-cs"/>
                  </a:rPr>
                  <a:t>):</a:t>
                </a:r>
                <a:endParaRPr kumimoji="0" lang="en-US" sz="2000" b="0" i="0" u="none" strike="noStrike" kern="1200" cap="none" spc="0" normalizeH="0" baseline="0" noProof="0" dirty="0">
                  <a:ln>
                    <a:noFill/>
                  </a:ln>
                  <a:solidFill>
                    <a:prstClr val="black"/>
                  </a:solidFill>
                  <a:effectLst/>
                  <a:uLnTx/>
                  <a:uFillTx/>
                  <a:latin typeface="Gill Sans M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1" i="1" u="none" strike="noStrike" kern="1200" cap="none" spc="0" normalizeH="0" baseline="0" noProof="0">
                          <a:ln>
                            <a:noFill/>
                          </a:ln>
                          <a:solidFill>
                            <a:prstClr val="black"/>
                          </a:solidFill>
                          <a:effectLst/>
                          <a:uLnTx/>
                          <a:uFillTx/>
                          <a:latin typeface="Cambria Math"/>
                          <a:ea typeface="+mn-ea"/>
                          <a:cs typeface="+mn-cs"/>
                        </a:rPr>
                        <m:t>𝜶</m:t>
                      </m:r>
                      <m:r>
                        <a:rPr kumimoji="0" lang="en-US" sz="2000" b="1" i="1" u="none" strike="noStrike" kern="1200" cap="none" spc="0" normalizeH="0" baseline="0" noProof="0">
                          <a:ln>
                            <a:noFill/>
                          </a:ln>
                          <a:solidFill>
                            <a:prstClr val="black"/>
                          </a:solidFill>
                          <a:effectLst/>
                          <a:uLnTx/>
                          <a:uFillTx/>
                          <a:latin typeface="Cambria Math"/>
                          <a:ea typeface="+mn-ea"/>
                          <a:cs typeface="+mn-cs"/>
                        </a:rPr>
                        <m:t>+</m:t>
                      </m:r>
                      <m:acc>
                        <m:accPr>
                          <m:chr m:val="̃"/>
                          <m:ctrlPr>
                            <a:rPr kumimoji="0" lang="en-US" sz="20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accPr>
                        <m:e>
                          <m:r>
                            <a:rPr kumimoji="0" lang="en-US" sz="2000" b="1" i="1" u="none" strike="noStrike" kern="1200" cap="none" spc="0" normalizeH="0" baseline="0" noProof="0">
                              <a:ln>
                                <a:noFill/>
                              </a:ln>
                              <a:solidFill>
                                <a:prstClr val="black"/>
                              </a:solidFill>
                              <a:effectLst/>
                              <a:uLnTx/>
                              <a:uFillTx/>
                              <a:latin typeface="Cambria Math"/>
                              <a:ea typeface="+mn-ea"/>
                              <a:cs typeface="+mn-cs"/>
                            </a:rPr>
                            <m:t>𝜶</m:t>
                          </m:r>
                        </m:e>
                      </m:acc>
                      <m:r>
                        <a:rPr kumimoji="0" lang="en-US" sz="2000" b="1" i="1" u="none" strike="noStrike" kern="1200" cap="none" spc="0" normalizeH="0" baseline="0" noProof="0">
                          <a:ln>
                            <a:noFill/>
                          </a:ln>
                          <a:solidFill>
                            <a:prstClr val="black"/>
                          </a:solidFill>
                          <a:effectLst/>
                          <a:uLnTx/>
                          <a:uFillTx/>
                          <a:latin typeface="Cambria Math"/>
                          <a:ea typeface="+mn-ea"/>
                          <a:cs typeface="+mn-cs"/>
                        </a:rPr>
                        <m:t>=</m:t>
                      </m:r>
                      <m:sSup>
                        <m:sSupPr>
                          <m:ctrlPr>
                            <a:rPr kumimoji="0" lang="en-US" sz="20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2000" b="1" i="1" u="none" strike="noStrike" kern="1200" cap="none" spc="0" normalizeH="0" baseline="0" noProof="0">
                              <a:ln>
                                <a:noFill/>
                              </a:ln>
                              <a:solidFill>
                                <a:prstClr val="black"/>
                              </a:solidFill>
                              <a:effectLst/>
                              <a:uLnTx/>
                              <a:uFillTx/>
                              <a:latin typeface="Cambria Math"/>
                              <a:ea typeface="+mn-ea"/>
                              <a:cs typeface="+mn-cs"/>
                            </a:rPr>
                            <m:t>𝟐</m:t>
                          </m:r>
                        </m:e>
                        <m:sup>
                          <m:r>
                            <a:rPr kumimoji="0" lang="en-US" sz="2000" b="1" i="1" u="none" strike="noStrike" kern="1200" cap="none" spc="0" normalizeH="0" baseline="0" noProof="0">
                              <a:ln>
                                <a:noFill/>
                              </a:ln>
                              <a:solidFill>
                                <a:prstClr val="black"/>
                              </a:solidFill>
                              <a:effectLst/>
                              <a:uLnTx/>
                              <a:uFillTx/>
                              <a:latin typeface="Cambria Math"/>
                              <a:ea typeface="+mn-ea"/>
                              <a:cs typeface="+mn-cs"/>
                            </a:rPr>
                            <m:t>𝒏</m:t>
                          </m:r>
                        </m:sup>
                      </m:sSup>
                      <m:r>
                        <a:rPr kumimoji="0" lang="en-US" sz="2000" b="1" i="1" u="none" strike="noStrike" kern="1200" cap="none" spc="0" normalizeH="0" baseline="0" noProof="0">
                          <a:ln>
                            <a:noFill/>
                          </a:ln>
                          <a:solidFill>
                            <a:prstClr val="black"/>
                          </a:solidFill>
                          <a:effectLst/>
                          <a:uLnTx/>
                          <a:uFillTx/>
                          <a:latin typeface="Cambria Math"/>
                          <a:ea typeface="+mn-ea"/>
                          <a:cs typeface="+mn-cs"/>
                        </a:rPr>
                        <m:t>−</m:t>
                      </m:r>
                      <m:r>
                        <a:rPr kumimoji="0" lang="en-US" sz="2000" b="1" i="1" u="none" strike="noStrike" kern="1200" cap="none" spc="0" normalizeH="0" baseline="0" noProof="0">
                          <a:ln>
                            <a:noFill/>
                          </a:ln>
                          <a:solidFill>
                            <a:prstClr val="black"/>
                          </a:solidFill>
                          <a:effectLst/>
                          <a:uLnTx/>
                          <a:uFillTx/>
                          <a:latin typeface="Cambria Math"/>
                          <a:ea typeface="+mn-ea"/>
                          <a:cs typeface="+mn-cs"/>
                        </a:rPr>
                        <m:t>𝟏</m:t>
                      </m:r>
                    </m:oMath>
                  </m:oMathPara>
                </a14:m>
                <a:endParaRPr kumimoji="0" lang="en-US" sz="2000" b="0" i="0" u="none" strike="noStrike" kern="1200" cap="none" spc="0" normalizeH="0" baseline="0" noProof="0" dirty="0">
                  <a:ln>
                    <a:noFill/>
                  </a:ln>
                  <a:solidFill>
                    <a:prstClr val="black"/>
                  </a:solidFill>
                  <a:effectLst/>
                  <a:uLnTx/>
                  <a:uFillTx/>
                  <a:latin typeface="Gill Sans MT"/>
                  <a:ea typeface="+mn-ea"/>
                  <a:cs typeface="+mn-cs"/>
                </a:endParaRPr>
              </a:p>
            </p:txBody>
          </p:sp>
        </mc:Choice>
        <mc:Fallback xmlns="">
          <p:sp>
            <p:nvSpPr>
              <p:cNvPr id="5" name="Rectangle 4"/>
              <p:cNvSpPr>
                <a:spLocks noRot="1" noChangeAspect="1" noMove="1" noResize="1" noEditPoints="1" noAdjustHandles="1" noChangeArrowheads="1" noChangeShapeType="1" noTextEdit="1"/>
              </p:cNvSpPr>
              <p:nvPr/>
            </p:nvSpPr>
            <p:spPr>
              <a:xfrm>
                <a:off x="457200" y="1249233"/>
                <a:ext cx="3962400" cy="707886"/>
              </a:xfrm>
              <a:prstGeom prst="rect">
                <a:avLst/>
              </a:prstGeom>
              <a:blipFill rotWithShape="1">
                <a:blip r:embed="rId9"/>
                <a:stretch>
                  <a:fillRect l="-1538" t="-4310"/>
                </a:stretch>
              </a:blipFill>
            </p:spPr>
            <p:txBody>
              <a:bodyPr/>
              <a:lstStyle/>
              <a:p>
                <a:r>
                  <a:rPr lang="en-US">
                    <a:noFill/>
                  </a:rPr>
                  <a:t> </a:t>
                </a:r>
              </a:p>
            </p:txBody>
          </p:sp>
        </mc:Fallback>
      </mc:AlternateContent>
      <p:pic>
        <p:nvPicPr>
          <p:cNvPr id="43010" name="Picture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1000" y="2166536"/>
            <a:ext cx="3967537" cy="37445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5715001" y="4038820"/>
            <a:ext cx="2743200" cy="92333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Example:  in a 5-bit system</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+7</a:t>
            </a:r>
            <a:r>
              <a:rPr kumimoji="0" lang="en-US" sz="1800" b="0" i="0" u="none" strike="noStrike" kern="1200" cap="none" spc="0" normalizeH="0" baseline="-25000" noProof="0" dirty="0">
                <a:ln>
                  <a:noFill/>
                </a:ln>
                <a:solidFill>
                  <a:prstClr val="black"/>
                </a:solidFill>
                <a:effectLst/>
                <a:uLnTx/>
                <a:uFillTx/>
                <a:latin typeface="Consolas" panose="020B0609020204030204" pitchFamily="49" charset="0"/>
                <a:ea typeface="+mn-ea"/>
                <a:cs typeface="Consolas" panose="020B0609020204030204" pitchFamily="49" charset="0"/>
              </a:rPr>
              <a:t>10</a:t>
            </a: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 </a:t>
            </a:r>
            <a:r>
              <a:rPr kumimoji="0" lang="en-US"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Consolas" panose="020B0609020204030204" pitchFamily="49" charset="0"/>
              </a:rPr>
              <a:t>00111</a:t>
            </a:r>
            <a:r>
              <a:rPr kumimoji="0" lang="en-US" sz="1800" b="0" i="0" u="none" strike="noStrike" kern="1200" cap="none" spc="0" normalizeH="0" baseline="-25000" noProof="0" dirty="0">
                <a:ln>
                  <a:noFill/>
                </a:ln>
                <a:solidFill>
                  <a:prstClr val="black"/>
                </a:solidFill>
                <a:effectLst/>
                <a:uLnTx/>
                <a:uFillTx/>
                <a:latin typeface="Consolas" panose="020B0609020204030204" pitchFamily="49" charset="0"/>
                <a:ea typeface="+mn-ea"/>
                <a:cs typeface="Consolas" panose="020B0609020204030204" pitchFamily="49" charset="0"/>
              </a:rPr>
              <a:t>2</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-7</a:t>
            </a:r>
            <a:r>
              <a:rPr kumimoji="0" lang="en-US" sz="1800" b="0" i="0" u="none" strike="noStrike" kern="1200" cap="none" spc="0" normalizeH="0" baseline="-25000" noProof="0" dirty="0">
                <a:ln>
                  <a:noFill/>
                </a:ln>
                <a:solidFill>
                  <a:prstClr val="black"/>
                </a:solidFill>
                <a:effectLst/>
                <a:uLnTx/>
                <a:uFillTx/>
                <a:latin typeface="Consolas" panose="020B0609020204030204" pitchFamily="49" charset="0"/>
                <a:ea typeface="+mn-ea"/>
                <a:cs typeface="Consolas" panose="020B0609020204030204" pitchFamily="49" charset="0"/>
              </a:rPr>
              <a:t>10</a:t>
            </a: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 </a:t>
            </a:r>
            <a:r>
              <a:rPr kumimoji="0" lang="en-US"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Consolas" panose="020B0609020204030204" pitchFamily="49" charset="0"/>
              </a:rPr>
              <a:t>11000</a:t>
            </a:r>
            <a:r>
              <a:rPr kumimoji="0" lang="en-US" sz="1800" b="0" i="0" u="none" strike="noStrike" kern="1200" cap="none" spc="0" normalizeH="0" baseline="-25000" noProof="0" dirty="0">
                <a:ln>
                  <a:noFill/>
                </a:ln>
                <a:solidFill>
                  <a:prstClr val="black"/>
                </a:solidFill>
                <a:effectLst/>
                <a:uLnTx/>
                <a:uFillTx/>
                <a:latin typeface="Consolas" panose="020B0609020204030204" pitchFamily="49" charset="0"/>
                <a:ea typeface="+mn-ea"/>
                <a:cs typeface="Consolas" panose="020B0609020204030204" pitchFamily="49" charset="0"/>
              </a:rPr>
              <a:t>2</a:t>
            </a:r>
          </a:p>
        </p:txBody>
      </p:sp>
      <p:sp>
        <p:nvSpPr>
          <p:cNvPr id="7" name="Rectangle 6"/>
          <p:cNvSpPr/>
          <p:nvPr/>
        </p:nvSpPr>
        <p:spPr>
          <a:xfrm>
            <a:off x="5110537" y="2514600"/>
            <a:ext cx="3657601" cy="120032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Gill Sans MT"/>
                <a:ea typeface="+mn-ea"/>
                <a:cs typeface="+mn-cs"/>
              </a:rPr>
              <a:t>The one's complement representation of a negative binary number is the bitwise NOT of its positive counterpart. </a:t>
            </a:r>
          </a:p>
        </p:txBody>
      </p:sp>
      <p:sp>
        <p:nvSpPr>
          <p:cNvPr id="8" name="Rectangle 7"/>
          <p:cNvSpPr/>
          <p:nvPr/>
        </p:nvSpPr>
        <p:spPr>
          <a:xfrm>
            <a:off x="4399052" y="5264983"/>
            <a:ext cx="4724400" cy="923330"/>
          </a:xfrm>
          <a:prstGeom prst="rect">
            <a:avLst/>
          </a:prstGeom>
        </p:spPr>
        <p:txBody>
          <a:bodyPr wrap="square">
            <a:spAutoFit/>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+7</a:t>
            </a:r>
            <a:r>
              <a:rPr kumimoji="0" lang="en-US" sz="1800" b="0" i="0" u="none" strike="noStrike" kern="1200" cap="none" spc="0" normalizeH="0" baseline="-25000" noProof="0" dirty="0">
                <a:ln>
                  <a:noFill/>
                </a:ln>
                <a:solidFill>
                  <a:prstClr val="black"/>
                </a:solidFill>
                <a:effectLst/>
                <a:uLnTx/>
                <a:uFillTx/>
                <a:latin typeface="Consolas" panose="020B0609020204030204" pitchFamily="49" charset="0"/>
                <a:ea typeface="+mn-ea"/>
                <a:cs typeface="Consolas" panose="020B0609020204030204" pitchFamily="49" charset="0"/>
              </a:rPr>
              <a:t>10</a:t>
            </a: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 (-7</a:t>
            </a:r>
            <a:r>
              <a:rPr kumimoji="0" lang="en-US" sz="1800" b="0" i="0" u="none" strike="noStrike" kern="1200" cap="none" spc="0" normalizeH="0" baseline="-25000" noProof="0" dirty="0">
                <a:ln>
                  <a:noFill/>
                </a:ln>
                <a:solidFill>
                  <a:prstClr val="black"/>
                </a:solidFill>
                <a:effectLst/>
                <a:uLnTx/>
                <a:uFillTx/>
                <a:latin typeface="Consolas" panose="020B0609020204030204" pitchFamily="49" charset="0"/>
                <a:ea typeface="+mn-ea"/>
                <a:cs typeface="Consolas" panose="020B0609020204030204" pitchFamily="49" charset="0"/>
              </a:rPr>
              <a:t>10</a:t>
            </a: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 </a:t>
            </a:r>
            <a:r>
              <a:rPr kumimoji="0" lang="en-US"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Consolas" panose="020B0609020204030204" pitchFamily="49" charset="0"/>
              </a:rPr>
              <a:t>00111</a:t>
            </a:r>
            <a:r>
              <a:rPr kumimoji="0" lang="en-US" sz="1800" b="0" i="0" u="none" strike="noStrike" kern="1200" cap="none" spc="0" normalizeH="0" baseline="-25000" noProof="0" dirty="0">
                <a:ln>
                  <a:noFill/>
                </a:ln>
                <a:solidFill>
                  <a:prstClr val="black"/>
                </a:solidFill>
                <a:effectLst/>
                <a:uLnTx/>
                <a:uFillTx/>
                <a:latin typeface="Consolas" panose="020B0609020204030204" pitchFamily="49" charset="0"/>
                <a:ea typeface="+mn-ea"/>
                <a:cs typeface="Consolas" panose="020B0609020204030204" pitchFamily="49" charset="0"/>
              </a:rPr>
              <a:t>2</a:t>
            </a:r>
            <a:r>
              <a:rPr kumimoji="0" lang="en-US"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Consolas" panose="020B0609020204030204" pitchFamily="49" charset="0"/>
              </a:rPr>
              <a:t> + 11000</a:t>
            </a:r>
            <a:r>
              <a:rPr kumimoji="0" lang="en-US" sz="1800" b="0" i="0" u="none" strike="noStrike" kern="1200" cap="none" spc="0" normalizeH="0" baseline="-25000" noProof="0" dirty="0">
                <a:ln>
                  <a:noFill/>
                </a:ln>
                <a:solidFill>
                  <a:prstClr val="black"/>
                </a:solidFill>
                <a:effectLst/>
                <a:uLnTx/>
                <a:uFillTx/>
                <a:latin typeface="Consolas" panose="020B0609020204030204" pitchFamily="49" charset="0"/>
                <a:ea typeface="+mn-ea"/>
                <a:cs typeface="Consolas" panose="020B0609020204030204" pitchFamily="49" charset="0"/>
              </a:rPr>
              <a:t>2 </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25000" noProof="0" dirty="0">
                <a:ln>
                  <a:noFill/>
                </a:ln>
                <a:solidFill>
                  <a:prstClr val="black"/>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a:t>
            </a:r>
            <a:r>
              <a:rPr kumimoji="0" lang="en-US"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Consolas" panose="020B0609020204030204" pitchFamily="49" charset="0"/>
              </a:rPr>
              <a:t> 11111</a:t>
            </a:r>
            <a:r>
              <a:rPr kumimoji="0" lang="en-US" sz="1800" b="0" i="0" u="none" strike="noStrike" kern="1200" cap="none" spc="0" normalizeH="0" baseline="-25000" noProof="0" dirty="0">
                <a:ln>
                  <a:noFill/>
                </a:ln>
                <a:solidFill>
                  <a:prstClr val="black"/>
                </a:solidFill>
                <a:effectLst/>
                <a:uLnTx/>
                <a:uFillTx/>
                <a:latin typeface="Consolas" panose="020B0609020204030204" pitchFamily="49" charset="0"/>
                <a:ea typeface="+mn-ea"/>
                <a:cs typeface="Consolas" panose="020B0609020204030204" pitchFamily="49" charset="0"/>
              </a:rPr>
              <a:t>2</a:t>
            </a: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25000" noProof="0" dirty="0">
                <a:ln>
                  <a:noFill/>
                </a:ln>
                <a:solidFill>
                  <a:prstClr val="black"/>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2</a:t>
            </a:r>
            <a:r>
              <a:rPr kumimoji="0" lang="en-US" sz="1800" b="0" i="0" u="none" strike="noStrike" kern="1200" cap="none" spc="0" normalizeH="0" baseline="30000" noProof="0" dirty="0">
                <a:ln>
                  <a:noFill/>
                </a:ln>
                <a:solidFill>
                  <a:prstClr val="black"/>
                </a:solidFill>
                <a:effectLst/>
                <a:uLnTx/>
                <a:uFillTx/>
                <a:latin typeface="Consolas" panose="020B0609020204030204" pitchFamily="49" charset="0"/>
                <a:ea typeface="+mn-ea"/>
                <a:cs typeface="Consolas" panose="020B0609020204030204" pitchFamily="49" charset="0"/>
              </a:rPr>
              <a:t>5</a:t>
            </a: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- 1</a:t>
            </a:r>
            <a:endParaRPr kumimoji="0" lang="en-US" sz="1800" b="0" i="0" u="none" strike="noStrike" kern="1200" cap="none" spc="0" normalizeH="0" baseline="-25000" noProof="0" dirty="0">
              <a:ln>
                <a:noFill/>
              </a:ln>
              <a:solidFill>
                <a:prstClr val="black"/>
              </a:solidFill>
              <a:effectLst/>
              <a:uLnTx/>
              <a:uFillTx/>
              <a:latin typeface="Consolas" panose="020B0609020204030204" pitchFamily="49" charset="0"/>
              <a:ea typeface="+mn-ea"/>
              <a:cs typeface="Consolas" panose="020B0609020204030204" pitchFamily="49" charset="0"/>
            </a:endParaRPr>
          </a:p>
        </p:txBody>
      </p:sp>
      <p:sp>
        <p:nvSpPr>
          <p:cNvPr id="9" name="Oval 8"/>
          <p:cNvSpPr/>
          <p:nvPr/>
        </p:nvSpPr>
        <p:spPr>
          <a:xfrm rot="636563">
            <a:off x="259089" y="3584767"/>
            <a:ext cx="902864" cy="4150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10" name="Oval 9"/>
          <p:cNvSpPr/>
          <p:nvPr/>
        </p:nvSpPr>
        <p:spPr>
          <a:xfrm rot="20917649">
            <a:off x="3484680" y="3590142"/>
            <a:ext cx="902864" cy="4150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Tree>
    <p:extLst>
      <p:ext uri="{BB962C8B-B14F-4D97-AF65-F5344CB8AC3E}">
        <p14:creationId xmlns:p14="http://schemas.microsoft.com/office/powerpoint/2010/main" val="29912646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4" name="Title 3"/>
          <p:cNvSpPr>
            <a:spLocks noGrp="1"/>
          </p:cNvSpPr>
          <p:nvPr>
            <p:ph type="title"/>
          </p:nvPr>
        </p:nvSpPr>
        <p:spPr/>
        <p:txBody>
          <a:bodyPr>
            <a:normAutofit fontScale="90000"/>
          </a:bodyPr>
          <a:lstStyle/>
          <a:p>
            <a:r>
              <a:rPr lang="en-US" dirty="0"/>
              <a:t>Signed Integers</a:t>
            </a:r>
            <a:br>
              <a:rPr lang="en-US" dirty="0"/>
            </a:br>
            <a:r>
              <a:rPr lang="en-US" dirty="0">
                <a:solidFill>
                  <a:schemeClr val="accent2"/>
                </a:solidFill>
              </a:rPr>
              <a:t>Method 3: Two’s Complement</a:t>
            </a:r>
          </a:p>
        </p:txBody>
      </p:sp>
      <p:pic>
        <p:nvPicPr>
          <p:cNvPr id="368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362200"/>
            <a:ext cx="4202424"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5" name="Rectangle 4"/>
              <p:cNvSpPr/>
              <p:nvPr/>
            </p:nvSpPr>
            <p:spPr>
              <a:xfrm>
                <a:off x="457200" y="1219200"/>
                <a:ext cx="3352800" cy="70788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1" u="none" strike="noStrike" kern="1200" cap="none" spc="0" normalizeH="0" baseline="0" noProof="0" dirty="0">
                    <a:ln>
                      <a:noFill/>
                    </a:ln>
                    <a:solidFill>
                      <a:prstClr val="black"/>
                    </a:solidFill>
                    <a:effectLst/>
                    <a:uLnTx/>
                    <a:uFillTx/>
                    <a:latin typeface="Gill Sans MT"/>
                    <a:ea typeface="+mn-ea"/>
                    <a:cs typeface="+mn-cs"/>
                  </a:rPr>
                  <a:t>Two’s Complement (</a:t>
                </a:r>
                <a14:m>
                  <m:oMath xmlns:m="http://schemas.openxmlformats.org/officeDocument/2006/math">
                    <m:acc>
                      <m:accPr>
                        <m:chr m:val="̅"/>
                        <m:ctrlPr>
                          <a:rPr kumimoji="0" lang="en-US" sz="20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accPr>
                      <m:e>
                        <m:r>
                          <a:rPr kumimoji="0" lang="en-US" sz="2000" b="1" i="1" u="none" strike="noStrike" kern="1200" cap="none" spc="0" normalizeH="0" baseline="0" noProof="0">
                            <a:ln>
                              <a:noFill/>
                            </a:ln>
                            <a:solidFill>
                              <a:prstClr val="black"/>
                            </a:solidFill>
                            <a:effectLst/>
                            <a:uLnTx/>
                            <a:uFillTx/>
                            <a:latin typeface="Cambria Math"/>
                            <a:ea typeface="+mn-ea"/>
                            <a:cs typeface="+mn-cs"/>
                          </a:rPr>
                          <m:t>𝜶</m:t>
                        </m:r>
                      </m:e>
                    </m:acc>
                  </m:oMath>
                </a14:m>
                <a:r>
                  <a:rPr kumimoji="0" lang="en-US" sz="2000" b="1" i="1" u="none" strike="noStrike" kern="1200" cap="none" spc="0" normalizeH="0" baseline="0" noProof="0" dirty="0">
                    <a:ln>
                      <a:noFill/>
                    </a:ln>
                    <a:solidFill>
                      <a:prstClr val="black"/>
                    </a:solidFill>
                    <a:effectLst/>
                    <a:uLnTx/>
                    <a:uFillTx/>
                    <a:latin typeface="Gill Sans MT"/>
                    <a:ea typeface="+mn-ea"/>
                    <a:cs typeface="+mn-cs"/>
                  </a:rPr>
                  <a:t>):</a:t>
                </a:r>
                <a:endParaRPr kumimoji="0" lang="en-US" sz="2000" b="0" i="0" u="none" strike="noStrike" kern="1200" cap="none" spc="0" normalizeH="0" baseline="0" noProof="0" dirty="0">
                  <a:ln>
                    <a:noFill/>
                  </a:ln>
                  <a:solidFill>
                    <a:prstClr val="black"/>
                  </a:solidFill>
                  <a:effectLst/>
                  <a:uLnTx/>
                  <a:uFillTx/>
                  <a:latin typeface="Gill Sans M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1" i="1" u="none" strike="noStrike" kern="1200" cap="none" spc="0" normalizeH="0" baseline="0" noProof="0">
                          <a:ln>
                            <a:noFill/>
                          </a:ln>
                          <a:solidFill>
                            <a:prstClr val="black"/>
                          </a:solidFill>
                          <a:effectLst/>
                          <a:uLnTx/>
                          <a:uFillTx/>
                          <a:latin typeface="Cambria Math"/>
                          <a:ea typeface="+mn-ea"/>
                          <a:cs typeface="+mn-cs"/>
                        </a:rPr>
                        <m:t>𝜶</m:t>
                      </m:r>
                      <m:r>
                        <a:rPr kumimoji="0" lang="en-US" sz="2000" b="1" i="1" u="none" strike="noStrike" kern="1200" cap="none" spc="0" normalizeH="0" baseline="0" noProof="0">
                          <a:ln>
                            <a:noFill/>
                          </a:ln>
                          <a:solidFill>
                            <a:prstClr val="black"/>
                          </a:solidFill>
                          <a:effectLst/>
                          <a:uLnTx/>
                          <a:uFillTx/>
                          <a:latin typeface="Cambria Math"/>
                          <a:ea typeface="+mn-ea"/>
                          <a:cs typeface="+mn-cs"/>
                        </a:rPr>
                        <m:t>+</m:t>
                      </m:r>
                      <m:acc>
                        <m:accPr>
                          <m:chr m:val="̅"/>
                          <m:ctrlPr>
                            <a:rPr kumimoji="0" lang="en-US" sz="20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accPr>
                        <m:e>
                          <m:r>
                            <a:rPr kumimoji="0" lang="en-US" sz="2000" b="1" i="1" u="none" strike="noStrike" kern="1200" cap="none" spc="0" normalizeH="0" baseline="0" noProof="0">
                              <a:ln>
                                <a:noFill/>
                              </a:ln>
                              <a:solidFill>
                                <a:prstClr val="black"/>
                              </a:solidFill>
                              <a:effectLst/>
                              <a:uLnTx/>
                              <a:uFillTx/>
                              <a:latin typeface="Cambria Math"/>
                              <a:ea typeface="+mn-ea"/>
                              <a:cs typeface="+mn-cs"/>
                            </a:rPr>
                            <m:t>𝜶</m:t>
                          </m:r>
                        </m:e>
                      </m:acc>
                      <m:r>
                        <a:rPr kumimoji="0" lang="en-US" sz="2000" b="1" i="1" u="none" strike="noStrike" kern="1200" cap="none" spc="0" normalizeH="0" baseline="0" noProof="0">
                          <a:ln>
                            <a:noFill/>
                          </a:ln>
                          <a:solidFill>
                            <a:prstClr val="black"/>
                          </a:solidFill>
                          <a:effectLst/>
                          <a:uLnTx/>
                          <a:uFillTx/>
                          <a:latin typeface="Cambria Math"/>
                          <a:ea typeface="+mn-ea"/>
                          <a:cs typeface="+mn-cs"/>
                        </a:rPr>
                        <m:t>=</m:t>
                      </m:r>
                      <m:sSup>
                        <m:sSupPr>
                          <m:ctrlPr>
                            <a:rPr kumimoji="0" lang="en-US" sz="20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2000" b="1" i="1" u="none" strike="noStrike" kern="1200" cap="none" spc="0" normalizeH="0" baseline="0" noProof="0">
                              <a:ln>
                                <a:noFill/>
                              </a:ln>
                              <a:solidFill>
                                <a:prstClr val="black"/>
                              </a:solidFill>
                              <a:effectLst/>
                              <a:uLnTx/>
                              <a:uFillTx/>
                              <a:latin typeface="Cambria Math"/>
                              <a:ea typeface="+mn-ea"/>
                              <a:cs typeface="+mn-cs"/>
                            </a:rPr>
                            <m:t>𝟐</m:t>
                          </m:r>
                        </m:e>
                        <m:sup>
                          <m:r>
                            <a:rPr kumimoji="0" lang="en-US" sz="2000" b="1" i="1" u="none" strike="noStrike" kern="1200" cap="none" spc="0" normalizeH="0" baseline="0" noProof="0">
                              <a:ln>
                                <a:noFill/>
                              </a:ln>
                              <a:solidFill>
                                <a:prstClr val="black"/>
                              </a:solidFill>
                              <a:effectLst/>
                              <a:uLnTx/>
                              <a:uFillTx/>
                              <a:latin typeface="Cambria Math"/>
                              <a:ea typeface="+mn-ea"/>
                              <a:cs typeface="+mn-cs"/>
                            </a:rPr>
                            <m:t>𝒏</m:t>
                          </m:r>
                        </m:sup>
                      </m:sSup>
                    </m:oMath>
                  </m:oMathPara>
                </a14:m>
                <a:endParaRPr kumimoji="0" lang="en-US" sz="2000" b="0" i="0" u="none" strike="noStrike" kern="1200" cap="none" spc="0" normalizeH="0" baseline="0" noProof="0" dirty="0">
                  <a:ln>
                    <a:noFill/>
                  </a:ln>
                  <a:solidFill>
                    <a:prstClr val="black"/>
                  </a:solidFill>
                  <a:effectLst/>
                  <a:uLnTx/>
                  <a:uFillTx/>
                  <a:latin typeface="Gill Sans MT"/>
                  <a:ea typeface="+mn-ea"/>
                  <a:cs typeface="+mn-cs"/>
                </a:endParaRPr>
              </a:p>
            </p:txBody>
          </p:sp>
        </mc:Choice>
        <mc:Fallback xmlns="">
          <p:sp>
            <p:nvSpPr>
              <p:cNvPr id="5" name="Rectangle 4"/>
              <p:cNvSpPr>
                <a:spLocks noRot="1" noChangeAspect="1" noMove="1" noResize="1" noEditPoints="1" noAdjustHandles="1" noChangeArrowheads="1" noChangeShapeType="1" noTextEdit="1"/>
              </p:cNvSpPr>
              <p:nvPr/>
            </p:nvSpPr>
            <p:spPr>
              <a:xfrm>
                <a:off x="457200" y="1219200"/>
                <a:ext cx="3352800" cy="707886"/>
              </a:xfrm>
              <a:prstGeom prst="rect">
                <a:avLst/>
              </a:prstGeom>
              <a:blipFill rotWithShape="1">
                <a:blip r:embed="rId8"/>
                <a:stretch>
                  <a:fillRect l="-1818" t="-4310"/>
                </a:stretch>
              </a:blipFill>
            </p:spPr>
            <p:txBody>
              <a:bodyPr/>
              <a:lstStyle/>
              <a:p>
                <a:r>
                  <a:rPr lang="en-US">
                    <a:noFill/>
                  </a:rPr>
                  <a:t> </a:t>
                </a:r>
              </a:p>
            </p:txBody>
          </p:sp>
        </mc:Fallback>
      </mc:AlternateContent>
      <p:sp>
        <p:nvSpPr>
          <p:cNvPr id="6" name="Rectangle 5"/>
          <p:cNvSpPr/>
          <p:nvPr/>
        </p:nvSpPr>
        <p:spPr>
          <a:xfrm>
            <a:off x="4918862" y="2242388"/>
            <a:ext cx="3996538"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Gill Sans MT"/>
                <a:ea typeface="+mn-ea"/>
                <a:cs typeface="+mn-cs"/>
              </a:rPr>
              <a:t>TC of a number can be obtained by its bitwise NOT plus one. </a:t>
            </a:r>
          </a:p>
        </p:txBody>
      </p:sp>
      <p:graphicFrame>
        <p:nvGraphicFramePr>
          <p:cNvPr id="8" name="Table 7"/>
          <p:cNvGraphicFramePr>
            <a:graphicFrameLocks noGrp="1"/>
          </p:cNvGraphicFramePr>
          <p:nvPr>
            <p:extLst>
              <p:ext uri="{D42A27DB-BD31-4B8C-83A1-F6EECF244321}">
                <p14:modId xmlns:p14="http://schemas.microsoft.com/office/powerpoint/2010/main" val="2231952588"/>
              </p:ext>
            </p:extLst>
          </p:nvPr>
        </p:nvGraphicFramePr>
        <p:xfrm>
          <a:off x="4871772" y="4013201"/>
          <a:ext cx="4090718" cy="1589172"/>
        </p:xfrm>
        <a:graphic>
          <a:graphicData uri="http://schemas.openxmlformats.org/drawingml/2006/table">
            <a:tbl>
              <a:tblPr firstRow="1" firstCol="1" bandRow="1">
                <a:tableStyleId>{5C22544A-7EE6-4342-B048-85BDC9FD1C3A}</a:tableStyleId>
              </a:tblPr>
              <a:tblGrid>
                <a:gridCol w="1957118">
                  <a:extLst>
                    <a:ext uri="{9D8B030D-6E8A-4147-A177-3AD203B41FA5}">
                      <a16:colId xmlns:a16="http://schemas.microsoft.com/office/drawing/2014/main" val="20000"/>
                    </a:ext>
                  </a:extLst>
                </a:gridCol>
                <a:gridCol w="1199988">
                  <a:extLst>
                    <a:ext uri="{9D8B030D-6E8A-4147-A177-3AD203B41FA5}">
                      <a16:colId xmlns:a16="http://schemas.microsoft.com/office/drawing/2014/main" val="20001"/>
                    </a:ext>
                  </a:extLst>
                </a:gridCol>
                <a:gridCol w="933612">
                  <a:extLst>
                    <a:ext uri="{9D8B030D-6E8A-4147-A177-3AD203B41FA5}">
                      <a16:colId xmlns:a16="http://schemas.microsoft.com/office/drawing/2014/main" val="20002"/>
                    </a:ext>
                  </a:extLst>
                </a:gridCol>
              </a:tblGrid>
              <a:tr h="301176">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 </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Binary</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Decimal</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0"/>
                  </a:ext>
                </a:extLst>
              </a:tr>
              <a:tr h="233216">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Original number</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00011</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3</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466433">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Step 1: Invert every bit</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11100</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 </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r h="288737">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Step 2: Add 1</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+ 00001</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 </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3"/>
                  </a:ext>
                </a:extLst>
              </a:tr>
              <a:tr h="267739">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Two’s complement</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11101</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-3</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4"/>
                  </a:ext>
                </a:extLst>
              </a:tr>
            </a:tbl>
          </a:graphicData>
        </a:graphic>
      </p:graphicFrame>
      <p:sp>
        <p:nvSpPr>
          <p:cNvPr id="9" name="TextBox 8"/>
          <p:cNvSpPr txBox="1"/>
          <p:nvPr/>
        </p:nvSpPr>
        <p:spPr>
          <a:xfrm>
            <a:off x="4892320" y="3409846"/>
            <a:ext cx="227048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Example </a:t>
            </a:r>
            <a:r>
              <a:rPr kumimoji="0" lang="en-US" sz="18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1</a:t>
            </a:r>
            <a:r>
              <a:rPr kumimoji="0" lang="en-US" sz="1800" b="0" i="0" u="none" strike="noStrike" kern="1200" cap="none" spc="0" normalizeH="0" baseline="0" noProof="0" dirty="0">
                <a:ln>
                  <a:noFill/>
                </a:ln>
                <a:solidFill>
                  <a:prstClr val="black"/>
                </a:solidFill>
                <a:effectLst/>
                <a:uLnTx/>
                <a:uFillTx/>
                <a:latin typeface="Gill Sans MT"/>
                <a:ea typeface="+mn-ea"/>
                <a:cs typeface="+mn-cs"/>
              </a:rPr>
              <a:t>:  </a:t>
            </a:r>
            <a:r>
              <a:rPr kumimoji="0" lang="en-US" sz="1800" b="0" i="0" u="none" strike="noStrike" kern="1200" cap="none" spc="0" normalizeH="0" baseline="0" noProof="0" dirty="0">
                <a:ln>
                  <a:noFill/>
                </a:ln>
                <a:solidFill>
                  <a:srgbClr val="C00000"/>
                </a:solidFill>
                <a:effectLst/>
                <a:uLnTx/>
                <a:uFillTx/>
                <a:latin typeface="Gill Sans MT"/>
                <a:ea typeface="+mn-ea"/>
                <a:cs typeface="+mn-cs"/>
              </a:rPr>
              <a:t>TC(3)</a:t>
            </a:r>
          </a:p>
        </p:txBody>
      </p:sp>
      <p:sp>
        <p:nvSpPr>
          <p:cNvPr id="10" name="Oval 9"/>
          <p:cNvSpPr/>
          <p:nvPr/>
        </p:nvSpPr>
        <p:spPr>
          <a:xfrm rot="18357225">
            <a:off x="3080056" y="2718154"/>
            <a:ext cx="902864" cy="4150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11" name="Oval 10"/>
          <p:cNvSpPr/>
          <p:nvPr/>
        </p:nvSpPr>
        <p:spPr>
          <a:xfrm rot="2867065">
            <a:off x="1148587" y="2704659"/>
            <a:ext cx="902864" cy="4150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14" name="TextBox 13">
            <a:extLst>
              <a:ext uri="{FF2B5EF4-FFF2-40B4-BE49-F238E27FC236}">
                <a16:creationId xmlns:a16="http://schemas.microsoft.com/office/drawing/2014/main" id="{5B9A659C-8B80-313C-A9E9-3EB7F5281E24}"/>
              </a:ext>
            </a:extLst>
          </p:cNvPr>
          <p:cNvSpPr txBox="1"/>
          <p:nvPr/>
        </p:nvSpPr>
        <p:spPr>
          <a:xfrm>
            <a:off x="7080282" y="54601"/>
            <a:ext cx="1959639" cy="523220"/>
          </a:xfrm>
          <a:prstGeom prst="rect">
            <a:avLst/>
          </a:prstGeom>
          <a:solidFill>
            <a:srgbClr val="ED7D31"/>
          </a:solidFill>
          <a:ln w="38100" cap="flat" cmpd="sng" algn="ctr">
            <a:solidFill>
              <a:srgbClr val="ED7D31">
                <a:shade val="15000"/>
              </a:srgbClr>
            </a:solidFill>
            <a:prstDash val="solid"/>
            <a:miter lim="800000"/>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prstClr val="white"/>
                </a:solidFill>
                <a:effectLst/>
                <a:uLnTx/>
                <a:uFillTx/>
                <a:latin typeface="Calibri" panose="020F0502020204030204"/>
                <a:ea typeface="+mn-ea"/>
                <a:cs typeface="+mn-cs"/>
              </a:rPr>
              <a:t>IMPORTANT</a:t>
            </a:r>
            <a:endParaRPr kumimoji="0" lang="en-SE" sz="2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73811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4" name="Title 3"/>
          <p:cNvSpPr>
            <a:spLocks noGrp="1"/>
          </p:cNvSpPr>
          <p:nvPr>
            <p:ph type="title"/>
          </p:nvPr>
        </p:nvSpPr>
        <p:spPr/>
        <p:txBody>
          <a:bodyPr>
            <a:normAutofit fontScale="90000"/>
          </a:bodyPr>
          <a:lstStyle/>
          <a:p>
            <a:r>
              <a:rPr lang="en-US" dirty="0"/>
              <a:t>Signed Integers</a:t>
            </a:r>
            <a:br>
              <a:rPr lang="en-US" dirty="0"/>
            </a:br>
            <a:r>
              <a:rPr lang="en-US" dirty="0">
                <a:solidFill>
                  <a:schemeClr val="accent2"/>
                </a:solidFill>
              </a:rPr>
              <a:t>Method 3: Two’s Complement</a:t>
            </a:r>
          </a:p>
        </p:txBody>
      </p:sp>
      <p:pic>
        <p:nvPicPr>
          <p:cNvPr id="368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362200"/>
            <a:ext cx="4202424"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5" name="Rectangle 4"/>
              <p:cNvSpPr/>
              <p:nvPr/>
            </p:nvSpPr>
            <p:spPr>
              <a:xfrm>
                <a:off x="457200" y="1219200"/>
                <a:ext cx="3352800" cy="70788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1" u="none" strike="noStrike" kern="1200" cap="none" spc="0" normalizeH="0" baseline="0" noProof="0" dirty="0">
                    <a:ln>
                      <a:noFill/>
                    </a:ln>
                    <a:solidFill>
                      <a:prstClr val="black"/>
                    </a:solidFill>
                    <a:effectLst/>
                    <a:uLnTx/>
                    <a:uFillTx/>
                    <a:latin typeface="Gill Sans MT"/>
                    <a:ea typeface="+mn-ea"/>
                    <a:cs typeface="+mn-cs"/>
                  </a:rPr>
                  <a:t>Two’s Complement (TC)</a:t>
                </a:r>
                <a:endParaRPr kumimoji="0" lang="en-US" sz="2000" b="0" i="0" u="none" strike="noStrike" kern="1200" cap="none" spc="0" normalizeH="0" baseline="0" noProof="0" dirty="0">
                  <a:ln>
                    <a:noFill/>
                  </a:ln>
                  <a:solidFill>
                    <a:prstClr val="black"/>
                  </a:solidFill>
                  <a:effectLst/>
                  <a:uLnTx/>
                  <a:uFillTx/>
                  <a:latin typeface="Gill Sans M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1" i="1" u="none" strike="noStrike" kern="1200" cap="none" spc="0" normalizeH="0" baseline="0" noProof="0">
                          <a:ln>
                            <a:noFill/>
                          </a:ln>
                          <a:solidFill>
                            <a:prstClr val="black"/>
                          </a:solidFill>
                          <a:effectLst/>
                          <a:uLnTx/>
                          <a:uFillTx/>
                          <a:latin typeface="Cambria Math"/>
                          <a:ea typeface="+mn-ea"/>
                          <a:cs typeface="+mn-cs"/>
                        </a:rPr>
                        <m:t>𝜶</m:t>
                      </m:r>
                      <m:r>
                        <a:rPr kumimoji="0" lang="en-US" sz="2000" b="1" i="1" u="none" strike="noStrike" kern="1200" cap="none" spc="0" normalizeH="0" baseline="0" noProof="0">
                          <a:ln>
                            <a:noFill/>
                          </a:ln>
                          <a:solidFill>
                            <a:prstClr val="black"/>
                          </a:solidFill>
                          <a:effectLst/>
                          <a:uLnTx/>
                          <a:uFillTx/>
                          <a:latin typeface="Cambria Math"/>
                          <a:ea typeface="+mn-ea"/>
                          <a:cs typeface="+mn-cs"/>
                        </a:rPr>
                        <m:t>+</m:t>
                      </m:r>
                      <m:acc>
                        <m:accPr>
                          <m:chr m:val="̅"/>
                          <m:ctrlPr>
                            <a:rPr kumimoji="0" lang="en-US" sz="20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accPr>
                        <m:e>
                          <m:r>
                            <a:rPr kumimoji="0" lang="en-US" sz="2000" b="1" i="1" u="none" strike="noStrike" kern="1200" cap="none" spc="0" normalizeH="0" baseline="0" noProof="0">
                              <a:ln>
                                <a:noFill/>
                              </a:ln>
                              <a:solidFill>
                                <a:prstClr val="black"/>
                              </a:solidFill>
                              <a:effectLst/>
                              <a:uLnTx/>
                              <a:uFillTx/>
                              <a:latin typeface="Cambria Math"/>
                              <a:ea typeface="+mn-ea"/>
                              <a:cs typeface="+mn-cs"/>
                            </a:rPr>
                            <m:t>𝜶</m:t>
                          </m:r>
                        </m:e>
                      </m:acc>
                      <m:r>
                        <a:rPr kumimoji="0" lang="en-US" sz="2000" b="1" i="1" u="none" strike="noStrike" kern="1200" cap="none" spc="0" normalizeH="0" baseline="0" noProof="0">
                          <a:ln>
                            <a:noFill/>
                          </a:ln>
                          <a:solidFill>
                            <a:prstClr val="black"/>
                          </a:solidFill>
                          <a:effectLst/>
                          <a:uLnTx/>
                          <a:uFillTx/>
                          <a:latin typeface="Cambria Math"/>
                          <a:ea typeface="+mn-ea"/>
                          <a:cs typeface="+mn-cs"/>
                        </a:rPr>
                        <m:t>=</m:t>
                      </m:r>
                      <m:sSup>
                        <m:sSupPr>
                          <m:ctrlPr>
                            <a:rPr kumimoji="0" lang="en-US" sz="20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2000" b="1" i="1" u="none" strike="noStrike" kern="1200" cap="none" spc="0" normalizeH="0" baseline="0" noProof="0">
                              <a:ln>
                                <a:noFill/>
                              </a:ln>
                              <a:solidFill>
                                <a:prstClr val="black"/>
                              </a:solidFill>
                              <a:effectLst/>
                              <a:uLnTx/>
                              <a:uFillTx/>
                              <a:latin typeface="Cambria Math"/>
                              <a:ea typeface="+mn-ea"/>
                              <a:cs typeface="+mn-cs"/>
                            </a:rPr>
                            <m:t>𝟐</m:t>
                          </m:r>
                        </m:e>
                        <m:sup>
                          <m:r>
                            <a:rPr kumimoji="0" lang="en-US" sz="2000" b="1" i="1" u="none" strike="noStrike" kern="1200" cap="none" spc="0" normalizeH="0" baseline="0" noProof="0">
                              <a:ln>
                                <a:noFill/>
                              </a:ln>
                              <a:solidFill>
                                <a:prstClr val="black"/>
                              </a:solidFill>
                              <a:effectLst/>
                              <a:uLnTx/>
                              <a:uFillTx/>
                              <a:latin typeface="Cambria Math"/>
                              <a:ea typeface="+mn-ea"/>
                              <a:cs typeface="+mn-cs"/>
                            </a:rPr>
                            <m:t>𝒏</m:t>
                          </m:r>
                        </m:sup>
                      </m:sSup>
                    </m:oMath>
                  </m:oMathPara>
                </a14:m>
                <a:endParaRPr kumimoji="0" lang="en-US" sz="2000" b="0" i="0" u="none" strike="noStrike" kern="1200" cap="none" spc="0" normalizeH="0" baseline="0" noProof="0" dirty="0">
                  <a:ln>
                    <a:noFill/>
                  </a:ln>
                  <a:solidFill>
                    <a:prstClr val="black"/>
                  </a:solidFill>
                  <a:effectLst/>
                  <a:uLnTx/>
                  <a:uFillTx/>
                  <a:latin typeface="Gill Sans MT"/>
                  <a:ea typeface="+mn-ea"/>
                  <a:cs typeface="+mn-cs"/>
                </a:endParaRPr>
              </a:p>
            </p:txBody>
          </p:sp>
        </mc:Choice>
        <mc:Fallback xmlns="">
          <p:sp>
            <p:nvSpPr>
              <p:cNvPr id="5" name="Rectangle 4"/>
              <p:cNvSpPr>
                <a:spLocks noRot="1" noChangeAspect="1" noMove="1" noResize="1" noEditPoints="1" noAdjustHandles="1" noChangeArrowheads="1" noChangeShapeType="1" noTextEdit="1"/>
              </p:cNvSpPr>
              <p:nvPr/>
            </p:nvSpPr>
            <p:spPr>
              <a:xfrm>
                <a:off x="457200" y="1219200"/>
                <a:ext cx="3352800" cy="707886"/>
              </a:xfrm>
              <a:prstGeom prst="rect">
                <a:avLst/>
              </a:prstGeom>
              <a:blipFill rotWithShape="1">
                <a:blip r:embed="rId4"/>
                <a:stretch>
                  <a:fillRect l="-1818" t="-4310"/>
                </a:stretch>
              </a:blipFill>
            </p:spPr>
            <p:txBody>
              <a:bodyPr/>
              <a:lstStyle/>
              <a:p>
                <a:r>
                  <a:rPr lang="en-US">
                    <a:noFill/>
                  </a:rPr>
                  <a:t> </a:t>
                </a:r>
              </a:p>
            </p:txBody>
          </p:sp>
        </mc:Fallback>
      </mc:AlternateContent>
      <p:sp>
        <p:nvSpPr>
          <p:cNvPr id="6" name="Rectangle 5"/>
          <p:cNvSpPr/>
          <p:nvPr/>
        </p:nvSpPr>
        <p:spPr>
          <a:xfrm>
            <a:off x="4918862" y="2242388"/>
            <a:ext cx="3996538" cy="646331"/>
          </a:xfrm>
          <a:prstGeom prst="rect">
            <a:avLst/>
          </a:prstGeom>
        </p:spPr>
        <p:txBody>
          <a:bodyPr wrap="square">
            <a:spAutoFit/>
          </a:bodyPr>
          <a:lstStyle/>
          <a:p>
            <a:pPr lvl="0" eaLnBrk="1" fontAlgn="auto" hangingPunct="1">
              <a:spcBef>
                <a:spcPts val="0"/>
              </a:spcBef>
              <a:spcAft>
                <a:spcPts val="0"/>
              </a:spcAft>
              <a:defRPr/>
            </a:pPr>
            <a:r>
              <a:rPr lang="en-US" sz="1800" dirty="0">
                <a:solidFill>
                  <a:srgbClr val="C00000"/>
                </a:solidFill>
                <a:latin typeface="Gill Sans MT"/>
              </a:rPr>
              <a:t>TC of a number can be obtained by its bitwise NOT plus one. </a:t>
            </a:r>
          </a:p>
        </p:txBody>
      </p:sp>
      <p:sp>
        <p:nvSpPr>
          <p:cNvPr id="9" name="TextBox 8"/>
          <p:cNvSpPr txBox="1"/>
          <p:nvPr/>
        </p:nvSpPr>
        <p:spPr>
          <a:xfrm>
            <a:off x="4892320" y="3409846"/>
            <a:ext cx="185595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Example 2: </a:t>
            </a:r>
            <a:r>
              <a:rPr kumimoji="0" lang="en-US" sz="1800" b="0" i="0" u="none" strike="noStrike" kern="1200" cap="none" spc="0" normalizeH="0" baseline="0" noProof="0" dirty="0">
                <a:ln>
                  <a:noFill/>
                </a:ln>
                <a:solidFill>
                  <a:srgbClr val="C00000"/>
                </a:solidFill>
                <a:effectLst/>
                <a:uLnTx/>
                <a:uFillTx/>
                <a:latin typeface="Gill Sans MT"/>
                <a:ea typeface="+mn-ea"/>
                <a:cs typeface="+mn-cs"/>
              </a:rPr>
              <a:t>TC(-3)</a:t>
            </a:r>
          </a:p>
        </p:txBody>
      </p:sp>
      <p:graphicFrame>
        <p:nvGraphicFramePr>
          <p:cNvPr id="3" name="Table 2"/>
          <p:cNvGraphicFramePr>
            <a:graphicFrameLocks noGrp="1"/>
          </p:cNvGraphicFramePr>
          <p:nvPr>
            <p:extLst>
              <p:ext uri="{D42A27DB-BD31-4B8C-83A1-F6EECF244321}">
                <p14:modId xmlns:p14="http://schemas.microsoft.com/office/powerpoint/2010/main" val="404938813"/>
              </p:ext>
            </p:extLst>
          </p:nvPr>
        </p:nvGraphicFramePr>
        <p:xfrm>
          <a:off x="4812507" y="4038600"/>
          <a:ext cx="4209248" cy="1524000"/>
        </p:xfrm>
        <a:graphic>
          <a:graphicData uri="http://schemas.openxmlformats.org/drawingml/2006/table">
            <a:tbl>
              <a:tblPr firstRow="1" firstCol="1" bandRow="1">
                <a:tableStyleId>{5C22544A-7EE6-4342-B048-85BDC9FD1C3A}</a:tableStyleId>
              </a:tblPr>
              <a:tblGrid>
                <a:gridCol w="1999449">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990599">
                  <a:extLst>
                    <a:ext uri="{9D8B030D-6E8A-4147-A177-3AD203B41FA5}">
                      <a16:colId xmlns:a16="http://schemas.microsoft.com/office/drawing/2014/main" val="20002"/>
                    </a:ext>
                  </a:extLst>
                </a:gridCol>
              </a:tblGrid>
              <a:tr h="304800">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Binary</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Decimal</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0"/>
                  </a:ext>
                </a:extLst>
              </a:tr>
              <a:tr h="0">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Original number</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11101</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-3</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0">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Step 1: Invert every bit</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00010</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 </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r h="0">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Step 2: Add 1</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+ 00001</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 </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3"/>
                  </a:ext>
                </a:extLst>
              </a:tr>
              <a:tr h="0">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Two’s complement</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00011</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3</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4"/>
                  </a:ext>
                </a:extLst>
              </a:tr>
            </a:tbl>
          </a:graphicData>
        </a:graphic>
      </p:graphicFrame>
      <p:sp>
        <p:nvSpPr>
          <p:cNvPr id="10" name="Oval 9"/>
          <p:cNvSpPr/>
          <p:nvPr/>
        </p:nvSpPr>
        <p:spPr>
          <a:xfrm rot="18357225">
            <a:off x="3080056" y="2718154"/>
            <a:ext cx="902864" cy="4150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11" name="Oval 10"/>
          <p:cNvSpPr/>
          <p:nvPr/>
        </p:nvSpPr>
        <p:spPr>
          <a:xfrm rot="2867065">
            <a:off x="1148587" y="2704659"/>
            <a:ext cx="902864" cy="4150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Tree>
    <p:extLst>
      <p:ext uri="{BB962C8B-B14F-4D97-AF65-F5344CB8AC3E}">
        <p14:creationId xmlns:p14="http://schemas.microsoft.com/office/powerpoint/2010/main" val="3482006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377BA-0883-D3BD-A436-963F4FAE988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D0DE3FA-37DB-639C-92CF-A299852C667C}"/>
              </a:ext>
            </a:extLst>
          </p:cNvPr>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4" name="Title 3">
            <a:extLst>
              <a:ext uri="{FF2B5EF4-FFF2-40B4-BE49-F238E27FC236}">
                <a16:creationId xmlns:a16="http://schemas.microsoft.com/office/drawing/2014/main" id="{C9FC7FDB-A8E1-9089-3E0D-EF59A8C21419}"/>
              </a:ext>
            </a:extLst>
          </p:cNvPr>
          <p:cNvSpPr>
            <a:spLocks noGrp="1"/>
          </p:cNvSpPr>
          <p:nvPr>
            <p:ph type="title"/>
          </p:nvPr>
        </p:nvSpPr>
        <p:spPr/>
        <p:txBody>
          <a:bodyPr>
            <a:normAutofit fontScale="90000"/>
          </a:bodyPr>
          <a:lstStyle/>
          <a:p>
            <a:r>
              <a:rPr lang="en-US" dirty="0"/>
              <a:t>Signed Integers</a:t>
            </a:r>
            <a:br>
              <a:rPr lang="en-US" dirty="0"/>
            </a:br>
            <a:r>
              <a:rPr lang="en-US" dirty="0">
                <a:solidFill>
                  <a:schemeClr val="accent2"/>
                </a:solidFill>
              </a:rPr>
              <a:t>Method 3: Two’s Complement</a:t>
            </a:r>
          </a:p>
        </p:txBody>
      </p:sp>
      <p:pic>
        <p:nvPicPr>
          <p:cNvPr id="36866" name="Picture 2">
            <a:extLst>
              <a:ext uri="{FF2B5EF4-FFF2-40B4-BE49-F238E27FC236}">
                <a16:creationId xmlns:a16="http://schemas.microsoft.com/office/drawing/2014/main" id="{BD9FDDA1-B191-5D87-FEF2-8C397034FD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2362200"/>
            <a:ext cx="4202424"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913F4576-5D97-13C7-5727-097A652DDA55}"/>
                  </a:ext>
                </a:extLst>
              </p:cNvPr>
              <p:cNvSpPr/>
              <p:nvPr/>
            </p:nvSpPr>
            <p:spPr>
              <a:xfrm>
                <a:off x="457200" y="1219200"/>
                <a:ext cx="3352800" cy="70788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1" u="none" strike="noStrike" kern="1200" cap="none" spc="0" normalizeH="0" baseline="0" noProof="0" dirty="0">
                    <a:ln>
                      <a:noFill/>
                    </a:ln>
                    <a:solidFill>
                      <a:prstClr val="black"/>
                    </a:solidFill>
                    <a:effectLst/>
                    <a:uLnTx/>
                    <a:uFillTx/>
                    <a:latin typeface="Gill Sans MT"/>
                    <a:ea typeface="+mn-ea"/>
                    <a:cs typeface="+mn-cs"/>
                  </a:rPr>
                  <a:t>Two’s Complement (TC)</a:t>
                </a:r>
                <a:endParaRPr kumimoji="0" lang="en-US" sz="2000" b="0" i="0" u="none" strike="noStrike" kern="1200" cap="none" spc="0" normalizeH="0" baseline="0" noProof="0" dirty="0">
                  <a:ln>
                    <a:noFill/>
                  </a:ln>
                  <a:solidFill>
                    <a:prstClr val="black"/>
                  </a:solidFill>
                  <a:effectLst/>
                  <a:uLnTx/>
                  <a:uFillTx/>
                  <a:latin typeface="Gill Sans M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1" i="1" u="none" strike="noStrike" kern="1200" cap="none" spc="0" normalizeH="0" baseline="0" noProof="0">
                          <a:ln>
                            <a:noFill/>
                          </a:ln>
                          <a:solidFill>
                            <a:prstClr val="black"/>
                          </a:solidFill>
                          <a:effectLst/>
                          <a:uLnTx/>
                          <a:uFillTx/>
                          <a:latin typeface="Cambria Math"/>
                          <a:ea typeface="+mn-ea"/>
                          <a:cs typeface="+mn-cs"/>
                        </a:rPr>
                        <m:t>𝜶</m:t>
                      </m:r>
                      <m:r>
                        <a:rPr kumimoji="0" lang="en-US" sz="2000" b="1" i="1" u="none" strike="noStrike" kern="1200" cap="none" spc="0" normalizeH="0" baseline="0" noProof="0">
                          <a:ln>
                            <a:noFill/>
                          </a:ln>
                          <a:solidFill>
                            <a:prstClr val="black"/>
                          </a:solidFill>
                          <a:effectLst/>
                          <a:uLnTx/>
                          <a:uFillTx/>
                          <a:latin typeface="Cambria Math"/>
                          <a:ea typeface="+mn-ea"/>
                          <a:cs typeface="+mn-cs"/>
                        </a:rPr>
                        <m:t>+</m:t>
                      </m:r>
                      <m:acc>
                        <m:accPr>
                          <m:chr m:val="̅"/>
                          <m:ctrlPr>
                            <a:rPr kumimoji="0" lang="en-US" sz="20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accPr>
                        <m:e>
                          <m:r>
                            <a:rPr kumimoji="0" lang="en-US" sz="2000" b="1" i="1" u="none" strike="noStrike" kern="1200" cap="none" spc="0" normalizeH="0" baseline="0" noProof="0">
                              <a:ln>
                                <a:noFill/>
                              </a:ln>
                              <a:solidFill>
                                <a:prstClr val="black"/>
                              </a:solidFill>
                              <a:effectLst/>
                              <a:uLnTx/>
                              <a:uFillTx/>
                              <a:latin typeface="Cambria Math"/>
                              <a:ea typeface="+mn-ea"/>
                              <a:cs typeface="+mn-cs"/>
                            </a:rPr>
                            <m:t>𝜶</m:t>
                          </m:r>
                        </m:e>
                      </m:acc>
                      <m:r>
                        <a:rPr kumimoji="0" lang="en-US" sz="2000" b="1" i="1" u="none" strike="noStrike" kern="1200" cap="none" spc="0" normalizeH="0" baseline="0" noProof="0">
                          <a:ln>
                            <a:noFill/>
                          </a:ln>
                          <a:solidFill>
                            <a:prstClr val="black"/>
                          </a:solidFill>
                          <a:effectLst/>
                          <a:uLnTx/>
                          <a:uFillTx/>
                          <a:latin typeface="Cambria Math"/>
                          <a:ea typeface="+mn-ea"/>
                          <a:cs typeface="+mn-cs"/>
                        </a:rPr>
                        <m:t>=</m:t>
                      </m:r>
                      <m:sSup>
                        <m:sSupPr>
                          <m:ctrlPr>
                            <a:rPr kumimoji="0" lang="en-US" sz="20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2000" b="1" i="1" u="none" strike="noStrike" kern="1200" cap="none" spc="0" normalizeH="0" baseline="0" noProof="0">
                              <a:ln>
                                <a:noFill/>
                              </a:ln>
                              <a:solidFill>
                                <a:prstClr val="black"/>
                              </a:solidFill>
                              <a:effectLst/>
                              <a:uLnTx/>
                              <a:uFillTx/>
                              <a:latin typeface="Cambria Math"/>
                              <a:ea typeface="+mn-ea"/>
                              <a:cs typeface="+mn-cs"/>
                            </a:rPr>
                            <m:t>𝟐</m:t>
                          </m:r>
                        </m:e>
                        <m:sup>
                          <m:r>
                            <a:rPr kumimoji="0" lang="en-US" sz="2000" b="1" i="1" u="none" strike="noStrike" kern="1200" cap="none" spc="0" normalizeH="0" baseline="0" noProof="0">
                              <a:ln>
                                <a:noFill/>
                              </a:ln>
                              <a:solidFill>
                                <a:prstClr val="black"/>
                              </a:solidFill>
                              <a:effectLst/>
                              <a:uLnTx/>
                              <a:uFillTx/>
                              <a:latin typeface="Cambria Math"/>
                              <a:ea typeface="+mn-ea"/>
                              <a:cs typeface="+mn-cs"/>
                            </a:rPr>
                            <m:t>𝒏</m:t>
                          </m:r>
                        </m:sup>
                      </m:sSup>
                    </m:oMath>
                  </m:oMathPara>
                </a14:m>
                <a:endParaRPr kumimoji="0" lang="en-US" sz="2000" b="0" i="0" u="none" strike="noStrike" kern="1200" cap="none" spc="0" normalizeH="0" baseline="0" noProof="0" dirty="0">
                  <a:ln>
                    <a:noFill/>
                  </a:ln>
                  <a:solidFill>
                    <a:prstClr val="black"/>
                  </a:solidFill>
                  <a:effectLst/>
                  <a:uLnTx/>
                  <a:uFillTx/>
                  <a:latin typeface="Gill Sans MT"/>
                  <a:ea typeface="+mn-ea"/>
                  <a:cs typeface="+mn-cs"/>
                </a:endParaRPr>
              </a:p>
            </p:txBody>
          </p:sp>
        </mc:Choice>
        <mc:Fallback xmlns="">
          <p:sp>
            <p:nvSpPr>
              <p:cNvPr id="5" name="Rectangle 4"/>
              <p:cNvSpPr>
                <a:spLocks noRot="1" noChangeAspect="1" noMove="1" noResize="1" noEditPoints="1" noAdjustHandles="1" noChangeArrowheads="1" noChangeShapeType="1" noTextEdit="1"/>
              </p:cNvSpPr>
              <p:nvPr/>
            </p:nvSpPr>
            <p:spPr>
              <a:xfrm>
                <a:off x="457200" y="1219200"/>
                <a:ext cx="3352800" cy="707886"/>
              </a:xfrm>
              <a:prstGeom prst="rect">
                <a:avLst/>
              </a:prstGeom>
              <a:blipFill rotWithShape="1">
                <a:blip r:embed="rId12"/>
                <a:stretch>
                  <a:fillRect l="-1818" t="-4310"/>
                </a:stretch>
              </a:blipFill>
            </p:spPr>
            <p:txBody>
              <a:bodyPr/>
              <a:lstStyle/>
              <a:p>
                <a:r>
                  <a:rPr lang="en-US">
                    <a:noFill/>
                  </a:rPr>
                  <a:t> </a:t>
                </a:r>
              </a:p>
            </p:txBody>
          </p:sp>
        </mc:Fallback>
      </mc:AlternateContent>
      <p:sp>
        <p:nvSpPr>
          <p:cNvPr id="6" name="Rectangle 5">
            <a:extLst>
              <a:ext uri="{FF2B5EF4-FFF2-40B4-BE49-F238E27FC236}">
                <a16:creationId xmlns:a16="http://schemas.microsoft.com/office/drawing/2014/main" id="{E300A7D0-8BDE-C98F-500C-9D80749440CA}"/>
              </a:ext>
            </a:extLst>
          </p:cNvPr>
          <p:cNvSpPr/>
          <p:nvPr/>
        </p:nvSpPr>
        <p:spPr>
          <a:xfrm>
            <a:off x="4918862" y="2242388"/>
            <a:ext cx="3996538" cy="646331"/>
          </a:xfrm>
          <a:prstGeom prst="rect">
            <a:avLst/>
          </a:prstGeom>
        </p:spPr>
        <p:txBody>
          <a:bodyPr wrap="square">
            <a:spAutoFit/>
          </a:bodyPr>
          <a:lstStyle/>
          <a:p>
            <a:pPr lvl="0" eaLnBrk="1" fontAlgn="auto" hangingPunct="1">
              <a:spcBef>
                <a:spcPts val="0"/>
              </a:spcBef>
              <a:spcAft>
                <a:spcPts val="0"/>
              </a:spcAft>
              <a:defRPr/>
            </a:pPr>
            <a:r>
              <a:rPr lang="en-US" sz="1800" dirty="0">
                <a:solidFill>
                  <a:srgbClr val="C00000"/>
                </a:solidFill>
                <a:latin typeface="Gill Sans MT"/>
              </a:rPr>
              <a:t>TC of a number can be obtained by its bitwise NOT plus one. </a:t>
            </a:r>
          </a:p>
        </p:txBody>
      </p:sp>
      <p:sp>
        <p:nvSpPr>
          <p:cNvPr id="9" name="TextBox 8">
            <a:extLst>
              <a:ext uri="{FF2B5EF4-FFF2-40B4-BE49-F238E27FC236}">
                <a16:creationId xmlns:a16="http://schemas.microsoft.com/office/drawing/2014/main" id="{BEFB63DC-7404-B857-F137-6BFFAAF3980B}"/>
              </a:ext>
            </a:extLst>
          </p:cNvPr>
          <p:cNvSpPr txBox="1"/>
          <p:nvPr/>
        </p:nvSpPr>
        <p:spPr>
          <a:xfrm>
            <a:off x="4892320" y="3409846"/>
            <a:ext cx="197137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Example 2: </a:t>
            </a:r>
            <a:r>
              <a:rPr kumimoji="0" lang="en-US" sz="1800" b="0" i="0" u="none" strike="noStrike" kern="1200" cap="none" spc="0" normalizeH="0" baseline="0" noProof="0" dirty="0">
                <a:ln>
                  <a:noFill/>
                </a:ln>
                <a:solidFill>
                  <a:srgbClr val="C00000"/>
                </a:solidFill>
                <a:effectLst/>
                <a:uLnTx/>
                <a:uFillTx/>
                <a:latin typeface="Gill Sans MT"/>
                <a:ea typeface="+mn-ea"/>
                <a:cs typeface="+mn-cs"/>
              </a:rPr>
              <a:t>TC(-16)</a:t>
            </a:r>
          </a:p>
        </p:txBody>
      </p:sp>
      <p:graphicFrame>
        <p:nvGraphicFramePr>
          <p:cNvPr id="3" name="Table 2">
            <a:extLst>
              <a:ext uri="{FF2B5EF4-FFF2-40B4-BE49-F238E27FC236}">
                <a16:creationId xmlns:a16="http://schemas.microsoft.com/office/drawing/2014/main" id="{7DC197C3-D780-88B0-CB6E-C6D311E48884}"/>
              </a:ext>
            </a:extLst>
          </p:cNvPr>
          <p:cNvGraphicFramePr>
            <a:graphicFrameLocks noGrp="1"/>
          </p:cNvGraphicFramePr>
          <p:nvPr>
            <p:extLst>
              <p:ext uri="{D42A27DB-BD31-4B8C-83A1-F6EECF244321}">
                <p14:modId xmlns:p14="http://schemas.microsoft.com/office/powerpoint/2010/main" val="123005938"/>
              </p:ext>
            </p:extLst>
          </p:nvPr>
        </p:nvGraphicFramePr>
        <p:xfrm>
          <a:off x="4812507" y="4038600"/>
          <a:ext cx="4209248" cy="1524000"/>
        </p:xfrm>
        <a:graphic>
          <a:graphicData uri="http://schemas.openxmlformats.org/drawingml/2006/table">
            <a:tbl>
              <a:tblPr firstRow="1" firstCol="1" bandRow="1">
                <a:tableStyleId>{5C22544A-7EE6-4342-B048-85BDC9FD1C3A}</a:tableStyleId>
              </a:tblPr>
              <a:tblGrid>
                <a:gridCol w="1999449">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990599">
                  <a:extLst>
                    <a:ext uri="{9D8B030D-6E8A-4147-A177-3AD203B41FA5}">
                      <a16:colId xmlns:a16="http://schemas.microsoft.com/office/drawing/2014/main" val="20002"/>
                    </a:ext>
                  </a:extLst>
                </a:gridCol>
              </a:tblGrid>
              <a:tr h="304800">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Binary</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Decimal</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0"/>
                  </a:ext>
                </a:extLst>
              </a:tr>
              <a:tr h="0">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Original number</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10000</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-16</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0">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Step 1: Invert every bit</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01111</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 </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r h="0">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Step 2: Add 1</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+ 10000</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 </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3"/>
                  </a:ext>
                </a:extLst>
              </a:tr>
              <a:tr h="0">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Two’s complement</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10000</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-16</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4"/>
                  </a:ext>
                </a:extLst>
              </a:tr>
            </a:tbl>
          </a:graphicData>
        </a:graphic>
      </p:graphicFrame>
      <p:sp>
        <p:nvSpPr>
          <p:cNvPr id="10" name="Oval 9">
            <a:extLst>
              <a:ext uri="{FF2B5EF4-FFF2-40B4-BE49-F238E27FC236}">
                <a16:creationId xmlns:a16="http://schemas.microsoft.com/office/drawing/2014/main" id="{2686C525-1BAE-749A-EB68-41E93C4EDA51}"/>
              </a:ext>
            </a:extLst>
          </p:cNvPr>
          <p:cNvSpPr/>
          <p:nvPr/>
        </p:nvSpPr>
        <p:spPr>
          <a:xfrm rot="18357225">
            <a:off x="3080056" y="2718154"/>
            <a:ext cx="902864" cy="4150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11" name="Oval 10">
            <a:extLst>
              <a:ext uri="{FF2B5EF4-FFF2-40B4-BE49-F238E27FC236}">
                <a16:creationId xmlns:a16="http://schemas.microsoft.com/office/drawing/2014/main" id="{2C26FFD8-75E3-F088-5BAB-8606BFE005D3}"/>
              </a:ext>
            </a:extLst>
          </p:cNvPr>
          <p:cNvSpPr/>
          <p:nvPr/>
        </p:nvSpPr>
        <p:spPr>
          <a:xfrm rot="2867065">
            <a:off x="1148587" y="2704659"/>
            <a:ext cx="902864" cy="4150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8" name="Rectangle 7">
            <a:extLst>
              <a:ext uri="{FF2B5EF4-FFF2-40B4-BE49-F238E27FC236}">
                <a16:creationId xmlns:a16="http://schemas.microsoft.com/office/drawing/2014/main" id="{79D4566C-80D1-35D7-5D62-39D3D6501E04}"/>
              </a:ext>
            </a:extLst>
          </p:cNvPr>
          <p:cNvSpPr/>
          <p:nvPr/>
        </p:nvSpPr>
        <p:spPr>
          <a:xfrm>
            <a:off x="4399280" y="5635585"/>
            <a:ext cx="4744720" cy="1200329"/>
          </a:xfrm>
          <a:prstGeom prst="rect">
            <a:avLst/>
          </a:prstGeom>
        </p:spPr>
        <p:txBody>
          <a:bodyPr wrap="square">
            <a:spAutoFit/>
          </a:bodyPr>
          <a:lstStyle/>
          <a:p>
            <a:pPr lvl="0" eaLnBrk="1" fontAlgn="auto" hangingPunct="1">
              <a:spcBef>
                <a:spcPts val="0"/>
              </a:spcBef>
              <a:spcAft>
                <a:spcPts val="0"/>
              </a:spcAft>
              <a:defRPr/>
            </a:pPr>
            <a:r>
              <a:rPr lang="en-US" sz="1800" b="0" dirty="0">
                <a:solidFill>
                  <a:schemeClr val="tx1"/>
                </a:solidFill>
                <a:latin typeface="Gill Sans MT"/>
              </a:rPr>
              <a:t>Negation of -16 in 5-bit two's complement wraps back to itself, meaning the most negative number's two's complement is itself. (Number range is [-16, 15], so 16 is out of range)</a:t>
            </a:r>
          </a:p>
        </p:txBody>
      </p:sp>
      <p:sp>
        <p:nvSpPr>
          <p:cNvPr id="7" name="SMARTInkShape-24">
            <a:extLst>
              <a:ext uri="{FF2B5EF4-FFF2-40B4-BE49-F238E27FC236}">
                <a16:creationId xmlns:a16="http://schemas.microsoft.com/office/drawing/2014/main" id="{CF903C21-4AA4-42BD-AA0E-9D5AA8E6464D}"/>
              </a:ext>
            </a:extLst>
          </p:cNvPr>
          <p:cNvSpPr/>
          <p:nvPr>
            <p:custDataLst>
              <p:tags r:id="rId1"/>
            </p:custDataLst>
          </p:nvPr>
        </p:nvSpPr>
        <p:spPr>
          <a:xfrm>
            <a:off x="7372350" y="4578350"/>
            <a:ext cx="666751" cy="25401"/>
          </a:xfrm>
          <a:custGeom>
            <a:avLst/>
            <a:gdLst/>
            <a:ahLst/>
            <a:cxnLst/>
            <a:rect l="0" t="0" r="0" b="0"/>
            <a:pathLst>
              <a:path w="666751" h="25401">
                <a:moveTo>
                  <a:pt x="6350" y="25400"/>
                </a:moveTo>
                <a:lnTo>
                  <a:pt x="6350" y="25400"/>
                </a:lnTo>
                <a:lnTo>
                  <a:pt x="882" y="25400"/>
                </a:lnTo>
                <a:lnTo>
                  <a:pt x="588" y="24695"/>
                </a:lnTo>
                <a:lnTo>
                  <a:pt x="0" y="6695"/>
                </a:lnTo>
                <a:lnTo>
                  <a:pt x="3372" y="6452"/>
                </a:lnTo>
                <a:lnTo>
                  <a:pt x="4364" y="5713"/>
                </a:lnTo>
                <a:lnTo>
                  <a:pt x="5468" y="3010"/>
                </a:lnTo>
                <a:lnTo>
                  <a:pt x="6468" y="2712"/>
                </a:lnTo>
                <a:lnTo>
                  <a:pt x="15111" y="5732"/>
                </a:lnTo>
                <a:lnTo>
                  <a:pt x="43334" y="6334"/>
                </a:lnTo>
                <a:lnTo>
                  <a:pt x="71191" y="6348"/>
                </a:lnTo>
                <a:lnTo>
                  <a:pt x="101777" y="11376"/>
                </a:lnTo>
                <a:lnTo>
                  <a:pt x="133373" y="12525"/>
                </a:lnTo>
                <a:lnTo>
                  <a:pt x="165104" y="16048"/>
                </a:lnTo>
                <a:lnTo>
                  <a:pt x="196850" y="18655"/>
                </a:lnTo>
                <a:lnTo>
                  <a:pt x="227895" y="23362"/>
                </a:lnTo>
                <a:lnTo>
                  <a:pt x="255636" y="25321"/>
                </a:lnTo>
                <a:lnTo>
                  <a:pt x="285477" y="25389"/>
                </a:lnTo>
                <a:lnTo>
                  <a:pt x="304719" y="23515"/>
                </a:lnTo>
                <a:lnTo>
                  <a:pt x="332881" y="19638"/>
                </a:lnTo>
                <a:lnTo>
                  <a:pt x="362897" y="19166"/>
                </a:lnTo>
                <a:lnTo>
                  <a:pt x="389262" y="19073"/>
                </a:lnTo>
                <a:lnTo>
                  <a:pt x="420615" y="14027"/>
                </a:lnTo>
                <a:lnTo>
                  <a:pt x="449659" y="7790"/>
                </a:lnTo>
                <a:lnTo>
                  <a:pt x="481293" y="5834"/>
                </a:lnTo>
                <a:lnTo>
                  <a:pt x="510808" y="907"/>
                </a:lnTo>
                <a:lnTo>
                  <a:pt x="539024" y="179"/>
                </a:lnTo>
                <a:lnTo>
                  <a:pt x="570037" y="24"/>
                </a:lnTo>
                <a:lnTo>
                  <a:pt x="596585" y="5"/>
                </a:lnTo>
                <a:lnTo>
                  <a:pt x="620717" y="1"/>
                </a:lnTo>
                <a:lnTo>
                  <a:pt x="666750" y="0"/>
                </a:lnTo>
              </a:path>
            </a:pathLst>
          </a:cu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052015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CB121-E546-7A53-7CE3-60CAA65C9F79}"/>
              </a:ext>
            </a:extLst>
          </p:cNvPr>
          <p:cNvSpPr>
            <a:spLocks noGrp="1"/>
          </p:cNvSpPr>
          <p:nvPr>
            <p:ph type="title"/>
          </p:nvPr>
        </p:nvSpPr>
        <p:spPr/>
        <p:txBody>
          <a:bodyPr/>
          <a:lstStyle/>
          <a:p>
            <a:r>
              <a:rPr lang="en-US" dirty="0"/>
              <a:t>Quiz</a:t>
            </a:r>
          </a:p>
        </p:txBody>
      </p:sp>
      <p:sp>
        <p:nvSpPr>
          <p:cNvPr id="3" name="Content Placeholder 2">
            <a:extLst>
              <a:ext uri="{FF2B5EF4-FFF2-40B4-BE49-F238E27FC236}">
                <a16:creationId xmlns:a16="http://schemas.microsoft.com/office/drawing/2014/main" id="{CF93CA2C-6BF3-F8F5-A739-069BC284E551}"/>
              </a:ext>
            </a:extLst>
          </p:cNvPr>
          <p:cNvSpPr>
            <a:spLocks noGrp="1"/>
          </p:cNvSpPr>
          <p:nvPr>
            <p:ph sz="quarter" idx="1"/>
          </p:nvPr>
        </p:nvSpPr>
        <p:spPr/>
        <p:txBody>
          <a:bodyPr>
            <a:normAutofit fontScale="92500" lnSpcReduction="20000"/>
          </a:bodyPr>
          <a:lstStyle/>
          <a:p>
            <a:r>
              <a:rPr lang="en-US" dirty="0"/>
              <a:t>Calculate TC(-6) for 6-bit system</a:t>
            </a:r>
          </a:p>
          <a:p>
            <a:r>
              <a:rPr lang="en-US" dirty="0"/>
              <a:t>For a 6-bit two's complement number: the range of representable integers is from −32 to +31.</a:t>
            </a:r>
          </a:p>
          <a:p>
            <a:r>
              <a:rPr lang="en-US" dirty="0"/>
              <a:t>−16 in 6-bit two's complement is 110000</a:t>
            </a:r>
          </a:p>
          <a:p>
            <a:pPr lvl="1"/>
            <a:r>
              <a:rPr lang="en-US" dirty="0"/>
              <a:t>Write 16 in binary: 010000</a:t>
            </a:r>
          </a:p>
          <a:p>
            <a:pPr lvl="1"/>
            <a:r>
              <a:rPr lang="en-US" dirty="0"/>
              <a:t>Take the two's complement (invert bits and add 1):</a:t>
            </a:r>
          </a:p>
          <a:p>
            <a:pPr lvl="1"/>
            <a:r>
              <a:rPr lang="en-US" dirty="0"/>
              <a:t>Invert bits: 101111,  Add 1: 101111+1=110000</a:t>
            </a:r>
          </a:p>
          <a:p>
            <a:r>
              <a:rPr lang="en-US" dirty="0"/>
              <a:t>To take the negation of this (i.e., find the two's complement of 110000):</a:t>
            </a:r>
          </a:p>
          <a:p>
            <a:pPr lvl="1"/>
            <a:r>
              <a:rPr lang="en-US" dirty="0"/>
              <a:t>Invert bits: 001111,  Add 1: 001111+1=010000</a:t>
            </a:r>
          </a:p>
          <a:p>
            <a:pPr lvl="1"/>
            <a:r>
              <a:rPr lang="en-US" dirty="0"/>
              <a:t>This is 16 in binary, so the negation of −16 is +16 as expected.</a:t>
            </a:r>
          </a:p>
          <a:p>
            <a:r>
              <a:rPr lang="en-US" dirty="0"/>
              <a:t>Unlike the 5-bit case where −16 is the minimum and its negation wraps onto itself, in 6 bits −16 behaves normally with correct negation.</a:t>
            </a:r>
          </a:p>
        </p:txBody>
      </p:sp>
    </p:spTree>
    <p:extLst>
      <p:ext uri="{BB962C8B-B14F-4D97-AF65-F5344CB8AC3E}">
        <p14:creationId xmlns:p14="http://schemas.microsoft.com/office/powerpoint/2010/main" val="7958274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Comparison: different signed reps</a:t>
            </a:r>
          </a:p>
        </p:txBody>
      </p:sp>
      <p:sp>
        <p:nvSpPr>
          <p:cNvPr id="3" name="Slide Number Placeholder 2"/>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pic>
        <p:nvPicPr>
          <p:cNvPr id="368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86" y="1404408"/>
            <a:ext cx="3146886" cy="2862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6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24139" y="1371600"/>
            <a:ext cx="3148061" cy="287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p:cNvPicPr/>
          <p:nvPr/>
        </p:nvPicPr>
        <p:blipFill>
          <a:blip r:embed="rId5"/>
          <a:srcRect/>
          <a:stretch>
            <a:fillRect/>
          </a:stretch>
        </p:blipFill>
        <p:spPr bwMode="auto">
          <a:xfrm>
            <a:off x="6064250" y="1441450"/>
            <a:ext cx="3079750" cy="2825750"/>
          </a:xfrm>
          <a:prstGeom prst="rect">
            <a:avLst/>
          </a:prstGeom>
          <a:noFill/>
          <a:ln w="9525">
            <a:noFill/>
            <a:miter lim="800000"/>
            <a:headEnd/>
            <a:tailEnd/>
          </a:ln>
        </p:spPr>
      </p:pic>
      <p:sp>
        <p:nvSpPr>
          <p:cNvPr id="6" name="Rectangle 5"/>
          <p:cNvSpPr/>
          <p:nvPr/>
        </p:nvSpPr>
        <p:spPr>
          <a:xfrm>
            <a:off x="3524785" y="4672357"/>
            <a:ext cx="2227780" cy="147732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One’s complement representation</a:t>
            </a:r>
          </a:p>
          <a:p>
            <a:pPr lvl="0" eaLnBrk="1" fontAlgn="auto" hangingPunct="1">
              <a:spcBef>
                <a:spcPts val="0"/>
              </a:spcBef>
              <a:spcAft>
                <a:spcPts val="0"/>
              </a:spcAft>
              <a:defRPr/>
            </a:pPr>
            <a:r>
              <a:rPr lang="en-US" sz="1800" b="0" dirty="0">
                <a:solidFill>
                  <a:prstClr val="black"/>
                </a:solidFill>
                <a:latin typeface="Gill Sans MT"/>
              </a:rPr>
              <a:t>Range [-15,15]</a:t>
            </a:r>
            <a:endParaRPr kumimoji="0" lang="en-US" sz="1800" b="0" i="0" u="none" strike="noStrike" kern="1200" cap="none" spc="0" normalizeH="0" baseline="0" noProof="0" dirty="0">
              <a:ln>
                <a:noFill/>
              </a:ln>
              <a:solidFill>
                <a:prstClr val="black"/>
              </a:solidFill>
              <a:effectLst/>
              <a:uLnTx/>
              <a:uFillTx/>
              <a:latin typeface="Gill Sans M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Gill Sans MT"/>
                <a:ea typeface="+mn-ea"/>
                <a:cs typeface="+mn-cs"/>
              </a:rPr>
              <a:t>Negative = invert all bits of a positive</a:t>
            </a:r>
          </a:p>
        </p:txBody>
      </p:sp>
      <p:sp>
        <p:nvSpPr>
          <p:cNvPr id="8" name="Rectangle 7"/>
          <p:cNvSpPr/>
          <p:nvPr/>
        </p:nvSpPr>
        <p:spPr>
          <a:xfrm>
            <a:off x="6705600" y="4672357"/>
            <a:ext cx="2016359" cy="147732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Two’s Complement representation</a:t>
            </a:r>
          </a:p>
          <a:p>
            <a:pPr lvl="0" eaLnBrk="1" fontAlgn="auto" hangingPunct="1">
              <a:spcBef>
                <a:spcPts val="0"/>
              </a:spcBef>
              <a:spcAft>
                <a:spcPts val="0"/>
              </a:spcAft>
              <a:defRPr/>
            </a:pPr>
            <a:r>
              <a:rPr lang="en-US" sz="1800" b="0" dirty="0">
                <a:solidFill>
                  <a:prstClr val="black"/>
                </a:solidFill>
                <a:latin typeface="Gill Sans MT"/>
              </a:rPr>
              <a:t>Range [-16,15]</a:t>
            </a:r>
            <a:endParaRPr kumimoji="0" lang="en-US" sz="1800" b="0" i="0" u="none" strike="noStrike" kern="1200" cap="none" spc="0" normalizeH="0" baseline="0" noProof="0" dirty="0">
              <a:ln>
                <a:noFill/>
              </a:ln>
              <a:solidFill>
                <a:prstClr val="black"/>
              </a:solidFill>
              <a:effectLst/>
              <a:uLnTx/>
              <a:uFillTx/>
              <a:latin typeface="Gill Sans M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Gill Sans MT"/>
                <a:ea typeface="+mn-ea"/>
                <a:cs typeface="+mn-cs"/>
              </a:rPr>
              <a:t>TC = invert all bits, then plus </a:t>
            </a:r>
            <a:r>
              <a:rPr kumimoji="0" lang="en-US" sz="1800" b="0" i="0" u="none" strike="noStrike" kern="1200" cap="none" spc="0" normalizeH="0" baseline="0" noProof="0" dirty="0">
                <a:ln>
                  <a:noFill/>
                </a:ln>
                <a:solidFill>
                  <a:srgbClr val="C00000"/>
                </a:solidFill>
                <a:effectLst/>
                <a:uLnTx/>
                <a:uFillTx/>
                <a:latin typeface="Consolas" pitchFamily="49" charset="0"/>
                <a:ea typeface="+mn-ea"/>
                <a:cs typeface="Consolas" pitchFamily="49" charset="0"/>
              </a:rPr>
              <a:t>1</a:t>
            </a:r>
          </a:p>
        </p:txBody>
      </p:sp>
      <p:sp>
        <p:nvSpPr>
          <p:cNvPr id="4" name="Rectangle 3"/>
          <p:cNvSpPr/>
          <p:nvPr/>
        </p:nvSpPr>
        <p:spPr>
          <a:xfrm>
            <a:off x="351035" y="4724400"/>
            <a:ext cx="2675673" cy="147732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Signed magnitude representation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prstClr val="black"/>
                </a:solidFill>
                <a:latin typeface="Gill Sans MT"/>
              </a:rPr>
              <a:t>Range [-15,15]</a:t>
            </a:r>
            <a:endParaRPr kumimoji="0" lang="en-US" sz="1800" b="0" i="0" u="none" strike="noStrike" kern="1200" cap="none" spc="0" normalizeH="0" baseline="0" noProof="0" dirty="0">
              <a:ln>
                <a:noFill/>
              </a:ln>
              <a:solidFill>
                <a:prstClr val="black"/>
              </a:solidFill>
              <a:effectLst/>
              <a:uLnTx/>
              <a:uFillTx/>
              <a:latin typeface="Gill Sans M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onsolas" pitchFamily="49" charset="0"/>
                <a:ea typeface="+mn-ea"/>
                <a:cs typeface="Consolas" pitchFamily="49" charset="0"/>
              </a:rPr>
              <a:t>0</a:t>
            </a:r>
            <a:r>
              <a:rPr kumimoji="0" lang="en-US" sz="1800" b="0" i="0" u="none" strike="noStrike" kern="1200" cap="none" spc="0" normalizeH="0" baseline="0" noProof="0" dirty="0">
                <a:ln>
                  <a:noFill/>
                </a:ln>
                <a:solidFill>
                  <a:srgbClr val="C00000"/>
                </a:solidFill>
                <a:effectLst/>
                <a:uLnTx/>
                <a:uFillTx/>
                <a:latin typeface="Gill Sans MT"/>
                <a:ea typeface="+mn-ea"/>
                <a:cs typeface="+mn-cs"/>
              </a:rPr>
              <a:t> = positive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onsolas" pitchFamily="49" charset="0"/>
                <a:ea typeface="+mn-ea"/>
                <a:cs typeface="Consolas" pitchFamily="49" charset="0"/>
              </a:rPr>
              <a:t>1</a:t>
            </a:r>
            <a:r>
              <a:rPr kumimoji="0" lang="en-US" sz="1800" b="0" i="0" u="none" strike="noStrike" kern="1200" cap="none" spc="0" normalizeH="0" baseline="0" noProof="0" dirty="0">
                <a:ln>
                  <a:noFill/>
                </a:ln>
                <a:solidFill>
                  <a:srgbClr val="C00000"/>
                </a:solidFill>
                <a:effectLst/>
                <a:uLnTx/>
                <a:uFillTx/>
                <a:latin typeface="Gill Sans MT"/>
                <a:ea typeface="+mn-ea"/>
                <a:cs typeface="+mn-cs"/>
              </a:rPr>
              <a:t> = negative</a:t>
            </a:r>
          </a:p>
        </p:txBody>
      </p:sp>
      <p:sp>
        <p:nvSpPr>
          <p:cNvPr id="28" name="SMARTInkShape-54">
            <a:extLst>
              <a:ext uri="{FF2B5EF4-FFF2-40B4-BE49-F238E27FC236}">
                <a16:creationId xmlns:a16="http://schemas.microsoft.com/office/drawing/2014/main" id="{070C5C31-9921-4702-8D50-237C73595A9B}"/>
              </a:ext>
            </a:extLst>
          </p:cNvPr>
          <p:cNvSpPr/>
          <p:nvPr>
            <p:custDataLst>
              <p:tags r:id="rId1"/>
            </p:custDataLst>
          </p:nvPr>
        </p:nvSpPr>
        <p:spPr>
          <a:xfrm>
            <a:off x="6762750" y="5384800"/>
            <a:ext cx="19051" cy="19051"/>
          </a:xfrm>
          <a:custGeom>
            <a:avLst/>
            <a:gdLst/>
            <a:ahLst/>
            <a:cxnLst/>
            <a:rect l="0" t="0" r="0" b="0"/>
            <a:pathLst>
              <a:path w="19051" h="19051">
                <a:moveTo>
                  <a:pt x="19050" y="19050"/>
                </a:moveTo>
                <a:lnTo>
                  <a:pt x="19050" y="19050"/>
                </a:lnTo>
                <a:lnTo>
                  <a:pt x="13274" y="13981"/>
                </a:lnTo>
                <a:lnTo>
                  <a:pt x="0" y="0"/>
                </a:lnTo>
              </a:path>
            </a:pathLst>
          </a:cu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357289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86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Comparison: unsigned vs. signed</a:t>
            </a:r>
          </a:p>
        </p:txBody>
      </p:sp>
      <p:sp>
        <p:nvSpPr>
          <p:cNvPr id="3" name="Slide Number Placeholder 2"/>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pic>
        <p:nvPicPr>
          <p:cNvPr id="7" name="Picture 6"/>
          <p:cNvPicPr/>
          <p:nvPr/>
        </p:nvPicPr>
        <p:blipFill>
          <a:blip r:embed="rId2"/>
          <a:srcRect/>
          <a:stretch>
            <a:fillRect/>
          </a:stretch>
        </p:blipFill>
        <p:spPr bwMode="auto">
          <a:xfrm>
            <a:off x="4718056" y="1441450"/>
            <a:ext cx="3079750" cy="2825750"/>
          </a:xfrm>
          <a:prstGeom prst="rect">
            <a:avLst/>
          </a:prstGeom>
          <a:noFill/>
          <a:ln w="9525">
            <a:noFill/>
            <a:miter lim="800000"/>
            <a:headEnd/>
            <a:tailEnd/>
          </a:ln>
        </p:spPr>
      </p:pic>
      <p:sp>
        <p:nvSpPr>
          <p:cNvPr id="6" name="Rectangle 5"/>
          <p:cNvSpPr/>
          <p:nvPr/>
        </p:nvSpPr>
        <p:spPr>
          <a:xfrm>
            <a:off x="2178591" y="4672357"/>
            <a:ext cx="2227780" cy="92333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Unsigned </a:t>
            </a:r>
            <a:r>
              <a:rPr kumimoji="0" lang="en-US" sz="1800" b="0" i="0" u="none" strike="noStrike" kern="1200" cap="none" spc="0" normalizeH="0" baseline="0" noProof="0" dirty="0" err="1">
                <a:ln>
                  <a:noFill/>
                </a:ln>
                <a:solidFill>
                  <a:prstClr val="black"/>
                </a:solidFill>
                <a:effectLst/>
                <a:uLnTx/>
                <a:uFillTx/>
                <a:latin typeface="Gill Sans MT"/>
                <a:ea typeface="+mn-ea"/>
                <a:cs typeface="+mn-cs"/>
              </a:rPr>
              <a:t>int</a:t>
            </a:r>
            <a:r>
              <a:rPr kumimoji="0" lang="en-US" sz="1800" b="0" i="0" u="none" strike="noStrike" kern="1200" cap="none" spc="0" normalizeH="0" baseline="0" noProof="0" dirty="0">
                <a:ln>
                  <a:noFill/>
                </a:ln>
                <a:solidFill>
                  <a:prstClr val="black"/>
                </a:solidFill>
                <a:effectLst/>
                <a:uLnTx/>
                <a:uFillTx/>
                <a:latin typeface="Gill Sans MT"/>
                <a:ea typeface="+mn-ea"/>
                <a:cs typeface="+mn-cs"/>
              </a:rPr>
              <a:t> representation</a:t>
            </a:r>
          </a:p>
          <a:p>
            <a:pPr lvl="0" eaLnBrk="1" fontAlgn="auto" hangingPunct="1">
              <a:spcBef>
                <a:spcPts val="0"/>
              </a:spcBef>
              <a:spcAft>
                <a:spcPts val="0"/>
              </a:spcAft>
              <a:defRPr/>
            </a:pPr>
            <a:r>
              <a:rPr lang="en-US" sz="1800" b="0" dirty="0">
                <a:solidFill>
                  <a:prstClr val="black"/>
                </a:solidFill>
                <a:latin typeface="Gill Sans MT"/>
              </a:rPr>
              <a:t>Range [0, 31]</a:t>
            </a:r>
            <a:endParaRPr kumimoji="0" lang="en-US" sz="1800" b="0" i="0" u="none" strike="noStrike" kern="1200" cap="none" spc="0" normalizeH="0" baseline="0" noProof="0" dirty="0">
              <a:ln>
                <a:noFill/>
              </a:ln>
              <a:solidFill>
                <a:prstClr val="black"/>
              </a:solidFill>
              <a:effectLst/>
              <a:uLnTx/>
              <a:uFillTx/>
              <a:latin typeface="Gill Sans MT"/>
              <a:ea typeface="+mn-ea"/>
              <a:cs typeface="+mn-cs"/>
            </a:endParaRPr>
          </a:p>
        </p:txBody>
      </p:sp>
      <p:sp>
        <p:nvSpPr>
          <p:cNvPr id="8" name="Rectangle 7"/>
          <p:cNvSpPr/>
          <p:nvPr/>
        </p:nvSpPr>
        <p:spPr>
          <a:xfrm>
            <a:off x="5359406" y="4672357"/>
            <a:ext cx="2016359" cy="147732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Two’s Complement representation</a:t>
            </a:r>
          </a:p>
          <a:p>
            <a:pPr lvl="0" eaLnBrk="1" fontAlgn="auto" hangingPunct="1">
              <a:spcBef>
                <a:spcPts val="0"/>
              </a:spcBef>
              <a:spcAft>
                <a:spcPts val="0"/>
              </a:spcAft>
              <a:defRPr/>
            </a:pPr>
            <a:r>
              <a:rPr lang="en-US" sz="1800" b="0" dirty="0">
                <a:solidFill>
                  <a:prstClr val="black"/>
                </a:solidFill>
                <a:latin typeface="Gill Sans MT"/>
              </a:rPr>
              <a:t>Range [-16,15]</a:t>
            </a:r>
            <a:endParaRPr kumimoji="0" lang="en-US" sz="1800" b="0" i="0" u="none" strike="noStrike" kern="1200" cap="none" spc="0" normalizeH="0" baseline="0" noProof="0" dirty="0">
              <a:ln>
                <a:noFill/>
              </a:ln>
              <a:solidFill>
                <a:prstClr val="black"/>
              </a:solidFill>
              <a:effectLst/>
              <a:uLnTx/>
              <a:uFillTx/>
              <a:latin typeface="Gill Sans M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Gill Sans MT"/>
                <a:ea typeface="+mn-ea"/>
                <a:cs typeface="+mn-cs"/>
              </a:rPr>
              <a:t>TC = invert all bits, then plus </a:t>
            </a:r>
            <a:r>
              <a:rPr kumimoji="0" lang="en-US" sz="1800" b="0" i="0" u="none" strike="noStrike" kern="1200" cap="none" spc="0" normalizeH="0" baseline="0" noProof="0" dirty="0">
                <a:ln>
                  <a:noFill/>
                </a:ln>
                <a:solidFill>
                  <a:srgbClr val="C00000"/>
                </a:solidFill>
                <a:effectLst/>
                <a:uLnTx/>
                <a:uFillTx/>
                <a:latin typeface="Consolas" pitchFamily="49" charset="0"/>
                <a:ea typeface="+mn-ea"/>
                <a:cs typeface="Consolas" pitchFamily="49" charset="0"/>
              </a:rPr>
              <a:t>1</a:t>
            </a:r>
          </a:p>
        </p:txBody>
      </p:sp>
      <p:pic>
        <p:nvPicPr>
          <p:cNvPr id="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0738" y="1312334"/>
            <a:ext cx="3100299" cy="29844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62305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DA39A-8FF4-D275-C5FA-39DB0A8FDEB5}"/>
              </a:ext>
            </a:extLst>
          </p:cNvPr>
          <p:cNvSpPr>
            <a:spLocks noGrp="1"/>
          </p:cNvSpPr>
          <p:nvPr>
            <p:ph type="title"/>
          </p:nvPr>
        </p:nvSpPr>
        <p:spPr/>
        <p:txBody>
          <a:bodyPr/>
          <a:lstStyle/>
          <a:p>
            <a:r>
              <a:rPr lang="en-US" dirty="0"/>
              <a:t>Unsigned vs. Signed (TC)</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E059009-6D02-98F8-E261-D490B4CD59CA}"/>
                  </a:ext>
                </a:extLst>
              </p:cNvPr>
              <p:cNvSpPr>
                <a:spLocks noGrp="1"/>
              </p:cNvSpPr>
              <p:nvPr>
                <p:ph sz="quarter" idx="1"/>
              </p:nvPr>
            </p:nvSpPr>
            <p:spPr>
              <a:xfrm>
                <a:off x="457200" y="3069770"/>
                <a:ext cx="8229600" cy="3087189"/>
              </a:xfrm>
            </p:spPr>
            <p:txBody>
              <a:bodyPr>
                <a:normAutofit fontScale="92500" lnSpcReduction="20000"/>
              </a:bodyPr>
              <a:lstStyle/>
              <a:p>
                <a:r>
                  <a:rPr lang="en-US" dirty="0"/>
                  <a:t>Two's complement gets its name from the rule that the unsigned sum of an n-bit number and its n-bit negative is </a:t>
                </a:r>
                <a14:m>
                  <m:oMath xmlns:m="http://schemas.openxmlformats.org/officeDocument/2006/math">
                    <m:sSup>
                      <m:sSupPr>
                        <m:ctrlPr>
                          <a:rPr lang="en-US" sz="2400" i="1">
                            <a:latin typeface="Cambria Math" panose="02040503050406030204" pitchFamily="18" charset="0"/>
                          </a:rPr>
                        </m:ctrlPr>
                      </m:sSupPr>
                      <m:e>
                        <m:r>
                          <a:rPr lang="en-US" sz="2400">
                            <a:latin typeface="Cambria Math"/>
                          </a:rPr>
                          <m:t>2</m:t>
                        </m:r>
                      </m:e>
                      <m:sup>
                        <m:r>
                          <a:rPr lang="en-US" sz="2400">
                            <a:latin typeface="Cambria Math"/>
                          </a:rPr>
                          <m:t>𝑛</m:t>
                        </m:r>
                      </m:sup>
                    </m:sSup>
                  </m:oMath>
                </a14:m>
                <a:r>
                  <a:rPr lang="en-US" dirty="0"/>
                  <a:t>; hence, the negation or complement of a number x is </a:t>
                </a:r>
                <a14:m>
                  <m:oMath xmlns:m="http://schemas.openxmlformats.org/officeDocument/2006/math">
                    <m:sSup>
                      <m:sSupPr>
                        <m:ctrlPr>
                          <a:rPr lang="en-US" sz="2400" i="1">
                            <a:latin typeface="Cambria Math" panose="02040503050406030204" pitchFamily="18" charset="0"/>
                          </a:rPr>
                        </m:ctrlPr>
                      </m:sSupPr>
                      <m:e>
                        <m:r>
                          <a:rPr lang="en-US" sz="2400">
                            <a:latin typeface="Cambria Math"/>
                          </a:rPr>
                          <m:t>2</m:t>
                        </m:r>
                      </m:e>
                      <m:sup>
                        <m:r>
                          <a:rPr lang="en-US" sz="2400">
                            <a:latin typeface="Cambria Math"/>
                          </a:rPr>
                          <m:t>𝑛</m:t>
                        </m:r>
                      </m:sup>
                    </m:sSup>
                    <m:r>
                      <a:rPr lang="en-US" sz="2400" b="0" i="1" smtClean="0">
                        <a:latin typeface="Cambria Math" panose="02040503050406030204" pitchFamily="18" charset="0"/>
                      </a:rPr>
                      <m:t>−</m:t>
                    </m:r>
                    <m:r>
                      <a:rPr lang="en-US" sz="2400" b="0" i="1" smtClean="0">
                        <a:latin typeface="Cambria Math" panose="02040503050406030204" pitchFamily="18" charset="0"/>
                      </a:rPr>
                      <m:t>𝑥</m:t>
                    </m:r>
                  </m:oMath>
                </a14:m>
                <a:r>
                  <a:rPr lang="en-US" dirty="0"/>
                  <a:t>, or its "two's complement.“</a:t>
                </a:r>
              </a:p>
              <a:p>
                <a:pPr lvl="1"/>
                <a:r>
                  <a:rPr lang="en-US" dirty="0"/>
                  <a:t>For 5-bit system, signed number x = 00011 = 3, TC(x) = 11101 = -3, so signed sum is 00011 + 11101 = 00000</a:t>
                </a:r>
              </a:p>
              <a:p>
                <a:pPr lvl="1"/>
                <a:r>
                  <a:rPr lang="en-US" dirty="0"/>
                  <a:t>Assuming unsigned numbers, 00011=3, 11101=29, so unsigned sum is 3 + 29 = 32 = </a:t>
                </a:r>
                <a14:m>
                  <m:oMath xmlns:m="http://schemas.openxmlformats.org/officeDocument/2006/math">
                    <m:sSup>
                      <m:sSupPr>
                        <m:ctrlPr>
                          <a:rPr lang="en-US" sz="2400" i="1">
                            <a:latin typeface="Cambria Math" panose="02040503050406030204" pitchFamily="18" charset="0"/>
                          </a:rPr>
                        </m:ctrlPr>
                      </m:sSupPr>
                      <m:e>
                        <m:r>
                          <a:rPr lang="en-US" sz="2400">
                            <a:latin typeface="Cambria Math"/>
                          </a:rPr>
                          <m:t>2</m:t>
                        </m:r>
                      </m:e>
                      <m:sup>
                        <m:r>
                          <a:rPr lang="en-US" sz="2400" b="0" i="0" smtClean="0">
                            <a:latin typeface="Cambria Math" panose="02040503050406030204" pitchFamily="18" charset="0"/>
                          </a:rPr>
                          <m:t>5</m:t>
                        </m:r>
                      </m:sup>
                    </m:sSup>
                  </m:oMath>
                </a14:m>
                <a:r>
                  <a:rPr lang="en-US" dirty="0"/>
                  <a:t> </a:t>
                </a:r>
              </a:p>
              <a:p>
                <a:pPr lvl="2"/>
                <a:r>
                  <a:rPr lang="en-US" dirty="0"/>
                  <a:t>It cannot be represented in 5 bits since it exceeds the largest unsigned value of </a:t>
                </a:r>
                <a14:m>
                  <m:oMath xmlns:m="http://schemas.openxmlformats.org/officeDocument/2006/math">
                    <m:sSup>
                      <m:sSupPr>
                        <m:ctrlPr>
                          <a:rPr lang="en-US" sz="2300" i="1">
                            <a:latin typeface="Cambria Math" panose="02040503050406030204" pitchFamily="18" charset="0"/>
                          </a:rPr>
                        </m:ctrlPr>
                      </m:sSupPr>
                      <m:e>
                        <m:r>
                          <a:rPr lang="en-US" sz="2300">
                            <a:latin typeface="Cambria Math"/>
                          </a:rPr>
                          <m:t>2</m:t>
                        </m:r>
                      </m:e>
                      <m:sup>
                        <m:r>
                          <a:rPr lang="en-US" sz="2300">
                            <a:latin typeface="Cambria Math" panose="02040503050406030204" pitchFamily="18" charset="0"/>
                          </a:rPr>
                          <m:t>5</m:t>
                        </m:r>
                      </m:sup>
                    </m:sSup>
                    <m:r>
                      <a:rPr lang="en-US" sz="2300" b="0" i="1" smtClean="0">
                        <a:latin typeface="Cambria Math" panose="02040503050406030204" pitchFamily="18" charset="0"/>
                      </a:rPr>
                      <m:t>−1</m:t>
                    </m:r>
                  </m:oMath>
                </a14:m>
                <a:endParaRPr lang="en-US" dirty="0"/>
              </a:p>
              <a:p>
                <a:pPr lvl="1"/>
                <a:endParaRPr lang="en-US" dirty="0"/>
              </a:p>
            </p:txBody>
          </p:sp>
        </mc:Choice>
        <mc:Fallback>
          <p:sp>
            <p:nvSpPr>
              <p:cNvPr id="3" name="Content Placeholder 2">
                <a:extLst>
                  <a:ext uri="{FF2B5EF4-FFF2-40B4-BE49-F238E27FC236}">
                    <a16:creationId xmlns:a16="http://schemas.microsoft.com/office/drawing/2014/main" id="{4E059009-6D02-98F8-E261-D490B4CD59CA}"/>
                  </a:ext>
                </a:extLst>
              </p:cNvPr>
              <p:cNvSpPr>
                <a:spLocks noGrp="1" noRot="1" noChangeAspect="1" noMove="1" noResize="1" noEditPoints="1" noAdjustHandles="1" noChangeArrowheads="1" noChangeShapeType="1" noTextEdit="1"/>
              </p:cNvSpPr>
              <p:nvPr>
                <p:ph sz="quarter" idx="1"/>
              </p:nvPr>
            </p:nvSpPr>
            <p:spPr>
              <a:xfrm>
                <a:off x="457200" y="3069770"/>
                <a:ext cx="8229600" cy="3087189"/>
              </a:xfrm>
              <a:blipFill>
                <a:blip r:embed="rId2"/>
                <a:stretch>
                  <a:fillRect l="-519" t="-3953" r="-19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60E50A76-3E26-7AA6-DD27-20E721DD68C5}"/>
                  </a:ext>
                </a:extLst>
              </p:cNvPr>
              <p:cNvGraphicFramePr>
                <a:graphicFrameLocks noGrp="1"/>
              </p:cNvGraphicFramePr>
              <p:nvPr>
                <p:extLst>
                  <p:ext uri="{D42A27DB-BD31-4B8C-83A1-F6EECF244321}">
                    <p14:modId xmlns:p14="http://schemas.microsoft.com/office/powerpoint/2010/main" val="1162143598"/>
                  </p:ext>
                </p:extLst>
              </p:nvPr>
            </p:nvGraphicFramePr>
            <p:xfrm>
              <a:off x="1296851" y="1219200"/>
              <a:ext cx="6075680" cy="1661160"/>
            </p:xfrm>
            <a:graphic>
              <a:graphicData uri="http://schemas.openxmlformats.org/drawingml/2006/table">
                <a:tbl>
                  <a:tblPr firstRow="1" firstCol="1" bandRow="1">
                    <a:tableStyleId>{5C22544A-7EE6-4342-B048-85BDC9FD1C3A}</a:tableStyleId>
                  </a:tblPr>
                  <a:tblGrid>
                    <a:gridCol w="1312788">
                      <a:extLst>
                        <a:ext uri="{9D8B030D-6E8A-4147-A177-3AD203B41FA5}">
                          <a16:colId xmlns:a16="http://schemas.microsoft.com/office/drawing/2014/main" val="20000"/>
                        </a:ext>
                      </a:extLst>
                    </a:gridCol>
                    <a:gridCol w="1262121">
                      <a:extLst>
                        <a:ext uri="{9D8B030D-6E8A-4147-A177-3AD203B41FA5}">
                          <a16:colId xmlns:a16="http://schemas.microsoft.com/office/drawing/2014/main" val="20001"/>
                        </a:ext>
                      </a:extLst>
                    </a:gridCol>
                    <a:gridCol w="3500771">
                      <a:extLst>
                        <a:ext uri="{9D8B030D-6E8A-4147-A177-3AD203B41FA5}">
                          <a16:colId xmlns:a16="http://schemas.microsoft.com/office/drawing/2014/main" val="20003"/>
                        </a:ext>
                      </a:extLst>
                    </a:gridCol>
                  </a:tblGrid>
                  <a:tr h="0">
                    <a:tc>
                      <a:txBody>
                        <a:bodyPr/>
                        <a:lstStyle/>
                        <a:p>
                          <a:pPr marL="0" marR="0" algn="just">
                            <a:spcBef>
                              <a:spcPts val="0"/>
                            </a:spcBef>
                            <a:spcAft>
                              <a:spcPts val="0"/>
                            </a:spcAft>
                          </a:pPr>
                          <a:r>
                            <a:rPr lang="en-US" sz="2000" dirty="0">
                              <a:effectLst/>
                            </a:rPr>
                            <a:t> </a:t>
                          </a:r>
                          <a:endParaRPr lang="en-US" sz="20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2000" dirty="0">
                              <a:effectLst/>
                            </a:rPr>
                            <a:t>Unsigned</a:t>
                          </a:r>
                          <a:endParaRPr lang="en-US" sz="20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2000" dirty="0">
                              <a:effectLst/>
                            </a:rPr>
                            <a:t>Two’s Complement Signed</a:t>
                          </a:r>
                          <a:endParaRPr lang="en-US" sz="2000" dirty="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0"/>
                      </a:ext>
                    </a:extLst>
                  </a:tr>
                  <a:tr h="441960">
                    <a:tc>
                      <a:txBody>
                        <a:bodyPr/>
                        <a:lstStyle/>
                        <a:p>
                          <a:pPr marL="0" marR="0" algn="ctr">
                            <a:spcBef>
                              <a:spcPts val="0"/>
                            </a:spcBef>
                            <a:spcAft>
                              <a:spcPts val="0"/>
                            </a:spcAft>
                          </a:pPr>
                          <a:r>
                            <a:rPr lang="en-US" sz="2000" dirty="0">
                              <a:effectLst/>
                            </a:rPr>
                            <a:t>Range</a:t>
                          </a:r>
                          <a:endParaRPr lang="en-US" sz="20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a:rPr>
                                  <m:t>[</m:t>
                                </m:r>
                                <m:r>
                                  <a:rPr lang="en-US" sz="2000" b="0" i="1" smtClean="0">
                                    <a:solidFill>
                                      <a:schemeClr val="tx1"/>
                                    </a:solidFill>
                                    <a:effectLst/>
                                    <a:latin typeface="Cambria Math" panose="02040503050406030204" pitchFamily="18" charset="0"/>
                                  </a:rPr>
                                  <m:t>0</m:t>
                                </m:r>
                                <m:r>
                                  <a:rPr lang="en-US" sz="2000">
                                    <a:solidFill>
                                      <a:schemeClr val="tx1"/>
                                    </a:solidFill>
                                    <a:effectLst/>
                                    <a:latin typeface="Cambria Math"/>
                                  </a:rPr>
                                  <m:t>, </m:t>
                                </m:r>
                                <m:sSup>
                                  <m:sSupPr>
                                    <m:ctrlPr>
                                      <a:rPr lang="en-US" sz="2000" i="1">
                                        <a:solidFill>
                                          <a:schemeClr val="tx1"/>
                                        </a:solidFill>
                                        <a:effectLst/>
                                        <a:latin typeface="Cambria Math" panose="02040503050406030204" pitchFamily="18" charset="0"/>
                                      </a:rPr>
                                    </m:ctrlPr>
                                  </m:sSupPr>
                                  <m:e>
                                    <m:r>
                                      <a:rPr lang="en-US" sz="2000">
                                        <a:solidFill>
                                          <a:schemeClr val="tx1"/>
                                        </a:solidFill>
                                        <a:effectLst/>
                                        <a:latin typeface="Cambria Math"/>
                                      </a:rPr>
                                      <m:t>2</m:t>
                                    </m:r>
                                  </m:e>
                                  <m:sup>
                                    <m:r>
                                      <a:rPr lang="en-US" sz="2000">
                                        <a:solidFill>
                                          <a:schemeClr val="tx1"/>
                                        </a:solidFill>
                                        <a:effectLst/>
                                        <a:latin typeface="Cambria Math"/>
                                      </a:rPr>
                                      <m:t>𝑛</m:t>
                                    </m:r>
                                    <m:r>
                                      <a:rPr lang="en-US" sz="2000">
                                        <a:solidFill>
                                          <a:schemeClr val="tx1"/>
                                        </a:solidFill>
                                        <a:effectLst/>
                                        <a:latin typeface="Cambria Math"/>
                                      </a:rPr>
                                      <m:t>−1</m:t>
                                    </m:r>
                                  </m:sup>
                                </m:sSup>
                                <m:r>
                                  <a:rPr lang="en-US" sz="2000">
                                    <a:solidFill>
                                      <a:schemeClr val="tx1"/>
                                    </a:solidFill>
                                    <a:effectLst/>
                                    <a:latin typeface="Cambria Math"/>
                                  </a:rPr>
                                  <m:t>]</m:t>
                                </m:r>
                              </m:oMath>
                            </m:oMathPara>
                          </a14:m>
                          <a:endParaRPr lang="en-US" sz="2000" dirty="0">
                            <a:solidFill>
                              <a:schemeClr val="tx1"/>
                            </a:solidFill>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a:rPr>
                                  <m:t> [−</m:t>
                                </m:r>
                                <m:sSup>
                                  <m:sSupPr>
                                    <m:ctrlPr>
                                      <a:rPr lang="en-US" sz="2000" i="1">
                                        <a:solidFill>
                                          <a:schemeClr val="tx1"/>
                                        </a:solidFill>
                                        <a:effectLst/>
                                        <a:latin typeface="Cambria Math" panose="02040503050406030204" pitchFamily="18" charset="0"/>
                                      </a:rPr>
                                    </m:ctrlPr>
                                  </m:sSupPr>
                                  <m:e>
                                    <m:r>
                                      <a:rPr lang="en-US" sz="2000">
                                        <a:solidFill>
                                          <a:schemeClr val="tx1"/>
                                        </a:solidFill>
                                        <a:effectLst/>
                                        <a:latin typeface="Cambria Math"/>
                                      </a:rPr>
                                      <m:t>2</m:t>
                                    </m:r>
                                  </m:e>
                                  <m:sup>
                                    <m:r>
                                      <a:rPr lang="en-US" sz="2000">
                                        <a:solidFill>
                                          <a:schemeClr val="tx1"/>
                                        </a:solidFill>
                                        <a:effectLst/>
                                        <a:latin typeface="Cambria Math"/>
                                      </a:rPr>
                                      <m:t>𝑛</m:t>
                                    </m:r>
                                    <m:r>
                                      <a:rPr lang="en-US" sz="2000">
                                        <a:solidFill>
                                          <a:schemeClr val="tx1"/>
                                        </a:solidFill>
                                        <a:effectLst/>
                                        <a:latin typeface="Cambria Math"/>
                                      </a:rPr>
                                      <m:t>−1</m:t>
                                    </m:r>
                                  </m:sup>
                                </m:sSup>
                                <m:r>
                                  <a:rPr lang="en-US" sz="2000">
                                    <a:solidFill>
                                      <a:schemeClr val="tx1"/>
                                    </a:solidFill>
                                    <a:effectLst/>
                                    <a:latin typeface="Cambria Math"/>
                                  </a:rPr>
                                  <m:t>, </m:t>
                                </m:r>
                                <m:sSup>
                                  <m:sSupPr>
                                    <m:ctrlPr>
                                      <a:rPr lang="en-US" sz="2000" i="1">
                                        <a:solidFill>
                                          <a:schemeClr val="tx1"/>
                                        </a:solidFill>
                                        <a:effectLst/>
                                        <a:latin typeface="Cambria Math" panose="02040503050406030204" pitchFamily="18" charset="0"/>
                                      </a:rPr>
                                    </m:ctrlPr>
                                  </m:sSupPr>
                                  <m:e>
                                    <m:r>
                                      <a:rPr lang="en-US" sz="2000">
                                        <a:solidFill>
                                          <a:schemeClr val="tx1"/>
                                        </a:solidFill>
                                        <a:effectLst/>
                                        <a:latin typeface="Cambria Math"/>
                                      </a:rPr>
                                      <m:t>2</m:t>
                                    </m:r>
                                  </m:e>
                                  <m:sup>
                                    <m:r>
                                      <a:rPr lang="en-US" sz="2000">
                                        <a:solidFill>
                                          <a:schemeClr val="tx1"/>
                                        </a:solidFill>
                                        <a:effectLst/>
                                        <a:latin typeface="Cambria Math"/>
                                      </a:rPr>
                                      <m:t>𝑛</m:t>
                                    </m:r>
                                    <m:r>
                                      <a:rPr lang="en-US" sz="2000">
                                        <a:solidFill>
                                          <a:schemeClr val="tx1"/>
                                        </a:solidFill>
                                        <a:effectLst/>
                                        <a:latin typeface="Cambria Math"/>
                                      </a:rPr>
                                      <m:t>−1</m:t>
                                    </m:r>
                                  </m:sup>
                                </m:sSup>
                                <m:r>
                                  <a:rPr lang="en-US" sz="2000">
                                    <a:solidFill>
                                      <a:schemeClr val="tx1"/>
                                    </a:solidFill>
                                    <a:effectLst/>
                                    <a:latin typeface="Cambria Math"/>
                                  </a:rPr>
                                  <m:t>−1]</m:t>
                                </m:r>
                              </m:oMath>
                            </m:oMathPara>
                          </a14:m>
                          <a:endParaRPr lang="en-US" sz="2000" dirty="0">
                            <a:solidFill>
                              <a:schemeClr val="tx1"/>
                            </a:solidFill>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1"/>
                      </a:ext>
                    </a:extLst>
                  </a:tr>
                  <a:tr h="0">
                    <a:tc>
                      <a:txBody>
                        <a:bodyPr/>
                        <a:lstStyle/>
                        <a:p>
                          <a:pPr marL="0" marR="0" algn="ctr">
                            <a:spcBef>
                              <a:spcPts val="0"/>
                            </a:spcBef>
                            <a:spcAft>
                              <a:spcPts val="0"/>
                            </a:spcAft>
                          </a:pPr>
                          <a:r>
                            <a:rPr lang="en-US" sz="2000">
                              <a:effectLst/>
                            </a:rPr>
                            <a:t>Zero</a:t>
                          </a:r>
                          <a:endParaRPr lang="en-US" sz="200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2000" dirty="0">
                              <a:solidFill>
                                <a:schemeClr val="tx1"/>
                              </a:solidFill>
                              <a:effectLst/>
                            </a:rPr>
                            <a:t>One zero</a:t>
                          </a:r>
                          <a:endParaRPr lang="en-US" sz="2000" dirty="0">
                            <a:solidFill>
                              <a:schemeClr val="tx1"/>
                            </a:solidFill>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2000" dirty="0">
                              <a:solidFill>
                                <a:schemeClr val="tx1"/>
                              </a:solidFill>
                              <a:effectLst/>
                            </a:rPr>
                            <a:t>One zero</a:t>
                          </a:r>
                          <a:endParaRPr lang="en-US" sz="2000" dirty="0">
                            <a:solidFill>
                              <a:schemeClr val="tx1"/>
                            </a:solidFill>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2"/>
                      </a:ext>
                    </a:extLst>
                  </a:tr>
                  <a:tr h="0">
                    <a:tc>
                      <a:txBody>
                        <a:bodyPr/>
                        <a:lstStyle/>
                        <a:p>
                          <a:pPr marL="0" marR="0" algn="ctr">
                            <a:spcBef>
                              <a:spcPts val="0"/>
                            </a:spcBef>
                            <a:spcAft>
                              <a:spcPts val="0"/>
                            </a:spcAft>
                          </a:pPr>
                          <a:r>
                            <a:rPr lang="en-US" sz="2000">
                              <a:effectLst/>
                            </a:rPr>
                            <a:t>Unique Numbers</a:t>
                          </a:r>
                          <a:endParaRPr lang="en-US" sz="200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smtClean="0">
                                        <a:solidFill>
                                          <a:schemeClr val="tx1"/>
                                        </a:solidFill>
                                        <a:effectLst/>
                                        <a:latin typeface="Cambria Math" panose="02040503050406030204" pitchFamily="18" charset="0"/>
                                      </a:rPr>
                                    </m:ctrlPr>
                                  </m:sSupPr>
                                  <m:e>
                                    <m:r>
                                      <a:rPr lang="en-US" sz="2000">
                                        <a:solidFill>
                                          <a:schemeClr val="tx1"/>
                                        </a:solidFill>
                                        <a:effectLst/>
                                        <a:latin typeface="Cambria Math"/>
                                      </a:rPr>
                                      <m:t>2</m:t>
                                    </m:r>
                                  </m:e>
                                  <m:sup>
                                    <m:r>
                                      <a:rPr lang="en-US" sz="2000">
                                        <a:solidFill>
                                          <a:schemeClr val="tx1"/>
                                        </a:solidFill>
                                        <a:effectLst/>
                                        <a:latin typeface="Cambria Math"/>
                                      </a:rPr>
                                      <m:t>𝑛</m:t>
                                    </m:r>
                                  </m:sup>
                                </m:sSup>
                              </m:oMath>
                            </m:oMathPara>
                          </a14:m>
                          <a:endParaRPr lang="en-US" sz="2000" dirty="0">
                            <a:solidFill>
                              <a:schemeClr val="tx1"/>
                            </a:solidFill>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smtClean="0">
                                        <a:solidFill>
                                          <a:schemeClr val="tx1"/>
                                        </a:solidFill>
                                        <a:effectLst/>
                                        <a:latin typeface="Cambria Math" panose="02040503050406030204" pitchFamily="18" charset="0"/>
                                      </a:rPr>
                                    </m:ctrlPr>
                                  </m:sSupPr>
                                  <m:e>
                                    <m:r>
                                      <a:rPr lang="en-US" sz="2000">
                                        <a:solidFill>
                                          <a:schemeClr val="tx1"/>
                                        </a:solidFill>
                                        <a:effectLst/>
                                        <a:latin typeface="Cambria Math"/>
                                      </a:rPr>
                                      <m:t>2</m:t>
                                    </m:r>
                                  </m:e>
                                  <m:sup>
                                    <m:r>
                                      <a:rPr lang="en-US" sz="2000">
                                        <a:solidFill>
                                          <a:schemeClr val="tx1"/>
                                        </a:solidFill>
                                        <a:effectLst/>
                                        <a:latin typeface="Cambria Math"/>
                                      </a:rPr>
                                      <m:t>𝑛</m:t>
                                    </m:r>
                                  </m:sup>
                                </m:sSup>
                              </m:oMath>
                            </m:oMathPara>
                          </a14:m>
                          <a:endParaRPr lang="en-US" sz="2000" dirty="0">
                            <a:solidFill>
                              <a:schemeClr val="tx1"/>
                            </a:solidFill>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3"/>
                      </a:ext>
                    </a:extLst>
                  </a:tr>
                </a:tbl>
              </a:graphicData>
            </a:graphic>
          </p:graphicFrame>
        </mc:Choice>
        <mc:Fallback xmlns="">
          <p:graphicFrame>
            <p:nvGraphicFramePr>
              <p:cNvPr id="4" name="Table 3">
                <a:extLst>
                  <a:ext uri="{FF2B5EF4-FFF2-40B4-BE49-F238E27FC236}">
                    <a16:creationId xmlns:a16="http://schemas.microsoft.com/office/drawing/2014/main" id="{60E50A76-3E26-7AA6-DD27-20E721DD68C5}"/>
                  </a:ext>
                </a:extLst>
              </p:cNvPr>
              <p:cNvGraphicFramePr>
                <a:graphicFrameLocks noGrp="1"/>
              </p:cNvGraphicFramePr>
              <p:nvPr>
                <p:extLst>
                  <p:ext uri="{D42A27DB-BD31-4B8C-83A1-F6EECF244321}">
                    <p14:modId xmlns:p14="http://schemas.microsoft.com/office/powerpoint/2010/main" val="1162143598"/>
                  </p:ext>
                </p:extLst>
              </p:nvPr>
            </p:nvGraphicFramePr>
            <p:xfrm>
              <a:off x="1296851" y="1219200"/>
              <a:ext cx="6075680" cy="1661160"/>
            </p:xfrm>
            <a:graphic>
              <a:graphicData uri="http://schemas.openxmlformats.org/drawingml/2006/table">
                <a:tbl>
                  <a:tblPr firstRow="1" firstCol="1" bandRow="1">
                    <a:tableStyleId>{5C22544A-7EE6-4342-B048-85BDC9FD1C3A}</a:tableStyleId>
                  </a:tblPr>
                  <a:tblGrid>
                    <a:gridCol w="1312788">
                      <a:extLst>
                        <a:ext uri="{9D8B030D-6E8A-4147-A177-3AD203B41FA5}">
                          <a16:colId xmlns:a16="http://schemas.microsoft.com/office/drawing/2014/main" val="20000"/>
                        </a:ext>
                      </a:extLst>
                    </a:gridCol>
                    <a:gridCol w="1262121">
                      <a:extLst>
                        <a:ext uri="{9D8B030D-6E8A-4147-A177-3AD203B41FA5}">
                          <a16:colId xmlns:a16="http://schemas.microsoft.com/office/drawing/2014/main" val="20001"/>
                        </a:ext>
                      </a:extLst>
                    </a:gridCol>
                    <a:gridCol w="3500771">
                      <a:extLst>
                        <a:ext uri="{9D8B030D-6E8A-4147-A177-3AD203B41FA5}">
                          <a16:colId xmlns:a16="http://schemas.microsoft.com/office/drawing/2014/main" val="20003"/>
                        </a:ext>
                      </a:extLst>
                    </a:gridCol>
                  </a:tblGrid>
                  <a:tr h="304800">
                    <a:tc>
                      <a:txBody>
                        <a:bodyPr/>
                        <a:lstStyle/>
                        <a:p>
                          <a:pPr marL="0" marR="0" algn="just">
                            <a:spcBef>
                              <a:spcPts val="0"/>
                            </a:spcBef>
                            <a:spcAft>
                              <a:spcPts val="0"/>
                            </a:spcAft>
                          </a:pPr>
                          <a:r>
                            <a:rPr lang="en-US" sz="2000" dirty="0">
                              <a:effectLst/>
                            </a:rPr>
                            <a:t> </a:t>
                          </a:r>
                          <a:endParaRPr lang="en-US" sz="20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2000" dirty="0">
                              <a:effectLst/>
                            </a:rPr>
                            <a:t>Unsigned</a:t>
                          </a:r>
                          <a:endParaRPr lang="en-US" sz="20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2000" dirty="0">
                              <a:effectLst/>
                            </a:rPr>
                            <a:t>Two’s Complement Signed</a:t>
                          </a:r>
                          <a:endParaRPr lang="en-US" sz="2000" dirty="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0"/>
                      </a:ext>
                    </a:extLst>
                  </a:tr>
                  <a:tr h="441960">
                    <a:tc>
                      <a:txBody>
                        <a:bodyPr/>
                        <a:lstStyle/>
                        <a:p>
                          <a:pPr marL="0" marR="0" algn="ctr">
                            <a:spcBef>
                              <a:spcPts val="0"/>
                            </a:spcBef>
                            <a:spcAft>
                              <a:spcPts val="0"/>
                            </a:spcAft>
                          </a:pPr>
                          <a:r>
                            <a:rPr lang="en-US" sz="2000" dirty="0">
                              <a:effectLst/>
                            </a:rPr>
                            <a:t>Range</a:t>
                          </a:r>
                          <a:endParaRPr lang="en-US" sz="2000" dirty="0">
                            <a:effectLst/>
                            <a:latin typeface="Palatino Linotype"/>
                            <a:ea typeface="宋体"/>
                            <a:cs typeface="Times New Roman"/>
                          </a:endParaRPr>
                        </a:p>
                      </a:txBody>
                      <a:tcPr marL="68580" marR="68580" marT="0" marB="0" anchor="ctr"/>
                    </a:tc>
                    <a:tc>
                      <a:txBody>
                        <a:bodyPr/>
                        <a:lstStyle/>
                        <a:p>
                          <a:endParaRPr lang="en-US"/>
                        </a:p>
                      </a:txBody>
                      <a:tcPr marL="68580" marR="68580" marT="0" marB="0" anchor="ctr">
                        <a:blipFill>
                          <a:blip r:embed="rId3"/>
                          <a:stretch>
                            <a:fillRect l="-104831" t="-87671" r="-279710" b="-238356"/>
                          </a:stretch>
                        </a:blipFill>
                      </a:tcPr>
                    </a:tc>
                    <a:tc>
                      <a:txBody>
                        <a:bodyPr/>
                        <a:lstStyle/>
                        <a:p>
                          <a:endParaRPr lang="en-US"/>
                        </a:p>
                      </a:txBody>
                      <a:tcPr marL="68580" marR="68580" marT="0" marB="0" anchor="ctr">
                        <a:blipFill>
                          <a:blip r:embed="rId3"/>
                          <a:stretch>
                            <a:fillRect l="-73739" t="-87671" r="-696" b="-238356"/>
                          </a:stretch>
                        </a:blipFill>
                      </a:tcPr>
                    </a:tc>
                    <a:extLst>
                      <a:ext uri="{0D108BD9-81ED-4DB2-BD59-A6C34878D82A}">
                        <a16:rowId xmlns:a16="http://schemas.microsoft.com/office/drawing/2014/main" val="10001"/>
                      </a:ext>
                    </a:extLst>
                  </a:tr>
                  <a:tr h="304800">
                    <a:tc>
                      <a:txBody>
                        <a:bodyPr/>
                        <a:lstStyle/>
                        <a:p>
                          <a:pPr marL="0" marR="0" algn="ctr">
                            <a:spcBef>
                              <a:spcPts val="0"/>
                            </a:spcBef>
                            <a:spcAft>
                              <a:spcPts val="0"/>
                            </a:spcAft>
                          </a:pPr>
                          <a:r>
                            <a:rPr lang="en-US" sz="2000">
                              <a:effectLst/>
                            </a:rPr>
                            <a:t>Zero</a:t>
                          </a:r>
                          <a:endParaRPr lang="en-US" sz="200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2000" dirty="0">
                              <a:solidFill>
                                <a:schemeClr val="tx1"/>
                              </a:solidFill>
                              <a:effectLst/>
                            </a:rPr>
                            <a:t>One zero</a:t>
                          </a:r>
                          <a:endParaRPr lang="en-US" sz="2000" dirty="0">
                            <a:solidFill>
                              <a:schemeClr val="tx1"/>
                            </a:solidFill>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2000" dirty="0">
                              <a:solidFill>
                                <a:schemeClr val="tx1"/>
                              </a:solidFill>
                              <a:effectLst/>
                            </a:rPr>
                            <a:t>One zero</a:t>
                          </a:r>
                          <a:endParaRPr lang="en-US" sz="2000" dirty="0">
                            <a:solidFill>
                              <a:schemeClr val="tx1"/>
                            </a:solidFill>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2"/>
                      </a:ext>
                    </a:extLst>
                  </a:tr>
                  <a:tr h="609600">
                    <a:tc>
                      <a:txBody>
                        <a:bodyPr/>
                        <a:lstStyle/>
                        <a:p>
                          <a:pPr marL="0" marR="0" algn="ctr">
                            <a:spcBef>
                              <a:spcPts val="0"/>
                            </a:spcBef>
                            <a:spcAft>
                              <a:spcPts val="0"/>
                            </a:spcAft>
                          </a:pPr>
                          <a:r>
                            <a:rPr lang="en-US" sz="2000">
                              <a:effectLst/>
                            </a:rPr>
                            <a:t>Unique Numbers</a:t>
                          </a:r>
                          <a:endParaRPr lang="en-US" sz="2000">
                            <a:effectLst/>
                            <a:latin typeface="Palatino Linotype"/>
                            <a:ea typeface="宋体"/>
                            <a:cs typeface="Times New Roman"/>
                          </a:endParaRPr>
                        </a:p>
                      </a:txBody>
                      <a:tcPr marL="68580" marR="68580" marT="0" marB="0" anchor="ctr"/>
                    </a:tc>
                    <a:tc>
                      <a:txBody>
                        <a:bodyPr/>
                        <a:lstStyle/>
                        <a:p>
                          <a:endParaRPr lang="en-US"/>
                        </a:p>
                      </a:txBody>
                      <a:tcPr marL="68580" marR="68580" marT="0" marB="0" anchor="ctr">
                        <a:blipFill>
                          <a:blip r:embed="rId3"/>
                          <a:stretch>
                            <a:fillRect l="-104831" t="-187000" r="-279710" b="-24000"/>
                          </a:stretch>
                        </a:blipFill>
                      </a:tcPr>
                    </a:tc>
                    <a:tc>
                      <a:txBody>
                        <a:bodyPr/>
                        <a:lstStyle/>
                        <a:p>
                          <a:endParaRPr lang="en-US"/>
                        </a:p>
                      </a:txBody>
                      <a:tcPr marL="68580" marR="68580" marT="0" marB="0" anchor="ctr">
                        <a:blipFill>
                          <a:blip r:embed="rId3"/>
                          <a:stretch>
                            <a:fillRect l="-73739" t="-187000" r="-696" b="-24000"/>
                          </a:stretch>
                        </a:blipFill>
                      </a:tcPr>
                    </a:tc>
                    <a:extLst>
                      <a:ext uri="{0D108BD9-81ED-4DB2-BD59-A6C34878D82A}">
                        <a16:rowId xmlns:a16="http://schemas.microsoft.com/office/drawing/2014/main" val="10003"/>
                      </a:ext>
                    </a:extLst>
                  </a:tr>
                </a:tbl>
              </a:graphicData>
            </a:graphic>
          </p:graphicFrame>
        </mc:Fallback>
      </mc:AlternateContent>
    </p:spTree>
    <p:extLst>
      <p:ext uri="{BB962C8B-B14F-4D97-AF65-F5344CB8AC3E}">
        <p14:creationId xmlns:p14="http://schemas.microsoft.com/office/powerpoint/2010/main" val="31503385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Two’s Complement for 8-bit System</a:t>
            </a:r>
          </a:p>
        </p:txBody>
      </p:sp>
      <p:graphicFrame>
        <p:nvGraphicFramePr>
          <p:cNvPr id="6" name="Table 5"/>
          <p:cNvGraphicFramePr>
            <a:graphicFrameLocks noGrp="1"/>
          </p:cNvGraphicFramePr>
          <p:nvPr>
            <p:extLst>
              <p:ext uri="{D42A27DB-BD31-4B8C-83A1-F6EECF244321}">
                <p14:modId xmlns:p14="http://schemas.microsoft.com/office/powerpoint/2010/main" val="2182839154"/>
              </p:ext>
            </p:extLst>
          </p:nvPr>
        </p:nvGraphicFramePr>
        <p:xfrm>
          <a:off x="1240008" y="1724225"/>
          <a:ext cx="6338230" cy="3368040"/>
        </p:xfrm>
        <a:graphic>
          <a:graphicData uri="http://schemas.openxmlformats.org/drawingml/2006/table">
            <a:tbl>
              <a:tblPr firstRow="1" bandRow="1">
                <a:tableStyleId>{5C22544A-7EE6-4342-B048-85BDC9FD1C3A}</a:tableStyleId>
              </a:tblPr>
              <a:tblGrid>
                <a:gridCol w="1859279">
                  <a:extLst>
                    <a:ext uri="{9D8B030D-6E8A-4147-A177-3AD203B41FA5}">
                      <a16:colId xmlns:a16="http://schemas.microsoft.com/office/drawing/2014/main" val="20001"/>
                    </a:ext>
                  </a:extLst>
                </a:gridCol>
                <a:gridCol w="1852967">
                  <a:extLst>
                    <a:ext uri="{9D8B030D-6E8A-4147-A177-3AD203B41FA5}">
                      <a16:colId xmlns:a16="http://schemas.microsoft.com/office/drawing/2014/main" val="20000"/>
                    </a:ext>
                  </a:extLst>
                </a:gridCol>
                <a:gridCol w="2625984">
                  <a:extLst>
                    <a:ext uri="{9D8B030D-6E8A-4147-A177-3AD203B41FA5}">
                      <a16:colId xmlns:a16="http://schemas.microsoft.com/office/drawing/2014/main" val="20002"/>
                    </a:ext>
                  </a:extLst>
                </a:gridCol>
              </a:tblGrid>
              <a:tr h="278130">
                <a:tc>
                  <a:txBody>
                    <a:bodyPr/>
                    <a:lstStyle/>
                    <a:p>
                      <a:pPr algn="ctr"/>
                      <a:r>
                        <a:rPr lang="en-US" sz="1600" b="1" kern="1200" baseline="0" dirty="0">
                          <a:solidFill>
                            <a:schemeClr val="lt1"/>
                          </a:solidFill>
                          <a:latin typeface="+mn-lt"/>
                          <a:ea typeface="+mn-ea"/>
                          <a:cs typeface="+mn-cs"/>
                        </a:rPr>
                        <a:t>8-bit signed</a:t>
                      </a:r>
                      <a:r>
                        <a:rPr lang="en-US" sz="1050" dirty="0"/>
                        <a:t> </a:t>
                      </a:r>
                      <a:r>
                        <a:rPr lang="en-US" sz="1600" b="1" kern="1200" baseline="0" dirty="0" err="1">
                          <a:solidFill>
                            <a:schemeClr val="lt1"/>
                          </a:solidFill>
                          <a:latin typeface="+mn-lt"/>
                          <a:ea typeface="+mn-ea"/>
                          <a:cs typeface="+mn-cs"/>
                        </a:rPr>
                        <a:t>Int</a:t>
                      </a:r>
                      <a:r>
                        <a:rPr lang="en-US" sz="1600" b="1" kern="1200" baseline="0" dirty="0">
                          <a:solidFill>
                            <a:schemeClr val="lt1"/>
                          </a:solidFill>
                          <a:latin typeface="+mn-lt"/>
                          <a:ea typeface="+mn-ea"/>
                          <a:cs typeface="+mn-cs"/>
                        </a:rPr>
                        <a:t> </a:t>
                      </a:r>
                      <a:r>
                        <a:rPr lang="en-US" altLang="zh-CN" sz="1600" b="1" kern="1200" baseline="0" dirty="0">
                          <a:solidFill>
                            <a:schemeClr val="lt1"/>
                          </a:solidFill>
                          <a:latin typeface="+mn-lt"/>
                          <a:ea typeface="+mn-ea"/>
                          <a:cs typeface="+mn-cs"/>
                        </a:rPr>
                        <a:t>(</a:t>
                      </a:r>
                      <a:r>
                        <a:rPr lang="en-US" sz="1600" b="1" kern="1200" baseline="0" dirty="0">
                          <a:solidFill>
                            <a:schemeClr val="lt1"/>
                          </a:solidFill>
                          <a:latin typeface="+mn-lt"/>
                          <a:ea typeface="+mn-ea"/>
                          <a:cs typeface="+mn-cs"/>
                        </a:rPr>
                        <a:t>Two’s</a:t>
                      </a:r>
                      <a:r>
                        <a:rPr lang="en-US" sz="1050" dirty="0"/>
                        <a:t> </a:t>
                      </a:r>
                      <a:r>
                        <a:rPr lang="en-US" sz="1600" b="1" kern="1200" baseline="0" dirty="0">
                          <a:solidFill>
                            <a:schemeClr val="lt1"/>
                          </a:solidFill>
                          <a:latin typeface="+mn-lt"/>
                          <a:ea typeface="+mn-ea"/>
                          <a:cs typeface="+mn-cs"/>
                        </a:rPr>
                        <a:t>Complement)</a:t>
                      </a:r>
                    </a:p>
                  </a:txBody>
                  <a:tcPr marL="68580" marR="68580" marT="34290" marB="34290"/>
                </a:tc>
                <a:tc>
                  <a:txBody>
                    <a:bodyPr/>
                    <a:lstStyle/>
                    <a:p>
                      <a:pPr algn="ctr"/>
                      <a:r>
                        <a:rPr lang="en-US" sz="1600" b="1" kern="1200" baseline="0" dirty="0">
                          <a:solidFill>
                            <a:schemeClr val="lt1"/>
                          </a:solidFill>
                          <a:latin typeface="+mn-lt"/>
                          <a:ea typeface="+mn-ea"/>
                          <a:cs typeface="+mn-cs"/>
                        </a:rPr>
                        <a:t>8-bit unsigned</a:t>
                      </a:r>
                      <a:r>
                        <a:rPr lang="en-US" sz="1050" dirty="0"/>
                        <a:t> </a:t>
                      </a:r>
                      <a:r>
                        <a:rPr lang="en-US" sz="1600" b="1" kern="1200" baseline="0" dirty="0" err="1">
                          <a:solidFill>
                            <a:schemeClr val="lt1"/>
                          </a:solidFill>
                          <a:latin typeface="+mn-lt"/>
                          <a:ea typeface="+mn-ea"/>
                          <a:cs typeface="+mn-cs"/>
                        </a:rPr>
                        <a:t>Int</a:t>
                      </a:r>
                      <a:endParaRPr lang="en-US" sz="1600" b="1" kern="1200" baseline="0" dirty="0">
                        <a:solidFill>
                          <a:schemeClr val="lt1"/>
                        </a:solidFill>
                        <a:latin typeface="+mn-lt"/>
                        <a:ea typeface="+mn-ea"/>
                        <a:cs typeface="+mn-cs"/>
                      </a:endParaRPr>
                    </a:p>
                  </a:txBody>
                  <a:tcPr marL="68580" marR="68580" marT="34290" marB="34290"/>
                </a:tc>
                <a:tc>
                  <a:txBody>
                    <a:bodyPr/>
                    <a:lstStyle/>
                    <a:p>
                      <a:pPr algn="ctr"/>
                      <a:r>
                        <a:rPr lang="en-US" sz="1600" b="1" kern="1200" baseline="0" dirty="0">
                          <a:solidFill>
                            <a:schemeClr val="lt1"/>
                          </a:solidFill>
                          <a:latin typeface="+mn-lt"/>
                          <a:ea typeface="+mn-ea"/>
                          <a:cs typeface="+mn-cs"/>
                        </a:rPr>
                        <a:t>Binary</a:t>
                      </a:r>
                    </a:p>
                  </a:txBody>
                  <a:tcPr marL="68580" marR="68580" marT="34290" marB="34290"/>
                </a:tc>
                <a:extLst>
                  <a:ext uri="{0D108BD9-81ED-4DB2-BD59-A6C34878D82A}">
                    <a16:rowId xmlns:a16="http://schemas.microsoft.com/office/drawing/2014/main" val="10000"/>
                  </a:ext>
                </a:extLst>
              </a:tr>
              <a:tr h="278130">
                <a:tc>
                  <a:txBody>
                    <a:bodyPr/>
                    <a:lstStyle/>
                    <a:p>
                      <a:pPr algn="ctr"/>
                      <a:r>
                        <a:rPr lang="en-US" sz="1600" baseline="0" dirty="0">
                          <a:solidFill>
                            <a:srgbClr val="FF0000"/>
                          </a:solidFill>
                        </a:rPr>
                        <a:t>-128</a:t>
                      </a:r>
                    </a:p>
                  </a:txBody>
                  <a:tcPr marL="68580" marR="68580" marT="34290" marB="34290"/>
                </a:tc>
                <a:tc>
                  <a:txBody>
                    <a:bodyPr/>
                    <a:lstStyle/>
                    <a:p>
                      <a:pPr algn="ctr"/>
                      <a:r>
                        <a:rPr lang="en-US" sz="1600" baseline="0" dirty="0">
                          <a:solidFill>
                            <a:srgbClr val="7030A0"/>
                          </a:solidFill>
                        </a:rPr>
                        <a:t>128</a:t>
                      </a:r>
                    </a:p>
                  </a:txBody>
                  <a:tcPr marL="68580" marR="68580" marT="34290" marB="34290"/>
                </a:tc>
                <a:tc>
                  <a:txBody>
                    <a:bodyPr/>
                    <a:lstStyle/>
                    <a:p>
                      <a:pPr algn="ctr"/>
                      <a:r>
                        <a:rPr lang="en-US" sz="1600" spc="500" baseline="0" dirty="0">
                          <a:solidFill>
                            <a:srgbClr val="FF0000"/>
                          </a:solidFill>
                        </a:rPr>
                        <a:t>1000 0000</a:t>
                      </a:r>
                    </a:p>
                  </a:txBody>
                  <a:tcPr marL="68580" marR="68580" marT="34290" marB="34290"/>
                </a:tc>
                <a:extLst>
                  <a:ext uri="{0D108BD9-81ED-4DB2-BD59-A6C34878D82A}">
                    <a16:rowId xmlns:a16="http://schemas.microsoft.com/office/drawing/2014/main" val="10001"/>
                  </a:ext>
                </a:extLst>
              </a:tr>
              <a:tr h="278130">
                <a:tc>
                  <a:txBody>
                    <a:bodyPr/>
                    <a:lstStyle/>
                    <a:p>
                      <a:pPr algn="ctr"/>
                      <a:r>
                        <a:rPr lang="en-US" sz="1600" baseline="0" dirty="0">
                          <a:solidFill>
                            <a:srgbClr val="FF0000"/>
                          </a:solidFill>
                        </a:rPr>
                        <a:t>-127</a:t>
                      </a:r>
                    </a:p>
                  </a:txBody>
                  <a:tcPr marL="68580" marR="68580" marT="34290" marB="34290"/>
                </a:tc>
                <a:tc>
                  <a:txBody>
                    <a:bodyPr/>
                    <a:lstStyle/>
                    <a:p>
                      <a:pPr algn="ctr"/>
                      <a:r>
                        <a:rPr lang="en-US" sz="1600" baseline="0" dirty="0">
                          <a:solidFill>
                            <a:srgbClr val="7030A0"/>
                          </a:solidFill>
                        </a:rPr>
                        <a:t>129</a:t>
                      </a:r>
                    </a:p>
                  </a:txBody>
                  <a:tcPr marL="68580" marR="68580" marT="34290" marB="34290"/>
                </a:tc>
                <a:tc>
                  <a:txBody>
                    <a:bodyPr/>
                    <a:lstStyle/>
                    <a:p>
                      <a:pPr algn="ctr"/>
                      <a:r>
                        <a:rPr lang="en-US" sz="1600" spc="500" baseline="0" dirty="0">
                          <a:solidFill>
                            <a:srgbClr val="FF0000"/>
                          </a:solidFill>
                        </a:rPr>
                        <a:t>1000 0001</a:t>
                      </a:r>
                    </a:p>
                  </a:txBody>
                  <a:tcPr marL="68580" marR="68580" marT="34290" marB="34290"/>
                </a:tc>
                <a:extLst>
                  <a:ext uri="{0D108BD9-81ED-4DB2-BD59-A6C34878D82A}">
                    <a16:rowId xmlns:a16="http://schemas.microsoft.com/office/drawing/2014/main" val="10002"/>
                  </a:ext>
                </a:extLst>
              </a:tr>
              <a:tr h="278130">
                <a:tc>
                  <a:txBody>
                    <a:bodyPr/>
                    <a:lstStyle/>
                    <a:p>
                      <a:pPr algn="ctr"/>
                      <a:r>
                        <a:rPr lang="is-IS" sz="1600" baseline="0" dirty="0">
                          <a:solidFill>
                            <a:srgbClr val="FF0000"/>
                          </a:solidFill>
                        </a:rPr>
                        <a:t>…</a:t>
                      </a:r>
                      <a:endParaRPr lang="en-US" sz="1600" baseline="0" dirty="0">
                        <a:solidFill>
                          <a:srgbClr val="FF0000"/>
                        </a:solidFill>
                      </a:endParaRPr>
                    </a:p>
                  </a:txBody>
                  <a:tcPr marL="68580" marR="68580" marT="34290" marB="34290"/>
                </a:tc>
                <a:tc>
                  <a:txBody>
                    <a:bodyPr/>
                    <a:lstStyle/>
                    <a:p>
                      <a:pPr algn="ctr"/>
                      <a:r>
                        <a:rPr lang="is-IS" sz="1600" baseline="0" dirty="0">
                          <a:solidFill>
                            <a:srgbClr val="7030A0"/>
                          </a:solidFill>
                        </a:rPr>
                        <a:t>…</a:t>
                      </a:r>
                      <a:endParaRPr lang="en-US" sz="1600" baseline="0" dirty="0">
                        <a:solidFill>
                          <a:srgbClr val="7030A0"/>
                        </a:solidFill>
                      </a:endParaRPr>
                    </a:p>
                  </a:txBody>
                  <a:tcPr marL="68580" marR="68580" marT="34290" marB="34290"/>
                </a:tc>
                <a:tc>
                  <a:txBody>
                    <a:bodyPr/>
                    <a:lstStyle/>
                    <a:p>
                      <a:pPr algn="ctr"/>
                      <a:r>
                        <a:rPr lang="is-IS" sz="1600" spc="500" baseline="0" dirty="0">
                          <a:solidFill>
                            <a:srgbClr val="FF0000"/>
                          </a:solidFill>
                        </a:rPr>
                        <a:t>…</a:t>
                      </a:r>
                      <a:endParaRPr lang="en-US" sz="1600" spc="500" baseline="0" dirty="0">
                        <a:solidFill>
                          <a:srgbClr val="FF0000"/>
                        </a:solidFill>
                      </a:endParaRPr>
                    </a:p>
                  </a:txBody>
                  <a:tcPr marL="68580" marR="68580" marT="34290" marB="34290"/>
                </a:tc>
                <a:extLst>
                  <a:ext uri="{0D108BD9-81ED-4DB2-BD59-A6C34878D82A}">
                    <a16:rowId xmlns:a16="http://schemas.microsoft.com/office/drawing/2014/main" val="10003"/>
                  </a:ext>
                </a:extLst>
              </a:tr>
              <a:tr h="278130">
                <a:tc>
                  <a:txBody>
                    <a:bodyPr/>
                    <a:lstStyle/>
                    <a:p>
                      <a:pPr algn="ctr"/>
                      <a:r>
                        <a:rPr lang="en-US" sz="1600" baseline="0" dirty="0">
                          <a:solidFill>
                            <a:srgbClr val="FF0000"/>
                          </a:solidFill>
                        </a:rPr>
                        <a:t>-2</a:t>
                      </a:r>
                    </a:p>
                  </a:txBody>
                  <a:tcPr marL="68580" marR="68580" marT="34290" marB="34290"/>
                </a:tc>
                <a:tc>
                  <a:txBody>
                    <a:bodyPr/>
                    <a:lstStyle/>
                    <a:p>
                      <a:pPr algn="ctr"/>
                      <a:r>
                        <a:rPr lang="en-US" sz="1600" baseline="0" dirty="0">
                          <a:solidFill>
                            <a:srgbClr val="7030A0"/>
                          </a:solidFill>
                        </a:rPr>
                        <a:t>254</a:t>
                      </a:r>
                    </a:p>
                  </a:txBody>
                  <a:tcPr marL="68580" marR="68580" marT="34290" marB="34290"/>
                </a:tc>
                <a:tc>
                  <a:txBody>
                    <a:bodyPr/>
                    <a:lstStyle/>
                    <a:p>
                      <a:pPr algn="ctr"/>
                      <a:r>
                        <a:rPr lang="en-US" sz="1600" spc="500" baseline="0" dirty="0">
                          <a:solidFill>
                            <a:srgbClr val="FF0000"/>
                          </a:solidFill>
                        </a:rPr>
                        <a:t>1111 1110</a:t>
                      </a:r>
                    </a:p>
                  </a:txBody>
                  <a:tcPr marL="68580" marR="68580" marT="34290" marB="34290"/>
                </a:tc>
                <a:extLst>
                  <a:ext uri="{0D108BD9-81ED-4DB2-BD59-A6C34878D82A}">
                    <a16:rowId xmlns:a16="http://schemas.microsoft.com/office/drawing/2014/main" val="10004"/>
                  </a:ext>
                </a:extLst>
              </a:tr>
              <a:tr h="278130">
                <a:tc>
                  <a:txBody>
                    <a:bodyPr/>
                    <a:lstStyle/>
                    <a:p>
                      <a:pPr algn="ctr"/>
                      <a:r>
                        <a:rPr lang="en-US" sz="1600" baseline="0" dirty="0">
                          <a:solidFill>
                            <a:srgbClr val="FF0000"/>
                          </a:solidFill>
                        </a:rPr>
                        <a:t>-1</a:t>
                      </a:r>
                    </a:p>
                  </a:txBody>
                  <a:tcPr marL="68580" marR="68580" marT="34290" marB="34290"/>
                </a:tc>
                <a:tc>
                  <a:txBody>
                    <a:bodyPr/>
                    <a:lstStyle/>
                    <a:p>
                      <a:pPr algn="ctr"/>
                      <a:r>
                        <a:rPr lang="en-US" sz="1600" baseline="0" dirty="0">
                          <a:solidFill>
                            <a:srgbClr val="7030A0"/>
                          </a:solidFill>
                        </a:rPr>
                        <a:t>255</a:t>
                      </a:r>
                    </a:p>
                  </a:txBody>
                  <a:tcPr marL="68580" marR="68580" marT="34290" marB="34290"/>
                </a:tc>
                <a:tc>
                  <a:txBody>
                    <a:bodyPr/>
                    <a:lstStyle/>
                    <a:p>
                      <a:pPr algn="ctr"/>
                      <a:r>
                        <a:rPr lang="en-US" sz="1600" spc="500" baseline="0" dirty="0">
                          <a:solidFill>
                            <a:srgbClr val="FF0000"/>
                          </a:solidFill>
                        </a:rPr>
                        <a:t>1111 1111</a:t>
                      </a:r>
                    </a:p>
                  </a:txBody>
                  <a:tcPr marL="68580" marR="68580" marT="34290" marB="34290"/>
                </a:tc>
                <a:extLst>
                  <a:ext uri="{0D108BD9-81ED-4DB2-BD59-A6C34878D82A}">
                    <a16:rowId xmlns:a16="http://schemas.microsoft.com/office/drawing/2014/main" val="10005"/>
                  </a:ext>
                </a:extLst>
              </a:tr>
              <a:tr h="278130">
                <a:tc>
                  <a:txBody>
                    <a:bodyPr/>
                    <a:lstStyle/>
                    <a:p>
                      <a:pPr algn="ctr"/>
                      <a:r>
                        <a:rPr lang="en-US" sz="1600" baseline="0" dirty="0">
                          <a:solidFill>
                            <a:srgbClr val="00B050"/>
                          </a:solidFill>
                        </a:rPr>
                        <a:t>0</a:t>
                      </a:r>
                    </a:p>
                  </a:txBody>
                  <a:tcPr marL="68580" marR="68580" marT="34290" marB="34290"/>
                </a:tc>
                <a:tc>
                  <a:txBody>
                    <a:bodyPr/>
                    <a:lstStyle/>
                    <a:p>
                      <a:pPr algn="ctr"/>
                      <a:r>
                        <a:rPr lang="en-US" sz="1600" baseline="0" dirty="0">
                          <a:solidFill>
                            <a:srgbClr val="00B050"/>
                          </a:solidFill>
                        </a:rPr>
                        <a:t>0</a:t>
                      </a:r>
                    </a:p>
                  </a:txBody>
                  <a:tcPr marL="68580" marR="68580" marT="34290" marB="34290"/>
                </a:tc>
                <a:tc>
                  <a:txBody>
                    <a:bodyPr/>
                    <a:lstStyle/>
                    <a:p>
                      <a:pPr algn="ctr"/>
                      <a:r>
                        <a:rPr lang="en-US" sz="1600" spc="500" baseline="0" dirty="0">
                          <a:solidFill>
                            <a:srgbClr val="00B050"/>
                          </a:solidFill>
                        </a:rPr>
                        <a:t>0000 0000</a:t>
                      </a:r>
                    </a:p>
                  </a:txBody>
                  <a:tcPr marL="68580" marR="68580" marT="34290" marB="34290"/>
                </a:tc>
                <a:extLst>
                  <a:ext uri="{0D108BD9-81ED-4DB2-BD59-A6C34878D82A}">
                    <a16:rowId xmlns:a16="http://schemas.microsoft.com/office/drawing/2014/main" val="10006"/>
                  </a:ext>
                </a:extLst>
              </a:tr>
              <a:tr h="278130">
                <a:tc>
                  <a:txBody>
                    <a:bodyPr/>
                    <a:lstStyle/>
                    <a:p>
                      <a:pPr algn="ctr"/>
                      <a:r>
                        <a:rPr lang="en-US" sz="1600" baseline="0" dirty="0">
                          <a:solidFill>
                            <a:srgbClr val="00B050"/>
                          </a:solidFill>
                        </a:rPr>
                        <a:t>1</a:t>
                      </a:r>
                    </a:p>
                  </a:txBody>
                  <a:tcPr marL="68580" marR="68580" marT="34290" marB="34290"/>
                </a:tc>
                <a:tc>
                  <a:txBody>
                    <a:bodyPr/>
                    <a:lstStyle/>
                    <a:p>
                      <a:pPr algn="ctr"/>
                      <a:r>
                        <a:rPr lang="en-US" sz="1600" baseline="0" dirty="0">
                          <a:solidFill>
                            <a:srgbClr val="00B050"/>
                          </a:solidFill>
                        </a:rPr>
                        <a:t>1</a:t>
                      </a:r>
                    </a:p>
                  </a:txBody>
                  <a:tcPr marL="68580" marR="68580" marT="34290" marB="34290"/>
                </a:tc>
                <a:tc>
                  <a:txBody>
                    <a:bodyPr/>
                    <a:lstStyle/>
                    <a:p>
                      <a:pPr algn="ctr"/>
                      <a:r>
                        <a:rPr lang="en-US" sz="1600" spc="500" baseline="0" dirty="0">
                          <a:solidFill>
                            <a:srgbClr val="00B050"/>
                          </a:solidFill>
                        </a:rPr>
                        <a:t>0000 0001</a:t>
                      </a:r>
                    </a:p>
                  </a:txBody>
                  <a:tcPr marL="68580" marR="68580" marT="34290" marB="34290"/>
                </a:tc>
                <a:extLst>
                  <a:ext uri="{0D108BD9-81ED-4DB2-BD59-A6C34878D82A}">
                    <a16:rowId xmlns:a16="http://schemas.microsoft.com/office/drawing/2014/main" val="10007"/>
                  </a:ext>
                </a:extLst>
              </a:tr>
              <a:tr h="278130">
                <a:tc>
                  <a:txBody>
                    <a:bodyPr/>
                    <a:lstStyle/>
                    <a:p>
                      <a:pPr algn="ctr"/>
                      <a:r>
                        <a:rPr lang="is-IS" sz="1600" baseline="0" dirty="0">
                          <a:solidFill>
                            <a:srgbClr val="00B050"/>
                          </a:solidFill>
                        </a:rPr>
                        <a:t>…</a:t>
                      </a:r>
                      <a:endParaRPr lang="en-US" sz="1600" baseline="0" dirty="0">
                        <a:solidFill>
                          <a:srgbClr val="00B050"/>
                        </a:solidFill>
                      </a:endParaRPr>
                    </a:p>
                  </a:txBody>
                  <a:tcPr marL="68580" marR="68580" marT="34290" marB="34290"/>
                </a:tc>
                <a:tc>
                  <a:txBody>
                    <a:bodyPr/>
                    <a:lstStyle/>
                    <a:p>
                      <a:pPr algn="ctr"/>
                      <a:r>
                        <a:rPr lang="is-IS" sz="1600" baseline="0" dirty="0">
                          <a:solidFill>
                            <a:srgbClr val="00B050"/>
                          </a:solidFill>
                        </a:rPr>
                        <a:t>…</a:t>
                      </a:r>
                      <a:endParaRPr lang="en-US" sz="1600" baseline="0" dirty="0">
                        <a:solidFill>
                          <a:srgbClr val="00B050"/>
                        </a:solidFill>
                      </a:endParaRPr>
                    </a:p>
                  </a:txBody>
                  <a:tcPr marL="68580" marR="68580" marT="34290" marB="34290"/>
                </a:tc>
                <a:tc>
                  <a:txBody>
                    <a:bodyPr/>
                    <a:lstStyle/>
                    <a:p>
                      <a:pPr algn="ctr"/>
                      <a:r>
                        <a:rPr lang="en-US" sz="1600" spc="500" baseline="0" dirty="0">
                          <a:solidFill>
                            <a:srgbClr val="00B050"/>
                          </a:solidFill>
                        </a:rPr>
                        <a:t>...</a:t>
                      </a:r>
                    </a:p>
                  </a:txBody>
                  <a:tcPr marL="68580" marR="68580" marT="34290" marB="34290"/>
                </a:tc>
                <a:extLst>
                  <a:ext uri="{0D108BD9-81ED-4DB2-BD59-A6C34878D82A}">
                    <a16:rowId xmlns:a16="http://schemas.microsoft.com/office/drawing/2014/main" val="10008"/>
                  </a:ext>
                </a:extLst>
              </a:tr>
              <a:tr h="278130">
                <a:tc>
                  <a:txBody>
                    <a:bodyPr/>
                    <a:lstStyle/>
                    <a:p>
                      <a:pPr algn="ctr"/>
                      <a:r>
                        <a:rPr lang="en-US" sz="1600" baseline="0" dirty="0">
                          <a:solidFill>
                            <a:srgbClr val="00B050"/>
                          </a:solidFill>
                        </a:rPr>
                        <a:t>127</a:t>
                      </a:r>
                    </a:p>
                  </a:txBody>
                  <a:tcPr marL="68580" marR="68580" marT="34290" marB="34290"/>
                </a:tc>
                <a:tc>
                  <a:txBody>
                    <a:bodyPr/>
                    <a:lstStyle/>
                    <a:p>
                      <a:pPr algn="ctr"/>
                      <a:r>
                        <a:rPr lang="en-US" sz="1600" baseline="0" dirty="0">
                          <a:solidFill>
                            <a:srgbClr val="00B050"/>
                          </a:solidFill>
                        </a:rPr>
                        <a:t>127</a:t>
                      </a:r>
                    </a:p>
                  </a:txBody>
                  <a:tcPr marL="68580" marR="68580" marT="34290" marB="34290"/>
                </a:tc>
                <a:tc>
                  <a:txBody>
                    <a:bodyPr/>
                    <a:lstStyle/>
                    <a:p>
                      <a:pPr algn="ctr"/>
                      <a:r>
                        <a:rPr lang="en-US" sz="1600" spc="500" baseline="0" dirty="0">
                          <a:solidFill>
                            <a:srgbClr val="00B050"/>
                          </a:solidFill>
                        </a:rPr>
                        <a:t>0111 1111</a:t>
                      </a:r>
                    </a:p>
                  </a:txBody>
                  <a:tcPr marL="68580" marR="68580" marT="34290" marB="34290"/>
                </a:tc>
                <a:extLst>
                  <a:ext uri="{0D108BD9-81ED-4DB2-BD59-A6C34878D82A}">
                    <a16:rowId xmlns:a16="http://schemas.microsoft.com/office/drawing/2014/main" val="10009"/>
                  </a:ext>
                </a:extLst>
              </a:tr>
            </a:tbl>
          </a:graphicData>
        </a:graphic>
      </p:graphicFrame>
      <p:sp>
        <p:nvSpPr>
          <p:cNvPr id="8" name="TextBox 7"/>
          <p:cNvSpPr txBox="1"/>
          <p:nvPr/>
        </p:nvSpPr>
        <p:spPr>
          <a:xfrm>
            <a:off x="1052675" y="5250413"/>
            <a:ext cx="6685292" cy="415498"/>
          </a:xfrm>
          <a:prstGeom prst="rect">
            <a:avLst/>
          </a:prstGeom>
          <a:noFill/>
        </p:spPr>
        <p:txBody>
          <a:bodyPr wrap="none" rtlCol="0">
            <a:spAutoFit/>
          </a:bodyPr>
          <a:lstStyle/>
          <a:p>
            <a:pPr defTabSz="342900" eaLnBrk="1" fontAlgn="auto" hangingPunct="1">
              <a:spcBef>
                <a:spcPts val="0"/>
              </a:spcBef>
              <a:spcAft>
                <a:spcPts val="0"/>
              </a:spcAft>
            </a:pPr>
            <a:r>
              <a:rPr lang="en-US" sz="2100" b="0" u="sng" dirty="0">
                <a:solidFill>
                  <a:srgbClr val="3064C0"/>
                </a:solidFill>
                <a:latin typeface="Calibri"/>
              </a:rPr>
              <a:t>Note</a:t>
            </a:r>
            <a:r>
              <a:rPr lang="en-US" sz="2100" b="0" dirty="0">
                <a:solidFill>
                  <a:srgbClr val="3064C0"/>
                </a:solidFill>
                <a:latin typeface="Calibri"/>
              </a:rPr>
              <a:t>:     Most significant bit (MSB) equals sign for signed </a:t>
            </a:r>
            <a:r>
              <a:rPr lang="en-US" sz="2100" b="0" dirty="0" err="1">
                <a:solidFill>
                  <a:srgbClr val="3064C0"/>
                </a:solidFill>
                <a:latin typeface="Calibri"/>
              </a:rPr>
              <a:t>int</a:t>
            </a:r>
            <a:endParaRPr lang="en-US" sz="2100" b="0" dirty="0">
              <a:solidFill>
                <a:srgbClr val="3064C0"/>
              </a:solidFill>
              <a:latin typeface="Calibri"/>
            </a:endParaRPr>
          </a:p>
        </p:txBody>
      </p:sp>
      <p:sp>
        <p:nvSpPr>
          <p:cNvPr id="13" name="Rectangle 12"/>
          <p:cNvSpPr/>
          <p:nvPr/>
        </p:nvSpPr>
        <p:spPr>
          <a:xfrm>
            <a:off x="5497653" y="2297871"/>
            <a:ext cx="162700" cy="2794394"/>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eaLnBrk="1" fontAlgn="auto" hangingPunct="1">
              <a:spcBef>
                <a:spcPts val="0"/>
              </a:spcBef>
              <a:spcAft>
                <a:spcPts val="0"/>
              </a:spcAft>
            </a:pPr>
            <a:endParaRPr lang="en-US" sz="1400" b="0">
              <a:solidFill>
                <a:prstClr val="white"/>
              </a:solidFill>
              <a:latin typeface="Calibri"/>
            </a:endParaRPr>
          </a:p>
        </p:txBody>
      </p:sp>
      <p:sp>
        <p:nvSpPr>
          <p:cNvPr id="27" name="Slide Number Placeholder 2"/>
          <p:cNvSpPr txBox="1">
            <a:spLocks/>
          </p:cNvSpPr>
          <p:nvPr/>
        </p:nvSpPr>
        <p:spPr>
          <a:xfrm>
            <a:off x="612648" y="6356350"/>
            <a:ext cx="1981200"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900" b="1" kern="1200">
                <a:solidFill>
                  <a:schemeClr val="tx1">
                    <a:tint val="75000"/>
                  </a:schemeClr>
                </a:solidFill>
                <a:latin typeface="Tahoma" pitchFamily="34" charset="0"/>
                <a:ea typeface="+mn-ea"/>
                <a:cs typeface="+mn-cs"/>
              </a:defRPr>
            </a:lvl1pPr>
            <a:lvl2pPr marL="457200" algn="l" rtl="0" eaLnBrk="0" fontAlgn="base" hangingPunct="0">
              <a:spcBef>
                <a:spcPct val="0"/>
              </a:spcBef>
              <a:spcAft>
                <a:spcPct val="0"/>
              </a:spcAft>
              <a:defRPr sz="2000" b="1" kern="1200">
                <a:solidFill>
                  <a:schemeClr val="bg1"/>
                </a:solidFill>
                <a:latin typeface="Tahoma" pitchFamily="34" charset="0"/>
                <a:ea typeface="+mn-ea"/>
                <a:cs typeface="+mn-cs"/>
              </a:defRPr>
            </a:lvl2pPr>
            <a:lvl3pPr marL="914400" algn="l" rtl="0" eaLnBrk="0" fontAlgn="base" hangingPunct="0">
              <a:spcBef>
                <a:spcPct val="0"/>
              </a:spcBef>
              <a:spcAft>
                <a:spcPct val="0"/>
              </a:spcAft>
              <a:defRPr sz="2000" b="1" kern="1200">
                <a:solidFill>
                  <a:schemeClr val="bg1"/>
                </a:solidFill>
                <a:latin typeface="Tahoma" pitchFamily="34" charset="0"/>
                <a:ea typeface="+mn-ea"/>
                <a:cs typeface="+mn-cs"/>
              </a:defRPr>
            </a:lvl3pPr>
            <a:lvl4pPr marL="1371600" algn="l" rtl="0" eaLnBrk="0" fontAlgn="base" hangingPunct="0">
              <a:spcBef>
                <a:spcPct val="0"/>
              </a:spcBef>
              <a:spcAft>
                <a:spcPct val="0"/>
              </a:spcAft>
              <a:defRPr sz="2000" b="1" kern="1200">
                <a:solidFill>
                  <a:schemeClr val="bg1"/>
                </a:solidFill>
                <a:latin typeface="Tahoma" pitchFamily="34" charset="0"/>
                <a:ea typeface="+mn-ea"/>
                <a:cs typeface="+mn-cs"/>
              </a:defRPr>
            </a:lvl4pPr>
            <a:lvl5pPr marL="1828800" algn="l" rtl="0" eaLnBrk="0" fontAlgn="base" hangingPunct="0">
              <a:spcBef>
                <a:spcPct val="0"/>
              </a:spcBef>
              <a:spcAft>
                <a:spcPct val="0"/>
              </a:spcAft>
              <a:defRPr sz="2000" b="1" kern="1200">
                <a:solidFill>
                  <a:schemeClr val="bg1"/>
                </a:solidFill>
                <a:latin typeface="Tahoma" pitchFamily="34" charset="0"/>
                <a:ea typeface="+mn-ea"/>
                <a:cs typeface="+mn-cs"/>
              </a:defRPr>
            </a:lvl5pPr>
            <a:lvl6pPr marL="2286000" algn="l" defTabSz="914400" rtl="0" eaLnBrk="1" latinLnBrk="0" hangingPunct="1">
              <a:defRPr sz="2000" b="1" kern="1200">
                <a:solidFill>
                  <a:schemeClr val="bg1"/>
                </a:solidFill>
                <a:latin typeface="Tahoma" pitchFamily="34" charset="0"/>
                <a:ea typeface="+mn-ea"/>
                <a:cs typeface="+mn-cs"/>
              </a:defRPr>
            </a:lvl6pPr>
            <a:lvl7pPr marL="2743200" algn="l" defTabSz="914400" rtl="0" eaLnBrk="1" latinLnBrk="0" hangingPunct="1">
              <a:defRPr sz="2000" b="1" kern="1200">
                <a:solidFill>
                  <a:schemeClr val="bg1"/>
                </a:solidFill>
                <a:latin typeface="Tahoma" pitchFamily="34" charset="0"/>
                <a:ea typeface="+mn-ea"/>
                <a:cs typeface="+mn-cs"/>
              </a:defRPr>
            </a:lvl7pPr>
            <a:lvl8pPr marL="3200400" algn="l" defTabSz="914400" rtl="0" eaLnBrk="1" latinLnBrk="0" hangingPunct="1">
              <a:defRPr sz="2000" b="1" kern="1200">
                <a:solidFill>
                  <a:schemeClr val="bg1"/>
                </a:solidFill>
                <a:latin typeface="Tahoma" pitchFamily="34" charset="0"/>
                <a:ea typeface="+mn-ea"/>
                <a:cs typeface="+mn-cs"/>
              </a:defRPr>
            </a:lvl8pPr>
            <a:lvl9pPr marL="3657600" algn="l" defTabSz="914400" rtl="0" eaLnBrk="1" latinLnBrk="0" hangingPunct="1">
              <a:defRPr sz="2000" b="1" kern="1200">
                <a:solidFill>
                  <a:schemeClr val="bg1"/>
                </a:solidFill>
                <a:latin typeface="Tahoma" pitchFamily="34" charset="0"/>
                <a:ea typeface="+mn-ea"/>
                <a:cs typeface="+mn-cs"/>
              </a:defRPr>
            </a:lvl9pPr>
          </a:lstStyle>
          <a:p>
            <a:pPr algn="l" eaLnBrk="1" fontAlgn="auto" hangingPunct="1">
              <a:spcBef>
                <a:spcPts val="0"/>
              </a:spcBef>
              <a:spcAft>
                <a:spcPts val="0"/>
              </a:spcAft>
            </a:pPr>
            <a:r>
              <a:rPr lang="en-US" sz="1400" b="0" dirty="0">
                <a:solidFill>
                  <a:srgbClr val="1F497D"/>
                </a:solidFill>
                <a:latin typeface="Gill Sans MT"/>
              </a:rPr>
              <a:t>15</a:t>
            </a:r>
          </a:p>
        </p:txBody>
      </p:sp>
    </p:spTree>
    <p:extLst>
      <p:ext uri="{BB962C8B-B14F-4D97-AF65-F5344CB8AC3E}">
        <p14:creationId xmlns:p14="http://schemas.microsoft.com/office/powerpoint/2010/main" val="3346308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Sign Extension</a:t>
            </a:r>
          </a:p>
        </p:txBody>
      </p:sp>
      <p:sp>
        <p:nvSpPr>
          <p:cNvPr id="12" name="TextBox 11"/>
          <p:cNvSpPr txBox="1"/>
          <p:nvPr/>
        </p:nvSpPr>
        <p:spPr>
          <a:xfrm>
            <a:off x="221680" y="3831239"/>
            <a:ext cx="8702767" cy="1015663"/>
          </a:xfrm>
          <a:prstGeom prst="rect">
            <a:avLst/>
          </a:prstGeom>
          <a:noFill/>
        </p:spPr>
        <p:txBody>
          <a:bodyPr wrap="none" rtlCol="0">
            <a:spAutoFit/>
          </a:bodyPr>
          <a:lstStyle/>
          <a:p>
            <a:pPr marL="257175" indent="-257175" defTabSz="342900" eaLnBrk="1" fontAlgn="auto" hangingPunct="1">
              <a:spcBef>
                <a:spcPts val="0"/>
              </a:spcBef>
              <a:spcAft>
                <a:spcPts val="0"/>
              </a:spcAft>
              <a:buFont typeface="Arial" charset="0"/>
              <a:buChar char="•"/>
            </a:pPr>
            <a:r>
              <a:rPr lang="en-US" sz="2400" b="0" dirty="0">
                <a:solidFill>
                  <a:prstClr val="black"/>
                </a:solidFill>
                <a:latin typeface="Calibri"/>
              </a:rPr>
              <a:t>Assignment differs for signed (above table) and unsigned numbers</a:t>
            </a:r>
          </a:p>
          <a:p>
            <a:pPr marL="557213" lvl="1" indent="-214313" defTabSz="342900" eaLnBrk="1" fontAlgn="auto" hangingPunct="1">
              <a:spcBef>
                <a:spcPts val="0"/>
              </a:spcBef>
              <a:spcAft>
                <a:spcPts val="0"/>
              </a:spcAft>
              <a:buFont typeface="Arial" charset="0"/>
              <a:buChar char="•"/>
            </a:pPr>
            <a:r>
              <a:rPr lang="en-US" sz="1800" b="0" dirty="0">
                <a:solidFill>
                  <a:prstClr val="black"/>
                </a:solidFill>
                <a:latin typeface="Calibri"/>
              </a:rPr>
              <a:t>Compiler knows (from type declaration)</a:t>
            </a:r>
          </a:p>
          <a:p>
            <a:pPr marL="557213" lvl="1" indent="-214313" defTabSz="342900" eaLnBrk="1" fontAlgn="auto" hangingPunct="1">
              <a:spcBef>
                <a:spcPts val="0"/>
              </a:spcBef>
              <a:spcAft>
                <a:spcPts val="0"/>
              </a:spcAft>
              <a:buFont typeface="Arial" charset="0"/>
              <a:buChar char="•"/>
            </a:pPr>
            <a:r>
              <a:rPr lang="en-US" sz="1800" b="0" dirty="0">
                <a:solidFill>
                  <a:prstClr val="black"/>
                </a:solidFill>
                <a:latin typeface="Calibri"/>
              </a:rPr>
              <a:t>Different assembly instructions for copying signed/unsigned data</a:t>
            </a:r>
          </a:p>
        </p:txBody>
      </p:sp>
      <p:graphicFrame>
        <p:nvGraphicFramePr>
          <p:cNvPr id="19" name="Content Placeholder 10"/>
          <p:cNvGraphicFramePr>
            <a:graphicFrameLocks noGrp="1"/>
          </p:cNvGraphicFramePr>
          <p:nvPr>
            <p:ph idx="1"/>
            <p:extLst>
              <p:ext uri="{D42A27DB-BD31-4B8C-83A1-F6EECF244321}">
                <p14:modId xmlns:p14="http://schemas.microsoft.com/office/powerpoint/2010/main" val="218835051"/>
              </p:ext>
            </p:extLst>
          </p:nvPr>
        </p:nvGraphicFramePr>
        <p:xfrm>
          <a:off x="267629" y="1680489"/>
          <a:ext cx="8778240" cy="1887900"/>
        </p:xfrm>
        <a:graphic>
          <a:graphicData uri="http://schemas.openxmlformats.org/drawingml/2006/table">
            <a:tbl>
              <a:tblPr firstRow="1" bandRow="1">
                <a:tableStyleId>{5C22544A-7EE6-4342-B048-85BDC9FD1C3A}</a:tableStyleId>
              </a:tblPr>
              <a:tblGrid>
                <a:gridCol w="1157675">
                  <a:extLst>
                    <a:ext uri="{9D8B030D-6E8A-4147-A177-3AD203B41FA5}">
                      <a16:colId xmlns:a16="http://schemas.microsoft.com/office/drawing/2014/main" val="20000"/>
                    </a:ext>
                  </a:extLst>
                </a:gridCol>
                <a:gridCol w="1905141">
                  <a:extLst>
                    <a:ext uri="{9D8B030D-6E8A-4147-A177-3AD203B41FA5}">
                      <a16:colId xmlns:a16="http://schemas.microsoft.com/office/drawing/2014/main" val="20001"/>
                    </a:ext>
                  </a:extLst>
                </a:gridCol>
                <a:gridCol w="2297056">
                  <a:extLst>
                    <a:ext uri="{9D8B030D-6E8A-4147-A177-3AD203B41FA5}">
                      <a16:colId xmlns:a16="http://schemas.microsoft.com/office/drawing/2014/main" val="20002"/>
                    </a:ext>
                  </a:extLst>
                </a:gridCol>
                <a:gridCol w="3418368">
                  <a:extLst>
                    <a:ext uri="{9D8B030D-6E8A-4147-A177-3AD203B41FA5}">
                      <a16:colId xmlns:a16="http://schemas.microsoft.com/office/drawing/2014/main" val="20003"/>
                    </a:ext>
                  </a:extLst>
                </a:gridCol>
              </a:tblGrid>
              <a:tr h="471975">
                <a:tc>
                  <a:txBody>
                    <a:bodyPr/>
                    <a:lstStyle/>
                    <a:p>
                      <a:pPr algn="ctr"/>
                      <a:r>
                        <a:rPr lang="en-US" sz="1800" dirty="0"/>
                        <a:t>Decimal</a:t>
                      </a:r>
                    </a:p>
                  </a:txBody>
                  <a:tcPr marL="115651" marR="115651"/>
                </a:tc>
                <a:tc gridSpan="3">
                  <a:txBody>
                    <a:bodyPr/>
                    <a:lstStyle/>
                    <a:p>
                      <a:pPr algn="ctr"/>
                      <a:r>
                        <a:rPr lang="en-US" sz="1800" dirty="0"/>
                        <a:t>Binary</a:t>
                      </a:r>
                    </a:p>
                  </a:txBody>
                  <a:tcPr marL="115651" marR="115651"/>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10000"/>
                  </a:ext>
                </a:extLst>
              </a:tr>
              <a:tr h="471975">
                <a:tc>
                  <a:txBody>
                    <a:bodyPr/>
                    <a:lstStyle/>
                    <a:p>
                      <a:pPr algn="ctr"/>
                      <a:endParaRPr lang="en-US" dirty="0"/>
                    </a:p>
                  </a:txBody>
                  <a:tcPr marL="115651" marR="115651">
                    <a:solidFill>
                      <a:schemeClr val="accent1">
                        <a:lumMod val="40000"/>
                        <a:lumOff val="60000"/>
                      </a:schemeClr>
                    </a:solidFill>
                  </a:tcPr>
                </a:tc>
                <a:tc>
                  <a:txBody>
                    <a:bodyPr/>
                    <a:lstStyle/>
                    <a:p>
                      <a:pPr algn="ctr"/>
                      <a:r>
                        <a:rPr lang="en-US" sz="1800" dirty="0"/>
                        <a:t>4-bit</a:t>
                      </a:r>
                    </a:p>
                  </a:txBody>
                  <a:tcPr marL="115651" marR="115651">
                    <a:solidFill>
                      <a:schemeClr val="accent1">
                        <a:lumMod val="40000"/>
                        <a:lumOff val="60000"/>
                      </a:schemeClr>
                    </a:solidFill>
                  </a:tcPr>
                </a:tc>
                <a:tc>
                  <a:txBody>
                    <a:bodyPr/>
                    <a:lstStyle/>
                    <a:p>
                      <a:pPr algn="ctr"/>
                      <a:r>
                        <a:rPr lang="en-US" sz="1800" dirty="0"/>
                        <a:t>8-bit</a:t>
                      </a:r>
                    </a:p>
                  </a:txBody>
                  <a:tcPr marL="115651" marR="115651">
                    <a:solidFill>
                      <a:schemeClr val="accent1">
                        <a:lumMod val="40000"/>
                        <a:lumOff val="60000"/>
                      </a:schemeClr>
                    </a:solidFill>
                  </a:tcPr>
                </a:tc>
                <a:tc>
                  <a:txBody>
                    <a:bodyPr/>
                    <a:lstStyle/>
                    <a:p>
                      <a:pPr algn="ctr"/>
                      <a:r>
                        <a:rPr lang="en-US" sz="1800" dirty="0"/>
                        <a:t>32-bit</a:t>
                      </a:r>
                    </a:p>
                  </a:txBody>
                  <a:tcPr marL="115651" marR="115651">
                    <a:solidFill>
                      <a:schemeClr val="accent1">
                        <a:lumMod val="40000"/>
                        <a:lumOff val="60000"/>
                      </a:schemeClr>
                    </a:solidFill>
                  </a:tcPr>
                </a:tc>
                <a:extLst>
                  <a:ext uri="{0D108BD9-81ED-4DB2-BD59-A6C34878D82A}">
                    <a16:rowId xmlns:a16="http://schemas.microsoft.com/office/drawing/2014/main" val="10001"/>
                  </a:ext>
                </a:extLst>
              </a:tr>
              <a:tr h="471975">
                <a:tc>
                  <a:txBody>
                    <a:bodyPr/>
                    <a:lstStyle/>
                    <a:p>
                      <a:pPr algn="ctr"/>
                      <a:r>
                        <a:rPr lang="en-US" sz="1800" dirty="0"/>
                        <a:t>3</a:t>
                      </a:r>
                      <a:r>
                        <a:rPr lang="en-US" sz="1800" baseline="-25000" dirty="0"/>
                        <a:t>ten</a:t>
                      </a:r>
                    </a:p>
                  </a:txBody>
                  <a:tcPr marL="115651" marR="115651"/>
                </a:tc>
                <a:tc>
                  <a:txBody>
                    <a:bodyPr/>
                    <a:lstStyle/>
                    <a:p>
                      <a:pPr algn="ctr"/>
                      <a:r>
                        <a:rPr lang="en-US" sz="1800" dirty="0"/>
                        <a:t>0011</a:t>
                      </a:r>
                      <a:r>
                        <a:rPr lang="en-US" sz="1800" baseline="-25000" dirty="0"/>
                        <a:t>two</a:t>
                      </a:r>
                    </a:p>
                  </a:txBody>
                  <a:tcPr marL="115651" marR="115651"/>
                </a:tc>
                <a:tc>
                  <a:txBody>
                    <a:bodyPr/>
                    <a:lstStyle/>
                    <a:p>
                      <a:pPr algn="ctr"/>
                      <a:r>
                        <a:rPr lang="en-US" sz="1800" dirty="0"/>
                        <a:t>0000 0011</a:t>
                      </a:r>
                      <a:r>
                        <a:rPr lang="en-US" sz="1800" baseline="-25000" dirty="0"/>
                        <a:t>two</a:t>
                      </a:r>
                    </a:p>
                  </a:txBody>
                  <a:tcPr marL="115651" marR="115651"/>
                </a:tc>
                <a:tc>
                  <a:txBody>
                    <a:bodyPr/>
                    <a:lstStyle/>
                    <a:p>
                      <a:pPr algn="ctr"/>
                      <a:r>
                        <a:rPr lang="en-US" sz="1800" dirty="0"/>
                        <a:t>0000 0000 0000 0011</a:t>
                      </a:r>
                      <a:r>
                        <a:rPr lang="en-US" sz="1800" baseline="-25000" dirty="0"/>
                        <a:t>two</a:t>
                      </a:r>
                    </a:p>
                  </a:txBody>
                  <a:tcPr marL="115651" marR="115651"/>
                </a:tc>
                <a:extLst>
                  <a:ext uri="{0D108BD9-81ED-4DB2-BD59-A6C34878D82A}">
                    <a16:rowId xmlns:a16="http://schemas.microsoft.com/office/drawing/2014/main" val="10002"/>
                  </a:ext>
                </a:extLst>
              </a:tr>
              <a:tr h="47197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-3</a:t>
                      </a:r>
                      <a:r>
                        <a:rPr lang="en-US" sz="1800" baseline="-25000" dirty="0"/>
                        <a:t>ten</a:t>
                      </a:r>
                    </a:p>
                  </a:txBody>
                  <a:tcPr marL="115651" marR="11565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1101</a:t>
                      </a:r>
                      <a:r>
                        <a:rPr lang="en-US" sz="1800" baseline="-25000" dirty="0"/>
                        <a:t>two</a:t>
                      </a:r>
                    </a:p>
                  </a:txBody>
                  <a:tcPr marL="115651" marR="11565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1111 1101</a:t>
                      </a:r>
                      <a:r>
                        <a:rPr lang="en-US" sz="1800" baseline="-25000" dirty="0"/>
                        <a:t>two</a:t>
                      </a:r>
                    </a:p>
                  </a:txBody>
                  <a:tcPr marL="115651" marR="11565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1111 1111 1111 1101</a:t>
                      </a:r>
                      <a:r>
                        <a:rPr lang="en-US" sz="1800" baseline="-25000" dirty="0"/>
                        <a:t>two</a:t>
                      </a:r>
                    </a:p>
                  </a:txBody>
                  <a:tcPr marL="115651" marR="115651"/>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401930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Overflow flag for signed arithmetic</a:t>
            </a:r>
          </a:p>
        </p:txBody>
      </p:sp>
      <p:sp>
        <p:nvSpPr>
          <p:cNvPr id="3" name="Slide Number Placeholder 2"/>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mc:AlternateContent xmlns:mc="http://schemas.openxmlformats.org/markup-compatibility/2006" xmlns:a14="http://schemas.microsoft.com/office/drawing/2010/main">
        <mc:Choice Requires="a14">
          <p:sp>
            <p:nvSpPr>
              <p:cNvPr id="4" name="Content Placeholder 3"/>
              <p:cNvSpPr>
                <a:spLocks noGrp="1"/>
              </p:cNvSpPr>
              <p:nvPr>
                <p:ph sz="quarter" idx="1"/>
              </p:nvPr>
            </p:nvSpPr>
            <p:spPr/>
            <p:txBody>
              <a:bodyPr>
                <a:normAutofit fontScale="85000" lnSpcReduction="20000"/>
              </a:bodyPr>
              <a:lstStyle/>
              <a:p>
                <a:r>
                  <a:rPr lang="en-US" sz="2800" dirty="0">
                    <a:solidFill>
                      <a:prstClr val="black"/>
                    </a:solidFill>
                  </a:rPr>
                  <a:t>When adding or subtracting two signed numbers in an </a:t>
                </a:r>
                <a:r>
                  <a:rPr lang="en-US" sz="2800" i="1" dirty="0">
                    <a:solidFill>
                      <a:prstClr val="black"/>
                    </a:solidFill>
                  </a:rPr>
                  <a:t>n</a:t>
                </a:r>
                <a:r>
                  <a:rPr lang="en-US" sz="2800" dirty="0">
                    <a:solidFill>
                      <a:prstClr val="black"/>
                    </a:solidFill>
                  </a:rPr>
                  <a:t>-bit system, an overflow occurs if </a:t>
                </a:r>
                <a:r>
                  <a:rPr lang="en-US" sz="2800" dirty="0">
                    <a:solidFill>
                      <a:srgbClr val="C00000"/>
                    </a:solidFill>
                  </a:rPr>
                  <a:t>the true result is larger than the maximum signed integer </a:t>
                </a:r>
                <a:r>
                  <a:rPr lang="en-US" sz="2800" dirty="0">
                    <a:solidFill>
                      <a:prstClr val="black"/>
                    </a:solidFill>
                  </a:rPr>
                  <a:t>(</a:t>
                </a:r>
                <a:r>
                  <a:rPr lang="en-US" sz="2800" i="1" dirty="0">
                    <a:solidFill>
                      <a:prstClr val="black"/>
                    </a:solidFill>
                  </a:rPr>
                  <a:t>i.e.</a:t>
                </a:r>
                <a:r>
                  <a:rPr lang="en-US" sz="2800" dirty="0">
                    <a:solidFill>
                      <a:prstClr val="black"/>
                    </a:solidFill>
                  </a:rPr>
                  <a:t> </a:t>
                </a:r>
                <a14:m>
                  <m:oMath xmlns:m="http://schemas.openxmlformats.org/officeDocument/2006/math">
                    <m:sSup>
                      <m:sSupPr>
                        <m:ctrlPr>
                          <a:rPr lang="en-US" sz="2800" i="1">
                            <a:solidFill>
                              <a:prstClr val="black"/>
                            </a:solidFill>
                            <a:latin typeface="Cambria Math" panose="02040503050406030204" pitchFamily="18" charset="0"/>
                          </a:rPr>
                        </m:ctrlPr>
                      </m:sSupPr>
                      <m:e>
                        <m:r>
                          <a:rPr lang="en-US" sz="2800" i="1">
                            <a:solidFill>
                              <a:prstClr val="black"/>
                            </a:solidFill>
                            <a:latin typeface="Cambria Math"/>
                          </a:rPr>
                          <m:t>2</m:t>
                        </m:r>
                      </m:e>
                      <m:sup>
                        <m:r>
                          <a:rPr lang="en-US" sz="2800" i="1">
                            <a:solidFill>
                              <a:prstClr val="black"/>
                            </a:solidFill>
                            <a:latin typeface="Cambria Math"/>
                          </a:rPr>
                          <m:t>𝑛</m:t>
                        </m:r>
                        <m:r>
                          <a:rPr lang="en-US" sz="2800" b="0" i="1" smtClean="0">
                            <a:solidFill>
                              <a:prstClr val="black"/>
                            </a:solidFill>
                            <a:latin typeface="Cambria Math" panose="02040503050406030204" pitchFamily="18" charset="0"/>
                          </a:rPr>
                          <m:t>−1</m:t>
                        </m:r>
                      </m:sup>
                    </m:sSup>
                    <m:r>
                      <a:rPr lang="en-US" sz="2800" i="1">
                        <a:solidFill>
                          <a:prstClr val="black"/>
                        </a:solidFill>
                        <a:latin typeface="Cambria Math"/>
                      </a:rPr>
                      <m:t>−1</m:t>
                    </m:r>
                  </m:oMath>
                </a14:m>
                <a:r>
                  <a:rPr lang="en-US" sz="2800" dirty="0">
                    <a:solidFill>
                      <a:prstClr val="black"/>
                    </a:solidFill>
                  </a:rPr>
                  <a:t>) </a:t>
                </a:r>
                <a:r>
                  <a:rPr lang="en-US" sz="2800" dirty="0">
                    <a:solidFill>
                      <a:srgbClr val="C00000"/>
                    </a:solidFill>
                  </a:rPr>
                  <a:t>or smaller than the minimum signed integer </a:t>
                </a:r>
                <a:r>
                  <a:rPr lang="en-US" sz="2800" dirty="0">
                    <a:solidFill>
                      <a:prstClr val="black"/>
                    </a:solidFill>
                  </a:rPr>
                  <a:t>(</a:t>
                </a:r>
                <a:r>
                  <a:rPr lang="en-US" sz="2800" i="1" dirty="0">
                    <a:solidFill>
                      <a:prstClr val="black"/>
                    </a:solidFill>
                  </a:rPr>
                  <a:t>i.e.</a:t>
                </a:r>
                <a:r>
                  <a:rPr lang="en-US" sz="2800" dirty="0">
                    <a:solidFill>
                      <a:prstClr val="black"/>
                    </a:solidFill>
                  </a:rPr>
                  <a:t> </a:t>
                </a:r>
                <a14:m>
                  <m:oMath xmlns:m="http://schemas.openxmlformats.org/officeDocument/2006/math">
                    <m:sSup>
                      <m:sSupPr>
                        <m:ctrlPr>
                          <a:rPr lang="en-US" sz="2800" i="1">
                            <a:solidFill>
                              <a:prstClr val="black"/>
                            </a:solidFill>
                            <a:latin typeface="Cambria Math" panose="02040503050406030204" pitchFamily="18" charset="0"/>
                          </a:rPr>
                        </m:ctrlPr>
                      </m:sSupPr>
                      <m:e>
                        <m:r>
                          <a:rPr lang="en-US" sz="2800" b="0" i="1" smtClean="0">
                            <a:solidFill>
                              <a:prstClr val="black"/>
                            </a:solidFill>
                            <a:latin typeface="Cambria Math" panose="02040503050406030204" pitchFamily="18" charset="0"/>
                          </a:rPr>
                          <m:t>−</m:t>
                        </m:r>
                        <m:r>
                          <a:rPr lang="en-US" sz="2800" i="1">
                            <a:solidFill>
                              <a:prstClr val="black"/>
                            </a:solidFill>
                            <a:latin typeface="Cambria Math"/>
                          </a:rPr>
                          <m:t>2</m:t>
                        </m:r>
                      </m:e>
                      <m:sup>
                        <m:r>
                          <a:rPr lang="en-US" sz="2800" i="1">
                            <a:solidFill>
                              <a:prstClr val="black"/>
                            </a:solidFill>
                            <a:latin typeface="Cambria Math"/>
                          </a:rPr>
                          <m:t>𝑛</m:t>
                        </m:r>
                        <m:r>
                          <a:rPr lang="en-US" sz="2800" b="0" i="1" smtClean="0">
                            <a:solidFill>
                              <a:prstClr val="black"/>
                            </a:solidFill>
                            <a:latin typeface="Cambria Math" panose="02040503050406030204" pitchFamily="18" charset="0"/>
                          </a:rPr>
                          <m:t>−1</m:t>
                        </m:r>
                      </m:sup>
                    </m:sSup>
                  </m:oMath>
                </a14:m>
                <a:r>
                  <a:rPr lang="en-US" sz="2800" dirty="0">
                    <a:solidFill>
                      <a:prstClr val="black"/>
                    </a:solidFill>
                  </a:rPr>
                  <a:t>) that can be represented</a:t>
                </a:r>
              </a:p>
              <a:p>
                <a:endParaRPr lang="en-US" dirty="0"/>
              </a:p>
              <a:p>
                <a:r>
                  <a:rPr lang="en-US" dirty="0"/>
                  <a:t>Overflow may occur when adding 2 operands with the same sign, or subtracting 2 operands with different signs, including: </a:t>
                </a:r>
              </a:p>
              <a:p>
                <a:pPr marL="731520" lvl="1" indent="-457200">
                  <a:buFont typeface="+mj-lt"/>
                  <a:buAutoNum type="arabicPeriod"/>
                </a:pPr>
                <a:r>
                  <a:rPr lang="en-US" dirty="0"/>
                  <a:t>adding two positive numbers</a:t>
                </a:r>
              </a:p>
              <a:p>
                <a:pPr marL="731520" lvl="1" indent="-457200">
                  <a:buFont typeface="+mj-lt"/>
                  <a:buAutoNum type="arabicPeriod"/>
                </a:pPr>
                <a:r>
                  <a:rPr lang="en-US" dirty="0"/>
                  <a:t>adding two negative numbers</a:t>
                </a:r>
              </a:p>
              <a:p>
                <a:pPr marL="731520" lvl="1" indent="-457200">
                  <a:buFont typeface="+mj-lt"/>
                  <a:buAutoNum type="arabicPeriod"/>
                </a:pPr>
                <a:r>
                  <a:rPr lang="en-US" dirty="0"/>
                  <a:t>subtracting a positive number from a negative number</a:t>
                </a:r>
              </a:p>
              <a:p>
                <a:pPr marL="731520" lvl="1" indent="-457200">
                  <a:buFont typeface="+mj-lt"/>
                  <a:buAutoNum type="arabicPeriod"/>
                </a:pPr>
                <a:r>
                  <a:rPr lang="en-US" dirty="0"/>
                  <a:t>subtracting a negative number from a positive number</a:t>
                </a:r>
              </a:p>
              <a:p>
                <a:endParaRPr lang="en-US" dirty="0"/>
              </a:p>
              <a:p>
                <a:r>
                  <a:rPr lang="en-US" dirty="0"/>
                  <a:t>Overflow cannot occur when adding 2 operands with different signs or when subtracting 2 operands with the same sign.</a:t>
                </a:r>
              </a:p>
              <a:p>
                <a:pPr lvl="1"/>
                <a:r>
                  <a:rPr lang="en-US" dirty="0"/>
                  <a:t>Why?</a:t>
                </a:r>
              </a:p>
            </p:txBody>
          </p:sp>
        </mc:Choice>
        <mc:Fallback xmlns="">
          <p:sp>
            <p:nvSpPr>
              <p:cNvPr id="4" name="Content Placeholder 3"/>
              <p:cNvSpPr>
                <a:spLocks noGrp="1" noRot="1" noChangeAspect="1" noMove="1" noResize="1" noEditPoints="1" noAdjustHandles="1" noChangeArrowheads="1" noChangeShapeType="1" noTextEdit="1"/>
              </p:cNvSpPr>
              <p:nvPr>
                <p:ph sz="quarter" idx="1"/>
              </p:nvPr>
            </p:nvSpPr>
            <p:spPr>
              <a:blipFill>
                <a:blip r:embed="rId2"/>
                <a:stretch>
                  <a:fillRect l="-519" t="-2469" r="-1259"/>
                </a:stretch>
              </a:blipFill>
            </p:spPr>
            <p:txBody>
              <a:bodyPr/>
              <a:lstStyle/>
              <a:p>
                <a:r>
                  <a:rPr lang="en-US">
                    <a:noFill/>
                  </a:rPr>
                  <a:t> </a:t>
                </a:r>
              </a:p>
            </p:txBody>
          </p:sp>
        </mc:Fallback>
      </mc:AlternateContent>
    </p:spTree>
    <p:extLst>
      <p:ext uri="{BB962C8B-B14F-4D97-AF65-F5344CB8AC3E}">
        <p14:creationId xmlns:p14="http://schemas.microsoft.com/office/powerpoint/2010/main" val="31806012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Overflow flag for signed arithmetic</a:t>
            </a:r>
          </a:p>
        </p:txBody>
      </p:sp>
      <p:sp>
        <p:nvSpPr>
          <p:cNvPr id="3" name="Slide Number Placeholder 2"/>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4" name="Content Placeholder 3"/>
          <p:cNvSpPr>
            <a:spLocks noGrp="1"/>
          </p:cNvSpPr>
          <p:nvPr>
            <p:ph sz="quarter" idx="1"/>
          </p:nvPr>
        </p:nvSpPr>
        <p:spPr/>
        <p:txBody>
          <a:bodyPr>
            <a:normAutofit fontScale="85000" lnSpcReduction="10000"/>
          </a:bodyPr>
          <a:lstStyle/>
          <a:p>
            <a:r>
              <a:rPr lang="en-US" dirty="0"/>
              <a:t>Overflow cannot occur when adding 2 operands with different signs or when subtracting 2 operands with the same sign. Proof:</a:t>
            </a:r>
          </a:p>
          <a:p>
            <a:pPr lvl="1"/>
            <a:r>
              <a:rPr lang="en-US" dirty="0"/>
              <a:t>A n-bit signed int has the range [-2</a:t>
            </a:r>
            <a:r>
              <a:rPr lang="en-US" baseline="30000" dirty="0"/>
              <a:t>n-1</a:t>
            </a:r>
            <a:r>
              <a:rPr lang="en-US" dirty="0"/>
              <a:t>, 2</a:t>
            </a:r>
            <a:r>
              <a:rPr lang="en-US" baseline="30000" dirty="0"/>
              <a:t>n-1</a:t>
            </a:r>
            <a:r>
              <a:rPr lang="en-US" dirty="0"/>
              <a:t>-1]</a:t>
            </a:r>
          </a:p>
          <a:p>
            <a:pPr lvl="2"/>
            <a:r>
              <a:rPr lang="en-US" dirty="0"/>
              <a:t>n = 4, number range </a:t>
            </a:r>
            <a:r>
              <a:rPr lang="en-US" altLang="zh-CN" dirty="0"/>
              <a:t>[-16, 15]</a:t>
            </a:r>
            <a:endParaRPr lang="en-US" dirty="0"/>
          </a:p>
          <a:p>
            <a:pPr lvl="1"/>
            <a:r>
              <a:rPr lang="en-US" dirty="0"/>
              <a:t>2 </a:t>
            </a:r>
            <a:r>
              <a:rPr lang="en-US" altLang="zh-CN" dirty="0"/>
              <a:t>operands with different signs: positive one in the range of [0, 2</a:t>
            </a:r>
            <a:r>
              <a:rPr lang="en-US" altLang="zh-CN" baseline="30000" dirty="0"/>
              <a:t>n-1</a:t>
            </a:r>
            <a:r>
              <a:rPr lang="en-US" altLang="zh-CN" dirty="0"/>
              <a:t>-1], negative one in the range of [-2</a:t>
            </a:r>
            <a:r>
              <a:rPr lang="en-US" altLang="zh-CN" baseline="30000" dirty="0"/>
              <a:t>n-1</a:t>
            </a:r>
            <a:r>
              <a:rPr lang="en-US" altLang="zh-CN" dirty="0"/>
              <a:t>, -1]. So the range of their sum must be [0-2</a:t>
            </a:r>
            <a:r>
              <a:rPr lang="en-US" altLang="zh-CN" baseline="30000" dirty="0"/>
              <a:t>n-1</a:t>
            </a:r>
            <a:r>
              <a:rPr lang="en-US" altLang="zh-CN" dirty="0"/>
              <a:t>, 2</a:t>
            </a:r>
            <a:r>
              <a:rPr lang="en-US" altLang="zh-CN" baseline="30000" dirty="0"/>
              <a:t>n-1</a:t>
            </a:r>
            <a:r>
              <a:rPr lang="en-US" altLang="zh-CN" dirty="0"/>
              <a:t>-1+(-1)]=[-2</a:t>
            </a:r>
            <a:r>
              <a:rPr lang="en-US" altLang="zh-CN" baseline="30000" dirty="0"/>
              <a:t>n-1</a:t>
            </a:r>
            <a:r>
              <a:rPr lang="en-US" altLang="zh-CN" dirty="0"/>
              <a:t>, 2</a:t>
            </a:r>
            <a:r>
              <a:rPr lang="en-US" altLang="zh-CN" baseline="30000" dirty="0"/>
              <a:t>n-1</a:t>
            </a:r>
            <a:r>
              <a:rPr lang="en-US" altLang="zh-CN" dirty="0"/>
              <a:t>-2] </a:t>
            </a:r>
            <a:r>
              <a:rPr lang="en-US" sz="2400" dirty="0">
                <a:solidFill>
                  <a:srgbClr val="56127A"/>
                </a:solidFill>
                <a:latin typeface="Symbol" charset="2"/>
              </a:rPr>
              <a:t>Î</a:t>
            </a:r>
            <a:r>
              <a:rPr lang="en-US" dirty="0"/>
              <a:t>[-2</a:t>
            </a:r>
            <a:r>
              <a:rPr lang="en-US" baseline="30000" dirty="0"/>
              <a:t>n-1</a:t>
            </a:r>
            <a:r>
              <a:rPr lang="en-US" dirty="0"/>
              <a:t>, 2</a:t>
            </a:r>
            <a:r>
              <a:rPr lang="en-US" baseline="30000" dirty="0"/>
              <a:t>n-1</a:t>
            </a:r>
            <a:r>
              <a:rPr lang="en-US" dirty="0"/>
              <a:t>-1]</a:t>
            </a:r>
          </a:p>
          <a:p>
            <a:pPr lvl="2"/>
            <a:r>
              <a:rPr lang="en-US" altLang="zh-CN" dirty="0"/>
              <a:t>Positive number range [0, 15], negative number range [-16, -1]. Range of their sum [0-16, 15-1]=[-16, 14]</a:t>
            </a:r>
          </a:p>
          <a:p>
            <a:pPr lvl="1"/>
            <a:r>
              <a:rPr lang="en-US" dirty="0"/>
              <a:t>2 </a:t>
            </a:r>
            <a:r>
              <a:rPr lang="en-US" altLang="zh-CN" dirty="0"/>
              <a:t>operands with the same sign: if both are positive and in the range of [0, 2</a:t>
            </a:r>
            <a:r>
              <a:rPr lang="en-US" altLang="zh-CN" baseline="30000" dirty="0"/>
              <a:t>n-1</a:t>
            </a:r>
            <a:r>
              <a:rPr lang="en-US" altLang="zh-CN" dirty="0"/>
              <a:t>-1], then the range of their difference must be [0-(2</a:t>
            </a:r>
            <a:r>
              <a:rPr lang="en-US" altLang="zh-CN" baseline="30000" dirty="0"/>
              <a:t>n-1</a:t>
            </a:r>
            <a:r>
              <a:rPr lang="en-US" altLang="zh-CN" dirty="0"/>
              <a:t>-1), 2</a:t>
            </a:r>
            <a:r>
              <a:rPr lang="en-US" altLang="zh-CN" baseline="30000" dirty="0"/>
              <a:t>n-1</a:t>
            </a:r>
            <a:r>
              <a:rPr lang="en-US" altLang="zh-CN" dirty="0"/>
              <a:t>-1-0]=[-(2</a:t>
            </a:r>
            <a:r>
              <a:rPr lang="en-US" altLang="zh-CN" baseline="30000" dirty="0"/>
              <a:t>n-1</a:t>
            </a:r>
            <a:r>
              <a:rPr lang="en-US" altLang="zh-CN" dirty="0"/>
              <a:t>-1), 2</a:t>
            </a:r>
            <a:r>
              <a:rPr lang="en-US" altLang="zh-CN" baseline="30000" dirty="0"/>
              <a:t>n-1</a:t>
            </a:r>
            <a:r>
              <a:rPr lang="en-US" altLang="zh-CN" dirty="0"/>
              <a:t>-1]; if both are negative and in the range of [-2</a:t>
            </a:r>
            <a:r>
              <a:rPr lang="en-US" altLang="zh-CN" baseline="30000" dirty="0"/>
              <a:t>n-1</a:t>
            </a:r>
            <a:r>
              <a:rPr lang="en-US" altLang="zh-CN" dirty="0"/>
              <a:t>, -1], then the range of their difference must be [-2</a:t>
            </a:r>
            <a:r>
              <a:rPr lang="en-US" altLang="zh-CN" baseline="30000" dirty="0"/>
              <a:t>n-1</a:t>
            </a:r>
            <a:r>
              <a:rPr lang="en-US" altLang="zh-CN" dirty="0"/>
              <a:t>-(-1), -1-(-2</a:t>
            </a:r>
            <a:r>
              <a:rPr lang="en-US" altLang="zh-CN" baseline="30000" dirty="0"/>
              <a:t>n-1</a:t>
            </a:r>
            <a:r>
              <a:rPr lang="en-US" altLang="zh-CN" dirty="0"/>
              <a:t>)]=[-2</a:t>
            </a:r>
            <a:r>
              <a:rPr lang="en-US" altLang="zh-CN" baseline="30000" dirty="0"/>
              <a:t>n-1</a:t>
            </a:r>
            <a:r>
              <a:rPr lang="en-US" altLang="zh-CN" dirty="0"/>
              <a:t>+1, 2</a:t>
            </a:r>
            <a:r>
              <a:rPr lang="en-US" altLang="zh-CN" baseline="30000" dirty="0"/>
              <a:t>n-1</a:t>
            </a:r>
            <a:r>
              <a:rPr lang="en-US" altLang="zh-CN" dirty="0"/>
              <a:t>-1] </a:t>
            </a:r>
            <a:r>
              <a:rPr lang="en-US" sz="2000" dirty="0">
                <a:solidFill>
                  <a:srgbClr val="56127A"/>
                </a:solidFill>
                <a:latin typeface="Symbol" charset="2"/>
              </a:rPr>
              <a:t>Î </a:t>
            </a:r>
            <a:r>
              <a:rPr lang="en-US" dirty="0"/>
              <a:t>[-2</a:t>
            </a:r>
            <a:r>
              <a:rPr lang="en-US" baseline="30000" dirty="0"/>
              <a:t>n-1</a:t>
            </a:r>
            <a:r>
              <a:rPr lang="en-US" dirty="0"/>
              <a:t>, 2</a:t>
            </a:r>
            <a:r>
              <a:rPr lang="en-US" baseline="30000" dirty="0"/>
              <a:t>n-1</a:t>
            </a:r>
            <a:r>
              <a:rPr lang="en-US" dirty="0"/>
              <a:t>-1]</a:t>
            </a:r>
          </a:p>
          <a:p>
            <a:pPr lvl="2"/>
            <a:r>
              <a:rPr lang="en-US" dirty="0"/>
              <a:t>Both positive numbers </a:t>
            </a:r>
            <a:r>
              <a:rPr lang="en-US" altLang="zh-CN" dirty="0"/>
              <a:t>[0, 15], range of difference [0-15, 15-0]=[-15, 15]</a:t>
            </a:r>
          </a:p>
          <a:p>
            <a:pPr lvl="2"/>
            <a:r>
              <a:rPr lang="en-US" dirty="0"/>
              <a:t>Both negative numbers </a:t>
            </a:r>
            <a:r>
              <a:rPr lang="en-US" altLang="zh-CN" dirty="0"/>
              <a:t>[-16, -1], range of difference [-16-(-1), -1-(-16)]=[-15, 15]</a:t>
            </a:r>
            <a:endParaRPr lang="en-US" dirty="0"/>
          </a:p>
        </p:txBody>
      </p:sp>
    </p:spTree>
    <p:extLst>
      <p:ext uri="{BB962C8B-B14F-4D97-AF65-F5344CB8AC3E}">
        <p14:creationId xmlns:p14="http://schemas.microsoft.com/office/powerpoint/2010/main" val="26049753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Overflow bit flag for signed arithmetic</a:t>
            </a:r>
          </a:p>
        </p:txBody>
      </p:sp>
      <p:sp>
        <p:nvSpPr>
          <p:cNvPr id="2" name="Slide Number Placeholder 1"/>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400" b="0" i="0" u="none" strike="noStrike" kern="1200" cap="none" spc="0" normalizeH="0" baseline="0" noProof="0">
              <a:ln>
                <a:noFill/>
              </a:ln>
              <a:solidFill>
                <a:srgbClr val="1F497D"/>
              </a:solidFill>
              <a:effectLst/>
              <a:uLnTx/>
              <a:uFillTx/>
              <a:latin typeface="Gill Sans MT"/>
              <a:ea typeface="+mn-ea"/>
              <a:cs typeface="+mn-cs"/>
            </a:endParaRPr>
          </a:p>
        </p:txBody>
      </p:sp>
      <p:pic>
        <p:nvPicPr>
          <p:cNvPr id="389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295399"/>
            <a:ext cx="3429000" cy="3347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304800" y="4876800"/>
            <a:ext cx="4191000" cy="92333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 An overflow occurs when adding two positive numbers and getting a negative result.</a:t>
            </a:r>
          </a:p>
        </p:txBody>
      </p:sp>
      <p:pic>
        <p:nvPicPr>
          <p:cNvPr id="48130"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81600" y="1899056"/>
            <a:ext cx="3193883" cy="19526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4" name="Rectangle 3"/>
              <p:cNvSpPr/>
              <p:nvPr/>
            </p:nvSpPr>
            <p:spPr>
              <a:xfrm>
                <a:off x="4492541" y="4185056"/>
                <a:ext cx="4572000" cy="646331"/>
              </a:xfrm>
              <a:prstGeom prst="rect">
                <a:avLst/>
              </a:prstGeom>
            </p:spPr>
            <p:txBody>
              <a:bodyPr>
                <a:spAutoFit/>
              </a:bodyPr>
              <a:lstStyle/>
              <a:p>
                <a:pPr lvl="0" eaLnBrk="1" fontAlgn="auto" hangingPunct="1">
                  <a:spcBef>
                    <a:spcPts val="0"/>
                  </a:spcBef>
                  <a:spcAft>
                    <a:spcPts val="0"/>
                  </a:spcAf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O</a:t>
                </a:r>
                <a:r>
                  <a:rPr lang="en-US" sz="1800" b="0" dirty="0" err="1">
                    <a:solidFill>
                      <a:prstClr val="black"/>
                    </a:solidFill>
                    <a:latin typeface="Gill Sans MT"/>
                  </a:rPr>
                  <a:t>verflow</a:t>
                </a:r>
                <a:r>
                  <a:rPr lang="en-US" sz="1800" b="0" dirty="0">
                    <a:solidFill>
                      <a:prstClr val="black"/>
                    </a:solidFill>
                    <a:latin typeface="Gill Sans MT"/>
                  </a:rPr>
                  <a:t> flag = 1, </a:t>
                </a:r>
                <a:r>
                  <a:rPr kumimoji="0" lang="en-US" sz="1800" b="0" i="0" u="none" strike="noStrike" kern="1200" cap="none" spc="0" normalizeH="0" baseline="0" noProof="0" dirty="0">
                    <a:ln>
                      <a:noFill/>
                    </a:ln>
                    <a:solidFill>
                      <a:prstClr val="black"/>
                    </a:solidFill>
                    <a:effectLst/>
                    <a:uLnTx/>
                    <a:uFillTx/>
                    <a:latin typeface="Gill Sans MT"/>
                    <a:ea typeface="+mn-ea"/>
                    <a:cs typeface="+mn-cs"/>
                  </a:rPr>
                  <a:t>since</a:t>
                </a:r>
                <a:r>
                  <a:rPr kumimoji="0" lang="en-US" sz="1800" b="0" i="0" u="none" strike="noStrike" kern="1200" cap="none" spc="0" normalizeH="0" noProof="0" dirty="0">
                    <a:ln>
                      <a:noFill/>
                    </a:ln>
                    <a:solidFill>
                      <a:prstClr val="black"/>
                    </a:solidFill>
                    <a:effectLst/>
                    <a:uLnTx/>
                    <a:uFillTx/>
                    <a:latin typeface="Gill Sans MT"/>
                    <a:ea typeface="+mn-ea"/>
                    <a:cs typeface="+mn-cs"/>
                  </a:rPr>
                  <a:t> </a:t>
                </a:r>
                <a:r>
                  <a:rPr kumimoji="0" lang="en-US" sz="1800" b="0" i="0" u="none" strike="noStrike" kern="1200" cap="none" spc="0" normalizeH="0" baseline="0" noProof="0" dirty="0">
                    <a:ln>
                      <a:noFill/>
                    </a:ln>
                    <a:solidFill>
                      <a:prstClr val="black"/>
                    </a:solidFill>
                    <a:effectLst/>
                    <a:uLnTx/>
                    <a:uFillTx/>
                    <a:latin typeface="Gill Sans MT"/>
                    <a:ea typeface="+mn-ea"/>
                    <a:cs typeface="+mn-cs"/>
                  </a:rPr>
                  <a:t>true result </a:t>
                </a:r>
                <a14:m>
                  <m:oMath xmlns:m="http://schemas.openxmlformats.org/officeDocument/2006/math">
                    <m:r>
                      <a:rPr kumimoji="0" lang="en-US" sz="18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17 </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&gt;</m:t>
                    </m:r>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2</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4</m:t>
                        </m:r>
                      </m:sup>
                    </m:sSup>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oMath>
                </a14:m>
                <a:r>
                  <a:rPr kumimoji="0" lang="en-US" sz="1800" b="0" i="0" u="none" strike="noStrike" kern="1200" cap="none" spc="0" normalizeH="0" baseline="0" noProof="0" dirty="0">
                    <a:ln>
                      <a:noFill/>
                    </a:ln>
                    <a:solidFill>
                      <a:prstClr val="black"/>
                    </a:solidFill>
                    <a:effectLst/>
                    <a:uLnTx/>
                    <a:uFillTx/>
                    <a:latin typeface="Gill Sans MT"/>
                    <a:ea typeface="+mn-ea"/>
                    <a:cs typeface="+mn-cs"/>
                  </a:rPr>
                  <a:t>.</a:t>
                </a:r>
              </a:p>
            </p:txBody>
          </p:sp>
        </mc:Choice>
        <mc:Fallback xmlns="">
          <p:sp>
            <p:nvSpPr>
              <p:cNvPr id="4" name="Rectangle 3"/>
              <p:cNvSpPr>
                <a:spLocks noRot="1" noChangeAspect="1" noMove="1" noResize="1" noEditPoints="1" noAdjustHandles="1" noChangeArrowheads="1" noChangeShapeType="1" noTextEdit="1"/>
              </p:cNvSpPr>
              <p:nvPr/>
            </p:nvSpPr>
            <p:spPr>
              <a:xfrm>
                <a:off x="4492541" y="4185056"/>
                <a:ext cx="4572000" cy="646331"/>
              </a:xfrm>
              <a:prstGeom prst="rect">
                <a:avLst/>
              </a:prstGeom>
              <a:blipFill>
                <a:blip r:embed="rId15"/>
                <a:stretch>
                  <a:fillRect l="-1200" t="-5660" b="-14151"/>
                </a:stretch>
              </a:blipFill>
            </p:spPr>
            <p:txBody>
              <a:bodyPr/>
              <a:lstStyle/>
              <a:p>
                <a:r>
                  <a:rPr lang="en-US">
                    <a:noFill/>
                  </a:rPr>
                  <a:t> </a:t>
                </a:r>
              </a:p>
            </p:txBody>
          </p:sp>
        </mc:Fallback>
      </mc:AlternateContent>
    </p:spTree>
    <p:extLst>
      <p:ext uri="{BB962C8B-B14F-4D97-AF65-F5344CB8AC3E}">
        <p14:creationId xmlns:p14="http://schemas.microsoft.com/office/powerpoint/2010/main" val="23274110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Overflow bit flag for signed arithmetic</a:t>
            </a:r>
          </a:p>
        </p:txBody>
      </p:sp>
      <p:sp>
        <p:nvSpPr>
          <p:cNvPr id="2" name="Slide Number Placeholder 1"/>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400" b="0" i="0" u="none" strike="noStrike" kern="1200" cap="none" spc="0" normalizeH="0" baseline="0" noProof="0">
              <a:ln>
                <a:noFill/>
              </a:ln>
              <a:solidFill>
                <a:srgbClr val="1F497D"/>
              </a:solidFill>
              <a:effectLst/>
              <a:uLnTx/>
              <a:uFillTx/>
              <a:latin typeface="Gill Sans MT"/>
              <a:ea typeface="+mn-ea"/>
              <a:cs typeface="+mn-cs"/>
            </a:endParaRPr>
          </a:p>
        </p:txBody>
      </p:sp>
      <p:pic>
        <p:nvPicPr>
          <p:cNvPr id="3891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4037" y="1295399"/>
            <a:ext cx="3434976"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286837" y="4876800"/>
            <a:ext cx="4572000" cy="646331"/>
          </a:xfrm>
          <a:prstGeom prst="rect">
            <a:avLst/>
          </a:prstGeom>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An overflow occurs when adding two negative numbers and getting a positive result.</a:t>
            </a:r>
          </a:p>
        </p:txBody>
      </p:sp>
      <p:pic>
        <p:nvPicPr>
          <p:cNvPr id="49154"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724400" y="1752600"/>
            <a:ext cx="4006791" cy="21669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4" name="Rectangle 3"/>
              <p:cNvSpPr/>
              <p:nvPr/>
            </p:nvSpPr>
            <p:spPr>
              <a:xfrm>
                <a:off x="4572000" y="4148139"/>
                <a:ext cx="4636068" cy="646331"/>
              </a:xfrm>
              <a:prstGeom prst="rect">
                <a:avLst/>
              </a:prstGeom>
            </p:spPr>
            <p:txBody>
              <a:bodyPr wrap="square">
                <a:spAutoFit/>
              </a:bodyPr>
              <a:lstStyle/>
              <a:p>
                <a:pPr eaLnBrk="1" fontAlgn="auto" hangingPunct="1">
                  <a:spcBef>
                    <a:spcPts val="0"/>
                  </a:spcBef>
                  <a:spcAft>
                    <a:spcPts val="0"/>
                  </a:spcAft>
                  <a:defRPr/>
                </a:pPr>
                <a:r>
                  <a:rPr lang="en-US" sz="1800" b="0" dirty="0">
                    <a:solidFill>
                      <a:prstClr val="black"/>
                    </a:solidFill>
                    <a:latin typeface="Gill Sans MT"/>
                  </a:rPr>
                  <a:t>Overflow flag = 1, since true result </a:t>
                </a:r>
                <a14:m>
                  <m:oMath xmlns:m="http://schemas.openxmlformats.org/officeDocument/2006/math">
                    <m:r>
                      <a:rPr lang="en-US" sz="1800" b="0" i="0" smtClean="0">
                        <a:solidFill>
                          <a:prstClr val="black"/>
                        </a:solidFill>
                        <a:latin typeface="Cambria Math" panose="02040503050406030204" pitchFamily="18" charset="0"/>
                      </a:rPr>
                      <m:t>−20&lt;</m:t>
                    </m:r>
                    <m:r>
                      <a:rPr lang="en-US" sz="1800" b="0">
                        <a:solidFill>
                          <a:prstClr val="black"/>
                        </a:solidFill>
                        <a:latin typeface="Cambria Math" panose="02040503050406030204" pitchFamily="18" charset="0"/>
                      </a:rPr>
                      <m:t> </m:t>
                    </m:r>
                    <m:sSup>
                      <m:sSupPr>
                        <m:ctrlPr>
                          <a:rPr lang="en-US" sz="1800" b="0" i="1">
                            <a:solidFill>
                              <a:prstClr val="black"/>
                            </a:solidFill>
                            <a:latin typeface="Cambria Math" panose="02040503050406030204" pitchFamily="18" charset="0"/>
                          </a:rPr>
                        </m:ctrlPr>
                      </m:sSupPr>
                      <m:e>
                        <m:r>
                          <a:rPr lang="en-US" sz="1800" b="0" i="1" smtClean="0">
                            <a:solidFill>
                              <a:prstClr val="black"/>
                            </a:solidFill>
                            <a:latin typeface="Cambria Math" panose="02040503050406030204" pitchFamily="18" charset="0"/>
                          </a:rPr>
                          <m:t>−</m:t>
                        </m:r>
                        <m:r>
                          <a:rPr lang="en-US" sz="1800" b="0" i="1">
                            <a:solidFill>
                              <a:prstClr val="black"/>
                            </a:solidFill>
                            <a:latin typeface="Cambria Math"/>
                          </a:rPr>
                          <m:t>2</m:t>
                        </m:r>
                      </m:e>
                      <m:sup>
                        <m:r>
                          <a:rPr lang="en-US" sz="1800" b="0" i="1">
                            <a:solidFill>
                              <a:prstClr val="black"/>
                            </a:solidFill>
                            <a:latin typeface="Cambria Math"/>
                          </a:rPr>
                          <m:t>4</m:t>
                        </m:r>
                      </m:sup>
                    </m:sSup>
                  </m:oMath>
                </a14:m>
                <a:r>
                  <a:rPr lang="en-US" sz="1800" b="0" dirty="0">
                    <a:solidFill>
                      <a:prstClr val="black"/>
                    </a:solidFill>
                    <a:latin typeface="Gill Sans MT"/>
                  </a:rPr>
                  <a:t>.</a:t>
                </a:r>
                <a:endParaRPr kumimoji="0" lang="en-US" sz="1800" b="0" i="0" u="none" strike="noStrike" kern="1200" cap="none" spc="0" normalizeH="0" baseline="0" noProof="0" dirty="0">
                  <a:ln>
                    <a:noFill/>
                  </a:ln>
                  <a:solidFill>
                    <a:prstClr val="black"/>
                  </a:solidFill>
                  <a:effectLst/>
                  <a:uLnTx/>
                  <a:uFillTx/>
                  <a:latin typeface="Gill Sans MT"/>
                  <a:ea typeface="+mn-ea"/>
                  <a:cs typeface="+mn-cs"/>
                </a:endParaRPr>
              </a:p>
            </p:txBody>
          </p:sp>
        </mc:Choice>
        <mc:Fallback xmlns="">
          <p:sp>
            <p:nvSpPr>
              <p:cNvPr id="4" name="Rectangle 3"/>
              <p:cNvSpPr>
                <a:spLocks noRot="1" noChangeAspect="1" noMove="1" noResize="1" noEditPoints="1" noAdjustHandles="1" noChangeArrowheads="1" noChangeShapeType="1" noTextEdit="1"/>
              </p:cNvSpPr>
              <p:nvPr/>
            </p:nvSpPr>
            <p:spPr>
              <a:xfrm>
                <a:off x="4572000" y="4148139"/>
                <a:ext cx="4636068" cy="646331"/>
              </a:xfrm>
              <a:prstGeom prst="rect">
                <a:avLst/>
              </a:prstGeom>
              <a:blipFill>
                <a:blip r:embed="rId9"/>
                <a:stretch>
                  <a:fillRect l="-1051" t="-4717" b="-14151"/>
                </a:stretch>
              </a:blipFill>
            </p:spPr>
            <p:txBody>
              <a:bodyPr/>
              <a:lstStyle/>
              <a:p>
                <a:r>
                  <a:rPr lang="en-US">
                    <a:noFill/>
                  </a:rPr>
                  <a:t> </a:t>
                </a:r>
              </a:p>
            </p:txBody>
          </p:sp>
        </mc:Fallback>
      </mc:AlternateContent>
      <p:grpSp>
        <p:nvGrpSpPr>
          <p:cNvPr id="14" name="SMARTInkShape-Group88">
            <a:extLst>
              <a:ext uri="{FF2B5EF4-FFF2-40B4-BE49-F238E27FC236}">
                <a16:creationId xmlns:a16="http://schemas.microsoft.com/office/drawing/2014/main" id="{CD688559-06EC-4E5D-ABE2-8151C8527B60}"/>
              </a:ext>
            </a:extLst>
          </p:cNvPr>
          <p:cNvGrpSpPr/>
          <p:nvPr/>
        </p:nvGrpSpPr>
        <p:grpSpPr>
          <a:xfrm>
            <a:off x="6781800" y="3060700"/>
            <a:ext cx="317501" cy="19051"/>
            <a:chOff x="6781800" y="3060700"/>
            <a:chExt cx="317501" cy="19051"/>
          </a:xfrm>
        </p:grpSpPr>
        <p:sp>
          <p:nvSpPr>
            <p:cNvPr id="12" name="SMARTInkShape-126">
              <a:extLst>
                <a:ext uri="{FF2B5EF4-FFF2-40B4-BE49-F238E27FC236}">
                  <a16:creationId xmlns:a16="http://schemas.microsoft.com/office/drawing/2014/main" id="{FA25FE6A-9875-43D5-9F3D-A70B150C1978}"/>
                </a:ext>
              </a:extLst>
            </p:cNvPr>
            <p:cNvSpPr/>
            <p:nvPr>
              <p:custDataLst>
                <p:tags r:id="rId1"/>
              </p:custDataLst>
            </p:nvPr>
          </p:nvSpPr>
          <p:spPr>
            <a:xfrm>
              <a:off x="6781800" y="3067050"/>
              <a:ext cx="25401" cy="12701"/>
            </a:xfrm>
            <a:custGeom>
              <a:avLst/>
              <a:gdLst/>
              <a:ahLst/>
              <a:cxnLst/>
              <a:rect l="0" t="0" r="0" b="0"/>
              <a:pathLst>
                <a:path w="25401" h="12701">
                  <a:moveTo>
                    <a:pt x="25400" y="0"/>
                  </a:moveTo>
                  <a:lnTo>
                    <a:pt x="25400" y="0"/>
                  </a:lnTo>
                  <a:lnTo>
                    <a:pt x="16563" y="8838"/>
                  </a:lnTo>
                  <a:lnTo>
                    <a:pt x="0" y="12700"/>
                  </a:lnTo>
                </a:path>
              </a:pathLst>
            </a:cu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SMARTInkShape-127">
              <a:extLst>
                <a:ext uri="{FF2B5EF4-FFF2-40B4-BE49-F238E27FC236}">
                  <a16:creationId xmlns:a16="http://schemas.microsoft.com/office/drawing/2014/main" id="{BC142087-F1EE-4588-86C9-7F7AA54C9AFE}"/>
                </a:ext>
              </a:extLst>
            </p:cNvPr>
            <p:cNvSpPr/>
            <p:nvPr>
              <p:custDataLst>
                <p:tags r:id="rId2"/>
              </p:custDataLst>
            </p:nvPr>
          </p:nvSpPr>
          <p:spPr>
            <a:xfrm>
              <a:off x="7067550" y="3060700"/>
              <a:ext cx="31751" cy="12178"/>
            </a:xfrm>
            <a:custGeom>
              <a:avLst/>
              <a:gdLst/>
              <a:ahLst/>
              <a:cxnLst/>
              <a:rect l="0" t="0" r="0" b="0"/>
              <a:pathLst>
                <a:path w="31751" h="12178">
                  <a:moveTo>
                    <a:pt x="31750" y="0"/>
                  </a:moveTo>
                  <a:lnTo>
                    <a:pt x="31750" y="0"/>
                  </a:lnTo>
                  <a:lnTo>
                    <a:pt x="15348" y="10935"/>
                  </a:lnTo>
                  <a:lnTo>
                    <a:pt x="10113" y="12177"/>
                  </a:lnTo>
                  <a:lnTo>
                    <a:pt x="0" y="6350"/>
                  </a:lnTo>
                </a:path>
              </a:pathLst>
            </a:cu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36988336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ln>
            <a:miter lim="800000"/>
            <a:headEnd/>
            <a:tailEnd/>
          </a:ln>
        </p:spPr>
        <p:txBody>
          <a:bodyPr/>
          <a:lstStyle/>
          <a:p>
            <a:r>
              <a:rPr lang="en-US" altLang="zh-CN" sz="3600" dirty="0">
                <a:solidFill>
                  <a:srgbClr val="FF0000"/>
                </a:solidFill>
                <a:latin typeface="Gill Sans MT"/>
                <a:cs typeface="Times New Roman" pitchFamily="18" charset="0"/>
              </a:rPr>
              <a:t>Carry and Overflow Flags in CPSR</a:t>
            </a:r>
            <a:endParaRPr lang="en-US" sz="3600" dirty="0">
              <a:solidFill>
                <a:srgbClr val="FF0000"/>
              </a:solidFill>
            </a:endParaRPr>
          </a:p>
        </p:txBody>
      </p:sp>
      <p:sp>
        <p:nvSpPr>
          <p:cNvPr id="8" name="Slide Number Placeholder 3"/>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D56C4D0-D1DD-434F-9E39-17578F101405}" type="slidenum">
              <a:rPr kumimoji="0" lang="en-US" sz="1400" b="0" i="0" u="none" strike="noStrike" kern="1200" cap="none" spc="0" normalizeH="0" baseline="0" noProof="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400" b="0" i="0" u="none" strike="noStrike" kern="1200" cap="none" spc="0" normalizeH="0" baseline="0" noProof="0">
              <a:ln>
                <a:noFill/>
              </a:ln>
              <a:solidFill>
                <a:srgbClr val="1F497D"/>
              </a:solidFill>
              <a:effectLst/>
              <a:uLnTx/>
              <a:uFillTx/>
              <a:latin typeface="Gill Sans MT"/>
              <a:ea typeface="+mn-ea"/>
              <a:cs typeface="+mn-cs"/>
            </a:endParaRPr>
          </a:p>
        </p:txBody>
      </p:sp>
      <p:sp>
        <p:nvSpPr>
          <p:cNvPr id="323586" name="Date Placeholder 3"/>
          <p:cNvSpPr txBox="1">
            <a:spLocks noGrp="1"/>
          </p:cNvSpPr>
          <p:nvPr/>
        </p:nvSpPr>
        <p:spPr bwMode="auto">
          <a:xfrm>
            <a:off x="45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EEECE1"/>
              </a:solidFill>
              <a:effectLst/>
              <a:uLnTx/>
              <a:uFillTx/>
              <a:latin typeface="Arial" pitchFamily="34" charset="0"/>
              <a:ea typeface="+mn-ea"/>
              <a:cs typeface="+mn-cs"/>
            </a:endParaRPr>
          </a:p>
        </p:txBody>
      </p:sp>
      <p:sp>
        <p:nvSpPr>
          <p:cNvPr id="323587" name="Slide Number Placeholder 5"/>
          <p:cNvSpPr txBox="1">
            <a:spLocks noGrp="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433D14BE-FE52-4332-969F-3696FB65ED39}" type="slidenum">
              <a:rPr kumimoji="0" lang="en-US" sz="1400" b="0" i="0" u="none" strike="noStrike" kern="1200" cap="none" spc="0" normalizeH="0" baseline="0" noProof="0">
                <a:ln>
                  <a:noFill/>
                </a:ln>
                <a:solidFill>
                  <a:srgbClr val="EEECE1"/>
                </a:solidFill>
                <a:effectLst/>
                <a:uLnTx/>
                <a:uFillTx/>
                <a:latin typeface="Arial"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400" b="0" i="0" u="none" strike="noStrike" kern="1200" cap="none" spc="0" normalizeH="0" baseline="0" noProof="0">
              <a:ln>
                <a:noFill/>
              </a:ln>
              <a:solidFill>
                <a:srgbClr val="EEECE1"/>
              </a:solidFill>
              <a:effectLst/>
              <a:uLnTx/>
              <a:uFillTx/>
              <a:latin typeface="Arial" pitchFamily="34" charset="0"/>
              <a:ea typeface="+mn-ea"/>
              <a:cs typeface="+mn-cs"/>
            </a:endParaRPr>
          </a:p>
        </p:txBody>
      </p:sp>
      <p:graphicFrame>
        <p:nvGraphicFramePr>
          <p:cNvPr id="39012" name="Group 100"/>
          <p:cNvGraphicFramePr>
            <a:graphicFrameLocks noGrp="1"/>
          </p:cNvGraphicFramePr>
          <p:nvPr>
            <p:extLst>
              <p:ext uri="{D42A27DB-BD31-4B8C-83A1-F6EECF244321}">
                <p14:modId xmlns:p14="http://schemas.microsoft.com/office/powerpoint/2010/main" val="3099197988"/>
              </p:ext>
            </p:extLst>
          </p:nvPr>
        </p:nvGraphicFramePr>
        <p:xfrm>
          <a:off x="1947375" y="2856493"/>
          <a:ext cx="5715000" cy="2362201"/>
        </p:xfrm>
        <a:graphic>
          <a:graphicData uri="http://schemas.openxmlformats.org/drawingml/2006/table">
            <a:tbl>
              <a:tblPr>
                <a:tableStyleId>{BC89EF96-8CEA-46FF-86C4-4CE0E7609802}</a:tableStyleId>
              </a:tblPr>
              <a:tblGrid>
                <a:gridCol w="585788">
                  <a:extLst>
                    <a:ext uri="{9D8B030D-6E8A-4147-A177-3AD203B41FA5}">
                      <a16:colId xmlns:a16="http://schemas.microsoft.com/office/drawing/2014/main" val="20000"/>
                    </a:ext>
                  </a:extLst>
                </a:gridCol>
                <a:gridCol w="1279525">
                  <a:extLst>
                    <a:ext uri="{9D8B030D-6E8A-4147-A177-3AD203B41FA5}">
                      <a16:colId xmlns:a16="http://schemas.microsoft.com/office/drawing/2014/main" val="20001"/>
                    </a:ext>
                  </a:extLst>
                </a:gridCol>
                <a:gridCol w="3849687">
                  <a:extLst>
                    <a:ext uri="{9D8B030D-6E8A-4147-A177-3AD203B41FA5}">
                      <a16:colId xmlns:a16="http://schemas.microsoft.com/office/drawing/2014/main" val="20002"/>
                    </a:ext>
                  </a:extLst>
                </a:gridCol>
              </a:tblGrid>
              <a:tr h="47307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Bit</a:t>
                      </a:r>
                      <a:endParaRPr kumimoji="0" lang="en-US" sz="2000" b="1" i="0" u="none" strike="noStrike" cap="none" normalizeH="0" baseline="0" dirty="0">
                        <a:ln>
                          <a:noFill/>
                        </a:ln>
                        <a:solidFill>
                          <a:schemeClr val="tx1"/>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Name</a:t>
                      </a:r>
                      <a:endParaRPr kumimoji="0" lang="en-US" sz="2000" b="1" i="0" u="none" strike="noStrike" cap="none" normalizeH="0" baseline="0" dirty="0">
                        <a:ln>
                          <a:noFill/>
                        </a:ln>
                        <a:solidFill>
                          <a:schemeClr val="tx1"/>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Meaning after add or sub</a:t>
                      </a:r>
                      <a:endParaRPr kumimoji="0" lang="en-US" sz="2000" b="1" i="0" u="none" strike="noStrike" cap="none" normalizeH="0" baseline="0" dirty="0">
                        <a:ln>
                          <a:noFill/>
                        </a:ln>
                        <a:solidFill>
                          <a:schemeClr val="tx1"/>
                        </a:solidFill>
                        <a:effectLst/>
                        <a:latin typeface="+mn-lt"/>
                      </a:endParaRPr>
                    </a:p>
                  </a:txBody>
                  <a:tcPr horzOverflow="overflow"/>
                </a:tc>
                <a:extLst>
                  <a:ext uri="{0D108BD9-81ED-4DB2-BD59-A6C34878D82A}">
                    <a16:rowId xmlns:a16="http://schemas.microsoft.com/office/drawing/2014/main" val="10000"/>
                  </a:ext>
                </a:extLst>
              </a:tr>
              <a:tr h="47148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N</a:t>
                      </a:r>
                      <a:endParaRPr kumimoji="0" lang="en-US" sz="2000" b="0" i="0" u="none" strike="noStrike" cap="none" normalizeH="0" baseline="0">
                        <a:ln>
                          <a:noFill/>
                        </a:ln>
                        <a:solidFill>
                          <a:schemeClr val="tx1"/>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negative</a:t>
                      </a:r>
                      <a:endParaRPr kumimoji="0" lang="en-US" sz="2000" b="0" i="0" u="none" strike="noStrike" cap="none" normalizeH="0" baseline="0" dirty="0">
                        <a:ln>
                          <a:noFill/>
                        </a:ln>
                        <a:solidFill>
                          <a:schemeClr val="tx1"/>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result is negative</a:t>
                      </a:r>
                      <a:endParaRPr kumimoji="0" lang="en-US" sz="2000" b="0" i="0" u="none" strike="noStrike" cap="none" normalizeH="0" baseline="0">
                        <a:ln>
                          <a:noFill/>
                        </a:ln>
                        <a:solidFill>
                          <a:schemeClr val="tx1"/>
                        </a:solidFill>
                        <a:effectLst/>
                        <a:latin typeface="+mn-lt"/>
                      </a:endParaRPr>
                    </a:p>
                  </a:txBody>
                  <a:tcPr horzOverflow="overflow"/>
                </a:tc>
                <a:extLst>
                  <a:ext uri="{0D108BD9-81ED-4DB2-BD59-A6C34878D82A}">
                    <a16:rowId xmlns:a16="http://schemas.microsoft.com/office/drawing/2014/main" val="10001"/>
                  </a:ext>
                </a:extLst>
              </a:tr>
              <a:tr h="47307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Z</a:t>
                      </a:r>
                      <a:endParaRPr kumimoji="0" lang="en-US" sz="2000" b="0" i="0" u="none" strike="noStrike" cap="none" normalizeH="0" baseline="0">
                        <a:ln>
                          <a:noFill/>
                        </a:ln>
                        <a:solidFill>
                          <a:schemeClr val="tx1"/>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zero</a:t>
                      </a:r>
                      <a:endParaRPr kumimoji="0" lang="en-US" sz="2000" b="0" i="0" u="none" strike="noStrike" cap="none" normalizeH="0" baseline="0" dirty="0">
                        <a:ln>
                          <a:noFill/>
                        </a:ln>
                        <a:solidFill>
                          <a:schemeClr val="tx1"/>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result is zero</a:t>
                      </a:r>
                      <a:endParaRPr kumimoji="0" lang="en-US" sz="2000" b="0" i="0" u="none" strike="noStrike" cap="none" normalizeH="0" baseline="0">
                        <a:ln>
                          <a:noFill/>
                        </a:ln>
                        <a:solidFill>
                          <a:schemeClr val="tx1"/>
                        </a:solidFill>
                        <a:effectLst/>
                        <a:latin typeface="+mn-lt"/>
                      </a:endParaRPr>
                    </a:p>
                  </a:txBody>
                  <a:tcPr horzOverflow="overflow"/>
                </a:tc>
                <a:extLst>
                  <a:ext uri="{0D108BD9-81ED-4DB2-BD59-A6C34878D82A}">
                    <a16:rowId xmlns:a16="http://schemas.microsoft.com/office/drawing/2014/main" val="10002"/>
                  </a:ext>
                </a:extLst>
              </a:tr>
              <a:tr h="47148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solidFill>
                            <a:srgbClr val="FF0000"/>
                          </a:solidFill>
                          <a:effectLst/>
                        </a:rPr>
                        <a:t>V</a:t>
                      </a:r>
                      <a:endParaRPr kumimoji="0" lang="en-US" sz="2000" b="0" i="0" u="none" strike="noStrike" cap="none" normalizeH="0" baseline="0" dirty="0">
                        <a:ln>
                          <a:noFill/>
                        </a:ln>
                        <a:solidFill>
                          <a:srgbClr val="FF0000"/>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solidFill>
                            <a:srgbClr val="FF0000"/>
                          </a:solidFill>
                          <a:effectLst/>
                        </a:rPr>
                        <a:t>overflow</a:t>
                      </a:r>
                      <a:endParaRPr kumimoji="0" lang="en-US" sz="2000" b="0" i="0" u="none" strike="noStrike" cap="none" normalizeH="0" baseline="0" dirty="0">
                        <a:ln>
                          <a:noFill/>
                        </a:ln>
                        <a:solidFill>
                          <a:srgbClr val="FF0000"/>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solidFill>
                            <a:srgbClr val="FF0000"/>
                          </a:solidFill>
                          <a:effectLst/>
                        </a:rPr>
                        <a:t>signed overflow</a:t>
                      </a:r>
                      <a:endParaRPr kumimoji="0" lang="en-US" sz="2000" b="0" i="0" u="none" strike="noStrike" cap="none" normalizeH="0" baseline="0" dirty="0">
                        <a:ln>
                          <a:noFill/>
                        </a:ln>
                        <a:solidFill>
                          <a:srgbClr val="FF0000"/>
                        </a:solidFill>
                        <a:effectLst/>
                        <a:latin typeface="+mn-lt"/>
                      </a:endParaRPr>
                    </a:p>
                  </a:txBody>
                  <a:tcPr horzOverflow="overflow"/>
                </a:tc>
                <a:extLst>
                  <a:ext uri="{0D108BD9-81ED-4DB2-BD59-A6C34878D82A}">
                    <a16:rowId xmlns:a16="http://schemas.microsoft.com/office/drawing/2014/main" val="10003"/>
                  </a:ext>
                </a:extLst>
              </a:tr>
              <a:tr h="47307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solidFill>
                            <a:srgbClr val="FF0000"/>
                          </a:solidFill>
                          <a:effectLst/>
                        </a:rPr>
                        <a:t>C</a:t>
                      </a:r>
                      <a:endParaRPr kumimoji="0" lang="en-US" sz="2000" b="0" i="0" u="none" strike="noStrike" cap="none" normalizeH="0" baseline="0">
                        <a:ln>
                          <a:noFill/>
                        </a:ln>
                        <a:solidFill>
                          <a:srgbClr val="FF0000"/>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solidFill>
                            <a:srgbClr val="FF0000"/>
                          </a:solidFill>
                          <a:effectLst/>
                        </a:rPr>
                        <a:t>carry</a:t>
                      </a:r>
                      <a:endParaRPr kumimoji="0" lang="en-US" sz="2000" b="0" i="0" u="none" strike="noStrike" cap="none" normalizeH="0" baseline="0">
                        <a:ln>
                          <a:noFill/>
                        </a:ln>
                        <a:solidFill>
                          <a:srgbClr val="FF0000"/>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solidFill>
                            <a:srgbClr val="FF0000"/>
                          </a:solidFill>
                          <a:effectLst/>
                        </a:rPr>
                        <a:t>unsigned overflow</a:t>
                      </a:r>
                      <a:endParaRPr kumimoji="0" lang="en-US" sz="2000" b="0" i="0" u="none" strike="noStrike" cap="none" normalizeH="0" baseline="0" dirty="0">
                        <a:ln>
                          <a:noFill/>
                        </a:ln>
                        <a:solidFill>
                          <a:srgbClr val="FF0000"/>
                        </a:solidFill>
                        <a:effectLst/>
                        <a:latin typeface="+mn-lt"/>
                      </a:endParaRPr>
                    </a:p>
                  </a:txBody>
                  <a:tcPr horzOverflow="overflow"/>
                </a:tc>
                <a:extLst>
                  <a:ext uri="{0D108BD9-81ED-4DB2-BD59-A6C34878D82A}">
                    <a16:rowId xmlns:a16="http://schemas.microsoft.com/office/drawing/2014/main" val="10004"/>
                  </a:ext>
                </a:extLst>
              </a:tr>
            </a:tbl>
          </a:graphicData>
        </a:graphic>
      </p:graphicFrame>
      <p:sp>
        <p:nvSpPr>
          <p:cNvPr id="17" name="Rectangle 20"/>
          <p:cNvSpPr>
            <a:spLocks noChangeArrowheads="1"/>
          </p:cNvSpPr>
          <p:nvPr/>
        </p:nvSpPr>
        <p:spPr bwMode="auto">
          <a:xfrm>
            <a:off x="3340970" y="1582989"/>
            <a:ext cx="1943100" cy="400050"/>
          </a:xfrm>
          <a:prstGeom prst="rect">
            <a:avLst/>
          </a:prstGeom>
          <a:solidFill>
            <a:srgbClr val="FFFF00"/>
          </a:solidFill>
          <a:ln w="12700">
            <a:solidFill>
              <a:schemeClr val="tx1"/>
            </a:solidFill>
            <a:miter lim="800000"/>
            <a:headEnd type="none" w="sm" len="sm"/>
            <a:tailEnd type="none" w="sm" len="sm"/>
          </a:ln>
        </p:spPr>
        <p:txBody>
          <a:bodyPr wrap="none" anchor="ctr"/>
          <a:lstStyle/>
          <a:p>
            <a:pPr algn="ctr" defTabSz="342900" eaLnBrk="1" fontAlgn="auto" hangingPunct="1">
              <a:spcBef>
                <a:spcPts val="0"/>
              </a:spcBef>
              <a:spcAft>
                <a:spcPts val="0"/>
              </a:spcAft>
            </a:pPr>
            <a:endParaRPr lang="en-US" sz="1350" b="0" dirty="0">
              <a:solidFill>
                <a:prstClr val="black"/>
              </a:solidFill>
              <a:latin typeface="Calibri"/>
            </a:endParaRPr>
          </a:p>
        </p:txBody>
      </p:sp>
      <p:sp>
        <p:nvSpPr>
          <p:cNvPr id="18" name="Text Box 21"/>
          <p:cNvSpPr txBox="1">
            <a:spLocks noChangeArrowheads="1"/>
          </p:cNvSpPr>
          <p:nvPr/>
        </p:nvSpPr>
        <p:spPr bwMode="auto">
          <a:xfrm>
            <a:off x="3271914" y="1344194"/>
            <a:ext cx="380232" cy="323165"/>
          </a:xfrm>
          <a:prstGeom prst="rect">
            <a:avLst/>
          </a:prstGeom>
          <a:noFill/>
          <a:ln w="12700">
            <a:noFill/>
            <a:miter lim="800000"/>
            <a:headEnd type="none" w="sm" len="sm"/>
            <a:tailEnd type="none" w="sm" len="sm"/>
          </a:ln>
        </p:spPr>
        <p:txBody>
          <a:bodyPr wrap="none">
            <a:spAutoFit/>
          </a:bodyPr>
          <a:lstStyle/>
          <a:p>
            <a:pPr defTabSz="342900" eaLnBrk="1" fontAlgn="auto" hangingPunct="1">
              <a:spcBef>
                <a:spcPts val="0"/>
              </a:spcBef>
              <a:spcAft>
                <a:spcPts val="0"/>
              </a:spcAft>
            </a:pPr>
            <a:r>
              <a:rPr lang="en-US" sz="1500" b="0">
                <a:solidFill>
                  <a:prstClr val="black"/>
                </a:solidFill>
                <a:latin typeface="Calibri"/>
              </a:rPr>
              <a:t>31</a:t>
            </a:r>
          </a:p>
        </p:txBody>
      </p:sp>
      <p:sp>
        <p:nvSpPr>
          <p:cNvPr id="19" name="Text Box 22"/>
          <p:cNvSpPr txBox="1">
            <a:spLocks noChangeArrowheads="1"/>
          </p:cNvSpPr>
          <p:nvPr/>
        </p:nvSpPr>
        <p:spPr bwMode="auto">
          <a:xfrm>
            <a:off x="4998320" y="1333478"/>
            <a:ext cx="282450" cy="323165"/>
          </a:xfrm>
          <a:prstGeom prst="rect">
            <a:avLst/>
          </a:prstGeom>
          <a:noFill/>
          <a:ln w="12700">
            <a:noFill/>
            <a:miter lim="800000"/>
            <a:headEnd type="none" w="sm" len="sm"/>
            <a:tailEnd type="none" w="sm" len="sm"/>
          </a:ln>
        </p:spPr>
        <p:txBody>
          <a:bodyPr wrap="none">
            <a:spAutoFit/>
          </a:bodyPr>
          <a:lstStyle/>
          <a:p>
            <a:pPr defTabSz="342900" eaLnBrk="1" fontAlgn="auto" hangingPunct="1">
              <a:spcBef>
                <a:spcPts val="0"/>
              </a:spcBef>
              <a:spcAft>
                <a:spcPts val="0"/>
              </a:spcAft>
            </a:pPr>
            <a:r>
              <a:rPr lang="en-US" sz="1500" b="0" dirty="0">
                <a:solidFill>
                  <a:prstClr val="black"/>
                </a:solidFill>
                <a:latin typeface="Calibri"/>
              </a:rPr>
              <a:t>0</a:t>
            </a:r>
          </a:p>
        </p:txBody>
      </p:sp>
      <p:sp>
        <p:nvSpPr>
          <p:cNvPr id="20" name="Rectangle 19"/>
          <p:cNvSpPr/>
          <p:nvPr/>
        </p:nvSpPr>
        <p:spPr>
          <a:xfrm>
            <a:off x="3340970" y="1582989"/>
            <a:ext cx="159741" cy="39977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defTabSz="342900" eaLnBrk="1" fontAlgn="auto" hangingPunct="1">
              <a:spcBef>
                <a:spcPts val="0"/>
              </a:spcBef>
              <a:spcAft>
                <a:spcPts val="0"/>
              </a:spcAft>
            </a:pPr>
            <a:r>
              <a:rPr lang="en-US" sz="1350" b="0" dirty="0">
                <a:solidFill>
                  <a:prstClr val="black"/>
                </a:solidFill>
                <a:latin typeface="Calibri"/>
              </a:rPr>
              <a:t>N</a:t>
            </a:r>
          </a:p>
        </p:txBody>
      </p:sp>
      <p:sp>
        <p:nvSpPr>
          <p:cNvPr id="21" name="Rectangle 20"/>
          <p:cNvSpPr/>
          <p:nvPr/>
        </p:nvSpPr>
        <p:spPr>
          <a:xfrm>
            <a:off x="3503092" y="1582711"/>
            <a:ext cx="159741" cy="39977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defTabSz="342900" eaLnBrk="1" fontAlgn="auto" hangingPunct="1">
              <a:spcBef>
                <a:spcPts val="0"/>
              </a:spcBef>
              <a:spcAft>
                <a:spcPts val="0"/>
              </a:spcAft>
            </a:pPr>
            <a:r>
              <a:rPr lang="en-US" sz="1350" b="0" dirty="0">
                <a:solidFill>
                  <a:prstClr val="black"/>
                </a:solidFill>
                <a:latin typeface="Calibri"/>
              </a:rPr>
              <a:t>Z</a:t>
            </a:r>
          </a:p>
        </p:txBody>
      </p:sp>
      <p:sp>
        <p:nvSpPr>
          <p:cNvPr id="22" name="Rectangle 21"/>
          <p:cNvSpPr/>
          <p:nvPr/>
        </p:nvSpPr>
        <p:spPr>
          <a:xfrm>
            <a:off x="3665215" y="1582154"/>
            <a:ext cx="159741" cy="39977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defTabSz="342900" eaLnBrk="1" fontAlgn="auto" hangingPunct="1">
              <a:spcBef>
                <a:spcPts val="0"/>
              </a:spcBef>
              <a:spcAft>
                <a:spcPts val="0"/>
              </a:spcAft>
            </a:pPr>
            <a:r>
              <a:rPr lang="en-US" sz="1350" b="0" dirty="0">
                <a:solidFill>
                  <a:prstClr val="black"/>
                </a:solidFill>
                <a:latin typeface="Calibri"/>
              </a:rPr>
              <a:t>C</a:t>
            </a:r>
          </a:p>
        </p:txBody>
      </p:sp>
      <p:sp>
        <p:nvSpPr>
          <p:cNvPr id="23" name="Rectangle 22"/>
          <p:cNvSpPr/>
          <p:nvPr/>
        </p:nvSpPr>
        <p:spPr>
          <a:xfrm>
            <a:off x="3824956" y="1582153"/>
            <a:ext cx="159741" cy="39977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defTabSz="342900" eaLnBrk="1" fontAlgn="auto" hangingPunct="1">
              <a:spcBef>
                <a:spcPts val="0"/>
              </a:spcBef>
              <a:spcAft>
                <a:spcPts val="0"/>
              </a:spcAft>
            </a:pPr>
            <a:r>
              <a:rPr lang="en-US" sz="1350" b="0" dirty="0">
                <a:solidFill>
                  <a:prstClr val="black"/>
                </a:solidFill>
                <a:latin typeface="Calibri"/>
              </a:rPr>
              <a:t>V</a:t>
            </a:r>
          </a:p>
        </p:txBody>
      </p:sp>
      <p:sp>
        <p:nvSpPr>
          <p:cNvPr id="24" name="Rectangle 23"/>
          <p:cNvSpPr/>
          <p:nvPr/>
        </p:nvSpPr>
        <p:spPr>
          <a:xfrm>
            <a:off x="2878666" y="2017568"/>
            <a:ext cx="2941896" cy="300082"/>
          </a:xfrm>
          <a:prstGeom prst="rect">
            <a:avLst/>
          </a:prstGeom>
        </p:spPr>
        <p:txBody>
          <a:bodyPr wrap="none">
            <a:spAutoFit/>
          </a:bodyPr>
          <a:lstStyle/>
          <a:p>
            <a:pPr defTabSz="342900" eaLnBrk="1" fontAlgn="auto" hangingPunct="1">
              <a:spcBef>
                <a:spcPts val="0"/>
              </a:spcBef>
              <a:spcAft>
                <a:spcPts val="0"/>
              </a:spcAft>
            </a:pPr>
            <a:r>
              <a:rPr lang="en-US" sz="1350" b="0" dirty="0">
                <a:solidFill>
                  <a:prstClr val="black"/>
                </a:solidFill>
                <a:latin typeface="Calibri"/>
              </a:rPr>
              <a:t>CPSR (Current Program Status Register)</a:t>
            </a:r>
          </a:p>
        </p:txBody>
      </p:sp>
    </p:spTree>
    <p:extLst>
      <p:ext uri="{BB962C8B-B14F-4D97-AF65-F5344CB8AC3E}">
        <p14:creationId xmlns:p14="http://schemas.microsoft.com/office/powerpoint/2010/main" val="16740932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ln>
            <a:miter lim="800000"/>
            <a:headEnd/>
            <a:tailEnd/>
          </a:ln>
        </p:spPr>
        <p:txBody>
          <a:bodyPr/>
          <a:lstStyle/>
          <a:p>
            <a:r>
              <a:rPr lang="en-US" sz="3600" dirty="0">
                <a:solidFill>
                  <a:srgbClr val="FF0000"/>
                </a:solidFill>
                <a:latin typeface="Gill Sans MT"/>
                <a:cs typeface="Times New Roman" pitchFamily="18" charset="0"/>
              </a:rPr>
              <a:t>Summary of Carry and Overflow Flags</a:t>
            </a:r>
            <a:endParaRPr lang="en-US" sz="3600" dirty="0">
              <a:solidFill>
                <a:srgbClr val="FF0000"/>
              </a:solidFill>
            </a:endParaRPr>
          </a:p>
        </p:txBody>
      </p:sp>
      <p:sp>
        <p:nvSpPr>
          <p:cNvPr id="8" name="Slide Number Placeholder 3"/>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D56C4D0-D1DD-434F-9E39-17578F101405}" type="slidenum">
              <a:rPr kumimoji="0" lang="en-US" sz="1400" b="0" i="0" u="none" strike="noStrike" kern="1200" cap="none" spc="0" normalizeH="0" baseline="0" noProof="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400" b="0" i="0" u="none" strike="noStrike" kern="1200" cap="none" spc="0" normalizeH="0" baseline="0" noProof="0">
              <a:ln>
                <a:noFill/>
              </a:ln>
              <a:solidFill>
                <a:srgbClr val="1F497D"/>
              </a:solidFill>
              <a:effectLst/>
              <a:uLnTx/>
              <a:uFillTx/>
              <a:latin typeface="Gill Sans MT"/>
              <a:ea typeface="+mn-ea"/>
              <a:cs typeface="+mn-cs"/>
            </a:endParaRPr>
          </a:p>
        </p:txBody>
      </p:sp>
      <p:sp>
        <p:nvSpPr>
          <p:cNvPr id="323586" name="Date Placeholder 3"/>
          <p:cNvSpPr txBox="1">
            <a:spLocks noGrp="1"/>
          </p:cNvSpPr>
          <p:nvPr/>
        </p:nvSpPr>
        <p:spPr bwMode="auto">
          <a:xfrm>
            <a:off x="45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EEECE1"/>
              </a:solidFill>
              <a:effectLst/>
              <a:uLnTx/>
              <a:uFillTx/>
              <a:latin typeface="Arial" pitchFamily="34" charset="0"/>
              <a:ea typeface="+mn-ea"/>
              <a:cs typeface="+mn-cs"/>
            </a:endParaRPr>
          </a:p>
        </p:txBody>
      </p:sp>
      <p:sp>
        <p:nvSpPr>
          <p:cNvPr id="323587" name="Slide Number Placeholder 5"/>
          <p:cNvSpPr txBox="1">
            <a:spLocks noGrp="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433D14BE-FE52-4332-969F-3696FB65ED39}" type="slidenum">
              <a:rPr kumimoji="0" lang="en-US" sz="1400" b="0" i="0" u="none" strike="noStrike" kern="1200" cap="none" spc="0" normalizeH="0" baseline="0" noProof="0">
                <a:ln>
                  <a:noFill/>
                </a:ln>
                <a:solidFill>
                  <a:srgbClr val="EEECE1"/>
                </a:solidFill>
                <a:effectLst/>
                <a:uLnTx/>
                <a:uFillTx/>
                <a:latin typeface="Arial"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400" b="0" i="0" u="none" strike="noStrike" kern="1200" cap="none" spc="0" normalizeH="0" baseline="0" noProof="0">
              <a:ln>
                <a:noFill/>
              </a:ln>
              <a:solidFill>
                <a:srgbClr val="EEECE1"/>
              </a:solidFill>
              <a:effectLst/>
              <a:uLnTx/>
              <a:uFillTx/>
              <a:latin typeface="Arial" pitchFamily="34" charset="0"/>
              <a:ea typeface="+mn-ea"/>
              <a:cs typeface="+mn-cs"/>
            </a:endParaRPr>
          </a:p>
        </p:txBody>
      </p:sp>
      <p:sp>
        <p:nvSpPr>
          <p:cNvPr id="38917" name="Rectangle 5"/>
          <p:cNvSpPr>
            <a:spLocks noChangeArrowheads="1"/>
          </p:cNvSpPr>
          <p:nvPr/>
        </p:nvSpPr>
        <p:spPr bwMode="auto">
          <a:xfrm>
            <a:off x="609600" y="1186370"/>
            <a:ext cx="8083550" cy="2354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prstClr val="black"/>
              </a:solidFill>
              <a:effectLst/>
              <a:uLnTx/>
              <a:uFillTx/>
              <a:latin typeface="Gill Sans MT"/>
              <a:ea typeface="+mn-ea"/>
              <a:cs typeface="+mn-cs"/>
            </a:endParaRPr>
          </a:p>
          <a:p>
            <a:pPr lvl="0" fontAlgn="auto">
              <a:spcBef>
                <a:spcPts val="0"/>
              </a:spcBef>
              <a:spcAft>
                <a:spcPts val="0"/>
              </a:spcAft>
              <a:defRPr/>
            </a:pPr>
            <a:r>
              <a:rPr kumimoji="0" lang="en-US" b="0" i="0" u="none" strike="noStrike" kern="1200" cap="none" spc="0" normalizeH="0" baseline="0" noProof="0" dirty="0">
                <a:ln>
                  <a:noFill/>
                </a:ln>
                <a:solidFill>
                  <a:prstClr val="black"/>
                </a:solidFill>
                <a:effectLst/>
                <a:uLnTx/>
                <a:uFillTx/>
                <a:latin typeface="Gill Sans MT"/>
                <a:cs typeface="Times New Roman" pitchFamily="18" charset="0"/>
              </a:rPr>
              <a:t>Carry flag C = 1 </a:t>
            </a:r>
            <a:r>
              <a:rPr lang="en-US" b="0" dirty="0">
                <a:solidFill>
                  <a:prstClr val="black"/>
                </a:solidFill>
                <a:latin typeface="Gill Sans MT"/>
              </a:rPr>
              <a:t>(Borrow flag = 0) </a:t>
            </a:r>
            <a:r>
              <a:rPr kumimoji="0" lang="en-US" b="0" i="0" u="none" strike="noStrike" kern="1200" cap="none" spc="0" normalizeH="0" baseline="0" noProof="0" dirty="0">
                <a:ln>
                  <a:noFill/>
                </a:ln>
                <a:solidFill>
                  <a:prstClr val="black"/>
                </a:solidFill>
                <a:effectLst/>
                <a:uLnTx/>
                <a:uFillTx/>
                <a:latin typeface="Gill Sans MT"/>
                <a:cs typeface="Times New Roman" pitchFamily="18" charset="0"/>
              </a:rPr>
              <a:t>upon an </a:t>
            </a:r>
            <a:r>
              <a:rPr kumimoji="0" lang="en-US" b="1" i="0" u="sng" strike="noStrike" kern="1200" cap="none" spc="0" normalizeH="0" baseline="0" noProof="0" dirty="0">
                <a:ln>
                  <a:noFill/>
                </a:ln>
                <a:solidFill>
                  <a:srgbClr val="800000"/>
                </a:solidFill>
                <a:effectLst/>
                <a:uLnTx/>
                <a:uFillTx/>
                <a:latin typeface="Gill Sans MT"/>
                <a:cs typeface="Times New Roman" pitchFamily="18" charset="0"/>
              </a:rPr>
              <a:t>unsigned</a:t>
            </a:r>
            <a:r>
              <a:rPr kumimoji="0" lang="en-US" b="0" i="0" u="none" strike="noStrike" kern="1200" cap="none" spc="0" normalizeH="0" baseline="0" noProof="0" dirty="0">
                <a:ln>
                  <a:noFill/>
                </a:ln>
                <a:solidFill>
                  <a:prstClr val="black"/>
                </a:solidFill>
                <a:effectLst/>
                <a:uLnTx/>
                <a:uFillTx/>
                <a:latin typeface="Gill Sans MT"/>
                <a:cs typeface="Times New Roman" pitchFamily="18" charset="0"/>
              </a:rPr>
              <a:t> addition if the answer is wrong (true result &gt; 2</a:t>
            </a:r>
            <a:r>
              <a:rPr kumimoji="0" lang="en-US" b="0" i="0" u="none" strike="noStrike" kern="1200" cap="none" spc="0" normalizeH="0" baseline="30000" noProof="0" dirty="0">
                <a:ln>
                  <a:noFill/>
                </a:ln>
                <a:solidFill>
                  <a:prstClr val="black"/>
                </a:solidFill>
                <a:effectLst/>
                <a:uLnTx/>
                <a:uFillTx/>
                <a:latin typeface="Gill Sans MT"/>
                <a:cs typeface="Times New Roman" pitchFamily="18" charset="0"/>
              </a:rPr>
              <a:t>n</a:t>
            </a:r>
            <a:r>
              <a:rPr kumimoji="0" lang="en-US" b="0" i="0" u="none" strike="noStrike" kern="1200" cap="none" spc="0" normalizeH="0" baseline="0" noProof="0" dirty="0">
                <a:ln>
                  <a:noFill/>
                </a:ln>
                <a:solidFill>
                  <a:prstClr val="black"/>
                </a:solidFill>
                <a:effectLst/>
                <a:uLnTx/>
                <a:uFillTx/>
                <a:latin typeface="Gill Sans MT"/>
                <a:cs typeface="Times New Roman" pitchFamily="18" charset="0"/>
              </a:rPr>
              <a:t>-1)</a:t>
            </a:r>
          </a:p>
          <a:p>
            <a:pPr lvl="0" fontAlgn="auto">
              <a:spcBef>
                <a:spcPts val="0"/>
              </a:spcBef>
              <a:spcAft>
                <a:spcPts val="0"/>
              </a:spcAft>
            </a:pPr>
            <a:r>
              <a:rPr lang="en-US" b="0" dirty="0">
                <a:solidFill>
                  <a:prstClr val="black"/>
                </a:solidFill>
                <a:latin typeface="Gill Sans MT"/>
                <a:cs typeface="Times New Roman" pitchFamily="18" charset="0"/>
              </a:rPr>
              <a:t>Carry flag </a:t>
            </a:r>
            <a:r>
              <a:rPr lang="en-US" b="0" dirty="0">
                <a:solidFill>
                  <a:prstClr val="black"/>
                </a:solidFill>
                <a:latin typeface="Gill Sans MT"/>
              </a:rPr>
              <a:t>C = 0 (Borrow flag = 1) </a:t>
            </a:r>
            <a:r>
              <a:rPr lang="en-US" b="0" dirty="0">
                <a:solidFill>
                  <a:prstClr val="black"/>
                </a:solidFill>
                <a:latin typeface="Gill Sans MT"/>
                <a:cs typeface="Times New Roman" pitchFamily="18" charset="0"/>
              </a:rPr>
              <a:t>upon </a:t>
            </a:r>
            <a:r>
              <a:rPr lang="en-US" b="0" dirty="0">
                <a:solidFill>
                  <a:prstClr val="black"/>
                </a:solidFill>
                <a:latin typeface="Gill Sans MT"/>
              </a:rPr>
              <a:t>an </a:t>
            </a:r>
            <a:r>
              <a:rPr lang="en-US" u="sng" dirty="0">
                <a:solidFill>
                  <a:srgbClr val="800000"/>
                </a:solidFill>
                <a:latin typeface="Gill Sans MT"/>
              </a:rPr>
              <a:t>unsigned</a:t>
            </a:r>
            <a:r>
              <a:rPr lang="en-US" b="0" dirty="0">
                <a:solidFill>
                  <a:prstClr val="black"/>
                </a:solidFill>
                <a:latin typeface="Gill Sans MT"/>
              </a:rPr>
              <a:t> subtraction </a:t>
            </a:r>
            <a:r>
              <a:rPr lang="en-US" b="0" dirty="0">
                <a:solidFill>
                  <a:prstClr val="black"/>
                </a:solidFill>
                <a:latin typeface="Gill Sans MT"/>
                <a:cs typeface="Times New Roman" pitchFamily="18" charset="0"/>
              </a:rPr>
              <a:t>if the answer is wrong </a:t>
            </a:r>
            <a:r>
              <a:rPr lang="en-US" b="0" dirty="0">
                <a:solidFill>
                  <a:prstClr val="black"/>
                </a:solidFill>
                <a:latin typeface="Gill Sans MT"/>
              </a:rPr>
              <a:t> (</a:t>
            </a:r>
            <a:r>
              <a:rPr lang="en-US" b="0" dirty="0">
                <a:solidFill>
                  <a:prstClr val="black"/>
                </a:solidFill>
                <a:latin typeface="Gill Sans MT"/>
                <a:cs typeface="Times New Roman" pitchFamily="18" charset="0"/>
              </a:rPr>
              <a:t>true result &lt; 0)</a:t>
            </a:r>
            <a:endParaRPr lang="en-US" sz="700" b="0" dirty="0">
              <a:solidFill>
                <a:prstClr val="black"/>
              </a:solidFill>
              <a:latin typeface="Gill Sans MT"/>
            </a:endParaRPr>
          </a:p>
          <a:p>
            <a:pPr lvl="0" fontAlgn="auto">
              <a:spcBef>
                <a:spcPts val="0"/>
              </a:spcBef>
              <a:spcAft>
                <a:spcPts val="0"/>
              </a:spcAft>
              <a:defRPr/>
            </a:pPr>
            <a:r>
              <a:rPr kumimoji="0" lang="en-US" b="0" i="0" u="none" strike="noStrike" kern="1200" cap="none" spc="0" normalizeH="0" baseline="0" noProof="0" dirty="0">
                <a:ln>
                  <a:noFill/>
                </a:ln>
                <a:solidFill>
                  <a:prstClr val="black"/>
                </a:solidFill>
                <a:effectLst/>
                <a:uLnTx/>
                <a:uFillTx/>
                <a:latin typeface="Gill Sans MT"/>
                <a:cs typeface="Times New Roman" pitchFamily="18" charset="0"/>
              </a:rPr>
              <a:t>Overflow</a:t>
            </a:r>
            <a:r>
              <a:rPr kumimoji="0" lang="en-US" b="0" i="0" u="none" strike="noStrike" kern="1200" cap="none" spc="0" normalizeH="0" noProof="0" dirty="0">
                <a:ln>
                  <a:noFill/>
                </a:ln>
                <a:solidFill>
                  <a:prstClr val="black"/>
                </a:solidFill>
                <a:effectLst/>
                <a:uLnTx/>
                <a:uFillTx/>
                <a:latin typeface="Gill Sans MT"/>
                <a:cs typeface="Times New Roman" pitchFamily="18" charset="0"/>
              </a:rPr>
              <a:t> flag </a:t>
            </a:r>
            <a:r>
              <a:rPr kumimoji="0" lang="en-US" b="0" i="0" u="none" strike="noStrike" kern="1200" cap="none" spc="0" normalizeH="0" baseline="0" noProof="0" dirty="0">
                <a:ln>
                  <a:noFill/>
                </a:ln>
                <a:solidFill>
                  <a:prstClr val="black"/>
                </a:solidFill>
                <a:effectLst/>
                <a:uLnTx/>
                <a:uFillTx/>
                <a:latin typeface="Gill Sans MT"/>
                <a:cs typeface="Times New Roman" pitchFamily="18" charset="0"/>
              </a:rPr>
              <a:t>V =1 upon a </a:t>
            </a:r>
            <a:r>
              <a:rPr kumimoji="0" lang="en-US" b="1" i="0" u="sng" strike="noStrike" kern="1200" cap="none" spc="0" normalizeH="0" baseline="0" noProof="0" dirty="0">
                <a:ln>
                  <a:noFill/>
                </a:ln>
                <a:solidFill>
                  <a:srgbClr val="800000"/>
                </a:solidFill>
                <a:effectLst/>
                <a:uLnTx/>
                <a:uFillTx/>
                <a:latin typeface="Gill Sans MT"/>
                <a:cs typeface="Times New Roman" pitchFamily="18" charset="0"/>
              </a:rPr>
              <a:t>signed</a:t>
            </a:r>
            <a:r>
              <a:rPr kumimoji="0" lang="en-US" b="0" i="0" u="none" strike="noStrike" kern="1200" cap="none" spc="0" normalizeH="0" baseline="0" noProof="0" dirty="0">
                <a:ln>
                  <a:noFill/>
                </a:ln>
                <a:solidFill>
                  <a:prstClr val="black"/>
                </a:solidFill>
                <a:effectLst/>
                <a:uLnTx/>
                <a:uFillTx/>
                <a:latin typeface="Gill Sans MT"/>
                <a:cs typeface="Times New Roman" pitchFamily="18" charset="0"/>
              </a:rPr>
              <a:t> addition or subtraction</a:t>
            </a:r>
            <a:r>
              <a:rPr kumimoji="0" lang="en-US" b="0" i="0" u="none" strike="noStrike" kern="1200" cap="none" spc="0" normalizeH="0" noProof="0" dirty="0">
                <a:ln>
                  <a:noFill/>
                </a:ln>
                <a:solidFill>
                  <a:prstClr val="black"/>
                </a:solidFill>
                <a:effectLst/>
                <a:uLnTx/>
                <a:uFillTx/>
                <a:latin typeface="Gill Sans MT"/>
                <a:cs typeface="Times New Roman" pitchFamily="18" charset="0"/>
              </a:rPr>
              <a:t> </a:t>
            </a:r>
            <a:r>
              <a:rPr lang="en-US" b="0" dirty="0">
                <a:solidFill>
                  <a:prstClr val="black"/>
                </a:solidFill>
                <a:latin typeface="Gill Sans MT"/>
                <a:cs typeface="Times New Roman" pitchFamily="18" charset="0"/>
              </a:rPr>
              <a:t>if the answer is wrong (true result &gt; 2</a:t>
            </a:r>
            <a:r>
              <a:rPr lang="en-US" b="0" baseline="30000" dirty="0">
                <a:solidFill>
                  <a:prstClr val="black"/>
                </a:solidFill>
                <a:latin typeface="Gill Sans MT"/>
                <a:cs typeface="Times New Roman" pitchFamily="18" charset="0"/>
              </a:rPr>
              <a:t>n</a:t>
            </a:r>
            <a:r>
              <a:rPr lang="en-US" altLang="zh-CN" b="0" baseline="30000" dirty="0">
                <a:solidFill>
                  <a:prstClr val="black"/>
                </a:solidFill>
                <a:latin typeface="Gill Sans MT"/>
                <a:cs typeface="Times New Roman" pitchFamily="18" charset="0"/>
              </a:rPr>
              <a:t>-1</a:t>
            </a:r>
            <a:r>
              <a:rPr lang="en-US" b="0" dirty="0">
                <a:solidFill>
                  <a:prstClr val="black"/>
                </a:solidFill>
                <a:latin typeface="Gill Sans MT"/>
                <a:cs typeface="Times New Roman" pitchFamily="18" charset="0"/>
              </a:rPr>
              <a:t>-1 </a:t>
            </a:r>
            <a:r>
              <a:rPr lang="en-US" altLang="zh-CN" b="0" dirty="0">
                <a:solidFill>
                  <a:prstClr val="black"/>
                </a:solidFill>
                <a:latin typeface="Gill Sans MT"/>
                <a:cs typeface="Times New Roman" pitchFamily="18" charset="0"/>
              </a:rPr>
              <a:t>or true result &lt; -</a:t>
            </a:r>
            <a:r>
              <a:rPr lang="en-US" b="0" dirty="0">
                <a:solidFill>
                  <a:prstClr val="black"/>
                </a:solidFill>
                <a:latin typeface="Gill Sans MT"/>
                <a:cs typeface="Times New Roman" pitchFamily="18" charset="0"/>
              </a:rPr>
              <a:t>2</a:t>
            </a:r>
            <a:r>
              <a:rPr lang="en-US" b="0" baseline="30000" dirty="0">
                <a:solidFill>
                  <a:prstClr val="black"/>
                </a:solidFill>
                <a:latin typeface="Gill Sans MT"/>
                <a:cs typeface="Times New Roman" pitchFamily="18" charset="0"/>
              </a:rPr>
              <a:t>n</a:t>
            </a:r>
            <a:r>
              <a:rPr lang="en-US" altLang="zh-CN" b="0" baseline="30000" dirty="0">
                <a:solidFill>
                  <a:prstClr val="black"/>
                </a:solidFill>
                <a:latin typeface="Gill Sans MT"/>
                <a:cs typeface="Times New Roman" pitchFamily="18" charset="0"/>
              </a:rPr>
              <a:t>-1</a:t>
            </a:r>
            <a:r>
              <a:rPr lang="en-US" altLang="zh-CN" b="0" dirty="0">
                <a:solidFill>
                  <a:prstClr val="black"/>
                </a:solidFill>
                <a:latin typeface="Gill Sans MT"/>
                <a:cs typeface="Times New Roman" pitchFamily="18" charset="0"/>
              </a:rPr>
              <a:t>)</a:t>
            </a:r>
            <a:endParaRPr kumimoji="0" lang="en-US" b="0" i="0" u="none" strike="noStrike" kern="1200" cap="none" spc="0" normalizeH="0" noProof="0" dirty="0">
              <a:ln>
                <a:noFill/>
              </a:ln>
              <a:solidFill>
                <a:prstClr val="black"/>
              </a:solidFill>
              <a:effectLst/>
              <a:uLnTx/>
              <a:uFillTx/>
              <a:latin typeface="Gill Sans MT"/>
              <a:cs typeface="Times New Roman" pitchFamily="18" charset="0"/>
            </a:endParaRPr>
          </a:p>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solidFill>
                <a:prstClr val="black"/>
              </a:solidFill>
              <a:effectLst/>
              <a:uLnTx/>
              <a:uFillTx/>
              <a:latin typeface="Gill Sans MT"/>
              <a:cs typeface="Times New Roman" pitchFamily="18" charset="0"/>
            </a:endParaRPr>
          </a:p>
        </p:txBody>
      </p:sp>
      <p:graphicFrame>
        <p:nvGraphicFramePr>
          <p:cNvPr id="2" name="Table 1"/>
          <p:cNvGraphicFramePr>
            <a:graphicFrameLocks noGrp="1"/>
          </p:cNvGraphicFramePr>
          <p:nvPr>
            <p:extLst>
              <p:ext uri="{D42A27DB-BD31-4B8C-83A1-F6EECF244321}">
                <p14:modId xmlns:p14="http://schemas.microsoft.com/office/powerpoint/2010/main" val="909072919"/>
              </p:ext>
            </p:extLst>
          </p:nvPr>
        </p:nvGraphicFramePr>
        <p:xfrm>
          <a:off x="722600" y="3651985"/>
          <a:ext cx="7337502" cy="2531738"/>
        </p:xfrm>
        <a:graphic>
          <a:graphicData uri="http://schemas.openxmlformats.org/drawingml/2006/table">
            <a:tbl>
              <a:tblPr firstRow="1" firstCol="1" bandRow="1">
                <a:tableStyleId>{5C22544A-7EE6-4342-B048-85BDC9FD1C3A}</a:tableStyleId>
              </a:tblPr>
              <a:tblGrid>
                <a:gridCol w="1592393">
                  <a:extLst>
                    <a:ext uri="{9D8B030D-6E8A-4147-A177-3AD203B41FA5}">
                      <a16:colId xmlns:a16="http://schemas.microsoft.com/office/drawing/2014/main" val="3449689791"/>
                    </a:ext>
                  </a:extLst>
                </a:gridCol>
                <a:gridCol w="1909089">
                  <a:extLst>
                    <a:ext uri="{9D8B030D-6E8A-4147-A177-3AD203B41FA5}">
                      <a16:colId xmlns:a16="http://schemas.microsoft.com/office/drawing/2014/main" val="2443800576"/>
                    </a:ext>
                  </a:extLst>
                </a:gridCol>
                <a:gridCol w="1806499">
                  <a:extLst>
                    <a:ext uri="{9D8B030D-6E8A-4147-A177-3AD203B41FA5}">
                      <a16:colId xmlns:a16="http://schemas.microsoft.com/office/drawing/2014/main" val="1711257944"/>
                    </a:ext>
                  </a:extLst>
                </a:gridCol>
                <a:gridCol w="2029521">
                  <a:extLst>
                    <a:ext uri="{9D8B030D-6E8A-4147-A177-3AD203B41FA5}">
                      <a16:colId xmlns:a16="http://schemas.microsoft.com/office/drawing/2014/main" val="3663234745"/>
                    </a:ext>
                  </a:extLst>
                </a:gridCol>
              </a:tblGrid>
              <a:tr h="581018">
                <a:tc>
                  <a:txBody>
                    <a:bodyPr/>
                    <a:lstStyle/>
                    <a:p>
                      <a:pPr marL="0" marR="0">
                        <a:spcBef>
                          <a:spcPts val="0"/>
                        </a:spcBef>
                        <a:spcAft>
                          <a:spcPts val="0"/>
                        </a:spcAft>
                      </a:pPr>
                      <a:r>
                        <a:rPr lang="en-US" sz="1600" b="0" dirty="0">
                          <a:effectLst/>
                        </a:rPr>
                        <a:t> </a:t>
                      </a:r>
                      <a:endParaRPr lang="en-US" sz="1600" b="0" dirty="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600" b="0" dirty="0">
                          <a:effectLst/>
                        </a:rPr>
                        <a:t>Unsigned Addition</a:t>
                      </a:r>
                      <a:endParaRPr lang="en-US" sz="1600" b="0" dirty="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600" b="0" dirty="0">
                          <a:effectLst/>
                        </a:rPr>
                        <a:t>Unsigned Subtraction</a:t>
                      </a:r>
                      <a:endParaRPr lang="en-US" sz="1600" b="0" dirty="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600" b="0" dirty="0">
                          <a:effectLst/>
                        </a:rPr>
                        <a:t>Signed Addition or Subtraction</a:t>
                      </a:r>
                      <a:endParaRPr lang="en-US" sz="1600" b="0" dirty="0">
                        <a:effectLst/>
                        <a:latin typeface="Times New Roman" panose="02020603050405020304" pitchFamily="18" charset="0"/>
                        <a:ea typeface="SimSun" panose="02010600030101010101" pitchFamily="2" charset="-122"/>
                      </a:endParaRPr>
                    </a:p>
                  </a:txBody>
                  <a:tcPr marL="68580" marR="68580" marT="0" marB="0"/>
                </a:tc>
                <a:extLst>
                  <a:ext uri="{0D108BD9-81ED-4DB2-BD59-A6C34878D82A}">
                    <a16:rowId xmlns:a16="http://schemas.microsoft.com/office/drawing/2014/main" val="3840512487"/>
                  </a:ext>
                </a:extLst>
              </a:tr>
              <a:tr h="693247">
                <a:tc>
                  <a:txBody>
                    <a:bodyPr/>
                    <a:lstStyle/>
                    <a:p>
                      <a:pPr marL="0" marR="0">
                        <a:spcBef>
                          <a:spcPts val="0"/>
                        </a:spcBef>
                        <a:spcAft>
                          <a:spcPts val="0"/>
                        </a:spcAft>
                      </a:pPr>
                      <a:r>
                        <a:rPr lang="en-US" sz="1600" b="0" dirty="0">
                          <a:effectLst/>
                        </a:rPr>
                        <a:t>Carry flag</a:t>
                      </a:r>
                      <a:endParaRPr lang="en-US" sz="1600" b="0" dirty="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600" b="0" dirty="0">
                          <a:solidFill>
                            <a:schemeClr val="tx1"/>
                          </a:solidFill>
                          <a:effectLst/>
                        </a:rPr>
                        <a:t>true result &gt; 2</a:t>
                      </a:r>
                      <a:r>
                        <a:rPr lang="en-US" sz="1600" b="0" baseline="30000" dirty="0">
                          <a:solidFill>
                            <a:schemeClr val="tx1"/>
                          </a:solidFill>
                          <a:effectLst/>
                        </a:rPr>
                        <a:t>n</a:t>
                      </a:r>
                      <a:r>
                        <a:rPr lang="en-US" sz="1600" b="0" dirty="0">
                          <a:solidFill>
                            <a:schemeClr val="tx1"/>
                          </a:solidFill>
                          <a:effectLst/>
                        </a:rPr>
                        <a:t>-1 </a:t>
                      </a:r>
                      <a:r>
                        <a:rPr lang="en-US" sz="1600" b="0" dirty="0">
                          <a:solidFill>
                            <a:schemeClr val="tx1"/>
                          </a:solidFill>
                          <a:effectLst/>
                          <a:sym typeface="Wingdings" panose="05000000000000000000" pitchFamily="2" charset="2"/>
                        </a:rPr>
                        <a:t></a:t>
                      </a:r>
                      <a:r>
                        <a:rPr lang="en-US" sz="1600" b="0" dirty="0">
                          <a:solidFill>
                            <a:schemeClr val="tx1"/>
                          </a:solidFill>
                          <a:effectLst/>
                        </a:rPr>
                        <a:t> Carry flag=1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dirty="0">
                          <a:solidFill>
                            <a:schemeClr val="tx1"/>
                          </a:solidFill>
                          <a:effectLst/>
                        </a:rPr>
                        <a:t>Borrow flag=0</a:t>
                      </a:r>
                    </a:p>
                    <a:p>
                      <a:pPr marL="0" marR="0">
                        <a:spcBef>
                          <a:spcPts val="0"/>
                        </a:spcBef>
                        <a:spcAft>
                          <a:spcPts val="0"/>
                        </a:spcAft>
                      </a:pPr>
                      <a:r>
                        <a:rPr lang="en-US" sz="1600" b="0" dirty="0">
                          <a:solidFill>
                            <a:schemeClr val="tx1"/>
                          </a:solidFill>
                          <a:effectLst/>
                          <a:latin typeface="Times New Roman" panose="02020603050405020304" pitchFamily="18" charset="0"/>
                          <a:ea typeface="SimSun" panose="02010600030101010101" pitchFamily="2" charset="-122"/>
                        </a:rPr>
                        <a:t>(Result incorrect)</a:t>
                      </a:r>
                    </a:p>
                  </a:txBody>
                  <a:tcPr marL="68580" marR="68580" marT="0" marB="0"/>
                </a:tc>
                <a:tc>
                  <a:txBody>
                    <a:bodyPr/>
                    <a:lstStyle/>
                    <a:p>
                      <a:pPr marL="0" marR="0">
                        <a:spcBef>
                          <a:spcPts val="0"/>
                        </a:spcBef>
                        <a:spcAft>
                          <a:spcPts val="0"/>
                        </a:spcAft>
                      </a:pPr>
                      <a:r>
                        <a:rPr lang="en-US" sz="1600" b="0" dirty="0">
                          <a:solidFill>
                            <a:schemeClr val="tx1"/>
                          </a:solidFill>
                          <a:effectLst/>
                        </a:rPr>
                        <a:t>true result &lt; 0 </a:t>
                      </a:r>
                      <a:r>
                        <a:rPr lang="en-US" sz="1600" b="0" dirty="0">
                          <a:solidFill>
                            <a:schemeClr val="tx1"/>
                          </a:solidFill>
                          <a:effectLst/>
                          <a:sym typeface="Wingdings" panose="05000000000000000000" pitchFamily="2" charset="2"/>
                        </a:rPr>
                        <a:t></a:t>
                      </a:r>
                      <a:r>
                        <a:rPr lang="en-US" sz="1600" b="0" dirty="0">
                          <a:solidFill>
                            <a:schemeClr val="tx1"/>
                          </a:solidFill>
                          <a:effectLst/>
                        </a:rPr>
                        <a:t> Carry flag=0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dirty="0">
                          <a:solidFill>
                            <a:schemeClr val="tx1"/>
                          </a:solidFill>
                          <a:effectLst/>
                        </a:rPr>
                        <a:t>Borrow flag=1</a:t>
                      </a:r>
                    </a:p>
                    <a:p>
                      <a:pPr marL="0" marR="0">
                        <a:spcBef>
                          <a:spcPts val="0"/>
                        </a:spcBef>
                        <a:spcAft>
                          <a:spcPts val="0"/>
                        </a:spcAft>
                      </a:pPr>
                      <a:r>
                        <a:rPr lang="en-US" sz="1600" b="0" dirty="0">
                          <a:solidFill>
                            <a:schemeClr val="tx1"/>
                          </a:solidFill>
                          <a:effectLst/>
                          <a:latin typeface="Times New Roman" panose="02020603050405020304" pitchFamily="18" charset="0"/>
                          <a:ea typeface="SimSun" panose="02010600030101010101" pitchFamily="2" charset="-122"/>
                        </a:rPr>
                        <a:t>(Result incorrect)</a:t>
                      </a:r>
                    </a:p>
                  </a:txBody>
                  <a:tcPr marL="68580" marR="68580" marT="0" marB="0"/>
                </a:tc>
                <a:tc>
                  <a:txBody>
                    <a:bodyPr/>
                    <a:lstStyle/>
                    <a:p>
                      <a:pPr marL="0" marR="0">
                        <a:spcBef>
                          <a:spcPts val="0"/>
                        </a:spcBef>
                        <a:spcAft>
                          <a:spcPts val="0"/>
                        </a:spcAft>
                      </a:pPr>
                      <a:r>
                        <a:rPr lang="en-US" sz="1600" b="0">
                          <a:effectLst/>
                        </a:rPr>
                        <a:t>N/A</a:t>
                      </a:r>
                      <a:endParaRPr lang="en-US" sz="1600" b="0">
                        <a:effectLst/>
                        <a:latin typeface="Times New Roman" panose="02020603050405020304" pitchFamily="18" charset="0"/>
                        <a:ea typeface="SimSun" panose="02010600030101010101" pitchFamily="2" charset="-122"/>
                      </a:endParaRPr>
                    </a:p>
                  </a:txBody>
                  <a:tcPr marL="68580" marR="68580" marT="0" marB="0"/>
                </a:tc>
                <a:extLst>
                  <a:ext uri="{0D108BD9-81ED-4DB2-BD59-A6C34878D82A}">
                    <a16:rowId xmlns:a16="http://schemas.microsoft.com/office/drawing/2014/main" val="2963854241"/>
                  </a:ext>
                </a:extLst>
              </a:tr>
              <a:tr h="693247">
                <a:tc>
                  <a:txBody>
                    <a:bodyPr/>
                    <a:lstStyle/>
                    <a:p>
                      <a:pPr marL="0" marR="0">
                        <a:spcBef>
                          <a:spcPts val="0"/>
                        </a:spcBef>
                        <a:spcAft>
                          <a:spcPts val="0"/>
                        </a:spcAft>
                      </a:pPr>
                      <a:r>
                        <a:rPr lang="en-US" sz="1600" b="0">
                          <a:effectLst/>
                        </a:rPr>
                        <a:t>Overflow flag</a:t>
                      </a:r>
                      <a:endParaRPr lang="en-US" sz="1600" b="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600" b="0">
                          <a:effectLst/>
                        </a:rPr>
                        <a:t>N/A</a:t>
                      </a:r>
                      <a:endParaRPr lang="en-US" sz="1600" b="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600" b="0">
                          <a:effectLst/>
                        </a:rPr>
                        <a:t>N/A</a:t>
                      </a:r>
                      <a:endParaRPr lang="en-US" sz="1600" b="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600" b="0" dirty="0">
                          <a:effectLst/>
                        </a:rPr>
                        <a:t>true result &gt; 2</a:t>
                      </a:r>
                      <a:r>
                        <a:rPr lang="en-US" sz="1600" b="0" baseline="30000" dirty="0">
                          <a:effectLst/>
                        </a:rPr>
                        <a:t>n-1</a:t>
                      </a:r>
                      <a:r>
                        <a:rPr lang="en-US" sz="1600" b="0" dirty="0">
                          <a:effectLst/>
                        </a:rPr>
                        <a:t>-1 or true result &lt; -2</a:t>
                      </a:r>
                      <a:r>
                        <a:rPr lang="en-US" sz="1600" b="0" baseline="30000" dirty="0">
                          <a:effectLst/>
                        </a:rPr>
                        <a:t>n-1</a:t>
                      </a:r>
                    </a:p>
                    <a:p>
                      <a:pPr marL="285750" marR="0" indent="-285750">
                        <a:spcBef>
                          <a:spcPts val="0"/>
                        </a:spcBef>
                        <a:spcAft>
                          <a:spcPts val="0"/>
                        </a:spcAft>
                        <a:buFont typeface="Wingdings" panose="05000000000000000000" pitchFamily="2" charset="2"/>
                        <a:buChar char="è"/>
                      </a:pPr>
                      <a:r>
                        <a:rPr lang="en-US" sz="1600" b="0" dirty="0">
                          <a:effectLst/>
                        </a:rPr>
                        <a:t>Overflow flag=1</a:t>
                      </a:r>
                    </a:p>
                    <a:p>
                      <a:pPr marL="0" marR="0" indent="0">
                        <a:spcBef>
                          <a:spcPts val="0"/>
                        </a:spcBef>
                        <a:spcAft>
                          <a:spcPts val="0"/>
                        </a:spcAft>
                        <a:buFont typeface="Wingdings" panose="05000000000000000000" pitchFamily="2" charset="2"/>
                        <a:buNone/>
                      </a:pPr>
                      <a:r>
                        <a:rPr lang="en-US" sz="1600" b="0" dirty="0">
                          <a:effectLst/>
                          <a:latin typeface="Times New Roman" panose="02020603050405020304" pitchFamily="18" charset="0"/>
                          <a:ea typeface="SimSun" panose="02010600030101010101" pitchFamily="2" charset="-122"/>
                        </a:rPr>
                        <a:t>(Result incorrect)</a:t>
                      </a:r>
                    </a:p>
                  </a:txBody>
                  <a:tcPr marL="68580" marR="68580" marT="0" marB="0"/>
                </a:tc>
                <a:extLst>
                  <a:ext uri="{0D108BD9-81ED-4DB2-BD59-A6C34878D82A}">
                    <a16:rowId xmlns:a16="http://schemas.microsoft.com/office/drawing/2014/main" val="1206363004"/>
                  </a:ext>
                </a:extLst>
              </a:tr>
            </a:tbl>
          </a:graphicData>
        </a:graphic>
      </p:graphicFrame>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E2ACC35D-CF95-407F-B222-DF5A1F69BA9F}"/>
                  </a:ext>
                </a:extLst>
              </p14:cNvPr>
              <p14:cNvContentPartPr/>
              <p14:nvPr/>
            </p14:nvContentPartPr>
            <p14:xfrm>
              <a:off x="3067459" y="4660181"/>
              <a:ext cx="360" cy="360"/>
            </p14:xfrm>
          </p:contentPart>
        </mc:Choice>
        <mc:Fallback xmlns="">
          <p:pic>
            <p:nvPicPr>
              <p:cNvPr id="5" name="Ink 4">
                <a:extLst>
                  <a:ext uri="{FF2B5EF4-FFF2-40B4-BE49-F238E27FC236}">
                    <a16:creationId xmlns:a16="http://schemas.microsoft.com/office/drawing/2014/main" id="{E2ACC35D-CF95-407F-B222-DF5A1F69BA9F}"/>
                  </a:ext>
                </a:extLst>
              </p:cNvPr>
              <p:cNvPicPr/>
              <p:nvPr/>
            </p:nvPicPr>
            <p:blipFill>
              <a:blip r:embed="rId4"/>
              <a:stretch>
                <a:fillRect/>
              </a:stretch>
            </p:blipFill>
            <p:spPr>
              <a:xfrm>
                <a:off x="3058459" y="465154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641399B7-0992-4159-AA56-A61464B0489C}"/>
                  </a:ext>
                </a:extLst>
              </p14:cNvPr>
              <p14:cNvContentPartPr/>
              <p14:nvPr/>
            </p14:nvContentPartPr>
            <p14:xfrm>
              <a:off x="3627979" y="4660181"/>
              <a:ext cx="360" cy="360"/>
            </p14:xfrm>
          </p:contentPart>
        </mc:Choice>
        <mc:Fallback xmlns="">
          <p:pic>
            <p:nvPicPr>
              <p:cNvPr id="6" name="Ink 5">
                <a:extLst>
                  <a:ext uri="{FF2B5EF4-FFF2-40B4-BE49-F238E27FC236}">
                    <a16:creationId xmlns:a16="http://schemas.microsoft.com/office/drawing/2014/main" id="{641399B7-0992-4159-AA56-A61464B0489C}"/>
                  </a:ext>
                </a:extLst>
              </p:cNvPr>
              <p:cNvPicPr/>
              <p:nvPr/>
            </p:nvPicPr>
            <p:blipFill>
              <a:blip r:embed="rId4"/>
              <a:stretch>
                <a:fillRect/>
              </a:stretch>
            </p:blipFill>
            <p:spPr>
              <a:xfrm>
                <a:off x="3618979" y="4651541"/>
                <a:ext cx="18000" cy="18000"/>
              </a:xfrm>
              <a:prstGeom prst="rect">
                <a:avLst/>
              </a:prstGeom>
            </p:spPr>
          </p:pic>
        </mc:Fallback>
      </mc:AlternateContent>
      <p:sp>
        <p:nvSpPr>
          <p:cNvPr id="4" name="TextBox 3">
            <a:extLst>
              <a:ext uri="{FF2B5EF4-FFF2-40B4-BE49-F238E27FC236}">
                <a16:creationId xmlns:a16="http://schemas.microsoft.com/office/drawing/2014/main" id="{51A20273-4ADB-8F2F-4C2F-4C2673BEF0D9}"/>
              </a:ext>
            </a:extLst>
          </p:cNvPr>
          <p:cNvSpPr txBox="1"/>
          <p:nvPr/>
        </p:nvSpPr>
        <p:spPr>
          <a:xfrm>
            <a:off x="7080282" y="54601"/>
            <a:ext cx="1959639" cy="523220"/>
          </a:xfrm>
          <a:prstGeom prst="rect">
            <a:avLst/>
          </a:prstGeom>
          <a:solidFill>
            <a:srgbClr val="ED7D31"/>
          </a:solidFill>
          <a:ln w="38100" cap="flat" cmpd="sng" algn="ctr">
            <a:solidFill>
              <a:srgbClr val="ED7D31">
                <a:shade val="15000"/>
              </a:srgbClr>
            </a:solidFill>
            <a:prstDash val="solid"/>
            <a:miter lim="800000"/>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prstClr val="white"/>
                </a:solidFill>
                <a:effectLst/>
                <a:uLnTx/>
                <a:uFillTx/>
                <a:latin typeface="Calibri" panose="020F0502020204030204"/>
                <a:ea typeface="+mn-ea"/>
                <a:cs typeface="+mn-cs"/>
              </a:rPr>
              <a:t>IMPORTANT</a:t>
            </a:r>
            <a:endParaRPr kumimoji="0" lang="en-SE" sz="2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022653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89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7"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Signed or unsigned</a:t>
            </a:r>
          </a:p>
        </p:txBody>
      </p:sp>
      <p:sp>
        <p:nvSpPr>
          <p:cNvPr id="3" name="Slide Number Placeholder 2"/>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4" name="Content Placeholder 3"/>
          <p:cNvSpPr>
            <a:spLocks noGrp="1"/>
          </p:cNvSpPr>
          <p:nvPr>
            <p:ph sz="quarter" idx="1"/>
          </p:nvPr>
        </p:nvSpPr>
        <p:spPr>
          <a:xfrm>
            <a:off x="457200" y="1219200"/>
            <a:ext cx="8229600" cy="914400"/>
          </a:xfrm>
        </p:spPr>
        <p:txBody>
          <a:bodyPr>
            <a:normAutofit/>
          </a:bodyPr>
          <a:lstStyle/>
          <a:p>
            <a:r>
              <a:rPr lang="en-US" sz="2000" dirty="0"/>
              <a:t>Whether the carry flag or the overflow flag should be used depends on the programmer’s intention. </a:t>
            </a:r>
          </a:p>
        </p:txBody>
      </p:sp>
      <p:sp>
        <p:nvSpPr>
          <p:cNvPr id="6" name="Content Placeholder 3"/>
          <p:cNvSpPr txBox="1">
            <a:spLocks/>
          </p:cNvSpPr>
          <p:nvPr/>
        </p:nvSpPr>
        <p:spPr>
          <a:xfrm>
            <a:off x="609600" y="5181600"/>
            <a:ext cx="8229600" cy="1127760"/>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274320" marR="0" lvl="0" indent="-274320" algn="l" defTabSz="914400" rtl="0" eaLnBrk="1" fontAlgn="auto" latinLnBrk="0" hangingPunct="1">
              <a:lnSpc>
                <a:spcPct val="100000"/>
              </a:lnSpc>
              <a:spcBef>
                <a:spcPts val="600"/>
              </a:spcBef>
              <a:spcAft>
                <a:spcPts val="0"/>
              </a:spcAft>
              <a:buClr>
                <a:srgbClr val="4F81BD"/>
              </a:buClr>
              <a:buSzPct val="76000"/>
              <a:buFont typeface="Wingdings 3"/>
              <a:buChar char=""/>
              <a:tabLst/>
              <a:defRPr/>
            </a:pPr>
            <a:endParaRPr kumimoji="0" lang="en-US" sz="2000" b="0" i="0" u="none" strike="noStrike" kern="1200" cap="none" spc="0" normalizeH="0" baseline="0" noProof="0" dirty="0">
              <a:ln>
                <a:noFill/>
              </a:ln>
              <a:solidFill>
                <a:prstClr val="black"/>
              </a:solidFill>
              <a:effectLst/>
              <a:uLnTx/>
              <a:uFillTx/>
              <a:latin typeface="Gill Sans MT"/>
              <a:ea typeface="+mn-ea"/>
              <a:cs typeface="+mn-cs"/>
            </a:endParaRPr>
          </a:p>
        </p:txBody>
      </p:sp>
      <p:sp>
        <p:nvSpPr>
          <p:cNvPr id="7" name="Rounded Rectangle 6"/>
          <p:cNvSpPr/>
          <p:nvPr/>
        </p:nvSpPr>
        <p:spPr>
          <a:xfrm>
            <a:off x="1987143" y="2077839"/>
            <a:ext cx="1524000" cy="1905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C00000"/>
                </a:solidFill>
                <a:effectLst/>
                <a:uLnTx/>
                <a:uFillTx/>
                <a:latin typeface="Consolas" panose="020B0609020204030204" pitchFamily="49" charset="0"/>
                <a:ea typeface="+mn-ea"/>
                <a:cs typeface="Consolas" panose="020B0609020204030204" pitchFamily="49" charset="0"/>
              </a:rPr>
              <a:t>uint</a:t>
            </a:r>
            <a:r>
              <a:rPr kumimoji="0" lang="en-US" sz="1800" b="1"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 </a:t>
            </a:r>
            <a:r>
              <a:rPr kumimoji="0" lang="en-US" sz="18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C00000"/>
                </a:solidFill>
                <a:effectLst/>
                <a:uLnTx/>
                <a:uFillTx/>
                <a:latin typeface="Consolas" panose="020B0609020204030204" pitchFamily="49" charset="0"/>
                <a:ea typeface="+mn-ea"/>
                <a:cs typeface="Consolas" panose="020B0609020204030204" pitchFamily="49" charset="0"/>
              </a:rPr>
              <a:t>uint</a:t>
            </a:r>
            <a:r>
              <a:rPr kumimoji="0" lang="en-US" sz="1800" b="1"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 </a:t>
            </a:r>
            <a:r>
              <a:rPr kumimoji="0" lang="en-US" sz="18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c = a+/-b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a:t>
            </a:r>
          </a:p>
        </p:txBody>
      </p:sp>
      <p:sp>
        <p:nvSpPr>
          <p:cNvPr id="8" name="TextBox 7"/>
          <p:cNvSpPr txBox="1"/>
          <p:nvPr/>
        </p:nvSpPr>
        <p:spPr>
          <a:xfrm>
            <a:off x="2145932" y="4059039"/>
            <a:ext cx="120642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C Program</a:t>
            </a:r>
          </a:p>
        </p:txBody>
      </p:sp>
      <p:sp>
        <p:nvSpPr>
          <p:cNvPr id="9" name="TextBox 8"/>
          <p:cNvSpPr txBox="1"/>
          <p:nvPr/>
        </p:nvSpPr>
        <p:spPr>
          <a:xfrm>
            <a:off x="1079438" y="4488279"/>
            <a:ext cx="3577484"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FF"/>
                </a:solidFill>
                <a:effectLst/>
                <a:uLnTx/>
                <a:uFillTx/>
                <a:latin typeface="Gill Sans MT"/>
                <a:ea typeface="+mn-ea"/>
                <a:cs typeface="+mn-cs"/>
              </a:rPr>
              <a:t>Check the carry/borrow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FF"/>
                </a:solidFill>
                <a:effectLst/>
                <a:uLnTx/>
                <a:uFillTx/>
                <a:latin typeface="Gill Sans MT"/>
                <a:ea typeface="+mn-ea"/>
                <a:cs typeface="+mn-cs"/>
              </a:rPr>
              <a:t>Flag </a:t>
            </a:r>
            <a:r>
              <a:rPr lang="en-US" sz="1800" dirty="0">
                <a:solidFill>
                  <a:srgbClr val="0000FF"/>
                </a:solidFill>
                <a:latin typeface="Gill Sans MT"/>
              </a:rPr>
              <a:t>for unsigned addition/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FF"/>
                </a:solidFill>
                <a:effectLst/>
                <a:uLnTx/>
                <a:uFillTx/>
                <a:latin typeface="Gill Sans MT"/>
                <a:ea typeface="+mn-ea"/>
                <a:cs typeface="+mn-cs"/>
              </a:rPr>
              <a:t>subtraction</a:t>
            </a:r>
          </a:p>
        </p:txBody>
      </p:sp>
      <p:sp>
        <p:nvSpPr>
          <p:cNvPr id="10" name="Rounded Rectangle 9"/>
          <p:cNvSpPr/>
          <p:nvPr/>
        </p:nvSpPr>
        <p:spPr>
          <a:xfrm>
            <a:off x="5105033" y="2077839"/>
            <a:ext cx="1524000" cy="1905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C00000"/>
                </a:solidFill>
                <a:effectLst/>
                <a:uLnTx/>
                <a:uFillTx/>
                <a:latin typeface="Consolas" panose="020B0609020204030204" pitchFamily="49" charset="0"/>
                <a:ea typeface="+mn-ea"/>
                <a:cs typeface="Consolas" panose="020B0609020204030204" pitchFamily="49" charset="0"/>
              </a:rPr>
              <a:t>int</a:t>
            </a:r>
            <a:r>
              <a:rPr kumimoji="0" lang="en-US" sz="1800" b="1"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 </a:t>
            </a:r>
            <a:r>
              <a:rPr kumimoji="0" lang="en-US" sz="18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C00000"/>
                </a:solidFill>
                <a:effectLst/>
                <a:uLnTx/>
                <a:uFillTx/>
                <a:latin typeface="Consolas" panose="020B0609020204030204" pitchFamily="49" charset="0"/>
                <a:ea typeface="+mn-ea"/>
                <a:cs typeface="Consolas" panose="020B0609020204030204" pitchFamily="49" charset="0"/>
              </a:rPr>
              <a:t>int</a:t>
            </a:r>
            <a:r>
              <a:rPr kumimoji="0" lang="en-US" sz="1800" b="1"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 </a:t>
            </a:r>
            <a:r>
              <a:rPr kumimoji="0" lang="en-US" sz="18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a:t>
            </a:r>
          </a:p>
          <a:p>
            <a:pPr lvl="0" eaLnBrk="1" fontAlgn="auto" hangingPunct="1">
              <a:spcBef>
                <a:spcPts val="0"/>
              </a:spcBef>
              <a:spcAft>
                <a:spcPts val="0"/>
              </a:spcAft>
              <a:defRPr/>
            </a:pPr>
            <a:r>
              <a:rPr kumimoji="0" lang="en-US" sz="18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c = </a:t>
            </a:r>
            <a:r>
              <a:rPr lang="en-US" sz="1800" dirty="0">
                <a:solidFill>
                  <a:prstClr val="black"/>
                </a:solidFill>
                <a:latin typeface="Consolas" panose="020B0609020204030204" pitchFamily="49" charset="0"/>
                <a:cs typeface="Consolas" panose="020B0609020204030204" pitchFamily="49" charset="0"/>
              </a:rPr>
              <a:t>a+/-b</a:t>
            </a:r>
            <a:endParaRPr kumimoji="0" lang="en-US" sz="18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a:t>
            </a:r>
          </a:p>
        </p:txBody>
      </p:sp>
      <p:sp>
        <p:nvSpPr>
          <p:cNvPr id="11" name="TextBox 10"/>
          <p:cNvSpPr txBox="1"/>
          <p:nvPr/>
        </p:nvSpPr>
        <p:spPr>
          <a:xfrm>
            <a:off x="5263822" y="4059039"/>
            <a:ext cx="120642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C Program</a:t>
            </a:r>
          </a:p>
        </p:txBody>
      </p:sp>
      <p:sp>
        <p:nvSpPr>
          <p:cNvPr id="12" name="TextBox 11"/>
          <p:cNvSpPr txBox="1"/>
          <p:nvPr/>
        </p:nvSpPr>
        <p:spPr>
          <a:xfrm>
            <a:off x="4771863" y="4488279"/>
            <a:ext cx="3475952"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FF"/>
                </a:solidFill>
                <a:effectLst/>
                <a:uLnTx/>
                <a:uFillTx/>
                <a:latin typeface="Gill Sans MT"/>
                <a:ea typeface="+mn-ea"/>
                <a:cs typeface="+mn-cs"/>
              </a:rPr>
              <a:t>Check the overflow flag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0000FF"/>
                </a:solidFill>
                <a:latin typeface="Gill Sans MT"/>
              </a:rPr>
              <a:t>for signed addition/subtraction</a:t>
            </a:r>
            <a:endParaRPr kumimoji="0" lang="en-US" sz="1800" b="1" i="0" u="none" strike="noStrike" kern="1200" cap="none" spc="0" normalizeH="0" baseline="0" noProof="0" dirty="0">
              <a:ln>
                <a:noFill/>
              </a:ln>
              <a:solidFill>
                <a:srgbClr val="0000FF"/>
              </a:solidFill>
              <a:effectLst/>
              <a:uLnTx/>
              <a:uFillTx/>
              <a:latin typeface="Gill Sans MT"/>
              <a:ea typeface="+mn-ea"/>
              <a:cs typeface="+mn-cs"/>
            </a:endParaRPr>
          </a:p>
        </p:txBody>
      </p:sp>
    </p:spTree>
    <p:extLst>
      <p:ext uri="{BB962C8B-B14F-4D97-AF65-F5344CB8AC3E}">
        <p14:creationId xmlns:p14="http://schemas.microsoft.com/office/powerpoint/2010/main" val="25006425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Signed or Unsigned</a:t>
            </a:r>
          </a:p>
        </p:txBody>
      </p:sp>
      <p:sp>
        <p:nvSpPr>
          <p:cNvPr id="3" name="Slide Number Placeholder 2"/>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4" name="Content Placeholder 3"/>
          <p:cNvSpPr>
            <a:spLocks noGrp="1"/>
          </p:cNvSpPr>
          <p:nvPr>
            <p:ph sz="quarter" idx="1"/>
          </p:nvPr>
        </p:nvSpPr>
        <p:spPr>
          <a:xfrm>
            <a:off x="609600" y="3505199"/>
            <a:ext cx="8229600" cy="2703799"/>
          </a:xfrm>
        </p:spPr>
        <p:txBody>
          <a:bodyPr>
            <a:normAutofit lnSpcReduction="10000"/>
          </a:bodyPr>
          <a:lstStyle/>
          <a:p>
            <a:r>
              <a:rPr lang="en-US" dirty="0"/>
              <a:t>CPU does not know; it sets up both the carry flag and the overflow flag.</a:t>
            </a:r>
          </a:p>
          <a:p>
            <a:r>
              <a:rPr lang="en-US" dirty="0"/>
              <a:t>It is software’s (programmer/compiler) responsibility to interpret the flags.</a:t>
            </a:r>
          </a:p>
          <a:p>
            <a:pPr lvl="1"/>
            <a:r>
              <a:rPr lang="en-US" altLang="zh-CN" dirty="0">
                <a:solidFill>
                  <a:srgbClr val="000000"/>
                </a:solidFill>
              </a:rPr>
              <a:t>T</a:t>
            </a:r>
            <a:r>
              <a:rPr lang="en-US" dirty="0">
                <a:solidFill>
                  <a:srgbClr val="000000"/>
                </a:solidFill>
              </a:rPr>
              <a:t>he C compiler uses either the carry or the overflow flag based on how this integer is declared in source code ( “</a:t>
            </a:r>
            <a:r>
              <a:rPr lang="en-US" dirty="0" err="1">
                <a:solidFill>
                  <a:srgbClr val="000000"/>
                </a:solidFill>
              </a:rPr>
              <a:t>uint</a:t>
            </a:r>
            <a:r>
              <a:rPr lang="en-US" dirty="0">
                <a:solidFill>
                  <a:srgbClr val="000000"/>
                </a:solidFill>
              </a:rPr>
              <a:t>” or “</a:t>
            </a:r>
            <a:r>
              <a:rPr lang="en-US" dirty="0" err="1">
                <a:solidFill>
                  <a:srgbClr val="000000"/>
                </a:solidFill>
              </a:rPr>
              <a:t>int</a:t>
            </a:r>
            <a:r>
              <a:rPr lang="en-US" dirty="0">
                <a:solidFill>
                  <a:srgbClr val="000000"/>
                </a:solidFill>
              </a:rPr>
              <a:t>”).</a:t>
            </a:r>
          </a:p>
          <a:p>
            <a:pPr lvl="1"/>
            <a:endParaRPr lang="en-US" dirty="0"/>
          </a:p>
          <a:p>
            <a:pPr lvl="1"/>
            <a:endParaRPr lang="en-US" dirty="0"/>
          </a:p>
        </p:txBody>
      </p:sp>
      <p:sp>
        <p:nvSpPr>
          <p:cNvPr id="5" name="Rectangle 4"/>
          <p:cNvSpPr/>
          <p:nvPr/>
        </p:nvSpPr>
        <p:spPr>
          <a:xfrm>
            <a:off x="1143000" y="1295400"/>
            <a:ext cx="4191000" cy="138499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1"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a</a:t>
            </a:r>
            <a:r>
              <a:rPr kumimoji="0" lang="en-US" sz="2800" b="0"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 = </a:t>
            </a:r>
            <a:r>
              <a:rPr kumimoji="0" lang="en-US" sz="2800" b="0" i="0" u="none" strike="noStrike" kern="1200" cap="none" spc="0" normalizeH="0" baseline="0" noProof="0" dirty="0" err="1">
                <a:ln>
                  <a:noFill/>
                </a:ln>
                <a:solidFill>
                  <a:srgbClr val="C00000"/>
                </a:solidFill>
                <a:effectLst/>
                <a:uLnTx/>
                <a:uFillTx/>
                <a:latin typeface="Consolas" panose="020B0609020204030204" pitchFamily="49" charset="0"/>
                <a:ea typeface="+mn-ea"/>
                <a:cs typeface="Consolas" panose="020B0609020204030204" pitchFamily="49" charset="0"/>
              </a:rPr>
              <a:t>0b10000</a:t>
            </a:r>
            <a:endParaRPr kumimoji="0" lang="en-US" sz="2800" b="0"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1"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b </a:t>
            </a:r>
            <a:r>
              <a:rPr kumimoji="0" lang="en-US" sz="2800" b="0"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 </a:t>
            </a:r>
            <a:r>
              <a:rPr kumimoji="0" lang="en-US" sz="2800" b="0" i="0" u="none" strike="noStrike" kern="1200" cap="none" spc="0" normalizeH="0" baseline="0" noProof="0" dirty="0" err="1">
                <a:ln>
                  <a:noFill/>
                </a:ln>
                <a:solidFill>
                  <a:srgbClr val="C00000"/>
                </a:solidFill>
                <a:effectLst/>
                <a:uLnTx/>
                <a:uFillTx/>
                <a:latin typeface="Consolas" panose="020B0609020204030204" pitchFamily="49" charset="0"/>
                <a:ea typeface="+mn-ea"/>
                <a:cs typeface="Consolas" panose="020B0609020204030204" pitchFamily="49" charset="0"/>
              </a:rPr>
              <a:t>0b10000</a:t>
            </a:r>
            <a:endParaRPr kumimoji="0" lang="en-US" sz="2800" b="0"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1"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c</a:t>
            </a:r>
            <a:r>
              <a:rPr kumimoji="0" lang="en-US" sz="2800" b="0"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 = </a:t>
            </a:r>
            <a:r>
              <a:rPr kumimoji="0" lang="en-US" sz="2800" b="0" i="1"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a</a:t>
            </a:r>
            <a:r>
              <a:rPr kumimoji="0" lang="en-US" sz="2800" b="0"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 + </a:t>
            </a:r>
            <a:r>
              <a:rPr kumimoji="0" lang="en-US" sz="2800" b="0" i="1"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b</a:t>
            </a:r>
          </a:p>
        </p:txBody>
      </p:sp>
      <p:sp>
        <p:nvSpPr>
          <p:cNvPr id="7" name="Content Placeholder 3"/>
          <p:cNvSpPr txBox="1">
            <a:spLocks/>
          </p:cNvSpPr>
          <p:nvPr/>
        </p:nvSpPr>
        <p:spPr>
          <a:xfrm>
            <a:off x="609600" y="2743200"/>
            <a:ext cx="8229600" cy="762000"/>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274320" marR="0" lvl="0" indent="-274320" algn="l" defTabSz="914400" rtl="0" eaLnBrk="1" fontAlgn="auto" latinLnBrk="0" hangingPunct="1">
              <a:lnSpc>
                <a:spcPct val="100000"/>
              </a:lnSpc>
              <a:spcBef>
                <a:spcPts val="600"/>
              </a:spcBef>
              <a:spcAft>
                <a:spcPts val="0"/>
              </a:spcAft>
              <a:buClr>
                <a:srgbClr val="4F81BD"/>
              </a:buClr>
              <a:buSzPct val="76000"/>
              <a:buFont typeface="Wingdings 3"/>
              <a:buChar char=""/>
              <a:tabLst/>
              <a:defRPr/>
            </a:pPr>
            <a:r>
              <a:rPr kumimoji="0" lang="en-US" sz="2600" b="0" i="0" u="none" strike="noStrike" kern="1200" cap="none" spc="0" normalizeH="0" baseline="0" noProof="0" dirty="0">
                <a:ln>
                  <a:noFill/>
                </a:ln>
                <a:solidFill>
                  <a:prstClr val="black"/>
                </a:solidFill>
                <a:effectLst/>
                <a:uLnTx/>
                <a:uFillTx/>
                <a:latin typeface="Gill Sans MT"/>
                <a:ea typeface="+mn-ea"/>
                <a:cs typeface="+mn-cs"/>
              </a:rPr>
              <a:t>Are </a:t>
            </a:r>
            <a:r>
              <a:rPr kumimoji="0" lang="en-US" sz="2600" b="0" i="1"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a</a:t>
            </a:r>
            <a:r>
              <a:rPr kumimoji="0" lang="en-US" sz="2600" b="0" i="0" u="none" strike="noStrike" kern="1200" cap="none" spc="0" normalizeH="0" baseline="0" noProof="0" dirty="0">
                <a:ln>
                  <a:noFill/>
                </a:ln>
                <a:solidFill>
                  <a:prstClr val="black"/>
                </a:solidFill>
                <a:effectLst/>
                <a:uLnTx/>
                <a:uFillTx/>
                <a:latin typeface="Gill Sans MT"/>
                <a:ea typeface="+mn-ea"/>
                <a:cs typeface="+mn-cs"/>
              </a:rPr>
              <a:t> and </a:t>
            </a:r>
            <a:r>
              <a:rPr kumimoji="0" lang="en-US" sz="2600" b="0" i="1"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b</a:t>
            </a:r>
            <a:r>
              <a:rPr kumimoji="0" lang="en-US" sz="2600" b="0" i="0" u="none" strike="noStrike" kern="1200" cap="none" spc="0" normalizeH="0" baseline="0" noProof="0" dirty="0">
                <a:ln>
                  <a:noFill/>
                </a:ln>
                <a:solidFill>
                  <a:prstClr val="black"/>
                </a:solidFill>
                <a:effectLst/>
                <a:uLnTx/>
                <a:uFillTx/>
                <a:latin typeface="Gill Sans MT"/>
                <a:ea typeface="+mn-ea"/>
                <a:cs typeface="+mn-cs"/>
              </a:rPr>
              <a:t> signed or unsigned numbers?</a:t>
            </a:r>
          </a:p>
        </p:txBody>
      </p:sp>
    </p:spTree>
    <p:extLst>
      <p:ext uri="{BB962C8B-B14F-4D97-AF65-F5344CB8AC3E}">
        <p14:creationId xmlns:p14="http://schemas.microsoft.com/office/powerpoint/2010/main" val="2452229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Signed or Unsigned</a:t>
            </a:r>
          </a:p>
        </p:txBody>
      </p:sp>
      <p:sp>
        <p:nvSpPr>
          <p:cNvPr id="3" name="Slide Number Placeholder 2"/>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4" name="Content Placeholder 3"/>
          <p:cNvSpPr>
            <a:spLocks noGrp="1"/>
          </p:cNvSpPr>
          <p:nvPr>
            <p:ph sz="quarter" idx="1"/>
          </p:nvPr>
        </p:nvSpPr>
        <p:spPr>
          <a:xfrm>
            <a:off x="609600" y="3505200"/>
            <a:ext cx="2824976" cy="2209800"/>
          </a:xfrm>
        </p:spPr>
        <p:txBody>
          <a:bodyPr>
            <a:normAutofit fontScale="92500" lnSpcReduction="10000"/>
          </a:bodyPr>
          <a:lstStyle/>
          <a:p>
            <a:pPr marL="0" lvl="0" indent="0">
              <a:spcBef>
                <a:spcPts val="0"/>
              </a:spcBef>
              <a:buClrTx/>
              <a:buSzTx/>
              <a:buNone/>
              <a:defRPr/>
            </a:pPr>
            <a:r>
              <a:rPr lang="en-US" sz="2400" dirty="0">
                <a:solidFill>
                  <a:srgbClr val="000000"/>
                </a:solidFill>
                <a:latin typeface="Consolas" panose="020B0609020204030204" pitchFamily="49" charset="0"/>
                <a:cs typeface="Consolas" panose="020B0609020204030204" pitchFamily="49" charset="0"/>
              </a:rPr>
              <a:t>If unsigned:</a:t>
            </a:r>
          </a:p>
          <a:p>
            <a:pPr marL="0" lvl="0" indent="0">
              <a:spcBef>
                <a:spcPts val="0"/>
              </a:spcBef>
              <a:buClrTx/>
              <a:buSzTx/>
              <a:buNone/>
              <a:defRPr/>
            </a:pPr>
            <a:r>
              <a:rPr lang="en-US" sz="2400" i="1" dirty="0" err="1">
                <a:solidFill>
                  <a:srgbClr val="C00000"/>
                </a:solidFill>
                <a:latin typeface="Consolas" panose="020B0609020204030204" pitchFamily="49" charset="0"/>
                <a:cs typeface="Consolas" panose="020B0609020204030204" pitchFamily="49" charset="0"/>
              </a:rPr>
              <a:t>uint</a:t>
            </a:r>
            <a:r>
              <a:rPr lang="en-US" sz="2400" i="1" dirty="0">
                <a:solidFill>
                  <a:srgbClr val="C00000"/>
                </a:solidFill>
                <a:latin typeface="Consolas" panose="020B0609020204030204" pitchFamily="49" charset="0"/>
                <a:cs typeface="Consolas" panose="020B0609020204030204" pitchFamily="49" charset="0"/>
              </a:rPr>
              <a:t> a, b;</a:t>
            </a:r>
          </a:p>
          <a:p>
            <a:pPr marL="0" lvl="0" indent="0">
              <a:spcBef>
                <a:spcPts val="0"/>
              </a:spcBef>
              <a:buClrTx/>
              <a:buSzTx/>
              <a:buNone/>
              <a:defRPr/>
            </a:pPr>
            <a:r>
              <a:rPr lang="en-US" sz="2400" i="1" dirty="0">
                <a:solidFill>
                  <a:srgbClr val="C00000"/>
                </a:solidFill>
                <a:latin typeface="Consolas" panose="020B0609020204030204" pitchFamily="49" charset="0"/>
                <a:cs typeface="Consolas" panose="020B0609020204030204" pitchFamily="49" charset="0"/>
              </a:rPr>
              <a:t>a</a:t>
            </a:r>
            <a:r>
              <a:rPr lang="en-US" sz="2400" dirty="0">
                <a:solidFill>
                  <a:srgbClr val="C00000"/>
                </a:solidFill>
                <a:latin typeface="Consolas" panose="020B0609020204030204" pitchFamily="49" charset="0"/>
                <a:cs typeface="Consolas" panose="020B0609020204030204" pitchFamily="49" charset="0"/>
              </a:rPr>
              <a:t> = 16</a:t>
            </a:r>
          </a:p>
          <a:p>
            <a:pPr marL="0" lvl="0" indent="0">
              <a:spcBef>
                <a:spcPts val="0"/>
              </a:spcBef>
              <a:buClrTx/>
              <a:buSzTx/>
              <a:buNone/>
              <a:defRPr/>
            </a:pPr>
            <a:r>
              <a:rPr lang="en-US" sz="2400" i="1" dirty="0">
                <a:solidFill>
                  <a:srgbClr val="C00000"/>
                </a:solidFill>
                <a:latin typeface="Consolas" panose="020B0609020204030204" pitchFamily="49" charset="0"/>
                <a:cs typeface="Consolas" panose="020B0609020204030204" pitchFamily="49" charset="0"/>
              </a:rPr>
              <a:t>b </a:t>
            </a:r>
            <a:r>
              <a:rPr lang="en-US" sz="2400" dirty="0">
                <a:solidFill>
                  <a:srgbClr val="C00000"/>
                </a:solidFill>
                <a:latin typeface="Consolas" panose="020B0609020204030204" pitchFamily="49" charset="0"/>
                <a:cs typeface="Consolas" panose="020B0609020204030204" pitchFamily="49" charset="0"/>
              </a:rPr>
              <a:t>= 16</a:t>
            </a:r>
          </a:p>
          <a:p>
            <a:pPr marL="0" lvl="0" indent="0">
              <a:spcBef>
                <a:spcPts val="0"/>
              </a:spcBef>
              <a:buClrTx/>
              <a:buSzTx/>
              <a:buNone/>
              <a:defRPr/>
            </a:pPr>
            <a:r>
              <a:rPr lang="en-US" sz="2400" i="1" dirty="0">
                <a:solidFill>
                  <a:srgbClr val="C00000"/>
                </a:solidFill>
                <a:latin typeface="Consolas" panose="020B0609020204030204" pitchFamily="49" charset="0"/>
                <a:cs typeface="Consolas" panose="020B0609020204030204" pitchFamily="49" charset="0"/>
              </a:rPr>
              <a:t>c</a:t>
            </a:r>
            <a:r>
              <a:rPr lang="en-US" sz="2400" dirty="0">
                <a:solidFill>
                  <a:srgbClr val="C00000"/>
                </a:solidFill>
                <a:latin typeface="Consolas" panose="020B0609020204030204" pitchFamily="49" charset="0"/>
                <a:cs typeface="Consolas" panose="020B0609020204030204" pitchFamily="49" charset="0"/>
              </a:rPr>
              <a:t> = </a:t>
            </a:r>
            <a:r>
              <a:rPr lang="en-US" sz="2400" i="1" dirty="0">
                <a:solidFill>
                  <a:srgbClr val="C00000"/>
                </a:solidFill>
                <a:latin typeface="Consolas" panose="020B0609020204030204" pitchFamily="49" charset="0"/>
                <a:cs typeface="Consolas" panose="020B0609020204030204" pitchFamily="49" charset="0"/>
              </a:rPr>
              <a:t>a</a:t>
            </a:r>
            <a:r>
              <a:rPr lang="en-US" sz="2400" dirty="0">
                <a:solidFill>
                  <a:srgbClr val="C00000"/>
                </a:solidFill>
                <a:latin typeface="Consolas" panose="020B0609020204030204" pitchFamily="49" charset="0"/>
                <a:cs typeface="Consolas" panose="020B0609020204030204" pitchFamily="49" charset="0"/>
              </a:rPr>
              <a:t> + </a:t>
            </a:r>
            <a:r>
              <a:rPr lang="en-US" sz="2400" i="1" dirty="0">
                <a:solidFill>
                  <a:srgbClr val="C00000"/>
                </a:solidFill>
                <a:latin typeface="Consolas" panose="020B0609020204030204" pitchFamily="49" charset="0"/>
                <a:cs typeface="Consolas" panose="020B0609020204030204" pitchFamily="49" charset="0"/>
              </a:rPr>
              <a:t>b</a:t>
            </a:r>
          </a:p>
          <a:p>
            <a:pPr marL="0" lvl="0" indent="0">
              <a:spcBef>
                <a:spcPts val="0"/>
              </a:spcBef>
              <a:buClrTx/>
              <a:buSzTx/>
              <a:buNone/>
              <a:defRPr/>
            </a:pPr>
            <a:r>
              <a:rPr lang="en-US" sz="2400" i="1" dirty="0">
                <a:solidFill>
                  <a:srgbClr val="C00000"/>
                </a:solidFill>
                <a:latin typeface="Consolas" panose="020B0609020204030204" pitchFamily="49" charset="0"/>
                <a:cs typeface="Consolas" panose="020B0609020204030204" pitchFamily="49" charset="0"/>
              </a:rPr>
              <a:t>  = </a:t>
            </a:r>
            <a:r>
              <a:rPr lang="en-US" sz="2400" dirty="0">
                <a:solidFill>
                  <a:srgbClr val="C00000"/>
                </a:solidFill>
                <a:latin typeface="Consolas" panose="020B0609020204030204" pitchFamily="49" charset="0"/>
                <a:cs typeface="Consolas" panose="020B0609020204030204" pitchFamily="49" charset="0"/>
              </a:rPr>
              <a:t>32 &gt; 2</a:t>
            </a:r>
            <a:r>
              <a:rPr lang="en-US" sz="2400" baseline="30000" dirty="0">
                <a:solidFill>
                  <a:srgbClr val="C00000"/>
                </a:solidFill>
                <a:latin typeface="Consolas" panose="020B0609020204030204" pitchFamily="49" charset="0"/>
                <a:cs typeface="Consolas" panose="020B0609020204030204" pitchFamily="49" charset="0"/>
              </a:rPr>
              <a:t>5</a:t>
            </a:r>
            <a:r>
              <a:rPr lang="en-US" sz="2400" dirty="0">
                <a:solidFill>
                  <a:srgbClr val="C00000"/>
                </a:solidFill>
                <a:latin typeface="Consolas" panose="020B0609020204030204" pitchFamily="49" charset="0"/>
                <a:cs typeface="Consolas" panose="020B0609020204030204" pitchFamily="49" charset="0"/>
              </a:rPr>
              <a:t>-1</a:t>
            </a:r>
          </a:p>
          <a:p>
            <a:pPr marL="0" indent="0">
              <a:spcBef>
                <a:spcPts val="0"/>
              </a:spcBef>
              <a:buClrTx/>
              <a:buSzTx/>
              <a:buNone/>
              <a:defRPr/>
            </a:pPr>
            <a:r>
              <a:rPr lang="en-US" sz="2400" dirty="0">
                <a:solidFill>
                  <a:srgbClr val="000000"/>
                </a:solidFill>
                <a:latin typeface="Consolas" panose="020B0609020204030204" pitchFamily="49" charset="0"/>
                <a:cs typeface="Consolas" panose="020B0609020204030204" pitchFamily="49" charset="0"/>
              </a:rPr>
              <a:t>Carry flag set</a:t>
            </a:r>
          </a:p>
        </p:txBody>
      </p:sp>
      <p:sp>
        <p:nvSpPr>
          <p:cNvPr id="5" name="Rectangle 4"/>
          <p:cNvSpPr/>
          <p:nvPr/>
        </p:nvSpPr>
        <p:spPr>
          <a:xfrm>
            <a:off x="1143000" y="1295400"/>
            <a:ext cx="4191000" cy="120032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a</a:t>
            </a:r>
            <a:r>
              <a:rPr kumimoji="0" lang="en-US" sz="2400" b="0"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 = </a:t>
            </a:r>
            <a:r>
              <a:rPr kumimoji="0" lang="en-US" sz="2400" b="0" i="0" u="none" strike="noStrike" kern="1200" cap="none" spc="0" normalizeH="0" baseline="0" noProof="0" dirty="0" err="1">
                <a:ln>
                  <a:noFill/>
                </a:ln>
                <a:solidFill>
                  <a:srgbClr val="C00000"/>
                </a:solidFill>
                <a:effectLst/>
                <a:uLnTx/>
                <a:uFillTx/>
                <a:latin typeface="Consolas" panose="020B0609020204030204" pitchFamily="49" charset="0"/>
                <a:ea typeface="+mn-ea"/>
                <a:cs typeface="Consolas" panose="020B0609020204030204" pitchFamily="49" charset="0"/>
              </a:rPr>
              <a:t>0b10000</a:t>
            </a:r>
            <a:endParaRPr kumimoji="0" lang="en-US" sz="2400" b="0"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b </a:t>
            </a:r>
            <a:r>
              <a:rPr kumimoji="0" lang="en-US" sz="2400" b="0"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 </a:t>
            </a:r>
            <a:r>
              <a:rPr kumimoji="0" lang="en-US" sz="2400" b="0" i="0" u="none" strike="noStrike" kern="1200" cap="none" spc="0" normalizeH="0" baseline="0" noProof="0" dirty="0" err="1">
                <a:ln>
                  <a:noFill/>
                </a:ln>
                <a:solidFill>
                  <a:srgbClr val="C00000"/>
                </a:solidFill>
                <a:effectLst/>
                <a:uLnTx/>
                <a:uFillTx/>
                <a:latin typeface="Consolas" panose="020B0609020204030204" pitchFamily="49" charset="0"/>
                <a:ea typeface="+mn-ea"/>
                <a:cs typeface="Consolas" panose="020B0609020204030204" pitchFamily="49" charset="0"/>
              </a:rPr>
              <a:t>0b10000</a:t>
            </a:r>
            <a:endParaRPr kumimoji="0" lang="en-US" sz="2400" b="0"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c</a:t>
            </a:r>
            <a:r>
              <a:rPr kumimoji="0" lang="en-US" sz="2400" b="0"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 = </a:t>
            </a:r>
            <a:r>
              <a:rPr kumimoji="0" lang="en-US" sz="2400" b="0" i="1"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a</a:t>
            </a:r>
            <a:r>
              <a:rPr kumimoji="0" lang="en-US" sz="2400" b="0"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 + </a:t>
            </a:r>
            <a:r>
              <a:rPr kumimoji="0" lang="en-US" sz="2400" b="0" i="1"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b</a:t>
            </a:r>
          </a:p>
        </p:txBody>
      </p:sp>
      <p:sp>
        <p:nvSpPr>
          <p:cNvPr id="7" name="Content Placeholder 3"/>
          <p:cNvSpPr txBox="1">
            <a:spLocks/>
          </p:cNvSpPr>
          <p:nvPr/>
        </p:nvSpPr>
        <p:spPr>
          <a:xfrm>
            <a:off x="609600" y="2743200"/>
            <a:ext cx="8229600" cy="762000"/>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274320" marR="0" lvl="0" indent="-274320" algn="l" defTabSz="914400" rtl="0" eaLnBrk="1" fontAlgn="auto" latinLnBrk="0" hangingPunct="1">
              <a:lnSpc>
                <a:spcPct val="100000"/>
              </a:lnSpc>
              <a:spcBef>
                <a:spcPts val="600"/>
              </a:spcBef>
              <a:spcAft>
                <a:spcPts val="0"/>
              </a:spcAft>
              <a:buClr>
                <a:srgbClr val="4F81BD"/>
              </a:buClr>
              <a:buSzPct val="76000"/>
              <a:buFont typeface="Wingdings 3"/>
              <a:buChar char=""/>
              <a:tabLst/>
              <a:defRPr/>
            </a:pPr>
            <a:r>
              <a:rPr kumimoji="0" lang="en-US" sz="2600" b="0" i="0" u="none" strike="noStrike" kern="1200" cap="none" spc="0" normalizeH="0" baseline="0" noProof="0" dirty="0">
                <a:ln>
                  <a:noFill/>
                </a:ln>
                <a:solidFill>
                  <a:prstClr val="black"/>
                </a:solidFill>
                <a:effectLst/>
                <a:uLnTx/>
                <a:uFillTx/>
                <a:latin typeface="Gill Sans MT"/>
                <a:ea typeface="+mn-ea"/>
                <a:cs typeface="+mn-cs"/>
              </a:rPr>
              <a:t>Are </a:t>
            </a:r>
            <a:r>
              <a:rPr kumimoji="0" lang="en-US" sz="2600" b="0" i="1"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a</a:t>
            </a:r>
            <a:r>
              <a:rPr kumimoji="0" lang="en-US" sz="2600" b="0" i="0" u="none" strike="noStrike" kern="1200" cap="none" spc="0" normalizeH="0" baseline="0" noProof="0" dirty="0">
                <a:ln>
                  <a:noFill/>
                </a:ln>
                <a:solidFill>
                  <a:prstClr val="black"/>
                </a:solidFill>
                <a:effectLst/>
                <a:uLnTx/>
                <a:uFillTx/>
                <a:latin typeface="Gill Sans MT"/>
                <a:ea typeface="+mn-ea"/>
                <a:cs typeface="+mn-cs"/>
              </a:rPr>
              <a:t> and </a:t>
            </a:r>
            <a:r>
              <a:rPr kumimoji="0" lang="en-US" sz="2600" b="0" i="1"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b</a:t>
            </a:r>
            <a:r>
              <a:rPr kumimoji="0" lang="en-US" sz="2600" b="0" i="0" u="none" strike="noStrike" kern="1200" cap="none" spc="0" normalizeH="0" baseline="0" noProof="0" dirty="0">
                <a:ln>
                  <a:noFill/>
                </a:ln>
                <a:solidFill>
                  <a:prstClr val="black"/>
                </a:solidFill>
                <a:effectLst/>
                <a:uLnTx/>
                <a:uFillTx/>
                <a:latin typeface="Gill Sans MT"/>
                <a:ea typeface="+mn-ea"/>
                <a:cs typeface="+mn-cs"/>
              </a:rPr>
              <a:t> signed or unsigned numbers?</a:t>
            </a:r>
          </a:p>
        </p:txBody>
      </p:sp>
      <p:sp>
        <p:nvSpPr>
          <p:cNvPr id="8" name="Content Placeholder 3"/>
          <p:cNvSpPr txBox="1">
            <a:spLocks/>
          </p:cNvSpPr>
          <p:nvPr/>
        </p:nvSpPr>
        <p:spPr>
          <a:xfrm>
            <a:off x="4825503" y="3505200"/>
            <a:ext cx="3123086" cy="2209800"/>
          </a:xfrm>
          <a:prstGeom prst="rect">
            <a:avLst/>
          </a:prstGeom>
        </p:spPr>
        <p:txBody>
          <a:bodyPr vert="horz">
            <a:normAutofit fontScale="92500" lnSpcReduction="1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fontAlgn="auto">
              <a:spcBef>
                <a:spcPts val="0"/>
              </a:spcBef>
              <a:spcAft>
                <a:spcPts val="0"/>
              </a:spcAft>
              <a:buClrTx/>
              <a:buSzTx/>
              <a:buFont typeface="Wingdings 3"/>
              <a:buNone/>
              <a:defRPr/>
            </a:pPr>
            <a:r>
              <a:rPr lang="en-US" sz="2400" b="0" dirty="0">
                <a:solidFill>
                  <a:srgbClr val="000000"/>
                </a:solidFill>
                <a:latin typeface="Consolas" panose="020B0609020204030204" pitchFamily="49" charset="0"/>
                <a:cs typeface="Consolas" panose="020B0609020204030204" pitchFamily="49" charset="0"/>
              </a:rPr>
              <a:t>If signed:</a:t>
            </a:r>
          </a:p>
          <a:p>
            <a:pPr marL="0" indent="0" fontAlgn="auto">
              <a:spcBef>
                <a:spcPts val="0"/>
              </a:spcBef>
              <a:spcAft>
                <a:spcPts val="0"/>
              </a:spcAft>
              <a:buClrTx/>
              <a:buSzTx/>
              <a:buFont typeface="Wingdings 3"/>
              <a:buNone/>
              <a:defRPr/>
            </a:pPr>
            <a:r>
              <a:rPr lang="en-US" sz="2400" b="0" i="1" dirty="0" err="1">
                <a:solidFill>
                  <a:srgbClr val="C00000"/>
                </a:solidFill>
                <a:latin typeface="Consolas" panose="020B0609020204030204" pitchFamily="49" charset="0"/>
                <a:cs typeface="Consolas" panose="020B0609020204030204" pitchFamily="49" charset="0"/>
              </a:rPr>
              <a:t>int</a:t>
            </a:r>
            <a:r>
              <a:rPr lang="en-US" sz="2400" b="0" i="1" dirty="0">
                <a:solidFill>
                  <a:srgbClr val="C00000"/>
                </a:solidFill>
                <a:latin typeface="Consolas" panose="020B0609020204030204" pitchFamily="49" charset="0"/>
                <a:cs typeface="Consolas" panose="020B0609020204030204" pitchFamily="49" charset="0"/>
              </a:rPr>
              <a:t> a, b;</a:t>
            </a:r>
          </a:p>
          <a:p>
            <a:pPr marL="0" indent="0" fontAlgn="auto">
              <a:spcBef>
                <a:spcPts val="0"/>
              </a:spcBef>
              <a:spcAft>
                <a:spcPts val="0"/>
              </a:spcAft>
              <a:buClrTx/>
              <a:buSzTx/>
              <a:buFont typeface="Wingdings 3"/>
              <a:buNone/>
              <a:defRPr/>
            </a:pPr>
            <a:r>
              <a:rPr lang="en-US" sz="2400" b="0" i="1" dirty="0">
                <a:solidFill>
                  <a:srgbClr val="C00000"/>
                </a:solidFill>
                <a:latin typeface="Consolas" panose="020B0609020204030204" pitchFamily="49" charset="0"/>
                <a:cs typeface="Consolas" panose="020B0609020204030204" pitchFamily="49" charset="0"/>
              </a:rPr>
              <a:t>a</a:t>
            </a:r>
            <a:r>
              <a:rPr lang="en-US" sz="2400" b="0" dirty="0">
                <a:solidFill>
                  <a:srgbClr val="C00000"/>
                </a:solidFill>
                <a:latin typeface="Consolas" panose="020B0609020204030204" pitchFamily="49" charset="0"/>
                <a:cs typeface="Consolas" panose="020B0609020204030204" pitchFamily="49" charset="0"/>
              </a:rPr>
              <a:t> = -16</a:t>
            </a:r>
          </a:p>
          <a:p>
            <a:pPr marL="0" indent="0" fontAlgn="auto">
              <a:spcBef>
                <a:spcPts val="0"/>
              </a:spcBef>
              <a:spcAft>
                <a:spcPts val="0"/>
              </a:spcAft>
              <a:buClrTx/>
              <a:buSzTx/>
              <a:buFont typeface="Wingdings 3"/>
              <a:buNone/>
              <a:defRPr/>
            </a:pPr>
            <a:r>
              <a:rPr lang="en-US" sz="2400" b="0" i="1" dirty="0">
                <a:solidFill>
                  <a:srgbClr val="C00000"/>
                </a:solidFill>
                <a:latin typeface="Consolas" panose="020B0609020204030204" pitchFamily="49" charset="0"/>
                <a:cs typeface="Consolas" panose="020B0609020204030204" pitchFamily="49" charset="0"/>
              </a:rPr>
              <a:t>b </a:t>
            </a:r>
            <a:r>
              <a:rPr lang="en-US" sz="2400" b="0" dirty="0">
                <a:solidFill>
                  <a:srgbClr val="C00000"/>
                </a:solidFill>
                <a:latin typeface="Consolas" panose="020B0609020204030204" pitchFamily="49" charset="0"/>
                <a:cs typeface="Consolas" panose="020B0609020204030204" pitchFamily="49" charset="0"/>
              </a:rPr>
              <a:t>= -16</a:t>
            </a:r>
          </a:p>
          <a:p>
            <a:pPr marL="0" indent="0" fontAlgn="auto">
              <a:spcBef>
                <a:spcPts val="0"/>
              </a:spcBef>
              <a:spcAft>
                <a:spcPts val="0"/>
              </a:spcAft>
              <a:buClrTx/>
              <a:buSzTx/>
              <a:buFont typeface="Wingdings 3"/>
              <a:buNone/>
              <a:defRPr/>
            </a:pPr>
            <a:r>
              <a:rPr lang="en-US" sz="2400" b="0" i="1" dirty="0">
                <a:solidFill>
                  <a:srgbClr val="C00000"/>
                </a:solidFill>
                <a:latin typeface="Consolas" panose="020B0609020204030204" pitchFamily="49" charset="0"/>
                <a:cs typeface="Consolas" panose="020B0609020204030204" pitchFamily="49" charset="0"/>
              </a:rPr>
              <a:t>c</a:t>
            </a:r>
            <a:r>
              <a:rPr lang="en-US" sz="2400" b="0" dirty="0">
                <a:solidFill>
                  <a:srgbClr val="C00000"/>
                </a:solidFill>
                <a:latin typeface="Consolas" panose="020B0609020204030204" pitchFamily="49" charset="0"/>
                <a:cs typeface="Consolas" panose="020B0609020204030204" pitchFamily="49" charset="0"/>
              </a:rPr>
              <a:t> = </a:t>
            </a:r>
            <a:r>
              <a:rPr lang="en-US" sz="2400" b="0" i="1" dirty="0">
                <a:solidFill>
                  <a:srgbClr val="C00000"/>
                </a:solidFill>
                <a:latin typeface="Consolas" panose="020B0609020204030204" pitchFamily="49" charset="0"/>
                <a:cs typeface="Consolas" panose="020B0609020204030204" pitchFamily="49" charset="0"/>
              </a:rPr>
              <a:t>a</a:t>
            </a:r>
            <a:r>
              <a:rPr lang="en-US" sz="2400" b="0" dirty="0">
                <a:solidFill>
                  <a:srgbClr val="C00000"/>
                </a:solidFill>
                <a:latin typeface="Consolas" panose="020B0609020204030204" pitchFamily="49" charset="0"/>
                <a:cs typeface="Consolas" panose="020B0609020204030204" pitchFamily="49" charset="0"/>
              </a:rPr>
              <a:t> + </a:t>
            </a:r>
            <a:r>
              <a:rPr lang="en-US" sz="2400" b="0" i="1" dirty="0">
                <a:solidFill>
                  <a:srgbClr val="C00000"/>
                </a:solidFill>
                <a:latin typeface="Consolas" panose="020B0609020204030204" pitchFamily="49" charset="0"/>
                <a:cs typeface="Consolas" panose="020B0609020204030204" pitchFamily="49" charset="0"/>
              </a:rPr>
              <a:t>b</a:t>
            </a:r>
          </a:p>
          <a:p>
            <a:pPr marL="0" indent="0" fontAlgn="auto">
              <a:spcBef>
                <a:spcPts val="0"/>
              </a:spcBef>
              <a:spcAft>
                <a:spcPts val="0"/>
              </a:spcAft>
              <a:buClrTx/>
              <a:buSzTx/>
              <a:buFont typeface="Wingdings 3"/>
              <a:buNone/>
              <a:defRPr/>
            </a:pPr>
            <a:r>
              <a:rPr lang="en-US" sz="2400" b="0" i="1" dirty="0">
                <a:solidFill>
                  <a:srgbClr val="C00000"/>
                </a:solidFill>
                <a:latin typeface="Consolas" panose="020B0609020204030204" pitchFamily="49" charset="0"/>
                <a:cs typeface="Consolas" panose="020B0609020204030204" pitchFamily="49" charset="0"/>
              </a:rPr>
              <a:t>  = -</a:t>
            </a:r>
            <a:r>
              <a:rPr lang="en-US" sz="2400" b="0" dirty="0">
                <a:solidFill>
                  <a:srgbClr val="C00000"/>
                </a:solidFill>
                <a:latin typeface="Consolas" panose="020B0609020204030204" pitchFamily="49" charset="0"/>
                <a:cs typeface="Consolas" panose="020B0609020204030204" pitchFamily="49" charset="0"/>
              </a:rPr>
              <a:t>32 &lt; -2</a:t>
            </a:r>
            <a:r>
              <a:rPr lang="en-US" sz="2400" b="0" baseline="30000" dirty="0">
                <a:solidFill>
                  <a:srgbClr val="C00000"/>
                </a:solidFill>
                <a:latin typeface="Consolas" panose="020B0609020204030204" pitchFamily="49" charset="0"/>
                <a:cs typeface="Consolas" panose="020B0609020204030204" pitchFamily="49" charset="0"/>
              </a:rPr>
              <a:t>4</a:t>
            </a:r>
            <a:endParaRPr lang="en-US" sz="2400" b="0" dirty="0">
              <a:solidFill>
                <a:srgbClr val="C00000"/>
              </a:solidFill>
              <a:latin typeface="Consolas" panose="020B0609020204030204" pitchFamily="49" charset="0"/>
              <a:cs typeface="Consolas" panose="020B0609020204030204" pitchFamily="49" charset="0"/>
            </a:endParaRPr>
          </a:p>
          <a:p>
            <a:pPr marL="0" indent="0" fontAlgn="auto">
              <a:spcBef>
                <a:spcPts val="0"/>
              </a:spcBef>
              <a:spcAft>
                <a:spcPts val="0"/>
              </a:spcAft>
              <a:buClrTx/>
              <a:buSzTx/>
              <a:buFont typeface="Wingdings 3"/>
              <a:buNone/>
              <a:defRPr/>
            </a:pPr>
            <a:r>
              <a:rPr lang="en-US" sz="2400" b="0" dirty="0">
                <a:solidFill>
                  <a:srgbClr val="000000"/>
                </a:solidFill>
                <a:latin typeface="Consolas" panose="020B0609020204030204" pitchFamily="49" charset="0"/>
                <a:cs typeface="Consolas" panose="020B0609020204030204" pitchFamily="49" charset="0"/>
              </a:rPr>
              <a:t>Overflow flag set</a:t>
            </a:r>
          </a:p>
        </p:txBody>
      </p:sp>
    </p:spTree>
    <p:extLst>
      <p:ext uri="{BB962C8B-B14F-4D97-AF65-F5344CB8AC3E}">
        <p14:creationId xmlns:p14="http://schemas.microsoft.com/office/powerpoint/2010/main" val="3640320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8"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Why use Two’s Complement</a:t>
            </a:r>
          </a:p>
        </p:txBody>
      </p:sp>
      <p:sp>
        <p:nvSpPr>
          <p:cNvPr id="3" name="Slide Number Placeholder 2"/>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453991135"/>
              </p:ext>
            </p:extLst>
          </p:nvPr>
        </p:nvGraphicFramePr>
        <p:xfrm>
          <a:off x="590550" y="2590800"/>
          <a:ext cx="7962900" cy="2286000"/>
        </p:xfrm>
        <a:graphic>
          <a:graphicData uri="http://schemas.openxmlformats.org/drawingml/2006/table">
            <a:tbl>
              <a:tblPr firstRow="1" bandRow="1">
                <a:tableStyleId>{5C22544A-7EE6-4342-B048-85BDC9FD1C3A}</a:tableStyleId>
              </a:tblPr>
              <a:tblGrid>
                <a:gridCol w="1817618">
                  <a:extLst>
                    <a:ext uri="{9D8B030D-6E8A-4147-A177-3AD203B41FA5}">
                      <a16:colId xmlns:a16="http://schemas.microsoft.com/office/drawing/2014/main" val="3168468172"/>
                    </a:ext>
                  </a:extLst>
                </a:gridCol>
                <a:gridCol w="6145282">
                  <a:extLst>
                    <a:ext uri="{9D8B030D-6E8A-4147-A177-3AD203B41FA5}">
                      <a16:colId xmlns:a16="http://schemas.microsoft.com/office/drawing/2014/main" val="578747247"/>
                    </a:ext>
                  </a:extLst>
                </a:gridCol>
              </a:tblGrid>
              <a:tr h="370840">
                <a:tc>
                  <a:txBody>
                    <a:bodyPr/>
                    <a:lstStyle/>
                    <a:p>
                      <a:r>
                        <a:rPr lang="en-US" sz="2000" dirty="0"/>
                        <a:t>Operation</a:t>
                      </a:r>
                    </a:p>
                  </a:txBody>
                  <a:tcPr/>
                </a:tc>
                <a:tc>
                  <a:txBody>
                    <a:bodyPr/>
                    <a:lstStyle/>
                    <a:p>
                      <a:r>
                        <a:rPr lang="en-US" sz="2000" dirty="0"/>
                        <a:t>Are</a:t>
                      </a:r>
                      <a:r>
                        <a:rPr lang="en-US" sz="2000" baseline="0" dirty="0"/>
                        <a:t> signed and unsigned operations the same?</a:t>
                      </a:r>
                      <a:endParaRPr lang="en-US" sz="2000" dirty="0"/>
                    </a:p>
                  </a:txBody>
                  <a:tcPr/>
                </a:tc>
                <a:extLst>
                  <a:ext uri="{0D108BD9-81ED-4DB2-BD59-A6C34878D82A}">
                    <a16:rowId xmlns:a16="http://schemas.microsoft.com/office/drawing/2014/main" val="533090278"/>
                  </a:ext>
                </a:extLst>
              </a:tr>
              <a:tr h="370840">
                <a:tc>
                  <a:txBody>
                    <a:bodyPr/>
                    <a:lstStyle/>
                    <a:p>
                      <a:r>
                        <a:rPr lang="en-US" sz="2000" dirty="0"/>
                        <a:t>Addition</a:t>
                      </a:r>
                    </a:p>
                  </a:txBody>
                  <a:tcPr/>
                </a:tc>
                <a:tc>
                  <a:txBody>
                    <a:bodyPr/>
                    <a:lstStyle/>
                    <a:p>
                      <a:r>
                        <a:rPr lang="en-US" sz="2000" dirty="0"/>
                        <a:t>Yes</a:t>
                      </a:r>
                    </a:p>
                  </a:txBody>
                  <a:tcPr/>
                </a:tc>
                <a:extLst>
                  <a:ext uri="{0D108BD9-81ED-4DB2-BD59-A6C34878D82A}">
                    <a16:rowId xmlns:a16="http://schemas.microsoft.com/office/drawing/2014/main" val="812262497"/>
                  </a:ext>
                </a:extLst>
              </a:tr>
              <a:tr h="370840">
                <a:tc>
                  <a:txBody>
                    <a:bodyPr/>
                    <a:lstStyle/>
                    <a:p>
                      <a:r>
                        <a:rPr lang="en-US" sz="2000" dirty="0"/>
                        <a:t>Subtraction</a:t>
                      </a:r>
                    </a:p>
                  </a:txBody>
                  <a:tcPr/>
                </a:tc>
                <a:tc>
                  <a:txBody>
                    <a:bodyPr/>
                    <a:lstStyle/>
                    <a:p>
                      <a:r>
                        <a:rPr lang="en-US" sz="2000" dirty="0"/>
                        <a:t>Yes</a:t>
                      </a:r>
                    </a:p>
                  </a:txBody>
                  <a:tcPr/>
                </a:tc>
                <a:extLst>
                  <a:ext uri="{0D108BD9-81ED-4DB2-BD59-A6C34878D82A}">
                    <a16:rowId xmlns:a16="http://schemas.microsoft.com/office/drawing/2014/main" val="4197344616"/>
                  </a:ext>
                </a:extLst>
              </a:tr>
              <a:tr h="370840">
                <a:tc>
                  <a:txBody>
                    <a:bodyPr/>
                    <a:lstStyle/>
                    <a:p>
                      <a:r>
                        <a:rPr lang="en-US" sz="2000" dirty="0"/>
                        <a:t>Multiplication</a:t>
                      </a:r>
                    </a:p>
                  </a:txBody>
                  <a:tcPr/>
                </a:tc>
                <a:tc>
                  <a:txBody>
                    <a:bodyPr/>
                    <a:lstStyle/>
                    <a:p>
                      <a:r>
                        <a:rPr lang="en-US" sz="2000" dirty="0"/>
                        <a:t>Yes</a:t>
                      </a:r>
                      <a:r>
                        <a:rPr lang="en-US" sz="2000" baseline="0" dirty="0"/>
                        <a:t> if </a:t>
                      </a:r>
                      <a:r>
                        <a:rPr lang="en-US" sz="2000" dirty="0"/>
                        <a:t>the product has the same number of bits as operands (not discussed in class)</a:t>
                      </a:r>
                    </a:p>
                  </a:txBody>
                  <a:tcPr/>
                </a:tc>
                <a:extLst>
                  <a:ext uri="{0D108BD9-81ED-4DB2-BD59-A6C34878D82A}">
                    <a16:rowId xmlns:a16="http://schemas.microsoft.com/office/drawing/2014/main" val="532458979"/>
                  </a:ext>
                </a:extLst>
              </a:tr>
              <a:tr h="370840">
                <a:tc>
                  <a:txBody>
                    <a:bodyPr/>
                    <a:lstStyle/>
                    <a:p>
                      <a:r>
                        <a:rPr lang="en-US" sz="2000" dirty="0"/>
                        <a:t>Division</a:t>
                      </a:r>
                    </a:p>
                  </a:txBody>
                  <a:tcPr/>
                </a:tc>
                <a:tc>
                  <a:txBody>
                    <a:bodyPr/>
                    <a:lstStyle/>
                    <a:p>
                      <a:r>
                        <a:rPr lang="en-US" sz="2000" dirty="0"/>
                        <a:t>No (not discussed in class)</a:t>
                      </a:r>
                    </a:p>
                  </a:txBody>
                  <a:tcPr/>
                </a:tc>
                <a:extLst>
                  <a:ext uri="{0D108BD9-81ED-4DB2-BD59-A6C34878D82A}">
                    <a16:rowId xmlns:a16="http://schemas.microsoft.com/office/drawing/2014/main" val="507733041"/>
                  </a:ext>
                </a:extLst>
              </a:tr>
            </a:tbl>
          </a:graphicData>
        </a:graphic>
      </p:graphicFrame>
      <p:sp>
        <p:nvSpPr>
          <p:cNvPr id="9" name="TextBox 8"/>
          <p:cNvSpPr txBox="1"/>
          <p:nvPr/>
        </p:nvSpPr>
        <p:spPr>
          <a:xfrm>
            <a:off x="457200" y="1828800"/>
            <a:ext cx="6887719"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Gill Sans MT"/>
                <a:ea typeface="+mn-ea"/>
                <a:cs typeface="+mn-cs"/>
              </a:rPr>
              <a:t>Two’s complement representation simplifies hardware</a:t>
            </a:r>
          </a:p>
        </p:txBody>
      </p:sp>
    </p:spTree>
    <p:extLst>
      <p:ext uri="{BB962C8B-B14F-4D97-AF65-F5344CB8AC3E}">
        <p14:creationId xmlns:p14="http://schemas.microsoft.com/office/powerpoint/2010/main" val="3320520282"/>
      </p:ext>
    </p:extLst>
  </p:cSld>
  <p:clrMapOvr>
    <a:masterClrMapping/>
  </p:clrMapOvr>
  <mc:AlternateContent xmlns:mc="http://schemas.openxmlformats.org/markup-compatibility/2006" xmlns:p14="http://schemas.microsoft.com/office/powerpoint/2010/main">
    <mc:Choice Requires="p14">
      <p:transition spd="slow" p14:dur="2000" advTm="37713"/>
    </mc:Choice>
    <mc:Fallback xmlns="">
      <p:transition spd="slow" advTm="37713"/>
    </mc:Fallback>
  </mc:AlternateContent>
  <p:extLst>
    <p:ext uri="{E180D4A7-C9FB-4DFB-919C-405C955672EB}">
      <p14:showEvtLst xmlns:p14="http://schemas.microsoft.com/office/powerpoint/2010/main">
        <p14:playEvt time="9" objId="4"/>
        <p14:stopEvt time="35530" objId="4"/>
      </p14:showEvtLst>
    </p:ext>
  </p:extLs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Rectangle 61"/>
          <p:cNvSpPr/>
          <p:nvPr/>
        </p:nvSpPr>
        <p:spPr>
          <a:xfrm>
            <a:off x="6426258" y="4419600"/>
            <a:ext cx="802182" cy="58908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30" name="Rectangle 29"/>
          <p:cNvSpPr/>
          <p:nvPr/>
        </p:nvSpPr>
        <p:spPr>
          <a:xfrm>
            <a:off x="685800" y="1814215"/>
            <a:ext cx="3962400" cy="336292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49" name="Rectangle 48"/>
          <p:cNvSpPr/>
          <p:nvPr/>
        </p:nvSpPr>
        <p:spPr>
          <a:xfrm>
            <a:off x="7410643" y="1773120"/>
            <a:ext cx="802182" cy="58908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2" name="Title 1"/>
          <p:cNvSpPr>
            <a:spLocks noGrp="1"/>
          </p:cNvSpPr>
          <p:nvPr>
            <p:ph type="title"/>
          </p:nvPr>
        </p:nvSpPr>
        <p:spPr/>
        <p:txBody>
          <a:bodyPr>
            <a:normAutofit/>
          </a:bodyPr>
          <a:lstStyle/>
          <a:p>
            <a:r>
              <a:rPr lang="en-US" dirty="0">
                <a:solidFill>
                  <a:srgbClr val="FF0000"/>
                </a:solidFill>
              </a:rPr>
              <a:t>Adding two integers</a:t>
            </a:r>
            <a:endParaRPr lang="en-US" b="1" dirty="0">
              <a:solidFill>
                <a:srgbClr val="FF0000"/>
              </a:solidFill>
              <a:latin typeface="Consolas" panose="020B0609020204030204" pitchFamily="49" charset="0"/>
              <a:cs typeface="Consolas" panose="020B0609020204030204" pitchFamily="49" charset="0"/>
            </a:endParaRPr>
          </a:p>
        </p:txBody>
      </p:sp>
      <p:sp>
        <p:nvSpPr>
          <p:cNvPr id="3" name="Slide Number Placeholder 2"/>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20" name="TextBox 19"/>
          <p:cNvSpPr txBox="1"/>
          <p:nvPr/>
        </p:nvSpPr>
        <p:spPr>
          <a:xfrm>
            <a:off x="1452869" y="1352550"/>
            <a:ext cx="52450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-9</a:t>
            </a:r>
          </a:p>
        </p:txBody>
      </p:sp>
      <p:sp>
        <p:nvSpPr>
          <p:cNvPr id="21" name="TextBox 20"/>
          <p:cNvSpPr txBox="1"/>
          <p:nvPr/>
        </p:nvSpPr>
        <p:spPr>
          <a:xfrm>
            <a:off x="3460485" y="1367135"/>
            <a:ext cx="35458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00FF"/>
                </a:solidFill>
                <a:effectLst/>
                <a:uLnTx/>
                <a:uFillTx/>
                <a:latin typeface="Consolas" panose="020B0609020204030204" pitchFamily="49" charset="0"/>
                <a:ea typeface="+mn-ea"/>
                <a:cs typeface="Consolas" panose="020B0609020204030204" pitchFamily="49" charset="0"/>
              </a:rPr>
              <a:t>6</a:t>
            </a:r>
          </a:p>
        </p:txBody>
      </p:sp>
      <p:sp>
        <p:nvSpPr>
          <p:cNvPr id="22" name="TextBox 21"/>
          <p:cNvSpPr txBox="1"/>
          <p:nvPr/>
        </p:nvSpPr>
        <p:spPr>
          <a:xfrm>
            <a:off x="2447297" y="5177135"/>
            <a:ext cx="52450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FF"/>
                </a:solidFill>
                <a:effectLst/>
                <a:uLnTx/>
                <a:uFillTx/>
                <a:latin typeface="Consolas" panose="020B0609020204030204" pitchFamily="49" charset="0"/>
                <a:ea typeface="+mn-ea"/>
                <a:cs typeface="Consolas" panose="020B0609020204030204" pitchFamily="49" charset="0"/>
              </a:rPr>
              <a:t>-3</a:t>
            </a:r>
          </a:p>
        </p:txBody>
      </p:sp>
      <p:grpSp>
        <p:nvGrpSpPr>
          <p:cNvPr id="38" name="Group 37"/>
          <p:cNvGrpSpPr/>
          <p:nvPr/>
        </p:nvGrpSpPr>
        <p:grpSpPr>
          <a:xfrm>
            <a:off x="5029200" y="1729737"/>
            <a:ext cx="3183625" cy="632463"/>
            <a:chOff x="5388736" y="1565669"/>
            <a:chExt cx="3183625" cy="632463"/>
          </a:xfrm>
        </p:grpSpPr>
        <p:sp>
          <p:nvSpPr>
            <p:cNvPr id="25" name="Rectangle 24"/>
            <p:cNvSpPr/>
            <p:nvPr/>
          </p:nvSpPr>
          <p:spPr>
            <a:xfrm>
              <a:off x="5388736" y="1828800"/>
              <a:ext cx="81785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01001</a:t>
              </a:r>
              <a:endParaRPr kumimoji="0" lang="en-US" sz="1800" b="0" i="0" u="none" strike="noStrike" kern="1200" cap="none" spc="0" normalizeH="0" baseline="0" noProof="0" dirty="0">
                <a:ln>
                  <a:noFill/>
                </a:ln>
                <a:solidFill>
                  <a:prstClr val="black"/>
                </a:solidFill>
                <a:effectLst/>
                <a:uLnTx/>
                <a:uFillTx/>
                <a:latin typeface="Gill Sans MT"/>
                <a:ea typeface="+mn-ea"/>
                <a:cs typeface="+mn-cs"/>
              </a:endParaRPr>
            </a:p>
          </p:txBody>
        </p:sp>
        <p:cxnSp>
          <p:nvCxnSpPr>
            <p:cNvPr id="27" name="Straight Arrow Connector 26"/>
            <p:cNvCxnSpPr>
              <a:stCxn id="25" idx="3"/>
              <a:endCxn id="28" idx="1"/>
            </p:cNvCxnSpPr>
            <p:nvPr/>
          </p:nvCxnSpPr>
          <p:spPr>
            <a:xfrm>
              <a:off x="6206589" y="2013466"/>
              <a:ext cx="36695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6573547" y="1828800"/>
              <a:ext cx="81785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10110</a:t>
              </a:r>
            </a:p>
          </p:txBody>
        </p:sp>
        <p:sp>
          <p:nvSpPr>
            <p:cNvPr id="29" name="Rectangle 28"/>
            <p:cNvSpPr/>
            <p:nvPr/>
          </p:nvSpPr>
          <p:spPr>
            <a:xfrm>
              <a:off x="7754508" y="1828800"/>
              <a:ext cx="81785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10111</a:t>
              </a:r>
            </a:p>
          </p:txBody>
        </p:sp>
        <p:cxnSp>
          <p:nvCxnSpPr>
            <p:cNvPr id="31" name="Straight Arrow Connector 30"/>
            <p:cNvCxnSpPr>
              <a:stCxn id="28" idx="3"/>
              <a:endCxn id="29" idx="1"/>
            </p:cNvCxnSpPr>
            <p:nvPr/>
          </p:nvCxnSpPr>
          <p:spPr>
            <a:xfrm>
              <a:off x="7391400" y="2013466"/>
              <a:ext cx="3631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6155133" y="1671870"/>
              <a:ext cx="46038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flip</a:t>
              </a:r>
            </a:p>
          </p:txBody>
        </p:sp>
        <p:sp>
          <p:nvSpPr>
            <p:cNvPr id="35" name="TextBox 34"/>
            <p:cNvSpPr txBox="1"/>
            <p:nvPr/>
          </p:nvSpPr>
          <p:spPr>
            <a:xfrm>
              <a:off x="7335445" y="1671870"/>
              <a:ext cx="4347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+1</a:t>
              </a:r>
            </a:p>
          </p:txBody>
        </p:sp>
        <p:sp>
          <p:nvSpPr>
            <p:cNvPr id="36" name="TextBox 35"/>
            <p:cNvSpPr txBox="1"/>
            <p:nvPr/>
          </p:nvSpPr>
          <p:spPr>
            <a:xfrm>
              <a:off x="5632523" y="1585615"/>
              <a:ext cx="31130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9</a:t>
              </a:r>
            </a:p>
          </p:txBody>
        </p:sp>
        <p:sp>
          <p:nvSpPr>
            <p:cNvPr id="37" name="TextBox 36"/>
            <p:cNvSpPr txBox="1"/>
            <p:nvPr/>
          </p:nvSpPr>
          <p:spPr>
            <a:xfrm>
              <a:off x="7892360" y="1565669"/>
              <a:ext cx="43794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-9</a:t>
              </a:r>
            </a:p>
          </p:txBody>
        </p:sp>
      </p:grpSp>
      <p:grpSp>
        <p:nvGrpSpPr>
          <p:cNvPr id="39" name="Group 38"/>
          <p:cNvGrpSpPr/>
          <p:nvPr/>
        </p:nvGrpSpPr>
        <p:grpSpPr>
          <a:xfrm>
            <a:off x="3435311" y="4396737"/>
            <a:ext cx="3803689" cy="632463"/>
            <a:chOff x="4768672" y="1565669"/>
            <a:chExt cx="3803689" cy="632463"/>
          </a:xfrm>
        </p:grpSpPr>
        <p:cxnSp>
          <p:nvCxnSpPr>
            <p:cNvPr id="41" name="Straight Arrow Connector 40"/>
            <p:cNvCxnSpPr>
              <a:cxnSpLocks/>
              <a:stCxn id="60" idx="3"/>
              <a:endCxn id="42" idx="1"/>
            </p:cNvCxnSpPr>
            <p:nvPr/>
          </p:nvCxnSpPr>
          <p:spPr>
            <a:xfrm flipV="1">
              <a:off x="4768672" y="2013466"/>
              <a:ext cx="1804875" cy="1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6573547" y="1828800"/>
              <a:ext cx="81785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FF"/>
                  </a:solidFill>
                  <a:effectLst/>
                  <a:uLnTx/>
                  <a:uFillTx/>
                  <a:latin typeface="Consolas" panose="020B0609020204030204" pitchFamily="49" charset="0"/>
                  <a:ea typeface="+mn-ea"/>
                  <a:cs typeface="Consolas" panose="020B0609020204030204" pitchFamily="49" charset="0"/>
                </a:rPr>
                <a:t>00010</a:t>
              </a:r>
            </a:p>
          </p:txBody>
        </p:sp>
        <p:sp>
          <p:nvSpPr>
            <p:cNvPr id="43" name="Rectangle 42"/>
            <p:cNvSpPr/>
            <p:nvPr/>
          </p:nvSpPr>
          <p:spPr>
            <a:xfrm>
              <a:off x="7754508" y="1828800"/>
              <a:ext cx="81785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FF"/>
                  </a:solidFill>
                  <a:effectLst/>
                  <a:uLnTx/>
                  <a:uFillTx/>
                  <a:latin typeface="Consolas" panose="020B0609020204030204" pitchFamily="49" charset="0"/>
                  <a:ea typeface="+mn-ea"/>
                  <a:cs typeface="Consolas" panose="020B0609020204030204" pitchFamily="49" charset="0"/>
                </a:rPr>
                <a:t>00011</a:t>
              </a:r>
            </a:p>
          </p:txBody>
        </p:sp>
        <p:cxnSp>
          <p:nvCxnSpPr>
            <p:cNvPr id="44" name="Straight Arrow Connector 43"/>
            <p:cNvCxnSpPr>
              <a:stCxn id="42" idx="3"/>
              <a:endCxn id="43" idx="1"/>
            </p:cNvCxnSpPr>
            <p:nvPr/>
          </p:nvCxnSpPr>
          <p:spPr>
            <a:xfrm>
              <a:off x="7391400" y="2013466"/>
              <a:ext cx="3631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6155133" y="1676400"/>
              <a:ext cx="46038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flip</a:t>
              </a:r>
            </a:p>
          </p:txBody>
        </p:sp>
        <p:sp>
          <p:nvSpPr>
            <p:cNvPr id="46" name="TextBox 45"/>
            <p:cNvSpPr txBox="1"/>
            <p:nvPr/>
          </p:nvSpPr>
          <p:spPr>
            <a:xfrm>
              <a:off x="7335445" y="1671870"/>
              <a:ext cx="4347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+1</a:t>
              </a:r>
            </a:p>
          </p:txBody>
        </p:sp>
        <p:sp>
          <p:nvSpPr>
            <p:cNvPr id="48" name="TextBox 47"/>
            <p:cNvSpPr txBox="1"/>
            <p:nvPr/>
          </p:nvSpPr>
          <p:spPr>
            <a:xfrm>
              <a:off x="7962761" y="1565669"/>
              <a:ext cx="31130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rPr>
                <a:t>3</a:t>
              </a:r>
              <a:endParaRPr kumimoji="0" lang="en-US" sz="18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p:txBody>
        </p:sp>
      </p:grpSp>
      <p:sp>
        <p:nvSpPr>
          <p:cNvPr id="51" name="TextBox 50"/>
          <p:cNvSpPr txBox="1"/>
          <p:nvPr/>
        </p:nvSpPr>
        <p:spPr>
          <a:xfrm>
            <a:off x="7229601" y="2372380"/>
            <a:ext cx="1228599"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Gill Sans MT"/>
                <a:ea typeface="+mn-ea"/>
                <a:cs typeface="+mn-cs"/>
              </a:rPr>
              <a:t>Two’s Complement</a:t>
            </a:r>
          </a:p>
        </p:txBody>
      </p:sp>
      <p:graphicFrame>
        <p:nvGraphicFramePr>
          <p:cNvPr id="5" name="Table 4"/>
          <p:cNvGraphicFramePr>
            <a:graphicFrameLocks noGrp="1"/>
          </p:cNvGraphicFramePr>
          <p:nvPr/>
        </p:nvGraphicFramePr>
        <p:xfrm>
          <a:off x="1069848" y="1981200"/>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52" name="Table 51"/>
          <p:cNvGraphicFramePr>
            <a:graphicFrameLocks noGrp="1"/>
          </p:cNvGraphicFramePr>
          <p:nvPr/>
        </p:nvGraphicFramePr>
        <p:xfrm>
          <a:off x="2948208" y="1990052"/>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r>
                        <a:rPr lang="en-US" sz="1800" b="1" dirty="0">
                          <a:solidFill>
                            <a:srgbClr val="00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53" name="Table 52"/>
          <p:cNvGraphicFramePr>
            <a:graphicFrameLocks noGrp="1"/>
          </p:cNvGraphicFramePr>
          <p:nvPr/>
        </p:nvGraphicFramePr>
        <p:xfrm>
          <a:off x="2058925" y="4654175"/>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r>
                        <a:rPr lang="en-US" sz="1800" b="1" dirty="0">
                          <a:solidFill>
                            <a:srgbClr val="FF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6" name="Rounded Rectangle 5"/>
          <p:cNvSpPr/>
          <p:nvPr/>
        </p:nvSpPr>
        <p:spPr>
          <a:xfrm>
            <a:off x="1143000" y="3225544"/>
            <a:ext cx="3082232" cy="526262"/>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Gill Sans MT"/>
                <a:ea typeface="+mn-ea"/>
                <a:cs typeface="+mn-cs"/>
              </a:rPr>
              <a:t>Hardware Adder</a:t>
            </a:r>
          </a:p>
        </p:txBody>
      </p:sp>
      <p:sp>
        <p:nvSpPr>
          <p:cNvPr id="54" name="TextBox 53"/>
          <p:cNvSpPr txBox="1"/>
          <p:nvPr/>
        </p:nvSpPr>
        <p:spPr>
          <a:xfrm>
            <a:off x="1524000" y="2357735"/>
            <a:ext cx="52450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23</a:t>
            </a:r>
          </a:p>
        </p:txBody>
      </p:sp>
      <p:sp>
        <p:nvSpPr>
          <p:cNvPr id="56" name="TextBox 55"/>
          <p:cNvSpPr txBox="1"/>
          <p:nvPr/>
        </p:nvSpPr>
        <p:spPr>
          <a:xfrm>
            <a:off x="3460485" y="2357735"/>
            <a:ext cx="35458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00FF"/>
                </a:solidFill>
                <a:effectLst/>
                <a:uLnTx/>
                <a:uFillTx/>
                <a:latin typeface="Consolas" panose="020B0609020204030204" pitchFamily="49" charset="0"/>
                <a:ea typeface="+mn-ea"/>
                <a:cs typeface="Consolas" panose="020B0609020204030204" pitchFamily="49" charset="0"/>
              </a:rPr>
              <a:t>6</a:t>
            </a:r>
          </a:p>
        </p:txBody>
      </p:sp>
      <p:grpSp>
        <p:nvGrpSpPr>
          <p:cNvPr id="26" name="Group 25"/>
          <p:cNvGrpSpPr/>
          <p:nvPr/>
        </p:nvGrpSpPr>
        <p:grpSpPr>
          <a:xfrm>
            <a:off x="1754123" y="2795615"/>
            <a:ext cx="1883654" cy="1390805"/>
            <a:chOff x="1754123" y="2743200"/>
            <a:chExt cx="1883654" cy="1390805"/>
          </a:xfrm>
        </p:grpSpPr>
        <p:cxnSp>
          <p:nvCxnSpPr>
            <p:cNvPr id="16" name="Straight Arrow Connector 15"/>
            <p:cNvCxnSpPr/>
            <p:nvPr/>
          </p:nvCxnSpPr>
          <p:spPr>
            <a:xfrm>
              <a:off x="1754123" y="2743200"/>
              <a:ext cx="0" cy="419322"/>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5" name="Straight Arrow Connector 54"/>
            <p:cNvCxnSpPr/>
            <p:nvPr/>
          </p:nvCxnSpPr>
          <p:spPr>
            <a:xfrm>
              <a:off x="3637777" y="2743200"/>
              <a:ext cx="0" cy="419322"/>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p:cNvCxnSpPr/>
            <p:nvPr/>
          </p:nvCxnSpPr>
          <p:spPr>
            <a:xfrm>
              <a:off x="2743200" y="3714683"/>
              <a:ext cx="0" cy="419322"/>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grpSp>
      <p:sp>
        <p:nvSpPr>
          <p:cNvPr id="58" name="TextBox 57"/>
          <p:cNvSpPr txBox="1"/>
          <p:nvPr/>
        </p:nvSpPr>
        <p:spPr>
          <a:xfrm>
            <a:off x="2471047" y="4191000"/>
            <a:ext cx="52450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FF"/>
                </a:solidFill>
                <a:effectLst/>
                <a:uLnTx/>
                <a:uFillTx/>
                <a:latin typeface="Consolas" panose="020B0609020204030204" pitchFamily="49" charset="0"/>
                <a:ea typeface="+mn-ea"/>
                <a:cs typeface="Consolas" panose="020B0609020204030204" pitchFamily="49" charset="0"/>
              </a:rPr>
              <a:t>29</a:t>
            </a:r>
          </a:p>
        </p:txBody>
      </p:sp>
      <p:sp>
        <p:nvSpPr>
          <p:cNvPr id="19" name="TextBox 18"/>
          <p:cNvSpPr txBox="1"/>
          <p:nvPr/>
        </p:nvSpPr>
        <p:spPr>
          <a:xfrm>
            <a:off x="2514600" y="1295400"/>
            <a:ext cx="35458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black"/>
                </a:solidFill>
                <a:effectLst/>
                <a:uLnTx/>
                <a:uFillTx/>
                <a:latin typeface="Consolas" charset="0"/>
                <a:ea typeface="Consolas" charset="0"/>
                <a:cs typeface="Consolas" charset="0"/>
              </a:rPr>
              <a:t>+</a:t>
            </a:r>
          </a:p>
        </p:txBody>
      </p:sp>
      <p:graphicFrame>
        <p:nvGraphicFramePr>
          <p:cNvPr id="59" name="Table 58"/>
          <p:cNvGraphicFramePr>
            <a:graphicFrameLocks noGrp="1"/>
          </p:cNvGraphicFramePr>
          <p:nvPr/>
        </p:nvGraphicFramePr>
        <p:xfrm>
          <a:off x="2956044" y="2001694"/>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extLst>
                  <a:ext uri="{0D108BD9-81ED-4DB2-BD59-A6C34878D82A}">
                    <a16:rowId xmlns:a16="http://schemas.microsoft.com/office/drawing/2014/main" val="10000"/>
                  </a:ext>
                </a:extLst>
              </a:tr>
            </a:tbl>
          </a:graphicData>
        </a:graphic>
      </p:graphicFrame>
      <p:graphicFrame>
        <p:nvGraphicFramePr>
          <p:cNvPr id="60" name="Table 59"/>
          <p:cNvGraphicFramePr>
            <a:graphicFrameLocks noGrp="1"/>
          </p:cNvGraphicFramePr>
          <p:nvPr/>
        </p:nvGraphicFramePr>
        <p:xfrm>
          <a:off x="2066761" y="4663440"/>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extLst>
                  <a:ext uri="{0D108BD9-81ED-4DB2-BD59-A6C34878D82A}">
                    <a16:rowId xmlns:a16="http://schemas.microsoft.com/office/drawing/2014/main" val="10000"/>
                  </a:ext>
                </a:extLst>
              </a:tr>
            </a:tbl>
          </a:graphicData>
        </a:graphic>
      </p:graphicFrame>
      <p:graphicFrame>
        <p:nvGraphicFramePr>
          <p:cNvPr id="61" name="Table 60"/>
          <p:cNvGraphicFramePr>
            <a:graphicFrameLocks noGrp="1"/>
          </p:cNvGraphicFramePr>
          <p:nvPr/>
        </p:nvGraphicFramePr>
        <p:xfrm>
          <a:off x="1085414" y="1988846"/>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extLst>
                  <a:ext uri="{0D108BD9-81ED-4DB2-BD59-A6C34878D82A}">
                    <a16:rowId xmlns:a16="http://schemas.microsoft.com/office/drawing/2014/main" val="10000"/>
                  </a:ext>
                </a:extLst>
              </a:tr>
            </a:tbl>
          </a:graphicData>
        </a:graphic>
      </p:graphicFrame>
      <p:sp>
        <p:nvSpPr>
          <p:cNvPr id="63" name="TextBox 62"/>
          <p:cNvSpPr txBox="1"/>
          <p:nvPr/>
        </p:nvSpPr>
        <p:spPr>
          <a:xfrm>
            <a:off x="6019800" y="5039380"/>
            <a:ext cx="1629984"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Gill Sans MT"/>
                <a:ea typeface="+mn-ea"/>
                <a:cs typeface="+mn-cs"/>
              </a:rPr>
              <a:t>Two’s Complement Counterpart</a:t>
            </a:r>
            <a:endParaRPr kumimoji="0" lang="en-US" sz="1400" b="0" i="0" u="none" strike="noStrike" kern="1200" cap="none" spc="0" normalizeH="0" baseline="0" noProof="0" dirty="0">
              <a:ln>
                <a:noFill/>
              </a:ln>
              <a:solidFill>
                <a:prstClr val="black"/>
              </a:solidFill>
              <a:effectLst/>
              <a:uLnTx/>
              <a:uFillTx/>
              <a:latin typeface="Gill Sans MT"/>
              <a:ea typeface="+mn-ea"/>
              <a:cs typeface="+mn-cs"/>
            </a:endParaRPr>
          </a:p>
        </p:txBody>
      </p:sp>
      <p:sp>
        <p:nvSpPr>
          <p:cNvPr id="47" name="Content Placeholder 3"/>
          <p:cNvSpPr>
            <a:spLocks noGrp="1"/>
          </p:cNvSpPr>
          <p:nvPr>
            <p:ph sz="quarter" idx="1"/>
          </p:nvPr>
        </p:nvSpPr>
        <p:spPr>
          <a:xfrm>
            <a:off x="937163" y="5520968"/>
            <a:ext cx="8229600" cy="1266131"/>
          </a:xfrm>
        </p:spPr>
        <p:txBody>
          <a:bodyPr>
            <a:normAutofit fontScale="62500" lnSpcReduction="20000"/>
          </a:bodyPr>
          <a:lstStyle/>
          <a:p>
            <a:r>
              <a:rPr lang="en-US" dirty="0"/>
              <a:t>Same bit patterns, different interpretation.</a:t>
            </a:r>
          </a:p>
          <a:p>
            <a:pPr lvl="1"/>
            <a:r>
              <a:rPr lang="en-US" dirty="0"/>
              <a:t>Unsigned addition: 23+6=29</a:t>
            </a:r>
          </a:p>
          <a:p>
            <a:pPr lvl="1"/>
            <a:r>
              <a:rPr lang="en-US" dirty="0"/>
              <a:t>Signed addition: -9+6=-3</a:t>
            </a:r>
          </a:p>
          <a:p>
            <a:r>
              <a:rPr lang="en-US" dirty="0"/>
              <a:t>This example shows that the hardware adder for adding unsigned numbers, also works correctly for adding signed numbers.</a:t>
            </a:r>
          </a:p>
        </p:txBody>
      </p:sp>
    </p:spTree>
    <p:custDataLst>
      <p:tags r:id="rId1"/>
    </p:custDataLst>
    <p:extLst>
      <p:ext uri="{BB962C8B-B14F-4D97-AF65-F5344CB8AC3E}">
        <p14:creationId xmlns:p14="http://schemas.microsoft.com/office/powerpoint/2010/main" val="2023726538"/>
      </p:ext>
    </p:extLst>
  </p:cSld>
  <p:clrMapOvr>
    <a:masterClrMapping/>
  </p:clrMapOvr>
  <mc:AlternateContent xmlns:mc="http://schemas.openxmlformats.org/markup-compatibility/2006" xmlns:p14="http://schemas.microsoft.com/office/powerpoint/2010/main">
    <mc:Choice Requires="p14">
      <p:transition spd="slow" p14:dur="2000" advTm="81247"/>
    </mc:Choice>
    <mc:Fallback xmlns="">
      <p:transition spd="slow" advTm="8124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7">
                                            <p:txEl>
                                              <p:pRg st="0" end="0"/>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7">
                                            <p:txEl>
                                              <p:pRg st="1" end="1"/>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7">
                                            <p:txEl>
                                              <p:pRg st="2" end="2"/>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49" grpId="0" animBg="1"/>
      <p:bldP spid="22" grpId="0"/>
      <p:bldP spid="51" grpId="0"/>
      <p:bldP spid="54" grpId="0"/>
      <p:bldP spid="56" grpId="0"/>
      <p:bldP spid="58" grpId="0"/>
      <p:bldP spid="63" grpId="0"/>
      <p:bldP spid="47" grpId="0" build="p"/>
    </p:bldLst>
  </p:timing>
  <p:extLst>
    <p:ext uri="{3A86A75C-4F4B-4683-9AE1-C65F6400EC91}">
      <p14:laserTraceLst xmlns:p14="http://schemas.microsoft.com/office/powerpoint/2010/main">
        <p14:tracePtLst>
          <p14:tracePt t="11569" x="1606550" y="1719263"/>
          <p14:tracePt t="11677" x="1616075" y="1719263"/>
          <p14:tracePt t="11689" x="1641475" y="1719263"/>
          <p14:tracePt t="11698" x="1649413" y="1719263"/>
          <p14:tracePt t="11712" x="1666875" y="1719263"/>
          <p14:tracePt t="11724" x="1676400" y="1719263"/>
          <p14:tracePt t="11732" x="1692275" y="1719263"/>
          <p14:tracePt t="11744" x="1709738" y="1719263"/>
          <p14:tracePt t="11746" x="1719263" y="1719263"/>
          <p14:tracePt t="11757" x="1736725" y="1719263"/>
          <p14:tracePt t="11758" x="1752600" y="1719263"/>
          <p14:tracePt t="11760" x="1762125" y="1719263"/>
          <p14:tracePt t="11764" x="1779588" y="1727200"/>
          <p14:tracePt t="11768" x="1795463" y="1736725"/>
          <p14:tracePt t="11778" x="1804988" y="1736725"/>
          <p14:tracePt t="11780" x="1822450" y="1736725"/>
          <p14:tracePt t="11782" x="1838325" y="1744663"/>
          <p14:tracePt t="11784" x="1855788" y="1744663"/>
          <p14:tracePt t="11789" x="1865313" y="1744663"/>
          <p14:tracePt t="11790" x="1882775" y="1744663"/>
          <p14:tracePt t="11794" x="1890713" y="1744663"/>
          <p14:tracePt t="11798" x="1916113" y="1752600"/>
          <p14:tracePt t="11800" x="1941513" y="1762125"/>
          <p14:tracePt t="11802" x="1958975" y="1762125"/>
          <p14:tracePt t="11805" x="1968500" y="1762125"/>
          <p14:tracePt t="11806" x="1985963" y="1762125"/>
          <p14:tracePt t="11808" x="1993900" y="1770063"/>
          <p14:tracePt t="11810" x="2011363" y="1779588"/>
          <p14:tracePt t="11814" x="2028825" y="1779588"/>
          <p14:tracePt t="11816" x="2054225" y="1779588"/>
          <p14:tracePt t="11822" x="2079625" y="1779588"/>
          <p14:tracePt t="11822" x="2105025" y="1779588"/>
          <p14:tracePt t="11824" x="2122488" y="1779588"/>
          <p14:tracePt t="11826" x="2147888" y="1787525"/>
          <p14:tracePt t="11830" x="2182813" y="1795463"/>
          <p14:tracePt t="11832" x="2200275" y="1795463"/>
          <p14:tracePt t="11834" x="2225675" y="1795463"/>
          <p14:tracePt t="11836" x="2251075" y="1795463"/>
          <p14:tracePt t="11839" x="2260600" y="1795463"/>
          <p14:tracePt t="11840" x="2286000" y="1804988"/>
          <p14:tracePt t="11842" x="2311400" y="1812925"/>
          <p14:tracePt t="11844" x="2328863" y="1812925"/>
          <p14:tracePt t="11847" x="2346325" y="1812925"/>
          <p14:tracePt t="11848" x="2371725" y="1812925"/>
          <p14:tracePt t="11850" x="2389188" y="1812925"/>
          <p14:tracePt t="11855" x="2406650" y="1812925"/>
          <p14:tracePt t="11856" x="2439988" y="1822450"/>
          <p14:tracePt t="11858" x="2466975" y="1830388"/>
          <p14:tracePt t="11860" x="2492375" y="1830388"/>
          <p14:tracePt t="11862" x="2517775" y="1830388"/>
          <p14:tracePt t="11864" x="2535238" y="1830388"/>
          <p14:tracePt t="11866" x="2560638" y="1838325"/>
          <p14:tracePt t="11868" x="2586038" y="1838325"/>
          <p14:tracePt t="11872" x="2620963" y="1838325"/>
          <p14:tracePt t="11873" x="2646363" y="1838325"/>
          <p14:tracePt t="11874" x="2655888" y="1838325"/>
          <p14:tracePt t="11876" x="2673350" y="1838325"/>
          <p14:tracePt t="11878" x="2698750" y="1838325"/>
          <p14:tracePt t="11880" x="2716213" y="1838325"/>
          <p14:tracePt t="11882" x="2741613" y="1838325"/>
          <p14:tracePt t="11884" x="2767013" y="1838325"/>
          <p14:tracePt t="11886" x="2784475" y="1847850"/>
          <p14:tracePt t="11889" x="2792413" y="1855788"/>
          <p14:tracePt t="11890" x="2819400" y="1855788"/>
          <p14:tracePt t="11894" x="2852738" y="1855788"/>
          <p14:tracePt t="11896" x="2879725" y="1855788"/>
          <p14:tracePt t="11898" x="2887663" y="1855788"/>
          <p14:tracePt t="11900" x="2905125" y="1865313"/>
          <p14:tracePt t="11902" x="2922588" y="1873250"/>
          <p14:tracePt t="11905" x="2938463" y="1873250"/>
          <p14:tracePt t="11906" x="2955925" y="1873250"/>
          <p14:tracePt t="11908" x="2973388" y="1873250"/>
          <p14:tracePt t="11910" x="2981325" y="1873250"/>
          <p14:tracePt t="11913" x="2998788" y="1873250"/>
          <p14:tracePt t="11914" x="3025775" y="1873250"/>
          <p14:tracePt t="11919" x="3033713" y="1873250"/>
          <p14:tracePt t="11922" x="3051175" y="1873250"/>
          <p14:tracePt t="11922" x="3068638" y="1873250"/>
          <p14:tracePt t="11924" x="3076575" y="1873250"/>
          <p14:tracePt t="11926" x="3094038" y="1873250"/>
          <p14:tracePt t="11928" x="3111500" y="1882775"/>
          <p14:tracePt t="11930" x="3119438" y="1890713"/>
          <p14:tracePt t="11933" x="3136900" y="1890713"/>
          <p14:tracePt t="11937" x="3154363" y="1890713"/>
          <p14:tracePt t="11939" x="3162300" y="1890713"/>
          <p14:tracePt t="11940" x="3179763" y="1890713"/>
          <p14:tracePt t="11942" x="3197225" y="1890713"/>
          <p14:tracePt t="11946" x="3205163" y="1890713"/>
          <p14:tracePt t="11948" x="3222625" y="1890713"/>
          <p14:tracePt t="11950" x="3240088" y="1890713"/>
          <p14:tracePt t="11955" x="3248025" y="1890713"/>
          <p14:tracePt t="11956" x="3265488" y="1890713"/>
          <p14:tracePt t="11960" x="3290888" y="1890713"/>
          <p14:tracePt t="11964" x="3308350" y="1890713"/>
          <p14:tracePt t="11966" x="3325813" y="1890713"/>
          <p14:tracePt t="11968" x="3343275" y="1890713"/>
          <p14:tracePt t="11972" x="3360738" y="1890713"/>
          <p14:tracePt t="11974" x="3386138" y="1890713"/>
          <p14:tracePt t="11979" x="3411538" y="1890713"/>
          <p14:tracePt t="11980" x="3421063" y="1890713"/>
          <p14:tracePt t="11982" x="3436938" y="1890713"/>
          <p14:tracePt t="11985" x="3454400" y="1890713"/>
          <p14:tracePt t="11987" x="3463925" y="1890713"/>
          <p14:tracePt t="11989" x="3479800" y="1890713"/>
          <p14:tracePt t="11990" x="3497263" y="1873250"/>
          <p14:tracePt t="11992" x="3514725" y="1865313"/>
          <p14:tracePt t="11994" x="3524250" y="1865313"/>
          <p14:tracePt t="11996" x="3540125" y="1855788"/>
          <p14:tracePt t="11998" x="3557588" y="1847850"/>
          <p14:tracePt t="12005" x="3575050" y="1847850"/>
          <p14:tracePt t="12006" x="3582988" y="1838325"/>
          <p14:tracePt t="12008" x="3600450" y="1830388"/>
          <p14:tracePt t="12014" x="3617913" y="1822450"/>
          <p14:tracePt t="12016" x="3627438" y="1822450"/>
          <p14:tracePt t="12023" x="3635375" y="1812925"/>
          <p14:tracePt t="12032" x="3635375" y="1804988"/>
          <p14:tracePt t="12037" x="3643313" y="1795463"/>
          <p14:tracePt t="12049" x="3652838" y="1795463"/>
          <p14:tracePt t="12050" x="3670300" y="1787525"/>
          <p14:tracePt t="12057" x="3686175" y="1770063"/>
          <p14:tracePt t="12060" x="3703638" y="1762125"/>
          <p14:tracePt t="12066" x="3713163" y="1752600"/>
          <p14:tracePt t="12068" x="3721100" y="1744663"/>
          <p14:tracePt t="12072" x="3729038" y="1736725"/>
          <p14:tracePt t="12076" x="3738563" y="1719263"/>
          <p14:tracePt t="12080" x="3756025" y="1709738"/>
          <p14:tracePt t="12082" x="3773488" y="1709738"/>
          <p14:tracePt t="12084" x="3773488" y="1701800"/>
          <p14:tracePt t="12086" x="3781425" y="1701800"/>
          <p14:tracePt t="12090" x="3798888" y="1701800"/>
          <p14:tracePt t="12092" x="3798888" y="1692275"/>
          <p14:tracePt t="12094" x="3806825" y="1684338"/>
          <p14:tracePt t="12098" x="3824288" y="1684338"/>
          <p14:tracePt t="12100" x="3832225" y="1684338"/>
          <p14:tracePt t="12102" x="3849688" y="1676400"/>
          <p14:tracePt t="12107" x="3859213" y="1666875"/>
          <p14:tracePt t="12111" x="3867150" y="1658938"/>
          <p14:tracePt t="12114" x="3876675" y="1649413"/>
          <p14:tracePt t="12116" x="3892550" y="1641475"/>
          <p14:tracePt t="12122" x="3902075" y="1641475"/>
          <p14:tracePt t="12123" x="3902075" y="1633538"/>
          <p14:tracePt t="12124" x="3919538" y="1633538"/>
          <p14:tracePt t="12126" x="3935413" y="1633538"/>
          <p14:tracePt t="12130" x="3944938" y="1624013"/>
          <p14:tracePt t="12132" x="3962400" y="1616075"/>
          <p14:tracePt t="12134" x="3970338" y="1606550"/>
          <p14:tracePt t="12136" x="3978275" y="1606550"/>
          <p14:tracePt t="12139" x="3987800" y="1606550"/>
          <p14:tracePt t="12142" x="4005263" y="1606550"/>
          <p14:tracePt t="12146" x="4013200" y="1598613"/>
          <p14:tracePt t="12148" x="4030663" y="1590675"/>
          <p14:tracePt t="12150" x="4048125" y="1590675"/>
          <p14:tracePt t="12152" x="4056063" y="1590675"/>
          <p14:tracePt t="12155" x="4065588" y="1581150"/>
          <p14:tracePt t="12156" x="4073525" y="1573213"/>
          <p14:tracePt t="12160" x="4081463" y="1573213"/>
          <p14:tracePt t="12162" x="4098925" y="1573213"/>
          <p14:tracePt t="12164" x="4116388" y="1573213"/>
          <p14:tracePt t="12166" x="4133850" y="1563688"/>
          <p14:tracePt t="12172" x="4133850" y="1555750"/>
          <p14:tracePt t="12236" x="4133850" y="1538288"/>
          <p14:tracePt t="12237" x="4141788" y="1538288"/>
          <p14:tracePt t="12257" x="4151313" y="1530350"/>
          <p14:tracePt t="12275" x="4151313" y="1512888"/>
          <p14:tracePt t="12291" x="4141788" y="1512888"/>
          <p14:tracePt t="12295" x="4124325" y="1503363"/>
          <p14:tracePt t="12296" x="4108450" y="1495425"/>
          <p14:tracePt t="12300" x="4090988" y="1495425"/>
          <p14:tracePt t="12302" x="4081463" y="1487488"/>
          <p14:tracePt t="12305" x="4073525" y="1470025"/>
          <p14:tracePt t="12306" x="4065588" y="1470025"/>
          <p14:tracePt t="12308" x="4048125" y="1470025"/>
          <p14:tracePt t="12310" x="4038600" y="1470025"/>
          <p14:tracePt t="12312" x="4022725" y="1470025"/>
          <p14:tracePt t="12314" x="4005263" y="1460500"/>
          <p14:tracePt t="12316" x="3995738" y="1452563"/>
          <p14:tracePt t="12318" x="3978275" y="1443038"/>
          <p14:tracePt t="12322" x="3962400" y="1435100"/>
          <p14:tracePt t="12323" x="3944938" y="1427163"/>
          <p14:tracePt t="12324" x="3935413" y="1417638"/>
          <p14:tracePt t="12326" x="3910013" y="1417638"/>
          <p14:tracePt t="12328" x="3892550" y="1409700"/>
          <p14:tracePt t="12332" x="3867150" y="1392238"/>
          <p14:tracePt t="12334" x="3849688" y="1392238"/>
          <p14:tracePt t="12336" x="3832225" y="1392238"/>
          <p14:tracePt t="12339" x="3806825" y="1392238"/>
          <p14:tracePt t="12341" x="3781425" y="1384300"/>
          <p14:tracePt t="12342" x="3773488" y="1374775"/>
          <p14:tracePt t="12344" x="3746500" y="1374775"/>
          <p14:tracePt t="12346" x="3721100" y="1374775"/>
          <p14:tracePt t="12348" x="3703638" y="1366838"/>
          <p14:tracePt t="12350" x="3686175" y="1357313"/>
          <p14:tracePt t="12355" x="3652838" y="1357313"/>
          <p14:tracePt t="12356" x="3617913" y="1357313"/>
          <p14:tracePt t="12358" x="3582988" y="1349375"/>
          <p14:tracePt t="12360" x="3557588" y="1341438"/>
          <p14:tracePt t="12362" x="3549650" y="1341438"/>
          <p14:tracePt t="12364" x="3532188" y="1341438"/>
          <p14:tracePt t="12366" x="3506788" y="1341438"/>
          <p14:tracePt t="12368" x="3479800" y="1341438"/>
          <p14:tracePt t="12372" x="3463925" y="1341438"/>
          <p14:tracePt t="12373" x="3446463" y="1341438"/>
          <p14:tracePt t="12374" x="3429000" y="1331913"/>
          <p14:tracePt t="12376" x="3421063" y="1323975"/>
          <p14:tracePt t="12378" x="3394075" y="1323975"/>
          <p14:tracePt t="12380" x="3378200" y="1323975"/>
          <p14:tracePt t="12383" x="3368675" y="1323975"/>
          <p14:tracePt t="12384" x="3351213" y="1323975"/>
          <p14:tracePt t="12386" x="3333750" y="1323975"/>
          <p14:tracePt t="12391" x="3317875" y="1323975"/>
          <p14:tracePt t="12392" x="3290888" y="1323975"/>
          <p14:tracePt t="12396" x="3265488" y="1323975"/>
          <p14:tracePt t="12400" x="3240088" y="1323975"/>
          <p14:tracePt t="12402" x="3230563" y="1323975"/>
          <p14:tracePt t="12405" x="3205163" y="1323975"/>
          <p14:tracePt t="12407" x="3187700" y="1323975"/>
          <p14:tracePt t="12408" x="3179763" y="1323975"/>
          <p14:tracePt t="12410" x="3162300" y="1314450"/>
          <p14:tracePt t="12412" x="3144838" y="1314450"/>
          <p14:tracePt t="12414" x="3136900" y="1314450"/>
          <p14:tracePt t="12416" x="3111500" y="1314450"/>
          <p14:tracePt t="12423" x="3094038" y="1314450"/>
          <p14:tracePt t="12425" x="3084513" y="1314450"/>
          <p14:tracePt t="12428" x="3059113" y="1314450"/>
          <p14:tracePt t="12432" x="3033713" y="1314450"/>
          <p14:tracePt t="12434" x="3016250" y="1314450"/>
          <p14:tracePt t="12436" x="3008313" y="1314450"/>
          <p14:tracePt t="12439" x="2990850" y="1314450"/>
          <p14:tracePt t="12442" x="2981325" y="1314450"/>
          <p14:tracePt t="12444" x="2965450" y="1314450"/>
          <p14:tracePt t="12446" x="2947988" y="1314450"/>
          <p14:tracePt t="12448" x="2938463" y="1314450"/>
          <p14:tracePt t="12450" x="2922588" y="1314450"/>
          <p14:tracePt t="12452" x="2905125" y="1314450"/>
          <p14:tracePt t="12455" x="2895600" y="1314450"/>
          <p14:tracePt t="12456" x="2879725" y="1314450"/>
          <p14:tracePt t="12458" x="2852738" y="1314450"/>
          <p14:tracePt t="12460" x="2844800" y="1314450"/>
          <p14:tracePt t="12462" x="2827338" y="1314450"/>
          <p14:tracePt t="12464" x="2801938" y="1314450"/>
          <p14:tracePt t="12468" x="2792413" y="1314450"/>
          <p14:tracePt t="12472" x="2776538" y="1314450"/>
          <p14:tracePt t="12473" x="2759075" y="1314450"/>
          <p14:tracePt t="12474" x="2749550" y="1314450"/>
          <p14:tracePt t="12476" x="2724150" y="1314450"/>
          <p14:tracePt t="12478" x="2698750" y="1314450"/>
          <p14:tracePt t="12480" x="2689225" y="1314450"/>
          <p14:tracePt t="12483" x="2673350" y="1314450"/>
          <p14:tracePt t="12485" x="2646363" y="1314450"/>
          <p14:tracePt t="12487" x="2630488" y="1314450"/>
          <p14:tracePt t="12490" x="2603500" y="1314450"/>
          <p14:tracePt t="12492" x="2578100" y="1314450"/>
          <p14:tracePt t="12495" x="2560638" y="1314450"/>
          <p14:tracePt t="12497" x="2543175" y="1314450"/>
          <p14:tracePt t="12498" x="2517775" y="1314450"/>
          <p14:tracePt t="12500" x="2500313" y="1314450"/>
          <p14:tracePt t="12502" x="2484438" y="1314450"/>
          <p14:tracePt t="12505" x="2457450" y="1314450"/>
          <p14:tracePt t="12507" x="2432050" y="1314450"/>
          <p14:tracePt t="12508" x="2406650" y="1314450"/>
          <p14:tracePt t="12510" x="2397125" y="1314450"/>
          <p14:tracePt t="12512" x="2371725" y="1314450"/>
          <p14:tracePt t="12514" x="2346325" y="1314450"/>
          <p14:tracePt t="12516" x="2336800" y="1314450"/>
          <p14:tracePt t="12518" x="2311400" y="1314450"/>
          <p14:tracePt t="12522" x="2286000" y="1314450"/>
          <p14:tracePt t="12523" x="2278063" y="1314450"/>
          <p14:tracePt t="12524" x="2260600" y="1314450"/>
          <p14:tracePt t="12526" x="2243138" y="1314450"/>
          <p14:tracePt t="12528" x="2235200" y="1314450"/>
          <p14:tracePt t="12530" x="2217738" y="1314450"/>
          <p14:tracePt t="12532" x="2200275" y="1314450"/>
          <p14:tracePt t="12534" x="2190750" y="1314450"/>
          <p14:tracePt t="12536" x="2174875" y="1314450"/>
          <p14:tracePt t="12539" x="2157413" y="1314450"/>
          <p14:tracePt t="12542" x="2132013" y="1314450"/>
          <p14:tracePt t="12549" x="2114550" y="1314450"/>
          <p14:tracePt t="12551" x="2097088" y="1314450"/>
          <p14:tracePt t="12553" x="2079625" y="1314450"/>
          <p14:tracePt t="12556" x="2071688" y="1314450"/>
          <p14:tracePt t="12559" x="2054225" y="1314450"/>
          <p14:tracePt t="12565" x="2036763" y="1314450"/>
          <p14:tracePt t="12566" x="2028825" y="1314450"/>
          <p14:tracePt t="12572" x="2011363" y="1314450"/>
          <p14:tracePt t="12573" x="2001838" y="1314450"/>
          <p14:tracePt t="12576" x="1985963" y="1314450"/>
          <p14:tracePt t="12580" x="1968500" y="1314450"/>
          <p14:tracePt t="12584" x="1958975" y="1314450"/>
          <p14:tracePt t="12589" x="1933575" y="1314450"/>
          <p14:tracePt t="12592" x="1916113" y="1314450"/>
          <p14:tracePt t="12595" x="1908175" y="1314450"/>
          <p14:tracePt t="12599" x="1882775" y="1314450"/>
          <p14:tracePt t="12603" x="1855788" y="1314450"/>
          <p14:tracePt t="12605" x="1838325" y="1314450"/>
          <p14:tracePt t="12608" x="1812925" y="1314450"/>
          <p14:tracePt t="12610" x="1787525" y="1314450"/>
          <p14:tracePt t="12612" x="1762125" y="1314450"/>
          <p14:tracePt t="12617" x="1744663" y="1314450"/>
          <p14:tracePt t="12619" x="1719263" y="1314450"/>
          <p14:tracePt t="12623" x="1701800" y="1314450"/>
          <p14:tracePt t="12625" x="1692275" y="1314450"/>
          <p14:tracePt t="12627" x="1676400" y="1314450"/>
          <p14:tracePt t="12628" x="1658938" y="1314450"/>
          <p14:tracePt t="12630" x="1649413" y="1314450"/>
          <p14:tracePt t="12632" x="1633538" y="1314450"/>
          <p14:tracePt t="12636" x="1616075" y="1314450"/>
          <p14:tracePt t="12639" x="1606550" y="1314450"/>
          <p14:tracePt t="12642" x="1590675" y="1314450"/>
          <p14:tracePt t="12644" x="1573213" y="1314450"/>
          <p14:tracePt t="12651" x="1563688" y="1314450"/>
          <p14:tracePt t="12653" x="1546225" y="1314450"/>
          <p14:tracePt t="12659" x="1530350" y="1323975"/>
          <p14:tracePt t="12660" x="1520825" y="1331913"/>
          <p14:tracePt t="12664" x="1503363" y="1331913"/>
          <p14:tracePt t="12669" x="1487488" y="1331913"/>
          <p14:tracePt t="12674" x="1477963" y="1331913"/>
          <p14:tracePt t="12681" x="1460500" y="1331913"/>
          <p14:tracePt t="12697" x="1443038" y="1331913"/>
          <p14:tracePt t="12701" x="1435100" y="1341438"/>
          <p14:tracePt t="12709" x="1417638" y="1357313"/>
          <p14:tracePt t="12719" x="1400175" y="1366838"/>
          <p14:tracePt t="12722" x="1392238" y="1366838"/>
          <p14:tracePt t="12723" x="1384300" y="1374775"/>
          <p14:tracePt t="12727" x="1374775" y="1384300"/>
          <p14:tracePt t="12729" x="1366838" y="1392238"/>
          <p14:tracePt t="12745" x="1357313" y="1409700"/>
          <p14:tracePt t="12753" x="1349375" y="1427163"/>
          <p14:tracePt t="12757" x="1341438" y="1427163"/>
          <p14:tracePt t="12763" x="1331913" y="1435100"/>
          <p14:tracePt t="12772" x="1331913" y="1452563"/>
          <p14:tracePt t="12783" x="1331913" y="1460500"/>
          <p14:tracePt t="12789" x="1331913" y="1477963"/>
          <p14:tracePt t="12790" x="1331913" y="1487488"/>
          <p14:tracePt t="12794" x="1323975" y="1487488"/>
          <p14:tracePt t="12803" x="1323975" y="1503363"/>
          <p14:tracePt t="12811" x="1323975" y="1520825"/>
          <p14:tracePt t="12813" x="1323975" y="1530350"/>
          <p14:tracePt t="12822" x="1323975" y="1555750"/>
          <p14:tracePt t="12827" x="1323975" y="1573213"/>
          <p14:tracePt t="12830" x="1323975" y="1581150"/>
          <p14:tracePt t="12834" x="1323975" y="1598613"/>
          <p14:tracePt t="12836" x="1323975" y="1616075"/>
          <p14:tracePt t="12843" x="1331913" y="1624013"/>
          <p14:tracePt t="12846" x="1331913" y="1641475"/>
          <p14:tracePt t="12848" x="1331913" y="1649413"/>
          <p14:tracePt t="12852" x="1341438" y="1649413"/>
          <p14:tracePt t="12856" x="1349375" y="1658938"/>
          <p14:tracePt t="12856" x="1357313" y="1676400"/>
          <p14:tracePt t="12861" x="1357313" y="1684338"/>
          <p14:tracePt t="12865" x="1357313" y="1692275"/>
          <p14:tracePt t="12869" x="1374775" y="1701800"/>
          <p14:tracePt t="12873" x="1384300" y="1719263"/>
          <p14:tracePt t="12874" x="1392238" y="1727200"/>
          <p14:tracePt t="12879" x="1409700" y="1736725"/>
          <p14:tracePt t="12880" x="1409700" y="1752600"/>
          <p14:tracePt t="12882" x="1417638" y="1762125"/>
          <p14:tracePt t="12884" x="1427163" y="1770063"/>
          <p14:tracePt t="12888" x="1443038" y="1779588"/>
          <p14:tracePt t="12890" x="1452563" y="1795463"/>
          <p14:tracePt t="12892" x="1460500" y="1804988"/>
          <p14:tracePt t="12894" x="1477963" y="1812925"/>
          <p14:tracePt t="12896" x="1487488" y="1812925"/>
          <p14:tracePt t="12898" x="1487488" y="1822450"/>
          <p14:tracePt t="12901" x="1503363" y="1822450"/>
          <p14:tracePt t="12903" x="1520825" y="1838325"/>
          <p14:tracePt t="12905" x="1530350" y="1847850"/>
          <p14:tracePt t="12909" x="1546225" y="1855788"/>
          <p14:tracePt t="12911" x="1563688" y="1865313"/>
          <p14:tracePt t="12915" x="1581150" y="1865313"/>
          <p14:tracePt t="12916" x="1598613" y="1873250"/>
          <p14:tracePt t="12924" x="1616075" y="1890713"/>
          <p14:tracePt t="12927" x="1641475" y="1898650"/>
          <p14:tracePt t="12928" x="1666875" y="1898650"/>
          <p14:tracePt t="12932" x="1676400" y="1898650"/>
          <p14:tracePt t="12934" x="1684338" y="1908175"/>
          <p14:tracePt t="12939" x="1709738" y="1925638"/>
          <p14:tracePt t="12943" x="1719263" y="1925638"/>
          <p14:tracePt t="12944" x="1736725" y="1925638"/>
          <p14:tracePt t="12949" x="1752600" y="1925638"/>
          <p14:tracePt t="12951" x="1762125" y="1933575"/>
          <p14:tracePt t="12955" x="1779588" y="1941513"/>
          <p14:tracePt t="12957" x="1795463" y="1951038"/>
          <p14:tracePt t="12961" x="1812925" y="1958975"/>
          <p14:tracePt t="12962" x="1822450" y="1968500"/>
          <p14:tracePt t="12965" x="1838325" y="1976438"/>
          <p14:tracePt t="12967" x="1855788" y="1976438"/>
          <p14:tracePt t="12972" x="1882775" y="1976438"/>
          <p14:tracePt t="12973" x="1890713" y="1985963"/>
          <p14:tracePt t="12974" x="1908175" y="1985963"/>
          <p14:tracePt t="12976" x="1925638" y="1985963"/>
          <p14:tracePt t="12981" x="1933575" y="1985963"/>
          <p14:tracePt t="12983" x="1958975" y="1985963"/>
          <p14:tracePt t="12985" x="1985963" y="1993900"/>
          <p14:tracePt t="12987" x="2011363" y="2001838"/>
          <p14:tracePt t="12989" x="2019300" y="2001838"/>
          <p14:tracePt t="12991" x="2036763" y="2001838"/>
          <p14:tracePt t="12992" x="2062163" y="2001838"/>
          <p14:tracePt t="12994" x="2071688" y="2001838"/>
          <p14:tracePt t="12996" x="2087563" y="2011363"/>
          <p14:tracePt t="12998" x="2114550" y="2019300"/>
          <p14:tracePt t="13003" x="2139950" y="2019300"/>
          <p14:tracePt t="13007" x="2174875" y="2019300"/>
          <p14:tracePt t="13009" x="2190750" y="2019300"/>
          <p14:tracePt t="13013" x="2208213" y="2019300"/>
          <p14:tracePt t="13015" x="2225675" y="2019300"/>
          <p14:tracePt t="13017" x="2235200" y="2019300"/>
          <p14:tracePt t="13019" x="2251075" y="2019300"/>
          <p14:tracePt t="13022" x="2260600" y="2019300"/>
          <p14:tracePt t="13023" x="2278063" y="2028825"/>
          <p14:tracePt t="13024" x="2293938" y="2036763"/>
          <p14:tracePt t="13029" x="2311400" y="2036763"/>
          <p14:tracePt t="13030" x="2320925" y="2036763"/>
          <p14:tracePt t="13036" x="2336800" y="2036763"/>
          <p14:tracePt t="13041" x="2346325" y="2036763"/>
          <p14:tracePt t="13048" x="2363788" y="2036763"/>
          <p14:tracePt t="13051" x="2381250" y="2036763"/>
          <p14:tracePt t="13055" x="2389188" y="2036763"/>
          <p14:tracePt t="13062" x="2406650" y="2036763"/>
          <p14:tracePt t="13064" x="2424113" y="2036763"/>
          <p14:tracePt t="13072" x="2432050" y="2036763"/>
          <p14:tracePt t="13073" x="2449513" y="2036763"/>
          <p14:tracePt t="13075" x="2466975" y="2036763"/>
          <p14:tracePt t="13078" x="2474913" y="2036763"/>
          <p14:tracePt t="13081" x="2492375" y="2036763"/>
          <p14:tracePt t="13082" x="2500313" y="2036763"/>
          <p14:tracePt t="13084" x="2517775" y="2036763"/>
          <p14:tracePt t="13087" x="2535238" y="2036763"/>
          <p14:tracePt t="13089" x="2560638" y="2036763"/>
          <p14:tracePt t="13090" x="2570163" y="2036763"/>
          <p14:tracePt t="13092" x="2595563" y="2036763"/>
          <p14:tracePt t="13097" x="2620963" y="2036763"/>
          <p14:tracePt t="13099" x="2638425" y="2036763"/>
          <p14:tracePt t="13101" x="2663825" y="2036763"/>
          <p14:tracePt t="13102" x="2689225" y="2036763"/>
          <p14:tracePt t="13105" x="2698750" y="2036763"/>
          <p14:tracePt t="13107" x="2724150" y="2036763"/>
          <p14:tracePt t="13108" x="2749550" y="2036763"/>
          <p14:tracePt t="13110" x="2776538" y="2036763"/>
          <p14:tracePt t="13113" x="2792413" y="2036763"/>
          <p14:tracePt t="13114" x="2827338" y="2036763"/>
          <p14:tracePt t="13116" x="2852738" y="2036763"/>
          <p14:tracePt t="13118" x="2879725" y="2036763"/>
          <p14:tracePt t="13122" x="2895600" y="2036763"/>
          <p14:tracePt t="13123" x="2930525" y="2036763"/>
          <p14:tracePt t="13125" x="2955925" y="2036763"/>
          <p14:tracePt t="13127" x="2981325" y="2044700"/>
          <p14:tracePt t="13129" x="3008313" y="2054225"/>
          <p14:tracePt t="13131" x="3025775" y="2054225"/>
          <p14:tracePt t="13133" x="3051175" y="2054225"/>
          <p14:tracePt t="13135" x="3076575" y="2054225"/>
          <p14:tracePt t="13137" x="3111500" y="2054225"/>
          <p14:tracePt t="13139" x="3136900" y="2054225"/>
          <p14:tracePt t="13140" x="3162300" y="2054225"/>
          <p14:tracePt t="13142" x="3187700" y="2054225"/>
          <p14:tracePt t="13144" x="3214688" y="2054225"/>
          <p14:tracePt t="13147" x="3222625" y="2054225"/>
          <p14:tracePt t="13149" x="3240088" y="2054225"/>
          <p14:tracePt t="13151" x="3265488" y="2054225"/>
          <p14:tracePt t="13152" x="3282950" y="2054225"/>
          <p14:tracePt t="13156" x="3300413" y="2054225"/>
          <p14:tracePt t="13157" x="3317875" y="2054225"/>
          <p14:tracePt t="13159" x="3333750" y="2054225"/>
          <p14:tracePt t="13161" x="3360738" y="2054225"/>
          <p14:tracePt t="13163" x="3378200" y="2054225"/>
          <p14:tracePt t="13165" x="3386138" y="2054225"/>
          <p14:tracePt t="13166" x="3411538" y="2054225"/>
          <p14:tracePt t="13168" x="3436938" y="2054225"/>
          <p14:tracePt t="13172" x="3454400" y="2054225"/>
          <p14:tracePt t="13173" x="3463925" y="2054225"/>
          <p14:tracePt t="13174" x="3489325" y="2054225"/>
          <p14:tracePt t="13176" x="3514725" y="2054225"/>
          <p14:tracePt t="13179" x="3532188" y="2054225"/>
          <p14:tracePt t="13181" x="3567113" y="2054225"/>
          <p14:tracePt t="13182" x="3592513" y="2054225"/>
          <p14:tracePt t="13184" x="3617913" y="2054225"/>
          <p14:tracePt t="13186" x="3635375" y="2054225"/>
          <p14:tracePt t="13189" x="3660775" y="2054225"/>
          <p14:tracePt t="13191" x="3686175" y="2054225"/>
          <p14:tracePt t="13193" x="3713163" y="2054225"/>
          <p14:tracePt t="13195" x="3746500" y="2044700"/>
          <p14:tracePt t="13197" x="3763963" y="2036763"/>
          <p14:tracePt t="13198" x="3789363" y="2028825"/>
          <p14:tracePt t="13200" x="3832225" y="2019300"/>
          <p14:tracePt t="13202" x="3849688" y="2001838"/>
          <p14:tracePt t="13205" x="3884613" y="1993900"/>
          <p14:tracePt t="13207" x="3910013" y="1993900"/>
          <p14:tracePt t="13209" x="3935413" y="1985963"/>
          <p14:tracePt t="13211" x="3962400" y="1976438"/>
          <p14:tracePt t="13213" x="3970338" y="1968500"/>
          <p14:tracePt t="13215" x="3995738" y="1951038"/>
          <p14:tracePt t="13217" x="4013200" y="1951038"/>
          <p14:tracePt t="13218" x="4030663" y="1941513"/>
          <p14:tracePt t="13222" x="4038600" y="1933575"/>
          <p14:tracePt t="13223" x="4056063" y="1925638"/>
          <p14:tracePt t="13224" x="4081463" y="1908175"/>
          <p14:tracePt t="13227" x="4108450" y="1898650"/>
          <p14:tracePt t="13229" x="4124325" y="1890713"/>
          <p14:tracePt t="13231" x="4133850" y="1882775"/>
          <p14:tracePt t="13233" x="4159250" y="1882775"/>
          <p14:tracePt t="13234" x="4184650" y="1873250"/>
          <p14:tracePt t="13237" x="4194175" y="1865313"/>
          <p14:tracePt t="13239" x="4211638" y="1855788"/>
          <p14:tracePt t="13241" x="4219575" y="1847850"/>
          <p14:tracePt t="13245" x="4237038" y="1838325"/>
          <p14:tracePt t="13251" x="4254500" y="1830388"/>
          <p14:tracePt t="13253" x="4262438" y="1812925"/>
          <p14:tracePt t="13261" x="4279900" y="1812925"/>
          <p14:tracePt t="13403" x="4287838" y="1812925"/>
          <p14:tracePt t="13404" x="0" y="0"/>
        </p14:tracePtLst>
        <p14:tracePtLst>
          <p14:tracePt t="22062" x="6007100" y="2439988"/>
          <p14:tracePt t="22278" x="6015038" y="2439988"/>
          <p14:tracePt t="22285" x="6024563" y="2439988"/>
          <p14:tracePt t="22295" x="6042025" y="2432050"/>
          <p14:tracePt t="22303" x="6049963" y="2414588"/>
          <p14:tracePt t="22311" x="6067425" y="2414588"/>
          <p14:tracePt t="22319" x="6084888" y="2414588"/>
          <p14:tracePt t="22324" x="6092825" y="2414588"/>
          <p14:tracePt t="22337" x="6102350" y="2406650"/>
          <p14:tracePt t="22341" x="6110288" y="2397125"/>
          <p14:tracePt t="22351" x="6118225" y="2397125"/>
          <p14:tracePt t="22353" x="6127750" y="2397125"/>
          <p14:tracePt t="22361" x="6135688" y="2389188"/>
          <p14:tracePt t="22376" x="6145213" y="2389188"/>
          <p14:tracePt t="22377" x="6162675" y="2389188"/>
          <p14:tracePt t="22379" x="6162675" y="2381250"/>
          <p14:tracePt t="22392" x="6162675" y="2371725"/>
          <p14:tracePt t="22394" x="6170613" y="2363788"/>
          <p14:tracePt t="22397" x="6188075" y="2363788"/>
          <p14:tracePt t="22401" x="6196013" y="2363788"/>
          <p14:tracePt t="22408" x="6205538" y="2354263"/>
          <p14:tracePt t="22410" x="6221413" y="2346325"/>
          <p14:tracePt t="22413" x="6230938" y="2346325"/>
          <p14:tracePt t="22415" x="6238875" y="2346325"/>
          <p14:tracePt t="22424" x="6256338" y="2336800"/>
          <p14:tracePt t="22429" x="6264275" y="2328863"/>
          <p14:tracePt t="22443" x="6273800" y="2311400"/>
          <p14:tracePt t="22456" x="6281738" y="2293938"/>
          <p14:tracePt t="22463" x="6299200" y="2293938"/>
          <p14:tracePt t="22476" x="6308725" y="2286000"/>
          <p14:tracePt t="22478" x="6308725" y="2278063"/>
          <p14:tracePt t="22516" x="6308725" y="2268538"/>
          <p14:tracePt t="22527" x="6308725" y="2260600"/>
          <p14:tracePt t="22542" x="6308725" y="2243138"/>
          <p14:tracePt t="22547" x="6308725" y="2235200"/>
          <p14:tracePt t="22558" x="6308725" y="2217738"/>
          <p14:tracePt t="22569" x="6308725" y="2200275"/>
          <p14:tracePt t="22578" x="6308725" y="2190750"/>
          <p14:tracePt t="22585" x="6308725" y="2174875"/>
          <p14:tracePt t="22598" x="6308725" y="2157413"/>
          <p14:tracePt t="22606" x="6308725" y="2147888"/>
          <p14:tracePt t="22613" x="6308725" y="2132013"/>
          <p14:tracePt t="22620" x="6308725" y="2114550"/>
          <p14:tracePt t="22626" x="6308725" y="2105025"/>
          <p14:tracePt t="22633" x="6308725" y="2087563"/>
          <p14:tracePt t="22642" x="6308725" y="2071688"/>
          <p14:tracePt t="22648" x="6308725" y="2062163"/>
          <p14:tracePt t="22664" x="6308725" y="2044700"/>
          <p14:tracePt t="22669" x="6299200" y="2028825"/>
          <p14:tracePt t="22681" x="6299200" y="2019300"/>
          <p14:tracePt t="22686" x="6291263" y="2011363"/>
          <p14:tracePt t="22690" x="6281738" y="2001838"/>
          <p14:tracePt t="22695" x="6281738" y="1993900"/>
          <p14:tracePt t="22697" x="6281738" y="1985963"/>
          <p14:tracePt t="22703" x="6273800" y="1976438"/>
          <p14:tracePt t="22706" x="6264275" y="1976438"/>
          <p14:tracePt t="22709" x="6256338" y="1968500"/>
          <p14:tracePt t="22711" x="6256338" y="1958975"/>
          <p14:tracePt t="22713" x="6248400" y="1951038"/>
          <p14:tracePt t="22719" x="6238875" y="1941513"/>
          <p14:tracePt t="22729" x="6221413" y="1925638"/>
          <p14:tracePt t="22731" x="6213475" y="1908175"/>
          <p14:tracePt t="22737" x="6205538" y="1890713"/>
          <p14:tracePt t="22745" x="6196013" y="1890713"/>
          <p14:tracePt t="22749" x="6178550" y="1890713"/>
          <p14:tracePt t="22756" x="6178550" y="1873250"/>
          <p14:tracePt t="22758" x="6170613" y="1865313"/>
          <p14:tracePt t="22780" x="6153150" y="1855788"/>
          <p14:tracePt t="22788" x="6135688" y="1847850"/>
          <p14:tracePt t="22800" x="6127750" y="1847850"/>
          <p14:tracePt t="22803" x="6110288" y="1838325"/>
          <p14:tracePt t="22810" x="6092825" y="1830388"/>
          <p14:tracePt t="22811" x="6084888" y="1830388"/>
          <p14:tracePt t="22818" x="6075363" y="1822450"/>
          <p14:tracePt t="22819" x="6067425" y="1812925"/>
          <p14:tracePt t="22824" x="6059488" y="1812925"/>
          <p14:tracePt t="22827" x="6042025" y="1812925"/>
          <p14:tracePt t="22835" x="6024563" y="1812925"/>
          <p14:tracePt t="22840" x="6015038" y="1812925"/>
          <p14:tracePt t="22845" x="5999163" y="1812925"/>
          <p14:tracePt t="22857" x="5981700" y="1812925"/>
          <p14:tracePt t="22859" x="5972175" y="1812925"/>
          <p14:tracePt t="22867" x="5956300" y="1812925"/>
          <p14:tracePt t="22876" x="5946775" y="1812925"/>
          <p14:tracePt t="22884" x="5929313" y="1812925"/>
          <p14:tracePt t="22888" x="5913438" y="1812925"/>
          <p14:tracePt t="22904" x="5903913" y="1812925"/>
          <p14:tracePt t="22916" x="5886450" y="1812925"/>
          <p14:tracePt t="22919" x="5868988" y="1812925"/>
          <p14:tracePt t="22929" x="5861050" y="1822450"/>
          <p14:tracePt t="22936" x="5853113" y="1830388"/>
          <p14:tracePt t="22937" x="5843588" y="1830388"/>
          <p14:tracePt t="22939" x="5835650" y="1830388"/>
          <p14:tracePt t="22943" x="5826125" y="1838325"/>
          <p14:tracePt t="22947" x="5826125" y="1855788"/>
          <p14:tracePt t="22949" x="5818188" y="1855788"/>
          <p14:tracePt t="22956" x="5810250" y="1865313"/>
          <p14:tracePt t="22960" x="5800725" y="1882775"/>
          <p14:tracePt t="22963" x="5792788" y="1890713"/>
          <p14:tracePt t="22967" x="5783263" y="1908175"/>
          <p14:tracePt t="22973" x="5783263" y="1916113"/>
          <p14:tracePt t="22974" x="5765800" y="1916113"/>
          <p14:tracePt t="22977" x="5757863" y="1925638"/>
          <p14:tracePt t="22982" x="5757863" y="1933575"/>
          <p14:tracePt t="22990" x="5749925" y="1951038"/>
          <p14:tracePt t="23000" x="5740400" y="1958975"/>
          <p14:tracePt t="23006" x="5732463" y="1976438"/>
          <p14:tracePt t="23008" x="5732463" y="1985963"/>
          <p14:tracePt t="23009" x="5722938" y="1985963"/>
          <p14:tracePt t="23024" x="5715000" y="1993900"/>
          <p14:tracePt t="23033" x="5707063" y="2001838"/>
          <p14:tracePt t="23037" x="5707063" y="2011363"/>
          <p14:tracePt t="23040" x="5707063" y="2019300"/>
          <p14:tracePt t="23045" x="5697538" y="2028825"/>
          <p14:tracePt t="23047" x="5697538" y="2036763"/>
          <p14:tracePt t="23054" x="5697538" y="2054225"/>
          <p14:tracePt t="23059" x="5697538" y="2071688"/>
          <p14:tracePt t="23065" x="5689600" y="2079625"/>
          <p14:tracePt t="23067" x="5680075" y="2087563"/>
          <p14:tracePt t="23069" x="5680075" y="2097088"/>
          <p14:tracePt t="23076" x="5680075" y="2105025"/>
          <p14:tracePt t="23079" x="5680075" y="2122488"/>
          <p14:tracePt t="23085" x="5680075" y="2132013"/>
          <p14:tracePt t="23090" x="5672138" y="2139950"/>
          <p14:tracePt t="23093" x="5672138" y="2147888"/>
          <p14:tracePt t="23108" x="5672138" y="2165350"/>
          <p14:tracePt t="23120" x="5672138" y="2174875"/>
          <p14:tracePt t="23132" x="5672138" y="2190750"/>
          <p14:tracePt t="23140" x="5672138" y="2217738"/>
          <p14:tracePt t="23146" x="5672138" y="2225675"/>
          <p14:tracePt t="23153" x="5672138" y="2243138"/>
          <p14:tracePt t="23158" x="5672138" y="2260600"/>
          <p14:tracePt t="23162" x="5672138" y="2268538"/>
          <p14:tracePt t="23166" x="5672138" y="2278063"/>
          <p14:tracePt t="23167" x="5672138" y="2293938"/>
          <p14:tracePt t="23174" x="5680075" y="2303463"/>
          <p14:tracePt t="23177" x="5689600" y="2320925"/>
          <p14:tracePt t="23179" x="5697538" y="2336800"/>
          <p14:tracePt t="23181" x="5707063" y="2346325"/>
          <p14:tracePt t="23186" x="5707063" y="2354263"/>
          <p14:tracePt t="23190" x="5715000" y="2363788"/>
          <p14:tracePt t="23197" x="5732463" y="2371725"/>
          <p14:tracePt t="23199" x="5740400" y="2381250"/>
          <p14:tracePt t="23208" x="5749925" y="2389188"/>
          <p14:tracePt t="23211" x="5765800" y="2397125"/>
          <p14:tracePt t="23219" x="5783263" y="2397125"/>
          <p14:tracePt t="23225" x="5783263" y="2406650"/>
          <p14:tracePt t="23227" x="5792788" y="2406650"/>
          <p14:tracePt t="23235" x="5810250" y="2406650"/>
          <p14:tracePt t="23243" x="5818188" y="2406650"/>
          <p14:tracePt t="23256" x="5835650" y="2406650"/>
          <p14:tracePt t="23259" x="5843588" y="2406650"/>
          <p14:tracePt t="23261" x="5853113" y="2414588"/>
          <p14:tracePt t="23270" x="5861050" y="2424113"/>
          <p14:tracePt t="23274" x="5868988" y="2424113"/>
          <p14:tracePt t="23275" x="5868988" y="2432050"/>
          <p14:tracePt t="23277" x="5886450" y="2432050"/>
          <p14:tracePt t="23282" x="5903913" y="2432050"/>
          <p14:tracePt t="23284" x="5913438" y="2432050"/>
          <p14:tracePt t="23288" x="5929313" y="2432050"/>
          <p14:tracePt t="23292" x="5938838" y="2432050"/>
          <p14:tracePt t="23296" x="5956300" y="2432050"/>
          <p14:tracePt t="23297" x="5972175" y="2439988"/>
          <p14:tracePt t="23300" x="5989638" y="2449513"/>
          <p14:tracePt t="23303" x="5999163" y="2449513"/>
          <p14:tracePt t="23306" x="6015038" y="2449513"/>
          <p14:tracePt t="23310" x="6032500" y="2449513"/>
          <p14:tracePt t="23311" x="6042025" y="2449513"/>
          <p14:tracePt t="23315" x="6059488" y="2457450"/>
          <p14:tracePt t="23318" x="6075363" y="2466975"/>
          <p14:tracePt t="23323" x="6084888" y="2466975"/>
          <p14:tracePt t="23324" x="6102350" y="2466975"/>
          <p14:tracePt t="23325" x="6118225" y="2466975"/>
          <p14:tracePt t="23330" x="6127750" y="2466975"/>
          <p14:tracePt t="23336" x="6145213" y="2466975"/>
          <p14:tracePt t="23338" x="6153150" y="2466975"/>
          <p14:tracePt t="23344" x="6162675" y="2466975"/>
          <p14:tracePt t="23347" x="6170613" y="2474913"/>
          <p14:tracePt t="23354" x="6178550" y="2474913"/>
          <p14:tracePt t="23360" x="6196013" y="2474913"/>
          <p14:tracePt t="23368" x="6213475" y="2474913"/>
          <p14:tracePt t="23370" x="6221413" y="2474913"/>
          <p14:tracePt t="23386" x="6238875" y="2474913"/>
          <p14:tracePt t="23392" x="6256338" y="2474913"/>
          <p14:tracePt t="23408" x="6264275" y="2474913"/>
          <p14:tracePt t="23412" x="6273800" y="2474913"/>
          <p14:tracePt t="23420" x="6281738" y="2474913"/>
          <p14:tracePt t="23429" x="6281738" y="2466975"/>
          <p14:tracePt t="23435" x="6291263" y="2457450"/>
          <p14:tracePt t="23446" x="6299200" y="2457450"/>
          <p14:tracePt t="23447" x="6308725" y="2449513"/>
          <p14:tracePt t="23451" x="6308725" y="2439988"/>
          <p14:tracePt t="23456" x="6316663" y="2432050"/>
          <p14:tracePt t="23462" x="6334125" y="2432050"/>
          <p14:tracePt t="23465" x="6342063" y="2432050"/>
          <p14:tracePt t="23474" x="6351588" y="2432050"/>
          <p14:tracePt t="23487" x="6351588" y="2414588"/>
          <p14:tracePt t="23500" x="6359525" y="2406650"/>
          <p14:tracePt t="23504" x="6359525" y="2397125"/>
          <p14:tracePt t="23518" x="6359525" y="2389188"/>
          <p14:tracePt t="23526" x="6359525" y="2381250"/>
          <p14:tracePt t="23550" x="6359525" y="2363788"/>
          <p14:tracePt t="23562" x="6359525" y="2346325"/>
          <p14:tracePt t="23578" x="6359525" y="2336800"/>
          <p14:tracePt t="24284" x="6359525" y="2320925"/>
          <p14:tracePt t="24292" x="6359525" y="2303463"/>
          <p14:tracePt t="24295" x="6359525" y="2293938"/>
          <p14:tracePt t="24299" x="6359525" y="2278063"/>
          <p14:tracePt t="24303" x="6359525" y="2268538"/>
          <p14:tracePt t="24307" x="6359525" y="2251075"/>
          <p14:tracePt t="24311" x="6359525" y="2235200"/>
          <p14:tracePt t="24313" x="6359525" y="2225675"/>
          <p14:tracePt t="24317" x="6359525" y="2208213"/>
          <p14:tracePt t="24322" x="6359525" y="2190750"/>
          <p14:tracePt t="24326" x="6359525" y="2182813"/>
          <p14:tracePt t="24332" x="6359525" y="2165350"/>
          <p14:tracePt t="24336" x="6367463" y="2157413"/>
          <p14:tracePt t="24338" x="6376988" y="2157413"/>
          <p14:tracePt t="24341" x="6376988" y="2139950"/>
          <p14:tracePt t="24346" x="6376988" y="2122488"/>
          <p14:tracePt t="24352" x="6376988" y="2114550"/>
          <p14:tracePt t="24354" x="6376988" y="2097088"/>
          <p14:tracePt t="24360" x="6376988" y="2079625"/>
          <p14:tracePt t="24364" x="6376988" y="2071688"/>
          <p14:tracePt t="24366" x="6376988" y="2062163"/>
          <p14:tracePt t="24373" x="6367463" y="2054225"/>
          <p14:tracePt t="24376" x="6367463" y="2044700"/>
          <p14:tracePt t="24380" x="6367463" y="2028825"/>
          <p14:tracePt t="24384" x="6359525" y="2011363"/>
          <p14:tracePt t="24388" x="6351588" y="2001838"/>
          <p14:tracePt t="24396" x="6324600" y="1985963"/>
          <p14:tracePt t="24398" x="6316663" y="1968500"/>
          <p14:tracePt t="24404" x="6308725" y="1951038"/>
          <p14:tracePt t="24407" x="6308725" y="1941513"/>
          <p14:tracePt t="24412" x="6291263" y="1941513"/>
          <p14:tracePt t="24418" x="6273800" y="1925638"/>
          <p14:tracePt t="24424" x="6256338" y="1916113"/>
          <p14:tracePt t="24426" x="6248400" y="1908175"/>
          <p14:tracePt t="24432" x="6230938" y="1898650"/>
          <p14:tracePt t="24434" x="6221413" y="1890713"/>
          <p14:tracePt t="24442" x="6213475" y="1890713"/>
          <p14:tracePt t="24446" x="6205538" y="1890713"/>
          <p14:tracePt t="24450" x="6178550" y="1882775"/>
          <p14:tracePt t="24456" x="6162675" y="1865313"/>
          <p14:tracePt t="24460" x="6145213" y="1855788"/>
          <p14:tracePt t="24462" x="6135688" y="1855788"/>
          <p14:tracePt t="24466" x="6118225" y="1855788"/>
          <p14:tracePt t="24468" x="6102350" y="1847850"/>
          <p14:tracePt t="24474" x="6092825" y="1838325"/>
          <p14:tracePt t="24476" x="6075363" y="1838325"/>
          <p14:tracePt t="24484" x="6059488" y="1830388"/>
          <p14:tracePt t="24486" x="6049963" y="1830388"/>
          <p14:tracePt t="24490" x="6032500" y="1830388"/>
          <p14:tracePt t="24492" x="6015038" y="1830388"/>
          <p14:tracePt t="24494" x="6007100" y="1830388"/>
          <p14:tracePt t="24496" x="5999163" y="1830388"/>
          <p14:tracePt t="24498" x="5981700" y="1830388"/>
          <p14:tracePt t="24500" x="5972175" y="1830388"/>
          <p14:tracePt t="24504" x="5956300" y="1830388"/>
          <p14:tracePt t="24507" x="5938838" y="1830388"/>
          <p14:tracePt t="24508" x="5929313" y="1830388"/>
          <p14:tracePt t="24512" x="5913438" y="1830388"/>
          <p14:tracePt t="24514" x="5903913" y="1830388"/>
          <p14:tracePt t="24518" x="5886450" y="1830388"/>
          <p14:tracePt t="24520" x="5868988" y="1830388"/>
          <p14:tracePt t="24523" x="5861050" y="1830388"/>
          <p14:tracePt t="24526" x="5843588" y="1830388"/>
          <p14:tracePt t="24528" x="5826125" y="1830388"/>
          <p14:tracePt t="24532" x="5818188" y="1830388"/>
          <p14:tracePt t="24534" x="5800725" y="1830388"/>
          <p14:tracePt t="24536" x="5783263" y="1830388"/>
          <p14:tracePt t="24538" x="5775325" y="1830388"/>
          <p14:tracePt t="24540" x="5757863" y="1830388"/>
          <p14:tracePt t="24546" x="5749925" y="1830388"/>
          <p14:tracePt t="24550" x="5732463" y="1830388"/>
          <p14:tracePt t="24552" x="5715000" y="1830388"/>
          <p14:tracePt t="24556" x="5707063" y="1830388"/>
          <p14:tracePt t="24558" x="5689600" y="1830388"/>
          <p14:tracePt t="24560" x="5672138" y="1838325"/>
          <p14:tracePt t="24564" x="5664200" y="1847850"/>
          <p14:tracePt t="24568" x="5654675" y="1855788"/>
          <p14:tracePt t="24570" x="5646738" y="1865313"/>
          <p14:tracePt t="24573" x="5629275" y="1873250"/>
          <p14:tracePt t="24576" x="5619750" y="1873250"/>
          <p14:tracePt t="24578" x="5611813" y="1890713"/>
          <p14:tracePt t="24580" x="5594350" y="1898650"/>
          <p14:tracePt t="24582" x="5586413" y="1908175"/>
          <p14:tracePt t="24584" x="5576888" y="1925638"/>
          <p14:tracePt t="24590" x="5576888" y="1933575"/>
          <p14:tracePt t="24594" x="5561013" y="1941513"/>
          <p14:tracePt t="24598" x="5543550" y="1958975"/>
          <p14:tracePt t="24604" x="5534025" y="1968500"/>
          <p14:tracePt t="24608" x="5534025" y="1985963"/>
          <p14:tracePt t="24616" x="5534025" y="2001838"/>
          <p14:tracePt t="24620" x="5526088" y="2011363"/>
          <p14:tracePt t="24623" x="5516563" y="2019300"/>
          <p14:tracePt t="24626" x="5516563" y="2036763"/>
          <p14:tracePt t="24630" x="5516563" y="2054225"/>
          <p14:tracePt t="24636" x="5516563" y="2062163"/>
          <p14:tracePt t="24638" x="5516563" y="2079625"/>
          <p14:tracePt t="24640" x="5516563" y="2097088"/>
          <p14:tracePt t="24644" x="5516563" y="2105025"/>
          <p14:tracePt t="24646" x="5516563" y="2122488"/>
          <p14:tracePt t="24650" x="5516563" y="2139950"/>
          <p14:tracePt t="24652" x="5526088" y="2147888"/>
          <p14:tracePt t="24654" x="5534025" y="2165350"/>
          <p14:tracePt t="24656" x="5551488" y="2182813"/>
          <p14:tracePt t="24658" x="5561013" y="2200275"/>
          <p14:tracePt t="24660" x="5568950" y="2208213"/>
          <p14:tracePt t="24662" x="5576888" y="2208213"/>
          <p14:tracePt t="24664" x="5586413" y="2225675"/>
          <p14:tracePt t="24666" x="5603875" y="2235200"/>
          <p14:tracePt t="24668" x="5603875" y="2243138"/>
          <p14:tracePt t="24670" x="5611813" y="2243138"/>
          <p14:tracePt t="24672" x="5619750" y="2251075"/>
          <p14:tracePt t="24688" x="0" y="0"/>
        </p14:tracePtLst>
        <p14:tracePtLst>
          <p14:tracePt t="25162" x="7381875" y="2122488"/>
          <p14:tracePt t="25262" x="7381875" y="2105025"/>
          <p14:tracePt t="25268" x="7381875" y="2087563"/>
          <p14:tracePt t="25278" x="7381875" y="2079625"/>
          <p14:tracePt t="25281" x="7381875" y="2062163"/>
          <p14:tracePt t="25286" x="7381875" y="2044700"/>
          <p14:tracePt t="25288" x="7373938" y="2044700"/>
          <p14:tracePt t="25296" x="7364413" y="2036763"/>
          <p14:tracePt t="25302" x="7356475" y="2019300"/>
          <p14:tracePt t="25306" x="7348538" y="2011363"/>
          <p14:tracePt t="25309" x="7348538" y="2001838"/>
          <p14:tracePt t="25311" x="7339013" y="1993900"/>
          <p14:tracePt t="25316" x="7339013" y="1985963"/>
          <p14:tracePt t="25320" x="7331075" y="1968500"/>
          <p14:tracePt t="25326" x="7321550" y="1951038"/>
          <p14:tracePt t="25336" x="7313613" y="1933575"/>
          <p14:tracePt t="25342" x="7305675" y="1925638"/>
          <p14:tracePt t="25344" x="7305675" y="1916113"/>
          <p14:tracePt t="25352" x="7296150" y="1908175"/>
          <p14:tracePt t="25364" x="7278688" y="1898650"/>
          <p14:tracePt t="25378" x="7261225" y="1890713"/>
          <p14:tracePt t="25380" x="7253288" y="1882775"/>
          <p14:tracePt t="25384" x="7253288" y="1873250"/>
          <p14:tracePt t="25400" x="7235825" y="1873250"/>
          <p14:tracePt t="25410" x="7218363" y="1873250"/>
          <p14:tracePt t="25414" x="7210425" y="1865313"/>
          <p14:tracePt t="25416" x="7202488" y="1865313"/>
          <p14:tracePt t="25428" x="7185025" y="1865313"/>
          <p14:tracePt t="25442" x="7167563" y="1865313"/>
          <p14:tracePt t="25450" x="7158038" y="1865313"/>
          <p14:tracePt t="25454" x="7142163" y="1865313"/>
          <p14:tracePt t="25462" x="7124700" y="1865313"/>
          <p14:tracePt t="25466" x="7115175" y="1865313"/>
          <p14:tracePt t="25470" x="7099300" y="1865313"/>
          <p14:tracePt t="25480" x="7089775" y="1865313"/>
          <p14:tracePt t="25484" x="7072313" y="1865313"/>
          <p14:tracePt t="25492" x="7056438" y="1865313"/>
          <p14:tracePt t="25500" x="7046913" y="1865313"/>
          <p14:tracePt t="25502" x="7029450" y="1865313"/>
          <p14:tracePt t="25512" x="7011988" y="1865313"/>
          <p14:tracePt t="25514" x="7004050" y="1865313"/>
          <p14:tracePt t="25516" x="6996113" y="1865313"/>
          <p14:tracePt t="25518" x="6986588" y="1865313"/>
          <p14:tracePt t="25520" x="6978650" y="1873250"/>
          <p14:tracePt t="25523" x="6978650" y="1882775"/>
          <p14:tracePt t="25526" x="6969125" y="1890713"/>
          <p14:tracePt t="25528" x="6961188" y="1890713"/>
          <p14:tracePt t="25532" x="6953250" y="1898650"/>
          <p14:tracePt t="25536" x="6935788" y="1908175"/>
          <p14:tracePt t="25538" x="6926263" y="1916113"/>
          <p14:tracePt t="25544" x="6908800" y="1916113"/>
          <p14:tracePt t="25548" x="6892925" y="1925638"/>
          <p14:tracePt t="25550" x="6883400" y="1941513"/>
          <p14:tracePt t="25554" x="6875463" y="1958975"/>
          <p14:tracePt t="25558" x="6875463" y="1976438"/>
          <p14:tracePt t="25560" x="6875463" y="1985963"/>
          <p14:tracePt t="25562" x="6865938" y="1993900"/>
          <p14:tracePt t="25566" x="6858000" y="2001838"/>
          <p14:tracePt t="25568" x="6858000" y="2011363"/>
          <p14:tracePt t="25570" x="6850063" y="2019300"/>
          <p14:tracePt t="25574" x="6850063" y="2028825"/>
          <p14:tracePt t="25576" x="6850063" y="2036763"/>
          <p14:tracePt t="25580" x="6840538" y="2044700"/>
          <p14:tracePt t="25584" x="6832600" y="2054225"/>
          <p14:tracePt t="25586" x="6832600" y="2062163"/>
          <p14:tracePt t="25590" x="6823075" y="2079625"/>
          <p14:tracePt t="25596" x="6815138" y="2097088"/>
          <p14:tracePt t="25600" x="6807200" y="2105025"/>
          <p14:tracePt t="25604" x="6807200" y="2132013"/>
          <p14:tracePt t="25610" x="6807200" y="2139950"/>
          <p14:tracePt t="25614" x="6807200" y="2157413"/>
          <p14:tracePt t="25618" x="6807200" y="2174875"/>
          <p14:tracePt t="25624" x="6807200" y="2182813"/>
          <p14:tracePt t="25626" x="6807200" y="2200275"/>
          <p14:tracePt t="25634" x="6807200" y="2208213"/>
          <p14:tracePt t="25644" x="6807200" y="2225675"/>
          <p14:tracePt t="25648" x="6815138" y="2243138"/>
          <p14:tracePt t="25652" x="6815138" y="2260600"/>
          <p14:tracePt t="25660" x="6823075" y="2268538"/>
          <p14:tracePt t="25666" x="6832600" y="2286000"/>
          <p14:tracePt t="25673" x="6832600" y="2293938"/>
          <p14:tracePt t="25680" x="6850063" y="2303463"/>
          <p14:tracePt t="25688" x="6858000" y="2303463"/>
          <p14:tracePt t="25696" x="6858000" y="2311400"/>
          <p14:tracePt t="25702" x="6865938" y="2320925"/>
          <p14:tracePt t="25704" x="6875463" y="2328863"/>
          <p14:tracePt t="25710" x="6883400" y="2328863"/>
          <p14:tracePt t="25714" x="6892925" y="2328863"/>
          <p14:tracePt t="25716" x="6900863" y="2336800"/>
          <p14:tracePt t="25724" x="6908800" y="2336800"/>
          <p14:tracePt t="25730" x="6926263" y="2336800"/>
          <p14:tracePt t="25734" x="6943725" y="2336800"/>
          <p14:tracePt t="25736" x="6953250" y="2336800"/>
          <p14:tracePt t="25742" x="6969125" y="2346325"/>
          <p14:tracePt t="25748" x="6986588" y="2354263"/>
          <p14:tracePt t="25750" x="6996113" y="2354263"/>
          <p14:tracePt t="25754" x="7011988" y="2354263"/>
          <p14:tracePt t="25756" x="7029450" y="2354263"/>
          <p14:tracePt t="25758" x="7038975" y="2354263"/>
          <p14:tracePt t="25760" x="7064375" y="2354263"/>
          <p14:tracePt t="25764" x="7081838" y="2363788"/>
          <p14:tracePt t="25766" x="7089775" y="2363788"/>
          <p14:tracePt t="25768" x="7107238" y="2363788"/>
          <p14:tracePt t="25770" x="7132638" y="2363788"/>
          <p14:tracePt t="25773" x="7150100" y="2363788"/>
          <p14:tracePt t="25774" x="7167563" y="2363788"/>
          <p14:tracePt t="25776" x="7185025" y="2363788"/>
          <p14:tracePt t="25778" x="7202488" y="2363788"/>
          <p14:tracePt t="25780" x="7210425" y="2363788"/>
          <p14:tracePt t="25782" x="7235825" y="2363788"/>
          <p14:tracePt t="25784" x="7261225" y="2363788"/>
          <p14:tracePt t="25786" x="7270750" y="2363788"/>
          <p14:tracePt t="25788" x="7288213" y="2363788"/>
          <p14:tracePt t="25790" x="7305675" y="2363788"/>
          <p14:tracePt t="25792" x="7321550" y="2363788"/>
          <p14:tracePt t="25794" x="7348538" y="2363788"/>
          <p14:tracePt t="25796" x="7364413" y="2363788"/>
          <p14:tracePt t="25798" x="7373938" y="2363788"/>
          <p14:tracePt t="25800" x="7399338" y="2363788"/>
          <p14:tracePt t="25802" x="7416800" y="2363788"/>
          <p14:tracePt t="25804" x="7434263" y="2363788"/>
          <p14:tracePt t="25806" x="7451725" y="2363788"/>
          <p14:tracePt t="25808" x="7467600" y="2363788"/>
          <p14:tracePt t="25810" x="7485063" y="2363788"/>
          <p14:tracePt t="25812" x="7510463" y="2363788"/>
          <p14:tracePt t="25814" x="7527925" y="2363788"/>
          <p14:tracePt t="25818" x="7545388" y="2363788"/>
          <p14:tracePt t="25820" x="7562850" y="2363788"/>
          <p14:tracePt t="25823" x="7570788" y="2363788"/>
          <p14:tracePt t="25824" x="7580313" y="2354263"/>
          <p14:tracePt t="25826" x="7588250" y="2354263"/>
          <p14:tracePt t="25828" x="7597775" y="2346325"/>
          <p14:tracePt t="25830" x="7605713" y="2336800"/>
          <p14:tracePt t="25834" x="7613650" y="2336800"/>
          <p14:tracePt t="25836" x="7623175" y="2336800"/>
          <p14:tracePt t="25838" x="7640638" y="2336800"/>
          <p14:tracePt t="25842" x="7648575" y="2328863"/>
          <p14:tracePt t="25846" x="7648575" y="2320925"/>
          <p14:tracePt t="25848" x="7656513" y="2311400"/>
          <p14:tracePt t="25850" x="7656513" y="2303463"/>
          <p14:tracePt t="25852" x="7666038" y="2303463"/>
          <p14:tracePt t="25856" x="7673975" y="2293938"/>
          <p14:tracePt t="25860" x="7683500" y="2278063"/>
          <p14:tracePt t="25864" x="7691438" y="2260600"/>
          <p14:tracePt t="25866" x="7700963" y="2251075"/>
          <p14:tracePt t="25870" x="7700963" y="2235200"/>
          <p14:tracePt t="25876" x="7700963" y="2217738"/>
          <p14:tracePt t="25878" x="7700963" y="2208213"/>
          <p14:tracePt t="25880" x="7708900" y="2200275"/>
          <p14:tracePt t="25884" x="7716838" y="2190750"/>
          <p14:tracePt t="25886" x="7716838" y="2182813"/>
          <p14:tracePt t="25892" x="7716838" y="2165350"/>
          <p14:tracePt t="25894" x="7716838" y="2147888"/>
          <p14:tracePt t="25898" x="7716838" y="2139950"/>
          <p14:tracePt t="25904" x="7716838" y="2122488"/>
          <p14:tracePt t="25906" x="7716838" y="2105025"/>
          <p14:tracePt t="25912" x="7716838" y="2097088"/>
          <p14:tracePt t="25916" x="7716838" y="2079625"/>
          <p14:tracePt t="25924" x="7716838" y="2071688"/>
          <p14:tracePt t="25928" x="7708900" y="2062163"/>
          <p14:tracePt t="25934" x="7700963" y="2054225"/>
          <p14:tracePt t="25942" x="7700963" y="2044700"/>
          <p14:tracePt t="25948" x="7700963" y="2028825"/>
          <p14:tracePt t="25954" x="7691438" y="2019300"/>
          <p14:tracePt t="25958" x="7673975" y="2019300"/>
          <p14:tracePt t="25960" x="7666038" y="2001838"/>
          <p14:tracePt t="25970" x="7666038" y="1985963"/>
          <p14:tracePt t="25974" x="7648575" y="1968500"/>
          <p14:tracePt t="25976" x="7631113" y="1958975"/>
          <p14:tracePt t="25978" x="7613650" y="1951038"/>
          <p14:tracePt t="25980" x="7605713" y="1951038"/>
          <p14:tracePt t="25984" x="7588250" y="1951038"/>
          <p14:tracePt t="25986" x="7570788" y="1951038"/>
          <p14:tracePt t="25988" x="7570788" y="1941513"/>
          <p14:tracePt t="25990" x="7553325" y="1933575"/>
          <p14:tracePt t="25992" x="7545388" y="1933575"/>
          <p14:tracePt t="25994" x="7537450" y="1933575"/>
          <p14:tracePt t="25996" x="7527925" y="1925638"/>
          <p14:tracePt t="25998" x="7519988" y="1925638"/>
          <p14:tracePt t="26000" x="7510463" y="1916113"/>
          <p14:tracePt t="26002" x="7494588" y="1908175"/>
          <p14:tracePt t="26007" x="7485063" y="1908175"/>
          <p14:tracePt t="26008" x="7477125" y="1908175"/>
          <p14:tracePt t="26010" x="7467600" y="1908175"/>
          <p14:tracePt t="26012" x="7459663" y="1898650"/>
          <p14:tracePt t="26016" x="7442200" y="1890713"/>
          <p14:tracePt t="26018" x="7424738" y="1882775"/>
          <p14:tracePt t="26020" x="7407275" y="1882775"/>
          <p14:tracePt t="26025" x="7391400" y="1882775"/>
          <p14:tracePt t="26028" x="7381875" y="1882775"/>
          <p14:tracePt t="26032" x="7364413" y="1873250"/>
          <p14:tracePt t="26034" x="7348538" y="1865313"/>
          <p14:tracePt t="26038" x="7339013" y="1865313"/>
          <p14:tracePt t="26048" x="7321550" y="1865313"/>
          <p14:tracePt t="26050" x="7305675" y="1865313"/>
          <p14:tracePt t="26068" x="7296150" y="1865313"/>
          <p14:tracePt t="26078" x="7278688" y="1865313"/>
          <p14:tracePt t="26082" x="7270750" y="1865313"/>
          <p14:tracePt t="26092" x="7261225" y="1865313"/>
          <p14:tracePt t="26094" x="7253288" y="1865313"/>
          <p14:tracePt t="26098" x="7245350" y="1865313"/>
          <p14:tracePt t="26106" x="7227888" y="1865313"/>
          <p14:tracePt t="26108" x="7210425" y="1865313"/>
          <p14:tracePt t="26114" x="7192963" y="1865313"/>
          <p14:tracePt t="26118" x="7175500" y="1865313"/>
          <p14:tracePt t="26120" x="7167563" y="1865313"/>
          <p14:tracePt t="26124" x="7158038" y="1865313"/>
          <p14:tracePt t="26128" x="7142163" y="1865313"/>
          <p14:tracePt t="26140" x="7124700" y="1865313"/>
          <p14:tracePt t="26142" x="7124700" y="1873250"/>
          <p14:tracePt t="26157" x="7115175" y="1882775"/>
          <p14:tracePt t="26160" x="7107238" y="1890713"/>
          <p14:tracePt t="26208" x="7099300" y="1890713"/>
          <p14:tracePt t="26212" x="7089775" y="1890713"/>
          <p14:tracePt t="26236" x="7081838" y="1890713"/>
          <p14:tracePt t="26238" x="0" y="0"/>
        </p14:tracePtLst>
        <p14:tracePtLst>
          <p14:tracePt t="29715" x="3016250" y="2492375"/>
          <p14:tracePt t="29780" x="3016250" y="2484438"/>
          <p14:tracePt t="29882" x="3033713" y="2484438"/>
          <p14:tracePt t="29914" x="3051175" y="2484438"/>
          <p14:tracePt t="29946" x="3059113" y="2484438"/>
          <p14:tracePt t="29954" x="3076575" y="2484438"/>
          <p14:tracePt t="29964" x="3094038" y="2484438"/>
          <p14:tracePt t="29968" x="3101975" y="2484438"/>
          <p14:tracePt t="29976" x="3119438" y="2484438"/>
          <p14:tracePt t="30004" x="3128963" y="2484438"/>
          <p14:tracePt t="30007" x="3144838" y="2484438"/>
          <p14:tracePt t="30010" x="3162300" y="2484438"/>
          <p14:tracePt t="30015" x="3171825" y="2484438"/>
          <p14:tracePt t="30016" x="3179763" y="2484438"/>
          <p14:tracePt t="30018" x="3187700" y="2484438"/>
          <p14:tracePt t="30020" x="3197225" y="2484438"/>
          <p14:tracePt t="30026" x="3214688" y="2484438"/>
          <p14:tracePt t="30028" x="3230563" y="2484438"/>
          <p14:tracePt t="30030" x="3240088" y="2484438"/>
          <p14:tracePt t="30034" x="3257550" y="2484438"/>
          <p14:tracePt t="30038" x="3282950" y="2484438"/>
          <p14:tracePt t="30044" x="3290888" y="2484438"/>
          <p14:tracePt t="30048" x="3308350" y="2484438"/>
          <p14:tracePt t="30052" x="3325813" y="2484438"/>
          <p14:tracePt t="30057" x="3325813" y="2492375"/>
          <p14:tracePt t="30060" x="3343275" y="2500313"/>
          <p14:tracePt t="30066" x="3360738" y="2500313"/>
          <p14:tracePt t="30073" x="3368675" y="2500313"/>
          <p14:tracePt t="30074" x="3386138" y="2500313"/>
          <p14:tracePt t="30080" x="3403600" y="2509838"/>
          <p14:tracePt t="30082" x="3411538" y="2517775"/>
          <p14:tracePt t="30088" x="3429000" y="2517775"/>
          <p14:tracePt t="30092" x="3446463" y="2517775"/>
          <p14:tracePt t="30094" x="3454400" y="2517775"/>
          <p14:tracePt t="30096" x="3463925" y="2517775"/>
          <p14:tracePt t="30098" x="3471863" y="2517775"/>
          <p14:tracePt t="30100" x="3479800" y="2527300"/>
          <p14:tracePt t="30102" x="3497263" y="2527300"/>
          <p14:tracePt t="30107" x="3514725" y="2527300"/>
          <p14:tracePt t="30108" x="3524250" y="2527300"/>
          <p14:tracePt t="30112" x="3540125" y="2527300"/>
          <p14:tracePt t="30114" x="3557588" y="2527300"/>
          <p14:tracePt t="30116" x="3567113" y="2527300"/>
          <p14:tracePt t="30120" x="3582988" y="2527300"/>
          <p14:tracePt t="30123" x="3592513" y="2527300"/>
          <p14:tracePt t="30124" x="3609975" y="2527300"/>
          <p14:tracePt t="30130" x="3635375" y="2527300"/>
          <p14:tracePt t="30138" x="3643313" y="2527300"/>
          <p14:tracePt t="30142" x="3660775" y="2527300"/>
          <p14:tracePt t="30144" x="3678238" y="2527300"/>
          <p14:tracePt t="30148" x="3686175" y="2527300"/>
          <p14:tracePt t="30152" x="3703638" y="2527300"/>
          <p14:tracePt t="30157" x="3721100" y="2527300"/>
          <p14:tracePt t="30162" x="3729038" y="2527300"/>
          <p14:tracePt t="30164" x="3746500" y="2527300"/>
          <p14:tracePt t="30168" x="3763963" y="2527300"/>
          <p14:tracePt t="30174" x="3773488" y="2527300"/>
          <p14:tracePt t="30175" x="3789363" y="2527300"/>
          <p14:tracePt t="30176" x="3806825" y="2527300"/>
          <p14:tracePt t="30180" x="3824288" y="2527300"/>
          <p14:tracePt t="30186" x="3849688" y="2527300"/>
          <p14:tracePt t="30190" x="3867150" y="2527300"/>
          <p14:tracePt t="30193" x="3876675" y="2527300"/>
          <p14:tracePt t="30194" x="3892550" y="2527300"/>
          <p14:tracePt t="30198" x="3919538" y="2527300"/>
          <p14:tracePt t="30202" x="3935413" y="2527300"/>
          <p14:tracePt t="30204" x="3952875" y="2527300"/>
          <p14:tracePt t="30207" x="3970338" y="2527300"/>
          <p14:tracePt t="30208" x="3978275" y="2527300"/>
          <p14:tracePt t="30214" x="3995738" y="2527300"/>
          <p14:tracePt t="30216" x="4013200" y="2527300"/>
          <p14:tracePt t="30218" x="4022725" y="2527300"/>
          <p14:tracePt t="30223" x="4038600" y="2527300"/>
          <p14:tracePt t="30226" x="4048125" y="2527300"/>
          <p14:tracePt t="30228" x="4065588" y="2527300"/>
          <p14:tracePt t="30236" x="4081463" y="2527300"/>
          <p14:tracePt t="30238" x="4090988" y="2527300"/>
          <p14:tracePt t="30244" x="4108450" y="2527300"/>
          <p14:tracePt t="30260" x="4124325" y="2527300"/>
          <p14:tracePt t="30270" x="4133850" y="2527300"/>
          <p14:tracePt t="30282" x="4151313" y="2527300"/>
          <p14:tracePt t="30291" x="4168775" y="2527300"/>
          <p14:tracePt t="30300" x="4176713" y="2527300"/>
          <p14:tracePt t="30304" x="4194175" y="2527300"/>
          <p14:tracePt t="30314" x="4202113" y="2527300"/>
          <p14:tracePt t="30318" x="4219575" y="2527300"/>
          <p14:tracePt t="30323" x="4237038" y="2527300"/>
          <p14:tracePt t="30326" x="4244975" y="2527300"/>
          <p14:tracePt t="30330" x="4262438" y="2527300"/>
          <p14:tracePt t="30334" x="4279900" y="2527300"/>
          <p14:tracePt t="30341" x="4287838" y="2527300"/>
          <p14:tracePt t="30346" x="4305300" y="2527300"/>
          <p14:tracePt t="30478" x="4314825" y="2527300"/>
          <p14:tracePt t="30480" x="0" y="0"/>
        </p14:tracePtLst>
        <p14:tracePtLst>
          <p14:tracePt t="41538" x="2062163" y="2663825"/>
          <p14:tracePt t="41563" x="2062163" y="2655888"/>
          <p14:tracePt t="41619" x="2071688" y="2646363"/>
          <p14:tracePt t="41627" x="2071688" y="2630488"/>
          <p14:tracePt t="41631" x="2071688" y="2620963"/>
          <p14:tracePt t="41635" x="2071688" y="2603500"/>
          <p14:tracePt t="41637" x="2071688" y="2595563"/>
          <p14:tracePt t="41643" x="2062163" y="2578100"/>
          <p14:tracePt t="41645" x="2054225" y="2560638"/>
          <p14:tracePt t="41649" x="2054225" y="2552700"/>
          <p14:tracePt t="41651" x="2044700" y="2543175"/>
          <p14:tracePt t="41655" x="2036763" y="2535238"/>
          <p14:tracePt t="41659" x="2036763" y="2517775"/>
          <p14:tracePt t="41663" x="2028825" y="2509838"/>
          <p14:tracePt t="41667" x="2019300" y="2500313"/>
          <p14:tracePt t="41674" x="2011363" y="2492375"/>
          <p14:tracePt t="41681" x="2001838" y="2484438"/>
          <p14:tracePt t="41683" x="1993900" y="2474913"/>
          <p14:tracePt t="41699" x="1985963" y="2474913"/>
          <p14:tracePt t="41719" x="1968500" y="2474913"/>
          <p14:tracePt t="41733" x="1951038" y="2474913"/>
          <p14:tracePt t="41737" x="1941513" y="2474913"/>
          <p14:tracePt t="41752" x="1925638" y="2474913"/>
          <p14:tracePt t="41755" x="1916113" y="2474913"/>
          <p14:tracePt t="41783" x="1898650" y="2484438"/>
          <p14:tracePt t="41793" x="1882775" y="2484438"/>
          <p14:tracePt t="41797" x="1873250" y="2484438"/>
          <p14:tracePt t="41817" x="1865313" y="2484438"/>
          <p14:tracePt t="41821" x="1855788" y="2492375"/>
          <p14:tracePt t="41831" x="1847850" y="2492375"/>
          <p14:tracePt t="41835" x="1838325" y="2500313"/>
          <p14:tracePt t="41842" x="1830388" y="2509838"/>
          <p14:tracePt t="41847" x="1822450" y="2509838"/>
          <p14:tracePt t="41855" x="1804988" y="2517775"/>
          <p14:tracePt t="41862" x="1795463" y="2527300"/>
          <p14:tracePt t="41871" x="1795463" y="2535238"/>
          <p14:tracePt t="41874" x="1787525" y="2543175"/>
          <p14:tracePt t="41881" x="1787525" y="2552700"/>
          <p14:tracePt t="41885" x="1779588" y="2560638"/>
          <p14:tracePt t="41887" x="1770063" y="2560638"/>
          <p14:tracePt t="41891" x="1770063" y="2570163"/>
          <p14:tracePt t="41897" x="1762125" y="2578100"/>
          <p14:tracePt t="41911" x="1762125" y="2586038"/>
          <p14:tracePt t="41928" x="1762125" y="2603500"/>
          <p14:tracePt t="41949" x="1762125" y="2620963"/>
          <p14:tracePt t="41959" x="1762125" y="2638425"/>
          <p14:tracePt t="41963" x="1762125" y="2646363"/>
          <p14:tracePt t="41967" x="1762125" y="2663825"/>
          <p14:tracePt t="41974" x="1779588" y="2681288"/>
          <p14:tracePt t="41975" x="1787525" y="2681288"/>
          <p14:tracePt t="41979" x="1795463" y="2681288"/>
          <p14:tracePt t="41983" x="1812925" y="2689225"/>
          <p14:tracePt t="41992" x="1847850" y="2706688"/>
          <p14:tracePt t="41993" x="1855788" y="2716213"/>
          <p14:tracePt t="41995" x="1873250" y="2716213"/>
          <p14:tracePt t="41997" x="1890713" y="2716213"/>
          <p14:tracePt t="41999" x="1898650" y="2716213"/>
          <p14:tracePt t="42003" x="1916113" y="2724150"/>
          <p14:tracePt t="42008" x="1933575" y="2733675"/>
          <p14:tracePt t="42009" x="1941513" y="2733675"/>
          <p14:tracePt t="42011" x="1958975" y="2733675"/>
          <p14:tracePt t="42013" x="1968500" y="2733675"/>
          <p14:tracePt t="42015" x="1976438" y="2741613"/>
          <p14:tracePt t="42019" x="1985963" y="2741613"/>
          <p14:tracePt t="42021" x="2001838" y="2741613"/>
          <p14:tracePt t="42028" x="2011363" y="2741613"/>
          <p14:tracePt t="42035" x="2028825" y="2741613"/>
          <p14:tracePt t="42039" x="2044700" y="2741613"/>
          <p14:tracePt t="42045" x="2054225" y="2741613"/>
          <p14:tracePt t="42051" x="2071688" y="2741613"/>
          <p14:tracePt t="42063" x="2087563" y="2741613"/>
          <p14:tracePt t="42069" x="2097088" y="2741613"/>
          <p14:tracePt t="42105" x="2114550" y="2741613"/>
          <p14:tracePt t="42135" x="2122488" y="2741613"/>
          <p14:tracePt t="42173" x="0" y="0"/>
        </p14:tracePtLst>
        <p14:tracePtLst>
          <p14:tracePt t="42694" x="3978275" y="2457450"/>
          <p14:tracePt t="42780" x="3970338" y="2457450"/>
          <p14:tracePt t="42789" x="3962400" y="2457450"/>
          <p14:tracePt t="42795" x="3944938" y="2457450"/>
          <p14:tracePt t="42797" x="3927475" y="2457450"/>
          <p14:tracePt t="42803" x="3919538" y="2457450"/>
          <p14:tracePt t="42805" x="3902075" y="2457450"/>
          <p14:tracePt t="42807" x="3884613" y="2457450"/>
          <p14:tracePt t="42811" x="3876675" y="2449513"/>
          <p14:tracePt t="42813" x="3859213" y="2439988"/>
          <p14:tracePt t="42815" x="3841750" y="2439988"/>
          <p14:tracePt t="42819" x="3832225" y="2439988"/>
          <p14:tracePt t="42821" x="3816350" y="2439988"/>
          <p14:tracePt t="42824" x="3798888" y="2439988"/>
          <p14:tracePt t="42825" x="3773488" y="2432050"/>
          <p14:tracePt t="42827" x="3763963" y="2424113"/>
          <p14:tracePt t="42831" x="3746500" y="2424113"/>
          <p14:tracePt t="42833" x="3721100" y="2424113"/>
          <p14:tracePt t="42835" x="3703638" y="2424113"/>
          <p14:tracePt t="42837" x="3686175" y="2424113"/>
          <p14:tracePt t="42839" x="3670300" y="2414588"/>
          <p14:tracePt t="42841" x="3660775" y="2406650"/>
          <p14:tracePt t="42843" x="3635375" y="2406650"/>
          <p14:tracePt t="42845" x="3609975" y="2406650"/>
          <p14:tracePt t="42849" x="3582988" y="2406650"/>
          <p14:tracePt t="42851" x="3549650" y="2406650"/>
          <p14:tracePt t="42853" x="3532188" y="2406650"/>
          <p14:tracePt t="42855" x="3506788" y="2406650"/>
          <p14:tracePt t="42858" x="3479800" y="2406650"/>
          <p14:tracePt t="42859" x="3471863" y="2406650"/>
          <p14:tracePt t="42861" x="3454400" y="2406650"/>
          <p14:tracePt t="42863" x="3429000" y="2406650"/>
          <p14:tracePt t="42865" x="3394075" y="2406650"/>
          <p14:tracePt t="42869" x="3368675" y="2406650"/>
          <p14:tracePt t="42871" x="3343275" y="2406650"/>
          <p14:tracePt t="42874" x="3317875" y="2406650"/>
          <p14:tracePt t="42875" x="3290888" y="2406650"/>
          <p14:tracePt t="42877" x="3282950" y="2406650"/>
          <p14:tracePt t="42879" x="3265488" y="2406650"/>
          <p14:tracePt t="42881" x="3248025" y="2406650"/>
          <p14:tracePt t="42883" x="3230563" y="2406650"/>
          <p14:tracePt t="42887" x="3205163" y="2406650"/>
          <p14:tracePt t="42889" x="3179763" y="2406650"/>
          <p14:tracePt t="42892" x="3171825" y="2406650"/>
          <p14:tracePt t="42893" x="3154363" y="2406650"/>
          <p14:tracePt t="42899" x="3136900" y="2406650"/>
          <p14:tracePt t="42901" x="3128963" y="2406650"/>
          <p14:tracePt t="42903" x="3119438" y="2406650"/>
          <p14:tracePt t="42905" x="3111500" y="2414588"/>
          <p14:tracePt t="42913" x="3101975" y="2424113"/>
          <p14:tracePt t="42915" x="3084513" y="2424113"/>
          <p14:tracePt t="42917" x="3084513" y="2432050"/>
          <p14:tracePt t="42924" x="3076575" y="2439988"/>
          <p14:tracePt t="42925" x="3068638" y="2439988"/>
          <p14:tracePt t="42929" x="3059113" y="2449513"/>
          <p14:tracePt t="42931" x="3059113" y="2457450"/>
          <p14:tracePt t="42937" x="3051175" y="2466975"/>
          <p14:tracePt t="42943" x="3041650" y="2484438"/>
          <p14:tracePt t="42949" x="3033713" y="2492375"/>
          <p14:tracePt t="42953" x="3025775" y="2500313"/>
          <p14:tracePt t="42961" x="3025775" y="2509838"/>
          <p14:tracePt t="42963" x="3025775" y="2527300"/>
          <p14:tracePt t="42967" x="3025775" y="2535238"/>
          <p14:tracePt t="42974" x="3025775" y="2552700"/>
          <p14:tracePt t="42975" x="3025775" y="2570163"/>
          <p14:tracePt t="42979" x="3025775" y="2578100"/>
          <p14:tracePt t="42981" x="3033713" y="2586038"/>
          <p14:tracePt t="42983" x="3033713" y="2595563"/>
          <p14:tracePt t="42985" x="3033713" y="2613025"/>
          <p14:tracePt t="42988" x="3041650" y="2613025"/>
          <p14:tracePt t="42990" x="3051175" y="2620963"/>
          <p14:tracePt t="42992" x="3068638" y="2638425"/>
          <p14:tracePt t="42995" x="3084513" y="2646363"/>
          <p14:tracePt t="42997" x="3094038" y="2646363"/>
          <p14:tracePt t="42999" x="3101975" y="2655888"/>
          <p14:tracePt t="43001" x="3119438" y="2663825"/>
          <p14:tracePt t="43003" x="3136900" y="2681288"/>
          <p14:tracePt t="43005" x="3144838" y="2698750"/>
          <p14:tracePt t="43012" x="3171825" y="2716213"/>
          <p14:tracePt t="43014" x="3197225" y="2733675"/>
          <p14:tracePt t="43015" x="3205163" y="2733675"/>
          <p14:tracePt t="43017" x="3230563" y="2741613"/>
          <p14:tracePt t="43019" x="3248025" y="2759075"/>
          <p14:tracePt t="43021" x="3265488" y="2776538"/>
          <p14:tracePt t="43024" x="3275013" y="2784475"/>
          <p14:tracePt t="43025" x="3290888" y="2784475"/>
          <p14:tracePt t="43027" x="3308350" y="2792413"/>
          <p14:tracePt t="43029" x="3325813" y="2809875"/>
          <p14:tracePt t="43031" x="3333750" y="2809875"/>
          <p14:tracePt t="43033" x="3351213" y="2809875"/>
          <p14:tracePt t="43035" x="3368675" y="2809875"/>
          <p14:tracePt t="43037" x="3386138" y="2827338"/>
          <p14:tracePt t="43039" x="3386138" y="2844800"/>
          <p14:tracePt t="43041" x="3411538" y="2862263"/>
          <p14:tracePt t="43043" x="3429000" y="2870200"/>
          <p14:tracePt t="43050" x="3446463" y="2879725"/>
          <p14:tracePt t="43051" x="3454400" y="2879725"/>
          <p14:tracePt t="43053" x="3479800" y="2887663"/>
          <p14:tracePt t="43055" x="3497263" y="2887663"/>
          <p14:tracePt t="43058" x="3514725" y="2887663"/>
          <p14:tracePt t="43059" x="3524250" y="2887663"/>
          <p14:tracePt t="43061" x="3540125" y="2887663"/>
          <p14:tracePt t="43065" x="3567113" y="2887663"/>
          <p14:tracePt t="43067" x="3575050" y="2887663"/>
          <p14:tracePt t="43071" x="3592513" y="2895600"/>
          <p14:tracePt t="43074" x="3609975" y="2905125"/>
          <p14:tracePt t="43075" x="3617913" y="2905125"/>
          <p14:tracePt t="43080" x="3635375" y="2905125"/>
          <p14:tracePt t="43081" x="3652838" y="2905125"/>
          <p14:tracePt t="43083" x="3660775" y="2905125"/>
          <p14:tracePt t="43085" x="3678238" y="2905125"/>
          <p14:tracePt t="43087" x="3695700" y="2905125"/>
          <p14:tracePt t="43089" x="3703638" y="2905125"/>
          <p14:tracePt t="43092" x="3721100" y="2905125"/>
          <p14:tracePt t="43093" x="3746500" y="2905125"/>
          <p14:tracePt t="43095" x="3763963" y="2905125"/>
          <p14:tracePt t="43097" x="3781425" y="2905125"/>
          <p14:tracePt t="43099" x="3798888" y="2905125"/>
          <p14:tracePt t="43101" x="3806825" y="2905125"/>
          <p14:tracePt t="43105" x="3841750" y="2905125"/>
          <p14:tracePt t="43109" x="3867150" y="2905125"/>
          <p14:tracePt t="43111" x="3892550" y="2905125"/>
          <p14:tracePt t="43113" x="3902075" y="2905125"/>
          <p14:tracePt t="43116" x="3919538" y="2905125"/>
          <p14:tracePt t="43117" x="3927475" y="2905125"/>
          <p14:tracePt t="43119" x="3927475" y="2895600"/>
          <p14:tracePt t="43121" x="3944938" y="2887663"/>
          <p14:tracePt t="43126" x="3970338" y="2887663"/>
          <p14:tracePt t="43127" x="3987800" y="2879725"/>
          <p14:tracePt t="43129" x="3995738" y="2870200"/>
          <p14:tracePt t="43134" x="4013200" y="2870200"/>
          <p14:tracePt t="43136" x="4030663" y="2870200"/>
          <p14:tracePt t="43139" x="4038600" y="2870200"/>
          <p14:tracePt t="43143" x="4056063" y="2870200"/>
          <p14:tracePt t="43145" x="4065588" y="2870200"/>
          <p14:tracePt t="43149" x="4065588" y="2862263"/>
          <p14:tracePt t="43153" x="4081463" y="2862263"/>
          <p14:tracePt t="43155" x="4090988" y="2852738"/>
          <p14:tracePt t="43158" x="4090988" y="2844800"/>
          <p14:tracePt t="43159" x="4098925" y="2844800"/>
          <p14:tracePt t="43165" x="4098925" y="2827338"/>
          <p14:tracePt t="43167" x="4108450" y="2819400"/>
          <p14:tracePt t="43169" x="4116388" y="2819400"/>
          <p14:tracePt t="43175" x="4116388" y="2801938"/>
          <p14:tracePt t="43178" x="4133850" y="2784475"/>
          <p14:tracePt t="43179" x="4151313" y="2776538"/>
          <p14:tracePt t="43182" x="4159250" y="2776538"/>
          <p14:tracePt t="43183" x="4159250" y="2759075"/>
          <p14:tracePt t="43187" x="4159250" y="2749550"/>
          <p14:tracePt t="43189" x="4168775" y="2741613"/>
          <p14:tracePt t="43194" x="4168775" y="2724150"/>
          <p14:tracePt t="43197" x="4168775" y="2706688"/>
          <p14:tracePt t="43203" x="4168775" y="2698750"/>
          <p14:tracePt t="43209" x="4168775" y="2681288"/>
          <p14:tracePt t="43215" x="4168775" y="2673350"/>
          <p14:tracePt t="43221" x="4168775" y="2655888"/>
          <p14:tracePt t="43241" x="4159250" y="2646363"/>
          <p14:tracePt t="43248" x="4141788" y="2638425"/>
          <p14:tracePt t="43251" x="4124325" y="2630488"/>
          <p14:tracePt t="43259" x="4108450" y="2620963"/>
          <p14:tracePt t="43263" x="4098925" y="2613025"/>
          <p14:tracePt t="43269" x="4081463" y="2613025"/>
          <p14:tracePt t="43275" x="4073525" y="2603500"/>
          <p14:tracePt t="43276" x="4056063" y="2595563"/>
          <p14:tracePt t="43277" x="4048125" y="2595563"/>
          <p14:tracePt t="43289" x="0" y="0"/>
        </p14:tracePtLst>
        <p14:tracePtLst>
          <p14:tracePt t="47929" x="3162300" y="4373563"/>
          <p14:tracePt t="48016" x="3154363" y="4365625"/>
          <p14:tracePt t="48024" x="3136900" y="4357688"/>
          <p14:tracePt t="48026" x="3136900" y="4348163"/>
          <p14:tracePt t="48030" x="3128963" y="4348163"/>
          <p14:tracePt t="48034" x="3119438" y="4348163"/>
          <p14:tracePt t="48036" x="3111500" y="4340225"/>
          <p14:tracePt t="48040" x="3101975" y="4340225"/>
          <p14:tracePt t="48042" x="3084513" y="4330700"/>
          <p14:tracePt t="48046" x="3068638" y="4322763"/>
          <p14:tracePt t="48048" x="3059113" y="4314825"/>
          <p14:tracePt t="48052" x="3041650" y="4305300"/>
          <p14:tracePt t="48056" x="3033713" y="4305300"/>
          <p14:tracePt t="48058" x="3025775" y="4297363"/>
          <p14:tracePt t="48060" x="3016250" y="4287838"/>
          <p14:tracePt t="48064" x="2998788" y="4279900"/>
          <p14:tracePt t="48068" x="2981325" y="4279900"/>
          <p14:tracePt t="48075" x="2973388" y="4271963"/>
          <p14:tracePt t="48078" x="2955925" y="4262438"/>
          <p14:tracePt t="48082" x="2938463" y="4254500"/>
          <p14:tracePt t="48086" x="2930525" y="4244975"/>
          <p14:tracePt t="48088" x="2922588" y="4237038"/>
          <p14:tracePt t="48095" x="2905125" y="4237038"/>
          <p14:tracePt t="48098" x="2887663" y="4227513"/>
          <p14:tracePt t="48100" x="2879725" y="4219575"/>
          <p14:tracePt t="48102" x="2870200" y="4219575"/>
          <p14:tracePt t="48108" x="2852738" y="4219575"/>
          <p14:tracePt t="48110" x="2844800" y="4211638"/>
          <p14:tracePt t="48118" x="2827338" y="4211638"/>
          <p14:tracePt t="48125" x="2809875" y="4211638"/>
          <p14:tracePt t="48134" x="2801938" y="4211638"/>
          <p14:tracePt t="48138" x="2784475" y="4211638"/>
          <p14:tracePt t="48150" x="2767013" y="4211638"/>
          <p14:tracePt t="48156" x="2759075" y="4211638"/>
          <p14:tracePt t="48160" x="2741613" y="4211638"/>
          <p14:tracePt t="48166" x="2724150" y="4211638"/>
          <p14:tracePt t="48170" x="2716213" y="4211638"/>
          <p14:tracePt t="48175" x="2698750" y="4211638"/>
          <p14:tracePt t="48178" x="2681288" y="4211638"/>
          <p14:tracePt t="48182" x="2673350" y="4211638"/>
          <p14:tracePt t="48184" x="2655888" y="4211638"/>
          <p14:tracePt t="48188" x="2646363" y="4211638"/>
          <p14:tracePt t="48192" x="2630488" y="4211638"/>
          <p14:tracePt t="48196" x="2613025" y="4211638"/>
          <p14:tracePt t="48198" x="2603500" y="4211638"/>
          <p14:tracePt t="48204" x="2595563" y="4211638"/>
          <p14:tracePt t="48206" x="2578100" y="4211638"/>
          <p14:tracePt t="48212" x="2560638" y="4211638"/>
          <p14:tracePt t="48214" x="2552700" y="4219575"/>
          <p14:tracePt t="48220" x="2552700" y="4227513"/>
          <p14:tracePt t="48225" x="2535238" y="4227513"/>
          <p14:tracePt t="48240" x="2517775" y="4227513"/>
          <p14:tracePt t="48242" x="2500313" y="4227513"/>
          <p14:tracePt t="48252" x="2492375" y="4227513"/>
          <p14:tracePt t="48264" x="2474913" y="4237038"/>
          <p14:tracePt t="48272" x="2474913" y="4244975"/>
          <p14:tracePt t="48286" x="2466975" y="4254500"/>
          <p14:tracePt t="48296" x="2449513" y="4271963"/>
          <p14:tracePt t="48302" x="2439988" y="4287838"/>
          <p14:tracePt t="48304" x="2432050" y="4297363"/>
          <p14:tracePt t="48312" x="2432050" y="4314825"/>
          <p14:tracePt t="48316" x="2432050" y="4330700"/>
          <p14:tracePt t="48322" x="2432050" y="4340225"/>
          <p14:tracePt t="48328" x="2432050" y="4357688"/>
          <p14:tracePt t="48336" x="2432050" y="4373563"/>
          <p14:tracePt t="48340" x="2432050" y="4383088"/>
          <p14:tracePt t="48346" x="2432050" y="4400550"/>
          <p14:tracePt t="48348" x="2432050" y="4418013"/>
          <p14:tracePt t="48352" x="2432050" y="4425950"/>
          <p14:tracePt t="48356" x="2432050" y="4443413"/>
          <p14:tracePt t="48362" x="2432050" y="4451350"/>
          <p14:tracePt t="48366" x="2432050" y="4468813"/>
          <p14:tracePt t="48370" x="2432050" y="4486275"/>
          <p14:tracePt t="48376" x="2432050" y="4494213"/>
          <p14:tracePt t="48380" x="2439988" y="4511675"/>
          <p14:tracePt t="48386" x="2457450" y="4521200"/>
          <p14:tracePt t="48388" x="2466975" y="4521200"/>
          <p14:tracePt t="48394" x="2484438" y="4537075"/>
          <p14:tracePt t="48396" x="2500313" y="4546600"/>
          <p14:tracePt t="48400" x="2517775" y="4546600"/>
          <p14:tracePt t="48404" x="2527300" y="4546600"/>
          <p14:tracePt t="48410" x="2543175" y="4546600"/>
          <p14:tracePt t="48414" x="2552700" y="4554538"/>
          <p14:tracePt t="48418" x="2552700" y="4564063"/>
          <p14:tracePt t="48422" x="2570163" y="4564063"/>
          <p14:tracePt t="48430" x="2586038" y="4572000"/>
          <p14:tracePt t="48432" x="2595563" y="4579938"/>
          <p14:tracePt t="48436" x="2613025" y="4589463"/>
          <p14:tracePt t="48442" x="2630488" y="4589463"/>
          <p14:tracePt t="48446" x="2638425" y="4589463"/>
          <p14:tracePt t="48450" x="2646363" y="4589463"/>
          <p14:tracePt t="48452" x="2655888" y="4589463"/>
          <p14:tracePt t="48456" x="2663825" y="4589463"/>
          <p14:tracePt t="48460" x="2681288" y="4589463"/>
          <p14:tracePt t="48462" x="2689225" y="4597400"/>
          <p14:tracePt t="48464" x="2698750" y="4606925"/>
          <p14:tracePt t="48470" x="2706688" y="4606925"/>
          <p14:tracePt t="48475" x="2724150" y="4606925"/>
          <p14:tracePt t="48482" x="2733675" y="4606925"/>
          <p14:tracePt t="48488" x="2749550" y="4606925"/>
          <p14:tracePt t="48490" x="2767013" y="4606925"/>
          <p14:tracePt t="48494" x="2776538" y="4606925"/>
          <p14:tracePt t="48498" x="2792413" y="4606925"/>
          <p14:tracePt t="48500" x="2809875" y="4606925"/>
          <p14:tracePt t="48504" x="2819400" y="4606925"/>
          <p14:tracePt t="48506" x="2835275" y="4606925"/>
          <p14:tracePt t="48510" x="2844800" y="4606925"/>
          <p14:tracePt t="48512" x="2862263" y="4606925"/>
          <p14:tracePt t="48516" x="2887663" y="4606925"/>
          <p14:tracePt t="48518" x="2895600" y="4606925"/>
          <p14:tracePt t="48522" x="2913063" y="4606925"/>
          <p14:tracePt t="48525" x="2930525" y="4606925"/>
          <p14:tracePt t="48528" x="2947988" y="4597400"/>
          <p14:tracePt t="48530" x="2965450" y="4589463"/>
          <p14:tracePt t="48534" x="2981325" y="4579938"/>
          <p14:tracePt t="48536" x="2990850" y="4579938"/>
          <p14:tracePt t="48540" x="3008313" y="4564063"/>
          <p14:tracePt t="48546" x="3025775" y="4554538"/>
          <p14:tracePt t="48550" x="3041650" y="4546600"/>
          <p14:tracePt t="48554" x="3051175" y="4537075"/>
          <p14:tracePt t="48560" x="3059113" y="4529138"/>
          <p14:tracePt t="48562" x="3076575" y="4529138"/>
          <p14:tracePt t="48566" x="3076575" y="4521200"/>
          <p14:tracePt t="48568" x="3084513" y="4503738"/>
          <p14:tracePt t="48570" x="3094038" y="4494213"/>
          <p14:tracePt t="48572" x="3111500" y="4486275"/>
          <p14:tracePt t="48575" x="3119438" y="4476750"/>
          <p14:tracePt t="48578" x="3128963" y="4460875"/>
          <p14:tracePt t="48582" x="3136900" y="4443413"/>
          <p14:tracePt t="48586" x="3154363" y="4443413"/>
          <p14:tracePt t="48588" x="3162300" y="4433888"/>
          <p14:tracePt t="48590" x="3162300" y="4425950"/>
          <p14:tracePt t="48594" x="3179763" y="4418013"/>
          <p14:tracePt t="48598" x="3187700" y="4408488"/>
          <p14:tracePt t="48602" x="3197225" y="4400550"/>
          <p14:tracePt t="48610" x="3197225" y="4391025"/>
          <p14:tracePt t="48614" x="3205163" y="4383088"/>
          <p14:tracePt t="48622" x="3214688" y="4383088"/>
          <p14:tracePt t="48638" x="3214688" y="4365625"/>
          <p14:tracePt t="48654" x="3214688" y="4357688"/>
          <p14:tracePt t="48678" x="3214688" y="4348163"/>
          <p14:tracePt t="48682" x="3205163" y="4340225"/>
          <p14:tracePt t="48684" x="3197225" y="4322763"/>
          <p14:tracePt t="48690" x="3187700" y="4322763"/>
          <p14:tracePt t="48694" x="3171825" y="4322763"/>
          <p14:tracePt t="48696" x="3162300" y="4314825"/>
          <p14:tracePt t="48698" x="3162300" y="4305300"/>
          <p14:tracePt t="48702" x="3144838" y="4305300"/>
          <p14:tracePt t="48706" x="3128963" y="4297363"/>
          <p14:tracePt t="48710" x="3119438" y="4279900"/>
          <p14:tracePt t="48712" x="3111500" y="4279900"/>
          <p14:tracePt t="48716" x="3094038" y="4271963"/>
          <p14:tracePt t="48718" x="3084513" y="4262438"/>
          <p14:tracePt t="48725" x="3076575" y="4262438"/>
          <p14:tracePt t="48726" x="3059113" y="4254500"/>
          <p14:tracePt t="48730" x="3041650" y="4244975"/>
          <p14:tracePt t="48734" x="3033713" y="4244975"/>
          <p14:tracePt t="48738" x="3016250" y="4244975"/>
          <p14:tracePt t="48740" x="3008313" y="4244975"/>
          <p14:tracePt t="48746" x="2998788" y="4237038"/>
          <p14:tracePt t="48752" x="2990850" y="4237038"/>
          <p14:tracePt t="48760" x="2973388" y="4237038"/>
          <p14:tracePt t="48766" x="2965450" y="4237038"/>
          <p14:tracePt t="48775" x="2947988" y="4237038"/>
          <p14:tracePt t="48776" x="2938463" y="4237038"/>
          <p14:tracePt t="48790" x="0" y="0"/>
        </p14:tracePtLst>
        <p14:tracePtLst>
          <p14:tracePt t="50343" x="2235200" y="5121275"/>
          <p14:tracePt t="50458" x="2243138" y="5121275"/>
          <p14:tracePt t="50470" x="2260600" y="5121275"/>
          <p14:tracePt t="50478" x="2268538" y="5121275"/>
          <p14:tracePt t="50484" x="2286000" y="5121275"/>
          <p14:tracePt t="50494" x="2303463" y="5121275"/>
          <p14:tracePt t="50498" x="2311400" y="5121275"/>
          <p14:tracePt t="50512" x="2328863" y="5121275"/>
          <p14:tracePt t="50518" x="2336800" y="5121275"/>
          <p14:tracePt t="50538" x="2354263" y="5121275"/>
          <p14:tracePt t="50547" x="2371725" y="5121275"/>
          <p14:tracePt t="50548" x="2381250" y="5121275"/>
          <p14:tracePt t="50588" x="2397125" y="5121275"/>
          <p14:tracePt t="50612" x="2414588" y="5121275"/>
          <p14:tracePt t="50634" x="2424113" y="5121275"/>
          <p14:tracePt t="50646" x="2439988" y="5121275"/>
          <p14:tracePt t="50656" x="2457450" y="5121275"/>
          <p14:tracePt t="50688" x="2466975" y="5121275"/>
          <p14:tracePt t="50696" x="2484438" y="5121275"/>
          <p14:tracePt t="50709" x="2492375" y="5121275"/>
          <p14:tracePt t="50716" x="2509838" y="5121275"/>
          <p14:tracePt t="50722" x="2527300" y="5121275"/>
          <p14:tracePt t="50730" x="2535238" y="5121275"/>
          <p14:tracePt t="50738" x="2552700" y="5121275"/>
          <p14:tracePt t="50744" x="2570163" y="5121275"/>
          <p14:tracePt t="50752" x="2578100" y="5121275"/>
          <p14:tracePt t="50759" x="2595563" y="5121275"/>
          <p14:tracePt t="50776" x="2613025" y="5121275"/>
          <p14:tracePt t="50784" x="2620963" y="5121275"/>
          <p14:tracePt t="50790" x="2638425" y="5121275"/>
          <p14:tracePt t="50800" x="2655888" y="5121275"/>
          <p14:tracePt t="50804" x="2673350" y="5121275"/>
          <p14:tracePt t="50810" x="2689225" y="5121275"/>
          <p14:tracePt t="50812" x="2698750" y="5121275"/>
          <p14:tracePt t="50820" x="2716213" y="5121275"/>
          <p14:tracePt t="50825" x="2733675" y="5121275"/>
          <p14:tracePt t="50832" x="2741613" y="5121275"/>
          <p14:tracePt t="50838" x="2759075" y="5121275"/>
          <p14:tracePt t="50848" x="2767013" y="5121275"/>
          <p14:tracePt t="50854" x="2784475" y="5121275"/>
          <p14:tracePt t="50876" x="2801938" y="5121275"/>
          <p14:tracePt t="50914" x="2809875" y="5121275"/>
          <p14:tracePt t="51020" x="2827338" y="5121275"/>
          <p14:tracePt t="51022" x="2835275" y="5121275"/>
          <p14:tracePt t="51285" x="2844800" y="5121275"/>
          <p14:tracePt t="51301" x="2862263" y="5121275"/>
          <p14:tracePt t="51316" x="2879725" y="5121275"/>
          <p14:tracePt t="51324" x="2887663" y="5121275"/>
          <p14:tracePt t="51332" x="2905125" y="5121275"/>
          <p14:tracePt t="51340" x="2913063" y="5121275"/>
          <p14:tracePt t="51346" x="2930525" y="5121275"/>
          <p14:tracePt t="51352" x="2947988" y="5121275"/>
          <p14:tracePt t="51359" x="2955925" y="5121275"/>
          <p14:tracePt t="51362" x="2973388" y="5121275"/>
          <p14:tracePt t="51366" x="2990850" y="5121275"/>
          <p14:tracePt t="51370" x="2998788" y="5121275"/>
          <p14:tracePt t="51377" x="3016250" y="5121275"/>
          <p14:tracePt t="51380" x="3033713" y="5121275"/>
          <p14:tracePt t="51384" x="3041650" y="5121275"/>
          <p14:tracePt t="51390" x="3059113" y="5121275"/>
          <p14:tracePt t="51394" x="3068638" y="5121275"/>
          <p14:tracePt t="51403" x="3084513" y="5121275"/>
          <p14:tracePt t="51410" x="3101975" y="5121275"/>
          <p14:tracePt t="51418" x="3111500" y="5121275"/>
          <p14:tracePt t="51432" x="3128963" y="5121275"/>
          <p14:tracePt t="51862" x="3144838" y="5121275"/>
          <p14:tracePt t="51872" x="3154363" y="5121275"/>
          <p14:tracePt t="51876" x="3171825" y="5121275"/>
          <p14:tracePt t="51890" x="3187700" y="5121275"/>
          <p14:tracePt t="51909" x="3214688" y="5121275"/>
          <p14:tracePt t="51912" x="3222625" y="5121275"/>
          <p14:tracePt t="51920" x="3240088" y="5121275"/>
          <p14:tracePt t="51928" x="3257550" y="5121275"/>
          <p14:tracePt t="51934" x="3265488" y="5121275"/>
          <p14:tracePt t="51943" x="3282950" y="5121275"/>
          <p14:tracePt t="51948" x="3300413" y="5121275"/>
          <p14:tracePt t="51956" x="3308350" y="5121275"/>
          <p14:tracePt t="51962" x="3325813" y="5121275"/>
          <p14:tracePt t="51970" x="3343275" y="5121275"/>
          <p14:tracePt t="52393" x="0" y="0"/>
        </p14:tracePtLst>
        <p14:tracePtLst>
          <p14:tracePt t="63098" x="4984750" y="4984750"/>
          <p14:tracePt t="63125" x="4984750" y="4975225"/>
          <p14:tracePt t="63149" x="4992688" y="4975225"/>
          <p14:tracePt t="63173" x="5002213" y="4975225"/>
          <p14:tracePt t="63183" x="5019675" y="4975225"/>
          <p14:tracePt t="63203" x="5035550" y="4975225"/>
          <p14:tracePt t="63217" x="5045075" y="4975225"/>
          <p14:tracePt t="63229" x="5062538" y="4975225"/>
          <p14:tracePt t="63245" x="5078413" y="4975225"/>
          <p14:tracePt t="63261" x="5087938" y="4975225"/>
          <p14:tracePt t="63273" x="5105400" y="4975225"/>
          <p14:tracePt t="63281" x="5121275" y="4975225"/>
          <p14:tracePt t="63289" x="5130800" y="4975225"/>
          <p14:tracePt t="63298" x="5148263" y="4975225"/>
          <p14:tracePt t="63301" x="5173663" y="4975225"/>
          <p14:tracePt t="63305" x="5173663" y="4967288"/>
          <p14:tracePt t="63310" x="5191125" y="4959350"/>
          <p14:tracePt t="63315" x="5208588" y="4949825"/>
          <p14:tracePt t="63319" x="5216525" y="4941888"/>
          <p14:tracePt t="63321" x="5233988" y="4941888"/>
          <p14:tracePt t="63326" x="5251450" y="4941888"/>
          <p14:tracePt t="63329" x="5259388" y="4941888"/>
          <p14:tracePt t="63333" x="5276850" y="4932363"/>
          <p14:tracePt t="63337" x="5294313" y="4932363"/>
          <p14:tracePt t="63341" x="5302250" y="4932363"/>
          <p14:tracePt t="63347" x="5319713" y="4932363"/>
          <p14:tracePt t="63353" x="5337175" y="4932363"/>
          <p14:tracePt t="63361" x="5345113" y="4932363"/>
          <p14:tracePt t="63365" x="5362575" y="4932363"/>
          <p14:tracePt t="63369" x="5380038" y="4924425"/>
          <p14:tracePt t="63373" x="5387975" y="4906963"/>
          <p14:tracePt t="63377" x="5387975" y="4899025"/>
          <p14:tracePt t="63383" x="5405438" y="4899025"/>
          <p14:tracePt t="63387" x="5422900" y="4899025"/>
          <p14:tracePt t="63394" x="5430838" y="4889500"/>
          <p14:tracePt t="63397" x="5448300" y="4872038"/>
          <p14:tracePt t="63399" x="5465763" y="4872038"/>
          <p14:tracePt t="63401" x="5473700" y="4872038"/>
          <p14:tracePt t="63403" x="5473700" y="4864100"/>
          <p14:tracePt t="63407" x="5491163" y="4856163"/>
          <p14:tracePt t="63410" x="5500688" y="4846638"/>
          <p14:tracePt t="63411" x="5508625" y="4846638"/>
          <p14:tracePt t="63415" x="5516563" y="4838700"/>
          <p14:tracePt t="63417" x="5534025" y="4821238"/>
          <p14:tracePt t="63421" x="5543550" y="4803775"/>
          <p14:tracePt t="63426" x="5551488" y="4795838"/>
          <p14:tracePt t="63429" x="5561013" y="4786313"/>
          <p14:tracePt t="63431" x="5568950" y="4778375"/>
          <p14:tracePt t="63433" x="5576888" y="4770438"/>
          <p14:tracePt t="63437" x="5576888" y="4752975"/>
          <p14:tracePt t="63441" x="5576888" y="4735513"/>
          <p14:tracePt t="63447" x="5586413" y="4735513"/>
          <p14:tracePt t="63449" x="5594350" y="4725988"/>
          <p14:tracePt t="63455" x="5594350" y="4710113"/>
          <p14:tracePt t="63457" x="5594350" y="4700588"/>
          <p14:tracePt t="63461" x="5594350" y="4683125"/>
          <p14:tracePt t="63465" x="5594350" y="4675188"/>
          <p14:tracePt t="63469" x="5594350" y="4657725"/>
          <p14:tracePt t="63471" x="5594350" y="4640263"/>
          <p14:tracePt t="63476" x="5586413" y="4632325"/>
          <p14:tracePt t="63477" x="5576888" y="4614863"/>
          <p14:tracePt t="63481" x="5568950" y="4606925"/>
          <p14:tracePt t="63483" x="5561013" y="4606925"/>
          <p14:tracePt t="63485" x="5551488" y="4589463"/>
          <p14:tracePt t="63487" x="5534025" y="4572000"/>
          <p14:tracePt t="63490" x="5526088" y="4554538"/>
          <p14:tracePt t="63491" x="5526088" y="4546600"/>
          <p14:tracePt t="63493" x="5508625" y="4521200"/>
          <p14:tracePt t="63495" x="5491163" y="4511675"/>
          <p14:tracePt t="63497" x="5483225" y="4494213"/>
          <p14:tracePt t="63499" x="5473700" y="4476750"/>
          <p14:tracePt t="63503" x="5457825" y="4468813"/>
          <p14:tracePt t="63505" x="5448300" y="4460875"/>
          <p14:tracePt t="63510" x="5440363" y="4451350"/>
          <p14:tracePt t="63511" x="5430838" y="4443413"/>
          <p14:tracePt t="63513" x="5422900" y="4443413"/>
          <p14:tracePt t="63515" x="5405438" y="4433888"/>
          <p14:tracePt t="63517" x="5387975" y="4425950"/>
          <p14:tracePt t="63519" x="5370513" y="4408488"/>
          <p14:tracePt t="63521" x="5354638" y="4400550"/>
          <p14:tracePt t="63523" x="5345113" y="4400550"/>
          <p14:tracePt t="63527" x="5327650" y="4391025"/>
          <p14:tracePt t="63527" x="5302250" y="4383088"/>
          <p14:tracePt t="63529" x="5294313" y="4373563"/>
          <p14:tracePt t="63531" x="5276850" y="4365625"/>
          <p14:tracePt t="63533" x="5259388" y="4365625"/>
          <p14:tracePt t="63537" x="5241925" y="4357688"/>
          <p14:tracePt t="63539" x="5233988" y="4357688"/>
          <p14:tracePt t="63544" x="5208588" y="4348163"/>
          <p14:tracePt t="63547" x="5181600" y="4330700"/>
          <p14:tracePt t="63551" x="5165725" y="4322763"/>
          <p14:tracePt t="63553" x="5156200" y="4322763"/>
          <p14:tracePt t="63555" x="5138738" y="4322763"/>
          <p14:tracePt t="63557" x="5121275" y="4322763"/>
          <p14:tracePt t="63562" x="5113338" y="4322763"/>
          <p14:tracePt t="63564" x="5095875" y="4322763"/>
          <p14:tracePt t="63567" x="5078413" y="4322763"/>
          <p14:tracePt t="63569" x="5070475" y="4322763"/>
          <p14:tracePt t="63571" x="5053013" y="4322763"/>
          <p14:tracePt t="63573" x="5035550" y="4322763"/>
          <p14:tracePt t="63576" x="5027613" y="4322763"/>
          <p14:tracePt t="63579" x="5010150" y="4322763"/>
          <p14:tracePt t="63581" x="4984750" y="4322763"/>
          <p14:tracePt t="63583" x="4975225" y="4322763"/>
          <p14:tracePt t="63585" x="4959350" y="4322763"/>
          <p14:tracePt t="63587" x="4949825" y="4322763"/>
          <p14:tracePt t="63589" x="4932363" y="4322763"/>
          <p14:tracePt t="63591" x="4916488" y="4322763"/>
          <p14:tracePt t="63593" x="4906963" y="4322763"/>
          <p14:tracePt t="63597" x="4889500" y="4330700"/>
          <p14:tracePt t="63599" x="4872038" y="4330700"/>
          <p14:tracePt t="63601" x="4864100" y="4340225"/>
          <p14:tracePt t="63605" x="4838700" y="4348163"/>
          <p14:tracePt t="63607" x="4829175" y="4365625"/>
          <p14:tracePt t="63609" x="4821238" y="4373563"/>
          <p14:tracePt t="63611" x="4803775" y="4373563"/>
          <p14:tracePt t="63613" x="4786313" y="4383088"/>
          <p14:tracePt t="63615" x="4778375" y="4391025"/>
          <p14:tracePt t="63617" x="4760913" y="4408488"/>
          <p14:tracePt t="63619" x="4752975" y="4418013"/>
          <p14:tracePt t="63621" x="4735513" y="4425950"/>
          <p14:tracePt t="63623" x="4718050" y="4443413"/>
          <p14:tracePt t="63626" x="4700588" y="4451350"/>
          <p14:tracePt t="63627" x="4692650" y="4460875"/>
          <p14:tracePt t="63629" x="4675188" y="4476750"/>
          <p14:tracePt t="63631" x="4657725" y="4494213"/>
          <p14:tracePt t="63633" x="4640263" y="4503738"/>
          <p14:tracePt t="63635" x="4622800" y="4529138"/>
          <p14:tracePt t="63637" x="4614863" y="4537075"/>
          <p14:tracePt t="63639" x="4597400" y="4546600"/>
          <p14:tracePt t="63641" x="4579938" y="4554538"/>
          <p14:tracePt t="63643" x="4564063" y="4564063"/>
          <p14:tracePt t="63645" x="4546600" y="4589463"/>
          <p14:tracePt t="63647" x="4529138" y="4606925"/>
          <p14:tracePt t="63649" x="4521200" y="4622800"/>
          <p14:tracePt t="63651" x="4503738" y="4640263"/>
          <p14:tracePt t="63653" x="4494213" y="4649788"/>
          <p14:tracePt t="63655" x="4476750" y="4667250"/>
          <p14:tracePt t="63657" x="4468813" y="4683125"/>
          <p14:tracePt t="63659" x="4468813" y="4692650"/>
          <p14:tracePt t="63661" x="4460875" y="4700588"/>
          <p14:tracePt t="63663" x="4451350" y="4718050"/>
          <p14:tracePt t="63667" x="4443413" y="4735513"/>
          <p14:tracePt t="63671" x="4443413" y="4743450"/>
          <p14:tracePt t="63676" x="4443413" y="4760913"/>
          <p14:tracePt t="63683" x="4443413" y="4778375"/>
          <p14:tracePt t="63687" x="4443413" y="4786313"/>
          <p14:tracePt t="63695" x="4443413" y="4803775"/>
          <p14:tracePt t="63699" x="4443413" y="4821238"/>
          <p14:tracePt t="63703" x="4451350" y="4829175"/>
          <p14:tracePt t="63709" x="4460875" y="4846638"/>
          <p14:tracePt t="63711" x="4468813" y="4864100"/>
          <p14:tracePt t="63715" x="4486275" y="4881563"/>
          <p14:tracePt t="63717" x="4503738" y="4889500"/>
          <p14:tracePt t="63719" x="4521200" y="4899025"/>
          <p14:tracePt t="63721" x="4537075" y="4906963"/>
          <p14:tracePt t="63723" x="4546600" y="4916488"/>
          <p14:tracePt t="63726" x="4564063" y="4924425"/>
          <p14:tracePt t="63727" x="4589463" y="4941888"/>
          <p14:tracePt t="63729" x="4606925" y="4949825"/>
          <p14:tracePt t="63731" x="4614863" y="4959350"/>
          <p14:tracePt t="63733" x="4657725" y="4975225"/>
          <p14:tracePt t="63735" x="4692650" y="4992688"/>
          <p14:tracePt t="63737" x="4718050" y="5002213"/>
          <p14:tracePt t="63739" x="4752975" y="5019675"/>
          <p14:tracePt t="63741" x="4786313" y="5035550"/>
          <p14:tracePt t="63743" x="4846638" y="5045075"/>
          <p14:tracePt t="63745" x="4899025" y="5070475"/>
          <p14:tracePt t="63747" x="4932363" y="5087938"/>
          <p14:tracePt t="63749" x="4959350" y="5095875"/>
          <p14:tracePt t="63751" x="5002213" y="5105400"/>
          <p14:tracePt t="63754" x="5035550" y="5113338"/>
          <p14:tracePt t="63755" x="5070475" y="5113338"/>
          <p14:tracePt t="63757" x="5105400" y="5113338"/>
          <p14:tracePt t="63760" x="5148263" y="5121275"/>
          <p14:tracePt t="63761" x="5199063" y="5130800"/>
          <p14:tracePt t="63763" x="5241925" y="5138738"/>
          <p14:tracePt t="63765" x="5294313" y="5148263"/>
          <p14:tracePt t="63767" x="5337175" y="5156200"/>
          <p14:tracePt t="63769" x="5387975" y="5165725"/>
          <p14:tracePt t="63771" x="5430838" y="5165725"/>
          <p14:tracePt t="63773" x="5473700" y="5165725"/>
          <p14:tracePt t="63776" x="5526088" y="5165725"/>
          <p14:tracePt t="63777" x="5568950" y="5165725"/>
          <p14:tracePt t="63779" x="5611813" y="5173663"/>
          <p14:tracePt t="63781" x="5664200" y="5181600"/>
          <p14:tracePt t="63783" x="5697538" y="5181600"/>
          <p14:tracePt t="63785" x="5732463" y="5181600"/>
          <p14:tracePt t="63787" x="5765800" y="5181600"/>
          <p14:tracePt t="63789" x="5810250" y="5181600"/>
          <p14:tracePt t="63791" x="5835650" y="5181600"/>
          <p14:tracePt t="63793" x="5861050" y="5181600"/>
          <p14:tracePt t="63795" x="5895975" y="5181600"/>
          <p14:tracePt t="63797" x="5921375" y="5181600"/>
          <p14:tracePt t="63799" x="5956300" y="5181600"/>
          <p14:tracePt t="63804" x="5972175" y="5181600"/>
          <p14:tracePt t="63807" x="5981700" y="5173663"/>
          <p14:tracePt t="63811" x="5999163" y="5165725"/>
          <p14:tracePt t="63813" x="6015038" y="5165725"/>
          <p14:tracePt t="63815" x="6015038" y="5156200"/>
          <p14:tracePt t="63817" x="6015038" y="5148263"/>
          <p14:tracePt t="63823" x="6024563" y="5130800"/>
          <p14:tracePt t="63828" x="6042025" y="5121275"/>
          <p14:tracePt t="63829" x="6059488" y="5121275"/>
          <p14:tracePt t="63833" x="6059488" y="5113338"/>
          <p14:tracePt t="63839" x="6067425" y="5113338"/>
          <p14:tracePt t="63841" x="6075363" y="5105400"/>
          <p14:tracePt t="63847" x="6084888" y="5095875"/>
          <p14:tracePt t="63855" x="6092825" y="5087938"/>
          <p14:tracePt t="63857" x="6102350" y="5087938"/>
          <p14:tracePt t="63867" x="6110288" y="5078413"/>
          <p14:tracePt t="63871" x="6127750" y="5062538"/>
          <p14:tracePt t="63876" x="6135688" y="5045075"/>
          <p14:tracePt t="63878" x="6145213" y="5027613"/>
          <p14:tracePt t="63881" x="6145213" y="5010150"/>
          <p14:tracePt t="63887" x="6145213" y="4984750"/>
          <p14:tracePt t="63895" x="6145213" y="4959350"/>
          <p14:tracePt t="63897" x="6153150" y="4949825"/>
          <p14:tracePt t="63899" x="6162675" y="4932363"/>
          <p14:tracePt t="63905" x="6162675" y="4916488"/>
          <p14:tracePt t="63910" x="6162675" y="4906963"/>
          <p14:tracePt t="63915" x="6162675" y="4889500"/>
          <p14:tracePt t="63920" x="6162675" y="4872038"/>
          <p14:tracePt t="63923" x="6162675" y="4864100"/>
          <p14:tracePt t="63927" x="6162675" y="4846638"/>
          <p14:tracePt t="63931" x="6162675" y="4838700"/>
          <p14:tracePt t="63933" x="6162675" y="4829175"/>
          <p14:tracePt t="63935" x="6153150" y="4813300"/>
          <p14:tracePt t="63939" x="6145213" y="4795838"/>
          <p14:tracePt t="63943" x="6127750" y="4786313"/>
          <p14:tracePt t="63949" x="6118225" y="4760913"/>
          <p14:tracePt t="63951" x="6102350" y="4752975"/>
          <p14:tracePt t="63953" x="6084888" y="4735513"/>
          <p14:tracePt t="63955" x="6067425" y="4725988"/>
          <p14:tracePt t="63960" x="6049963" y="4718050"/>
          <p14:tracePt t="63963" x="6042025" y="4700588"/>
          <p14:tracePt t="63965" x="6024563" y="4700588"/>
          <p14:tracePt t="63967" x="6007100" y="4692650"/>
          <p14:tracePt t="63969" x="5989638" y="4683125"/>
          <p14:tracePt t="63971" x="5981700" y="4675188"/>
          <p14:tracePt t="63973" x="5964238" y="4657725"/>
          <p14:tracePt t="63976" x="5946775" y="4649788"/>
          <p14:tracePt t="63977" x="5929313" y="4649788"/>
          <p14:tracePt t="63979" x="5921375" y="4640263"/>
          <p14:tracePt t="63981" x="5903913" y="4640263"/>
          <p14:tracePt t="63983" x="5878513" y="4632325"/>
          <p14:tracePt t="63985" x="5868988" y="4622800"/>
          <p14:tracePt t="63987" x="5853113" y="4614863"/>
          <p14:tracePt t="63994" x="5818188" y="4589463"/>
          <p14:tracePt t="63995" x="5800725" y="4579938"/>
          <p14:tracePt t="63997" x="5775325" y="4564063"/>
          <p14:tracePt t="63999" x="5757863" y="4564063"/>
          <p14:tracePt t="64001" x="5749925" y="4554538"/>
          <p14:tracePt t="64003" x="5740400" y="4546600"/>
          <p14:tracePt t="64005" x="5722938" y="4537075"/>
          <p14:tracePt t="64007" x="5707063" y="4529138"/>
          <p14:tracePt t="64010" x="5689600" y="4529138"/>
          <p14:tracePt t="64011" x="5680075" y="4529138"/>
          <p14:tracePt t="64013" x="5664200" y="4521200"/>
          <p14:tracePt t="64015" x="5637213" y="4521200"/>
          <p14:tracePt t="64018" x="5619750" y="4521200"/>
          <p14:tracePt t="64019" x="5594350" y="4511675"/>
          <p14:tracePt t="64021" x="5576888" y="4503738"/>
          <p14:tracePt t="64023" x="5561013" y="4503738"/>
          <p14:tracePt t="64027" x="5551488" y="4503738"/>
          <p14:tracePt t="64029" x="5534025" y="4503738"/>
          <p14:tracePt t="64031" x="5516563" y="4503738"/>
          <p14:tracePt t="64035" x="5508625" y="4503738"/>
          <p14:tracePt t="64037" x="5491163" y="4503738"/>
          <p14:tracePt t="64041" x="5483225" y="4494213"/>
          <p14:tracePt t="64043" x="5473700" y="4486275"/>
          <p14:tracePt t="64048" x="5457825" y="4486275"/>
          <p14:tracePt t="64051" x="5448300" y="4486275"/>
          <p14:tracePt t="64078" x="5430838" y="4486275"/>
          <p14:tracePt t="64091" x="5414963" y="4486275"/>
          <p14:tracePt t="64132" x="5405438" y="4494213"/>
          <p14:tracePt t="64134" x="5397500" y="4503738"/>
          <p14:tracePt t="64147" x="5387975" y="4511675"/>
          <p14:tracePt t="64153" x="5380038" y="4529138"/>
          <p14:tracePt t="64228" x="5387975" y="4529138"/>
          <p14:tracePt t="64229" x="0" y="0"/>
        </p14:tracePtLst>
        <p14:tracePtLst>
          <p14:tracePt t="64745" x="7107238" y="4521200"/>
          <p14:tracePt t="64910" x="7099300" y="4511675"/>
          <p14:tracePt t="64915" x="7089775" y="4503738"/>
          <p14:tracePt t="64921" x="7072313" y="4494213"/>
          <p14:tracePt t="64926" x="7056438" y="4494213"/>
          <p14:tracePt t="64929" x="7046913" y="4486275"/>
          <p14:tracePt t="64933" x="7029450" y="4476750"/>
          <p14:tracePt t="64939" x="7011988" y="4476750"/>
          <p14:tracePt t="64941" x="6996113" y="4468813"/>
          <p14:tracePt t="64945" x="6986588" y="4468813"/>
          <p14:tracePt t="64949" x="6969125" y="4468813"/>
          <p14:tracePt t="64951" x="6943725" y="4460875"/>
          <p14:tracePt t="64953" x="6935788" y="4451350"/>
          <p14:tracePt t="64957" x="6918325" y="4443413"/>
          <p14:tracePt t="64960" x="6900863" y="4433888"/>
          <p14:tracePt t="64963" x="6883400" y="4433888"/>
          <p14:tracePt t="64965" x="6875463" y="4433888"/>
          <p14:tracePt t="64967" x="6858000" y="4433888"/>
          <p14:tracePt t="64969" x="6840538" y="4425950"/>
          <p14:tracePt t="64973" x="6823075" y="4418013"/>
          <p14:tracePt t="64977" x="6807200" y="4418013"/>
          <p14:tracePt t="64978" x="6789738" y="4418013"/>
          <p14:tracePt t="64979" x="6780213" y="4418013"/>
          <p14:tracePt t="64981" x="6762750" y="4418013"/>
          <p14:tracePt t="64983" x="6746875" y="4418013"/>
          <p14:tracePt t="64987" x="6737350" y="4418013"/>
          <p14:tracePt t="64990" x="6719888" y="4418013"/>
          <p14:tracePt t="64992" x="6704013" y="4418013"/>
          <p14:tracePt t="64995" x="6694488" y="4418013"/>
          <p14:tracePt t="64997" x="6686550" y="4418013"/>
          <p14:tracePt t="64999" x="6677025" y="4418013"/>
          <p14:tracePt t="65001" x="6659563" y="4418013"/>
          <p14:tracePt t="65008" x="6643688" y="4418013"/>
          <p14:tracePt t="65010" x="6634163" y="4418013"/>
          <p14:tracePt t="65019" x="6616700" y="4418013"/>
          <p14:tracePt t="65023" x="6600825" y="4418013"/>
          <p14:tracePt t="65039" x="6591300" y="4418013"/>
          <p14:tracePt t="65041" x="6583363" y="4418013"/>
          <p14:tracePt t="65064" x="6565900" y="4418013"/>
          <p14:tracePt t="65069" x="6557963" y="4418013"/>
          <p14:tracePt t="65071" x="6548438" y="4418013"/>
          <p14:tracePt t="65077" x="6540500" y="4425950"/>
          <p14:tracePt t="65083" x="6540500" y="4433888"/>
          <p14:tracePt t="65085" x="6530975" y="4443413"/>
          <p14:tracePt t="65091" x="6513513" y="4451350"/>
          <p14:tracePt t="65095" x="6497638" y="4460875"/>
          <p14:tracePt t="65097" x="6488113" y="4476750"/>
          <p14:tracePt t="65101" x="6488113" y="4486275"/>
          <p14:tracePt t="65105" x="6488113" y="4503738"/>
          <p14:tracePt t="65110" x="6488113" y="4521200"/>
          <p14:tracePt t="65113" x="6480175" y="4529138"/>
          <p14:tracePt t="65115" x="6480175" y="4546600"/>
          <p14:tracePt t="65119" x="6480175" y="4564063"/>
          <p14:tracePt t="65123" x="6480175" y="4572000"/>
          <p14:tracePt t="65128" x="6480175" y="4589463"/>
          <p14:tracePt t="65132" x="6480175" y="4606925"/>
          <p14:tracePt t="65140" x="6480175" y="4614863"/>
          <p14:tracePt t="65144" x="6480175" y="4632325"/>
          <p14:tracePt t="65147" x="6480175" y="4649788"/>
          <p14:tracePt t="65153" x="6480175" y="4657725"/>
          <p14:tracePt t="65160" x="6480175" y="4675188"/>
          <p14:tracePt t="65163" x="6480175" y="4683125"/>
          <p14:tracePt t="65165" x="6470650" y="4692650"/>
          <p14:tracePt t="65171" x="6462713" y="4700588"/>
          <p14:tracePt t="65179" x="6462713" y="4710113"/>
          <p14:tracePt t="65194" x="6462713" y="4718050"/>
          <p14:tracePt t="65199" x="6470650" y="4725988"/>
          <p14:tracePt t="65204" x="6470650" y="4735513"/>
          <p14:tracePt t="65205" x="6470650" y="4743450"/>
          <p14:tracePt t="65215" x="6480175" y="4752975"/>
          <p14:tracePt t="65221" x="6480175" y="4760913"/>
          <p14:tracePt t="65232" x="6480175" y="4778375"/>
          <p14:tracePt t="65234" x="6488113" y="4786313"/>
          <p14:tracePt t="65235" x="6497638" y="4795838"/>
          <p14:tracePt t="65244" x="6497638" y="4803775"/>
          <p14:tracePt t="65249" x="6505575" y="4821238"/>
          <p14:tracePt t="65254" x="6505575" y="4838700"/>
          <p14:tracePt t="65256" x="6513513" y="4838700"/>
          <p14:tracePt t="65262" x="6530975" y="4846638"/>
          <p14:tracePt t="65280" x="6540500" y="4864100"/>
          <p14:tracePt t="65290" x="6540500" y="4872038"/>
          <p14:tracePt t="65304" x="6540500" y="4881563"/>
          <p14:tracePt t="65312" x="6548438" y="4889500"/>
          <p14:tracePt t="65327" x="6557963" y="4906963"/>
          <p14:tracePt t="65329" x="6565900" y="4906963"/>
          <p14:tracePt t="65349" x="6565900" y="4916488"/>
          <p14:tracePt t="65351" x="6565900" y="4924425"/>
          <p14:tracePt t="65357" x="6583363" y="4924425"/>
          <p14:tracePt t="65362" x="6591300" y="4924425"/>
          <p14:tracePt t="65370" x="6591300" y="4932363"/>
          <p14:tracePt t="65378" x="6600825" y="4941888"/>
          <p14:tracePt t="65381" x="6608763" y="4949825"/>
          <p14:tracePt t="65395" x="6616700" y="4949825"/>
          <p14:tracePt t="65399" x="6634163" y="4959350"/>
          <p14:tracePt t="65402" x="6651625" y="4967288"/>
          <p14:tracePt t="65412" x="6669088" y="4975225"/>
          <p14:tracePt t="65422" x="6669088" y="4984750"/>
          <p14:tracePt t="65435" x="6686550" y="4992688"/>
          <p14:tracePt t="65440" x="6704013" y="4992688"/>
          <p14:tracePt t="65486" x="6711950" y="4992688"/>
          <p14:tracePt t="65489" x="6729413" y="4992688"/>
          <p14:tracePt t="65491" x="6737350" y="4992688"/>
          <p14:tracePt t="65499" x="6746875" y="5002213"/>
          <p14:tracePt t="65508" x="6762750" y="5002213"/>
          <p14:tracePt t="65518" x="6772275" y="5002213"/>
          <p14:tracePt t="65524" x="6789738" y="5002213"/>
          <p14:tracePt t="65530" x="6807200" y="5002213"/>
          <p14:tracePt t="65536" x="6807200" y="5010150"/>
          <p14:tracePt t="65544" x="6815138" y="5019675"/>
          <p14:tracePt t="65548" x="6832600" y="5019675"/>
          <p14:tracePt t="65560" x="6840538" y="5019675"/>
          <p14:tracePt t="65573" x="6858000" y="5019675"/>
          <p14:tracePt t="65584" x="6875463" y="5019675"/>
          <p14:tracePt t="65594" x="6883400" y="5019675"/>
          <p14:tracePt t="65597" x="6900863" y="5019675"/>
          <p14:tracePt t="65602" x="6918325" y="5019675"/>
          <p14:tracePt t="65608" x="6926263" y="5019675"/>
          <p14:tracePt t="65612" x="6943725" y="5019675"/>
          <p14:tracePt t="65616" x="6953250" y="5019675"/>
          <p14:tracePt t="65619" x="6969125" y="5019675"/>
          <p14:tracePt t="65624" x="6986588" y="5019675"/>
          <p14:tracePt t="65627" x="6996113" y="5019675"/>
          <p14:tracePt t="65629" x="7004050" y="5019675"/>
          <p14:tracePt t="65631" x="7011988" y="5019675"/>
          <p14:tracePt t="65639" x="7021513" y="5019675"/>
          <p14:tracePt t="65641" x="7038975" y="5019675"/>
          <p14:tracePt t="65648" x="7056438" y="5019675"/>
          <p14:tracePt t="65653" x="7064375" y="5019675"/>
          <p14:tracePt t="65657" x="7081838" y="5019675"/>
          <p14:tracePt t="65660" x="7099300" y="5019675"/>
          <p14:tracePt t="65665" x="7107238" y="5019675"/>
          <p14:tracePt t="65669" x="7124700" y="5019675"/>
          <p14:tracePt t="65677" x="7132638" y="5019675"/>
          <p14:tracePt t="65680" x="7150100" y="5019675"/>
          <p14:tracePt t="65685" x="7167563" y="5019675"/>
          <p14:tracePt t="65692" x="7175500" y="5019675"/>
          <p14:tracePt t="65698" x="7192963" y="5019675"/>
          <p14:tracePt t="65708" x="7202488" y="5019675"/>
          <p14:tracePt t="65730" x="7202488" y="5002213"/>
          <p14:tracePt t="65772" x="7202488" y="4992688"/>
          <p14:tracePt t="65777" x="7202488" y="4984750"/>
          <p14:tracePt t="65778" x="7210425" y="4975225"/>
          <p14:tracePt t="65784" x="7210425" y="4967288"/>
          <p14:tracePt t="65794" x="7210425" y="4949825"/>
          <p14:tracePt t="65799" x="7210425" y="4941888"/>
          <p14:tracePt t="65814" x="7210425" y="4924425"/>
          <p14:tracePt t="65827" x="7210425" y="4906963"/>
          <p14:tracePt t="65842" x="7210425" y="4899025"/>
          <p14:tracePt t="65846" x="7210425" y="4889500"/>
          <p14:tracePt t="65847" x="7210425" y="4881563"/>
          <p14:tracePt t="65855" x="7210425" y="4872038"/>
          <p14:tracePt t="65864" x="7210425" y="4856163"/>
          <p14:tracePt t="65867" x="7210425" y="4838700"/>
          <p14:tracePt t="65873" x="7202488" y="4838700"/>
          <p14:tracePt t="65878" x="7192963" y="4829175"/>
          <p14:tracePt t="65879" x="7192963" y="4813300"/>
          <p14:tracePt t="65886" x="7192963" y="4803775"/>
          <p14:tracePt t="65888" x="7192963" y="4786313"/>
          <p14:tracePt t="65892" x="7192963" y="4770438"/>
          <p14:tracePt t="65898" x="7192963" y="4760913"/>
          <p14:tracePt t="65900" x="7192963" y="4752975"/>
          <p14:tracePt t="65902" x="7185025" y="4743450"/>
          <p14:tracePt t="65911" x="7185025" y="4735513"/>
          <p14:tracePt t="65913" x="7175500" y="4718050"/>
          <p14:tracePt t="65920" x="7167563" y="4700588"/>
          <p14:tracePt t="65924" x="7167563" y="4692650"/>
          <p14:tracePt t="65927" x="7150100" y="4683125"/>
          <p14:tracePt t="65929" x="7150100" y="4675188"/>
          <p14:tracePt t="65933" x="7132638" y="4657725"/>
          <p14:tracePt t="65944" x="7115175" y="4649788"/>
          <p14:tracePt t="65952" x="7107238" y="4632325"/>
          <p14:tracePt t="65956" x="7107238" y="4614863"/>
          <p14:tracePt t="65958" x="7107238" y="4606925"/>
          <p14:tracePt t="65962" x="7099300" y="4606925"/>
          <p14:tracePt t="65968" x="7099300" y="4589463"/>
          <p14:tracePt t="65970" x="7089775" y="4579938"/>
          <p14:tracePt t="65978" x="7072313" y="4579938"/>
          <p14:tracePt t="65980" x="7072313" y="4564063"/>
          <p14:tracePt t="65986" x="7072313" y="4546600"/>
          <p14:tracePt t="65996" x="7072313" y="4537075"/>
          <p14:tracePt t="65999" x="7072313" y="4521200"/>
          <p14:tracePt t="66007" x="7064375" y="4503738"/>
          <p14:tracePt t="66016" x="7056438" y="4494213"/>
          <p14:tracePt t="66024" x="7046913" y="4476750"/>
          <p14:tracePt t="66027" x="7029450" y="4468813"/>
          <p14:tracePt t="66032" x="7021513" y="4468813"/>
          <p14:tracePt t="66038" x="7011988" y="4460875"/>
          <p14:tracePt t="66040" x="7004050" y="4451350"/>
          <p14:tracePt t="66046" x="6996113" y="4451350"/>
          <p14:tracePt t="66054" x="6978650" y="4451350"/>
          <p14:tracePt t="66056" x="6969125" y="4451350"/>
          <p14:tracePt t="66058" x="6961188" y="4443413"/>
          <p14:tracePt t="66064" x="6953250" y="4443413"/>
          <p14:tracePt t="66070" x="6935788" y="4443413"/>
          <p14:tracePt t="66074" x="6926263" y="4443413"/>
          <p14:tracePt t="66078" x="6908800" y="4443413"/>
          <p14:tracePt t="66084" x="6892925" y="4443413"/>
          <p14:tracePt t="66089" x="6883400" y="4443413"/>
          <p14:tracePt t="66094" x="6865938" y="4443413"/>
          <p14:tracePt t="66097" x="6850063" y="4443413"/>
          <p14:tracePt t="66106" x="6840538" y="4443413"/>
          <p14:tracePt t="66118" x="6823075" y="4443413"/>
          <p14:tracePt t="66122" x="6815138" y="4443413"/>
          <p14:tracePt t="66128" x="6797675" y="4443413"/>
          <p14:tracePt t="66132" x="6780213" y="4443413"/>
          <p14:tracePt t="66140" x="6772275" y="4443413"/>
          <p14:tracePt t="66144" x="6754813" y="4443413"/>
          <p14:tracePt t="66145" x="6746875" y="4443413"/>
          <p14:tracePt t="66151" x="6737350" y="4451350"/>
          <p14:tracePt t="66153" x="6729413" y="4460875"/>
          <p14:tracePt t="66158" x="6711950" y="4468813"/>
          <p14:tracePt t="66161" x="6704013" y="4476750"/>
          <p14:tracePt t="66166" x="6686550" y="4476750"/>
          <p14:tracePt t="66170" x="6677025" y="4476750"/>
          <p14:tracePt t="66172" x="6677025" y="4486275"/>
          <p14:tracePt t="66178" x="6651625" y="4494213"/>
          <p14:tracePt t="66182" x="6643688" y="4511675"/>
          <p14:tracePt t="66184" x="6634163" y="4511675"/>
          <p14:tracePt t="66190" x="6616700" y="4521200"/>
          <p14:tracePt t="66194" x="6600825" y="4537075"/>
          <p14:tracePt t="66197" x="6591300" y="4554538"/>
          <p14:tracePt t="66204" x="6583363" y="4572000"/>
          <p14:tracePt t="66208" x="6565900" y="4579938"/>
          <p14:tracePt t="66214" x="6565900" y="4597400"/>
          <p14:tracePt t="66216" x="6557963" y="4606925"/>
          <p14:tracePt t="66220" x="6548438" y="4614863"/>
          <p14:tracePt t="66224" x="6548438" y="4622800"/>
          <p14:tracePt t="66227" x="6540500" y="4632325"/>
          <p14:tracePt t="66228" x="6540500" y="4640263"/>
          <p14:tracePt t="66232" x="6540500" y="4649788"/>
          <p14:tracePt t="66236" x="6540500" y="4667250"/>
          <p14:tracePt t="66240" x="6540500" y="4683125"/>
          <p14:tracePt t="66242" x="6540500" y="4692650"/>
          <p14:tracePt t="66248" x="6540500" y="4710113"/>
          <p14:tracePt t="66249" x="6540500" y="4718050"/>
          <p14:tracePt t="66254" x="6530975" y="4735513"/>
          <p14:tracePt t="66255" x="6523038" y="4743450"/>
          <p14:tracePt t="66260" x="6523038" y="4752975"/>
          <p14:tracePt t="66264" x="6523038" y="4760913"/>
          <p14:tracePt t="66266" x="6523038" y="4778375"/>
          <p14:tracePt t="66267" x="6523038" y="4786313"/>
          <p14:tracePt t="66282" x="6523038" y="4803775"/>
          <p14:tracePt t="66288" x="6523038" y="4821238"/>
          <p14:tracePt t="66294" x="6523038" y="4829175"/>
          <p14:tracePt t="66312" x="6540500" y="4838700"/>
          <p14:tracePt t="66318" x="6540500" y="4846638"/>
          <p14:tracePt t="66374" x="6548438" y="4856163"/>
          <p14:tracePt t="66388" x="6565900" y="4856163"/>
          <p14:tracePt t="66410" x="6573838" y="4856163"/>
          <p14:tracePt t="66411" x="6591300" y="4864100"/>
          <p14:tracePt t="66420" x="6608763" y="4872038"/>
          <p14:tracePt t="66422" x="6626225" y="4872038"/>
          <p14:tracePt t="66430" x="6634163" y="4889500"/>
          <p14:tracePt t="66431" x="6651625" y="4899025"/>
          <p14:tracePt t="66438" x="6669088" y="4899025"/>
          <p14:tracePt t="66440" x="6677025" y="4899025"/>
          <p14:tracePt t="66441" x="6694488" y="4899025"/>
          <p14:tracePt t="66446" x="6711950" y="4899025"/>
          <p14:tracePt t="66449" x="6729413" y="4906963"/>
          <p14:tracePt t="66451" x="6737350" y="4916488"/>
          <p14:tracePt t="66453" x="6754813" y="4916488"/>
          <p14:tracePt t="66456" x="6762750" y="4924425"/>
          <p14:tracePt t="66458" x="6772275" y="4924425"/>
          <p14:tracePt t="66460" x="6780213" y="4924425"/>
          <p14:tracePt t="66462" x="6789738" y="4924425"/>
          <p14:tracePt t="66463" x="6807200" y="4924425"/>
          <p14:tracePt t="66465" x="6823075" y="4924425"/>
          <p14:tracePt t="66467" x="6832600" y="4924425"/>
          <p14:tracePt t="66469" x="6850063" y="4932363"/>
          <p14:tracePt t="66471" x="6865938" y="4941888"/>
          <p14:tracePt t="66473" x="6892925" y="4941888"/>
          <p14:tracePt t="66477" x="6900863" y="4941888"/>
          <p14:tracePt t="66478" x="6918325" y="4941888"/>
          <p14:tracePt t="66480" x="6935788" y="4949825"/>
          <p14:tracePt t="66482" x="6943725" y="4959350"/>
          <p14:tracePt t="66483" x="6961188" y="4959350"/>
          <p14:tracePt t="66488" x="6986588" y="4959350"/>
          <p14:tracePt t="66489" x="7004050" y="4959350"/>
          <p14:tracePt t="66491" x="7021513" y="4967288"/>
          <p14:tracePt t="66496" x="7046913" y="4975225"/>
          <p14:tracePt t="66498" x="7072313" y="4975225"/>
          <p14:tracePt t="66502" x="7099300" y="4984750"/>
          <p14:tracePt t="66506" x="7132638" y="4992688"/>
          <p14:tracePt t="66508" x="7150100" y="4992688"/>
          <p14:tracePt t="66512" x="7167563" y="4992688"/>
          <p14:tracePt t="66516" x="7185025" y="4992688"/>
          <p14:tracePt t="66520" x="7192963" y="5002213"/>
          <p14:tracePt t="66528" x="7210425" y="5002213"/>
          <p14:tracePt t="66561" x="7227888" y="5002213"/>
          <p14:tracePt t="66581" x="7235825" y="5002213"/>
          <p14:tracePt t="66590" x="7245350" y="5002213"/>
          <p14:tracePt t="66622" x="7261225" y="5002213"/>
          <p14:tracePt t="66624" x="7261225" y="4992688"/>
          <p14:tracePt t="66646" x="7261225" y="4984750"/>
          <p14:tracePt t="66666" x="7261225" y="4967288"/>
          <p14:tracePt t="66668" x="7261225" y="4959350"/>
          <p14:tracePt t="66670" x="7261225" y="4949825"/>
          <p14:tracePt t="66677" x="7253288" y="4949825"/>
          <p14:tracePt t="66678" x="7245350" y="4941888"/>
          <p14:tracePt t="66684" x="7245350" y="4924425"/>
          <p14:tracePt t="66688" x="7245350" y="4916488"/>
          <p14:tracePt t="66694" x="7235825" y="4899025"/>
          <p14:tracePt t="66698" x="7227888" y="4881563"/>
          <p14:tracePt t="66706" x="7218363" y="4864100"/>
          <p14:tracePt t="66710" x="7210425" y="4856163"/>
          <p14:tracePt t="66716" x="7202488" y="4838700"/>
          <p14:tracePt t="66718" x="7192963" y="4821238"/>
          <p14:tracePt t="66720" x="7185025" y="4803775"/>
          <p14:tracePt t="66727" x="7175500" y="4795838"/>
          <p14:tracePt t="66732" x="7167563" y="4778375"/>
          <p14:tracePt t="66738" x="7150100" y="4770438"/>
          <p14:tracePt t="66742" x="7142163" y="4752975"/>
          <p14:tracePt t="66748" x="7124700" y="4735513"/>
          <p14:tracePt t="66750" x="7107238" y="4725988"/>
          <p14:tracePt t="66752" x="7099300" y="4718050"/>
          <p14:tracePt t="66758" x="7081838" y="4710113"/>
          <p14:tracePt t="66764" x="7064375" y="4692650"/>
          <p14:tracePt t="66768" x="7046913" y="4683125"/>
          <p14:tracePt t="66772" x="7038975" y="4675188"/>
          <p14:tracePt t="66774" x="7021513" y="4667250"/>
          <p14:tracePt t="66777" x="7004050" y="4667250"/>
          <p14:tracePt t="66782" x="6986588" y="4657725"/>
          <p14:tracePt t="66788" x="6978650" y="4649788"/>
          <p14:tracePt t="66790" x="6961188" y="4640263"/>
          <p14:tracePt t="66794" x="6943725" y="4640263"/>
          <p14:tracePt t="66796" x="6935788" y="4632325"/>
          <p14:tracePt t="66806" x="6935788" y="4622800"/>
          <p14:tracePt t="66810" x="6918325" y="4614863"/>
          <p14:tracePt t="66814" x="6900863" y="4614863"/>
          <p14:tracePt t="66820" x="6892925" y="4614863"/>
          <p14:tracePt t="66824" x="6875463" y="4606925"/>
          <p14:tracePt t="66830" x="6858000" y="4597400"/>
          <p14:tracePt t="66834" x="6850063" y="4597400"/>
          <p14:tracePt t="66838" x="6832600" y="4589463"/>
          <p14:tracePt t="66842" x="6815138" y="4579938"/>
          <p14:tracePt t="66846" x="6797675" y="4579938"/>
          <p14:tracePt t="66854" x="6789738" y="4579938"/>
          <p14:tracePt t="66862" x="6772275" y="4579938"/>
          <p14:tracePt t="66880" x="6754813" y="4579938"/>
          <p14:tracePt t="66892" x="0" y="0"/>
        </p14:tracePtLst>
        <p14:tracePtLst>
          <p14:tracePt t="67390" x="2852738" y="5586413"/>
          <p14:tracePt t="67600" x="2844800" y="5586413"/>
          <p14:tracePt t="67612" x="2835275" y="5586413"/>
          <p14:tracePt t="67622" x="2819400" y="5586413"/>
          <p14:tracePt t="67630" x="2801938" y="5586413"/>
          <p14:tracePt t="67640" x="2792413" y="5586413"/>
          <p14:tracePt t="67648" x="2776538" y="5586413"/>
          <p14:tracePt t="67656" x="2759075" y="5586413"/>
          <p14:tracePt t="67662" x="2749550" y="5586413"/>
          <p14:tracePt t="67668" x="2733675" y="5586413"/>
          <p14:tracePt t="67677" x="2724150" y="5586413"/>
          <p14:tracePt t="67680" x="2706688" y="5586413"/>
          <p14:tracePt t="67682" x="2689225" y="5586413"/>
          <p14:tracePt t="67688" x="2681288" y="5586413"/>
          <p14:tracePt t="67690" x="2663825" y="5586413"/>
          <p14:tracePt t="67694" x="2646363" y="5586413"/>
          <p14:tracePt t="67698" x="2638425" y="5586413"/>
          <p14:tracePt t="67702" x="2620963" y="5586413"/>
          <p14:tracePt t="67708" x="2603500" y="5586413"/>
          <p14:tracePt t="67714" x="2595563" y="5586413"/>
          <p14:tracePt t="67720" x="2578100" y="5586413"/>
          <p14:tracePt t="67746" x="2560638" y="5586413"/>
          <p14:tracePt t="67916" x="2570163" y="5586413"/>
          <p14:tracePt t="67934" x="2586038" y="5586413"/>
          <p14:tracePt t="67938" x="2595563" y="5594350"/>
          <p14:tracePt t="67944" x="2613025" y="5594350"/>
          <p14:tracePt t="67948" x="2630488" y="5594350"/>
          <p14:tracePt t="67952" x="2638425" y="5594350"/>
          <p14:tracePt t="67954" x="2655888" y="5603875"/>
          <p14:tracePt t="67956" x="2673350" y="5603875"/>
          <p14:tracePt t="67960" x="2689225" y="5603875"/>
          <p14:tracePt t="67964" x="2716213" y="5611813"/>
          <p14:tracePt t="67966" x="2733675" y="5619750"/>
          <p14:tracePt t="67968" x="2759075" y="5619750"/>
          <p14:tracePt t="67970" x="2767013" y="5619750"/>
          <p14:tracePt t="67972" x="2784475" y="5629275"/>
          <p14:tracePt t="67974" x="2792413" y="5637213"/>
          <p14:tracePt t="67977" x="2801938" y="5637213"/>
          <p14:tracePt t="67978" x="2819400" y="5637213"/>
          <p14:tracePt t="67980" x="2844800" y="5637213"/>
          <p14:tracePt t="67982" x="2862263" y="5646738"/>
          <p14:tracePt t="67984" x="2870200" y="5654675"/>
          <p14:tracePt t="67986" x="2887663" y="5654675"/>
          <p14:tracePt t="67988" x="2905125" y="5654675"/>
          <p14:tracePt t="67990" x="2913063" y="5664200"/>
          <p14:tracePt t="67992" x="2930525" y="5672138"/>
          <p14:tracePt t="67996" x="2947988" y="5680075"/>
          <p14:tracePt t="67998" x="2965450" y="5680075"/>
          <p14:tracePt t="68000" x="2973388" y="5689600"/>
          <p14:tracePt t="68002" x="2990850" y="5697538"/>
          <p14:tracePt t="68004" x="3008313" y="5697538"/>
          <p14:tracePt t="68006" x="3016250" y="5697538"/>
          <p14:tracePt t="68008" x="3033713" y="5707063"/>
          <p14:tracePt t="68011" x="3051175" y="5715000"/>
          <p14:tracePt t="68014" x="3059113" y="5715000"/>
          <p14:tracePt t="68016" x="3076575" y="5715000"/>
          <p14:tracePt t="68018" x="3094038" y="5722938"/>
          <p14:tracePt t="68020" x="3111500" y="5722938"/>
          <p14:tracePt t="68022" x="3119438" y="5722938"/>
          <p14:tracePt t="68027" x="3136900" y="5732463"/>
          <p14:tracePt t="68028" x="3154363" y="5740400"/>
          <p14:tracePt t="68030" x="3162300" y="5740400"/>
          <p14:tracePt t="68034" x="3179763" y="5740400"/>
          <p14:tracePt t="68040" x="3197225" y="5740400"/>
          <p14:tracePt t="68042" x="3205163" y="5740400"/>
          <p14:tracePt t="68048" x="3222625" y="5740400"/>
          <p14:tracePt t="68050" x="3230563" y="5749925"/>
          <p14:tracePt t="68310" x="3230563" y="5757863"/>
          <p14:tracePt t="68311" x="0" y="0"/>
        </p14:tracePtLst>
      </p14:laserTraceLst>
    </p:ext>
    <p:ext uri="{E180D4A7-C9FB-4DFB-919C-405C955672EB}">
      <p14:showEvtLst xmlns:p14="http://schemas.microsoft.com/office/powerpoint/2010/main">
        <p14:playEvt time="54" objId="4"/>
        <p14:stopEvt time="79884" objId="4"/>
      </p14:showEvtLst>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p:cNvSpPr/>
          <p:nvPr/>
        </p:nvSpPr>
        <p:spPr>
          <a:xfrm>
            <a:off x="685800" y="1814215"/>
            <a:ext cx="3962400" cy="336292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49" name="Rectangle 48"/>
          <p:cNvSpPr/>
          <p:nvPr/>
        </p:nvSpPr>
        <p:spPr>
          <a:xfrm>
            <a:off x="7410643" y="1773120"/>
            <a:ext cx="802182" cy="58908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2" name="Title 1"/>
          <p:cNvSpPr>
            <a:spLocks noGrp="1"/>
          </p:cNvSpPr>
          <p:nvPr>
            <p:ph type="title"/>
          </p:nvPr>
        </p:nvSpPr>
        <p:spPr/>
        <p:txBody>
          <a:bodyPr>
            <a:normAutofit fontScale="90000"/>
          </a:bodyPr>
          <a:lstStyle/>
          <a:p>
            <a:r>
              <a:rPr lang="en-US" dirty="0"/>
              <a:t>Subtracting two signed integers: </a:t>
            </a:r>
            <a:br>
              <a:rPr lang="en-US" dirty="0"/>
            </a:br>
            <a:r>
              <a:rPr lang="en-US" b="1" dirty="0">
                <a:latin typeface="Consolas" panose="020B0609020204030204" pitchFamily="49" charset="0"/>
                <a:cs typeface="Consolas" panose="020B0609020204030204" pitchFamily="49" charset="0"/>
              </a:rPr>
              <a:t>(-9) - 6</a:t>
            </a:r>
          </a:p>
        </p:txBody>
      </p:sp>
      <p:sp>
        <p:nvSpPr>
          <p:cNvPr id="3" name="Slide Number Placeholder 2"/>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20" name="TextBox 19"/>
          <p:cNvSpPr txBox="1"/>
          <p:nvPr/>
        </p:nvSpPr>
        <p:spPr>
          <a:xfrm>
            <a:off x="1452869" y="1352550"/>
            <a:ext cx="52450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-9</a:t>
            </a:r>
          </a:p>
        </p:txBody>
      </p:sp>
      <p:sp>
        <p:nvSpPr>
          <p:cNvPr id="21" name="TextBox 20"/>
          <p:cNvSpPr txBox="1"/>
          <p:nvPr/>
        </p:nvSpPr>
        <p:spPr>
          <a:xfrm>
            <a:off x="3460485" y="1367135"/>
            <a:ext cx="35458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00FF"/>
                </a:solidFill>
                <a:effectLst/>
                <a:uLnTx/>
                <a:uFillTx/>
                <a:latin typeface="Consolas" panose="020B0609020204030204" pitchFamily="49" charset="0"/>
                <a:ea typeface="+mn-ea"/>
                <a:cs typeface="Consolas" panose="020B0609020204030204" pitchFamily="49" charset="0"/>
              </a:rPr>
              <a:t>6</a:t>
            </a:r>
          </a:p>
        </p:txBody>
      </p:sp>
      <p:sp>
        <p:nvSpPr>
          <p:cNvPr id="22" name="TextBox 21"/>
          <p:cNvSpPr txBox="1"/>
          <p:nvPr/>
        </p:nvSpPr>
        <p:spPr>
          <a:xfrm>
            <a:off x="2353579" y="5177135"/>
            <a:ext cx="69442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FF"/>
                </a:solidFill>
                <a:effectLst/>
                <a:uLnTx/>
                <a:uFillTx/>
                <a:latin typeface="Consolas" panose="020B0609020204030204" pitchFamily="49" charset="0"/>
                <a:ea typeface="+mn-ea"/>
                <a:cs typeface="Consolas" panose="020B0609020204030204" pitchFamily="49" charset="0"/>
              </a:rPr>
              <a:t>-15</a:t>
            </a:r>
          </a:p>
        </p:txBody>
      </p:sp>
      <p:grpSp>
        <p:nvGrpSpPr>
          <p:cNvPr id="38" name="Group 37"/>
          <p:cNvGrpSpPr/>
          <p:nvPr/>
        </p:nvGrpSpPr>
        <p:grpSpPr>
          <a:xfrm>
            <a:off x="5029200" y="1729737"/>
            <a:ext cx="3183625" cy="632463"/>
            <a:chOff x="5388736" y="1565669"/>
            <a:chExt cx="3183625" cy="632463"/>
          </a:xfrm>
        </p:grpSpPr>
        <p:sp>
          <p:nvSpPr>
            <p:cNvPr id="25" name="Rectangle 24"/>
            <p:cNvSpPr/>
            <p:nvPr/>
          </p:nvSpPr>
          <p:spPr>
            <a:xfrm>
              <a:off x="5388736" y="1828800"/>
              <a:ext cx="81785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01001</a:t>
              </a:r>
              <a:endParaRPr kumimoji="0" lang="en-US" sz="1800" b="0" i="0" u="none" strike="noStrike" kern="1200" cap="none" spc="0" normalizeH="0" baseline="0" noProof="0" dirty="0">
                <a:ln>
                  <a:noFill/>
                </a:ln>
                <a:solidFill>
                  <a:prstClr val="black"/>
                </a:solidFill>
                <a:effectLst/>
                <a:uLnTx/>
                <a:uFillTx/>
                <a:latin typeface="Gill Sans MT"/>
                <a:ea typeface="+mn-ea"/>
                <a:cs typeface="+mn-cs"/>
              </a:endParaRPr>
            </a:p>
          </p:txBody>
        </p:sp>
        <p:cxnSp>
          <p:nvCxnSpPr>
            <p:cNvPr id="27" name="Straight Arrow Connector 26"/>
            <p:cNvCxnSpPr>
              <a:stCxn id="25" idx="3"/>
              <a:endCxn id="28" idx="1"/>
            </p:cNvCxnSpPr>
            <p:nvPr/>
          </p:nvCxnSpPr>
          <p:spPr>
            <a:xfrm>
              <a:off x="6206589" y="2013466"/>
              <a:ext cx="36695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6573547" y="1828800"/>
              <a:ext cx="81785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10110</a:t>
              </a:r>
            </a:p>
          </p:txBody>
        </p:sp>
        <p:sp>
          <p:nvSpPr>
            <p:cNvPr id="29" name="Rectangle 28"/>
            <p:cNvSpPr/>
            <p:nvPr/>
          </p:nvSpPr>
          <p:spPr>
            <a:xfrm>
              <a:off x="7754508" y="1828800"/>
              <a:ext cx="81785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10111</a:t>
              </a:r>
            </a:p>
          </p:txBody>
        </p:sp>
        <p:cxnSp>
          <p:nvCxnSpPr>
            <p:cNvPr id="31" name="Straight Arrow Connector 30"/>
            <p:cNvCxnSpPr>
              <a:stCxn id="28" idx="3"/>
              <a:endCxn id="29" idx="1"/>
            </p:cNvCxnSpPr>
            <p:nvPr/>
          </p:nvCxnSpPr>
          <p:spPr>
            <a:xfrm>
              <a:off x="7391400" y="2013466"/>
              <a:ext cx="3631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6155133" y="1671870"/>
              <a:ext cx="46038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flip</a:t>
              </a:r>
            </a:p>
          </p:txBody>
        </p:sp>
        <p:sp>
          <p:nvSpPr>
            <p:cNvPr id="35" name="TextBox 34"/>
            <p:cNvSpPr txBox="1"/>
            <p:nvPr/>
          </p:nvSpPr>
          <p:spPr>
            <a:xfrm>
              <a:off x="7335445" y="1671870"/>
              <a:ext cx="4347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+1</a:t>
              </a:r>
            </a:p>
          </p:txBody>
        </p:sp>
        <p:sp>
          <p:nvSpPr>
            <p:cNvPr id="36" name="TextBox 35"/>
            <p:cNvSpPr txBox="1"/>
            <p:nvPr/>
          </p:nvSpPr>
          <p:spPr>
            <a:xfrm>
              <a:off x="5632523" y="1585615"/>
              <a:ext cx="31130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9</a:t>
              </a:r>
            </a:p>
          </p:txBody>
        </p:sp>
        <p:sp>
          <p:nvSpPr>
            <p:cNvPr id="37" name="TextBox 36"/>
            <p:cNvSpPr txBox="1"/>
            <p:nvPr/>
          </p:nvSpPr>
          <p:spPr>
            <a:xfrm>
              <a:off x="7892360" y="1565669"/>
              <a:ext cx="43794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-9</a:t>
              </a:r>
            </a:p>
          </p:txBody>
        </p:sp>
      </p:grpSp>
      <p:sp>
        <p:nvSpPr>
          <p:cNvPr id="51" name="TextBox 50"/>
          <p:cNvSpPr txBox="1"/>
          <p:nvPr/>
        </p:nvSpPr>
        <p:spPr>
          <a:xfrm>
            <a:off x="7229601" y="2372380"/>
            <a:ext cx="1228599"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Gill Sans MT"/>
                <a:ea typeface="+mn-ea"/>
                <a:cs typeface="+mn-cs"/>
              </a:rPr>
              <a:t>Two’s Complement</a:t>
            </a:r>
          </a:p>
        </p:txBody>
      </p:sp>
      <p:graphicFrame>
        <p:nvGraphicFramePr>
          <p:cNvPr id="5" name="Table 4"/>
          <p:cNvGraphicFramePr>
            <a:graphicFrameLocks noGrp="1"/>
          </p:cNvGraphicFramePr>
          <p:nvPr/>
        </p:nvGraphicFramePr>
        <p:xfrm>
          <a:off x="1069848" y="1981200"/>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52" name="Table 51"/>
          <p:cNvGraphicFramePr>
            <a:graphicFrameLocks noGrp="1"/>
          </p:cNvGraphicFramePr>
          <p:nvPr/>
        </p:nvGraphicFramePr>
        <p:xfrm>
          <a:off x="2948208" y="1990052"/>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r>
                        <a:rPr lang="en-US" sz="1800" b="1" dirty="0">
                          <a:solidFill>
                            <a:srgbClr val="00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6" name="Rounded Rectangle 5"/>
          <p:cNvSpPr/>
          <p:nvPr/>
        </p:nvSpPr>
        <p:spPr>
          <a:xfrm>
            <a:off x="1143000" y="3225544"/>
            <a:ext cx="3082232" cy="526262"/>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Gill Sans MT"/>
                <a:ea typeface="+mn-ea"/>
                <a:cs typeface="+mn-cs"/>
              </a:rPr>
              <a:t>Hardware </a:t>
            </a:r>
            <a:r>
              <a:rPr kumimoji="0" lang="en-US" sz="1800" b="0" i="0" u="none" strike="noStrike" kern="1200" cap="none" spc="0" normalizeH="0" baseline="0" noProof="0" dirty="0" err="1">
                <a:ln>
                  <a:noFill/>
                </a:ln>
                <a:solidFill>
                  <a:prstClr val="white"/>
                </a:solidFill>
                <a:effectLst/>
                <a:uLnTx/>
                <a:uFillTx/>
                <a:latin typeface="Gill Sans MT"/>
                <a:ea typeface="+mn-ea"/>
                <a:cs typeface="+mn-cs"/>
              </a:rPr>
              <a:t>Subtractor</a:t>
            </a:r>
            <a:endParaRPr kumimoji="0" lang="en-US" sz="1800" b="0" i="0" u="none" strike="noStrike" kern="1200" cap="none" spc="0" normalizeH="0" baseline="0" noProof="0" dirty="0">
              <a:ln>
                <a:noFill/>
              </a:ln>
              <a:solidFill>
                <a:prstClr val="white"/>
              </a:solidFill>
              <a:effectLst/>
              <a:uLnTx/>
              <a:uFillTx/>
              <a:latin typeface="Gill Sans MT"/>
              <a:ea typeface="+mn-ea"/>
              <a:cs typeface="+mn-cs"/>
            </a:endParaRPr>
          </a:p>
        </p:txBody>
      </p:sp>
      <p:sp>
        <p:nvSpPr>
          <p:cNvPr id="54" name="TextBox 53"/>
          <p:cNvSpPr txBox="1"/>
          <p:nvPr/>
        </p:nvSpPr>
        <p:spPr>
          <a:xfrm>
            <a:off x="1524000" y="2357735"/>
            <a:ext cx="52450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23</a:t>
            </a:r>
          </a:p>
        </p:txBody>
      </p:sp>
      <p:sp>
        <p:nvSpPr>
          <p:cNvPr id="56" name="TextBox 55"/>
          <p:cNvSpPr txBox="1"/>
          <p:nvPr/>
        </p:nvSpPr>
        <p:spPr>
          <a:xfrm>
            <a:off x="3460485" y="2357735"/>
            <a:ext cx="35458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00FF"/>
                </a:solidFill>
                <a:effectLst/>
                <a:uLnTx/>
                <a:uFillTx/>
                <a:latin typeface="Consolas" panose="020B0609020204030204" pitchFamily="49" charset="0"/>
                <a:ea typeface="+mn-ea"/>
                <a:cs typeface="Consolas" panose="020B0609020204030204" pitchFamily="49" charset="0"/>
              </a:rPr>
              <a:t>6</a:t>
            </a:r>
          </a:p>
        </p:txBody>
      </p:sp>
      <p:grpSp>
        <p:nvGrpSpPr>
          <p:cNvPr id="26" name="Group 25"/>
          <p:cNvGrpSpPr/>
          <p:nvPr/>
        </p:nvGrpSpPr>
        <p:grpSpPr>
          <a:xfrm>
            <a:off x="1754123" y="2795615"/>
            <a:ext cx="1883654" cy="1390805"/>
            <a:chOff x="1754123" y="2743200"/>
            <a:chExt cx="1883654" cy="1390805"/>
          </a:xfrm>
        </p:grpSpPr>
        <p:cxnSp>
          <p:nvCxnSpPr>
            <p:cNvPr id="16" name="Straight Arrow Connector 15"/>
            <p:cNvCxnSpPr/>
            <p:nvPr/>
          </p:nvCxnSpPr>
          <p:spPr>
            <a:xfrm>
              <a:off x="1754123" y="2743200"/>
              <a:ext cx="0" cy="419322"/>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5" name="Straight Arrow Connector 54"/>
            <p:cNvCxnSpPr/>
            <p:nvPr/>
          </p:nvCxnSpPr>
          <p:spPr>
            <a:xfrm>
              <a:off x="3637777" y="2743200"/>
              <a:ext cx="0" cy="419322"/>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p:cNvCxnSpPr/>
            <p:nvPr/>
          </p:nvCxnSpPr>
          <p:spPr>
            <a:xfrm>
              <a:off x="2743200" y="3714683"/>
              <a:ext cx="0" cy="419322"/>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grpSp>
      <p:sp>
        <p:nvSpPr>
          <p:cNvPr id="58" name="TextBox 57"/>
          <p:cNvSpPr txBox="1"/>
          <p:nvPr/>
        </p:nvSpPr>
        <p:spPr>
          <a:xfrm>
            <a:off x="2471047" y="4191000"/>
            <a:ext cx="52450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FF"/>
                </a:solidFill>
                <a:effectLst/>
                <a:uLnTx/>
                <a:uFillTx/>
                <a:latin typeface="Consolas" panose="020B0609020204030204" pitchFamily="49" charset="0"/>
                <a:ea typeface="+mn-ea"/>
                <a:cs typeface="Consolas" panose="020B0609020204030204" pitchFamily="49" charset="0"/>
              </a:rPr>
              <a:t>17</a:t>
            </a:r>
          </a:p>
        </p:txBody>
      </p:sp>
      <p:sp>
        <p:nvSpPr>
          <p:cNvPr id="19" name="TextBox 18"/>
          <p:cNvSpPr txBox="1"/>
          <p:nvPr/>
        </p:nvSpPr>
        <p:spPr>
          <a:xfrm>
            <a:off x="2514600" y="1295400"/>
            <a:ext cx="381836"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onsolas" charset="0"/>
                <a:ea typeface="Consolas" charset="0"/>
                <a:cs typeface="Consolas" charset="0"/>
              </a:rPr>
              <a:t>-</a:t>
            </a:r>
          </a:p>
        </p:txBody>
      </p:sp>
      <p:graphicFrame>
        <p:nvGraphicFramePr>
          <p:cNvPr id="59" name="Table 58"/>
          <p:cNvGraphicFramePr>
            <a:graphicFrameLocks noGrp="1"/>
          </p:cNvGraphicFramePr>
          <p:nvPr/>
        </p:nvGraphicFramePr>
        <p:xfrm>
          <a:off x="2956044" y="2001694"/>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extLst>
                  <a:ext uri="{0D108BD9-81ED-4DB2-BD59-A6C34878D82A}">
                    <a16:rowId xmlns:a16="http://schemas.microsoft.com/office/drawing/2014/main" val="10000"/>
                  </a:ext>
                </a:extLst>
              </a:tr>
            </a:tbl>
          </a:graphicData>
        </a:graphic>
      </p:graphicFrame>
      <p:graphicFrame>
        <p:nvGraphicFramePr>
          <p:cNvPr id="61" name="Table 60"/>
          <p:cNvGraphicFramePr>
            <a:graphicFrameLocks noGrp="1"/>
          </p:cNvGraphicFramePr>
          <p:nvPr/>
        </p:nvGraphicFramePr>
        <p:xfrm>
          <a:off x="1085414" y="1988846"/>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extLst>
                  <a:ext uri="{0D108BD9-81ED-4DB2-BD59-A6C34878D82A}">
                    <a16:rowId xmlns:a16="http://schemas.microsoft.com/office/drawing/2014/main" val="10000"/>
                  </a:ext>
                </a:extLst>
              </a:tr>
            </a:tbl>
          </a:graphicData>
        </a:graphic>
      </p:graphicFrame>
      <p:sp>
        <p:nvSpPr>
          <p:cNvPr id="47" name="Rectangle 46"/>
          <p:cNvSpPr/>
          <p:nvPr/>
        </p:nvSpPr>
        <p:spPr>
          <a:xfrm>
            <a:off x="7358018" y="4419600"/>
            <a:ext cx="802182" cy="612517"/>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grpSp>
        <p:nvGrpSpPr>
          <p:cNvPr id="50" name="Group 49"/>
          <p:cNvGrpSpPr/>
          <p:nvPr/>
        </p:nvGrpSpPr>
        <p:grpSpPr>
          <a:xfrm>
            <a:off x="4984411" y="4421832"/>
            <a:ext cx="3183625" cy="632463"/>
            <a:chOff x="5388736" y="1565669"/>
            <a:chExt cx="3183625" cy="632463"/>
          </a:xfrm>
        </p:grpSpPr>
        <p:sp>
          <p:nvSpPr>
            <p:cNvPr id="64" name="Rectangle 63"/>
            <p:cNvSpPr/>
            <p:nvPr/>
          </p:nvSpPr>
          <p:spPr>
            <a:xfrm>
              <a:off x="5388736" y="1828800"/>
              <a:ext cx="81785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FF"/>
                  </a:solidFill>
                  <a:effectLst/>
                  <a:uLnTx/>
                  <a:uFillTx/>
                  <a:latin typeface="Consolas" panose="020B0609020204030204" pitchFamily="49" charset="0"/>
                  <a:ea typeface="+mn-ea"/>
                  <a:cs typeface="Consolas" panose="020B0609020204030204" pitchFamily="49" charset="0"/>
                </a:rPr>
                <a:t>01111</a:t>
              </a:r>
              <a:endParaRPr kumimoji="0" lang="en-US" sz="1800" b="0" i="0" u="none" strike="noStrike" kern="1200" cap="none" spc="0" normalizeH="0" baseline="0" noProof="0" dirty="0">
                <a:ln>
                  <a:noFill/>
                </a:ln>
                <a:solidFill>
                  <a:srgbClr val="FF00FF"/>
                </a:solidFill>
                <a:effectLst/>
                <a:uLnTx/>
                <a:uFillTx/>
                <a:latin typeface="Gill Sans MT"/>
                <a:ea typeface="+mn-ea"/>
                <a:cs typeface="+mn-cs"/>
              </a:endParaRPr>
            </a:p>
          </p:txBody>
        </p:sp>
        <p:cxnSp>
          <p:nvCxnSpPr>
            <p:cNvPr id="65" name="Straight Arrow Connector 64"/>
            <p:cNvCxnSpPr/>
            <p:nvPr/>
          </p:nvCxnSpPr>
          <p:spPr>
            <a:xfrm>
              <a:off x="6206589" y="2013466"/>
              <a:ext cx="36695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6" name="Rectangle 65"/>
            <p:cNvSpPr/>
            <p:nvPr/>
          </p:nvSpPr>
          <p:spPr>
            <a:xfrm>
              <a:off x="6573547" y="1828800"/>
              <a:ext cx="81785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FF"/>
                  </a:solidFill>
                  <a:effectLst/>
                  <a:uLnTx/>
                  <a:uFillTx/>
                  <a:latin typeface="Consolas" panose="020B0609020204030204" pitchFamily="49" charset="0"/>
                  <a:ea typeface="+mn-ea"/>
                  <a:cs typeface="Consolas" panose="020B0609020204030204" pitchFamily="49" charset="0"/>
                </a:rPr>
                <a:t>10000</a:t>
              </a:r>
            </a:p>
          </p:txBody>
        </p:sp>
        <p:sp>
          <p:nvSpPr>
            <p:cNvPr id="67" name="Rectangle 66"/>
            <p:cNvSpPr/>
            <p:nvPr/>
          </p:nvSpPr>
          <p:spPr>
            <a:xfrm>
              <a:off x="7754508" y="1828800"/>
              <a:ext cx="81785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FF"/>
                  </a:solidFill>
                  <a:effectLst/>
                  <a:uLnTx/>
                  <a:uFillTx/>
                  <a:latin typeface="Consolas" panose="020B0609020204030204" pitchFamily="49" charset="0"/>
                  <a:ea typeface="+mn-ea"/>
                  <a:cs typeface="Consolas" panose="020B0609020204030204" pitchFamily="49" charset="0"/>
                </a:rPr>
                <a:t>10001</a:t>
              </a:r>
            </a:p>
          </p:txBody>
        </p:sp>
        <p:cxnSp>
          <p:nvCxnSpPr>
            <p:cNvPr id="68" name="Straight Arrow Connector 67"/>
            <p:cNvCxnSpPr/>
            <p:nvPr/>
          </p:nvCxnSpPr>
          <p:spPr>
            <a:xfrm>
              <a:off x="7391400" y="2013466"/>
              <a:ext cx="3631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a:off x="6155133" y="1671870"/>
              <a:ext cx="46038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flip</a:t>
              </a:r>
            </a:p>
          </p:txBody>
        </p:sp>
        <p:sp>
          <p:nvSpPr>
            <p:cNvPr id="70" name="TextBox 69"/>
            <p:cNvSpPr txBox="1"/>
            <p:nvPr/>
          </p:nvSpPr>
          <p:spPr>
            <a:xfrm>
              <a:off x="7335445" y="1671870"/>
              <a:ext cx="4347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+1</a:t>
              </a:r>
            </a:p>
          </p:txBody>
        </p:sp>
        <p:sp>
          <p:nvSpPr>
            <p:cNvPr id="71" name="TextBox 70"/>
            <p:cNvSpPr txBox="1"/>
            <p:nvPr/>
          </p:nvSpPr>
          <p:spPr>
            <a:xfrm>
              <a:off x="5560396" y="1585615"/>
              <a:ext cx="43794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15</a:t>
              </a:r>
            </a:p>
          </p:txBody>
        </p:sp>
        <p:sp>
          <p:nvSpPr>
            <p:cNvPr id="72" name="TextBox 71"/>
            <p:cNvSpPr txBox="1"/>
            <p:nvPr/>
          </p:nvSpPr>
          <p:spPr>
            <a:xfrm>
              <a:off x="7827136" y="1565669"/>
              <a:ext cx="56457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-15</a:t>
              </a:r>
            </a:p>
          </p:txBody>
        </p:sp>
      </p:grpSp>
      <p:graphicFrame>
        <p:nvGraphicFramePr>
          <p:cNvPr id="83" name="Table 82"/>
          <p:cNvGraphicFramePr>
            <a:graphicFrameLocks noGrp="1"/>
          </p:cNvGraphicFramePr>
          <p:nvPr/>
        </p:nvGraphicFramePr>
        <p:xfrm>
          <a:off x="2057400" y="4654175"/>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r>
                        <a:rPr lang="en-US" sz="1800" b="1" dirty="0">
                          <a:solidFill>
                            <a:srgbClr val="FF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84" name="Table 83"/>
          <p:cNvGraphicFramePr>
            <a:graphicFrameLocks noGrp="1"/>
          </p:cNvGraphicFramePr>
          <p:nvPr/>
        </p:nvGraphicFramePr>
        <p:xfrm>
          <a:off x="2085583" y="4663440"/>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152400">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extLst>
                  <a:ext uri="{0D108BD9-81ED-4DB2-BD59-A6C34878D82A}">
                    <a16:rowId xmlns:a16="http://schemas.microsoft.com/office/drawing/2014/main" val="10000"/>
                  </a:ext>
                </a:extLst>
              </a:tr>
            </a:tbl>
          </a:graphicData>
        </a:graphic>
      </p:graphicFrame>
      <p:sp>
        <p:nvSpPr>
          <p:cNvPr id="46" name="Content Placeholder 3"/>
          <p:cNvSpPr>
            <a:spLocks noGrp="1"/>
          </p:cNvSpPr>
          <p:nvPr>
            <p:ph sz="quarter" idx="1"/>
          </p:nvPr>
        </p:nvSpPr>
        <p:spPr>
          <a:xfrm>
            <a:off x="937163" y="5520968"/>
            <a:ext cx="8229600" cy="1266131"/>
          </a:xfrm>
        </p:spPr>
        <p:txBody>
          <a:bodyPr>
            <a:normAutofit fontScale="62500" lnSpcReduction="20000"/>
          </a:bodyPr>
          <a:lstStyle/>
          <a:p>
            <a:r>
              <a:rPr lang="en-US" dirty="0"/>
              <a:t>Same bit patterns, different interpretation.</a:t>
            </a:r>
          </a:p>
          <a:p>
            <a:pPr lvl="1"/>
            <a:r>
              <a:rPr lang="en-US" dirty="0"/>
              <a:t>Unsigned subtraction: 23-6=17</a:t>
            </a:r>
          </a:p>
          <a:p>
            <a:pPr lvl="1"/>
            <a:r>
              <a:rPr lang="en-US" dirty="0"/>
              <a:t>Signed subtraction: -9-6=-15</a:t>
            </a:r>
          </a:p>
          <a:p>
            <a:r>
              <a:rPr lang="en-US" dirty="0"/>
              <a:t>This example shows that the hardware subtractor for subtracting unsigned numbers, also works correctly for subtracting signed numbers.</a:t>
            </a:r>
          </a:p>
        </p:txBody>
      </p:sp>
      <p:sp>
        <p:nvSpPr>
          <p:cNvPr id="77" name="SMARTInkShape-165">
            <a:extLst>
              <a:ext uri="{FF2B5EF4-FFF2-40B4-BE49-F238E27FC236}">
                <a16:creationId xmlns:a16="http://schemas.microsoft.com/office/drawing/2014/main" id="{A7C47748-8E57-414A-82FE-386FF8B5D528}"/>
              </a:ext>
            </a:extLst>
          </p:cNvPr>
          <p:cNvSpPr/>
          <p:nvPr>
            <p:custDataLst>
              <p:tags r:id="rId1"/>
            </p:custDataLst>
          </p:nvPr>
        </p:nvSpPr>
        <p:spPr>
          <a:xfrm>
            <a:off x="3625850" y="5873750"/>
            <a:ext cx="31751" cy="25401"/>
          </a:xfrm>
          <a:custGeom>
            <a:avLst/>
            <a:gdLst/>
            <a:ahLst/>
            <a:cxnLst/>
            <a:rect l="0" t="0" r="0" b="0"/>
            <a:pathLst>
              <a:path w="31751" h="25401">
                <a:moveTo>
                  <a:pt x="0" y="25400"/>
                </a:moveTo>
                <a:lnTo>
                  <a:pt x="0" y="25400"/>
                </a:lnTo>
                <a:lnTo>
                  <a:pt x="10845" y="18919"/>
                </a:lnTo>
                <a:lnTo>
                  <a:pt x="31750" y="0"/>
                </a:lnTo>
              </a:path>
            </a:pathLst>
          </a:cu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8" name="SMARTInkShape-166">
            <a:extLst>
              <a:ext uri="{FF2B5EF4-FFF2-40B4-BE49-F238E27FC236}">
                <a16:creationId xmlns:a16="http://schemas.microsoft.com/office/drawing/2014/main" id="{51BDAF65-C8CB-4E92-B09E-EE4E8AB22733}"/>
              </a:ext>
            </a:extLst>
          </p:cNvPr>
          <p:cNvSpPr/>
          <p:nvPr>
            <p:custDataLst>
              <p:tags r:id="rId2"/>
            </p:custDataLst>
          </p:nvPr>
        </p:nvSpPr>
        <p:spPr>
          <a:xfrm>
            <a:off x="1594212" y="2749550"/>
            <a:ext cx="482239" cy="19051"/>
          </a:xfrm>
          <a:custGeom>
            <a:avLst/>
            <a:gdLst/>
            <a:ahLst/>
            <a:cxnLst/>
            <a:rect l="0" t="0" r="0" b="0"/>
            <a:pathLst>
              <a:path w="482239" h="19051">
                <a:moveTo>
                  <a:pt x="18688" y="19050"/>
                </a:moveTo>
                <a:lnTo>
                  <a:pt x="18688" y="19050"/>
                </a:lnTo>
                <a:lnTo>
                  <a:pt x="15317" y="15679"/>
                </a:lnTo>
                <a:lnTo>
                  <a:pt x="11781" y="14024"/>
                </a:lnTo>
                <a:lnTo>
                  <a:pt x="3761" y="12961"/>
                </a:lnTo>
                <a:lnTo>
                  <a:pt x="2387" y="12169"/>
                </a:lnTo>
                <a:lnTo>
                  <a:pt x="1470" y="10935"/>
                </a:lnTo>
                <a:lnTo>
                  <a:pt x="0" y="7256"/>
                </a:lnTo>
                <a:lnTo>
                  <a:pt x="585" y="6954"/>
                </a:lnTo>
                <a:lnTo>
                  <a:pt x="3116" y="6618"/>
                </a:lnTo>
                <a:lnTo>
                  <a:pt x="29599" y="12833"/>
                </a:lnTo>
                <a:lnTo>
                  <a:pt x="54455" y="16894"/>
                </a:lnTo>
                <a:lnTo>
                  <a:pt x="80713" y="18411"/>
                </a:lnTo>
                <a:lnTo>
                  <a:pt x="109111" y="18861"/>
                </a:lnTo>
                <a:lnTo>
                  <a:pt x="133674" y="18994"/>
                </a:lnTo>
                <a:lnTo>
                  <a:pt x="164706" y="19034"/>
                </a:lnTo>
                <a:lnTo>
                  <a:pt x="188952" y="19045"/>
                </a:lnTo>
                <a:lnTo>
                  <a:pt x="220190" y="19049"/>
                </a:lnTo>
                <a:lnTo>
                  <a:pt x="244198" y="19049"/>
                </a:lnTo>
                <a:lnTo>
                  <a:pt x="273802" y="19050"/>
                </a:lnTo>
                <a:lnTo>
                  <a:pt x="301967" y="14686"/>
                </a:lnTo>
                <a:lnTo>
                  <a:pt x="330488" y="12961"/>
                </a:lnTo>
                <a:lnTo>
                  <a:pt x="361253" y="7256"/>
                </a:lnTo>
                <a:lnTo>
                  <a:pt x="387602" y="6529"/>
                </a:lnTo>
                <a:lnTo>
                  <a:pt x="415941" y="6403"/>
                </a:lnTo>
                <a:lnTo>
                  <a:pt x="445975" y="5660"/>
                </a:lnTo>
                <a:lnTo>
                  <a:pt x="482238" y="0"/>
                </a:lnTo>
              </a:path>
            </a:pathLst>
          </a:cu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6" name="SMARTInkShape-188">
            <a:extLst>
              <a:ext uri="{FF2B5EF4-FFF2-40B4-BE49-F238E27FC236}">
                <a16:creationId xmlns:a16="http://schemas.microsoft.com/office/drawing/2014/main" id="{63D33790-5439-41A2-8D35-C939DB6E98C0}"/>
              </a:ext>
            </a:extLst>
          </p:cNvPr>
          <p:cNvSpPr/>
          <p:nvPr>
            <p:custDataLst>
              <p:tags r:id="rId3"/>
            </p:custDataLst>
          </p:nvPr>
        </p:nvSpPr>
        <p:spPr>
          <a:xfrm>
            <a:off x="2044700" y="5003800"/>
            <a:ext cx="82551" cy="50801"/>
          </a:xfrm>
          <a:custGeom>
            <a:avLst/>
            <a:gdLst/>
            <a:ahLst/>
            <a:cxnLst/>
            <a:rect l="0" t="0" r="0" b="0"/>
            <a:pathLst>
              <a:path w="82551" h="50801">
                <a:moveTo>
                  <a:pt x="0" y="0"/>
                </a:moveTo>
                <a:lnTo>
                  <a:pt x="0" y="0"/>
                </a:lnTo>
                <a:lnTo>
                  <a:pt x="20578" y="0"/>
                </a:lnTo>
                <a:lnTo>
                  <a:pt x="25138" y="1881"/>
                </a:lnTo>
                <a:lnTo>
                  <a:pt x="46163" y="17129"/>
                </a:lnTo>
                <a:lnTo>
                  <a:pt x="56931" y="30914"/>
                </a:lnTo>
                <a:lnTo>
                  <a:pt x="62462" y="34906"/>
                </a:lnTo>
                <a:lnTo>
                  <a:pt x="67978" y="38092"/>
                </a:lnTo>
                <a:lnTo>
                  <a:pt x="82550" y="50800"/>
                </a:lnTo>
              </a:path>
            </a:pathLst>
          </a:cu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706027759"/>
      </p:ext>
    </p:extLst>
  </p:cSld>
  <p:clrMapOvr>
    <a:masterClrMapping/>
  </p:clrMapOvr>
  <mc:AlternateContent xmlns:mc="http://schemas.openxmlformats.org/markup-compatibility/2006" xmlns:p14="http://schemas.microsoft.com/office/powerpoint/2010/main">
    <mc:Choice Requires="p14">
      <p:transition spd="slow" p14:dur="2000" advTm="40381"/>
    </mc:Choice>
    <mc:Fallback xmlns="">
      <p:transition spd="slow" advTm="4038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build="p"/>
    </p:bldLst>
  </p:timing>
  <p:extLst>
    <p:ext uri="{3A86A75C-4F4B-4683-9AE1-C65F6400EC91}">
      <p14:laserTraceLst xmlns:p14="http://schemas.microsoft.com/office/powerpoint/2010/main">
        <p14:tracePtLst>
          <p14:tracePt t="12021" x="3660775" y="1770063"/>
          <p14:tracePt t="12351" x="3678238" y="1770063"/>
          <p14:tracePt t="12352" x="3686175" y="1770063"/>
          <p14:tracePt t="12356" x="3703638" y="1770063"/>
          <p14:tracePt t="12362" x="3721100" y="1770063"/>
          <p14:tracePt t="12366" x="3729038" y="1770063"/>
          <p14:tracePt t="12368" x="3746500" y="1770063"/>
          <p14:tracePt t="12374" x="3763963" y="1770063"/>
          <p14:tracePt t="12380" x="3773488" y="1770063"/>
          <p14:tracePt t="12390" x="3789363" y="1770063"/>
          <p14:tracePt t="12396" x="3806825" y="1770063"/>
          <p14:tracePt t="12402" x="3816350" y="1770063"/>
          <p14:tracePt t="12422" x="3832225" y="1770063"/>
          <p14:tracePt t="12474" x="3841750" y="1770063"/>
          <p14:tracePt t="12486" x="3841750" y="1762125"/>
          <p14:tracePt t="12496" x="3841750" y="1752600"/>
          <p14:tracePt t="12502" x="3841750" y="1736725"/>
          <p14:tracePt t="12512" x="3841750" y="1727200"/>
          <p14:tracePt t="12520" x="3859213" y="1719263"/>
          <p14:tracePt t="12536" x="3867150" y="1701800"/>
          <p14:tracePt t="12548" x="3867150" y="1684338"/>
          <p14:tracePt t="12558" x="3867150" y="1666875"/>
          <p14:tracePt t="12562" x="3859213" y="1649413"/>
          <p14:tracePt t="12574" x="3859213" y="1633538"/>
          <p14:tracePt t="12578" x="3859213" y="1624013"/>
          <p14:tracePt t="12584" x="3859213" y="1606550"/>
          <p14:tracePt t="12586" x="3849688" y="1590675"/>
          <p14:tracePt t="12592" x="3849688" y="1581150"/>
          <p14:tracePt t="12594" x="3841750" y="1573213"/>
          <p14:tracePt t="12596" x="3832225" y="1563688"/>
          <p14:tracePt t="12602" x="3832225" y="1555750"/>
          <p14:tracePt t="12608" x="3824288" y="1538288"/>
          <p14:tracePt t="12614" x="3816350" y="1520825"/>
          <p14:tracePt t="12618" x="3806825" y="1503363"/>
          <p14:tracePt t="12620" x="3798888" y="1487488"/>
          <p14:tracePt t="12628" x="3789363" y="1477963"/>
          <p14:tracePt t="12630" x="3781425" y="1470025"/>
          <p14:tracePt t="12636" x="3773488" y="1460500"/>
          <p14:tracePt t="12642" x="3773488" y="1452563"/>
          <p14:tracePt t="12644" x="3763963" y="1435100"/>
          <p14:tracePt t="12654" x="3763963" y="1417638"/>
          <p14:tracePt t="12656" x="3756025" y="1417638"/>
          <p14:tracePt t="12662" x="3746500" y="1409700"/>
          <p14:tracePt t="12664" x="3738563" y="1400175"/>
          <p14:tracePt t="12669" x="3729038" y="1392238"/>
          <p14:tracePt t="12672" x="3713163" y="1384300"/>
          <p14:tracePt t="12696" x="3695700" y="1384300"/>
          <p14:tracePt t="12706" x="3686175" y="1384300"/>
          <p14:tracePt t="12714" x="3670300" y="1384300"/>
          <p14:tracePt t="12726" x="3660775" y="1384300"/>
          <p14:tracePt t="12730" x="3643313" y="1384300"/>
          <p14:tracePt t="12738" x="3627438" y="1384300"/>
          <p14:tracePt t="12742" x="3617913" y="1384300"/>
          <p14:tracePt t="12746" x="3600450" y="1384300"/>
          <p14:tracePt t="12748" x="3582988" y="1384300"/>
          <p14:tracePt t="12758" x="3575050" y="1384300"/>
          <p14:tracePt t="12767" x="3557588" y="1384300"/>
          <p14:tracePt t="12768" x="3549650" y="1384300"/>
          <p14:tracePt t="12770" x="3549650" y="1392238"/>
          <p14:tracePt t="12774" x="3532188" y="1392238"/>
          <p14:tracePt t="12778" x="3524250" y="1400175"/>
          <p14:tracePt t="12780" x="3524250" y="1409700"/>
          <p14:tracePt t="12784" x="3524250" y="1417638"/>
          <p14:tracePt t="12786" x="3506788" y="1417638"/>
          <p14:tracePt t="12792" x="3497263" y="1427163"/>
          <p14:tracePt t="12798" x="3489325" y="1435100"/>
          <p14:tracePt t="12802" x="3479800" y="1443038"/>
          <p14:tracePt t="12810" x="3471863" y="1452563"/>
          <p14:tracePt t="12812" x="3463925" y="1460500"/>
          <p14:tracePt t="12817" x="3463925" y="1477963"/>
          <p14:tracePt t="12820" x="3454400" y="1487488"/>
          <p14:tracePt t="12824" x="3436938" y="1487488"/>
          <p14:tracePt t="12826" x="3436938" y="1503363"/>
          <p14:tracePt t="12832" x="3436938" y="1520825"/>
          <p14:tracePt t="12834" x="3436938" y="1538288"/>
          <p14:tracePt t="12838" x="3429000" y="1538288"/>
          <p14:tracePt t="12842" x="3421063" y="1546225"/>
          <p14:tracePt t="12848" x="3411538" y="1563688"/>
          <p14:tracePt t="12850" x="3403600" y="1573213"/>
          <p14:tracePt t="12856" x="3403600" y="1590675"/>
          <p14:tracePt t="12862" x="3403600" y="1606550"/>
          <p14:tracePt t="12867" x="3394075" y="1616075"/>
          <p14:tracePt t="12870" x="3394075" y="1633538"/>
          <p14:tracePt t="12876" x="3394075" y="1649413"/>
          <p14:tracePt t="12880" x="3394075" y="1658938"/>
          <p14:tracePt t="12886" x="3394075" y="1676400"/>
          <p14:tracePt t="12890" x="3394075" y="1692275"/>
          <p14:tracePt t="12894" x="3386138" y="1692275"/>
          <p14:tracePt t="12898" x="3378200" y="1701800"/>
          <p14:tracePt t="12904" x="3378200" y="1719263"/>
          <p14:tracePt t="12910" x="3378200" y="1727200"/>
          <p14:tracePt t="12917" x="3378200" y="1744663"/>
          <p14:tracePt t="12922" x="3378200" y="1762125"/>
          <p14:tracePt t="12928" x="3378200" y="1770063"/>
          <p14:tracePt t="12934" x="3378200" y="1787525"/>
          <p14:tracePt t="12936" x="3378200" y="1795463"/>
          <p14:tracePt t="12942" x="3378200" y="1812925"/>
          <p14:tracePt t="12956" x="3378200" y="1830388"/>
          <p14:tracePt t="12961" x="3386138" y="1838325"/>
          <p14:tracePt t="12968" x="3386138" y="1855788"/>
          <p14:tracePt t="12976" x="3403600" y="1865313"/>
          <p14:tracePt t="12985" x="3421063" y="1873250"/>
          <p14:tracePt t="12986" x="3429000" y="1890713"/>
          <p14:tracePt t="12992" x="3429000" y="1898650"/>
          <p14:tracePt t="12998" x="3446463" y="1908175"/>
          <p14:tracePt t="13002" x="3463925" y="1916113"/>
          <p14:tracePt t="13004" x="3471863" y="1916113"/>
          <p14:tracePt t="13008" x="3489325" y="1925638"/>
          <p14:tracePt t="13018" x="3506788" y="1941513"/>
          <p14:tracePt t="13020" x="3524250" y="1951038"/>
          <p14:tracePt t="13030" x="3540125" y="1951038"/>
          <p14:tracePt t="13032" x="3549650" y="1951038"/>
          <p14:tracePt t="13036" x="3557588" y="1958975"/>
          <p14:tracePt t="13040" x="3575050" y="1958975"/>
          <p14:tracePt t="13046" x="3592513" y="1958975"/>
          <p14:tracePt t="13051" x="3600450" y="1958975"/>
          <p14:tracePt t="13054" x="3617913" y="1958975"/>
          <p14:tracePt t="13060" x="3627438" y="1958975"/>
          <p14:tracePt t="13064" x="3643313" y="1958975"/>
          <p14:tracePt t="13068" x="3660775" y="1958975"/>
          <p14:tracePt t="13072" x="3670300" y="1958975"/>
          <p14:tracePt t="13076" x="3678238" y="1958975"/>
          <p14:tracePt t="13078" x="3695700" y="1958975"/>
          <p14:tracePt t="13082" x="3721100" y="1958975"/>
          <p14:tracePt t="13088" x="3729038" y="1951038"/>
          <p14:tracePt t="13090" x="3738563" y="1933575"/>
          <p14:tracePt t="13092" x="3756025" y="1925638"/>
          <p14:tracePt t="13094" x="3763963" y="1925638"/>
          <p14:tracePt t="13096" x="3763963" y="1916113"/>
          <p14:tracePt t="13098" x="3781425" y="1908175"/>
          <p14:tracePt t="13101" x="3789363" y="1890713"/>
          <p14:tracePt t="13102" x="3798888" y="1890713"/>
          <p14:tracePt t="13104" x="3806825" y="1890713"/>
          <p14:tracePt t="13106" x="3824288" y="1882775"/>
          <p14:tracePt t="13110" x="3832225" y="1865313"/>
          <p14:tracePt t="13112" x="3841750" y="1855788"/>
          <p14:tracePt t="13114" x="3849688" y="1855788"/>
          <p14:tracePt t="13119" x="3867150" y="1838325"/>
          <p14:tracePt t="13122" x="3902075" y="1830388"/>
          <p14:tracePt t="13124" x="3919538" y="1822450"/>
          <p14:tracePt t="13126" x="3927475" y="1812925"/>
          <p14:tracePt t="13128" x="3935413" y="1804988"/>
          <p14:tracePt t="13130" x="3944938" y="1804988"/>
          <p14:tracePt t="13135" x="3952875" y="1795463"/>
          <p14:tracePt t="13136" x="3962400" y="1787525"/>
          <p14:tracePt t="13138" x="3970338" y="1779588"/>
          <p14:tracePt t="13140" x="3987800" y="1779588"/>
          <p14:tracePt t="13144" x="3987800" y="1770063"/>
          <p14:tracePt t="13146" x="3995738" y="1762125"/>
          <p14:tracePt t="13151" x="4005263" y="1752600"/>
          <p14:tracePt t="13155" x="4013200" y="1744663"/>
          <p14:tracePt t="13159" x="4022725" y="1736725"/>
          <p14:tracePt t="13167" x="4030663" y="1736725"/>
          <p14:tracePt t="13204" x="4038600" y="1727200"/>
          <p14:tracePt t="13212" x="4038600" y="1719263"/>
          <p14:tracePt t="13226" x="4038600" y="1701800"/>
          <p14:tracePt t="13232" x="4038600" y="1692275"/>
          <p14:tracePt t="13234" x="4030663" y="1684338"/>
          <p14:tracePt t="13236" x="4022725" y="1676400"/>
          <p14:tracePt t="13240" x="4013200" y="1666875"/>
          <p14:tracePt t="13244" x="4005263" y="1649413"/>
          <p14:tracePt t="13248" x="3995738" y="1633538"/>
          <p14:tracePt t="13252" x="3987800" y="1616075"/>
          <p14:tracePt t="13258" x="3978275" y="1606550"/>
          <p14:tracePt t="13260" x="3978275" y="1590675"/>
          <p14:tracePt t="13272" x="3970338" y="1581150"/>
          <p14:tracePt t="13278" x="3962400" y="1573213"/>
          <p14:tracePt t="13286" x="3944938" y="1573213"/>
          <p14:tracePt t="13302" x="3935413" y="1573213"/>
          <p14:tracePt t="13334" x="3919538" y="1573213"/>
          <p14:tracePt t="13346" x="3902075" y="1573213"/>
          <p14:tracePt t="13360" x="3892550" y="1573213"/>
          <p14:tracePt t="13362" x="3876675" y="1573213"/>
          <p14:tracePt t="13370" x="3859213" y="1573213"/>
          <p14:tracePt t="13382" x="0" y="0"/>
        </p14:tracePtLst>
        <p14:tracePtLst>
          <p14:tracePt t="13793" x="1598613" y="1676400"/>
          <p14:tracePt t="13918" x="1606550" y="1676400"/>
          <p14:tracePt t="13930" x="1606550" y="1658938"/>
          <p14:tracePt t="13936" x="1606550" y="1649413"/>
          <p14:tracePt t="13940" x="1606550" y="1633538"/>
          <p14:tracePt t="13942" x="1606550" y="1616075"/>
          <p14:tracePt t="13946" x="1616075" y="1606550"/>
          <p14:tracePt t="13950" x="1616075" y="1590675"/>
          <p14:tracePt t="13956" x="1616075" y="1581150"/>
          <p14:tracePt t="13958" x="1624013" y="1573213"/>
          <p14:tracePt t="13960" x="1633538" y="1563688"/>
          <p14:tracePt t="13964" x="1641475" y="1555750"/>
          <p14:tracePt t="13967" x="1649413" y="1538288"/>
          <p14:tracePt t="13968" x="1649413" y="1530350"/>
          <p14:tracePt t="13972" x="1666875" y="1520825"/>
          <p14:tracePt t="13976" x="1676400" y="1503363"/>
          <p14:tracePt t="13978" x="1684338" y="1495425"/>
          <p14:tracePt t="13982" x="1692275" y="1477963"/>
          <p14:tracePt t="13985" x="1709738" y="1460500"/>
          <p14:tracePt t="13986" x="1727200" y="1452563"/>
          <p14:tracePt t="13988" x="1744663" y="1452563"/>
          <p14:tracePt t="13990" x="1752600" y="1443038"/>
          <p14:tracePt t="13994" x="1762125" y="1435100"/>
          <p14:tracePt t="14002" x="1770063" y="1417638"/>
          <p14:tracePt t="14006" x="1795463" y="1409700"/>
          <p14:tracePt t="14008" x="1804988" y="1400175"/>
          <p14:tracePt t="14012" x="1812925" y="1392238"/>
          <p14:tracePt t="14014" x="1830388" y="1392238"/>
          <p14:tracePt t="14017" x="1838325" y="1392238"/>
          <p14:tracePt t="14024" x="1855788" y="1392238"/>
          <p14:tracePt t="14036" x="1873250" y="1392238"/>
          <p14:tracePt t="14054" x="1882775" y="1392238"/>
          <p14:tracePt t="14058" x="1898650" y="1392238"/>
          <p14:tracePt t="14064" x="1916113" y="1392238"/>
          <p14:tracePt t="14070" x="1925638" y="1400175"/>
          <p14:tracePt t="14072" x="1941513" y="1400175"/>
          <p14:tracePt t="14074" x="1951038" y="1409700"/>
          <p14:tracePt t="14084" x="1968500" y="1417638"/>
          <p14:tracePt t="14094" x="1976438" y="1417638"/>
          <p14:tracePt t="14096" x="1976438" y="1427163"/>
          <p14:tracePt t="14114" x="1993900" y="1435100"/>
          <p14:tracePt t="14122" x="2001838" y="1452563"/>
          <p14:tracePt t="14124" x="2011363" y="1452563"/>
          <p14:tracePt t="14128" x="2019300" y="1452563"/>
          <p14:tracePt t="14130" x="2028825" y="1460500"/>
          <p14:tracePt t="14132" x="2028825" y="1477963"/>
          <p14:tracePt t="14136" x="2044700" y="1487488"/>
          <p14:tracePt t="14138" x="2054225" y="1503363"/>
          <p14:tracePt t="14140" x="2062163" y="1520825"/>
          <p14:tracePt t="14142" x="2062163" y="1538288"/>
          <p14:tracePt t="14145" x="2071688" y="1546225"/>
          <p14:tracePt t="14149" x="2079625" y="1563688"/>
          <p14:tracePt t="14151" x="2087563" y="1581150"/>
          <p14:tracePt t="14152" x="2087563" y="1598613"/>
          <p14:tracePt t="14154" x="2087563" y="1606550"/>
          <p14:tracePt t="14156" x="2087563" y="1624013"/>
          <p14:tracePt t="14158" x="2097088" y="1641475"/>
          <p14:tracePt t="14160" x="2105025" y="1649413"/>
          <p14:tracePt t="14162" x="2114550" y="1676400"/>
          <p14:tracePt t="14164" x="2122488" y="1692275"/>
          <p14:tracePt t="14167" x="2122488" y="1709738"/>
          <p14:tracePt t="14168" x="2122488" y="1719263"/>
          <p14:tracePt t="14170" x="2122488" y="1736725"/>
          <p14:tracePt t="14172" x="2122488" y="1744663"/>
          <p14:tracePt t="14176" x="2122488" y="1762125"/>
          <p14:tracePt t="14178" x="2122488" y="1779588"/>
          <p14:tracePt t="14182" x="2122488" y="1787525"/>
          <p14:tracePt t="14184" x="2122488" y="1804988"/>
          <p14:tracePt t="14186" x="2122488" y="1822450"/>
          <p14:tracePt t="14192" x="2122488" y="1830388"/>
          <p14:tracePt t="14198" x="2122488" y="1847850"/>
          <p14:tracePt t="14219" x="2122488" y="1865313"/>
          <p14:tracePt t="14224" x="2105025" y="1873250"/>
          <p14:tracePt t="14235" x="2087563" y="1873250"/>
          <p14:tracePt t="14244" x="2087563" y="1882775"/>
          <p14:tracePt t="14248" x="2079625" y="1890713"/>
          <p14:tracePt t="14258" x="2062163" y="1890713"/>
          <p14:tracePt t="14260" x="2054225" y="1890713"/>
          <p14:tracePt t="14267" x="2036763" y="1890713"/>
          <p14:tracePt t="14269" x="2019300" y="1890713"/>
          <p14:tracePt t="14272" x="2011363" y="1890713"/>
          <p14:tracePt t="14276" x="1993900" y="1890713"/>
          <p14:tracePt t="14278" x="1976438" y="1890713"/>
          <p14:tracePt t="14280" x="1968500" y="1890713"/>
          <p14:tracePt t="14285" x="1951038" y="1890713"/>
          <p14:tracePt t="14288" x="1933575" y="1890713"/>
          <p14:tracePt t="14292" x="1925638" y="1890713"/>
          <p14:tracePt t="14294" x="1908175" y="1890713"/>
          <p14:tracePt t="14296" x="1898650" y="1890713"/>
          <p14:tracePt t="14298" x="1898650" y="1882775"/>
          <p14:tracePt t="14302" x="1882775" y="1882775"/>
          <p14:tracePt t="14306" x="1873250" y="1882775"/>
          <p14:tracePt t="14310" x="1865313" y="1882775"/>
          <p14:tracePt t="14312" x="1855788" y="1873250"/>
          <p14:tracePt t="14317" x="1847850" y="1865313"/>
          <p14:tracePt t="14328" x="1830388" y="1865313"/>
          <p14:tracePt t="14330" x="1822450" y="1855788"/>
          <p14:tracePt t="14334" x="1822450" y="1847850"/>
          <p14:tracePt t="14336" x="1822450" y="1838325"/>
          <p14:tracePt t="14344" x="1812925" y="1830388"/>
          <p14:tracePt t="14351" x="1812925" y="1812925"/>
          <p14:tracePt t="14352" x="1804988" y="1804988"/>
          <p14:tracePt t="14356" x="1795463" y="1804988"/>
          <p14:tracePt t="14360" x="1795463" y="1787525"/>
          <p14:tracePt t="14364" x="1795463" y="1770063"/>
          <p14:tracePt t="14372" x="1787525" y="1752600"/>
          <p14:tracePt t="14374" x="1779588" y="1736725"/>
          <p14:tracePt t="14376" x="1762125" y="1719263"/>
          <p14:tracePt t="14378" x="1752600" y="1701800"/>
          <p14:tracePt t="14382" x="1744663" y="1676400"/>
          <p14:tracePt t="14385" x="1736725" y="1666875"/>
          <p14:tracePt t="14386" x="1736725" y="1649413"/>
          <p14:tracePt t="14388" x="1727200" y="1641475"/>
          <p14:tracePt t="14392" x="1719263" y="1624013"/>
          <p14:tracePt t="14394" x="1709738" y="1616075"/>
          <p14:tracePt t="14396" x="1701800" y="1606550"/>
          <p14:tracePt t="14401" x="1692275" y="1598613"/>
          <p14:tracePt t="14402" x="1676400" y="1581150"/>
          <p14:tracePt t="14408" x="1666875" y="1563688"/>
          <p14:tracePt t="14410" x="1666875" y="1555750"/>
          <p14:tracePt t="14413" x="1658938" y="1546225"/>
          <p14:tracePt t="14417" x="1649413" y="1538288"/>
          <p14:tracePt t="14427" x="1641475" y="1530350"/>
          <p14:tracePt t="14428" x="1633538" y="1530350"/>
          <p14:tracePt t="14446" x="1624013" y="1530350"/>
          <p14:tracePt t="14596" x="1616075" y="1530350"/>
          <p14:tracePt t="14599" x="0" y="0"/>
        </p14:tracePtLst>
        <p14:tracePtLst>
          <p14:tracePt t="18411" x="3841750" y="2827338"/>
          <p14:tracePt t="18427" x="3841750" y="2819400"/>
          <p14:tracePt t="18453" x="3841750" y="2809875"/>
          <p14:tracePt t="18459" x="3841750" y="2792413"/>
          <p14:tracePt t="18475" x="3841750" y="2776538"/>
          <p14:tracePt t="18477" x="3841750" y="2767013"/>
          <p14:tracePt t="18481" x="3849688" y="2749550"/>
          <p14:tracePt t="18485" x="3849688" y="2733675"/>
          <p14:tracePt t="18489" x="3849688" y="2724150"/>
          <p14:tracePt t="18493" x="3849688" y="2706688"/>
          <p14:tracePt t="18497" x="3849688" y="2689225"/>
          <p14:tracePt t="18503" x="3849688" y="2681288"/>
          <p14:tracePt t="18507" x="3849688" y="2655888"/>
          <p14:tracePt t="18513" x="3849688" y="2638425"/>
          <p14:tracePt t="18515" x="3849688" y="2630488"/>
          <p14:tracePt t="18519" x="3849688" y="2613025"/>
          <p14:tracePt t="18527" x="3849688" y="2595563"/>
          <p14:tracePt t="18535" x="3849688" y="2586038"/>
          <p14:tracePt t="18541" x="3849688" y="2570163"/>
          <p14:tracePt t="18547" x="3841750" y="2552700"/>
          <p14:tracePt t="18551" x="3824288" y="2535238"/>
          <p14:tracePt t="18553" x="3806825" y="2535238"/>
          <p14:tracePt t="18557" x="3798888" y="2517775"/>
          <p14:tracePt t="18559" x="3789363" y="2509838"/>
          <p14:tracePt t="18561" x="3781425" y="2500313"/>
          <p14:tracePt t="18563" x="3763963" y="2492375"/>
          <p14:tracePt t="18565" x="3756025" y="2492375"/>
          <p14:tracePt t="18568" x="3756025" y="2484438"/>
          <p14:tracePt t="18569" x="3738563" y="2484438"/>
          <p14:tracePt t="18573" x="3721100" y="2474913"/>
          <p14:tracePt t="18575" x="3713163" y="2466975"/>
          <p14:tracePt t="18579" x="3695700" y="2457450"/>
          <p14:tracePt t="18585" x="3678238" y="2449513"/>
          <p14:tracePt t="18587" x="3660775" y="2449513"/>
          <p14:tracePt t="18589" x="3652838" y="2439988"/>
          <p14:tracePt t="18591" x="3635375" y="2439988"/>
          <p14:tracePt t="18595" x="3617913" y="2439988"/>
          <p14:tracePt t="18601" x="3609975" y="2432050"/>
          <p14:tracePt t="18607" x="3592513" y="2424113"/>
          <p14:tracePt t="18611" x="3575050" y="2424113"/>
          <p14:tracePt t="18617" x="3557588" y="2414588"/>
          <p14:tracePt t="18625" x="3549650" y="2406650"/>
          <p14:tracePt t="18629" x="3532188" y="2406650"/>
          <p14:tracePt t="18641" x="3514725" y="2406650"/>
          <p14:tracePt t="18651" x="3506788" y="2406650"/>
          <p14:tracePt t="18659" x="3489325" y="2406650"/>
          <p14:tracePt t="18661" x="3471863" y="2406650"/>
          <p14:tracePt t="18669" x="3463925" y="2406650"/>
          <p14:tracePt t="18682" x="3446463" y="2406650"/>
          <p14:tracePt t="18686" x="3436938" y="2406650"/>
          <p14:tracePt t="18687" x="3436938" y="2414588"/>
          <p14:tracePt t="18693" x="3421063" y="2414588"/>
          <p14:tracePt t="18695" x="3411538" y="2414588"/>
          <p14:tracePt t="18699" x="3411538" y="2424113"/>
          <p14:tracePt t="18701" x="3403600" y="2432050"/>
          <p14:tracePt t="18703" x="3394075" y="2439988"/>
          <p14:tracePt t="18709" x="3378200" y="2439988"/>
          <p14:tracePt t="18711" x="3368675" y="2449513"/>
          <p14:tracePt t="18715" x="3351213" y="2449513"/>
          <p14:tracePt t="18719" x="3333750" y="2457450"/>
          <p14:tracePt t="18721" x="3325813" y="2474913"/>
          <p14:tracePt t="18723" x="3317875" y="2484438"/>
          <p14:tracePt t="18725" x="3317875" y="2492375"/>
          <p14:tracePt t="18727" x="3300413" y="2492375"/>
          <p14:tracePt t="18729" x="3282950" y="2500313"/>
          <p14:tracePt t="18733" x="3257550" y="2517775"/>
          <p14:tracePt t="18735" x="3257550" y="2535238"/>
          <p14:tracePt t="18737" x="3240088" y="2552700"/>
          <p14:tracePt t="18739" x="3222625" y="2552700"/>
          <p14:tracePt t="18741" x="3214688" y="2560638"/>
          <p14:tracePt t="18743" x="3214688" y="2570163"/>
          <p14:tracePt t="18745" x="3205163" y="2578100"/>
          <p14:tracePt t="18747" x="3197225" y="2578100"/>
          <p14:tracePt t="18749" x="3187700" y="2595563"/>
          <p14:tracePt t="18751" x="3187700" y="2603500"/>
          <p14:tracePt t="18755" x="3179763" y="2613025"/>
          <p14:tracePt t="18759" x="3171825" y="2620963"/>
          <p14:tracePt t="18768" x="3162300" y="2630488"/>
          <p14:tracePt t="18771" x="3162300" y="2638425"/>
          <p14:tracePt t="18779" x="3162300" y="2655888"/>
          <p14:tracePt t="18791" x="3162300" y="2673350"/>
          <p14:tracePt t="18829" x="3171825" y="2681288"/>
          <p14:tracePt t="18831" x="3171825" y="2698750"/>
          <p14:tracePt t="18839" x="3179763" y="2698750"/>
          <p14:tracePt t="18851" x="3187700" y="2698750"/>
          <p14:tracePt t="18865" x="3205163" y="2698750"/>
          <p14:tracePt t="18871" x="3214688" y="2698750"/>
          <p14:tracePt t="18885" x="3230563" y="2698750"/>
          <p14:tracePt t="18905" x="3248025" y="2698750"/>
          <p14:tracePt t="18923" x="3257550" y="2698750"/>
          <p14:tracePt t="18933" x="3275013" y="2698750"/>
          <p14:tracePt t="18947" x="3290888" y="2698750"/>
          <p14:tracePt t="18966" x="0" y="0"/>
        </p14:tracePtLst>
        <p14:tracePtLst>
          <p14:tracePt t="19459" x="1530350" y="2492375"/>
          <p14:tracePt t="19625" x="1530350" y="2509838"/>
          <p14:tracePt t="19629" x="1538288" y="2527300"/>
          <p14:tracePt t="19631" x="1555750" y="2527300"/>
          <p14:tracePt t="19633" x="1563688" y="2543175"/>
          <p14:tracePt t="19637" x="1563688" y="2560638"/>
          <p14:tracePt t="19641" x="1563688" y="2570163"/>
          <p14:tracePt t="19645" x="1563688" y="2586038"/>
          <p14:tracePt t="19647" x="1563688" y="2603500"/>
          <p14:tracePt t="19649" x="1573213" y="2613025"/>
          <p14:tracePt t="19651" x="1573213" y="2630488"/>
          <p14:tracePt t="19655" x="1581150" y="2646363"/>
          <p14:tracePt t="19657" x="1590675" y="2655888"/>
          <p14:tracePt t="19659" x="1598613" y="2663825"/>
          <p14:tracePt t="19661" x="1606550" y="2681288"/>
          <p14:tracePt t="19665" x="1624013" y="2698750"/>
          <p14:tracePt t="19669" x="1624013" y="2716213"/>
          <p14:tracePt t="19671" x="1641475" y="2724150"/>
          <p14:tracePt t="19673" x="1658938" y="2733675"/>
          <p14:tracePt t="19675" x="1666875" y="2741613"/>
          <p14:tracePt t="19681" x="1676400" y="2759075"/>
          <p14:tracePt t="19683" x="1684338" y="2767013"/>
          <p14:tracePt t="19685" x="1701800" y="2776538"/>
          <p14:tracePt t="19687" x="1719263" y="2784475"/>
          <p14:tracePt t="19693" x="1736725" y="2801938"/>
          <p14:tracePt t="19695" x="1736725" y="2809875"/>
          <p14:tracePt t="19697" x="1752600" y="2819400"/>
          <p14:tracePt t="19699" x="1770063" y="2819400"/>
          <p14:tracePt t="19701" x="1779588" y="2827338"/>
          <p14:tracePt t="19703" x="1795463" y="2844800"/>
          <p14:tracePt t="19705" x="1812925" y="2852738"/>
          <p14:tracePt t="19707" x="1830388" y="2852738"/>
          <p14:tracePt t="19709" x="1838325" y="2862263"/>
          <p14:tracePt t="19711" x="1855788" y="2879725"/>
          <p14:tracePt t="19713" x="1873250" y="2887663"/>
          <p14:tracePt t="19715" x="1890713" y="2887663"/>
          <p14:tracePt t="19718" x="1916113" y="2895600"/>
          <p14:tracePt t="19719" x="1951038" y="2905125"/>
          <p14:tracePt t="19721" x="1968500" y="2913063"/>
          <p14:tracePt t="19723" x="1985963" y="2922588"/>
          <p14:tracePt t="19725" x="2011363" y="2938463"/>
          <p14:tracePt t="19727" x="2036763" y="2947988"/>
          <p14:tracePt t="19729" x="2054225" y="2947988"/>
          <p14:tracePt t="19731" x="2079625" y="2947988"/>
          <p14:tracePt t="19733" x="2105025" y="2955925"/>
          <p14:tracePt t="19735" x="2132013" y="2973388"/>
          <p14:tracePt t="19737" x="2157413" y="2981325"/>
          <p14:tracePt t="19739" x="2174875" y="2981325"/>
          <p14:tracePt t="19741" x="2190750" y="2990850"/>
          <p14:tracePt t="19743" x="2217738" y="2998788"/>
          <p14:tracePt t="19745" x="2235200" y="2998788"/>
          <p14:tracePt t="19747" x="2251075" y="2998788"/>
          <p14:tracePt t="19751" x="2268538" y="2998788"/>
          <p14:tracePt t="19753" x="2286000" y="3008313"/>
          <p14:tracePt t="19755" x="2303463" y="3008313"/>
          <p14:tracePt t="19757" x="2311400" y="3008313"/>
          <p14:tracePt t="19759" x="2328863" y="3008313"/>
          <p14:tracePt t="19763" x="2336800" y="3008313"/>
          <p14:tracePt t="19768" x="2354263" y="3008313"/>
          <p14:tracePt t="19775" x="2371725" y="3008313"/>
          <p14:tracePt t="19779" x="2381250" y="3008313"/>
          <p14:tracePt t="19791" x="2397125" y="3008313"/>
          <p14:tracePt t="19795" x="2414588" y="3008313"/>
          <p14:tracePt t="19818" x="2424113" y="2998788"/>
          <p14:tracePt t="19821" x="2432050" y="2981325"/>
          <p14:tracePt t="19825" x="2439988" y="2973388"/>
          <p14:tracePt t="19827" x="2439988" y="2955925"/>
          <p14:tracePt t="19831" x="2439988" y="2938463"/>
          <p14:tracePt t="19833" x="2439988" y="2930525"/>
          <p14:tracePt t="19837" x="2439988" y="2913063"/>
          <p14:tracePt t="19839" x="2439988" y="2895600"/>
          <p14:tracePt t="19841" x="2439988" y="2887663"/>
          <p14:tracePt t="19845" x="2439988" y="2862263"/>
          <p14:tracePt t="19849" x="2439988" y="2844800"/>
          <p14:tracePt t="19851" x="2439988" y="2827338"/>
          <p14:tracePt t="19859" x="2432050" y="2801938"/>
          <p14:tracePt t="19863" x="2432050" y="2784475"/>
          <p14:tracePt t="19871" x="2432050" y="2767013"/>
          <p14:tracePt t="19877" x="2424113" y="2759075"/>
          <p14:tracePt t="19883" x="2414588" y="2741613"/>
          <p14:tracePt t="19885" x="2414588" y="2733675"/>
          <p14:tracePt t="19887" x="2406650" y="2724150"/>
          <p14:tracePt t="19893" x="2406650" y="2706688"/>
          <p14:tracePt t="19897" x="2397125" y="2689225"/>
          <p14:tracePt t="19903" x="2389188" y="2681288"/>
          <p14:tracePt t="19905" x="2381250" y="2663825"/>
          <p14:tracePt t="19907" x="2363788" y="2655888"/>
          <p14:tracePt t="19909" x="2363788" y="2646363"/>
          <p14:tracePt t="19915" x="2354263" y="2638425"/>
          <p14:tracePt t="19918" x="2336800" y="2630488"/>
          <p14:tracePt t="19919" x="2328863" y="2613025"/>
          <p14:tracePt t="19921" x="2328863" y="2603500"/>
          <p14:tracePt t="19925" x="2311400" y="2595563"/>
          <p14:tracePt t="19929" x="2286000" y="2578100"/>
          <p14:tracePt t="19931" x="2278063" y="2560638"/>
          <p14:tracePt t="19933" x="2260600" y="2552700"/>
          <p14:tracePt t="19937" x="2251075" y="2543175"/>
          <p14:tracePt t="19939" x="2225675" y="2535238"/>
          <p14:tracePt t="19941" x="2208213" y="2527300"/>
          <p14:tracePt t="19943" x="2182813" y="2517775"/>
          <p14:tracePt t="19945" x="2165350" y="2509838"/>
          <p14:tracePt t="19947" x="2147888" y="2500313"/>
          <p14:tracePt t="19949" x="2122488" y="2484438"/>
          <p14:tracePt t="19951" x="2105025" y="2466975"/>
          <p14:tracePt t="19953" x="2087563" y="2457450"/>
          <p14:tracePt t="19957" x="2062163" y="2449513"/>
          <p14:tracePt t="19959" x="2054225" y="2439988"/>
          <p14:tracePt t="19961" x="2044700" y="2432050"/>
          <p14:tracePt t="19963" x="2019300" y="2414588"/>
          <p14:tracePt t="19965" x="2001838" y="2406650"/>
          <p14:tracePt t="19969" x="1976438" y="2389188"/>
          <p14:tracePt t="19971" x="1951038" y="2381250"/>
          <p14:tracePt t="19975" x="1933575" y="2381250"/>
          <p14:tracePt t="19977" x="1908175" y="2381250"/>
          <p14:tracePt t="19979" x="1890713" y="2381250"/>
          <p14:tracePt t="19981" x="1890713" y="2371725"/>
          <p14:tracePt t="19983" x="1873250" y="2371725"/>
          <p14:tracePt t="19985" x="1855788" y="2371725"/>
          <p14:tracePt t="19989" x="1847850" y="2371725"/>
          <p14:tracePt t="19997" x="1830388" y="2371725"/>
          <p14:tracePt t="20007" x="1822450" y="2371725"/>
          <p14:tracePt t="20021" x="1804988" y="2371725"/>
          <p14:tracePt t="20027" x="1787525" y="2371725"/>
          <p14:tracePt t="20033" x="1779588" y="2371725"/>
          <p14:tracePt t="20043" x="1762125" y="2371725"/>
          <p14:tracePt t="20052" x="1744663" y="2371725"/>
          <p14:tracePt t="20075" x="1736725" y="2371725"/>
          <p14:tracePt t="20079" x="1727200" y="2371725"/>
          <p14:tracePt t="20087" x="1719263" y="2371725"/>
          <p14:tracePt t="20095" x="1709738" y="2381250"/>
          <p14:tracePt t="20102" x="1692275" y="2381250"/>
          <p14:tracePt t="20103" x="1684338" y="2389188"/>
          <p14:tracePt t="20109" x="1684338" y="2397125"/>
          <p14:tracePt t="20111" x="1676400" y="2406650"/>
          <p14:tracePt t="20118" x="1676400" y="2414588"/>
          <p14:tracePt t="20119" x="1666875" y="2424113"/>
          <p14:tracePt t="20125" x="1658938" y="2432050"/>
          <p14:tracePt t="20129" x="1649413" y="2439988"/>
          <p14:tracePt t="20135" x="1641475" y="2449513"/>
          <p14:tracePt t="20137" x="1633538" y="2457450"/>
          <p14:tracePt t="20141" x="1616075" y="2474913"/>
          <p14:tracePt t="20149" x="1606550" y="2492375"/>
          <p14:tracePt t="20151" x="1606550" y="2500313"/>
          <p14:tracePt t="20157" x="1606550" y="2517775"/>
          <p14:tracePt t="20163" x="1598613" y="2535238"/>
          <p14:tracePt t="20168" x="1581150" y="2535238"/>
          <p14:tracePt t="20169" x="1573213" y="2552700"/>
          <p14:tracePt t="20179" x="1573213" y="2570163"/>
          <p14:tracePt t="20185" x="1573213" y="2578100"/>
          <p14:tracePt t="20189" x="1573213" y="2595563"/>
          <p14:tracePt t="20195" x="1573213" y="2613025"/>
          <p14:tracePt t="20201" x="1581150" y="2630488"/>
          <p14:tracePt t="20207" x="1581150" y="2638425"/>
          <p14:tracePt t="20209" x="1590675" y="2646363"/>
          <p14:tracePt t="20213" x="1598613" y="2663825"/>
          <p14:tracePt t="20263" x="1606550" y="2663825"/>
          <p14:tracePt t="20266" x="0" y="0"/>
        </p14:tracePtLst>
        <p14:tracePtLst>
          <p14:tracePt t="21014" x="3059113" y="4340225"/>
          <p14:tracePt t="21045" x="3041650" y="4330700"/>
          <p14:tracePt t="21051" x="3025775" y="4322763"/>
          <p14:tracePt t="21055" x="3016250" y="4322763"/>
          <p14:tracePt t="21059" x="2998788" y="4322763"/>
          <p14:tracePt t="21063" x="2981325" y="4314825"/>
          <p14:tracePt t="21069" x="2973388" y="4305300"/>
          <p14:tracePt t="21071" x="2955925" y="4305300"/>
          <p14:tracePt t="21077" x="2930525" y="4305300"/>
          <p14:tracePt t="21081" x="2913063" y="4297363"/>
          <p14:tracePt t="21085" x="2905125" y="4297363"/>
          <p14:tracePt t="21089" x="2887663" y="4297363"/>
          <p14:tracePt t="21091" x="2870200" y="4297363"/>
          <p14:tracePt t="21093" x="2862263" y="4287838"/>
          <p14:tracePt t="21095" x="2844800" y="4279900"/>
          <p14:tracePt t="21099" x="2827338" y="4271963"/>
          <p14:tracePt t="21103" x="2809875" y="4262438"/>
          <p14:tracePt t="21107" x="2792413" y="4262438"/>
          <p14:tracePt t="21109" x="2776538" y="4262438"/>
          <p14:tracePt t="21111" x="2759075" y="4262438"/>
          <p14:tracePt t="21113" x="2749550" y="4262438"/>
          <p14:tracePt t="21118" x="2733675" y="4254500"/>
          <p14:tracePt t="21121" x="2716213" y="4244975"/>
          <p14:tracePt t="21125" x="2706688" y="4244975"/>
          <p14:tracePt t="21129" x="2689225" y="4244975"/>
          <p14:tracePt t="21133" x="2673350" y="4244975"/>
          <p14:tracePt t="21143" x="2663825" y="4244975"/>
          <p14:tracePt t="21147" x="2646363" y="4244975"/>
          <p14:tracePt t="21153" x="2630488" y="4244975"/>
          <p14:tracePt t="21159" x="2620963" y="4244975"/>
          <p14:tracePt t="21161" x="2603500" y="4244975"/>
          <p14:tracePt t="21165" x="2586038" y="4244975"/>
          <p14:tracePt t="21168" x="2578100" y="4244975"/>
          <p14:tracePt t="21171" x="2560638" y="4244975"/>
          <p14:tracePt t="21173" x="2552700" y="4244975"/>
          <p14:tracePt t="21179" x="2535238" y="4244975"/>
          <p14:tracePt t="21181" x="2517775" y="4244975"/>
          <p14:tracePt t="21187" x="2509838" y="4244975"/>
          <p14:tracePt t="21189" x="2492375" y="4244975"/>
          <p14:tracePt t="21195" x="2474913" y="4254500"/>
          <p14:tracePt t="21199" x="2466975" y="4254500"/>
          <p14:tracePt t="21201" x="2449513" y="4262438"/>
          <p14:tracePt t="21203" x="2439988" y="4271963"/>
          <p14:tracePt t="21207" x="2432050" y="4271963"/>
          <p14:tracePt t="21211" x="2424113" y="4271963"/>
          <p14:tracePt t="21213" x="2414588" y="4271963"/>
          <p14:tracePt t="21221" x="2406650" y="4279900"/>
          <p14:tracePt t="21223" x="2406650" y="4287838"/>
          <p14:tracePt t="21235" x="2397125" y="4297363"/>
          <p14:tracePt t="21249" x="2389188" y="4314825"/>
          <p14:tracePt t="21251" x="2381250" y="4322763"/>
          <p14:tracePt t="21257" x="2371725" y="4322763"/>
          <p14:tracePt t="21259" x="2371725" y="4330700"/>
          <p14:tracePt t="21265" x="2363788" y="4340225"/>
          <p14:tracePt t="21269" x="2363788" y="4357688"/>
          <p14:tracePt t="21271" x="2354263" y="4365625"/>
          <p14:tracePt t="21273" x="2346325" y="4365625"/>
          <p14:tracePt t="21279" x="2346325" y="4383088"/>
          <p14:tracePt t="21285" x="2346325" y="4400550"/>
          <p14:tracePt t="21289" x="2346325" y="4408488"/>
          <p14:tracePt t="21295" x="2346325" y="4425950"/>
          <p14:tracePt t="21299" x="2346325" y="4433888"/>
          <p14:tracePt t="21301" x="2346325" y="4451350"/>
          <p14:tracePt t="21307" x="2346325" y="4468813"/>
          <p14:tracePt t="21309" x="2346325" y="4486275"/>
          <p14:tracePt t="21313" x="2346325" y="4494213"/>
          <p14:tracePt t="21318" x="2346325" y="4511675"/>
          <p14:tracePt t="21321" x="2346325" y="4521200"/>
          <p14:tracePt t="21325" x="2346325" y="4537075"/>
          <p14:tracePt t="21331" x="2363788" y="4554538"/>
          <p14:tracePt t="21333" x="2371725" y="4564063"/>
          <p14:tracePt t="21345" x="2381250" y="4572000"/>
          <p14:tracePt t="21349" x="2389188" y="4579938"/>
          <p14:tracePt t="21357" x="2406650" y="4597400"/>
          <p14:tracePt t="21361" x="2414588" y="4614863"/>
          <p14:tracePt t="21369" x="2414588" y="4622800"/>
          <p14:tracePt t="21371" x="2424113" y="4632325"/>
          <p14:tracePt t="21379" x="2432050" y="4632325"/>
          <p14:tracePt t="21386" x="2449513" y="4632325"/>
          <p14:tracePt t="21387" x="2457450" y="4640263"/>
          <p14:tracePt t="21399" x="2474913" y="4640263"/>
          <p14:tracePt t="21401" x="2484438" y="4640263"/>
          <p14:tracePt t="21409" x="2500313" y="4640263"/>
          <p14:tracePt t="21411" x="2509838" y="4640263"/>
          <p14:tracePt t="21413" x="2527300" y="4649788"/>
          <p14:tracePt t="21415" x="2543175" y="4657725"/>
          <p14:tracePt t="21421" x="2560638" y="4657725"/>
          <p14:tracePt t="21423" x="2578100" y="4657725"/>
          <p14:tracePt t="21427" x="2595563" y="4657725"/>
          <p14:tracePt t="21431" x="2613025" y="4657725"/>
          <p14:tracePt t="21433" x="2620963" y="4657725"/>
          <p14:tracePt t="21437" x="2638425" y="4657725"/>
          <p14:tracePt t="21439" x="2655888" y="4657725"/>
          <p14:tracePt t="21441" x="2663825" y="4657725"/>
          <p14:tracePt t="21443" x="2681288" y="4657725"/>
          <p14:tracePt t="21447" x="2706688" y="4657725"/>
          <p14:tracePt t="21449" x="2716213" y="4657725"/>
          <p14:tracePt t="21455" x="2733675" y="4657725"/>
          <p14:tracePt t="21465" x="2741613" y="4657725"/>
          <p14:tracePt t="21471" x="2759075" y="4657725"/>
          <p14:tracePt t="21473" x="2776538" y="4657725"/>
          <p14:tracePt t="21479" x="2784475" y="4657725"/>
          <p14:tracePt t="21487" x="2801938" y="4657725"/>
          <p14:tracePt t="21491" x="2819400" y="4657725"/>
          <p14:tracePt t="21499" x="2827338" y="4649788"/>
          <p14:tracePt t="21503" x="2844800" y="4640263"/>
          <p14:tracePt t="21506" x="2852738" y="4632325"/>
          <p14:tracePt t="21507" x="2852738" y="4622800"/>
          <p14:tracePt t="21509" x="2862263" y="4622800"/>
          <p14:tracePt t="21511" x="2862263" y="4606925"/>
          <p14:tracePt t="21513" x="2870200" y="4597400"/>
          <p14:tracePt t="21518" x="2879725" y="4597400"/>
          <p14:tracePt t="21519" x="2887663" y="4589463"/>
          <p14:tracePt t="21521" x="2895600" y="4572000"/>
          <p14:tracePt t="21523" x="2905125" y="4564063"/>
          <p14:tracePt t="21527" x="2905125" y="4554538"/>
          <p14:tracePt t="21529" x="2905125" y="4537075"/>
          <p14:tracePt t="21533" x="2913063" y="4529138"/>
          <p14:tracePt t="21540" x="2922588" y="4511675"/>
          <p14:tracePt t="21541" x="2922588" y="4503738"/>
          <p14:tracePt t="21545" x="2938463" y="4494213"/>
          <p14:tracePt t="21549" x="2947988" y="4486275"/>
          <p14:tracePt t="21553" x="2947988" y="4468813"/>
          <p14:tracePt t="21568" x="2947988" y="4460875"/>
          <p14:tracePt t="21569" x="2955925" y="4451350"/>
          <p14:tracePt t="21575" x="2965450" y="4451350"/>
          <p14:tracePt t="21587" x="2973388" y="4443413"/>
          <p14:tracePt t="21595" x="2973388" y="4433888"/>
          <p14:tracePt t="21611" x="2990850" y="4433888"/>
          <p14:tracePt t="21669" x="2998788" y="4433888"/>
          <p14:tracePt t="21671" x="0" y="0"/>
        </p14:tracePtLst>
        <p14:tracePtLst>
          <p14:tracePt t="23400" x="2165350" y="5105400"/>
          <p14:tracePt t="23524" x="2182813" y="5105400"/>
          <p14:tracePt t="23537" x="2200275" y="5105400"/>
          <p14:tracePt t="23551" x="2208213" y="5105400"/>
          <p14:tracePt t="23563" x="2225675" y="5105400"/>
          <p14:tracePt t="23635" x="2251075" y="5105400"/>
          <p14:tracePt t="23657" x="2260600" y="5105400"/>
          <p14:tracePt t="23683" x="2278063" y="5105400"/>
          <p14:tracePt t="23738" x="2286000" y="5105400"/>
          <p14:tracePt t="23760" x="2303463" y="5105400"/>
          <p14:tracePt t="23791" x="2320925" y="5105400"/>
          <p14:tracePt t="23804" x="2328863" y="5105400"/>
          <p14:tracePt t="23833" x="2346325" y="5105400"/>
          <p14:tracePt t="23841" x="2354263" y="5105400"/>
          <p14:tracePt t="23843" x="2363788" y="5113338"/>
          <p14:tracePt t="23855" x="2381250" y="5113338"/>
          <p14:tracePt t="23863" x="2397125" y="5113338"/>
          <p14:tracePt t="23881" x="2406650" y="5113338"/>
          <p14:tracePt t="23896" x="2424113" y="5113338"/>
          <p14:tracePt t="23933" x="2439988" y="5113338"/>
          <p14:tracePt t="23941" x="2449513" y="5113338"/>
          <p14:tracePt t="23945" x="2457450" y="5113338"/>
          <p14:tracePt t="23956" x="2466975" y="5121275"/>
          <p14:tracePt t="23969" x="2484438" y="5121275"/>
          <p14:tracePt t="23981" x="2500313" y="5121275"/>
          <p14:tracePt t="23991" x="2509838" y="5121275"/>
          <p14:tracePt t="24001" x="2527300" y="5121275"/>
          <p14:tracePt t="24013" x="2552700" y="5121275"/>
          <p14:tracePt t="24022" x="2578100" y="5121275"/>
          <p14:tracePt t="24035" x="2586038" y="5121275"/>
          <p14:tracePt t="24039" x="2603500" y="5121275"/>
          <p14:tracePt t="24059" x="2613025" y="5130800"/>
          <p14:tracePt t="24063" x="2620963" y="5138738"/>
          <p14:tracePt t="24113" x="2638425" y="5138738"/>
          <p14:tracePt t="24144" x="2646363" y="5138738"/>
          <p14:tracePt t="24168" x="2663825" y="5138738"/>
          <p14:tracePt t="24240" x="2689225" y="5138738"/>
          <p14:tracePt t="24255" x="2698750" y="5138738"/>
          <p14:tracePt t="24271" x="2716213" y="5138738"/>
          <p14:tracePt t="24295" x="2733675" y="5138738"/>
          <p14:tracePt t="24299" x="2741613" y="5138738"/>
          <p14:tracePt t="24342" x="2759075" y="5138738"/>
          <p14:tracePt t="24394" x="2776538" y="5138738"/>
          <p14:tracePt t="24424" x="2784475" y="5138738"/>
          <p14:tracePt t="24448" x="2801938" y="5138738"/>
          <p14:tracePt t="24504" x="2827338" y="5138738"/>
          <p14:tracePt t="24519" x="2844800" y="5138738"/>
          <p14:tracePt t="24531" x="2862263" y="5138738"/>
          <p14:tracePt t="24587" x="2887663" y="5138738"/>
          <p14:tracePt t="24640" x="2905125" y="5138738"/>
          <p14:tracePt t="24658" x="2922588" y="5138738"/>
          <p14:tracePt t="24677" x="2938463" y="5138738"/>
          <p14:tracePt t="24772" x="2947988" y="5138738"/>
          <p14:tracePt t="24773" x="2965450" y="5138738"/>
          <p14:tracePt t="24927" x="2981325" y="5138738"/>
          <p14:tracePt t="24967" x="2990850" y="5138738"/>
          <p14:tracePt t="24981" x="3008313" y="5138738"/>
          <p14:tracePt t="25075" x="3025775" y="5138738"/>
          <p14:tracePt t="25089" x="3041650" y="5138738"/>
          <p14:tracePt t="25099" x="3051175" y="5138738"/>
          <p14:tracePt t="25123" x="3051175" y="5148263"/>
          <p14:tracePt t="25178" x="3076575" y="5148263"/>
          <p14:tracePt t="25194" x="3084513" y="5148263"/>
          <p14:tracePt t="25210" x="3101975" y="5148263"/>
          <p14:tracePt t="25238" x="3119438" y="5148263"/>
          <p14:tracePt t="25265" x="3128963" y="5148263"/>
          <p14:tracePt t="25303" x="3144838" y="5148263"/>
          <p14:tracePt t="25345" x="3154363" y="5156200"/>
          <p14:tracePt t="25346" x="3162300" y="5165725"/>
          <p14:tracePt t="25418" x="3179763" y="5165725"/>
          <p14:tracePt t="25431" x="3197225" y="5165725"/>
          <p14:tracePt t="25437" x="3205163" y="5165725"/>
          <p14:tracePt t="25447" x="3222625" y="5165725"/>
          <p14:tracePt t="25455" x="3240088" y="5173663"/>
          <p14:tracePt t="25485" x="3248025" y="5173663"/>
          <p14:tracePt t="25542" x="3265488" y="5173663"/>
          <p14:tracePt t="25586" x="3282950" y="5173663"/>
          <p14:tracePt t="25588" x="3282950" y="5181600"/>
          <p14:tracePt t="25591" x="3290888" y="5191125"/>
          <p14:tracePt t="25607" x="3308350" y="5191125"/>
          <p14:tracePt t="26684" x="0" y="0"/>
        </p14:tracePtLst>
        <p14:tracePtLst>
          <p14:tracePt t="32257" x="2862263" y="5765800"/>
          <p14:tracePt t="32484" x="2852738" y="5765800"/>
          <p14:tracePt t="32492" x="2835275" y="5765800"/>
          <p14:tracePt t="32500" x="2809875" y="5757863"/>
          <p14:tracePt t="32508" x="2792413" y="5757863"/>
          <p14:tracePt t="32516" x="2784475" y="5757863"/>
          <p14:tracePt t="32524" x="2767013" y="5757863"/>
          <p14:tracePt t="32528" x="2759075" y="5749925"/>
          <p14:tracePt t="32530" x="2749550" y="5740400"/>
          <p14:tracePt t="32532" x="2741613" y="5740400"/>
          <p14:tracePt t="32534" x="2724150" y="5740400"/>
          <p14:tracePt t="32546" x="2716213" y="5740400"/>
          <p14:tracePt t="32556" x="2706688" y="5732463"/>
          <p14:tracePt t="32558" x="2689225" y="5722938"/>
          <p14:tracePt t="32569" x="2681288" y="5722938"/>
          <p14:tracePt t="32570" x="2663825" y="5722938"/>
          <p14:tracePt t="32580" x="2655888" y="5722938"/>
          <p14:tracePt t="32594" x="2646363" y="5722938"/>
          <p14:tracePt t="32610" x="2638425" y="5715000"/>
          <p14:tracePt t="32614" x="2620963" y="5707063"/>
          <p14:tracePt t="32632" x="2613025" y="5697538"/>
          <p14:tracePt t="32636" x="2603500" y="5697538"/>
          <p14:tracePt t="32642" x="2595563" y="5689600"/>
          <p14:tracePt t="32646" x="2595563" y="5680075"/>
          <p14:tracePt t="32648" x="2586038" y="5672138"/>
          <p14:tracePt t="32664" x="2570163" y="5672138"/>
          <p14:tracePt t="32674" x="2560638" y="5672138"/>
          <p14:tracePt t="32676" x="2552700" y="5672138"/>
          <p14:tracePt t="32683" x="2543175" y="5664200"/>
          <p14:tracePt t="32688" x="2535238" y="5654675"/>
          <p14:tracePt t="32690" x="2535238" y="5646738"/>
          <p14:tracePt t="32704" x="2517775" y="5646738"/>
          <p14:tracePt t="32722" x="2509838" y="5646738"/>
          <p14:tracePt t="32724" x="2509838" y="5637213"/>
          <p14:tracePt t="32736" x="2484438" y="5637213"/>
          <p14:tracePt t="32744" x="2484438" y="5629275"/>
          <p14:tracePt t="32770" x="2466975" y="5629275"/>
          <p14:tracePt t="32789" x="2457450" y="5619750"/>
          <p14:tracePt t="32790" x="2449513" y="5611813"/>
          <p14:tracePt t="32800" x="2439988" y="5603875"/>
          <p14:tracePt t="32830" x="2432050" y="5586413"/>
          <p14:tracePt t="32832" x="2424113" y="5586413"/>
          <p14:tracePt t="32842" x="2424113" y="5576888"/>
          <p14:tracePt t="32850" x="2424113" y="5561013"/>
          <p14:tracePt t="32860" x="2424113" y="5551488"/>
          <p14:tracePt t="32869" x="2424113" y="5534025"/>
          <p14:tracePt t="32876" x="2414588" y="5516563"/>
          <p14:tracePt t="32886" x="2406650" y="5508625"/>
          <p14:tracePt t="32898" x="2406650" y="5491163"/>
          <p14:tracePt t="32910" x="2406650" y="5473700"/>
          <p14:tracePt t="32930" x="2406650" y="5465763"/>
          <p14:tracePt t="32940" x="2406650" y="5448300"/>
          <p14:tracePt t="32955" x="2406650" y="5440363"/>
          <p14:tracePt t="32962" x="2406650" y="5422900"/>
          <p14:tracePt t="32966" x="2406650" y="5405438"/>
          <p14:tracePt t="32972" x="2406650" y="5397500"/>
          <p14:tracePt t="32978" x="2406650" y="5380038"/>
          <p14:tracePt t="32987" x="2414588" y="5362575"/>
          <p14:tracePt t="32994" x="2424113" y="5354638"/>
          <p14:tracePt t="32998" x="2424113" y="5337175"/>
          <p14:tracePt t="33000" x="2432050" y="5327650"/>
          <p14:tracePt t="33008" x="2432050" y="5311775"/>
          <p14:tracePt t="33010" x="2439988" y="5302250"/>
          <p14:tracePt t="33012" x="2449513" y="5302250"/>
          <p14:tracePt t="33016" x="2457450" y="5284788"/>
          <p14:tracePt t="33020" x="2466975" y="5267325"/>
          <p14:tracePt t="33024" x="2466975" y="5259388"/>
          <p14:tracePt t="33026" x="2466975" y="5241925"/>
          <p14:tracePt t="33030" x="2466975" y="5233988"/>
          <p14:tracePt t="33032" x="2474913" y="5233988"/>
          <p14:tracePt t="33038" x="2474913" y="5216525"/>
          <p14:tracePt t="33044" x="2474913" y="5199063"/>
          <p14:tracePt t="33046" x="2484438" y="5199063"/>
          <p14:tracePt t="33053" x="2484438" y="5191125"/>
          <p14:tracePt t="33054" x="2492375" y="5181600"/>
          <p14:tracePt t="33064" x="2509838" y="5181600"/>
          <p14:tracePt t="33066" x="2517775" y="5165725"/>
          <p14:tracePt t="33078" x="2527300" y="5148263"/>
          <p14:tracePt t="33088" x="2535238" y="5138738"/>
          <p14:tracePt t="33090" x="2543175" y="5138738"/>
          <p14:tracePt t="33137" x="2560638" y="5138738"/>
          <p14:tracePt t="33146" x="2578100" y="5138738"/>
          <p14:tracePt t="33164" x="2586038" y="5138738"/>
          <p14:tracePt t="33169" x="2603500" y="5138738"/>
          <p14:tracePt t="33174" x="2613025" y="5138738"/>
          <p14:tracePt t="33178" x="2630488" y="5138738"/>
          <p14:tracePt t="33182" x="2646363" y="5138738"/>
          <p14:tracePt t="33190" x="2655888" y="5138738"/>
          <p14:tracePt t="33196" x="2673350" y="5138738"/>
          <p14:tracePt t="33202" x="2689225" y="5138738"/>
          <p14:tracePt t="33204" x="2698750" y="5138738"/>
          <p14:tracePt t="33210" x="2716213" y="5138738"/>
          <p14:tracePt t="33212" x="2733675" y="5138738"/>
          <p14:tracePt t="33216" x="2741613" y="5148263"/>
          <p14:tracePt t="33219" x="2749550" y="5156200"/>
          <p14:tracePt t="33224" x="2767013" y="5165725"/>
          <p14:tracePt t="33230" x="2776538" y="5165725"/>
          <p14:tracePt t="33232" x="2792413" y="5165725"/>
          <p14:tracePt t="33237" x="2809875" y="5165725"/>
          <p14:tracePt t="33238" x="2819400" y="5173663"/>
          <p14:tracePt t="33240" x="2835275" y="5173663"/>
          <p14:tracePt t="33242" x="2844800" y="5181600"/>
          <p14:tracePt t="33244" x="2852738" y="5191125"/>
          <p14:tracePt t="33250" x="2879725" y="5199063"/>
          <p14:tracePt t="33254" x="2895600" y="5208588"/>
          <p14:tracePt t="33256" x="2913063" y="5208588"/>
          <p14:tracePt t="33260" x="2930525" y="5216525"/>
          <p14:tracePt t="33264" x="2955925" y="5224463"/>
          <p14:tracePt t="33278" x="2973388" y="5233988"/>
          <p14:tracePt t="33280" x="2973388" y="5241925"/>
          <p14:tracePt t="33290" x="2990850" y="5251450"/>
          <p14:tracePt t="33294" x="2998788" y="5251450"/>
          <p14:tracePt t="33296" x="2998788" y="5259388"/>
          <p14:tracePt t="33310" x="3008313" y="5267325"/>
          <p14:tracePt t="33312" x="3016250" y="5276850"/>
          <p14:tracePt t="33320" x="3025775" y="5276850"/>
          <p14:tracePt t="33324" x="3025775" y="5284788"/>
          <p14:tracePt t="33328" x="3041650" y="5294313"/>
          <p14:tracePt t="33332" x="3051175" y="5311775"/>
          <p14:tracePt t="33339" x="3059113" y="5319713"/>
          <p14:tracePt t="33340" x="3059113" y="5327650"/>
          <p14:tracePt t="33344" x="3068638" y="5337175"/>
          <p14:tracePt t="33350" x="3084513" y="5345113"/>
          <p14:tracePt t="33354" x="3094038" y="5354638"/>
          <p14:tracePt t="33358" x="3101975" y="5362575"/>
          <p14:tracePt t="33369" x="3101975" y="5370513"/>
          <p14:tracePt t="33370" x="3101975" y="5387975"/>
          <p14:tracePt t="33384" x="3101975" y="5405438"/>
          <p14:tracePt t="33396" x="3111500" y="5405438"/>
          <p14:tracePt t="33419" x="3111500" y="5414963"/>
          <p14:tracePt t="33424" x="3119438" y="5422900"/>
          <p14:tracePt t="33453" x="3128963" y="5422900"/>
          <p14:tracePt t="33462" x="3128963" y="5440363"/>
          <p14:tracePt t="33476" x="3128963" y="5457825"/>
          <p14:tracePt t="33480" x="3128963" y="5465763"/>
          <p14:tracePt t="33492" x="3128963" y="5483225"/>
          <p14:tracePt t="33494" x="3128963" y="5491163"/>
          <p14:tracePt t="33496" x="3119438" y="5491163"/>
          <p14:tracePt t="33504" x="3119438" y="5508625"/>
          <p14:tracePt t="33510" x="3119438" y="5526088"/>
          <p14:tracePt t="33512" x="3111500" y="5534025"/>
          <p14:tracePt t="33520" x="3101975" y="5551488"/>
          <p14:tracePt t="33522" x="3094038" y="5568950"/>
          <p14:tracePt t="33528" x="3084513" y="5576888"/>
          <p14:tracePt t="33530" x="3068638" y="5576888"/>
          <p14:tracePt t="33536" x="3059113" y="5586413"/>
          <p14:tracePt t="33538" x="3051175" y="5594350"/>
          <p14:tracePt t="33542" x="3041650" y="5611813"/>
          <p14:tracePt t="33548" x="3025775" y="5619750"/>
          <p14:tracePt t="33553" x="3016250" y="5619750"/>
          <p14:tracePt t="33558" x="2998788" y="5629275"/>
          <p14:tracePt t="33562" x="2990850" y="5637213"/>
          <p14:tracePt t="33566" x="2981325" y="5646738"/>
          <p14:tracePt t="33569" x="2973388" y="5646738"/>
          <p14:tracePt t="33570" x="2955925" y="5646738"/>
          <p14:tracePt t="33572" x="2947988" y="5646738"/>
          <p14:tracePt t="33574" x="2938463" y="5646738"/>
          <p14:tracePt t="33576" x="2930525" y="5654675"/>
          <p14:tracePt t="33580" x="2922588" y="5654675"/>
          <p14:tracePt t="33582" x="2905125" y="5654675"/>
          <p14:tracePt t="33586" x="2895600" y="5664200"/>
          <p14:tracePt t="33590" x="2895600" y="5672138"/>
          <p14:tracePt t="33594" x="2879725" y="5672138"/>
          <p14:tracePt t="33596" x="2870200" y="5672138"/>
          <p14:tracePt t="33598" x="2870200" y="5680075"/>
          <p14:tracePt t="33603" x="2852738" y="5689600"/>
          <p14:tracePt t="33606" x="2835275" y="5697538"/>
          <p14:tracePt t="33610" x="2827338" y="5697538"/>
          <p14:tracePt t="33616" x="2809875" y="5707063"/>
          <p14:tracePt t="33622" x="2792413" y="5715000"/>
          <p14:tracePt t="33626" x="2776538" y="5715000"/>
          <p14:tracePt t="33632" x="2767013" y="5722938"/>
          <p14:tracePt t="33653" x="2749550" y="5740400"/>
          <p14:tracePt t="33660" x="2741613" y="5740400"/>
          <p14:tracePt t="33662" x="2724150" y="5749925"/>
          <p14:tracePt t="33666" x="2706688" y="5749925"/>
          <p14:tracePt t="33672" x="2698750" y="5749925"/>
          <p14:tracePt t="33676" x="2681288" y="5749925"/>
          <p14:tracePt t="33680" x="2663825" y="5749925"/>
          <p14:tracePt t="33690" x="2655888" y="5749925"/>
          <p14:tracePt t="33692" x="2638425" y="5749925"/>
          <p14:tracePt t="33694" x="2630488" y="5749925"/>
          <p14:tracePt t="33700" x="2613025" y="5749925"/>
          <p14:tracePt t="33708" x="2595563" y="5749925"/>
          <p14:tracePt t="33714" x="2578100" y="5749925"/>
          <p14:tracePt t="33719" x="2570163" y="5749925"/>
          <p14:tracePt t="33730" x="2560638" y="5740400"/>
          <p14:tracePt t="33760" x="2552700" y="5732463"/>
          <p14:tracePt t="33801" x="0" y="0"/>
        </p14:tracePtLst>
        <p14:tracePtLst>
          <p14:tracePt t="35209" x="7459663" y="5070475"/>
          <p14:tracePt t="35440" x="7467600" y="5070475"/>
          <p14:tracePt t="35470" x="7485063" y="5070475"/>
          <p14:tracePt t="35510" x="7502525" y="5070475"/>
          <p14:tracePt t="35527" x="7510463" y="5070475"/>
          <p14:tracePt t="35552" x="7527925" y="5070475"/>
          <p14:tracePt t="35566" x="7545388" y="5070475"/>
          <p14:tracePt t="35582" x="7553325" y="5087938"/>
          <p14:tracePt t="35587" x="7553325" y="5095875"/>
          <p14:tracePt t="35600" x="7570788" y="5105400"/>
          <p14:tracePt t="35610" x="7580313" y="5105400"/>
          <p14:tracePt t="35650" x="7597775" y="5105400"/>
          <p14:tracePt t="35672" x="7613650" y="5113338"/>
          <p14:tracePt t="35688" x="7631113" y="5113338"/>
          <p14:tracePt t="35704" x="7640638" y="5113338"/>
          <p14:tracePt t="35711" x="7656513" y="5113338"/>
          <p14:tracePt t="35716" x="7666038" y="5121275"/>
          <p14:tracePt t="35724" x="7666038" y="5130800"/>
          <p14:tracePt t="35755" x="7683500" y="5130800"/>
          <p14:tracePt t="35762" x="7700963" y="5130800"/>
          <p14:tracePt t="35770" x="7708900" y="5130800"/>
          <p14:tracePt t="35774" x="7726363" y="5130800"/>
          <p14:tracePt t="35790" x="7734300" y="5130800"/>
          <p14:tracePt t="35806" x="7751763" y="5130800"/>
          <p14:tracePt t="35828" x="7769225" y="5130800"/>
          <p14:tracePt t="35845" x="7777163" y="5130800"/>
          <p14:tracePt t="35862" x="7794625" y="5130800"/>
          <p14:tracePt t="35918" x="7812088" y="5130800"/>
          <p14:tracePt t="35949" x="7820025" y="5130800"/>
          <p14:tracePt t="35958" x="7837488" y="5130800"/>
          <p14:tracePt t="35962" x="7854950" y="5130800"/>
          <p14:tracePt t="35975" x="7862888" y="5130800"/>
          <p14:tracePt t="35978" x="7880350" y="5130800"/>
          <p14:tracePt t="35988" x="7889875" y="5130800"/>
          <p14:tracePt t="35993" x="7905750" y="5130800"/>
          <p14:tracePt t="36004" x="7923213" y="5130800"/>
          <p14:tracePt t="36042" x="7932738" y="5130800"/>
          <p14:tracePt t="36048" x="7950200" y="5130800"/>
          <p14:tracePt t="36050" x="7966075" y="5130800"/>
          <p14:tracePt t="36056" x="7975600" y="5121275"/>
          <p14:tracePt t="36064" x="7983538" y="5121275"/>
          <p14:tracePt t="36066" x="7993063" y="5113338"/>
          <p14:tracePt t="36072" x="8001000" y="5113338"/>
          <p14:tracePt t="36076" x="8018463" y="5113338"/>
          <p14:tracePt t="36090" x="8018463" y="5105400"/>
          <p14:tracePt t="36103" x="8026400" y="5095875"/>
          <p14:tracePt t="36407" x="8035925" y="5095875"/>
          <p14:tracePt t="36408" x="0" y="0"/>
        </p14:tracePtLst>
      </p14:laserTraceLst>
    </p:ext>
    <p:ext uri="{E180D4A7-C9FB-4DFB-919C-405C955672EB}">
      <p14:showEvtLst xmlns:p14="http://schemas.microsoft.com/office/powerpoint/2010/main">
        <p14:playEvt time="55" objId="4"/>
        <p14:stopEvt time="38177" objId="4"/>
      </p14:showEvtLst>
    </p:ext>
  </p:extLs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Two’s Complement Simplifies Hardware Implementation</a:t>
            </a:r>
          </a:p>
        </p:txBody>
      </p:sp>
      <p:sp>
        <p:nvSpPr>
          <p:cNvPr id="3" name="Slide Number Placeholder 2"/>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4" name="Content Placeholder 3"/>
          <p:cNvSpPr>
            <a:spLocks noGrp="1"/>
          </p:cNvSpPr>
          <p:nvPr>
            <p:ph sz="quarter" idx="1"/>
          </p:nvPr>
        </p:nvSpPr>
        <p:spPr/>
        <p:txBody>
          <a:bodyPr/>
          <a:lstStyle/>
          <a:p>
            <a:r>
              <a:rPr lang="en-US" dirty="0"/>
              <a:t>In two’s complement, </a:t>
            </a:r>
            <a:r>
              <a:rPr lang="en-US" dirty="0">
                <a:solidFill>
                  <a:srgbClr val="C00000"/>
                </a:solidFill>
              </a:rPr>
              <a:t>the same hardware </a:t>
            </a:r>
            <a:r>
              <a:rPr lang="en-US" dirty="0"/>
              <a:t>works correctly for both signed and unsigned addition/subtraction.</a:t>
            </a:r>
          </a:p>
          <a:p>
            <a:endParaRPr lang="en-US" dirty="0"/>
          </a:p>
          <a:p>
            <a:r>
              <a:rPr lang="en-US" dirty="0"/>
              <a:t>If the product has the same number of bits as operands, the same hardware works correctly for both signed and unsigned multiplication.</a:t>
            </a:r>
          </a:p>
          <a:p>
            <a:endParaRPr lang="en-US" dirty="0"/>
          </a:p>
          <a:p>
            <a:r>
              <a:rPr lang="en-US" dirty="0"/>
              <a:t>However, this is not true for division.</a:t>
            </a:r>
          </a:p>
        </p:txBody>
      </p:sp>
    </p:spTree>
    <p:extLst>
      <p:ext uri="{BB962C8B-B14F-4D97-AF65-F5344CB8AC3E}">
        <p14:creationId xmlns:p14="http://schemas.microsoft.com/office/powerpoint/2010/main" val="32873673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483AF59-47E8-4491-9292-0A604585B532}" type="slidenum">
              <a:rPr kumimoji="0" lang="en-US" sz="1400" b="0" i="0" u="none" strike="noStrike" kern="1200" cap="none" spc="0" normalizeH="0" baseline="0" noProof="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1400" b="0" i="0" u="none" strike="noStrike" kern="1200" cap="none" spc="0" normalizeH="0" baseline="0" noProof="0">
              <a:ln>
                <a:noFill/>
              </a:ln>
              <a:solidFill>
                <a:srgbClr val="1F497D"/>
              </a:solidFill>
              <a:effectLst/>
              <a:uLnTx/>
              <a:uFillTx/>
              <a:latin typeface="Gill Sans MT"/>
              <a:ea typeface="+mn-ea"/>
              <a:cs typeface="+mn-cs"/>
            </a:endParaRPr>
          </a:p>
        </p:txBody>
      </p:sp>
      <p:sp>
        <p:nvSpPr>
          <p:cNvPr id="260098" name="Rectangle 2"/>
          <p:cNvSpPr>
            <a:spLocks noGrp="1" noChangeArrowheads="1"/>
          </p:cNvSpPr>
          <p:nvPr>
            <p:ph type="title"/>
          </p:nvPr>
        </p:nvSpPr>
        <p:spPr/>
        <p:txBody>
          <a:bodyPr/>
          <a:lstStyle/>
          <a:p>
            <a:r>
              <a:rPr lang="en-US"/>
              <a:t>ASCII</a:t>
            </a:r>
          </a:p>
        </p:txBody>
      </p:sp>
      <p:graphicFrame>
        <p:nvGraphicFramePr>
          <p:cNvPr id="3" name="Table 2"/>
          <p:cNvGraphicFramePr>
            <a:graphicFrameLocks noGrp="1"/>
          </p:cNvGraphicFramePr>
          <p:nvPr/>
        </p:nvGraphicFramePr>
        <p:xfrm>
          <a:off x="2209800" y="304800"/>
          <a:ext cx="6077787" cy="6035040"/>
        </p:xfrm>
        <a:graphic>
          <a:graphicData uri="http://schemas.openxmlformats.org/drawingml/2006/table">
            <a:tbl>
              <a:tblPr firstRow="1" firstCol="1" bandRow="1">
                <a:tableStyleId>{5C22544A-7EE6-4342-B048-85BDC9FD1C3A}</a:tableStyleId>
              </a:tblPr>
              <a:tblGrid>
                <a:gridCol w="507198">
                  <a:extLst>
                    <a:ext uri="{9D8B030D-6E8A-4147-A177-3AD203B41FA5}">
                      <a16:colId xmlns:a16="http://schemas.microsoft.com/office/drawing/2014/main" val="20000"/>
                    </a:ext>
                  </a:extLst>
                </a:gridCol>
                <a:gridCol w="485707">
                  <a:extLst>
                    <a:ext uri="{9D8B030D-6E8A-4147-A177-3AD203B41FA5}">
                      <a16:colId xmlns:a16="http://schemas.microsoft.com/office/drawing/2014/main" val="20001"/>
                    </a:ext>
                  </a:extLst>
                </a:gridCol>
                <a:gridCol w="563936">
                  <a:extLst>
                    <a:ext uri="{9D8B030D-6E8A-4147-A177-3AD203B41FA5}">
                      <a16:colId xmlns:a16="http://schemas.microsoft.com/office/drawing/2014/main" val="20002"/>
                    </a:ext>
                  </a:extLst>
                </a:gridCol>
                <a:gridCol w="482268">
                  <a:extLst>
                    <a:ext uri="{9D8B030D-6E8A-4147-A177-3AD203B41FA5}">
                      <a16:colId xmlns:a16="http://schemas.microsoft.com/office/drawing/2014/main" val="20003"/>
                    </a:ext>
                  </a:extLst>
                </a:gridCol>
                <a:gridCol w="469374">
                  <a:extLst>
                    <a:ext uri="{9D8B030D-6E8A-4147-A177-3AD203B41FA5}">
                      <a16:colId xmlns:a16="http://schemas.microsoft.com/office/drawing/2014/main" val="20004"/>
                    </a:ext>
                  </a:extLst>
                </a:gridCol>
                <a:gridCol w="563936">
                  <a:extLst>
                    <a:ext uri="{9D8B030D-6E8A-4147-A177-3AD203B41FA5}">
                      <a16:colId xmlns:a16="http://schemas.microsoft.com/office/drawing/2014/main" val="20005"/>
                    </a:ext>
                  </a:extLst>
                </a:gridCol>
                <a:gridCol w="469374">
                  <a:extLst>
                    <a:ext uri="{9D8B030D-6E8A-4147-A177-3AD203B41FA5}">
                      <a16:colId xmlns:a16="http://schemas.microsoft.com/office/drawing/2014/main" val="20006"/>
                    </a:ext>
                  </a:extLst>
                </a:gridCol>
                <a:gridCol w="469374">
                  <a:extLst>
                    <a:ext uri="{9D8B030D-6E8A-4147-A177-3AD203B41FA5}">
                      <a16:colId xmlns:a16="http://schemas.microsoft.com/office/drawing/2014/main" val="20007"/>
                    </a:ext>
                  </a:extLst>
                </a:gridCol>
                <a:gridCol w="563936">
                  <a:extLst>
                    <a:ext uri="{9D8B030D-6E8A-4147-A177-3AD203B41FA5}">
                      <a16:colId xmlns:a16="http://schemas.microsoft.com/office/drawing/2014/main" val="20008"/>
                    </a:ext>
                  </a:extLst>
                </a:gridCol>
                <a:gridCol w="469374">
                  <a:extLst>
                    <a:ext uri="{9D8B030D-6E8A-4147-A177-3AD203B41FA5}">
                      <a16:colId xmlns:a16="http://schemas.microsoft.com/office/drawing/2014/main" val="20009"/>
                    </a:ext>
                  </a:extLst>
                </a:gridCol>
                <a:gridCol w="469374">
                  <a:extLst>
                    <a:ext uri="{9D8B030D-6E8A-4147-A177-3AD203B41FA5}">
                      <a16:colId xmlns:a16="http://schemas.microsoft.com/office/drawing/2014/main" val="20010"/>
                    </a:ext>
                  </a:extLst>
                </a:gridCol>
                <a:gridCol w="563936">
                  <a:extLst>
                    <a:ext uri="{9D8B030D-6E8A-4147-A177-3AD203B41FA5}">
                      <a16:colId xmlns:a16="http://schemas.microsoft.com/office/drawing/2014/main" val="20011"/>
                    </a:ext>
                  </a:extLst>
                </a:gridCol>
              </a:tblGrid>
              <a:tr h="148792">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Dec</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Hex</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Char</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Dec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Hex</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Char</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Dec</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Hex</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Char</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Dec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Hex</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Char</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00"/>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NUL</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 SP</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40</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96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01"/>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SOH</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41</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A</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97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02"/>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STX</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42</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B</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98</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b</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03"/>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ETX</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43</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C</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99</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c</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04"/>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EOT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44</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D</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64</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d</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05"/>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ENQ</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45</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E</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e</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06"/>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ACK</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&amp;</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F</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66</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f</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07"/>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BEL</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G</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67</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g</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08"/>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BS</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H</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h</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09"/>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HT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I</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err="1">
                          <a:effectLst/>
                          <a:latin typeface="Consolas" panose="020B0609020204030204" pitchFamily="49" charset="0"/>
                          <a:cs typeface="Consolas" panose="020B0609020204030204" pitchFamily="49" charset="0"/>
                        </a:rPr>
                        <a:t>i</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10"/>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0A</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LF</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2A</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4A</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J</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6A</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j</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11"/>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0B</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VT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2B</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4B</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K</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6B</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k</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12"/>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FF</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L</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l</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13"/>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0D</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CR</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2D</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4D</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M</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6D</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m</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14"/>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0E</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SO</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2E</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4E</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N</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6E</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n</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15"/>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0F</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SI</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2F</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4F</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O</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6F</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o</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16"/>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DLE</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P</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p</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17"/>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DC1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Q</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q</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18"/>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DC2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R</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ea typeface="+mn-ea"/>
                          <a:cs typeface="Consolas" panose="020B0609020204030204" pitchFamily="49" charset="0"/>
                        </a:rPr>
                        <a:t>r</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19"/>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DC3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S</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ea typeface="+mn-ea"/>
                          <a:cs typeface="Consolas" panose="020B0609020204030204" pitchFamily="49" charset="0"/>
                        </a:rPr>
                        <a:t>s</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20"/>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DC4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T</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ea typeface="+mn-ea"/>
                          <a:cs typeface="Consolas" panose="020B0609020204030204" pitchFamily="49" charset="0"/>
                        </a:rPr>
                        <a:t>t</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21"/>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NAK</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U</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u</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22"/>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SYN</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V</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v</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23"/>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ETB</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W</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w</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24"/>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CAN</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X</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120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x</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25"/>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EM</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Y</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121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y</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26"/>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1A</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SUB</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3A</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90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5A</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Z</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122</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err="1">
                          <a:effectLst/>
                          <a:latin typeface="Consolas" panose="020B0609020204030204" pitchFamily="49" charset="0"/>
                          <a:cs typeface="Consolas" panose="020B0609020204030204" pitchFamily="49" charset="0"/>
                        </a:rPr>
                        <a:t>7A</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z</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27"/>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1B</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ESC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3B</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91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5B</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123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7B</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28"/>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FS</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&lt; </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92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124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29"/>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1D</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GS</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3D</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93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5D</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125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7D</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30"/>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1E</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RS</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3E</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&gt; </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94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5E</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126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7E</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31"/>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1F</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US</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3F</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95</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5F</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_</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127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7F</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DEL</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32"/>
                  </a:ext>
                </a:extLst>
              </a:tr>
            </a:tbl>
          </a:graphicData>
        </a:graphic>
      </p:graphicFrame>
      <p:sp>
        <p:nvSpPr>
          <p:cNvPr id="2" name="Rectangle 1"/>
          <p:cNvSpPr/>
          <p:nvPr/>
        </p:nvSpPr>
        <p:spPr>
          <a:xfrm>
            <a:off x="228600" y="1981200"/>
            <a:ext cx="1447800" cy="147732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Gill Sans MT"/>
                <a:ea typeface="+mn-ea"/>
                <a:cs typeface="+mn-cs"/>
              </a:rPr>
              <a:t>A</a:t>
            </a:r>
            <a:r>
              <a:rPr kumimoji="0" lang="en-US" sz="1800" b="0" i="0" u="none" strike="noStrike" kern="1200" cap="none" spc="0" normalizeH="0" baseline="0" noProof="0" dirty="0">
                <a:ln>
                  <a:noFill/>
                </a:ln>
                <a:solidFill>
                  <a:prstClr val="black"/>
                </a:solidFill>
                <a:effectLst/>
                <a:uLnTx/>
                <a:uFillTx/>
                <a:latin typeface="Gill Sans MT"/>
                <a:ea typeface="+mn-ea"/>
                <a:cs typeface="+mn-cs"/>
              </a:rPr>
              <a:t>merican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Gill Sans MT"/>
                <a:ea typeface="+mn-ea"/>
                <a:cs typeface="+mn-cs"/>
              </a:rPr>
              <a:t>S</a:t>
            </a:r>
            <a:r>
              <a:rPr kumimoji="0" lang="en-US" sz="1800" b="0" i="0" u="none" strike="noStrike" kern="1200" cap="none" spc="0" normalizeH="0" baseline="0" noProof="0" dirty="0">
                <a:ln>
                  <a:noFill/>
                </a:ln>
                <a:solidFill>
                  <a:prstClr val="black"/>
                </a:solidFill>
                <a:effectLst/>
                <a:uLnTx/>
                <a:uFillTx/>
                <a:latin typeface="Gill Sans MT"/>
                <a:ea typeface="+mn-ea"/>
                <a:cs typeface="+mn-cs"/>
              </a:rPr>
              <a:t>tandard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Gill Sans MT"/>
                <a:ea typeface="+mn-ea"/>
                <a:cs typeface="+mn-cs"/>
              </a:rPr>
              <a:t>C</a:t>
            </a:r>
            <a:r>
              <a:rPr kumimoji="0" lang="en-US" sz="1800" b="0" i="0" u="none" strike="noStrike" kern="1200" cap="none" spc="0" normalizeH="0" baseline="0" noProof="0" dirty="0">
                <a:ln>
                  <a:noFill/>
                </a:ln>
                <a:solidFill>
                  <a:prstClr val="black"/>
                </a:solidFill>
                <a:effectLst/>
                <a:uLnTx/>
                <a:uFillTx/>
                <a:latin typeface="Gill Sans MT"/>
                <a:ea typeface="+mn-ea"/>
                <a:cs typeface="+mn-cs"/>
              </a:rPr>
              <a:t>ode for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Gill Sans MT"/>
                <a:ea typeface="+mn-ea"/>
                <a:cs typeface="+mn-cs"/>
              </a:rPr>
              <a:t>I</a:t>
            </a:r>
            <a:r>
              <a:rPr kumimoji="0" lang="en-US" sz="1800" b="0" i="0" u="none" strike="noStrike" kern="1200" cap="none" spc="0" normalizeH="0" baseline="0" noProof="0" dirty="0">
                <a:ln>
                  <a:noFill/>
                </a:ln>
                <a:solidFill>
                  <a:prstClr val="black"/>
                </a:solidFill>
                <a:effectLst/>
                <a:uLnTx/>
                <a:uFillTx/>
                <a:latin typeface="Gill Sans MT"/>
                <a:ea typeface="+mn-ea"/>
                <a:cs typeface="+mn-cs"/>
              </a:rPr>
              <a:t>nformation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Gill Sans MT"/>
                <a:ea typeface="+mn-ea"/>
                <a:cs typeface="+mn-cs"/>
              </a:rPr>
              <a:t>I</a:t>
            </a:r>
            <a:r>
              <a:rPr kumimoji="0" lang="en-US" sz="1800" b="0" i="0" u="none" strike="noStrike" kern="1200" cap="none" spc="0" normalizeH="0" baseline="0" noProof="0" dirty="0">
                <a:ln>
                  <a:noFill/>
                </a:ln>
                <a:solidFill>
                  <a:prstClr val="black"/>
                </a:solidFill>
                <a:effectLst/>
                <a:uLnTx/>
                <a:uFillTx/>
                <a:latin typeface="Gill Sans MT"/>
                <a:ea typeface="+mn-ea"/>
                <a:cs typeface="+mn-cs"/>
              </a:rPr>
              <a:t>nterchange</a:t>
            </a:r>
          </a:p>
        </p:txBody>
      </p:sp>
      <p:sp>
        <p:nvSpPr>
          <p:cNvPr id="4" name="Rectangle 3"/>
          <p:cNvSpPr/>
          <p:nvPr/>
        </p:nvSpPr>
        <p:spPr>
          <a:xfrm>
            <a:off x="4572000" y="6400800"/>
            <a:ext cx="2252540" cy="33855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Gill Sans MT"/>
                <a:ea typeface="+mn-ea"/>
                <a:cs typeface="+mn-cs"/>
              </a:rPr>
              <a:t>Encoding </a:t>
            </a:r>
            <a:r>
              <a:rPr kumimoji="0" lang="en-US" sz="1600" b="0"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128</a:t>
            </a:r>
            <a:r>
              <a:rPr kumimoji="0" lang="en-US" sz="1600" b="0" i="0" u="none" strike="noStrike" kern="1200" cap="none" spc="0" normalizeH="0" baseline="0" noProof="0" dirty="0">
                <a:ln>
                  <a:noFill/>
                </a:ln>
                <a:solidFill>
                  <a:prstClr val="black"/>
                </a:solidFill>
                <a:effectLst/>
                <a:uLnTx/>
                <a:uFillTx/>
                <a:latin typeface="Gill Sans MT"/>
                <a:ea typeface="+mn-ea"/>
                <a:cs typeface="+mn-cs"/>
              </a:rPr>
              <a:t> characters</a:t>
            </a:r>
          </a:p>
        </p:txBody>
      </p:sp>
    </p:spTree>
    <p:extLst>
      <p:ext uri="{BB962C8B-B14F-4D97-AF65-F5344CB8AC3E}">
        <p14:creationId xmlns:p14="http://schemas.microsoft.com/office/powerpoint/2010/main" val="28088965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ASCII</a:t>
            </a:r>
          </a:p>
        </p:txBody>
      </p:sp>
      <p:sp>
        <p:nvSpPr>
          <p:cNvPr id="3" name="Slide Number Placeholder 2"/>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35</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graphicFrame>
        <p:nvGraphicFramePr>
          <p:cNvPr id="5" name="Table 4"/>
          <p:cNvGraphicFramePr>
            <a:graphicFrameLocks noGrp="1"/>
          </p:cNvGraphicFramePr>
          <p:nvPr/>
        </p:nvGraphicFramePr>
        <p:xfrm>
          <a:off x="5105400" y="1905000"/>
          <a:ext cx="3048000" cy="3307080"/>
        </p:xfrm>
        <a:graphic>
          <a:graphicData uri="http://schemas.openxmlformats.org/drawingml/2006/table">
            <a:tbl>
              <a:tblPr firstRow="1" firstCol="1" bandRow="1" bandCol="1">
                <a:tableStyleId>{5C22544A-7EE6-4342-B048-85BDC9FD1C3A}</a:tableStyleId>
              </a:tblPr>
              <a:tblGrid>
                <a:gridCol w="12192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457200">
                <a:tc>
                  <a:txBody>
                    <a:bodyPr/>
                    <a:lstStyle/>
                    <a:p>
                      <a:pPr marL="0" marR="0" algn="r">
                        <a:spcBef>
                          <a:spcPts val="0"/>
                        </a:spcBef>
                        <a:spcAft>
                          <a:spcPts val="0"/>
                        </a:spcAft>
                      </a:pPr>
                      <a:r>
                        <a:rPr lang="en-US" sz="1400" b="1" dirty="0">
                          <a:effectLst/>
                          <a:latin typeface="Consolas" panose="020B0609020204030204" pitchFamily="49" charset="0"/>
                          <a:cs typeface="Consolas" panose="020B0609020204030204" pitchFamily="49" charset="0"/>
                        </a:rPr>
                        <a:t>Memory Address</a:t>
                      </a:r>
                      <a:endParaRPr lang="en-US" sz="1600" b="1" dirty="0">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Memory Content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Letter</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00"/>
                  </a:ext>
                </a:extLst>
              </a:tr>
              <a:tr h="236919">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+ 12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solidFill>
                            <a:srgbClr val="FF0000"/>
                          </a:solidFill>
                          <a:effectLst/>
                          <a:latin typeface="Consolas" panose="020B0609020204030204" pitchFamily="49" charset="0"/>
                          <a:cs typeface="Consolas" panose="020B0609020204030204" pitchFamily="49" charset="0"/>
                        </a:rPr>
                        <a:t>0x00</a:t>
                      </a:r>
                      <a:endParaRPr lang="en-US" sz="1600" b="1">
                        <a:solidFill>
                          <a:srgbClr val="FF0000"/>
                        </a:solidFill>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dirty="0">
                          <a:solidFill>
                            <a:srgbClr val="FF0000"/>
                          </a:solidFill>
                          <a:effectLst/>
                          <a:latin typeface="Consolas" panose="020B0609020204030204" pitchFamily="49" charset="0"/>
                          <a:cs typeface="Consolas" panose="020B0609020204030204" pitchFamily="49" charset="0"/>
                        </a:rPr>
                        <a:t>\0</a:t>
                      </a:r>
                      <a:endParaRPr lang="en-US" sz="1600" b="1" dirty="0">
                        <a:solidFill>
                          <a:srgbClr val="FF0000"/>
                        </a:solidFill>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01"/>
                  </a:ext>
                </a:extLst>
              </a:tr>
              <a:tr h="126850">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+ 11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0x79</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dirty="0">
                          <a:effectLst/>
                          <a:latin typeface="Consolas" panose="020B0609020204030204" pitchFamily="49" charset="0"/>
                          <a:cs typeface="Consolas" panose="020B0609020204030204" pitchFamily="49" charset="0"/>
                        </a:rPr>
                        <a:t>y</a:t>
                      </a:r>
                      <a:endParaRPr lang="en-US" sz="1600" b="1" dirty="0">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02"/>
                  </a:ext>
                </a:extLst>
              </a:tr>
              <a:tr h="135735">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+ 10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0x6C</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l</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03"/>
                  </a:ext>
                </a:extLst>
              </a:tr>
              <a:tr h="126850">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+ 9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0x62</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b</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04"/>
                  </a:ext>
                </a:extLst>
              </a:tr>
              <a:tr h="126850">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+ 8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0x6D</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m</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05"/>
                  </a:ext>
                </a:extLst>
              </a:tr>
              <a:tr h="126850">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+ 7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0x65</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e</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06"/>
                  </a:ext>
                </a:extLst>
              </a:tr>
              <a:tr h="135735">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+ 6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0x73</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s</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07"/>
                  </a:ext>
                </a:extLst>
              </a:tr>
              <a:tr h="126850">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+ 5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0x73</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s</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08"/>
                  </a:ext>
                </a:extLst>
              </a:tr>
              <a:tr h="126850">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+ 4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0x41</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A</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09"/>
                  </a:ext>
                </a:extLst>
              </a:tr>
              <a:tr h="266001">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+ 3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0x20</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space</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10"/>
                  </a:ext>
                </a:extLst>
              </a:tr>
              <a:tr h="126850">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+ 2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0x4D</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M</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11"/>
                  </a:ext>
                </a:extLst>
              </a:tr>
              <a:tr h="118459">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+ 1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0x52</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R</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12"/>
                  </a:ext>
                </a:extLst>
              </a:tr>
              <a:tr h="135735">
                <a:tc>
                  <a:txBody>
                    <a:bodyPr/>
                    <a:lstStyle/>
                    <a:p>
                      <a:pPr marL="0" marR="0" algn="r">
                        <a:spcBef>
                          <a:spcPts val="0"/>
                        </a:spcBef>
                        <a:spcAft>
                          <a:spcPts val="0"/>
                        </a:spcAft>
                      </a:pPr>
                      <a:r>
                        <a:rPr lang="en-US" sz="1400" b="1" dirty="0" err="1">
                          <a:effectLst/>
                          <a:latin typeface="Consolas" panose="020B0609020204030204" pitchFamily="49" charset="0"/>
                          <a:cs typeface="Consolas" panose="020B0609020204030204" pitchFamily="49" charset="0"/>
                        </a:rPr>
                        <a:t>str</a:t>
                      </a:r>
                      <a:r>
                        <a:rPr lang="en-US" sz="1400" b="1" dirty="0">
                          <a:effectLst/>
                          <a:latin typeface="Consolas" panose="020B0609020204030204" pitchFamily="49" charset="0"/>
                          <a:cs typeface="Consolas" panose="020B0609020204030204" pitchFamily="49" charset="0"/>
                        </a:rPr>
                        <a:t> </a:t>
                      </a:r>
                      <a:r>
                        <a:rPr lang="en-US" sz="1400" b="1" dirty="0">
                          <a:effectLst/>
                          <a:latin typeface="Consolas" panose="020B0609020204030204" pitchFamily="49" charset="0"/>
                          <a:cs typeface="Consolas" panose="020B0609020204030204" pitchFamily="49" charset="0"/>
                          <a:sym typeface="Symbol"/>
                        </a:rPr>
                        <a:t></a:t>
                      </a:r>
                      <a:endParaRPr lang="en-US" sz="1600" b="1" dirty="0">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0x41</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dirty="0">
                          <a:effectLst/>
                          <a:latin typeface="Consolas" panose="020B0609020204030204" pitchFamily="49" charset="0"/>
                          <a:cs typeface="Consolas" panose="020B0609020204030204" pitchFamily="49" charset="0"/>
                        </a:rPr>
                        <a:t>A</a:t>
                      </a:r>
                      <a:endParaRPr lang="en-US" sz="1600" b="1" dirty="0">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13"/>
                  </a:ext>
                </a:extLst>
              </a:tr>
            </a:tbl>
          </a:graphicData>
        </a:graphic>
      </p:graphicFrame>
      <p:graphicFrame>
        <p:nvGraphicFramePr>
          <p:cNvPr id="6" name="Table 5"/>
          <p:cNvGraphicFramePr>
            <a:graphicFrameLocks noGrp="1"/>
          </p:cNvGraphicFramePr>
          <p:nvPr/>
        </p:nvGraphicFramePr>
        <p:xfrm>
          <a:off x="457200" y="2895600"/>
          <a:ext cx="4419600" cy="1219200"/>
        </p:xfrm>
        <a:graphic>
          <a:graphicData uri="http://schemas.openxmlformats.org/drawingml/2006/table">
            <a:tbl>
              <a:tblPr firstRow="1" firstCol="1" bandRow="1" bandCol="1">
                <a:tableStyleId>{5C22544A-7EE6-4342-B048-85BDC9FD1C3A}</a:tableStyleId>
              </a:tblPr>
              <a:tblGrid>
                <a:gridCol w="4419600">
                  <a:extLst>
                    <a:ext uri="{9D8B030D-6E8A-4147-A177-3AD203B41FA5}">
                      <a16:colId xmlns:a16="http://schemas.microsoft.com/office/drawing/2014/main" val="20000"/>
                    </a:ext>
                  </a:extLst>
                </a:gridCol>
              </a:tblGrid>
              <a:tr h="1219200">
                <a:tc>
                  <a:txBody>
                    <a:bodyPr/>
                    <a:lstStyle/>
                    <a:p>
                      <a:pPr marL="0" marR="0" algn="l">
                        <a:spcBef>
                          <a:spcPts val="0"/>
                        </a:spcBef>
                        <a:spcAft>
                          <a:spcPts val="0"/>
                        </a:spcAft>
                      </a:pPr>
                      <a:r>
                        <a:rPr lang="en-US" sz="1800" dirty="0">
                          <a:solidFill>
                            <a:srgbClr val="C00000"/>
                          </a:solidFill>
                          <a:effectLst/>
                        </a:rPr>
                        <a:t>char </a:t>
                      </a:r>
                      <a:r>
                        <a:rPr lang="en-US" sz="1800" dirty="0" err="1">
                          <a:solidFill>
                            <a:srgbClr val="C00000"/>
                          </a:solidFill>
                          <a:effectLst/>
                        </a:rPr>
                        <a:t>str</a:t>
                      </a:r>
                      <a:r>
                        <a:rPr lang="en-US" sz="1800" dirty="0">
                          <a:solidFill>
                            <a:srgbClr val="C00000"/>
                          </a:solidFill>
                          <a:effectLst/>
                        </a:rPr>
                        <a:t>[13] = “ARM Assembly”;</a:t>
                      </a:r>
                    </a:p>
                    <a:p>
                      <a:pPr marL="0" marR="0" algn="l">
                        <a:spcBef>
                          <a:spcPts val="0"/>
                        </a:spcBef>
                        <a:spcAft>
                          <a:spcPts val="0"/>
                        </a:spcAft>
                      </a:pPr>
                      <a:r>
                        <a:rPr lang="en-US" sz="1800" dirty="0">
                          <a:solidFill>
                            <a:sysClr val="windowText" lastClr="000000"/>
                          </a:solidFill>
                          <a:effectLst/>
                        </a:rPr>
                        <a:t>// The length has to be at least 13 </a:t>
                      </a:r>
                    </a:p>
                    <a:p>
                      <a:pPr marL="0" marR="0" algn="l">
                        <a:spcBef>
                          <a:spcPts val="0"/>
                        </a:spcBef>
                        <a:spcAft>
                          <a:spcPts val="0"/>
                        </a:spcAft>
                      </a:pPr>
                      <a:r>
                        <a:rPr lang="en-US" sz="1800" dirty="0">
                          <a:solidFill>
                            <a:sysClr val="windowText" lastClr="000000"/>
                          </a:solidFill>
                          <a:effectLst/>
                        </a:rPr>
                        <a:t>// even though it has 12 letters. The </a:t>
                      </a:r>
                    </a:p>
                    <a:p>
                      <a:pPr marL="0" marR="0" algn="l">
                        <a:spcBef>
                          <a:spcPts val="0"/>
                        </a:spcBef>
                        <a:spcAft>
                          <a:spcPts val="0"/>
                        </a:spcAft>
                      </a:pPr>
                      <a:r>
                        <a:rPr lang="en-US" sz="1800" dirty="0">
                          <a:solidFill>
                            <a:sysClr val="windowText" lastClr="000000"/>
                          </a:solidFill>
                          <a:effectLst/>
                        </a:rPr>
                        <a:t>// NULL terminator should be included. </a:t>
                      </a:r>
                      <a:endParaRPr lang="en-US" sz="1800" dirty="0">
                        <a:solidFill>
                          <a:sysClr val="windowText" lastClr="000000"/>
                        </a:solidFill>
                        <a:effectLst/>
                        <a:latin typeface="Palatino Linotype"/>
                        <a:ea typeface="宋体"/>
                        <a:cs typeface="Times New Roman"/>
                      </a:endParaRPr>
                    </a:p>
                  </a:txBody>
                  <a:tcPr marL="53307" marR="53307" marT="0" marB="0" anchor="ctr">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41449137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String Comparison</a:t>
            </a:r>
          </a:p>
        </p:txBody>
      </p:sp>
      <p:sp>
        <p:nvSpPr>
          <p:cNvPr id="3" name="Slide Number Placeholder 2"/>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4" name="Content Placeholder 3"/>
          <p:cNvSpPr>
            <a:spLocks noGrp="1"/>
          </p:cNvSpPr>
          <p:nvPr>
            <p:ph sz="quarter" idx="1"/>
          </p:nvPr>
        </p:nvSpPr>
        <p:spPr/>
        <p:txBody>
          <a:bodyPr/>
          <a:lstStyle/>
          <a:p>
            <a:pPr marL="0" indent="0">
              <a:buNone/>
            </a:pPr>
            <a:r>
              <a:rPr lang="en-US" dirty="0"/>
              <a:t>Strings are compared based on their ASCII values</a:t>
            </a:r>
          </a:p>
          <a:p>
            <a:pPr lvl="0"/>
            <a:r>
              <a:rPr lang="en-US" dirty="0"/>
              <a:t>“j” &lt; “jar” &lt; “jargon” &lt; “jargonize”</a:t>
            </a:r>
          </a:p>
          <a:p>
            <a:pPr lvl="0"/>
            <a:r>
              <a:rPr lang="en-US" dirty="0"/>
              <a:t>“CAT” &lt; “Cat” &lt; “DOG” &lt; “Dog” &lt; “cat” &lt; “dog”</a:t>
            </a:r>
          </a:p>
          <a:p>
            <a:pPr lvl="0"/>
            <a:r>
              <a:rPr lang="en-US" dirty="0"/>
              <a:t> “12” &lt; “123” &lt; “2”&lt; “AB” &lt; “Ab” &lt; “ab” &lt; “</a:t>
            </a:r>
            <a:r>
              <a:rPr lang="en-US" dirty="0" err="1"/>
              <a:t>abc</a:t>
            </a:r>
            <a:r>
              <a:rPr lang="en-US" dirty="0"/>
              <a:t>”</a:t>
            </a:r>
          </a:p>
          <a:p>
            <a:pPr marL="0" indent="0">
              <a:buNone/>
            </a:pPr>
            <a:endParaRPr lang="en-US" dirty="0"/>
          </a:p>
        </p:txBody>
      </p:sp>
    </p:spTree>
    <p:extLst>
      <p:ext uri="{BB962C8B-B14F-4D97-AF65-F5344CB8AC3E}">
        <p14:creationId xmlns:p14="http://schemas.microsoft.com/office/powerpoint/2010/main" val="35914791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Find out String Length</a:t>
            </a:r>
          </a:p>
        </p:txBody>
      </p:sp>
      <p:sp>
        <p:nvSpPr>
          <p:cNvPr id="3" name="Slide Number Placeholder 2"/>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37</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graphicFrame>
        <p:nvGraphicFramePr>
          <p:cNvPr id="6" name="Table 5"/>
          <p:cNvGraphicFramePr>
            <a:graphicFrameLocks noGrp="1"/>
          </p:cNvGraphicFramePr>
          <p:nvPr/>
        </p:nvGraphicFramePr>
        <p:xfrm>
          <a:off x="228600" y="2438400"/>
          <a:ext cx="4038600" cy="2895600"/>
        </p:xfrm>
        <a:graphic>
          <a:graphicData uri="http://schemas.openxmlformats.org/drawingml/2006/table">
            <a:tbl>
              <a:tblPr firstRow="1" firstCol="1" bandRow="1">
                <a:tableStyleId>{5C22544A-7EE6-4342-B048-85BDC9FD1C3A}</a:tableStyleId>
              </a:tblPr>
              <a:tblGrid>
                <a:gridCol w="4038600">
                  <a:extLst>
                    <a:ext uri="{9D8B030D-6E8A-4147-A177-3AD203B41FA5}">
                      <a16:colId xmlns:a16="http://schemas.microsoft.com/office/drawing/2014/main" val="20000"/>
                    </a:ext>
                  </a:extLst>
                </a:gridCol>
              </a:tblGrid>
              <a:tr h="313177">
                <a:tc>
                  <a:txBody>
                    <a:bodyPr/>
                    <a:lstStyle/>
                    <a:p>
                      <a:pPr marL="0" marR="0" algn="just">
                        <a:spcBef>
                          <a:spcPts val="0"/>
                        </a:spcBef>
                        <a:spcAft>
                          <a:spcPts val="0"/>
                        </a:spcAft>
                      </a:pPr>
                      <a:r>
                        <a:rPr lang="en-US" sz="1600" dirty="0">
                          <a:effectLst/>
                        </a:rPr>
                        <a:t>Pointer dereference operator </a:t>
                      </a:r>
                      <a:r>
                        <a:rPr lang="en-US" sz="1600" dirty="0">
                          <a:solidFill>
                            <a:srgbClr val="FF0000"/>
                          </a:solidFill>
                          <a:effectLst/>
                        </a:rPr>
                        <a:t>*</a:t>
                      </a:r>
                      <a:endParaRPr lang="en-US" sz="2000"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2582423">
                <a:tc>
                  <a:txBody>
                    <a:bodyPr/>
                    <a:lstStyle/>
                    <a:p>
                      <a:pPr marL="0" marR="0" algn="just">
                        <a:spcBef>
                          <a:spcPts val="0"/>
                        </a:spcBef>
                        <a:spcAft>
                          <a:spcPts val="0"/>
                        </a:spcAft>
                      </a:pPr>
                      <a:r>
                        <a:rPr lang="en-US" sz="1600" b="1" dirty="0" err="1">
                          <a:solidFill>
                            <a:sysClr val="windowText" lastClr="000000"/>
                          </a:solidFill>
                          <a:effectLst/>
                          <a:latin typeface="Consolas" panose="020B0609020204030204" pitchFamily="49" charset="0"/>
                          <a:cs typeface="Consolas" panose="020B0609020204030204" pitchFamily="49" charset="0"/>
                        </a:rPr>
                        <a:t>int</a:t>
                      </a:r>
                      <a:r>
                        <a:rPr lang="en-US" sz="1600" b="1" dirty="0">
                          <a:solidFill>
                            <a:sysClr val="windowText" lastClr="000000"/>
                          </a:solidFill>
                          <a:effectLst/>
                          <a:latin typeface="Consolas" panose="020B0609020204030204" pitchFamily="49" charset="0"/>
                          <a:cs typeface="Consolas" panose="020B0609020204030204" pitchFamily="49" charset="0"/>
                        </a:rPr>
                        <a:t> </a:t>
                      </a:r>
                      <a:r>
                        <a:rPr lang="en-US" sz="1600" b="1" dirty="0" err="1">
                          <a:solidFill>
                            <a:sysClr val="windowText" lastClr="000000"/>
                          </a:solidFill>
                          <a:effectLst/>
                          <a:latin typeface="Consolas" panose="020B0609020204030204" pitchFamily="49" charset="0"/>
                          <a:cs typeface="Consolas" panose="020B0609020204030204" pitchFamily="49" charset="0"/>
                        </a:rPr>
                        <a:t>strlen</a:t>
                      </a:r>
                      <a:r>
                        <a:rPr lang="en-US" sz="1600" b="1" dirty="0">
                          <a:solidFill>
                            <a:sysClr val="windowText" lastClr="000000"/>
                          </a:solidFill>
                          <a:effectLst/>
                          <a:latin typeface="Consolas" panose="020B0609020204030204" pitchFamily="49" charset="0"/>
                          <a:cs typeface="Consolas" panose="020B0609020204030204" pitchFamily="49" charset="0"/>
                        </a:rPr>
                        <a:t> (char *</a:t>
                      </a:r>
                      <a:r>
                        <a:rPr lang="en-US" sz="1600" b="1" dirty="0" err="1">
                          <a:solidFill>
                            <a:sysClr val="windowText" lastClr="000000"/>
                          </a:solidFill>
                          <a:effectLst/>
                          <a:latin typeface="Consolas" panose="020B0609020204030204" pitchFamily="49" charset="0"/>
                          <a:cs typeface="Consolas" panose="020B0609020204030204" pitchFamily="49" charset="0"/>
                        </a:rPr>
                        <a:t>pStr</a:t>
                      </a:r>
                      <a:r>
                        <a:rPr lang="en-US" sz="1600" b="1" dirty="0">
                          <a:solidFill>
                            <a:sysClr val="windowText" lastClr="000000"/>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a:t>
                      </a:r>
                      <a:r>
                        <a:rPr lang="en-US" sz="1600" b="1" dirty="0" err="1">
                          <a:solidFill>
                            <a:sysClr val="windowText" lastClr="000000"/>
                          </a:solidFill>
                          <a:effectLst/>
                          <a:latin typeface="Consolas" panose="020B0609020204030204" pitchFamily="49" charset="0"/>
                          <a:cs typeface="Consolas" panose="020B0609020204030204" pitchFamily="49" charset="0"/>
                        </a:rPr>
                        <a:t>int</a:t>
                      </a:r>
                      <a:r>
                        <a:rPr lang="en-US" sz="1600" b="1" dirty="0">
                          <a:solidFill>
                            <a:sysClr val="windowText" lastClr="000000"/>
                          </a:solidFill>
                          <a:effectLst/>
                          <a:latin typeface="Consolas" panose="020B0609020204030204" pitchFamily="49" charset="0"/>
                          <a:cs typeface="Consolas" panose="020B0609020204030204" pitchFamily="49" charset="0"/>
                        </a:rPr>
                        <a:t> </a:t>
                      </a:r>
                      <a:r>
                        <a:rPr lang="en-US" sz="1600" b="1" dirty="0" err="1">
                          <a:solidFill>
                            <a:sysClr val="windowText" lastClr="000000"/>
                          </a:solidFill>
                          <a:effectLst/>
                          <a:latin typeface="Consolas" panose="020B0609020204030204" pitchFamily="49" charset="0"/>
                          <a:cs typeface="Consolas" panose="020B0609020204030204" pitchFamily="49" charset="0"/>
                        </a:rPr>
                        <a:t>i</a:t>
                      </a:r>
                      <a:r>
                        <a:rPr lang="en-US" sz="1600" b="1" dirty="0">
                          <a:solidFill>
                            <a:sysClr val="windowText" lastClr="000000"/>
                          </a:solidFill>
                          <a:effectLst/>
                          <a:latin typeface="Consolas" panose="020B0609020204030204" pitchFamily="49" charset="0"/>
                          <a:cs typeface="Consolas" panose="020B0609020204030204" pitchFamily="49" charset="0"/>
                        </a:rPr>
                        <a:t> = 0;</a:t>
                      </a:r>
                    </a:p>
                    <a:p>
                      <a:pPr marL="0" marR="0" algn="just">
                        <a:spcBef>
                          <a:spcPts val="0"/>
                        </a:spcBef>
                        <a:spcAft>
                          <a:spcPts val="0"/>
                        </a:spcAft>
                      </a:pPr>
                      <a:endParaRPr lang="en-US" sz="1600" b="1" dirty="0">
                        <a:solidFill>
                          <a:sysClr val="windowText" lastClr="00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 loop until </a:t>
                      </a:r>
                      <a:r>
                        <a:rPr lang="en-US" sz="1600" b="1" dirty="0" err="1">
                          <a:solidFill>
                            <a:sysClr val="windowText" lastClr="000000"/>
                          </a:solidFill>
                          <a:effectLst/>
                          <a:latin typeface="Consolas" panose="020B0609020204030204" pitchFamily="49" charset="0"/>
                          <a:cs typeface="Consolas" panose="020B0609020204030204" pitchFamily="49" charset="0"/>
                        </a:rPr>
                        <a:t>pStr</a:t>
                      </a:r>
                      <a:r>
                        <a:rPr lang="en-US" sz="1600" b="1" dirty="0">
                          <a:solidFill>
                            <a:sysClr val="windowText" lastClr="000000"/>
                          </a:solidFill>
                          <a:effectLst/>
                          <a:latin typeface="Consolas" panose="020B0609020204030204" pitchFamily="49" charset="0"/>
                          <a:cs typeface="Consolas" panose="020B0609020204030204" pitchFamily="49" charset="0"/>
                        </a:rPr>
                        <a:t>[</a:t>
                      </a:r>
                      <a:r>
                        <a:rPr lang="en-US" sz="1600" b="1" dirty="0" err="1">
                          <a:solidFill>
                            <a:sysClr val="windowText" lastClr="000000"/>
                          </a:solidFill>
                          <a:effectLst/>
                          <a:latin typeface="Consolas" panose="020B0609020204030204" pitchFamily="49" charset="0"/>
                          <a:cs typeface="Consolas" panose="020B0609020204030204" pitchFamily="49" charset="0"/>
                        </a:rPr>
                        <a:t>i</a:t>
                      </a:r>
                      <a:r>
                        <a:rPr lang="en-US" sz="1600" b="1" dirty="0">
                          <a:solidFill>
                            <a:sysClr val="windowText" lastClr="000000"/>
                          </a:solidFill>
                          <a:effectLst/>
                          <a:latin typeface="Consolas" panose="020B0609020204030204" pitchFamily="49" charset="0"/>
                          <a:cs typeface="Consolas" panose="020B0609020204030204" pitchFamily="49" charset="0"/>
                        </a:rPr>
                        <a:t>] is NULL</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while( </a:t>
                      </a:r>
                      <a:r>
                        <a:rPr lang="en-US" sz="1600" b="1" dirty="0" err="1">
                          <a:solidFill>
                            <a:srgbClr val="FF0000"/>
                          </a:solidFill>
                          <a:effectLst/>
                          <a:latin typeface="Consolas" panose="020B0609020204030204" pitchFamily="49" charset="0"/>
                          <a:cs typeface="Consolas" panose="020B0609020204030204" pitchFamily="49" charset="0"/>
                        </a:rPr>
                        <a:t>pStr</a:t>
                      </a:r>
                      <a:r>
                        <a:rPr lang="en-US" sz="1600" b="1" dirty="0">
                          <a:solidFill>
                            <a:srgbClr val="FF0000"/>
                          </a:solidFill>
                          <a:effectLst/>
                          <a:latin typeface="Consolas" panose="020B0609020204030204" pitchFamily="49" charset="0"/>
                          <a:cs typeface="Consolas" panose="020B0609020204030204" pitchFamily="49" charset="0"/>
                        </a:rPr>
                        <a:t>[</a:t>
                      </a:r>
                      <a:r>
                        <a:rPr lang="en-US" sz="1600" b="1" dirty="0" err="1">
                          <a:solidFill>
                            <a:srgbClr val="FF0000"/>
                          </a:solidFill>
                          <a:effectLst/>
                          <a:latin typeface="Consolas" panose="020B0609020204030204" pitchFamily="49" charset="0"/>
                          <a:cs typeface="Consolas" panose="020B0609020204030204" pitchFamily="49" charset="0"/>
                        </a:rPr>
                        <a:t>i</a:t>
                      </a:r>
                      <a:r>
                        <a:rPr lang="en-US" sz="1600" b="1" dirty="0">
                          <a:solidFill>
                            <a:srgbClr val="FF0000"/>
                          </a:solidFill>
                          <a:effectLst/>
                          <a:latin typeface="Consolas" panose="020B0609020204030204" pitchFamily="49" charset="0"/>
                          <a:cs typeface="Consolas" panose="020B0609020204030204" pitchFamily="49" charset="0"/>
                        </a:rPr>
                        <a:t>] </a:t>
                      </a:r>
                      <a:r>
                        <a:rPr lang="en-US" sz="1600" b="1" dirty="0">
                          <a:solidFill>
                            <a:sysClr val="windowText" lastClr="000000"/>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a:t>
                      </a:r>
                      <a:r>
                        <a:rPr lang="en-US" sz="1600" b="1" dirty="0" err="1">
                          <a:solidFill>
                            <a:sysClr val="windowText" lastClr="000000"/>
                          </a:solidFill>
                          <a:effectLst/>
                          <a:latin typeface="Consolas" panose="020B0609020204030204" pitchFamily="49" charset="0"/>
                          <a:cs typeface="Consolas" panose="020B0609020204030204" pitchFamily="49" charset="0"/>
                        </a:rPr>
                        <a:t>i</a:t>
                      </a:r>
                      <a:r>
                        <a:rPr lang="en-US" sz="1600" b="1" dirty="0">
                          <a:solidFill>
                            <a:sysClr val="windowText" lastClr="000000"/>
                          </a:solidFill>
                          <a:effectLst/>
                          <a:latin typeface="Consolas" panose="020B0609020204030204" pitchFamily="49" charset="0"/>
                          <a:cs typeface="Consolas" panose="020B0609020204030204" pitchFamily="49" charset="0"/>
                        </a:rPr>
                        <a:t>++;</a:t>
                      </a:r>
                    </a:p>
                    <a:p>
                      <a:pPr marL="0" marR="0" algn="just">
                        <a:spcBef>
                          <a:spcPts val="0"/>
                        </a:spcBef>
                        <a:spcAft>
                          <a:spcPts val="0"/>
                        </a:spcAft>
                      </a:pPr>
                      <a:endParaRPr lang="en-US" sz="1600" b="1" dirty="0">
                        <a:solidFill>
                          <a:sysClr val="windowText" lastClr="00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return </a:t>
                      </a:r>
                      <a:r>
                        <a:rPr lang="en-US" sz="1600" b="1" dirty="0" err="1">
                          <a:solidFill>
                            <a:sysClr val="windowText" lastClr="000000"/>
                          </a:solidFill>
                          <a:effectLst/>
                          <a:latin typeface="Consolas" panose="020B0609020204030204" pitchFamily="49" charset="0"/>
                          <a:cs typeface="Consolas" panose="020B0609020204030204" pitchFamily="49" charset="0"/>
                        </a:rPr>
                        <a:t>i</a:t>
                      </a:r>
                      <a:r>
                        <a:rPr lang="en-US" sz="1600" b="1" dirty="0">
                          <a:solidFill>
                            <a:sysClr val="windowText" lastClr="000000"/>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a:t>
                      </a:r>
                    </a:p>
                  </a:txBody>
                  <a:tcPr marL="68580" marR="68580" marT="0" marB="0">
                    <a:solidFill>
                      <a:schemeClr val="accent1">
                        <a:lumMod val="20000"/>
                        <a:lumOff val="80000"/>
                      </a:schemeClr>
                    </a:solidFill>
                  </a:tcPr>
                </a:tc>
                <a:extLst>
                  <a:ext uri="{0D108BD9-81ED-4DB2-BD59-A6C34878D82A}">
                    <a16:rowId xmlns:a16="http://schemas.microsoft.com/office/drawing/2014/main" val="10001"/>
                  </a:ext>
                </a:extLst>
              </a:tr>
            </a:tbl>
          </a:graphicData>
        </a:graphic>
      </p:graphicFrame>
      <p:graphicFrame>
        <p:nvGraphicFramePr>
          <p:cNvPr id="7" name="Table 6"/>
          <p:cNvGraphicFramePr>
            <a:graphicFrameLocks noGrp="1"/>
          </p:cNvGraphicFramePr>
          <p:nvPr/>
        </p:nvGraphicFramePr>
        <p:xfrm>
          <a:off x="4343400" y="2438400"/>
          <a:ext cx="4724400" cy="2895600"/>
        </p:xfrm>
        <a:graphic>
          <a:graphicData uri="http://schemas.openxmlformats.org/drawingml/2006/table">
            <a:tbl>
              <a:tblPr firstRow="1" firstCol="1" bandRow="1">
                <a:tableStyleId>{5C22544A-7EE6-4342-B048-85BDC9FD1C3A}</a:tableStyleId>
              </a:tblPr>
              <a:tblGrid>
                <a:gridCol w="4724400">
                  <a:extLst>
                    <a:ext uri="{9D8B030D-6E8A-4147-A177-3AD203B41FA5}">
                      <a16:colId xmlns:a16="http://schemas.microsoft.com/office/drawing/2014/main" val="20000"/>
                    </a:ext>
                  </a:extLst>
                </a:gridCol>
              </a:tblGrid>
              <a:tr h="284941">
                <a:tc>
                  <a:txBody>
                    <a:bodyPr/>
                    <a:lstStyle/>
                    <a:p>
                      <a:pPr marL="0" marR="0" algn="just">
                        <a:spcBef>
                          <a:spcPts val="0"/>
                        </a:spcBef>
                        <a:spcAft>
                          <a:spcPts val="0"/>
                        </a:spcAft>
                      </a:pPr>
                      <a:r>
                        <a:rPr lang="en-US" sz="1600" dirty="0">
                          <a:effectLst/>
                        </a:rPr>
                        <a:t>Array subscript operator </a:t>
                      </a:r>
                      <a:r>
                        <a:rPr lang="en-US" sz="1600" dirty="0">
                          <a:solidFill>
                            <a:srgbClr val="FF0000"/>
                          </a:solidFill>
                          <a:effectLst/>
                        </a:rPr>
                        <a:t>[ ]</a:t>
                      </a:r>
                      <a:endParaRPr lang="en-US" sz="2000"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2610659">
                <a:tc>
                  <a:txBody>
                    <a:bodyPr/>
                    <a:lstStyle/>
                    <a:p>
                      <a:pPr marL="0" marR="0" algn="just">
                        <a:spcBef>
                          <a:spcPts val="0"/>
                        </a:spcBef>
                        <a:spcAft>
                          <a:spcPts val="0"/>
                        </a:spcAft>
                      </a:pPr>
                      <a:r>
                        <a:rPr lang="en-US" sz="1600" b="1" dirty="0" err="1">
                          <a:solidFill>
                            <a:sysClr val="windowText" lastClr="000000"/>
                          </a:solidFill>
                          <a:effectLst/>
                          <a:latin typeface="Consolas" panose="020B0609020204030204" pitchFamily="49" charset="0"/>
                          <a:cs typeface="Consolas" panose="020B0609020204030204" pitchFamily="49" charset="0"/>
                        </a:rPr>
                        <a:t>int</a:t>
                      </a:r>
                      <a:r>
                        <a:rPr lang="en-US" sz="1600" b="1" dirty="0">
                          <a:solidFill>
                            <a:sysClr val="windowText" lastClr="000000"/>
                          </a:solidFill>
                          <a:effectLst/>
                          <a:latin typeface="Consolas" panose="020B0609020204030204" pitchFamily="49" charset="0"/>
                          <a:cs typeface="Consolas" panose="020B0609020204030204" pitchFamily="49" charset="0"/>
                        </a:rPr>
                        <a:t> </a:t>
                      </a:r>
                      <a:r>
                        <a:rPr lang="en-US" sz="1600" b="1" dirty="0" err="1">
                          <a:solidFill>
                            <a:sysClr val="windowText" lastClr="000000"/>
                          </a:solidFill>
                          <a:effectLst/>
                          <a:latin typeface="Consolas" panose="020B0609020204030204" pitchFamily="49" charset="0"/>
                          <a:cs typeface="Consolas" panose="020B0609020204030204" pitchFamily="49" charset="0"/>
                        </a:rPr>
                        <a:t>strlen</a:t>
                      </a:r>
                      <a:r>
                        <a:rPr lang="en-US" sz="1600" b="1" dirty="0">
                          <a:solidFill>
                            <a:sysClr val="windowText" lastClr="000000"/>
                          </a:solidFill>
                          <a:effectLst/>
                          <a:latin typeface="Consolas" panose="020B0609020204030204" pitchFamily="49" charset="0"/>
                          <a:cs typeface="Consolas" panose="020B0609020204030204" pitchFamily="49" charset="0"/>
                        </a:rPr>
                        <a:t> (char *</a:t>
                      </a:r>
                      <a:r>
                        <a:rPr lang="en-US" sz="1600" b="1" dirty="0" err="1">
                          <a:solidFill>
                            <a:sysClr val="windowText" lastClr="000000"/>
                          </a:solidFill>
                          <a:effectLst/>
                          <a:latin typeface="Consolas" panose="020B0609020204030204" pitchFamily="49" charset="0"/>
                          <a:cs typeface="Consolas" panose="020B0609020204030204" pitchFamily="49" charset="0"/>
                        </a:rPr>
                        <a:t>pStr</a:t>
                      </a:r>
                      <a:r>
                        <a:rPr lang="en-US" sz="1600" b="1" dirty="0">
                          <a:solidFill>
                            <a:sysClr val="windowText" lastClr="000000"/>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a:t>
                      </a:r>
                      <a:r>
                        <a:rPr lang="en-US" sz="1600" b="1" dirty="0" err="1">
                          <a:solidFill>
                            <a:sysClr val="windowText" lastClr="000000"/>
                          </a:solidFill>
                          <a:effectLst/>
                          <a:latin typeface="Consolas" panose="020B0609020204030204" pitchFamily="49" charset="0"/>
                          <a:cs typeface="Consolas" panose="020B0609020204030204" pitchFamily="49" charset="0"/>
                        </a:rPr>
                        <a:t>int</a:t>
                      </a:r>
                      <a:r>
                        <a:rPr lang="en-US" sz="1600" b="1" dirty="0">
                          <a:solidFill>
                            <a:sysClr val="windowText" lastClr="000000"/>
                          </a:solidFill>
                          <a:effectLst/>
                          <a:latin typeface="Consolas" panose="020B0609020204030204" pitchFamily="49" charset="0"/>
                          <a:cs typeface="Consolas" panose="020B0609020204030204" pitchFamily="49" charset="0"/>
                        </a:rPr>
                        <a:t> </a:t>
                      </a:r>
                      <a:r>
                        <a:rPr lang="en-US" sz="1600" b="1" dirty="0" err="1">
                          <a:solidFill>
                            <a:sysClr val="windowText" lastClr="000000"/>
                          </a:solidFill>
                          <a:effectLst/>
                          <a:latin typeface="Consolas" panose="020B0609020204030204" pitchFamily="49" charset="0"/>
                          <a:cs typeface="Consolas" panose="020B0609020204030204" pitchFamily="49" charset="0"/>
                        </a:rPr>
                        <a:t>i</a:t>
                      </a:r>
                      <a:r>
                        <a:rPr lang="en-US" sz="1600" b="1" dirty="0">
                          <a:solidFill>
                            <a:sysClr val="windowText" lastClr="000000"/>
                          </a:solidFill>
                          <a:effectLst/>
                          <a:latin typeface="Consolas" panose="020B0609020204030204" pitchFamily="49" charset="0"/>
                          <a:cs typeface="Consolas" panose="020B0609020204030204" pitchFamily="49" charset="0"/>
                        </a:rPr>
                        <a:t> = 0;</a:t>
                      </a:r>
                    </a:p>
                    <a:p>
                      <a:pPr marL="0" marR="0" algn="just">
                        <a:spcBef>
                          <a:spcPts val="0"/>
                        </a:spcBef>
                        <a:spcAft>
                          <a:spcPts val="0"/>
                        </a:spcAft>
                      </a:pPr>
                      <a:endParaRPr lang="en-US" sz="1600" b="1" dirty="0">
                        <a:solidFill>
                          <a:sysClr val="windowText" lastClr="00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 loop until *</a:t>
                      </a:r>
                      <a:r>
                        <a:rPr lang="en-US" sz="1600" b="1" dirty="0" err="1">
                          <a:solidFill>
                            <a:sysClr val="windowText" lastClr="000000"/>
                          </a:solidFill>
                          <a:effectLst/>
                          <a:latin typeface="Consolas" panose="020B0609020204030204" pitchFamily="49" charset="0"/>
                          <a:cs typeface="Consolas" panose="020B0609020204030204" pitchFamily="49" charset="0"/>
                        </a:rPr>
                        <a:t>pStr</a:t>
                      </a:r>
                      <a:r>
                        <a:rPr lang="en-US" sz="1600" b="1" dirty="0">
                          <a:solidFill>
                            <a:sysClr val="windowText" lastClr="000000"/>
                          </a:solidFill>
                          <a:effectLst/>
                          <a:latin typeface="Consolas" panose="020B0609020204030204" pitchFamily="49" charset="0"/>
                          <a:cs typeface="Consolas" panose="020B0609020204030204" pitchFamily="49" charset="0"/>
                        </a:rPr>
                        <a:t> is NULL</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while( </a:t>
                      </a:r>
                      <a:r>
                        <a:rPr lang="en-US" sz="1600" b="1" dirty="0">
                          <a:solidFill>
                            <a:srgbClr val="FF0000"/>
                          </a:solidFill>
                          <a:effectLst/>
                          <a:latin typeface="Consolas" panose="020B0609020204030204" pitchFamily="49" charset="0"/>
                          <a:cs typeface="Consolas" panose="020B0609020204030204" pitchFamily="49" charset="0"/>
                        </a:rPr>
                        <a:t>*</a:t>
                      </a:r>
                      <a:r>
                        <a:rPr lang="en-US" sz="1600" b="1" dirty="0" err="1">
                          <a:solidFill>
                            <a:srgbClr val="FF0000"/>
                          </a:solidFill>
                          <a:effectLst/>
                          <a:latin typeface="Consolas" panose="020B0609020204030204" pitchFamily="49" charset="0"/>
                          <a:cs typeface="Consolas" panose="020B0609020204030204" pitchFamily="49" charset="0"/>
                        </a:rPr>
                        <a:t>pStr</a:t>
                      </a:r>
                      <a:r>
                        <a:rPr lang="en-US" sz="1600" b="1" dirty="0">
                          <a:solidFill>
                            <a:srgbClr val="FF0000"/>
                          </a:solidFill>
                          <a:effectLst/>
                          <a:latin typeface="Consolas" panose="020B0609020204030204" pitchFamily="49" charset="0"/>
                          <a:cs typeface="Consolas" panose="020B0609020204030204" pitchFamily="49" charset="0"/>
                        </a:rPr>
                        <a:t> </a:t>
                      </a:r>
                      <a:r>
                        <a:rPr lang="en-US" sz="1600" b="1" dirty="0">
                          <a:solidFill>
                            <a:sysClr val="windowText" lastClr="000000"/>
                          </a:solidFill>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a:t>
                      </a:r>
                      <a:r>
                        <a:rPr lang="en-US" sz="1600" b="1" dirty="0" err="1">
                          <a:solidFill>
                            <a:sysClr val="windowText" lastClr="000000"/>
                          </a:solidFill>
                          <a:effectLst/>
                          <a:latin typeface="Consolas" panose="020B0609020204030204" pitchFamily="49" charset="0"/>
                          <a:cs typeface="Consolas" panose="020B0609020204030204" pitchFamily="49" charset="0"/>
                        </a:rPr>
                        <a:t>i</a:t>
                      </a:r>
                      <a:r>
                        <a:rPr lang="en-US" sz="1600" b="1" dirty="0">
                          <a:solidFill>
                            <a:sysClr val="windowText" lastClr="000000"/>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a:t>
                      </a:r>
                      <a:r>
                        <a:rPr lang="en-US" sz="1600" b="1" dirty="0" err="1">
                          <a:solidFill>
                            <a:sysClr val="windowText" lastClr="000000"/>
                          </a:solidFill>
                          <a:effectLst/>
                          <a:latin typeface="Consolas" panose="020B0609020204030204" pitchFamily="49" charset="0"/>
                          <a:cs typeface="Consolas" panose="020B0609020204030204" pitchFamily="49" charset="0"/>
                        </a:rPr>
                        <a:t>pStr</a:t>
                      </a:r>
                      <a:r>
                        <a:rPr lang="en-US" sz="1600" b="1" dirty="0">
                          <a:solidFill>
                            <a:sysClr val="windowText" lastClr="000000"/>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return </a:t>
                      </a:r>
                      <a:r>
                        <a:rPr lang="en-US" sz="1600" b="1" dirty="0" err="1">
                          <a:solidFill>
                            <a:sysClr val="windowText" lastClr="000000"/>
                          </a:solidFill>
                          <a:effectLst/>
                          <a:latin typeface="Consolas" panose="020B0609020204030204" pitchFamily="49" charset="0"/>
                          <a:cs typeface="Consolas" panose="020B0609020204030204" pitchFamily="49" charset="0"/>
                        </a:rPr>
                        <a:t>i</a:t>
                      </a:r>
                      <a:r>
                        <a:rPr lang="en-US" sz="1600" b="1" dirty="0">
                          <a:solidFill>
                            <a:sysClr val="windowText" lastClr="000000"/>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a:t>
                      </a:r>
                    </a:p>
                  </a:txBody>
                  <a:tcPr marL="68580" marR="68580" marT="0" marB="0">
                    <a:solidFill>
                      <a:schemeClr val="accent1">
                        <a:lumMod val="20000"/>
                        <a:lumOff val="80000"/>
                      </a:schemeClr>
                    </a:solidFill>
                  </a:tcPr>
                </a:tc>
                <a:extLst>
                  <a:ext uri="{0D108BD9-81ED-4DB2-BD59-A6C34878D82A}">
                    <a16:rowId xmlns:a16="http://schemas.microsoft.com/office/drawing/2014/main" val="10001"/>
                  </a:ext>
                </a:extLst>
              </a:tr>
            </a:tbl>
          </a:graphicData>
        </a:graphic>
      </p:graphicFrame>
      <p:sp>
        <p:nvSpPr>
          <p:cNvPr id="8" name="Content Placeholder 3"/>
          <p:cNvSpPr>
            <a:spLocks noGrp="1"/>
          </p:cNvSpPr>
          <p:nvPr>
            <p:ph sz="quarter" idx="1"/>
          </p:nvPr>
        </p:nvSpPr>
        <p:spPr>
          <a:xfrm>
            <a:off x="304800" y="1524000"/>
            <a:ext cx="8229600" cy="762000"/>
          </a:xfrm>
        </p:spPr>
        <p:txBody>
          <a:bodyPr>
            <a:normAutofit/>
          </a:bodyPr>
          <a:lstStyle/>
          <a:p>
            <a:pPr lvl="0"/>
            <a:r>
              <a:rPr lang="en-US" sz="2000" dirty="0"/>
              <a:t>Stings are terminated with a null character (</a:t>
            </a:r>
            <a:r>
              <a:rPr lang="en-US" sz="2000" dirty="0" err="1"/>
              <a:t>NUL</a:t>
            </a:r>
            <a:r>
              <a:rPr lang="en-US" sz="2000" dirty="0"/>
              <a:t>, ASCII value </a:t>
            </a:r>
            <a:r>
              <a:rPr lang="en-US" sz="2000" dirty="0" err="1">
                <a:latin typeface="Consolas" panose="020B0609020204030204" pitchFamily="49" charset="0"/>
                <a:cs typeface="Consolas" panose="020B0609020204030204" pitchFamily="49" charset="0"/>
              </a:rPr>
              <a:t>0x00</a:t>
            </a:r>
            <a:r>
              <a:rPr lang="en-US" sz="2000" dirty="0"/>
              <a:t>)</a:t>
            </a:r>
          </a:p>
          <a:p>
            <a:pPr marL="0" indent="0">
              <a:buNone/>
            </a:pPr>
            <a:endParaRPr lang="en-US" sz="2000" dirty="0"/>
          </a:p>
        </p:txBody>
      </p:sp>
      <p:grpSp>
        <p:nvGrpSpPr>
          <p:cNvPr id="10" name="SMARTInkShape-Group129">
            <a:extLst>
              <a:ext uri="{FF2B5EF4-FFF2-40B4-BE49-F238E27FC236}">
                <a16:creationId xmlns:a16="http://schemas.microsoft.com/office/drawing/2014/main" id="{17DB7E72-051E-4523-8A3A-27B7B44D7259}"/>
              </a:ext>
            </a:extLst>
          </p:cNvPr>
          <p:cNvGrpSpPr/>
          <p:nvPr/>
        </p:nvGrpSpPr>
        <p:grpSpPr>
          <a:xfrm>
            <a:off x="5619756" y="3968773"/>
            <a:ext cx="565145" cy="25378"/>
            <a:chOff x="5619756" y="3968773"/>
            <a:chExt cx="565145" cy="25378"/>
          </a:xfrm>
        </p:grpSpPr>
        <p:sp>
          <p:nvSpPr>
            <p:cNvPr id="4" name="SMARTInkShape-216">
              <a:extLst>
                <a:ext uri="{FF2B5EF4-FFF2-40B4-BE49-F238E27FC236}">
                  <a16:creationId xmlns:a16="http://schemas.microsoft.com/office/drawing/2014/main" id="{94457DD3-0D44-44D9-A336-FB8F096FB8F8}"/>
                </a:ext>
              </a:extLst>
            </p:cNvPr>
            <p:cNvSpPr/>
            <p:nvPr>
              <p:custDataLst>
                <p:tags r:id="rId1"/>
              </p:custDataLst>
            </p:nvPr>
          </p:nvSpPr>
          <p:spPr>
            <a:xfrm>
              <a:off x="5619756" y="3968773"/>
              <a:ext cx="565145" cy="25378"/>
            </a:xfrm>
            <a:custGeom>
              <a:avLst/>
              <a:gdLst/>
              <a:ahLst/>
              <a:cxnLst/>
              <a:rect l="0" t="0" r="0" b="0"/>
              <a:pathLst>
                <a:path w="565145" h="25378">
                  <a:moveTo>
                    <a:pt x="6344" y="12677"/>
                  </a:moveTo>
                  <a:lnTo>
                    <a:pt x="6344" y="12677"/>
                  </a:lnTo>
                  <a:lnTo>
                    <a:pt x="17" y="19004"/>
                  </a:lnTo>
                  <a:lnTo>
                    <a:pt x="0" y="15649"/>
                  </a:lnTo>
                  <a:lnTo>
                    <a:pt x="704" y="15364"/>
                  </a:lnTo>
                  <a:lnTo>
                    <a:pt x="6266" y="18973"/>
                  </a:lnTo>
                  <a:lnTo>
                    <a:pt x="31474" y="19027"/>
                  </a:lnTo>
                  <a:lnTo>
                    <a:pt x="31665" y="22398"/>
                  </a:lnTo>
                  <a:lnTo>
                    <a:pt x="32396" y="23391"/>
                  </a:lnTo>
                  <a:lnTo>
                    <a:pt x="37204" y="25115"/>
                  </a:lnTo>
                  <a:lnTo>
                    <a:pt x="67901" y="25377"/>
                  </a:lnTo>
                  <a:lnTo>
                    <a:pt x="87079" y="25377"/>
                  </a:lnTo>
                  <a:lnTo>
                    <a:pt x="89801" y="24672"/>
                  </a:lnTo>
                  <a:lnTo>
                    <a:pt x="91615" y="23496"/>
                  </a:lnTo>
                  <a:lnTo>
                    <a:pt x="92825" y="22006"/>
                  </a:lnTo>
                  <a:lnTo>
                    <a:pt x="96050" y="20351"/>
                  </a:lnTo>
                  <a:lnTo>
                    <a:pt x="112209" y="19079"/>
                  </a:lnTo>
                  <a:lnTo>
                    <a:pt x="142134" y="17146"/>
                  </a:lnTo>
                  <a:lnTo>
                    <a:pt x="167401" y="13266"/>
                  </a:lnTo>
                  <a:lnTo>
                    <a:pt x="192831" y="10912"/>
                  </a:lnTo>
                  <a:lnTo>
                    <a:pt x="221451" y="7233"/>
                  </a:lnTo>
                  <a:lnTo>
                    <a:pt x="248193" y="5800"/>
                  </a:lnTo>
                  <a:lnTo>
                    <a:pt x="276158" y="1336"/>
                  </a:lnTo>
                  <a:lnTo>
                    <a:pt x="305204" y="156"/>
                  </a:lnTo>
                  <a:lnTo>
                    <a:pt x="336597" y="0"/>
                  </a:lnTo>
                  <a:lnTo>
                    <a:pt x="368300" y="5006"/>
                  </a:lnTo>
                  <a:lnTo>
                    <a:pt x="397066" y="6066"/>
                  </a:lnTo>
                  <a:lnTo>
                    <a:pt x="424150" y="10640"/>
                  </a:lnTo>
                  <a:lnTo>
                    <a:pt x="452455" y="12598"/>
                  </a:lnTo>
                  <a:lnTo>
                    <a:pt x="477293" y="14548"/>
                  </a:lnTo>
                  <a:lnTo>
                    <a:pt x="506721" y="18437"/>
                  </a:lnTo>
                  <a:lnTo>
                    <a:pt x="536774" y="18993"/>
                  </a:lnTo>
                  <a:lnTo>
                    <a:pt x="547624" y="19020"/>
                  </a:lnTo>
                  <a:lnTo>
                    <a:pt x="565144" y="12677"/>
                  </a:lnTo>
                </a:path>
              </a:pathLst>
            </a:cu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SMARTInkShape-217">
              <a:extLst>
                <a:ext uri="{FF2B5EF4-FFF2-40B4-BE49-F238E27FC236}">
                  <a16:creationId xmlns:a16="http://schemas.microsoft.com/office/drawing/2014/main" id="{C57D3D06-C229-430B-AD2E-22E4B66E2C6C}"/>
                </a:ext>
              </a:extLst>
            </p:cNvPr>
            <p:cNvSpPr/>
            <p:nvPr>
              <p:custDataLst>
                <p:tags r:id="rId2"/>
              </p:custDataLst>
            </p:nvPr>
          </p:nvSpPr>
          <p:spPr>
            <a:xfrm>
              <a:off x="5632450" y="3981450"/>
              <a:ext cx="6351" cy="1"/>
            </a:xfrm>
            <a:custGeom>
              <a:avLst/>
              <a:gdLst/>
              <a:ahLst/>
              <a:cxnLst/>
              <a:rect l="0" t="0" r="0" b="0"/>
              <a:pathLst>
                <a:path w="6351" h="1">
                  <a:moveTo>
                    <a:pt x="0" y="0"/>
                  </a:moveTo>
                  <a:lnTo>
                    <a:pt x="0" y="0"/>
                  </a:lnTo>
                  <a:lnTo>
                    <a:pt x="6350" y="0"/>
                  </a:lnTo>
                </a:path>
              </a:pathLst>
            </a:cu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SMARTInkShape-218">
              <a:extLst>
                <a:ext uri="{FF2B5EF4-FFF2-40B4-BE49-F238E27FC236}">
                  <a16:creationId xmlns:a16="http://schemas.microsoft.com/office/drawing/2014/main" id="{E2F3E556-5849-4E46-A750-C6F4D6C78FED}"/>
                </a:ext>
              </a:extLst>
            </p:cNvPr>
            <p:cNvSpPr/>
            <p:nvPr>
              <p:custDataLst>
                <p:tags r:id="rId3"/>
              </p:custDataLst>
            </p:nvPr>
          </p:nvSpPr>
          <p:spPr>
            <a:xfrm>
              <a:off x="5632450" y="3975100"/>
              <a:ext cx="1" cy="6351"/>
            </a:xfrm>
            <a:custGeom>
              <a:avLst/>
              <a:gdLst/>
              <a:ahLst/>
              <a:cxnLst/>
              <a:rect l="0" t="0" r="0" b="0"/>
              <a:pathLst>
                <a:path w="1" h="6351">
                  <a:moveTo>
                    <a:pt x="0" y="0"/>
                  </a:moveTo>
                  <a:lnTo>
                    <a:pt x="0" y="0"/>
                  </a:lnTo>
                  <a:lnTo>
                    <a:pt x="0" y="6350"/>
                  </a:lnTo>
                </a:path>
              </a:pathLst>
            </a:cu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3750009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Convert to Upper Case</a:t>
            </a:r>
          </a:p>
        </p:txBody>
      </p:sp>
      <p:sp>
        <p:nvSpPr>
          <p:cNvPr id="3" name="Slide Number Placeholder 2"/>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38</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graphicFrame>
        <p:nvGraphicFramePr>
          <p:cNvPr id="5" name="Table 4"/>
          <p:cNvGraphicFramePr>
            <a:graphicFrameLocks noGrp="1"/>
          </p:cNvGraphicFramePr>
          <p:nvPr/>
        </p:nvGraphicFramePr>
        <p:xfrm>
          <a:off x="152400" y="3733800"/>
          <a:ext cx="4038600" cy="2362200"/>
        </p:xfrm>
        <a:graphic>
          <a:graphicData uri="http://schemas.openxmlformats.org/drawingml/2006/table">
            <a:tbl>
              <a:tblPr firstRow="1" firstCol="1" bandRow="1">
                <a:tableStyleId>{5C22544A-7EE6-4342-B048-85BDC9FD1C3A}</a:tableStyleId>
              </a:tblPr>
              <a:tblGrid>
                <a:gridCol w="4038600">
                  <a:extLst>
                    <a:ext uri="{9D8B030D-6E8A-4147-A177-3AD203B41FA5}">
                      <a16:colId xmlns:a16="http://schemas.microsoft.com/office/drawing/2014/main" val="20000"/>
                    </a:ext>
                  </a:extLst>
                </a:gridCol>
              </a:tblGrid>
              <a:tr h="266140">
                <a:tc>
                  <a:txBody>
                    <a:bodyPr/>
                    <a:lstStyle/>
                    <a:p>
                      <a:pPr marL="0" marR="0" algn="just">
                        <a:spcBef>
                          <a:spcPts val="0"/>
                        </a:spcBef>
                        <a:spcAft>
                          <a:spcPts val="0"/>
                        </a:spcAft>
                      </a:pPr>
                      <a:r>
                        <a:rPr lang="en-US" sz="1600" dirty="0">
                          <a:effectLst/>
                        </a:rPr>
                        <a:t>Pointer dereference operator </a:t>
                      </a:r>
                      <a:r>
                        <a:rPr lang="en-US" sz="1600" dirty="0">
                          <a:solidFill>
                            <a:srgbClr val="FF0000"/>
                          </a:solidFill>
                          <a:effectLst/>
                        </a:rPr>
                        <a:t>*</a:t>
                      </a:r>
                      <a:endParaRPr lang="en-US" sz="2000"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2096060">
                <a:tc>
                  <a:txBody>
                    <a:bodyPr/>
                    <a:lstStyle/>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void </a:t>
                      </a:r>
                      <a:r>
                        <a:rPr lang="en-US" sz="1600" b="1" dirty="0" err="1">
                          <a:solidFill>
                            <a:sysClr val="windowText" lastClr="000000"/>
                          </a:solidFill>
                          <a:effectLst/>
                          <a:latin typeface="Consolas" panose="020B0609020204030204" pitchFamily="49" charset="0"/>
                          <a:cs typeface="Consolas" panose="020B0609020204030204" pitchFamily="49" charset="0"/>
                        </a:rPr>
                        <a:t>toUpper</a:t>
                      </a:r>
                      <a:r>
                        <a:rPr lang="en-US" sz="1600" b="1" dirty="0">
                          <a:solidFill>
                            <a:sysClr val="windowText" lastClr="000000"/>
                          </a:solidFill>
                          <a:effectLst/>
                          <a:latin typeface="Consolas" panose="020B0609020204030204" pitchFamily="49" charset="0"/>
                          <a:cs typeface="Consolas" panose="020B0609020204030204" pitchFamily="49" charset="0"/>
                        </a:rPr>
                        <a:t>(char *</a:t>
                      </a:r>
                      <a:r>
                        <a:rPr lang="en-US" sz="1600" b="1" dirty="0" err="1">
                          <a:solidFill>
                            <a:sysClr val="windowText" lastClr="000000"/>
                          </a:solidFill>
                          <a:effectLst/>
                          <a:latin typeface="Consolas" panose="020B0609020204030204" pitchFamily="49" charset="0"/>
                          <a:cs typeface="Consolas" panose="020B0609020204030204" pitchFamily="49" charset="0"/>
                        </a:rPr>
                        <a:t>pStr</a:t>
                      </a:r>
                      <a:r>
                        <a:rPr lang="en-US" sz="1600" b="1" dirty="0">
                          <a:solidFill>
                            <a:sysClr val="windowText" lastClr="000000"/>
                          </a:solidFill>
                          <a:effectLst/>
                          <a:latin typeface="Consolas" panose="020B0609020204030204" pitchFamily="49" charset="0"/>
                          <a:cs typeface="Consolas" panose="020B0609020204030204" pitchFamily="49" charset="0"/>
                        </a:rPr>
                        <a:t>){</a:t>
                      </a:r>
                      <a:endParaRPr lang="en-US" sz="2000" b="1" dirty="0">
                        <a:solidFill>
                          <a:sysClr val="windowText" lastClr="00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for(char *p = </a:t>
                      </a:r>
                      <a:r>
                        <a:rPr lang="en-US" sz="1600" b="1" dirty="0" err="1">
                          <a:solidFill>
                            <a:sysClr val="windowText" lastClr="000000"/>
                          </a:solidFill>
                          <a:effectLst/>
                          <a:latin typeface="Consolas" panose="020B0609020204030204" pitchFamily="49" charset="0"/>
                          <a:cs typeface="Consolas" panose="020B0609020204030204" pitchFamily="49" charset="0"/>
                        </a:rPr>
                        <a:t>pStr</a:t>
                      </a:r>
                      <a:r>
                        <a:rPr lang="en-US" sz="1600" b="1" dirty="0">
                          <a:solidFill>
                            <a:sysClr val="windowText" lastClr="000000"/>
                          </a:solidFill>
                          <a:effectLst/>
                          <a:latin typeface="Consolas" panose="020B0609020204030204" pitchFamily="49" charset="0"/>
                          <a:cs typeface="Consolas" panose="020B0609020204030204" pitchFamily="49" charset="0"/>
                        </a:rPr>
                        <a:t>; *p; ++p){ </a:t>
                      </a:r>
                      <a:endParaRPr lang="en-US" sz="2000" b="1" dirty="0">
                        <a:solidFill>
                          <a:sysClr val="windowText" lastClr="00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if(*p &gt;= ’a’ &amp;&amp; *p &lt;= ’z’)</a:t>
                      </a:r>
                      <a:endParaRPr lang="en-US" sz="2000" b="1" dirty="0">
                        <a:solidFill>
                          <a:sysClr val="windowText" lastClr="00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*p</a:t>
                      </a:r>
                      <a:r>
                        <a:rPr lang="en-US" sz="1600" b="1" dirty="0">
                          <a:solidFill>
                            <a:sysClr val="windowText" lastClr="000000"/>
                          </a:solidFill>
                          <a:effectLst/>
                          <a:latin typeface="Consolas" panose="020B0609020204030204" pitchFamily="49" charset="0"/>
                          <a:cs typeface="Consolas" panose="020B0609020204030204" pitchFamily="49" charset="0"/>
                        </a:rPr>
                        <a:t> -= ‘a’ – ‘A’;</a:t>
                      </a:r>
                      <a:endParaRPr lang="en-US" sz="2000" b="1" dirty="0">
                        <a:solidFill>
                          <a:sysClr val="windowText" lastClr="00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//or: *p -= 32;</a:t>
                      </a:r>
                      <a:endParaRPr lang="en-US" sz="2000" b="1" dirty="0">
                        <a:solidFill>
                          <a:sysClr val="windowText" lastClr="00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a:t>
                      </a:r>
                      <a:endParaRPr lang="en-US" sz="2000" b="1" dirty="0">
                        <a:solidFill>
                          <a:sysClr val="windowText" lastClr="00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a:t>
                      </a:r>
                      <a:endParaRPr lang="en-US" sz="2000" b="1" dirty="0">
                        <a:solidFill>
                          <a:sysClr val="windowText" lastClr="000000"/>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lumMod val="20000"/>
                        <a:lumOff val="80000"/>
                      </a:schemeClr>
                    </a:solidFill>
                  </a:tcPr>
                </a:tc>
                <a:extLst>
                  <a:ext uri="{0D108BD9-81ED-4DB2-BD59-A6C34878D82A}">
                    <a16:rowId xmlns:a16="http://schemas.microsoft.com/office/drawing/2014/main" val="10001"/>
                  </a:ext>
                </a:extLst>
              </a:tr>
            </a:tbl>
          </a:graphicData>
        </a:graphic>
      </p:graphicFrame>
      <p:graphicFrame>
        <p:nvGraphicFramePr>
          <p:cNvPr id="4" name="Table 3"/>
          <p:cNvGraphicFramePr>
            <a:graphicFrameLocks noGrp="1"/>
          </p:cNvGraphicFramePr>
          <p:nvPr/>
        </p:nvGraphicFramePr>
        <p:xfrm>
          <a:off x="4343400" y="3733800"/>
          <a:ext cx="4724400" cy="2362200"/>
        </p:xfrm>
        <a:graphic>
          <a:graphicData uri="http://schemas.openxmlformats.org/drawingml/2006/table">
            <a:tbl>
              <a:tblPr firstRow="1" firstCol="1" bandRow="1">
                <a:tableStyleId>{5C22544A-7EE6-4342-B048-85BDC9FD1C3A}</a:tableStyleId>
              </a:tblPr>
              <a:tblGrid>
                <a:gridCol w="4724400">
                  <a:extLst>
                    <a:ext uri="{9D8B030D-6E8A-4147-A177-3AD203B41FA5}">
                      <a16:colId xmlns:a16="http://schemas.microsoft.com/office/drawing/2014/main" val="20000"/>
                    </a:ext>
                  </a:extLst>
                </a:gridCol>
              </a:tblGrid>
              <a:tr h="266140">
                <a:tc>
                  <a:txBody>
                    <a:bodyPr/>
                    <a:lstStyle/>
                    <a:p>
                      <a:pPr marL="0" marR="0" algn="just">
                        <a:spcBef>
                          <a:spcPts val="0"/>
                        </a:spcBef>
                        <a:spcAft>
                          <a:spcPts val="0"/>
                        </a:spcAft>
                      </a:pPr>
                      <a:r>
                        <a:rPr lang="en-US" sz="1600" dirty="0">
                          <a:effectLst/>
                        </a:rPr>
                        <a:t>Array subscript operator </a:t>
                      </a:r>
                      <a:r>
                        <a:rPr lang="en-US" sz="1600" dirty="0">
                          <a:solidFill>
                            <a:srgbClr val="FF0000"/>
                          </a:solidFill>
                          <a:effectLst/>
                        </a:rPr>
                        <a:t>[ ]</a:t>
                      </a:r>
                      <a:endParaRPr lang="en-US" sz="2000"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2096060">
                <a:tc>
                  <a:txBody>
                    <a:bodyPr/>
                    <a:lstStyle/>
                    <a:p>
                      <a:pPr marL="0" marR="0" algn="just">
                        <a:spcBef>
                          <a:spcPts val="0"/>
                        </a:spcBef>
                        <a:spcAft>
                          <a:spcPts val="0"/>
                        </a:spcAft>
                      </a:pPr>
                      <a:r>
                        <a:rPr lang="en-US" sz="1600" dirty="0">
                          <a:solidFill>
                            <a:schemeClr val="tx1"/>
                          </a:solidFill>
                          <a:effectLst/>
                          <a:latin typeface="Consolas" panose="020B0609020204030204" pitchFamily="49" charset="0"/>
                          <a:cs typeface="Consolas" panose="020B0609020204030204" pitchFamily="49" charset="0"/>
                        </a:rPr>
                        <a:t>void </a:t>
                      </a:r>
                      <a:r>
                        <a:rPr lang="en-US" sz="1600" dirty="0" err="1">
                          <a:solidFill>
                            <a:schemeClr val="tx1"/>
                          </a:solidFill>
                          <a:effectLst/>
                          <a:latin typeface="Consolas" panose="020B0609020204030204" pitchFamily="49" charset="0"/>
                          <a:cs typeface="Consolas" panose="020B0609020204030204" pitchFamily="49" charset="0"/>
                        </a:rPr>
                        <a:t>toUpper</a:t>
                      </a:r>
                      <a:r>
                        <a:rPr lang="en-US" sz="1600" dirty="0">
                          <a:solidFill>
                            <a:schemeClr val="tx1"/>
                          </a:solidFill>
                          <a:effectLst/>
                          <a:latin typeface="Consolas" panose="020B0609020204030204" pitchFamily="49" charset="0"/>
                          <a:cs typeface="Consolas" panose="020B0609020204030204" pitchFamily="49" charset="0"/>
                        </a:rPr>
                        <a:t>(char *</a:t>
                      </a:r>
                      <a:r>
                        <a:rPr lang="en-US" sz="1600" dirty="0" err="1">
                          <a:solidFill>
                            <a:schemeClr val="tx1"/>
                          </a:solidFill>
                          <a:effectLst/>
                          <a:latin typeface="Consolas" panose="020B0609020204030204" pitchFamily="49" charset="0"/>
                          <a:cs typeface="Consolas" panose="020B0609020204030204" pitchFamily="49" charset="0"/>
                        </a:rPr>
                        <a:t>pStr</a:t>
                      </a:r>
                      <a:r>
                        <a:rPr lang="en-US" sz="1600" dirty="0">
                          <a:solidFill>
                            <a:schemeClr val="tx1"/>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solidFill>
                            <a:schemeClr val="tx1"/>
                          </a:solidFill>
                          <a:effectLst/>
                          <a:latin typeface="Consolas" panose="020B0609020204030204" pitchFamily="49" charset="0"/>
                          <a:cs typeface="Consolas" panose="020B0609020204030204" pitchFamily="49" charset="0"/>
                        </a:rPr>
                        <a:t>  char c = </a:t>
                      </a:r>
                      <a:r>
                        <a:rPr lang="en-US" sz="1600" dirty="0" err="1">
                          <a:solidFill>
                            <a:schemeClr val="tx1"/>
                          </a:solidFill>
                          <a:effectLst/>
                          <a:latin typeface="Consolas" panose="020B0609020204030204" pitchFamily="49" charset="0"/>
                          <a:cs typeface="Consolas" panose="020B0609020204030204" pitchFamily="49" charset="0"/>
                        </a:rPr>
                        <a:t>pStr</a:t>
                      </a:r>
                      <a:r>
                        <a:rPr lang="en-US" sz="1600" dirty="0">
                          <a:solidFill>
                            <a:schemeClr val="tx1"/>
                          </a:solidFill>
                          <a:effectLst/>
                          <a:latin typeface="Consolas" panose="020B0609020204030204" pitchFamily="49" charset="0"/>
                          <a:cs typeface="Consolas" panose="020B0609020204030204" pitchFamily="49" charset="0"/>
                        </a:rPr>
                        <a:t>[0];</a:t>
                      </a:r>
                    </a:p>
                    <a:p>
                      <a:pPr marL="0" marR="0" algn="just">
                        <a:spcBef>
                          <a:spcPts val="0"/>
                        </a:spcBef>
                        <a:spcAft>
                          <a:spcPts val="0"/>
                        </a:spcAft>
                      </a:pPr>
                      <a:r>
                        <a:rPr lang="en-US" sz="1600" dirty="0">
                          <a:solidFill>
                            <a:schemeClr val="tx1"/>
                          </a:solidFill>
                          <a:effectLst/>
                          <a:latin typeface="Consolas" panose="020B0609020204030204" pitchFamily="49" charset="0"/>
                          <a:cs typeface="Consolas" panose="020B0609020204030204" pitchFamily="49" charset="0"/>
                        </a:rPr>
                        <a:t>  for(</a:t>
                      </a:r>
                      <a:r>
                        <a:rPr lang="en-US" sz="1600" dirty="0" err="1">
                          <a:solidFill>
                            <a:schemeClr val="tx1"/>
                          </a:solidFill>
                          <a:effectLst/>
                          <a:latin typeface="Consolas" panose="020B0609020204030204" pitchFamily="49" charset="0"/>
                          <a:cs typeface="Consolas" panose="020B0609020204030204" pitchFamily="49" charset="0"/>
                        </a:rPr>
                        <a:t>int</a:t>
                      </a:r>
                      <a:r>
                        <a:rPr lang="en-US" sz="1600" dirty="0">
                          <a:solidFill>
                            <a:schemeClr val="tx1"/>
                          </a:solidFill>
                          <a:effectLst/>
                          <a:latin typeface="Consolas" panose="020B0609020204030204" pitchFamily="49" charset="0"/>
                          <a:cs typeface="Consolas" panose="020B0609020204030204" pitchFamily="49" charset="0"/>
                        </a:rPr>
                        <a:t> </a:t>
                      </a:r>
                      <a:r>
                        <a:rPr lang="en-US" sz="1600" dirty="0" err="1">
                          <a:solidFill>
                            <a:schemeClr val="tx1"/>
                          </a:solidFill>
                          <a:effectLst/>
                          <a:latin typeface="Consolas" panose="020B0609020204030204" pitchFamily="49" charset="0"/>
                          <a:cs typeface="Consolas" panose="020B0609020204030204" pitchFamily="49" charset="0"/>
                        </a:rPr>
                        <a:t>i</a:t>
                      </a:r>
                      <a:r>
                        <a:rPr lang="en-US" sz="1600" dirty="0">
                          <a:solidFill>
                            <a:schemeClr val="tx1"/>
                          </a:solidFill>
                          <a:effectLst/>
                          <a:latin typeface="Consolas" panose="020B0609020204030204" pitchFamily="49" charset="0"/>
                          <a:cs typeface="Consolas" panose="020B0609020204030204" pitchFamily="49" charset="0"/>
                        </a:rPr>
                        <a:t> = 0; c; </a:t>
                      </a:r>
                      <a:r>
                        <a:rPr lang="en-US" sz="1600" dirty="0" err="1">
                          <a:solidFill>
                            <a:schemeClr val="tx1"/>
                          </a:solidFill>
                          <a:effectLst/>
                          <a:latin typeface="Consolas" panose="020B0609020204030204" pitchFamily="49" charset="0"/>
                          <a:cs typeface="Consolas" panose="020B0609020204030204" pitchFamily="49" charset="0"/>
                        </a:rPr>
                        <a:t>i</a:t>
                      </a:r>
                      <a:r>
                        <a:rPr lang="en-US" sz="1600" dirty="0">
                          <a:solidFill>
                            <a:schemeClr val="tx1"/>
                          </a:solidFill>
                          <a:effectLst/>
                          <a:latin typeface="Consolas" panose="020B0609020204030204" pitchFamily="49" charset="0"/>
                          <a:cs typeface="Consolas" panose="020B0609020204030204" pitchFamily="49" charset="0"/>
                        </a:rPr>
                        <a:t>++, c = </a:t>
                      </a:r>
                      <a:r>
                        <a:rPr lang="en-US" sz="1600" dirty="0" err="1">
                          <a:solidFill>
                            <a:schemeClr val="tx1"/>
                          </a:solidFill>
                          <a:effectLst/>
                          <a:latin typeface="Consolas" panose="020B0609020204030204" pitchFamily="49" charset="0"/>
                          <a:cs typeface="Consolas" panose="020B0609020204030204" pitchFamily="49" charset="0"/>
                        </a:rPr>
                        <a:t>pStr</a:t>
                      </a:r>
                      <a:r>
                        <a:rPr lang="en-US" sz="1600" dirty="0">
                          <a:solidFill>
                            <a:schemeClr val="tx1"/>
                          </a:solidFill>
                          <a:effectLst/>
                          <a:latin typeface="Consolas" panose="020B0609020204030204" pitchFamily="49" charset="0"/>
                          <a:cs typeface="Consolas" panose="020B0609020204030204" pitchFamily="49" charset="0"/>
                        </a:rPr>
                        <a:t>[</a:t>
                      </a:r>
                      <a:r>
                        <a:rPr lang="en-US" sz="1600" dirty="0" err="1">
                          <a:solidFill>
                            <a:schemeClr val="tx1"/>
                          </a:solidFill>
                          <a:effectLst/>
                          <a:latin typeface="Consolas" panose="020B0609020204030204" pitchFamily="49" charset="0"/>
                          <a:cs typeface="Consolas" panose="020B0609020204030204" pitchFamily="49" charset="0"/>
                        </a:rPr>
                        <a:t>i</a:t>
                      </a:r>
                      <a:r>
                        <a:rPr lang="en-US" sz="1600" dirty="0">
                          <a:solidFill>
                            <a:schemeClr val="tx1"/>
                          </a:solidFill>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solidFill>
                            <a:schemeClr val="tx1"/>
                          </a:solidFill>
                          <a:effectLst/>
                          <a:latin typeface="Consolas" panose="020B0609020204030204" pitchFamily="49" charset="0"/>
                          <a:cs typeface="Consolas" panose="020B0609020204030204" pitchFamily="49" charset="0"/>
                        </a:rPr>
                        <a:t>    if(c &gt;= ’a’ &amp;&amp; c &lt;= ’z’)</a:t>
                      </a:r>
                    </a:p>
                    <a:p>
                      <a:pPr marL="0" marR="0" algn="just">
                        <a:spcBef>
                          <a:spcPts val="0"/>
                        </a:spcBef>
                        <a:spcAft>
                          <a:spcPts val="0"/>
                        </a:spcAft>
                      </a:pPr>
                      <a:r>
                        <a:rPr lang="en-US" sz="1600" dirty="0">
                          <a:solidFill>
                            <a:schemeClr val="tx1"/>
                          </a:solidFill>
                          <a:effectLst/>
                          <a:latin typeface="Consolas" panose="020B0609020204030204" pitchFamily="49" charset="0"/>
                          <a:cs typeface="Consolas" panose="020B0609020204030204" pitchFamily="49" charset="0"/>
                        </a:rPr>
                        <a:t>      </a:t>
                      </a:r>
                      <a:r>
                        <a:rPr lang="en-US" sz="1600" dirty="0" err="1">
                          <a:solidFill>
                            <a:srgbClr val="C00000"/>
                          </a:solidFill>
                          <a:effectLst/>
                          <a:latin typeface="Consolas" panose="020B0609020204030204" pitchFamily="49" charset="0"/>
                          <a:cs typeface="Consolas" panose="020B0609020204030204" pitchFamily="49" charset="0"/>
                        </a:rPr>
                        <a:t>pStr</a:t>
                      </a:r>
                      <a:r>
                        <a:rPr lang="en-US" sz="1600" dirty="0">
                          <a:solidFill>
                            <a:srgbClr val="C00000"/>
                          </a:solidFill>
                          <a:effectLst/>
                          <a:latin typeface="Consolas" panose="020B0609020204030204" pitchFamily="49" charset="0"/>
                          <a:cs typeface="Consolas" panose="020B0609020204030204" pitchFamily="49" charset="0"/>
                        </a:rPr>
                        <a:t>[</a:t>
                      </a:r>
                      <a:r>
                        <a:rPr lang="en-US" sz="1600" dirty="0" err="1">
                          <a:solidFill>
                            <a:srgbClr val="C00000"/>
                          </a:solidFill>
                          <a:effectLst/>
                          <a:latin typeface="Consolas" panose="020B0609020204030204" pitchFamily="49" charset="0"/>
                          <a:cs typeface="Consolas" panose="020B0609020204030204" pitchFamily="49" charset="0"/>
                        </a:rPr>
                        <a:t>i</a:t>
                      </a:r>
                      <a:r>
                        <a:rPr lang="en-US" sz="1600" dirty="0">
                          <a:solidFill>
                            <a:srgbClr val="C00000"/>
                          </a:solidFill>
                          <a:effectLst/>
                          <a:latin typeface="Consolas" panose="020B0609020204030204" pitchFamily="49" charset="0"/>
                          <a:cs typeface="Consolas" panose="020B0609020204030204" pitchFamily="49" charset="0"/>
                        </a:rPr>
                        <a:t>] </a:t>
                      </a:r>
                      <a:r>
                        <a:rPr lang="en-US" sz="1600" dirty="0">
                          <a:solidFill>
                            <a:schemeClr val="tx1"/>
                          </a:solidFill>
                          <a:effectLst/>
                          <a:latin typeface="Consolas" panose="020B0609020204030204" pitchFamily="49" charset="0"/>
                          <a:cs typeface="Consolas" panose="020B0609020204030204" pitchFamily="49" charset="0"/>
                        </a:rPr>
                        <a:t>-= ‘a’ – ‘A’;</a:t>
                      </a:r>
                    </a:p>
                    <a:p>
                      <a:pPr marL="0" marR="0" algn="just">
                        <a:spcBef>
                          <a:spcPts val="0"/>
                        </a:spcBef>
                        <a:spcAft>
                          <a:spcPts val="0"/>
                        </a:spcAft>
                      </a:pPr>
                      <a:r>
                        <a:rPr lang="en-US" sz="1600" dirty="0">
                          <a:solidFill>
                            <a:schemeClr val="tx1"/>
                          </a:solidFill>
                          <a:effectLst/>
                          <a:latin typeface="Consolas" panose="020B0609020204030204" pitchFamily="49" charset="0"/>
                          <a:cs typeface="Consolas" panose="020B0609020204030204" pitchFamily="49" charset="0"/>
                        </a:rPr>
                        <a:t>      // or: </a:t>
                      </a:r>
                      <a:r>
                        <a:rPr lang="en-US" sz="1600" dirty="0" err="1">
                          <a:solidFill>
                            <a:schemeClr val="tx1"/>
                          </a:solidFill>
                          <a:effectLst/>
                          <a:latin typeface="Consolas" panose="020B0609020204030204" pitchFamily="49" charset="0"/>
                          <a:cs typeface="Consolas" panose="020B0609020204030204" pitchFamily="49" charset="0"/>
                        </a:rPr>
                        <a:t>pStr</a:t>
                      </a:r>
                      <a:r>
                        <a:rPr lang="en-US" sz="1600" dirty="0">
                          <a:solidFill>
                            <a:schemeClr val="tx1"/>
                          </a:solidFill>
                          <a:effectLst/>
                          <a:latin typeface="Consolas" panose="020B0609020204030204" pitchFamily="49" charset="0"/>
                          <a:cs typeface="Consolas" panose="020B0609020204030204" pitchFamily="49" charset="0"/>
                        </a:rPr>
                        <a:t>[</a:t>
                      </a:r>
                      <a:r>
                        <a:rPr lang="en-US" sz="1600" dirty="0" err="1">
                          <a:solidFill>
                            <a:schemeClr val="tx1"/>
                          </a:solidFill>
                          <a:effectLst/>
                          <a:latin typeface="Consolas" panose="020B0609020204030204" pitchFamily="49" charset="0"/>
                          <a:cs typeface="Consolas" panose="020B0609020204030204" pitchFamily="49" charset="0"/>
                        </a:rPr>
                        <a:t>i</a:t>
                      </a:r>
                      <a:r>
                        <a:rPr lang="en-US" sz="1600" dirty="0">
                          <a:solidFill>
                            <a:schemeClr val="tx1"/>
                          </a:solidFill>
                          <a:effectLst/>
                          <a:latin typeface="Consolas" panose="020B0609020204030204" pitchFamily="49" charset="0"/>
                          <a:cs typeface="Consolas" panose="020B0609020204030204" pitchFamily="49" charset="0"/>
                        </a:rPr>
                        <a:t>] -= 32;</a:t>
                      </a:r>
                    </a:p>
                    <a:p>
                      <a:pPr marL="0" marR="0" algn="just">
                        <a:spcBef>
                          <a:spcPts val="0"/>
                        </a:spcBef>
                        <a:spcAft>
                          <a:spcPts val="0"/>
                        </a:spcAft>
                      </a:pPr>
                      <a:r>
                        <a:rPr lang="en-US" sz="1600" dirty="0">
                          <a:solidFill>
                            <a:schemeClr val="tx1"/>
                          </a:solidFill>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solidFill>
                            <a:schemeClr val="tx1"/>
                          </a:solidFill>
                          <a:effectLst/>
                          <a:latin typeface="Consolas" panose="020B0609020204030204" pitchFamily="49" charset="0"/>
                          <a:cs typeface="Consolas" panose="020B0609020204030204" pitchFamily="49" charset="0"/>
                        </a:rPr>
                        <a:t>}</a:t>
                      </a:r>
                      <a:endParaRPr lang="en-US" sz="1600" dirty="0">
                        <a:solidFill>
                          <a:schemeClr val="tx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lumMod val="20000"/>
                        <a:lumOff val="80000"/>
                      </a:schemeClr>
                    </a:solidFill>
                  </a:tcPr>
                </a:tc>
                <a:extLst>
                  <a:ext uri="{0D108BD9-81ED-4DB2-BD59-A6C34878D82A}">
                    <a16:rowId xmlns:a16="http://schemas.microsoft.com/office/drawing/2014/main" val="10001"/>
                  </a:ext>
                </a:extLst>
              </a:tr>
            </a:tbl>
          </a:graphicData>
        </a:graphic>
      </p:graphicFrame>
      <p:graphicFrame>
        <p:nvGraphicFramePr>
          <p:cNvPr id="9" name="Table 8"/>
          <p:cNvGraphicFramePr>
            <a:graphicFrameLocks noGrp="1"/>
          </p:cNvGraphicFramePr>
          <p:nvPr/>
        </p:nvGraphicFramePr>
        <p:xfrm>
          <a:off x="76190" y="1244600"/>
          <a:ext cx="8991606" cy="584200"/>
        </p:xfrm>
        <a:graphic>
          <a:graphicData uri="http://schemas.openxmlformats.org/drawingml/2006/table">
            <a:tbl>
              <a:tblPr firstRow="1" bandRow="1">
                <a:tableStyleId>{5C22544A-7EE6-4342-B048-85BDC9FD1C3A}</a:tableStyleId>
              </a:tblPr>
              <a:tblGrid>
                <a:gridCol w="345831">
                  <a:extLst>
                    <a:ext uri="{9D8B030D-6E8A-4147-A177-3AD203B41FA5}">
                      <a16:colId xmlns:a16="http://schemas.microsoft.com/office/drawing/2014/main" val="20000"/>
                    </a:ext>
                  </a:extLst>
                </a:gridCol>
                <a:gridCol w="345831">
                  <a:extLst>
                    <a:ext uri="{9D8B030D-6E8A-4147-A177-3AD203B41FA5}">
                      <a16:colId xmlns:a16="http://schemas.microsoft.com/office/drawing/2014/main" val="20001"/>
                    </a:ext>
                  </a:extLst>
                </a:gridCol>
                <a:gridCol w="345831">
                  <a:extLst>
                    <a:ext uri="{9D8B030D-6E8A-4147-A177-3AD203B41FA5}">
                      <a16:colId xmlns:a16="http://schemas.microsoft.com/office/drawing/2014/main" val="20002"/>
                    </a:ext>
                  </a:extLst>
                </a:gridCol>
                <a:gridCol w="345831">
                  <a:extLst>
                    <a:ext uri="{9D8B030D-6E8A-4147-A177-3AD203B41FA5}">
                      <a16:colId xmlns:a16="http://schemas.microsoft.com/office/drawing/2014/main" val="20003"/>
                    </a:ext>
                  </a:extLst>
                </a:gridCol>
                <a:gridCol w="345831">
                  <a:extLst>
                    <a:ext uri="{9D8B030D-6E8A-4147-A177-3AD203B41FA5}">
                      <a16:colId xmlns:a16="http://schemas.microsoft.com/office/drawing/2014/main" val="20004"/>
                    </a:ext>
                  </a:extLst>
                </a:gridCol>
                <a:gridCol w="345831">
                  <a:extLst>
                    <a:ext uri="{9D8B030D-6E8A-4147-A177-3AD203B41FA5}">
                      <a16:colId xmlns:a16="http://schemas.microsoft.com/office/drawing/2014/main" val="20005"/>
                    </a:ext>
                  </a:extLst>
                </a:gridCol>
                <a:gridCol w="345831">
                  <a:extLst>
                    <a:ext uri="{9D8B030D-6E8A-4147-A177-3AD203B41FA5}">
                      <a16:colId xmlns:a16="http://schemas.microsoft.com/office/drawing/2014/main" val="20006"/>
                    </a:ext>
                  </a:extLst>
                </a:gridCol>
                <a:gridCol w="345831">
                  <a:extLst>
                    <a:ext uri="{9D8B030D-6E8A-4147-A177-3AD203B41FA5}">
                      <a16:colId xmlns:a16="http://schemas.microsoft.com/office/drawing/2014/main" val="20007"/>
                    </a:ext>
                  </a:extLst>
                </a:gridCol>
                <a:gridCol w="345831">
                  <a:extLst>
                    <a:ext uri="{9D8B030D-6E8A-4147-A177-3AD203B41FA5}">
                      <a16:colId xmlns:a16="http://schemas.microsoft.com/office/drawing/2014/main" val="20008"/>
                    </a:ext>
                  </a:extLst>
                </a:gridCol>
                <a:gridCol w="345831">
                  <a:extLst>
                    <a:ext uri="{9D8B030D-6E8A-4147-A177-3AD203B41FA5}">
                      <a16:colId xmlns:a16="http://schemas.microsoft.com/office/drawing/2014/main" val="20009"/>
                    </a:ext>
                  </a:extLst>
                </a:gridCol>
                <a:gridCol w="345831">
                  <a:extLst>
                    <a:ext uri="{9D8B030D-6E8A-4147-A177-3AD203B41FA5}">
                      <a16:colId xmlns:a16="http://schemas.microsoft.com/office/drawing/2014/main" val="20010"/>
                    </a:ext>
                  </a:extLst>
                </a:gridCol>
                <a:gridCol w="345831">
                  <a:extLst>
                    <a:ext uri="{9D8B030D-6E8A-4147-A177-3AD203B41FA5}">
                      <a16:colId xmlns:a16="http://schemas.microsoft.com/office/drawing/2014/main" val="20011"/>
                    </a:ext>
                  </a:extLst>
                </a:gridCol>
                <a:gridCol w="345831">
                  <a:extLst>
                    <a:ext uri="{9D8B030D-6E8A-4147-A177-3AD203B41FA5}">
                      <a16:colId xmlns:a16="http://schemas.microsoft.com/office/drawing/2014/main" val="20012"/>
                    </a:ext>
                  </a:extLst>
                </a:gridCol>
                <a:gridCol w="345831">
                  <a:extLst>
                    <a:ext uri="{9D8B030D-6E8A-4147-A177-3AD203B41FA5}">
                      <a16:colId xmlns:a16="http://schemas.microsoft.com/office/drawing/2014/main" val="20013"/>
                    </a:ext>
                  </a:extLst>
                </a:gridCol>
                <a:gridCol w="345831">
                  <a:extLst>
                    <a:ext uri="{9D8B030D-6E8A-4147-A177-3AD203B41FA5}">
                      <a16:colId xmlns:a16="http://schemas.microsoft.com/office/drawing/2014/main" val="20014"/>
                    </a:ext>
                  </a:extLst>
                </a:gridCol>
                <a:gridCol w="345831">
                  <a:extLst>
                    <a:ext uri="{9D8B030D-6E8A-4147-A177-3AD203B41FA5}">
                      <a16:colId xmlns:a16="http://schemas.microsoft.com/office/drawing/2014/main" val="20015"/>
                    </a:ext>
                  </a:extLst>
                </a:gridCol>
                <a:gridCol w="345831">
                  <a:extLst>
                    <a:ext uri="{9D8B030D-6E8A-4147-A177-3AD203B41FA5}">
                      <a16:colId xmlns:a16="http://schemas.microsoft.com/office/drawing/2014/main" val="20016"/>
                    </a:ext>
                  </a:extLst>
                </a:gridCol>
                <a:gridCol w="345831">
                  <a:extLst>
                    <a:ext uri="{9D8B030D-6E8A-4147-A177-3AD203B41FA5}">
                      <a16:colId xmlns:a16="http://schemas.microsoft.com/office/drawing/2014/main" val="20017"/>
                    </a:ext>
                  </a:extLst>
                </a:gridCol>
                <a:gridCol w="345831">
                  <a:extLst>
                    <a:ext uri="{9D8B030D-6E8A-4147-A177-3AD203B41FA5}">
                      <a16:colId xmlns:a16="http://schemas.microsoft.com/office/drawing/2014/main" val="20018"/>
                    </a:ext>
                  </a:extLst>
                </a:gridCol>
                <a:gridCol w="345831">
                  <a:extLst>
                    <a:ext uri="{9D8B030D-6E8A-4147-A177-3AD203B41FA5}">
                      <a16:colId xmlns:a16="http://schemas.microsoft.com/office/drawing/2014/main" val="20019"/>
                    </a:ext>
                  </a:extLst>
                </a:gridCol>
                <a:gridCol w="345831">
                  <a:extLst>
                    <a:ext uri="{9D8B030D-6E8A-4147-A177-3AD203B41FA5}">
                      <a16:colId xmlns:a16="http://schemas.microsoft.com/office/drawing/2014/main" val="20020"/>
                    </a:ext>
                  </a:extLst>
                </a:gridCol>
                <a:gridCol w="345831">
                  <a:extLst>
                    <a:ext uri="{9D8B030D-6E8A-4147-A177-3AD203B41FA5}">
                      <a16:colId xmlns:a16="http://schemas.microsoft.com/office/drawing/2014/main" val="20021"/>
                    </a:ext>
                  </a:extLst>
                </a:gridCol>
                <a:gridCol w="345831">
                  <a:extLst>
                    <a:ext uri="{9D8B030D-6E8A-4147-A177-3AD203B41FA5}">
                      <a16:colId xmlns:a16="http://schemas.microsoft.com/office/drawing/2014/main" val="20022"/>
                    </a:ext>
                  </a:extLst>
                </a:gridCol>
                <a:gridCol w="345831">
                  <a:extLst>
                    <a:ext uri="{9D8B030D-6E8A-4147-A177-3AD203B41FA5}">
                      <a16:colId xmlns:a16="http://schemas.microsoft.com/office/drawing/2014/main" val="20023"/>
                    </a:ext>
                  </a:extLst>
                </a:gridCol>
                <a:gridCol w="345831">
                  <a:extLst>
                    <a:ext uri="{9D8B030D-6E8A-4147-A177-3AD203B41FA5}">
                      <a16:colId xmlns:a16="http://schemas.microsoft.com/office/drawing/2014/main" val="20024"/>
                    </a:ext>
                  </a:extLst>
                </a:gridCol>
                <a:gridCol w="345831">
                  <a:extLst>
                    <a:ext uri="{9D8B030D-6E8A-4147-A177-3AD203B41FA5}">
                      <a16:colId xmlns:a16="http://schemas.microsoft.com/office/drawing/2014/main" val="20025"/>
                    </a:ext>
                  </a:extLst>
                </a:gridCol>
              </a:tblGrid>
              <a:tr h="292100">
                <a:tc>
                  <a:txBody>
                    <a:bodyPr/>
                    <a:lstStyle/>
                    <a:p>
                      <a:pPr algn="ctr"/>
                      <a:r>
                        <a:rPr lang="en-US" sz="1200" dirty="0">
                          <a:latin typeface="Arial" panose="020B0604020202020204" pitchFamily="34" charset="0"/>
                          <a:cs typeface="Arial" panose="020B0604020202020204" pitchFamily="34" charset="0"/>
                        </a:rPr>
                        <a:t>A</a:t>
                      </a:r>
                    </a:p>
                  </a:txBody>
                  <a:tcPr marL="0" marR="0" marT="0" marB="0" anchor="ctr"/>
                </a:tc>
                <a:tc>
                  <a:txBody>
                    <a:bodyPr/>
                    <a:lstStyle/>
                    <a:p>
                      <a:pPr algn="ctr"/>
                      <a:r>
                        <a:rPr lang="en-US" sz="1200" dirty="0">
                          <a:latin typeface="Arial" panose="020B0604020202020204" pitchFamily="34" charset="0"/>
                          <a:cs typeface="Arial" panose="020B0604020202020204" pitchFamily="34" charset="0"/>
                        </a:rPr>
                        <a:t>B</a:t>
                      </a:r>
                    </a:p>
                  </a:txBody>
                  <a:tcPr anchor="ctr"/>
                </a:tc>
                <a:tc>
                  <a:txBody>
                    <a:bodyPr/>
                    <a:lstStyle/>
                    <a:p>
                      <a:pPr algn="ctr"/>
                      <a:r>
                        <a:rPr lang="en-US" sz="1200" dirty="0">
                          <a:latin typeface="Arial" panose="020B0604020202020204" pitchFamily="34" charset="0"/>
                          <a:cs typeface="Arial" panose="020B0604020202020204" pitchFamily="34" charset="0"/>
                        </a:rPr>
                        <a:t>C</a:t>
                      </a:r>
                    </a:p>
                  </a:txBody>
                  <a:tcPr anchor="ctr"/>
                </a:tc>
                <a:tc>
                  <a:txBody>
                    <a:bodyPr/>
                    <a:lstStyle/>
                    <a:p>
                      <a:pPr algn="ctr"/>
                      <a:r>
                        <a:rPr lang="en-US" sz="1200" dirty="0">
                          <a:latin typeface="Arial" panose="020B0604020202020204" pitchFamily="34" charset="0"/>
                          <a:cs typeface="Arial" panose="020B0604020202020204" pitchFamily="34" charset="0"/>
                        </a:rPr>
                        <a:t>D</a:t>
                      </a:r>
                    </a:p>
                  </a:txBody>
                  <a:tcPr anchor="ctr"/>
                </a:tc>
                <a:tc>
                  <a:txBody>
                    <a:bodyPr/>
                    <a:lstStyle/>
                    <a:p>
                      <a:pPr algn="ctr"/>
                      <a:r>
                        <a:rPr lang="en-US" sz="1200" dirty="0">
                          <a:latin typeface="Arial" panose="020B0604020202020204" pitchFamily="34" charset="0"/>
                          <a:cs typeface="Arial" panose="020B0604020202020204" pitchFamily="34" charset="0"/>
                        </a:rPr>
                        <a:t>E</a:t>
                      </a:r>
                    </a:p>
                  </a:txBody>
                  <a:tcPr anchor="ctr"/>
                </a:tc>
                <a:tc>
                  <a:txBody>
                    <a:bodyPr/>
                    <a:lstStyle/>
                    <a:p>
                      <a:pPr algn="ctr"/>
                      <a:r>
                        <a:rPr lang="en-US" sz="1200" dirty="0">
                          <a:latin typeface="Arial" panose="020B0604020202020204" pitchFamily="34" charset="0"/>
                          <a:cs typeface="Arial" panose="020B0604020202020204" pitchFamily="34" charset="0"/>
                        </a:rPr>
                        <a:t>F</a:t>
                      </a:r>
                    </a:p>
                  </a:txBody>
                  <a:tcPr anchor="ctr"/>
                </a:tc>
                <a:tc>
                  <a:txBody>
                    <a:bodyPr/>
                    <a:lstStyle/>
                    <a:p>
                      <a:pPr algn="ctr"/>
                      <a:r>
                        <a:rPr lang="en-US" sz="1200" dirty="0">
                          <a:latin typeface="Arial" panose="020B0604020202020204" pitchFamily="34" charset="0"/>
                          <a:cs typeface="Arial" panose="020B0604020202020204" pitchFamily="34" charset="0"/>
                        </a:rPr>
                        <a:t>G</a:t>
                      </a:r>
                    </a:p>
                  </a:txBody>
                  <a:tcPr anchor="ctr"/>
                </a:tc>
                <a:tc>
                  <a:txBody>
                    <a:bodyPr/>
                    <a:lstStyle/>
                    <a:p>
                      <a:pPr algn="ctr"/>
                      <a:r>
                        <a:rPr lang="en-US" sz="1200" dirty="0">
                          <a:latin typeface="Arial" panose="020B0604020202020204" pitchFamily="34" charset="0"/>
                          <a:cs typeface="Arial" panose="020B0604020202020204" pitchFamily="34" charset="0"/>
                        </a:rPr>
                        <a:t>H</a:t>
                      </a:r>
                    </a:p>
                  </a:txBody>
                  <a:tcPr anchor="ctr"/>
                </a:tc>
                <a:tc>
                  <a:txBody>
                    <a:bodyPr/>
                    <a:lstStyle/>
                    <a:p>
                      <a:pPr algn="ctr"/>
                      <a:r>
                        <a:rPr lang="en-US" sz="1200" dirty="0">
                          <a:latin typeface="Arial" panose="020B0604020202020204" pitchFamily="34" charset="0"/>
                          <a:cs typeface="Arial" panose="020B0604020202020204" pitchFamily="34" charset="0"/>
                        </a:rPr>
                        <a:t>I</a:t>
                      </a:r>
                    </a:p>
                  </a:txBody>
                  <a:tcPr anchor="ctr"/>
                </a:tc>
                <a:tc>
                  <a:txBody>
                    <a:bodyPr/>
                    <a:lstStyle/>
                    <a:p>
                      <a:pPr algn="ctr"/>
                      <a:r>
                        <a:rPr lang="en-US" sz="1200" dirty="0">
                          <a:latin typeface="Arial" panose="020B0604020202020204" pitchFamily="34" charset="0"/>
                          <a:cs typeface="Arial" panose="020B0604020202020204" pitchFamily="34" charset="0"/>
                        </a:rPr>
                        <a:t>J</a:t>
                      </a:r>
                    </a:p>
                  </a:txBody>
                  <a:tcPr anchor="ctr"/>
                </a:tc>
                <a:tc>
                  <a:txBody>
                    <a:bodyPr/>
                    <a:lstStyle/>
                    <a:p>
                      <a:pPr algn="ctr"/>
                      <a:r>
                        <a:rPr lang="en-US" sz="1200" dirty="0">
                          <a:latin typeface="Arial" panose="020B0604020202020204" pitchFamily="34" charset="0"/>
                          <a:cs typeface="Arial" panose="020B0604020202020204" pitchFamily="34" charset="0"/>
                        </a:rPr>
                        <a:t>K</a:t>
                      </a:r>
                    </a:p>
                  </a:txBody>
                  <a:tcPr anchor="ctr"/>
                </a:tc>
                <a:tc>
                  <a:txBody>
                    <a:bodyPr/>
                    <a:lstStyle/>
                    <a:p>
                      <a:pPr algn="ctr"/>
                      <a:r>
                        <a:rPr lang="en-US" sz="1200" dirty="0">
                          <a:latin typeface="Arial" panose="020B0604020202020204" pitchFamily="34" charset="0"/>
                          <a:cs typeface="Arial" panose="020B0604020202020204" pitchFamily="34" charset="0"/>
                        </a:rPr>
                        <a:t>L</a:t>
                      </a:r>
                    </a:p>
                  </a:txBody>
                  <a:tcPr anchor="ctr"/>
                </a:tc>
                <a:tc>
                  <a:txBody>
                    <a:bodyPr/>
                    <a:lstStyle/>
                    <a:p>
                      <a:pPr algn="ctr"/>
                      <a:r>
                        <a:rPr lang="en-US" sz="1200" dirty="0">
                          <a:latin typeface="Arial" panose="020B0604020202020204" pitchFamily="34" charset="0"/>
                          <a:cs typeface="Arial" panose="020B0604020202020204" pitchFamily="34" charset="0"/>
                        </a:rPr>
                        <a:t>M</a:t>
                      </a:r>
                    </a:p>
                  </a:txBody>
                  <a:tcPr anchor="ctr"/>
                </a:tc>
                <a:tc>
                  <a:txBody>
                    <a:bodyPr/>
                    <a:lstStyle/>
                    <a:p>
                      <a:pPr algn="ctr"/>
                      <a:r>
                        <a:rPr lang="en-US" sz="1200" dirty="0">
                          <a:latin typeface="Arial" panose="020B0604020202020204" pitchFamily="34" charset="0"/>
                          <a:cs typeface="Arial" panose="020B0604020202020204" pitchFamily="34" charset="0"/>
                        </a:rPr>
                        <a:t>N</a:t>
                      </a:r>
                    </a:p>
                  </a:txBody>
                  <a:tcPr anchor="ctr"/>
                </a:tc>
                <a:tc>
                  <a:txBody>
                    <a:bodyPr/>
                    <a:lstStyle/>
                    <a:p>
                      <a:pPr algn="ctr"/>
                      <a:r>
                        <a:rPr lang="en-US" sz="1200" dirty="0">
                          <a:latin typeface="Arial" panose="020B0604020202020204" pitchFamily="34" charset="0"/>
                          <a:cs typeface="Arial" panose="020B0604020202020204" pitchFamily="34" charset="0"/>
                        </a:rPr>
                        <a:t>O</a:t>
                      </a:r>
                    </a:p>
                  </a:txBody>
                  <a:tcPr anchor="ctr"/>
                </a:tc>
                <a:tc>
                  <a:txBody>
                    <a:bodyPr/>
                    <a:lstStyle/>
                    <a:p>
                      <a:pPr algn="ctr"/>
                      <a:r>
                        <a:rPr lang="en-US" sz="1200" dirty="0">
                          <a:latin typeface="Arial" panose="020B0604020202020204" pitchFamily="34" charset="0"/>
                          <a:cs typeface="Arial" panose="020B0604020202020204" pitchFamily="34" charset="0"/>
                        </a:rPr>
                        <a:t>P</a:t>
                      </a:r>
                    </a:p>
                  </a:txBody>
                  <a:tcPr anchor="ctr"/>
                </a:tc>
                <a:tc>
                  <a:txBody>
                    <a:bodyPr/>
                    <a:lstStyle/>
                    <a:p>
                      <a:pPr algn="ctr"/>
                      <a:r>
                        <a:rPr lang="en-US" sz="1200" dirty="0">
                          <a:latin typeface="Arial" panose="020B0604020202020204" pitchFamily="34" charset="0"/>
                          <a:cs typeface="Arial" panose="020B0604020202020204" pitchFamily="34" charset="0"/>
                        </a:rPr>
                        <a:t>Q</a:t>
                      </a:r>
                    </a:p>
                  </a:txBody>
                  <a:tcPr anchor="ctr"/>
                </a:tc>
                <a:tc>
                  <a:txBody>
                    <a:bodyPr/>
                    <a:lstStyle/>
                    <a:p>
                      <a:pPr algn="ctr"/>
                      <a:r>
                        <a:rPr lang="en-US" sz="1200" dirty="0">
                          <a:latin typeface="Arial" panose="020B0604020202020204" pitchFamily="34" charset="0"/>
                          <a:cs typeface="Arial" panose="020B0604020202020204" pitchFamily="34" charset="0"/>
                        </a:rPr>
                        <a:t>R</a:t>
                      </a:r>
                    </a:p>
                  </a:txBody>
                  <a:tcPr anchor="ctr"/>
                </a:tc>
                <a:tc>
                  <a:txBody>
                    <a:bodyPr/>
                    <a:lstStyle/>
                    <a:p>
                      <a:pPr algn="ctr"/>
                      <a:r>
                        <a:rPr lang="en-US" sz="1200" dirty="0">
                          <a:latin typeface="Arial" panose="020B0604020202020204" pitchFamily="34" charset="0"/>
                          <a:cs typeface="Arial" panose="020B0604020202020204" pitchFamily="34" charset="0"/>
                        </a:rPr>
                        <a:t>S</a:t>
                      </a:r>
                    </a:p>
                  </a:txBody>
                  <a:tcPr anchor="ctr"/>
                </a:tc>
                <a:tc>
                  <a:txBody>
                    <a:bodyPr/>
                    <a:lstStyle/>
                    <a:p>
                      <a:pPr algn="ctr"/>
                      <a:r>
                        <a:rPr lang="en-US" sz="1200" dirty="0">
                          <a:latin typeface="Arial" panose="020B0604020202020204" pitchFamily="34" charset="0"/>
                          <a:cs typeface="Arial" panose="020B0604020202020204" pitchFamily="34" charset="0"/>
                        </a:rPr>
                        <a:t>T</a:t>
                      </a:r>
                    </a:p>
                  </a:txBody>
                  <a:tcPr anchor="ctr"/>
                </a:tc>
                <a:tc>
                  <a:txBody>
                    <a:bodyPr/>
                    <a:lstStyle/>
                    <a:p>
                      <a:pPr algn="ctr"/>
                      <a:r>
                        <a:rPr lang="en-US" sz="1200" dirty="0">
                          <a:latin typeface="Arial" panose="020B0604020202020204" pitchFamily="34" charset="0"/>
                          <a:cs typeface="Arial" panose="020B0604020202020204" pitchFamily="34" charset="0"/>
                        </a:rPr>
                        <a:t>U</a:t>
                      </a:r>
                    </a:p>
                  </a:txBody>
                  <a:tcPr anchor="ctr"/>
                </a:tc>
                <a:tc>
                  <a:txBody>
                    <a:bodyPr/>
                    <a:lstStyle/>
                    <a:p>
                      <a:pPr algn="ctr"/>
                      <a:r>
                        <a:rPr lang="en-US" sz="1200" dirty="0">
                          <a:latin typeface="Arial" panose="020B0604020202020204" pitchFamily="34" charset="0"/>
                          <a:cs typeface="Arial" panose="020B0604020202020204" pitchFamily="34" charset="0"/>
                        </a:rPr>
                        <a:t>V</a:t>
                      </a:r>
                    </a:p>
                  </a:txBody>
                  <a:tcPr anchor="ctr"/>
                </a:tc>
                <a:tc>
                  <a:txBody>
                    <a:bodyPr/>
                    <a:lstStyle/>
                    <a:p>
                      <a:pPr algn="ctr"/>
                      <a:r>
                        <a:rPr lang="en-US" sz="1200" dirty="0">
                          <a:latin typeface="Arial" panose="020B0604020202020204" pitchFamily="34" charset="0"/>
                          <a:cs typeface="Arial" panose="020B0604020202020204" pitchFamily="34" charset="0"/>
                        </a:rPr>
                        <a:t>W</a:t>
                      </a:r>
                    </a:p>
                  </a:txBody>
                  <a:tcPr anchor="ctr"/>
                </a:tc>
                <a:tc>
                  <a:txBody>
                    <a:bodyPr/>
                    <a:lstStyle/>
                    <a:p>
                      <a:pPr algn="ctr"/>
                      <a:r>
                        <a:rPr lang="en-US" sz="1200" dirty="0">
                          <a:latin typeface="Arial" panose="020B0604020202020204" pitchFamily="34" charset="0"/>
                          <a:cs typeface="Arial" panose="020B0604020202020204" pitchFamily="34" charset="0"/>
                        </a:rPr>
                        <a:t>X</a:t>
                      </a:r>
                    </a:p>
                  </a:txBody>
                  <a:tcPr anchor="ctr"/>
                </a:tc>
                <a:tc>
                  <a:txBody>
                    <a:bodyPr/>
                    <a:lstStyle/>
                    <a:p>
                      <a:pPr algn="ctr"/>
                      <a:r>
                        <a:rPr lang="en-US" sz="1200" dirty="0">
                          <a:latin typeface="Arial" panose="020B0604020202020204" pitchFamily="34" charset="0"/>
                          <a:cs typeface="Arial" panose="020B0604020202020204" pitchFamily="34" charset="0"/>
                        </a:rPr>
                        <a:t>Y</a:t>
                      </a:r>
                    </a:p>
                  </a:txBody>
                  <a:tcPr anchor="ctr"/>
                </a:tc>
                <a:tc>
                  <a:txBody>
                    <a:bodyPr/>
                    <a:lstStyle/>
                    <a:p>
                      <a:pPr algn="ctr"/>
                      <a:r>
                        <a:rPr lang="en-US" sz="1200" dirty="0">
                          <a:latin typeface="Arial" panose="020B0604020202020204" pitchFamily="34" charset="0"/>
                          <a:cs typeface="Arial" panose="020B0604020202020204" pitchFamily="34" charset="0"/>
                        </a:rPr>
                        <a:t>Z</a:t>
                      </a:r>
                    </a:p>
                  </a:txBody>
                  <a:tcPr anchor="ctr"/>
                </a:tc>
                <a:extLst>
                  <a:ext uri="{0D108BD9-81ED-4DB2-BD59-A6C34878D82A}">
                    <a16:rowId xmlns:a16="http://schemas.microsoft.com/office/drawing/2014/main" val="10000"/>
                  </a:ext>
                </a:extLst>
              </a:tr>
              <a:tr h="292100">
                <a:tc>
                  <a:txBody>
                    <a:bodyPr/>
                    <a:lstStyle/>
                    <a:p>
                      <a:pPr algn="ctr"/>
                      <a:r>
                        <a:rPr lang="en-US" sz="1200" b="1" dirty="0">
                          <a:latin typeface="Arial Narrow" panose="020B0606020202030204" pitchFamily="34" charset="0"/>
                          <a:cs typeface="Arial" panose="020B0604020202020204" pitchFamily="34" charset="0"/>
                        </a:rPr>
                        <a:t>41</a:t>
                      </a:r>
                    </a:p>
                  </a:txBody>
                  <a:tcPr anchor="ctr"/>
                </a:tc>
                <a:tc>
                  <a:txBody>
                    <a:bodyPr/>
                    <a:lstStyle/>
                    <a:p>
                      <a:pPr algn="ctr"/>
                      <a:r>
                        <a:rPr lang="en-US" sz="1200" b="1" dirty="0">
                          <a:latin typeface="Arial Narrow" panose="020B0606020202030204" pitchFamily="34" charset="0"/>
                          <a:cs typeface="Arial" panose="020B0604020202020204" pitchFamily="34" charset="0"/>
                        </a:rPr>
                        <a:t>42</a:t>
                      </a:r>
                    </a:p>
                  </a:txBody>
                  <a:tcPr anchor="ctr"/>
                </a:tc>
                <a:tc>
                  <a:txBody>
                    <a:bodyPr/>
                    <a:lstStyle/>
                    <a:p>
                      <a:pPr algn="ctr"/>
                      <a:r>
                        <a:rPr lang="en-US" sz="1200" b="1" dirty="0">
                          <a:latin typeface="Arial Narrow" panose="020B0606020202030204" pitchFamily="34" charset="0"/>
                          <a:cs typeface="Arial" panose="020B0604020202020204" pitchFamily="34" charset="0"/>
                        </a:rPr>
                        <a:t>43</a:t>
                      </a:r>
                    </a:p>
                  </a:txBody>
                  <a:tcPr anchor="ctr"/>
                </a:tc>
                <a:tc>
                  <a:txBody>
                    <a:bodyPr/>
                    <a:lstStyle/>
                    <a:p>
                      <a:pPr algn="ctr"/>
                      <a:r>
                        <a:rPr lang="en-US" sz="1200" b="1" dirty="0">
                          <a:latin typeface="Arial Narrow" panose="020B0606020202030204" pitchFamily="34" charset="0"/>
                          <a:cs typeface="Arial" panose="020B0604020202020204" pitchFamily="34" charset="0"/>
                        </a:rPr>
                        <a:t>44</a:t>
                      </a:r>
                    </a:p>
                  </a:txBody>
                  <a:tcPr anchor="ctr"/>
                </a:tc>
                <a:tc>
                  <a:txBody>
                    <a:bodyPr/>
                    <a:lstStyle/>
                    <a:p>
                      <a:pPr algn="ctr"/>
                      <a:r>
                        <a:rPr lang="en-US" sz="1200" b="1" dirty="0">
                          <a:latin typeface="Arial Narrow" panose="020B0606020202030204" pitchFamily="34" charset="0"/>
                          <a:cs typeface="Arial" panose="020B0604020202020204" pitchFamily="34" charset="0"/>
                        </a:rPr>
                        <a:t>45</a:t>
                      </a:r>
                    </a:p>
                  </a:txBody>
                  <a:tcPr anchor="ctr"/>
                </a:tc>
                <a:tc>
                  <a:txBody>
                    <a:bodyPr/>
                    <a:lstStyle/>
                    <a:p>
                      <a:pPr algn="ctr"/>
                      <a:r>
                        <a:rPr lang="en-US" sz="1200" b="1" dirty="0">
                          <a:latin typeface="Arial Narrow" panose="020B0606020202030204" pitchFamily="34" charset="0"/>
                          <a:cs typeface="Arial" panose="020B0604020202020204" pitchFamily="34" charset="0"/>
                        </a:rPr>
                        <a:t>46</a:t>
                      </a:r>
                    </a:p>
                  </a:txBody>
                  <a:tcPr anchor="ctr"/>
                </a:tc>
                <a:tc>
                  <a:txBody>
                    <a:bodyPr/>
                    <a:lstStyle/>
                    <a:p>
                      <a:pPr algn="ctr"/>
                      <a:r>
                        <a:rPr lang="en-US" sz="1200" b="1" dirty="0">
                          <a:latin typeface="Arial Narrow" panose="020B0606020202030204" pitchFamily="34" charset="0"/>
                          <a:cs typeface="Arial" panose="020B0604020202020204" pitchFamily="34" charset="0"/>
                        </a:rPr>
                        <a:t>47</a:t>
                      </a:r>
                    </a:p>
                  </a:txBody>
                  <a:tcPr anchor="ctr"/>
                </a:tc>
                <a:tc>
                  <a:txBody>
                    <a:bodyPr/>
                    <a:lstStyle/>
                    <a:p>
                      <a:pPr algn="ctr"/>
                      <a:r>
                        <a:rPr lang="en-US" sz="1200" b="1" dirty="0">
                          <a:latin typeface="Arial Narrow" panose="020B0606020202030204" pitchFamily="34" charset="0"/>
                          <a:cs typeface="Arial" panose="020B0604020202020204" pitchFamily="34" charset="0"/>
                        </a:rPr>
                        <a:t>48</a:t>
                      </a:r>
                    </a:p>
                  </a:txBody>
                  <a:tcPr anchor="ctr"/>
                </a:tc>
                <a:tc>
                  <a:txBody>
                    <a:bodyPr/>
                    <a:lstStyle/>
                    <a:p>
                      <a:pPr algn="ctr"/>
                      <a:r>
                        <a:rPr lang="en-US" sz="1200" b="1" dirty="0">
                          <a:latin typeface="Arial Narrow" panose="020B0606020202030204" pitchFamily="34" charset="0"/>
                          <a:cs typeface="Arial" panose="020B0604020202020204" pitchFamily="34" charset="0"/>
                        </a:rPr>
                        <a:t>49</a:t>
                      </a:r>
                    </a:p>
                  </a:txBody>
                  <a:tcPr anchor="ctr"/>
                </a:tc>
                <a:tc>
                  <a:txBody>
                    <a:bodyPr/>
                    <a:lstStyle/>
                    <a:p>
                      <a:r>
                        <a:rPr lang="en-US" sz="1200" b="1" dirty="0" err="1">
                          <a:latin typeface="Arial Narrow" panose="020B0606020202030204" pitchFamily="34" charset="0"/>
                        </a:rPr>
                        <a:t>4A</a:t>
                      </a:r>
                      <a:endParaRPr lang="en-US" sz="1200" b="1" dirty="0">
                        <a:latin typeface="Arial Narrow" panose="020B0606020202030204" pitchFamily="34" charset="0"/>
                      </a:endParaRPr>
                    </a:p>
                  </a:txBody>
                  <a:tcPr anchor="ctr"/>
                </a:tc>
                <a:tc>
                  <a:txBody>
                    <a:bodyPr/>
                    <a:lstStyle/>
                    <a:p>
                      <a:r>
                        <a:rPr lang="en-US" sz="1200" b="1" dirty="0" err="1">
                          <a:latin typeface="Arial Narrow" panose="020B0606020202030204" pitchFamily="34" charset="0"/>
                        </a:rPr>
                        <a:t>4B</a:t>
                      </a:r>
                      <a:endParaRPr lang="en-US" sz="1200" b="1" dirty="0">
                        <a:latin typeface="Arial Narrow" panose="020B0606020202030204" pitchFamily="34" charset="0"/>
                      </a:endParaRPr>
                    </a:p>
                  </a:txBody>
                  <a:tcPr anchor="ctr"/>
                </a:tc>
                <a:tc>
                  <a:txBody>
                    <a:bodyPr/>
                    <a:lstStyle/>
                    <a:p>
                      <a:r>
                        <a:rPr lang="en-US" sz="1200" b="1" dirty="0" err="1">
                          <a:latin typeface="Arial Narrow" panose="020B0606020202030204" pitchFamily="34" charset="0"/>
                        </a:rPr>
                        <a:t>4C</a:t>
                      </a:r>
                      <a:endParaRPr lang="en-US" sz="1200" b="1" dirty="0">
                        <a:latin typeface="Arial Narrow" panose="020B0606020202030204" pitchFamily="34" charset="0"/>
                      </a:endParaRPr>
                    </a:p>
                  </a:txBody>
                  <a:tcPr anchor="ctr"/>
                </a:tc>
                <a:tc>
                  <a:txBody>
                    <a:bodyPr/>
                    <a:lstStyle/>
                    <a:p>
                      <a:r>
                        <a:rPr lang="en-US" sz="1200" b="1" dirty="0" err="1">
                          <a:latin typeface="Arial Narrow" panose="020B0606020202030204" pitchFamily="34" charset="0"/>
                        </a:rPr>
                        <a:t>4D</a:t>
                      </a:r>
                      <a:endParaRPr lang="en-US" sz="1200" b="1" dirty="0">
                        <a:latin typeface="Arial Narrow" panose="020B0606020202030204" pitchFamily="34" charset="0"/>
                      </a:endParaRPr>
                    </a:p>
                  </a:txBody>
                  <a:tcPr anchor="ctr"/>
                </a:tc>
                <a:tc>
                  <a:txBody>
                    <a:bodyPr/>
                    <a:lstStyle/>
                    <a:p>
                      <a:r>
                        <a:rPr lang="en-US" sz="1200" b="1" dirty="0" err="1">
                          <a:latin typeface="Arial Narrow" panose="020B0606020202030204" pitchFamily="34" charset="0"/>
                        </a:rPr>
                        <a:t>4E</a:t>
                      </a:r>
                      <a:endParaRPr lang="en-US" sz="1200" b="1" dirty="0">
                        <a:latin typeface="Arial Narrow" panose="020B0606020202030204" pitchFamily="34" charset="0"/>
                      </a:endParaRPr>
                    </a:p>
                  </a:txBody>
                  <a:tcPr anchor="ctr"/>
                </a:tc>
                <a:tc>
                  <a:txBody>
                    <a:bodyPr/>
                    <a:lstStyle/>
                    <a:p>
                      <a:r>
                        <a:rPr lang="en-US" sz="1200" b="1" dirty="0" err="1">
                          <a:latin typeface="Arial Narrow" panose="020B0606020202030204" pitchFamily="34" charset="0"/>
                        </a:rPr>
                        <a:t>4F</a:t>
                      </a:r>
                      <a:endParaRPr lang="en-US" sz="1200" b="1" dirty="0">
                        <a:latin typeface="Arial Narrow" panose="020B0606020202030204" pitchFamily="34" charset="0"/>
                      </a:endParaRPr>
                    </a:p>
                  </a:txBody>
                  <a:tcPr anchor="ctr"/>
                </a:tc>
                <a:tc>
                  <a:txBody>
                    <a:bodyPr/>
                    <a:lstStyle/>
                    <a:p>
                      <a:pPr algn="ctr"/>
                      <a:r>
                        <a:rPr lang="en-US" sz="1200" b="1" dirty="0">
                          <a:latin typeface="Arial Narrow" panose="020B0606020202030204" pitchFamily="34" charset="0"/>
                          <a:cs typeface="Arial" panose="020B0604020202020204" pitchFamily="34" charset="0"/>
                        </a:rPr>
                        <a:t>50</a:t>
                      </a:r>
                    </a:p>
                  </a:txBody>
                  <a:tcPr anchor="ctr"/>
                </a:tc>
                <a:tc>
                  <a:txBody>
                    <a:bodyPr/>
                    <a:lstStyle/>
                    <a:p>
                      <a:pPr algn="ctr"/>
                      <a:r>
                        <a:rPr lang="en-US" sz="1200" b="1" dirty="0">
                          <a:latin typeface="Arial Narrow" panose="020B0606020202030204" pitchFamily="34" charset="0"/>
                          <a:cs typeface="Arial" panose="020B0604020202020204" pitchFamily="34" charset="0"/>
                        </a:rPr>
                        <a:t>51</a:t>
                      </a:r>
                    </a:p>
                  </a:txBody>
                  <a:tcPr anchor="ctr"/>
                </a:tc>
                <a:tc>
                  <a:txBody>
                    <a:bodyPr/>
                    <a:lstStyle/>
                    <a:p>
                      <a:pPr algn="ctr"/>
                      <a:r>
                        <a:rPr lang="en-US" sz="1200" b="1" dirty="0">
                          <a:latin typeface="Arial Narrow" panose="020B0606020202030204" pitchFamily="34" charset="0"/>
                          <a:cs typeface="Arial" panose="020B0604020202020204" pitchFamily="34" charset="0"/>
                        </a:rPr>
                        <a:t>52</a:t>
                      </a:r>
                    </a:p>
                  </a:txBody>
                  <a:tcPr anchor="ctr"/>
                </a:tc>
                <a:tc>
                  <a:txBody>
                    <a:bodyPr/>
                    <a:lstStyle/>
                    <a:p>
                      <a:pPr algn="ctr"/>
                      <a:r>
                        <a:rPr lang="en-US" sz="1200" b="1" dirty="0">
                          <a:latin typeface="Arial Narrow" panose="020B0606020202030204" pitchFamily="34" charset="0"/>
                          <a:cs typeface="Arial" panose="020B0604020202020204" pitchFamily="34" charset="0"/>
                        </a:rPr>
                        <a:t>53</a:t>
                      </a:r>
                    </a:p>
                  </a:txBody>
                  <a:tcPr anchor="ctr"/>
                </a:tc>
                <a:tc>
                  <a:txBody>
                    <a:bodyPr/>
                    <a:lstStyle/>
                    <a:p>
                      <a:pPr algn="ctr"/>
                      <a:r>
                        <a:rPr lang="en-US" sz="1200" b="1" dirty="0">
                          <a:latin typeface="Arial Narrow" panose="020B0606020202030204" pitchFamily="34" charset="0"/>
                          <a:cs typeface="Arial" panose="020B0604020202020204" pitchFamily="34" charset="0"/>
                        </a:rPr>
                        <a:t>54</a:t>
                      </a:r>
                    </a:p>
                  </a:txBody>
                  <a:tcPr anchor="ctr"/>
                </a:tc>
                <a:tc>
                  <a:txBody>
                    <a:bodyPr/>
                    <a:lstStyle/>
                    <a:p>
                      <a:pPr algn="ctr"/>
                      <a:r>
                        <a:rPr lang="en-US" sz="1200" b="1" dirty="0">
                          <a:latin typeface="Arial Narrow" panose="020B0606020202030204" pitchFamily="34" charset="0"/>
                          <a:cs typeface="Arial" panose="020B0604020202020204" pitchFamily="34" charset="0"/>
                        </a:rPr>
                        <a:t>55</a:t>
                      </a:r>
                    </a:p>
                  </a:txBody>
                  <a:tcPr anchor="ctr"/>
                </a:tc>
                <a:tc>
                  <a:txBody>
                    <a:bodyPr/>
                    <a:lstStyle/>
                    <a:p>
                      <a:pPr algn="ctr"/>
                      <a:r>
                        <a:rPr lang="en-US" sz="1200" b="1" dirty="0">
                          <a:latin typeface="Arial Narrow" panose="020B0606020202030204" pitchFamily="34" charset="0"/>
                          <a:cs typeface="Arial" panose="020B0604020202020204" pitchFamily="34" charset="0"/>
                        </a:rPr>
                        <a:t>56</a:t>
                      </a:r>
                    </a:p>
                  </a:txBody>
                  <a:tcPr anchor="ctr"/>
                </a:tc>
                <a:tc>
                  <a:txBody>
                    <a:bodyPr/>
                    <a:lstStyle/>
                    <a:p>
                      <a:pPr algn="ctr"/>
                      <a:r>
                        <a:rPr lang="en-US" sz="1200" b="1" dirty="0">
                          <a:latin typeface="Arial Narrow" panose="020B0606020202030204" pitchFamily="34" charset="0"/>
                          <a:cs typeface="Arial" panose="020B0604020202020204" pitchFamily="34" charset="0"/>
                        </a:rPr>
                        <a:t>57</a:t>
                      </a:r>
                    </a:p>
                  </a:txBody>
                  <a:tcPr anchor="ctr"/>
                </a:tc>
                <a:tc>
                  <a:txBody>
                    <a:bodyPr/>
                    <a:lstStyle/>
                    <a:p>
                      <a:pPr algn="ctr"/>
                      <a:r>
                        <a:rPr lang="en-US" sz="1200" b="1" dirty="0">
                          <a:latin typeface="Arial Narrow" panose="020B0606020202030204" pitchFamily="34" charset="0"/>
                          <a:cs typeface="Arial" panose="020B0604020202020204" pitchFamily="34" charset="0"/>
                        </a:rPr>
                        <a:t>58</a:t>
                      </a:r>
                    </a:p>
                  </a:txBody>
                  <a:tcPr anchor="ctr"/>
                </a:tc>
                <a:tc>
                  <a:txBody>
                    <a:bodyPr/>
                    <a:lstStyle/>
                    <a:p>
                      <a:pPr algn="ctr"/>
                      <a:r>
                        <a:rPr lang="en-US" sz="1200" b="1" dirty="0">
                          <a:latin typeface="Arial Narrow" panose="020B0606020202030204" pitchFamily="34" charset="0"/>
                          <a:cs typeface="Arial" panose="020B0604020202020204" pitchFamily="34" charset="0"/>
                        </a:rPr>
                        <a:t>59</a:t>
                      </a:r>
                    </a:p>
                  </a:txBody>
                  <a:tcPr anchor="ctr"/>
                </a:tc>
                <a:tc>
                  <a:txBody>
                    <a:bodyPr/>
                    <a:lstStyle/>
                    <a:p>
                      <a:pPr algn="ctr"/>
                      <a:r>
                        <a:rPr lang="en-US" sz="1200" b="1" dirty="0" err="1">
                          <a:latin typeface="Arial Narrow" panose="020B0606020202030204" pitchFamily="34" charset="0"/>
                          <a:cs typeface="Arial" panose="020B0604020202020204" pitchFamily="34" charset="0"/>
                        </a:rPr>
                        <a:t>5A</a:t>
                      </a:r>
                      <a:endParaRPr lang="en-US" sz="1200" b="1" dirty="0">
                        <a:latin typeface="Arial Narrow" panose="020B0606020202030204" pitchFamily="34" charset="0"/>
                        <a:cs typeface="Arial" panose="020B0604020202020204" pitchFamily="34" charset="0"/>
                      </a:endParaRPr>
                    </a:p>
                  </a:txBody>
                  <a:tcPr anchor="ctr"/>
                </a:tc>
                <a:extLst>
                  <a:ext uri="{0D108BD9-81ED-4DB2-BD59-A6C34878D82A}">
                    <a16:rowId xmlns:a16="http://schemas.microsoft.com/office/drawing/2014/main" val="10001"/>
                  </a:ext>
                </a:extLst>
              </a:tr>
            </a:tbl>
          </a:graphicData>
        </a:graphic>
      </p:graphicFrame>
      <p:graphicFrame>
        <p:nvGraphicFramePr>
          <p:cNvPr id="10" name="Table 9"/>
          <p:cNvGraphicFramePr>
            <a:graphicFrameLocks noGrp="1"/>
          </p:cNvGraphicFramePr>
          <p:nvPr/>
        </p:nvGraphicFramePr>
        <p:xfrm>
          <a:off x="76200" y="2077720"/>
          <a:ext cx="8991606" cy="589280"/>
        </p:xfrm>
        <a:graphic>
          <a:graphicData uri="http://schemas.openxmlformats.org/drawingml/2006/table">
            <a:tbl>
              <a:tblPr firstRow="1" bandRow="1">
                <a:tableStyleId>{5C22544A-7EE6-4342-B048-85BDC9FD1C3A}</a:tableStyleId>
              </a:tblPr>
              <a:tblGrid>
                <a:gridCol w="345831">
                  <a:extLst>
                    <a:ext uri="{9D8B030D-6E8A-4147-A177-3AD203B41FA5}">
                      <a16:colId xmlns:a16="http://schemas.microsoft.com/office/drawing/2014/main" val="20000"/>
                    </a:ext>
                  </a:extLst>
                </a:gridCol>
                <a:gridCol w="345831">
                  <a:extLst>
                    <a:ext uri="{9D8B030D-6E8A-4147-A177-3AD203B41FA5}">
                      <a16:colId xmlns:a16="http://schemas.microsoft.com/office/drawing/2014/main" val="20001"/>
                    </a:ext>
                  </a:extLst>
                </a:gridCol>
                <a:gridCol w="345831">
                  <a:extLst>
                    <a:ext uri="{9D8B030D-6E8A-4147-A177-3AD203B41FA5}">
                      <a16:colId xmlns:a16="http://schemas.microsoft.com/office/drawing/2014/main" val="20002"/>
                    </a:ext>
                  </a:extLst>
                </a:gridCol>
                <a:gridCol w="345831">
                  <a:extLst>
                    <a:ext uri="{9D8B030D-6E8A-4147-A177-3AD203B41FA5}">
                      <a16:colId xmlns:a16="http://schemas.microsoft.com/office/drawing/2014/main" val="20003"/>
                    </a:ext>
                  </a:extLst>
                </a:gridCol>
                <a:gridCol w="345831">
                  <a:extLst>
                    <a:ext uri="{9D8B030D-6E8A-4147-A177-3AD203B41FA5}">
                      <a16:colId xmlns:a16="http://schemas.microsoft.com/office/drawing/2014/main" val="20004"/>
                    </a:ext>
                  </a:extLst>
                </a:gridCol>
                <a:gridCol w="345831">
                  <a:extLst>
                    <a:ext uri="{9D8B030D-6E8A-4147-A177-3AD203B41FA5}">
                      <a16:colId xmlns:a16="http://schemas.microsoft.com/office/drawing/2014/main" val="20005"/>
                    </a:ext>
                  </a:extLst>
                </a:gridCol>
                <a:gridCol w="345831">
                  <a:extLst>
                    <a:ext uri="{9D8B030D-6E8A-4147-A177-3AD203B41FA5}">
                      <a16:colId xmlns:a16="http://schemas.microsoft.com/office/drawing/2014/main" val="20006"/>
                    </a:ext>
                  </a:extLst>
                </a:gridCol>
                <a:gridCol w="345831">
                  <a:extLst>
                    <a:ext uri="{9D8B030D-6E8A-4147-A177-3AD203B41FA5}">
                      <a16:colId xmlns:a16="http://schemas.microsoft.com/office/drawing/2014/main" val="20007"/>
                    </a:ext>
                  </a:extLst>
                </a:gridCol>
                <a:gridCol w="345831">
                  <a:extLst>
                    <a:ext uri="{9D8B030D-6E8A-4147-A177-3AD203B41FA5}">
                      <a16:colId xmlns:a16="http://schemas.microsoft.com/office/drawing/2014/main" val="20008"/>
                    </a:ext>
                  </a:extLst>
                </a:gridCol>
                <a:gridCol w="345831">
                  <a:extLst>
                    <a:ext uri="{9D8B030D-6E8A-4147-A177-3AD203B41FA5}">
                      <a16:colId xmlns:a16="http://schemas.microsoft.com/office/drawing/2014/main" val="20009"/>
                    </a:ext>
                  </a:extLst>
                </a:gridCol>
                <a:gridCol w="345831">
                  <a:extLst>
                    <a:ext uri="{9D8B030D-6E8A-4147-A177-3AD203B41FA5}">
                      <a16:colId xmlns:a16="http://schemas.microsoft.com/office/drawing/2014/main" val="20010"/>
                    </a:ext>
                  </a:extLst>
                </a:gridCol>
                <a:gridCol w="345831">
                  <a:extLst>
                    <a:ext uri="{9D8B030D-6E8A-4147-A177-3AD203B41FA5}">
                      <a16:colId xmlns:a16="http://schemas.microsoft.com/office/drawing/2014/main" val="20011"/>
                    </a:ext>
                  </a:extLst>
                </a:gridCol>
                <a:gridCol w="345831">
                  <a:extLst>
                    <a:ext uri="{9D8B030D-6E8A-4147-A177-3AD203B41FA5}">
                      <a16:colId xmlns:a16="http://schemas.microsoft.com/office/drawing/2014/main" val="20012"/>
                    </a:ext>
                  </a:extLst>
                </a:gridCol>
                <a:gridCol w="345831">
                  <a:extLst>
                    <a:ext uri="{9D8B030D-6E8A-4147-A177-3AD203B41FA5}">
                      <a16:colId xmlns:a16="http://schemas.microsoft.com/office/drawing/2014/main" val="20013"/>
                    </a:ext>
                  </a:extLst>
                </a:gridCol>
                <a:gridCol w="345831">
                  <a:extLst>
                    <a:ext uri="{9D8B030D-6E8A-4147-A177-3AD203B41FA5}">
                      <a16:colId xmlns:a16="http://schemas.microsoft.com/office/drawing/2014/main" val="20014"/>
                    </a:ext>
                  </a:extLst>
                </a:gridCol>
                <a:gridCol w="345831">
                  <a:extLst>
                    <a:ext uri="{9D8B030D-6E8A-4147-A177-3AD203B41FA5}">
                      <a16:colId xmlns:a16="http://schemas.microsoft.com/office/drawing/2014/main" val="20015"/>
                    </a:ext>
                  </a:extLst>
                </a:gridCol>
                <a:gridCol w="345831">
                  <a:extLst>
                    <a:ext uri="{9D8B030D-6E8A-4147-A177-3AD203B41FA5}">
                      <a16:colId xmlns:a16="http://schemas.microsoft.com/office/drawing/2014/main" val="20016"/>
                    </a:ext>
                  </a:extLst>
                </a:gridCol>
                <a:gridCol w="345831">
                  <a:extLst>
                    <a:ext uri="{9D8B030D-6E8A-4147-A177-3AD203B41FA5}">
                      <a16:colId xmlns:a16="http://schemas.microsoft.com/office/drawing/2014/main" val="20017"/>
                    </a:ext>
                  </a:extLst>
                </a:gridCol>
                <a:gridCol w="345831">
                  <a:extLst>
                    <a:ext uri="{9D8B030D-6E8A-4147-A177-3AD203B41FA5}">
                      <a16:colId xmlns:a16="http://schemas.microsoft.com/office/drawing/2014/main" val="20018"/>
                    </a:ext>
                  </a:extLst>
                </a:gridCol>
                <a:gridCol w="345831">
                  <a:extLst>
                    <a:ext uri="{9D8B030D-6E8A-4147-A177-3AD203B41FA5}">
                      <a16:colId xmlns:a16="http://schemas.microsoft.com/office/drawing/2014/main" val="20019"/>
                    </a:ext>
                  </a:extLst>
                </a:gridCol>
                <a:gridCol w="345831">
                  <a:extLst>
                    <a:ext uri="{9D8B030D-6E8A-4147-A177-3AD203B41FA5}">
                      <a16:colId xmlns:a16="http://schemas.microsoft.com/office/drawing/2014/main" val="20020"/>
                    </a:ext>
                  </a:extLst>
                </a:gridCol>
                <a:gridCol w="345831">
                  <a:extLst>
                    <a:ext uri="{9D8B030D-6E8A-4147-A177-3AD203B41FA5}">
                      <a16:colId xmlns:a16="http://schemas.microsoft.com/office/drawing/2014/main" val="20021"/>
                    </a:ext>
                  </a:extLst>
                </a:gridCol>
                <a:gridCol w="345831">
                  <a:extLst>
                    <a:ext uri="{9D8B030D-6E8A-4147-A177-3AD203B41FA5}">
                      <a16:colId xmlns:a16="http://schemas.microsoft.com/office/drawing/2014/main" val="20022"/>
                    </a:ext>
                  </a:extLst>
                </a:gridCol>
                <a:gridCol w="345831">
                  <a:extLst>
                    <a:ext uri="{9D8B030D-6E8A-4147-A177-3AD203B41FA5}">
                      <a16:colId xmlns:a16="http://schemas.microsoft.com/office/drawing/2014/main" val="20023"/>
                    </a:ext>
                  </a:extLst>
                </a:gridCol>
                <a:gridCol w="345831">
                  <a:extLst>
                    <a:ext uri="{9D8B030D-6E8A-4147-A177-3AD203B41FA5}">
                      <a16:colId xmlns:a16="http://schemas.microsoft.com/office/drawing/2014/main" val="20024"/>
                    </a:ext>
                  </a:extLst>
                </a:gridCol>
                <a:gridCol w="345831">
                  <a:extLst>
                    <a:ext uri="{9D8B030D-6E8A-4147-A177-3AD203B41FA5}">
                      <a16:colId xmlns:a16="http://schemas.microsoft.com/office/drawing/2014/main" val="20025"/>
                    </a:ext>
                  </a:extLst>
                </a:gridCol>
              </a:tblGrid>
              <a:tr h="294640">
                <a:tc>
                  <a:txBody>
                    <a:bodyPr/>
                    <a:lstStyle/>
                    <a:p>
                      <a:pPr algn="ctr"/>
                      <a:r>
                        <a:rPr lang="en-US" sz="1200" dirty="0">
                          <a:latin typeface="Arial" panose="020B0604020202020204" pitchFamily="34" charset="0"/>
                          <a:cs typeface="Arial" panose="020B0604020202020204" pitchFamily="34" charset="0"/>
                        </a:rPr>
                        <a:t>a</a:t>
                      </a:r>
                    </a:p>
                  </a:txBody>
                  <a:tcPr marL="0" marR="0" marT="0" marB="0" anchor="ctr"/>
                </a:tc>
                <a:tc>
                  <a:txBody>
                    <a:bodyPr/>
                    <a:lstStyle/>
                    <a:p>
                      <a:pPr algn="ctr"/>
                      <a:r>
                        <a:rPr lang="en-US" sz="1200" dirty="0">
                          <a:latin typeface="Arial" panose="020B0604020202020204" pitchFamily="34" charset="0"/>
                          <a:cs typeface="Arial" panose="020B0604020202020204" pitchFamily="34" charset="0"/>
                        </a:rPr>
                        <a:t>b</a:t>
                      </a:r>
                    </a:p>
                  </a:txBody>
                  <a:tcPr anchor="ctr"/>
                </a:tc>
                <a:tc>
                  <a:txBody>
                    <a:bodyPr/>
                    <a:lstStyle/>
                    <a:p>
                      <a:pPr algn="ctr"/>
                      <a:r>
                        <a:rPr lang="en-US" sz="1200" dirty="0">
                          <a:latin typeface="Arial" panose="020B0604020202020204" pitchFamily="34" charset="0"/>
                          <a:cs typeface="Arial" panose="020B0604020202020204" pitchFamily="34" charset="0"/>
                        </a:rPr>
                        <a:t>c</a:t>
                      </a:r>
                    </a:p>
                  </a:txBody>
                  <a:tcPr anchor="ctr"/>
                </a:tc>
                <a:tc>
                  <a:txBody>
                    <a:bodyPr/>
                    <a:lstStyle/>
                    <a:p>
                      <a:pPr algn="ctr"/>
                      <a:r>
                        <a:rPr lang="en-US" sz="1200" dirty="0">
                          <a:latin typeface="Arial" panose="020B0604020202020204" pitchFamily="34" charset="0"/>
                          <a:cs typeface="Arial" panose="020B0604020202020204" pitchFamily="34" charset="0"/>
                        </a:rPr>
                        <a:t>d</a:t>
                      </a:r>
                    </a:p>
                  </a:txBody>
                  <a:tcPr anchor="ctr"/>
                </a:tc>
                <a:tc>
                  <a:txBody>
                    <a:bodyPr/>
                    <a:lstStyle/>
                    <a:p>
                      <a:pPr algn="ctr"/>
                      <a:r>
                        <a:rPr lang="en-US" sz="1200" dirty="0">
                          <a:latin typeface="Arial" panose="020B0604020202020204" pitchFamily="34" charset="0"/>
                          <a:cs typeface="Arial" panose="020B0604020202020204" pitchFamily="34" charset="0"/>
                        </a:rPr>
                        <a:t>e</a:t>
                      </a:r>
                    </a:p>
                  </a:txBody>
                  <a:tcPr anchor="ctr"/>
                </a:tc>
                <a:tc>
                  <a:txBody>
                    <a:bodyPr/>
                    <a:lstStyle/>
                    <a:p>
                      <a:pPr algn="ctr"/>
                      <a:r>
                        <a:rPr lang="en-US" sz="1200" dirty="0">
                          <a:latin typeface="Arial" panose="020B0604020202020204" pitchFamily="34" charset="0"/>
                          <a:cs typeface="Arial" panose="020B0604020202020204" pitchFamily="34" charset="0"/>
                        </a:rPr>
                        <a:t>f</a:t>
                      </a:r>
                    </a:p>
                  </a:txBody>
                  <a:tcPr anchor="ctr"/>
                </a:tc>
                <a:tc>
                  <a:txBody>
                    <a:bodyPr/>
                    <a:lstStyle/>
                    <a:p>
                      <a:pPr algn="ctr"/>
                      <a:r>
                        <a:rPr lang="en-US" sz="1200" dirty="0">
                          <a:latin typeface="Arial" panose="020B0604020202020204" pitchFamily="34" charset="0"/>
                          <a:cs typeface="Arial" panose="020B0604020202020204" pitchFamily="34" charset="0"/>
                        </a:rPr>
                        <a:t>g</a:t>
                      </a:r>
                    </a:p>
                  </a:txBody>
                  <a:tcPr anchor="ctr"/>
                </a:tc>
                <a:tc>
                  <a:txBody>
                    <a:bodyPr/>
                    <a:lstStyle/>
                    <a:p>
                      <a:pPr algn="ctr"/>
                      <a:r>
                        <a:rPr lang="en-US" sz="1200" dirty="0">
                          <a:latin typeface="Arial" panose="020B0604020202020204" pitchFamily="34" charset="0"/>
                          <a:cs typeface="Arial" panose="020B0604020202020204" pitchFamily="34" charset="0"/>
                        </a:rPr>
                        <a:t>h</a:t>
                      </a:r>
                    </a:p>
                  </a:txBody>
                  <a:tcPr anchor="ctr"/>
                </a:tc>
                <a:tc>
                  <a:txBody>
                    <a:bodyPr/>
                    <a:lstStyle/>
                    <a:p>
                      <a:pPr algn="ctr"/>
                      <a:r>
                        <a:rPr lang="en-US" sz="1200" dirty="0" err="1">
                          <a:latin typeface="Arial" panose="020B0604020202020204" pitchFamily="34" charset="0"/>
                          <a:cs typeface="Arial" panose="020B0604020202020204" pitchFamily="34" charset="0"/>
                        </a:rPr>
                        <a:t>i</a:t>
                      </a:r>
                      <a:endParaRPr lang="en-US" sz="1200" dirty="0">
                        <a:latin typeface="Arial" panose="020B0604020202020204" pitchFamily="34" charset="0"/>
                        <a:cs typeface="Arial" panose="020B0604020202020204" pitchFamily="34" charset="0"/>
                      </a:endParaRPr>
                    </a:p>
                  </a:txBody>
                  <a:tcPr anchor="ctr"/>
                </a:tc>
                <a:tc>
                  <a:txBody>
                    <a:bodyPr/>
                    <a:lstStyle/>
                    <a:p>
                      <a:pPr algn="ctr"/>
                      <a:r>
                        <a:rPr lang="en-US" sz="1200" dirty="0">
                          <a:latin typeface="Arial" panose="020B0604020202020204" pitchFamily="34" charset="0"/>
                          <a:cs typeface="Arial" panose="020B0604020202020204" pitchFamily="34" charset="0"/>
                        </a:rPr>
                        <a:t>j</a:t>
                      </a:r>
                    </a:p>
                  </a:txBody>
                  <a:tcPr anchor="ctr"/>
                </a:tc>
                <a:tc>
                  <a:txBody>
                    <a:bodyPr/>
                    <a:lstStyle/>
                    <a:p>
                      <a:pPr algn="ctr"/>
                      <a:r>
                        <a:rPr lang="en-US" sz="1200" dirty="0">
                          <a:latin typeface="Arial" panose="020B0604020202020204" pitchFamily="34" charset="0"/>
                          <a:cs typeface="Arial" panose="020B0604020202020204" pitchFamily="34" charset="0"/>
                        </a:rPr>
                        <a:t>k</a:t>
                      </a:r>
                    </a:p>
                  </a:txBody>
                  <a:tcPr anchor="ctr"/>
                </a:tc>
                <a:tc>
                  <a:txBody>
                    <a:bodyPr/>
                    <a:lstStyle/>
                    <a:p>
                      <a:pPr algn="ctr"/>
                      <a:r>
                        <a:rPr lang="en-US" sz="1200" dirty="0">
                          <a:latin typeface="Arial" panose="020B0604020202020204" pitchFamily="34" charset="0"/>
                          <a:cs typeface="Arial" panose="020B0604020202020204" pitchFamily="34" charset="0"/>
                        </a:rPr>
                        <a:t>l</a:t>
                      </a:r>
                    </a:p>
                  </a:txBody>
                  <a:tcPr anchor="ctr"/>
                </a:tc>
                <a:tc>
                  <a:txBody>
                    <a:bodyPr/>
                    <a:lstStyle/>
                    <a:p>
                      <a:pPr algn="ctr"/>
                      <a:r>
                        <a:rPr lang="en-US" sz="1200" dirty="0">
                          <a:latin typeface="Arial" panose="020B0604020202020204" pitchFamily="34" charset="0"/>
                          <a:cs typeface="Arial" panose="020B0604020202020204" pitchFamily="34" charset="0"/>
                        </a:rPr>
                        <a:t>m</a:t>
                      </a:r>
                    </a:p>
                  </a:txBody>
                  <a:tcPr anchor="ctr"/>
                </a:tc>
                <a:tc>
                  <a:txBody>
                    <a:bodyPr/>
                    <a:lstStyle/>
                    <a:p>
                      <a:pPr algn="ctr"/>
                      <a:r>
                        <a:rPr lang="en-US" sz="1200" dirty="0">
                          <a:latin typeface="Arial" panose="020B0604020202020204" pitchFamily="34" charset="0"/>
                          <a:cs typeface="Arial" panose="020B0604020202020204" pitchFamily="34" charset="0"/>
                        </a:rPr>
                        <a:t>n</a:t>
                      </a:r>
                    </a:p>
                  </a:txBody>
                  <a:tcPr anchor="ctr"/>
                </a:tc>
                <a:tc>
                  <a:txBody>
                    <a:bodyPr/>
                    <a:lstStyle/>
                    <a:p>
                      <a:pPr algn="ctr"/>
                      <a:r>
                        <a:rPr lang="en-US" sz="1200" dirty="0">
                          <a:latin typeface="Arial" panose="020B0604020202020204" pitchFamily="34" charset="0"/>
                          <a:cs typeface="Arial" panose="020B0604020202020204" pitchFamily="34" charset="0"/>
                        </a:rPr>
                        <a:t>o</a:t>
                      </a:r>
                    </a:p>
                  </a:txBody>
                  <a:tcPr anchor="ctr"/>
                </a:tc>
                <a:tc>
                  <a:txBody>
                    <a:bodyPr/>
                    <a:lstStyle/>
                    <a:p>
                      <a:pPr algn="ctr"/>
                      <a:r>
                        <a:rPr lang="en-US" sz="1200" dirty="0">
                          <a:latin typeface="Arial" panose="020B0604020202020204" pitchFamily="34" charset="0"/>
                          <a:cs typeface="Arial" panose="020B0604020202020204" pitchFamily="34" charset="0"/>
                        </a:rPr>
                        <a:t>p</a:t>
                      </a:r>
                    </a:p>
                  </a:txBody>
                  <a:tcPr anchor="ctr"/>
                </a:tc>
                <a:tc>
                  <a:txBody>
                    <a:bodyPr/>
                    <a:lstStyle/>
                    <a:p>
                      <a:pPr algn="ctr"/>
                      <a:r>
                        <a:rPr lang="en-US" sz="1200" dirty="0">
                          <a:latin typeface="Arial" panose="020B0604020202020204" pitchFamily="34" charset="0"/>
                          <a:cs typeface="Arial" panose="020B0604020202020204" pitchFamily="34" charset="0"/>
                        </a:rPr>
                        <a:t>q</a:t>
                      </a:r>
                    </a:p>
                  </a:txBody>
                  <a:tcPr anchor="ctr"/>
                </a:tc>
                <a:tc>
                  <a:txBody>
                    <a:bodyPr/>
                    <a:lstStyle/>
                    <a:p>
                      <a:pPr algn="ctr"/>
                      <a:r>
                        <a:rPr lang="en-US" sz="1200" dirty="0">
                          <a:latin typeface="Arial" panose="020B0604020202020204" pitchFamily="34" charset="0"/>
                          <a:cs typeface="Arial" panose="020B0604020202020204" pitchFamily="34" charset="0"/>
                        </a:rPr>
                        <a:t>r</a:t>
                      </a:r>
                    </a:p>
                  </a:txBody>
                  <a:tcPr anchor="ctr"/>
                </a:tc>
                <a:tc>
                  <a:txBody>
                    <a:bodyPr/>
                    <a:lstStyle/>
                    <a:p>
                      <a:pPr algn="ctr"/>
                      <a:r>
                        <a:rPr lang="en-US" sz="1200" dirty="0">
                          <a:latin typeface="Arial" panose="020B0604020202020204" pitchFamily="34" charset="0"/>
                          <a:cs typeface="Arial" panose="020B0604020202020204" pitchFamily="34" charset="0"/>
                        </a:rPr>
                        <a:t>s</a:t>
                      </a:r>
                    </a:p>
                  </a:txBody>
                  <a:tcPr anchor="ctr"/>
                </a:tc>
                <a:tc>
                  <a:txBody>
                    <a:bodyPr/>
                    <a:lstStyle/>
                    <a:p>
                      <a:pPr algn="ctr"/>
                      <a:r>
                        <a:rPr lang="en-US" sz="1200" dirty="0">
                          <a:latin typeface="Arial" panose="020B0604020202020204" pitchFamily="34" charset="0"/>
                          <a:cs typeface="Arial" panose="020B0604020202020204" pitchFamily="34" charset="0"/>
                        </a:rPr>
                        <a:t>t</a:t>
                      </a:r>
                    </a:p>
                  </a:txBody>
                  <a:tcPr anchor="ctr"/>
                </a:tc>
                <a:tc>
                  <a:txBody>
                    <a:bodyPr/>
                    <a:lstStyle/>
                    <a:p>
                      <a:pPr algn="ctr"/>
                      <a:r>
                        <a:rPr lang="en-US" sz="1200" dirty="0">
                          <a:latin typeface="Arial" panose="020B0604020202020204" pitchFamily="34" charset="0"/>
                          <a:cs typeface="Arial" panose="020B0604020202020204" pitchFamily="34" charset="0"/>
                        </a:rPr>
                        <a:t>u</a:t>
                      </a:r>
                    </a:p>
                  </a:txBody>
                  <a:tcPr anchor="ctr"/>
                </a:tc>
                <a:tc>
                  <a:txBody>
                    <a:bodyPr/>
                    <a:lstStyle/>
                    <a:p>
                      <a:pPr algn="ctr"/>
                      <a:r>
                        <a:rPr lang="en-US" sz="1200" dirty="0">
                          <a:latin typeface="Arial" panose="020B0604020202020204" pitchFamily="34" charset="0"/>
                          <a:cs typeface="Arial" panose="020B0604020202020204" pitchFamily="34" charset="0"/>
                        </a:rPr>
                        <a:t>v</a:t>
                      </a:r>
                    </a:p>
                  </a:txBody>
                  <a:tcPr anchor="ctr"/>
                </a:tc>
                <a:tc>
                  <a:txBody>
                    <a:bodyPr/>
                    <a:lstStyle/>
                    <a:p>
                      <a:pPr algn="ctr"/>
                      <a:r>
                        <a:rPr lang="en-US" sz="1200" dirty="0">
                          <a:latin typeface="Arial" panose="020B0604020202020204" pitchFamily="34" charset="0"/>
                          <a:cs typeface="Arial" panose="020B0604020202020204" pitchFamily="34" charset="0"/>
                        </a:rPr>
                        <a:t>w</a:t>
                      </a:r>
                    </a:p>
                  </a:txBody>
                  <a:tcPr anchor="ctr"/>
                </a:tc>
                <a:tc>
                  <a:txBody>
                    <a:bodyPr/>
                    <a:lstStyle/>
                    <a:p>
                      <a:pPr algn="ctr"/>
                      <a:r>
                        <a:rPr lang="en-US" sz="1200" dirty="0">
                          <a:latin typeface="Arial" panose="020B0604020202020204" pitchFamily="34" charset="0"/>
                          <a:cs typeface="Arial" panose="020B0604020202020204" pitchFamily="34" charset="0"/>
                        </a:rPr>
                        <a:t>x</a:t>
                      </a:r>
                    </a:p>
                  </a:txBody>
                  <a:tcPr anchor="ctr"/>
                </a:tc>
                <a:tc>
                  <a:txBody>
                    <a:bodyPr/>
                    <a:lstStyle/>
                    <a:p>
                      <a:pPr algn="ctr"/>
                      <a:r>
                        <a:rPr lang="en-US" sz="1200" dirty="0">
                          <a:latin typeface="Arial" panose="020B0604020202020204" pitchFamily="34" charset="0"/>
                          <a:cs typeface="Arial" panose="020B0604020202020204" pitchFamily="34" charset="0"/>
                        </a:rPr>
                        <a:t>y</a:t>
                      </a:r>
                    </a:p>
                  </a:txBody>
                  <a:tcPr anchor="ctr"/>
                </a:tc>
                <a:tc>
                  <a:txBody>
                    <a:bodyPr/>
                    <a:lstStyle/>
                    <a:p>
                      <a:pPr algn="ctr"/>
                      <a:r>
                        <a:rPr lang="en-US" sz="1200" dirty="0">
                          <a:latin typeface="Arial" panose="020B0604020202020204" pitchFamily="34" charset="0"/>
                          <a:cs typeface="Arial" panose="020B0604020202020204" pitchFamily="34" charset="0"/>
                        </a:rPr>
                        <a:t>z</a:t>
                      </a:r>
                    </a:p>
                  </a:txBody>
                  <a:tcPr anchor="ctr"/>
                </a:tc>
                <a:extLst>
                  <a:ext uri="{0D108BD9-81ED-4DB2-BD59-A6C34878D82A}">
                    <a16:rowId xmlns:a16="http://schemas.microsoft.com/office/drawing/2014/main" val="10000"/>
                  </a:ext>
                </a:extLst>
              </a:tr>
              <a:tr h="294640">
                <a:tc>
                  <a:txBody>
                    <a:bodyPr/>
                    <a:lstStyle/>
                    <a:p>
                      <a:pPr algn="ctr"/>
                      <a:r>
                        <a:rPr lang="en-US" sz="1200" b="1" dirty="0">
                          <a:latin typeface="Arial Narrow" panose="020B0606020202030204" pitchFamily="34" charset="0"/>
                          <a:cs typeface="Arial" panose="020B0604020202020204" pitchFamily="34" charset="0"/>
                        </a:rPr>
                        <a:t>61</a:t>
                      </a:r>
                    </a:p>
                  </a:txBody>
                  <a:tcPr anchor="ctr"/>
                </a:tc>
                <a:tc>
                  <a:txBody>
                    <a:bodyPr/>
                    <a:lstStyle/>
                    <a:p>
                      <a:pPr algn="ctr"/>
                      <a:r>
                        <a:rPr lang="en-US" sz="1200" b="1" dirty="0">
                          <a:latin typeface="Arial Narrow" panose="020B0606020202030204" pitchFamily="34" charset="0"/>
                          <a:cs typeface="Arial" panose="020B0604020202020204" pitchFamily="34" charset="0"/>
                        </a:rPr>
                        <a:t>62</a:t>
                      </a:r>
                    </a:p>
                  </a:txBody>
                  <a:tcPr anchor="ctr"/>
                </a:tc>
                <a:tc>
                  <a:txBody>
                    <a:bodyPr/>
                    <a:lstStyle/>
                    <a:p>
                      <a:pPr algn="ctr"/>
                      <a:r>
                        <a:rPr lang="en-US" sz="1200" b="1" dirty="0">
                          <a:latin typeface="Arial Narrow" panose="020B0606020202030204" pitchFamily="34" charset="0"/>
                          <a:cs typeface="Arial" panose="020B0604020202020204" pitchFamily="34" charset="0"/>
                        </a:rPr>
                        <a:t>63</a:t>
                      </a:r>
                    </a:p>
                  </a:txBody>
                  <a:tcPr anchor="ctr"/>
                </a:tc>
                <a:tc>
                  <a:txBody>
                    <a:bodyPr/>
                    <a:lstStyle/>
                    <a:p>
                      <a:pPr algn="ctr"/>
                      <a:r>
                        <a:rPr lang="en-US" sz="1200" b="1" dirty="0">
                          <a:latin typeface="Arial Narrow" panose="020B0606020202030204" pitchFamily="34" charset="0"/>
                          <a:cs typeface="Arial" panose="020B0604020202020204" pitchFamily="34" charset="0"/>
                        </a:rPr>
                        <a:t>64</a:t>
                      </a:r>
                    </a:p>
                  </a:txBody>
                  <a:tcPr anchor="ctr"/>
                </a:tc>
                <a:tc>
                  <a:txBody>
                    <a:bodyPr/>
                    <a:lstStyle/>
                    <a:p>
                      <a:pPr algn="ctr"/>
                      <a:r>
                        <a:rPr lang="en-US" sz="1200" b="1" dirty="0">
                          <a:latin typeface="Arial Narrow" panose="020B0606020202030204" pitchFamily="34" charset="0"/>
                          <a:cs typeface="Arial" panose="020B0604020202020204" pitchFamily="34" charset="0"/>
                        </a:rPr>
                        <a:t>65</a:t>
                      </a:r>
                    </a:p>
                  </a:txBody>
                  <a:tcPr anchor="ctr"/>
                </a:tc>
                <a:tc>
                  <a:txBody>
                    <a:bodyPr/>
                    <a:lstStyle/>
                    <a:p>
                      <a:pPr algn="ctr"/>
                      <a:r>
                        <a:rPr lang="en-US" sz="1200" b="1" dirty="0">
                          <a:latin typeface="Arial Narrow" panose="020B0606020202030204" pitchFamily="34" charset="0"/>
                          <a:cs typeface="Arial" panose="020B0604020202020204" pitchFamily="34" charset="0"/>
                        </a:rPr>
                        <a:t>66</a:t>
                      </a:r>
                    </a:p>
                  </a:txBody>
                  <a:tcPr anchor="ctr"/>
                </a:tc>
                <a:tc>
                  <a:txBody>
                    <a:bodyPr/>
                    <a:lstStyle/>
                    <a:p>
                      <a:pPr algn="ctr"/>
                      <a:r>
                        <a:rPr lang="en-US" sz="1200" b="1" dirty="0">
                          <a:latin typeface="Arial Narrow" panose="020B0606020202030204" pitchFamily="34" charset="0"/>
                          <a:cs typeface="Arial" panose="020B0604020202020204" pitchFamily="34" charset="0"/>
                        </a:rPr>
                        <a:t>67</a:t>
                      </a:r>
                    </a:p>
                  </a:txBody>
                  <a:tcPr anchor="ctr"/>
                </a:tc>
                <a:tc>
                  <a:txBody>
                    <a:bodyPr/>
                    <a:lstStyle/>
                    <a:p>
                      <a:pPr algn="ctr"/>
                      <a:r>
                        <a:rPr lang="en-US" sz="1200" b="1" dirty="0">
                          <a:latin typeface="Arial Narrow" panose="020B0606020202030204" pitchFamily="34" charset="0"/>
                          <a:cs typeface="Arial" panose="020B0604020202020204" pitchFamily="34" charset="0"/>
                        </a:rPr>
                        <a:t>68</a:t>
                      </a:r>
                    </a:p>
                  </a:txBody>
                  <a:tcPr anchor="ctr"/>
                </a:tc>
                <a:tc>
                  <a:txBody>
                    <a:bodyPr/>
                    <a:lstStyle/>
                    <a:p>
                      <a:pPr algn="ctr"/>
                      <a:r>
                        <a:rPr lang="en-US" sz="1200" b="1" dirty="0">
                          <a:latin typeface="Arial Narrow" panose="020B0606020202030204" pitchFamily="34" charset="0"/>
                          <a:cs typeface="Arial" panose="020B0604020202020204" pitchFamily="34" charset="0"/>
                        </a:rPr>
                        <a:t>69</a:t>
                      </a:r>
                    </a:p>
                  </a:txBody>
                  <a:tcPr anchor="ctr"/>
                </a:tc>
                <a:tc>
                  <a:txBody>
                    <a:bodyPr/>
                    <a:lstStyle/>
                    <a:p>
                      <a:r>
                        <a:rPr lang="en-US" sz="1200" b="1" dirty="0" err="1">
                          <a:latin typeface="Arial Narrow" panose="020B0606020202030204" pitchFamily="34" charset="0"/>
                        </a:rPr>
                        <a:t>6A</a:t>
                      </a:r>
                      <a:endParaRPr lang="en-US" sz="1200" b="1" dirty="0">
                        <a:latin typeface="Arial Narrow" panose="020B0606020202030204" pitchFamily="34" charset="0"/>
                      </a:endParaRPr>
                    </a:p>
                  </a:txBody>
                  <a:tcPr anchor="ctr"/>
                </a:tc>
                <a:tc>
                  <a:txBody>
                    <a:bodyPr/>
                    <a:lstStyle/>
                    <a:p>
                      <a:r>
                        <a:rPr lang="en-US" sz="1200" b="1" dirty="0" err="1">
                          <a:latin typeface="Arial Narrow" panose="020B0606020202030204" pitchFamily="34" charset="0"/>
                        </a:rPr>
                        <a:t>6B</a:t>
                      </a:r>
                      <a:endParaRPr lang="en-US" sz="1200" b="1" dirty="0">
                        <a:latin typeface="Arial Narrow" panose="020B0606020202030204" pitchFamily="34" charset="0"/>
                      </a:endParaRPr>
                    </a:p>
                  </a:txBody>
                  <a:tcPr anchor="ctr"/>
                </a:tc>
                <a:tc>
                  <a:txBody>
                    <a:bodyPr/>
                    <a:lstStyle/>
                    <a:p>
                      <a:r>
                        <a:rPr lang="en-US" sz="1200" b="1" dirty="0" err="1">
                          <a:latin typeface="Arial Narrow" panose="020B0606020202030204" pitchFamily="34" charset="0"/>
                        </a:rPr>
                        <a:t>6C</a:t>
                      </a:r>
                      <a:endParaRPr lang="en-US" sz="1200" b="1" dirty="0">
                        <a:latin typeface="Arial Narrow" panose="020B0606020202030204" pitchFamily="34" charset="0"/>
                      </a:endParaRPr>
                    </a:p>
                  </a:txBody>
                  <a:tcPr anchor="ctr"/>
                </a:tc>
                <a:tc>
                  <a:txBody>
                    <a:bodyPr/>
                    <a:lstStyle/>
                    <a:p>
                      <a:r>
                        <a:rPr lang="en-US" sz="1200" b="1" dirty="0" err="1">
                          <a:latin typeface="Arial Narrow" panose="020B0606020202030204" pitchFamily="34" charset="0"/>
                        </a:rPr>
                        <a:t>6D</a:t>
                      </a:r>
                      <a:endParaRPr lang="en-US" sz="1200" b="1" dirty="0">
                        <a:latin typeface="Arial Narrow" panose="020B0606020202030204" pitchFamily="34" charset="0"/>
                      </a:endParaRPr>
                    </a:p>
                  </a:txBody>
                  <a:tcPr anchor="ctr"/>
                </a:tc>
                <a:tc>
                  <a:txBody>
                    <a:bodyPr/>
                    <a:lstStyle/>
                    <a:p>
                      <a:r>
                        <a:rPr lang="en-US" sz="1200" b="1" dirty="0" err="1">
                          <a:latin typeface="Arial Narrow" panose="020B0606020202030204" pitchFamily="34" charset="0"/>
                        </a:rPr>
                        <a:t>6E</a:t>
                      </a:r>
                      <a:endParaRPr lang="en-US" sz="1200" b="1" dirty="0">
                        <a:latin typeface="Arial Narrow" panose="020B0606020202030204" pitchFamily="34" charset="0"/>
                      </a:endParaRPr>
                    </a:p>
                  </a:txBody>
                  <a:tcPr anchor="ctr"/>
                </a:tc>
                <a:tc>
                  <a:txBody>
                    <a:bodyPr/>
                    <a:lstStyle/>
                    <a:p>
                      <a:r>
                        <a:rPr lang="en-US" sz="1200" b="1" dirty="0" err="1">
                          <a:latin typeface="Arial Narrow" panose="020B0606020202030204" pitchFamily="34" charset="0"/>
                        </a:rPr>
                        <a:t>6F</a:t>
                      </a:r>
                      <a:endParaRPr lang="en-US" sz="1200" b="1" dirty="0">
                        <a:latin typeface="Arial Narrow" panose="020B0606020202030204" pitchFamily="34" charset="0"/>
                      </a:endParaRPr>
                    </a:p>
                  </a:txBody>
                  <a:tcPr anchor="ctr"/>
                </a:tc>
                <a:tc>
                  <a:txBody>
                    <a:bodyPr/>
                    <a:lstStyle/>
                    <a:p>
                      <a:pPr algn="ctr"/>
                      <a:r>
                        <a:rPr lang="en-US" sz="1200" b="1" dirty="0">
                          <a:latin typeface="Arial Narrow" panose="020B0606020202030204" pitchFamily="34" charset="0"/>
                          <a:cs typeface="Arial" panose="020B0604020202020204" pitchFamily="34" charset="0"/>
                        </a:rPr>
                        <a:t>70</a:t>
                      </a:r>
                    </a:p>
                  </a:txBody>
                  <a:tcPr anchor="ctr"/>
                </a:tc>
                <a:tc>
                  <a:txBody>
                    <a:bodyPr/>
                    <a:lstStyle/>
                    <a:p>
                      <a:pPr algn="ctr"/>
                      <a:r>
                        <a:rPr lang="en-US" sz="1200" b="1" dirty="0">
                          <a:latin typeface="Arial Narrow" panose="020B0606020202030204" pitchFamily="34" charset="0"/>
                          <a:cs typeface="Arial" panose="020B0604020202020204" pitchFamily="34" charset="0"/>
                        </a:rPr>
                        <a:t>71</a:t>
                      </a:r>
                    </a:p>
                  </a:txBody>
                  <a:tcPr anchor="ctr"/>
                </a:tc>
                <a:tc>
                  <a:txBody>
                    <a:bodyPr/>
                    <a:lstStyle/>
                    <a:p>
                      <a:pPr algn="ctr"/>
                      <a:r>
                        <a:rPr lang="en-US" sz="1200" b="1" dirty="0">
                          <a:latin typeface="Arial Narrow" panose="020B0606020202030204" pitchFamily="34" charset="0"/>
                          <a:cs typeface="Arial" panose="020B0604020202020204" pitchFamily="34" charset="0"/>
                        </a:rPr>
                        <a:t>72</a:t>
                      </a:r>
                    </a:p>
                  </a:txBody>
                  <a:tcPr anchor="ctr"/>
                </a:tc>
                <a:tc>
                  <a:txBody>
                    <a:bodyPr/>
                    <a:lstStyle/>
                    <a:p>
                      <a:pPr algn="ctr"/>
                      <a:r>
                        <a:rPr lang="en-US" sz="1200" b="1" dirty="0">
                          <a:latin typeface="Arial Narrow" panose="020B0606020202030204" pitchFamily="34" charset="0"/>
                          <a:cs typeface="Arial" panose="020B0604020202020204" pitchFamily="34" charset="0"/>
                        </a:rPr>
                        <a:t>73</a:t>
                      </a:r>
                    </a:p>
                  </a:txBody>
                  <a:tcPr anchor="ctr"/>
                </a:tc>
                <a:tc>
                  <a:txBody>
                    <a:bodyPr/>
                    <a:lstStyle/>
                    <a:p>
                      <a:pPr algn="ctr"/>
                      <a:r>
                        <a:rPr lang="en-US" sz="1200" b="1" dirty="0">
                          <a:latin typeface="Arial Narrow" panose="020B0606020202030204" pitchFamily="34" charset="0"/>
                          <a:cs typeface="Arial" panose="020B0604020202020204" pitchFamily="34" charset="0"/>
                        </a:rPr>
                        <a:t>74</a:t>
                      </a:r>
                    </a:p>
                  </a:txBody>
                  <a:tcPr anchor="ctr"/>
                </a:tc>
                <a:tc>
                  <a:txBody>
                    <a:bodyPr/>
                    <a:lstStyle/>
                    <a:p>
                      <a:pPr algn="ctr"/>
                      <a:r>
                        <a:rPr lang="en-US" sz="1200" b="1" dirty="0">
                          <a:latin typeface="Arial Narrow" panose="020B0606020202030204" pitchFamily="34" charset="0"/>
                          <a:cs typeface="Arial" panose="020B0604020202020204" pitchFamily="34" charset="0"/>
                        </a:rPr>
                        <a:t>75</a:t>
                      </a:r>
                    </a:p>
                  </a:txBody>
                  <a:tcPr anchor="ctr"/>
                </a:tc>
                <a:tc>
                  <a:txBody>
                    <a:bodyPr/>
                    <a:lstStyle/>
                    <a:p>
                      <a:pPr algn="ctr"/>
                      <a:r>
                        <a:rPr lang="en-US" sz="1200" b="1" dirty="0">
                          <a:latin typeface="Arial Narrow" panose="020B0606020202030204" pitchFamily="34" charset="0"/>
                          <a:cs typeface="Arial" panose="020B0604020202020204" pitchFamily="34" charset="0"/>
                        </a:rPr>
                        <a:t>76</a:t>
                      </a:r>
                    </a:p>
                  </a:txBody>
                  <a:tcPr anchor="ctr"/>
                </a:tc>
                <a:tc>
                  <a:txBody>
                    <a:bodyPr/>
                    <a:lstStyle/>
                    <a:p>
                      <a:pPr algn="ctr"/>
                      <a:r>
                        <a:rPr lang="en-US" sz="1200" b="1" dirty="0">
                          <a:latin typeface="Arial Narrow" panose="020B0606020202030204" pitchFamily="34" charset="0"/>
                          <a:cs typeface="Arial" panose="020B0604020202020204" pitchFamily="34" charset="0"/>
                        </a:rPr>
                        <a:t>77</a:t>
                      </a:r>
                    </a:p>
                  </a:txBody>
                  <a:tcPr anchor="ctr"/>
                </a:tc>
                <a:tc>
                  <a:txBody>
                    <a:bodyPr/>
                    <a:lstStyle/>
                    <a:p>
                      <a:pPr algn="ctr"/>
                      <a:r>
                        <a:rPr lang="en-US" sz="1200" b="1" dirty="0">
                          <a:latin typeface="Arial Narrow" panose="020B0606020202030204" pitchFamily="34" charset="0"/>
                          <a:cs typeface="Arial" panose="020B0604020202020204" pitchFamily="34" charset="0"/>
                        </a:rPr>
                        <a:t>78</a:t>
                      </a:r>
                    </a:p>
                  </a:txBody>
                  <a:tcPr anchor="ctr"/>
                </a:tc>
                <a:tc>
                  <a:txBody>
                    <a:bodyPr/>
                    <a:lstStyle/>
                    <a:p>
                      <a:pPr algn="ctr"/>
                      <a:r>
                        <a:rPr lang="en-US" sz="1200" b="1" dirty="0">
                          <a:latin typeface="Arial Narrow" panose="020B0606020202030204" pitchFamily="34" charset="0"/>
                          <a:cs typeface="Arial" panose="020B0604020202020204" pitchFamily="34" charset="0"/>
                        </a:rPr>
                        <a:t>79</a:t>
                      </a:r>
                    </a:p>
                  </a:txBody>
                  <a:tcPr anchor="ctr"/>
                </a:tc>
                <a:tc>
                  <a:txBody>
                    <a:bodyPr/>
                    <a:lstStyle/>
                    <a:p>
                      <a:pPr algn="ctr"/>
                      <a:r>
                        <a:rPr lang="en-US" sz="1200" b="1" dirty="0" err="1">
                          <a:latin typeface="Arial Narrow" panose="020B0606020202030204" pitchFamily="34" charset="0"/>
                          <a:cs typeface="Arial" panose="020B0604020202020204" pitchFamily="34" charset="0"/>
                        </a:rPr>
                        <a:t>7A</a:t>
                      </a:r>
                      <a:endParaRPr lang="en-US" sz="1200" b="1" dirty="0">
                        <a:latin typeface="Arial Narrow" panose="020B0606020202030204" pitchFamily="34" charset="0"/>
                        <a:cs typeface="Arial" panose="020B0604020202020204" pitchFamily="34" charset="0"/>
                      </a:endParaRPr>
                    </a:p>
                  </a:txBody>
                  <a:tcPr anchor="ctr"/>
                </a:tc>
                <a:extLst>
                  <a:ext uri="{0D108BD9-81ED-4DB2-BD59-A6C34878D82A}">
                    <a16:rowId xmlns:a16="http://schemas.microsoft.com/office/drawing/2014/main" val="10001"/>
                  </a:ext>
                </a:extLst>
              </a:tr>
            </a:tbl>
          </a:graphicData>
        </a:graphic>
      </p:graphicFrame>
      <p:sp>
        <p:nvSpPr>
          <p:cNvPr id="11" name="TextBox 10"/>
          <p:cNvSpPr txBox="1"/>
          <p:nvPr/>
        </p:nvSpPr>
        <p:spPr>
          <a:xfrm>
            <a:off x="1981200" y="2971800"/>
            <a:ext cx="461697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‘a’ – ‘A’ = </a:t>
            </a:r>
            <a:r>
              <a:rPr kumimoji="0" lang="en-US" sz="1800" b="1" i="0" u="none" strike="noStrike" kern="1200" cap="none" spc="0" normalizeH="0" baseline="0" noProof="0" dirty="0" err="1">
                <a:ln>
                  <a:noFill/>
                </a:ln>
                <a:solidFill>
                  <a:srgbClr val="C00000"/>
                </a:solidFill>
                <a:effectLst/>
                <a:uLnTx/>
                <a:uFillTx/>
                <a:latin typeface="Consolas" panose="020B0609020204030204" pitchFamily="49" charset="0"/>
                <a:ea typeface="+mn-ea"/>
                <a:cs typeface="Consolas" panose="020B0609020204030204" pitchFamily="49" charset="0"/>
              </a:rPr>
              <a:t>0x61</a:t>
            </a:r>
            <a:r>
              <a:rPr kumimoji="0" lang="en-US" sz="1800" b="1"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 – </a:t>
            </a:r>
            <a:r>
              <a:rPr kumimoji="0" lang="en-US" sz="1800" b="1" i="0" u="none" strike="noStrike" kern="1200" cap="none" spc="0" normalizeH="0" baseline="0" noProof="0" dirty="0" err="1">
                <a:ln>
                  <a:noFill/>
                </a:ln>
                <a:solidFill>
                  <a:srgbClr val="C00000"/>
                </a:solidFill>
                <a:effectLst/>
                <a:uLnTx/>
                <a:uFillTx/>
                <a:latin typeface="Consolas" panose="020B0609020204030204" pitchFamily="49" charset="0"/>
                <a:ea typeface="+mn-ea"/>
                <a:cs typeface="Consolas" panose="020B0609020204030204" pitchFamily="49" charset="0"/>
              </a:rPr>
              <a:t>0x41</a:t>
            </a:r>
            <a:r>
              <a:rPr kumimoji="0" lang="en-US" sz="1800" b="1"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 = </a:t>
            </a:r>
            <a:r>
              <a:rPr kumimoji="0" lang="en-US" sz="1800" b="1" i="0" u="none" strike="noStrike" kern="1200" cap="none" spc="0" normalizeH="0" baseline="0" noProof="0" dirty="0" err="1">
                <a:ln>
                  <a:noFill/>
                </a:ln>
                <a:solidFill>
                  <a:srgbClr val="C00000"/>
                </a:solidFill>
                <a:effectLst/>
                <a:uLnTx/>
                <a:uFillTx/>
                <a:latin typeface="Consolas" panose="020B0609020204030204" pitchFamily="49" charset="0"/>
                <a:ea typeface="+mn-ea"/>
                <a:cs typeface="Consolas" panose="020B0609020204030204" pitchFamily="49" charset="0"/>
              </a:rPr>
              <a:t>0x20</a:t>
            </a:r>
            <a:r>
              <a:rPr kumimoji="0" lang="en-US" sz="1800" b="1"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 = 32</a:t>
            </a:r>
          </a:p>
        </p:txBody>
      </p:sp>
      <p:sp>
        <p:nvSpPr>
          <p:cNvPr id="6" name="SMARTInkShape-219">
            <a:extLst>
              <a:ext uri="{FF2B5EF4-FFF2-40B4-BE49-F238E27FC236}">
                <a16:creationId xmlns:a16="http://schemas.microsoft.com/office/drawing/2014/main" id="{8D8012A1-6875-4E9F-9673-0636743DBFEE}"/>
              </a:ext>
            </a:extLst>
          </p:cNvPr>
          <p:cNvSpPr/>
          <p:nvPr>
            <p:custDataLst>
              <p:tags r:id="rId1"/>
            </p:custDataLst>
          </p:nvPr>
        </p:nvSpPr>
        <p:spPr>
          <a:xfrm>
            <a:off x="1758950" y="4787900"/>
            <a:ext cx="1" cy="6351"/>
          </a:xfrm>
          <a:custGeom>
            <a:avLst/>
            <a:gdLst/>
            <a:ahLst/>
            <a:cxnLst/>
            <a:rect l="0" t="0" r="0" b="0"/>
            <a:pathLst>
              <a:path w="1" h="6351">
                <a:moveTo>
                  <a:pt x="0" y="0"/>
                </a:moveTo>
                <a:lnTo>
                  <a:pt x="0" y="0"/>
                </a:lnTo>
                <a:lnTo>
                  <a:pt x="0" y="6350"/>
                </a:lnTo>
              </a:path>
            </a:pathLst>
          </a:cu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384885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Summary</a:t>
            </a:r>
          </a:p>
        </p:txBody>
      </p:sp>
      <p:sp>
        <p:nvSpPr>
          <p:cNvPr id="3" name="Content Placeholder 2"/>
          <p:cNvSpPr>
            <a:spLocks noGrp="1"/>
          </p:cNvSpPr>
          <p:nvPr>
            <p:ph idx="1"/>
          </p:nvPr>
        </p:nvSpPr>
        <p:spPr/>
        <p:txBody>
          <a:bodyPr>
            <a:noAutofit/>
          </a:bodyPr>
          <a:lstStyle/>
          <a:p>
            <a:r>
              <a:rPr lang="en-GB" sz="2800" dirty="0"/>
              <a:t>Unsigned integer arithmetic</a:t>
            </a:r>
          </a:p>
          <a:p>
            <a:r>
              <a:rPr lang="en-GB" sz="2800" dirty="0"/>
              <a:t>Signed integer arithmetic</a:t>
            </a:r>
          </a:p>
          <a:p>
            <a:pPr lvl="1"/>
            <a:r>
              <a:rPr lang="en-GB" sz="2500" dirty="0"/>
              <a:t>2’s complement</a:t>
            </a:r>
          </a:p>
          <a:p>
            <a:r>
              <a:rPr lang="en-GB" sz="2800"/>
              <a:t>ASCII strings</a:t>
            </a:r>
            <a:endParaRPr lang="en-GB" sz="2800" dirty="0"/>
          </a:p>
          <a:p>
            <a:endParaRPr lang="en-GB" sz="2500" dirty="0"/>
          </a:p>
        </p:txBody>
      </p:sp>
      <p:sp>
        <p:nvSpPr>
          <p:cNvPr id="4" name="Slide Number Placeholder 3"/>
          <p:cNvSpPr>
            <a:spLocks noGrp="1"/>
          </p:cNvSpPr>
          <p:nvPr>
            <p:ph type="sldNum" sz="quarter" idx="4294967295"/>
          </p:nvPr>
        </p:nvSpPr>
        <p:spPr/>
        <p:txBody>
          <a:bodyPr/>
          <a:lstStyle/>
          <a:p>
            <a:fld id="{EA7C8D44-3667-46F6-9772-CC52308E2A7F}" type="slidenum">
              <a:rPr kumimoji="0" lang="en-US" smtClean="0"/>
              <a:pPr/>
              <a:t>39</a:t>
            </a:fld>
            <a:endParaRPr kumimoji="0" lang="en-US" dirty="0"/>
          </a:p>
        </p:txBody>
      </p:sp>
    </p:spTree>
    <p:extLst>
      <p:ext uri="{BB962C8B-B14F-4D97-AF65-F5344CB8AC3E}">
        <p14:creationId xmlns:p14="http://schemas.microsoft.com/office/powerpoint/2010/main" val="33444291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CB23D-EFE6-FA45-DAF9-9FF26087AA94}"/>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88866A56-D44E-D648-C861-46FA398FDE43}"/>
              </a:ext>
            </a:extLst>
          </p:cNvPr>
          <p:cNvSpPr>
            <a:spLocks noGrp="1"/>
          </p:cNvSpPr>
          <p:nvPr>
            <p:ph sz="quarter" idx="1"/>
          </p:nvPr>
        </p:nvSpPr>
        <p:spPr/>
        <p:txBody>
          <a:bodyPr/>
          <a:lstStyle/>
          <a:p>
            <a:r>
              <a:rPr lang="en-US" dirty="0"/>
              <a:t>Lecture 1. Why use two's complement?</a:t>
            </a:r>
          </a:p>
          <a:p>
            <a:pPr lvl="1"/>
            <a:r>
              <a:rPr lang="en-US" dirty="0">
                <a:hlinkClick r:id="rId2"/>
              </a:rPr>
              <a:t>https://www.youtube.com/watch?v=lJCefqV80ck&amp;list=PLRJhV4hUhIymmp5CCeIFPyxbknsdcXCc8&amp;index=1</a:t>
            </a:r>
            <a:r>
              <a:rPr lang="en-US" dirty="0"/>
              <a:t> </a:t>
            </a:r>
          </a:p>
          <a:p>
            <a:r>
              <a:rPr lang="en-US" dirty="0"/>
              <a:t>Lecture 2: Carry flag for unsigned addition and subtraction</a:t>
            </a:r>
          </a:p>
          <a:p>
            <a:pPr lvl="1"/>
            <a:r>
              <a:rPr lang="en-US" dirty="0">
                <a:hlinkClick r:id="rId3"/>
              </a:rPr>
              <a:t>https://www.youtube.com/watch?v=MxGW2WurKuM&amp;list=PLRJhV4hUhIymmp5CCeIFPyxbknsdcXCc8&amp;index=2</a:t>
            </a:r>
            <a:endParaRPr lang="en-US" dirty="0"/>
          </a:p>
          <a:p>
            <a:r>
              <a:rPr lang="en-US" dirty="0"/>
              <a:t>Lecture 3: Overflow flag for signed addition and subtraction</a:t>
            </a:r>
          </a:p>
          <a:p>
            <a:pPr lvl="1"/>
            <a:r>
              <a:rPr lang="en-US" dirty="0">
                <a:hlinkClick r:id="rId4"/>
              </a:rPr>
              <a:t>https://www.youtube.com/watch?v=BIn6iyYIGio&amp;list=PLRJhV4hUhIymmp5CCeIFPyxbknsdcXCc8&amp;index=3</a:t>
            </a:r>
            <a:r>
              <a:rPr lang="en-US" dirty="0"/>
              <a:t> </a:t>
            </a:r>
          </a:p>
        </p:txBody>
      </p:sp>
    </p:spTree>
    <p:extLst>
      <p:ext uri="{BB962C8B-B14F-4D97-AF65-F5344CB8AC3E}">
        <p14:creationId xmlns:p14="http://schemas.microsoft.com/office/powerpoint/2010/main" val="400975415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HIGHLIGHTER" val="false"/>
</p:tagLst>
</file>

<file path=ppt/tags/tag2.xml><?xml version="1.0" encoding="utf-8"?>
<p:tagLst xmlns:a="http://schemas.openxmlformats.org/drawingml/2006/main" xmlns:r="http://schemas.openxmlformats.org/officeDocument/2006/relationships" xmlns:p="http://schemas.openxmlformats.org/presentationml/2006/main">
  <p:tag name="HIGHLIGHTER" val="false"/>
</p:tagLst>
</file>

<file path=ppt/tags/tag3.xml><?xml version="1.0" encoding="utf-8"?>
<p:tagLst xmlns:a="http://schemas.openxmlformats.org/drawingml/2006/main" xmlns:r="http://schemas.openxmlformats.org/officeDocument/2006/relationships" xmlns:p="http://schemas.openxmlformats.org/presentationml/2006/main">
  <p:tag name="HIGHLIGHTER" val="false"/>
</p:tagLst>
</file>

<file path=ppt/tags/tag4.xml><?xml version="1.0" encoding="utf-8"?>
<p:tagLst xmlns:a="http://schemas.openxmlformats.org/drawingml/2006/main" xmlns:r="http://schemas.openxmlformats.org/officeDocument/2006/relationships" xmlns:p="http://schemas.openxmlformats.org/presentationml/2006/main">
  <p:tag name="HIGHLIGHTER" val="false"/>
</p:tagLst>
</file>

<file path=ppt/tags/tag5.xml><?xml version="1.0" encoding="utf-8"?>
<p:tagLst xmlns:a="http://schemas.openxmlformats.org/drawingml/2006/main" xmlns:r="http://schemas.openxmlformats.org/officeDocument/2006/relationships" xmlns:p="http://schemas.openxmlformats.org/presentationml/2006/main">
  <p:tag name="HIGHLIGHTER" val="false"/>
</p:tagLst>
</file>

<file path=ppt/tags/tag6.xml><?xml version="1.0" encoding="utf-8"?>
<p:tagLst xmlns:a="http://schemas.openxmlformats.org/drawingml/2006/main" xmlns:r="http://schemas.openxmlformats.org/officeDocument/2006/relationships" xmlns:p="http://schemas.openxmlformats.org/presentationml/2006/main">
  <p:tag name="HIGHLIGHTER" val="false"/>
</p:tagLst>
</file>

<file path=ppt/tags/tag7.xml><?xml version="1.0" encoding="utf-8"?>
<p:tagLst xmlns:a="http://schemas.openxmlformats.org/drawingml/2006/main" xmlns:r="http://schemas.openxmlformats.org/officeDocument/2006/relationships" xmlns:p="http://schemas.openxmlformats.org/presentationml/2006/main">
  <p:tag name="HIGHLIGHTER" val="false"/>
</p:tagLst>
</file>

<file path=ppt/tags/tag8.xml><?xml version="1.0" encoding="utf-8"?>
<p:tagLst xmlns:a="http://schemas.openxmlformats.org/drawingml/2006/main" xmlns:r="http://schemas.openxmlformats.org/officeDocument/2006/relationships" xmlns:p="http://schemas.openxmlformats.org/presentationml/2006/main">
  <p:tag name="HIGHLIGHTER" val="false"/>
</p:tagLst>
</file>

<file path=ppt/tags/tag9.xml><?xml version="1.0" encoding="utf-8"?>
<p:tagLst xmlns:a="http://schemas.openxmlformats.org/drawingml/2006/main" xmlns:r="http://schemas.openxmlformats.org/officeDocument/2006/relationships" xmlns:p="http://schemas.openxmlformats.org/presentationml/2006/main">
  <p:tag name="TIMING" val="|20.3|8.2|11.8|6.7|11.8|0.7"/>
</p:tagLst>
</file>

<file path=ppt/tags/tag10.xml><?xml version="1.0" encoding="utf-8"?>
<p:tagLst xmlns:a="http://schemas.openxmlformats.org/drawingml/2006/main" xmlns:r="http://schemas.openxmlformats.org/officeDocument/2006/relationships" xmlns:p="http://schemas.openxmlformats.org/presentationml/2006/main">
  <p:tag name="HIGHLIGHTER" val="false"/>
</p:tagLst>
</file>

<file path=ppt/tags/tag11.xml><?xml version="1.0" encoding="utf-8"?>
<p:tagLst xmlns:a="http://schemas.openxmlformats.org/drawingml/2006/main" xmlns:r="http://schemas.openxmlformats.org/officeDocument/2006/relationships" xmlns:p="http://schemas.openxmlformats.org/presentationml/2006/main">
  <p:tag name="HIGHLIGHTER" val="false"/>
</p:tagLst>
</file>

<file path=ppt/tags/tag12.xml><?xml version="1.0" encoding="utf-8"?>
<p:tagLst xmlns:a="http://schemas.openxmlformats.org/drawingml/2006/main" xmlns:r="http://schemas.openxmlformats.org/officeDocument/2006/relationships" xmlns:p="http://schemas.openxmlformats.org/presentationml/2006/main">
  <p:tag name="HIGHLIGHTER" val="false"/>
</p:tagLst>
</file>

<file path=ppt/tags/tag13.xml><?xml version="1.0" encoding="utf-8"?>
<p:tagLst xmlns:a="http://schemas.openxmlformats.org/drawingml/2006/main" xmlns:r="http://schemas.openxmlformats.org/officeDocument/2006/relationships" xmlns:p="http://schemas.openxmlformats.org/presentationml/2006/main">
  <p:tag name="HIGHLIGHTER" val="false"/>
</p:tagLst>
</file>

<file path=ppt/tags/tag14.xml><?xml version="1.0" encoding="utf-8"?>
<p:tagLst xmlns:a="http://schemas.openxmlformats.org/drawingml/2006/main" xmlns:r="http://schemas.openxmlformats.org/officeDocument/2006/relationships" xmlns:p="http://schemas.openxmlformats.org/presentationml/2006/main">
  <p:tag name="HIGHLIGHTER" val="false"/>
</p:tagLst>
</file>

<file path=ppt/tags/tag15.xml><?xml version="1.0" encoding="utf-8"?>
<p:tagLst xmlns:a="http://schemas.openxmlformats.org/drawingml/2006/main" xmlns:r="http://schemas.openxmlformats.org/officeDocument/2006/relationships" xmlns:p="http://schemas.openxmlformats.org/presentationml/2006/main">
  <p:tag name="HIGHLIGHTER" val="false"/>
</p:tagLst>
</file>

<file path=ppt/tags/tag16.xml><?xml version="1.0" encoding="utf-8"?>
<p:tagLst xmlns:a="http://schemas.openxmlformats.org/drawingml/2006/main" xmlns:r="http://schemas.openxmlformats.org/officeDocument/2006/relationships" xmlns:p="http://schemas.openxmlformats.org/presentationml/2006/main">
  <p:tag name="HIGHLIGHTER" val="false"/>
</p:tagLst>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lank Presentation">
  <a:themeElements>
    <a:clrScheme name="">
      <a:dk1>
        <a:srgbClr val="CCECFF"/>
      </a:dk1>
      <a:lt1>
        <a:srgbClr val="FFFFFF"/>
      </a:lt1>
      <a:dk2>
        <a:srgbClr val="3399FF"/>
      </a:dk2>
      <a:lt2>
        <a:srgbClr val="FFFFFF"/>
      </a:lt2>
      <a:accent1>
        <a:srgbClr val="00CC99"/>
      </a:accent1>
      <a:accent2>
        <a:srgbClr val="0000FF"/>
      </a:accent2>
      <a:accent3>
        <a:srgbClr val="ADCAFF"/>
      </a:accent3>
      <a:accent4>
        <a:srgbClr val="DADADA"/>
      </a:accent4>
      <a:accent5>
        <a:srgbClr val="AAE2CA"/>
      </a:accent5>
      <a:accent6>
        <a:srgbClr val="0000E7"/>
      </a:accent6>
      <a:hlink>
        <a:srgbClr val="CCCCFF"/>
      </a:hlink>
      <a:folHlink>
        <a:srgbClr val="B2B2B2"/>
      </a:folHlink>
    </a:clrScheme>
    <a:fontScheme name="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bg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bg1"/>
            </a:solidFill>
            <a:effectLst/>
            <a:latin typeface="Tahoma" pitchFamily="34"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5866</TotalTime>
  <Words>4741</Words>
  <Application>Microsoft Office PowerPoint</Application>
  <PresentationFormat>On-screen Show (4:3)</PresentationFormat>
  <Paragraphs>1228</Paragraphs>
  <Slides>40</Slides>
  <Notes>19</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40</vt:i4>
      </vt:variant>
    </vt:vector>
  </HeadingPairs>
  <TitlesOfParts>
    <vt:vector size="56" baseType="lpstr">
      <vt:lpstr>Arial</vt:lpstr>
      <vt:lpstr>Arial Narrow</vt:lpstr>
      <vt:lpstr>Bookman Old Style</vt:lpstr>
      <vt:lpstr>Calibri</vt:lpstr>
      <vt:lpstr>Cambria Math</vt:lpstr>
      <vt:lpstr>Consolas</vt:lpstr>
      <vt:lpstr>Gill Sans MT</vt:lpstr>
      <vt:lpstr>Palatino Linotype</vt:lpstr>
      <vt:lpstr>Symbol</vt:lpstr>
      <vt:lpstr>Tahoma</vt:lpstr>
      <vt:lpstr>Times New Roman</vt:lpstr>
      <vt:lpstr>Wingdings</vt:lpstr>
      <vt:lpstr>Wingdings 3</vt:lpstr>
      <vt:lpstr>Blank Presentation</vt:lpstr>
      <vt:lpstr>Origin</vt:lpstr>
      <vt:lpstr>Office Theme</vt:lpstr>
      <vt:lpstr>L1 (CHAPTER 2)  Data Representation</vt:lpstr>
      <vt:lpstr>Bit, Byte, Half-word, Word, Double-Word</vt:lpstr>
      <vt:lpstr>Decimal, Binary and Hex</vt:lpstr>
      <vt:lpstr>Unsigned Integers</vt:lpstr>
      <vt:lpstr>Unsigned Integers</vt:lpstr>
      <vt:lpstr>Carry/borrow flag bit for unsigned arithmetic</vt:lpstr>
      <vt:lpstr>Carry/borrow flag bit for unsigned arithmetic</vt:lpstr>
      <vt:lpstr>Carry/borrow flag bit for unsigned arithmetic</vt:lpstr>
      <vt:lpstr>Signed Integer Representation Overview</vt:lpstr>
      <vt:lpstr>Signed Integers Method 1: Signed magnitude </vt:lpstr>
      <vt:lpstr>Signed Integers Method 2: One’s Complement</vt:lpstr>
      <vt:lpstr>Signed Integers Method 3: Two’s Complement</vt:lpstr>
      <vt:lpstr>Signed Integers Method 3: Two’s Complement</vt:lpstr>
      <vt:lpstr>Signed Integers Method 3: Two’s Complement</vt:lpstr>
      <vt:lpstr>Quiz</vt:lpstr>
      <vt:lpstr>Comparison: different signed reps</vt:lpstr>
      <vt:lpstr>Comparison: unsigned vs. signed</vt:lpstr>
      <vt:lpstr>Unsigned vs. Signed (TC)</vt:lpstr>
      <vt:lpstr>Two’s Complement for 8-bit System</vt:lpstr>
      <vt:lpstr>Sign Extension</vt:lpstr>
      <vt:lpstr>Overflow flag for signed arithmetic</vt:lpstr>
      <vt:lpstr>Overflow flag for signed arithmetic</vt:lpstr>
      <vt:lpstr>Overflow bit flag for signed arithmetic</vt:lpstr>
      <vt:lpstr>Overflow bit flag for signed arithmetic</vt:lpstr>
      <vt:lpstr>Carry and Overflow Flags in CPSR</vt:lpstr>
      <vt:lpstr>Summary of Carry and Overflow Flags</vt:lpstr>
      <vt:lpstr>Signed or unsigned</vt:lpstr>
      <vt:lpstr>Signed or Unsigned</vt:lpstr>
      <vt:lpstr>Signed or Unsigned</vt:lpstr>
      <vt:lpstr>Why use Two’s Complement</vt:lpstr>
      <vt:lpstr>Adding two integers</vt:lpstr>
      <vt:lpstr>Subtracting two signed integers:  (-9) - 6</vt:lpstr>
      <vt:lpstr>Two’s Complement Simplifies Hardware Implementation</vt:lpstr>
      <vt:lpstr>ASCII</vt:lpstr>
      <vt:lpstr>ASCII</vt:lpstr>
      <vt:lpstr>String Comparison</vt:lpstr>
      <vt:lpstr>Find out String Length</vt:lpstr>
      <vt:lpstr>Convert to Upper Case</vt:lpstr>
      <vt:lpstr>Summary</vt:lpstr>
      <vt:lpstr>References</vt:lpstr>
    </vt:vector>
  </TitlesOfParts>
  <Company>Key Software Products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COEN 020</dc:title>
  <dc:creator>Daniel W. Lewis</dc:creator>
  <cp:lastModifiedBy>Zonghua Gu</cp:lastModifiedBy>
  <cp:revision>517</cp:revision>
  <dcterms:created xsi:type="dcterms:W3CDTF">1999-01-04T11:50:11Z</dcterms:created>
  <dcterms:modified xsi:type="dcterms:W3CDTF">2025-12-30T21:39:56Z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2</vt:i4>
  </property>
  <property fmtid="{D5CDD505-2E9C-101B-9397-08002B2CF9AE}" pid="3" name="GraphicType">
    <vt:i4>1</vt:i4>
  </property>
  <property fmtid="{D5CDD505-2E9C-101B-9397-08002B2CF9AE}" pid="4" name="Compression">
    <vt:i4>80</vt:i4>
  </property>
  <property fmtid="{D5CDD505-2E9C-101B-9397-08002B2CF9AE}" pid="5" name="ScreenSize">
    <vt:i4>2</vt:i4>
  </property>
  <property fmtid="{D5CDD505-2E9C-101B-9397-08002B2CF9AE}" pid="6" name="ScreenUsage">
    <vt:i4>1</vt:i4>
  </property>
  <property fmtid="{D5CDD505-2E9C-101B-9397-08002B2CF9AE}" pid="7" name="MailAddress">
    <vt:lpwstr>dlewis@scu.edu</vt:lpwstr>
  </property>
  <property fmtid="{D5CDD505-2E9C-101B-9397-08002B2CF9AE}" pid="8" name="HomePage">
    <vt:lpwstr>http://www.cse.scu.edu/dlewis/coen.020/w99</vt:lpwstr>
  </property>
  <property fmtid="{D5CDD505-2E9C-101B-9397-08002B2CF9AE}" pid="9" name="Other">
    <vt:lpwstr>COEN 020 Winter 1999_x000d_
</vt:lpwstr>
  </property>
  <property fmtid="{D5CDD505-2E9C-101B-9397-08002B2CF9AE}" pid="10" name="DownloadOriginal">
    <vt:bool>false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3</vt:i4>
  </property>
  <property fmtid="{D5CDD505-2E9C-101B-9397-08002B2CF9AE}" pid="19" name="ShowNotes">
    <vt:bool>false</vt:bool>
  </property>
  <property fmtid="{D5CDD505-2E9C-101B-9397-08002B2CF9AE}" pid="20" name="NavBtnPos">
    <vt:i4>1</vt:i4>
  </property>
  <property fmtid="{D5CDD505-2E9C-101B-9397-08002B2CF9AE}" pid="21" name="OutputDir">
    <vt:lpwstr>C:\TEMP</vt:lpwstr>
  </property>
</Properties>
</file>