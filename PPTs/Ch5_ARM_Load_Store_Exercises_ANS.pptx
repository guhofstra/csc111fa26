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86" r:id="rId1"/>
  </p:sldMasterIdLst>
  <p:notesMasterIdLst>
    <p:notesMasterId r:id="rId39"/>
  </p:notesMasterIdLst>
  <p:handoutMasterIdLst>
    <p:handoutMasterId r:id="rId40"/>
  </p:handoutMasterIdLst>
  <p:sldIdLst>
    <p:sldId id="385" r:id="rId2"/>
    <p:sldId id="356" r:id="rId3"/>
    <p:sldId id="357" r:id="rId4"/>
    <p:sldId id="363" r:id="rId5"/>
    <p:sldId id="364" r:id="rId6"/>
    <p:sldId id="358" r:id="rId7"/>
    <p:sldId id="359" r:id="rId8"/>
    <p:sldId id="417" r:id="rId9"/>
    <p:sldId id="798" r:id="rId10"/>
    <p:sldId id="813" r:id="rId11"/>
    <p:sldId id="809" r:id="rId12"/>
    <p:sldId id="811" r:id="rId13"/>
    <p:sldId id="812" r:id="rId14"/>
    <p:sldId id="774" r:id="rId15"/>
    <p:sldId id="345" r:id="rId16"/>
    <p:sldId id="346" r:id="rId17"/>
    <p:sldId id="369" r:id="rId18"/>
    <p:sldId id="370" r:id="rId19"/>
    <p:sldId id="367" r:id="rId20"/>
    <p:sldId id="368" r:id="rId21"/>
    <p:sldId id="365" r:id="rId22"/>
    <p:sldId id="366" r:id="rId23"/>
    <p:sldId id="495" r:id="rId24"/>
    <p:sldId id="801" r:id="rId25"/>
    <p:sldId id="799" r:id="rId26"/>
    <p:sldId id="804" r:id="rId27"/>
    <p:sldId id="803" r:id="rId28"/>
    <p:sldId id="805" r:id="rId29"/>
    <p:sldId id="806" r:id="rId30"/>
    <p:sldId id="816" r:id="rId31"/>
    <p:sldId id="817" r:id="rId32"/>
    <p:sldId id="818" r:id="rId33"/>
    <p:sldId id="819" r:id="rId34"/>
    <p:sldId id="821" r:id="rId35"/>
    <p:sldId id="823" r:id="rId36"/>
    <p:sldId id="824" r:id="rId37"/>
    <p:sldId id="820" r:id="rId38"/>
  </p:sldIdLst>
  <p:sldSz cx="9144000" cy="6858000" type="screen4x3"/>
  <p:notesSz cx="9296400" cy="7010400"/>
  <p:defaultTextStyle>
    <a:defPPr>
      <a:defRPr lang="en-US"/>
    </a:defPPr>
    <a:lvl1pPr algn="l" rtl="0" eaLnBrk="0" fontAlgn="base" hangingPunct="0">
      <a:spcBef>
        <a:spcPct val="0"/>
      </a:spcBef>
      <a:spcAft>
        <a:spcPct val="0"/>
      </a:spcAft>
      <a:defRPr sz="1400" b="1" kern="1200">
        <a:solidFill>
          <a:schemeClr val="tx1"/>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p:defaultTextStyle>
  <p:extLst>
    <p:ext uri="{EFAFB233-063F-42B5-8137-9DF3F51BA10A}">
      <p15:sldGuideLst xmlns:p15="http://schemas.microsoft.com/office/powerpoint/2012/main">
        <p15:guide id="1" orient="horz" pos="1083">
          <p15:clr>
            <a:srgbClr val="A4A3A4"/>
          </p15:clr>
        </p15:guide>
        <p15:guide id="2" orient="horz" pos="1826">
          <p15:clr>
            <a:srgbClr val="A4A3A4"/>
          </p15:clr>
        </p15:guide>
        <p15:guide id="3" orient="horz" pos="1381">
          <p15:clr>
            <a:srgbClr val="A4A3A4"/>
          </p15:clr>
        </p15:guide>
        <p15:guide id="4" pos="395">
          <p15:clr>
            <a:srgbClr val="A4A3A4"/>
          </p15:clr>
        </p15:guide>
        <p15:guide id="5" pos="3259">
          <p15:clr>
            <a:srgbClr val="A4A3A4"/>
          </p15:clr>
        </p15:guide>
        <p15:guide id="6" pos="155">
          <p15:clr>
            <a:srgbClr val="A4A3A4"/>
          </p15:clr>
        </p15:guide>
      </p15:sldGuideLst>
    </p:ext>
    <p:ext uri="{2D200454-40CA-4A62-9FC3-DE9A4176ACB9}">
      <p15:notesGuideLst xmlns:p15="http://schemas.microsoft.com/office/powerpoint/2012/main">
        <p15:guide id="1" orient="horz" pos="1548" userDrawn="1">
          <p15:clr>
            <a:srgbClr val="A4A3A4"/>
          </p15:clr>
        </p15:guide>
        <p15:guide id="2" pos="389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41FF"/>
    <a:srgbClr val="00618C"/>
    <a:srgbClr val="006D82"/>
    <a:srgbClr val="A5D0E3"/>
    <a:srgbClr val="49C7FF"/>
    <a:srgbClr val="DDDDDD"/>
    <a:srgbClr val="60E4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15B36E-3F1F-4080-BFE4-BCF32F628333}" v="1" dt="2026-03-12T14:48:35.2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74" autoAdjust="0"/>
    <p:restoredTop sz="92288" autoAdjust="0"/>
  </p:normalViewPr>
  <p:slideViewPr>
    <p:cSldViewPr snapToGrid="0">
      <p:cViewPr varScale="1">
        <p:scale>
          <a:sx n="113" d="100"/>
          <a:sy n="113" d="100"/>
        </p:scale>
        <p:origin x="1560" y="33"/>
      </p:cViewPr>
      <p:guideLst>
        <p:guide orient="horz" pos="1083"/>
        <p:guide orient="horz" pos="1826"/>
        <p:guide orient="horz" pos="1381"/>
        <p:guide pos="395"/>
        <p:guide pos="3259"/>
        <p:guide pos="155"/>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50" d="100"/>
        <a:sy n="150" d="100"/>
      </p:scale>
      <p:origin x="0" y="-17750"/>
    </p:cViewPr>
  </p:sorterViewPr>
  <p:notesViewPr>
    <p:cSldViewPr snapToGrid="0">
      <p:cViewPr>
        <p:scale>
          <a:sx n="100" d="100"/>
          <a:sy n="100" d="100"/>
        </p:scale>
        <p:origin x="-648" y="-821"/>
      </p:cViewPr>
      <p:guideLst>
        <p:guide orient="horz" pos="1548"/>
        <p:guide pos="3897"/>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sldOrd modNotesMaster modHandout">
      <pc:chgData name="Zonghua Gu" userId="9a7e1853e1951ef5" providerId="LiveId" clId="{CF1FAA12-072C-4ED5-BA76-0FFFAEFDB88A}" dt="2026-03-12T14:49:34.669" v="5278" actId="20577"/>
      <pc:docMkLst>
        <pc:docMk/>
      </pc:docMkLst>
      <pc:sldChg chg="modSp add mod">
        <pc:chgData name="Zonghua Gu" userId="9a7e1853e1951ef5" providerId="LiveId" clId="{CF1FAA12-072C-4ED5-BA76-0FFFAEFDB88A}" dt="2026-03-12T14:49:34.669" v="5278" actId="20577"/>
        <pc:sldMkLst>
          <pc:docMk/>
          <pc:sldMk cId="1716263769" sldId="813"/>
        </pc:sldMkLst>
        <pc:spChg chg="mod">
          <ac:chgData name="Zonghua Gu" userId="9a7e1853e1951ef5" providerId="LiveId" clId="{CF1FAA12-072C-4ED5-BA76-0FFFAEFDB88A}" dt="2026-03-12T14:49:34.669" v="5278" actId="20577"/>
          <ac:spMkLst>
            <pc:docMk/>
            <pc:sldMk cId="1716263769" sldId="813"/>
            <ac:spMk id="4" creationId="{2E30BEB6-14A6-7DA1-64FA-D0E05B68253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7" name="Rectangle 5"/>
          <p:cNvSpPr>
            <a:spLocks noChangeArrowheads="1"/>
          </p:cNvSpPr>
          <p:nvPr/>
        </p:nvSpPr>
        <p:spPr bwMode="auto">
          <a:xfrm>
            <a:off x="2197067" y="219891"/>
            <a:ext cx="5014725" cy="240575"/>
          </a:xfrm>
          <a:prstGeom prst="rect">
            <a:avLst/>
          </a:prstGeom>
          <a:noFill/>
          <a:ln w="9525">
            <a:noFill/>
            <a:miter lim="800000"/>
            <a:headEnd/>
            <a:tailEnd/>
          </a:ln>
        </p:spPr>
        <p:txBody>
          <a:bodyPr lIns="88139" tIns="44070" rIns="88139" bIns="44070"/>
          <a:lstStyle/>
          <a:p>
            <a:pPr>
              <a:defRPr/>
            </a:pPr>
            <a:endParaRPr lang="en-US"/>
          </a:p>
        </p:txBody>
      </p:sp>
    </p:spTree>
    <p:extLst>
      <p:ext uri="{BB962C8B-B14F-4D97-AF65-F5344CB8AC3E}">
        <p14:creationId xmlns:p14="http://schemas.microsoft.com/office/powerpoint/2010/main" val="13886261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1237023" y="3341916"/>
            <a:ext cx="6820275" cy="3168832"/>
          </a:xfrm>
          <a:prstGeom prst="rect">
            <a:avLst/>
          </a:prstGeom>
          <a:noFill/>
          <a:ln w="9525">
            <a:noFill/>
            <a:miter lim="800000"/>
            <a:headEnd/>
            <a:tailEnd/>
          </a:ln>
          <a:effectLst/>
        </p:spPr>
        <p:txBody>
          <a:bodyPr vert="horz" wrap="square" lIns="95231" tIns="47616" rIns="95231" bIns="476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2" name="Rectangle 4"/>
          <p:cNvSpPr>
            <a:spLocks noChangeArrowheads="1"/>
          </p:cNvSpPr>
          <p:nvPr/>
        </p:nvSpPr>
        <p:spPr bwMode="gray">
          <a:xfrm>
            <a:off x="7118078" y="138249"/>
            <a:ext cx="1684765" cy="332015"/>
          </a:xfrm>
          <a:prstGeom prst="rect">
            <a:avLst/>
          </a:prstGeom>
          <a:solidFill>
            <a:schemeClr val="tx1"/>
          </a:solidFill>
          <a:ln w="12700">
            <a:solidFill>
              <a:schemeClr val="tx1"/>
            </a:solidFill>
            <a:miter lim="800000"/>
            <a:headEnd/>
            <a:tailEnd/>
          </a:ln>
          <a:effectLst/>
        </p:spPr>
        <p:txBody>
          <a:bodyPr wrap="none" lIns="96818" tIns="47616" rIns="96818" bIns="47616" anchor="ctr"/>
          <a:lstStyle/>
          <a:p>
            <a:pPr algn="ctr" defTabSz="999215">
              <a:defRPr/>
            </a:pPr>
            <a:r>
              <a:rPr lang="en-US" sz="1800">
                <a:solidFill>
                  <a:schemeClr val="bg1"/>
                </a:solidFill>
                <a:latin typeface="Arial" pitchFamily="34" charset="0"/>
              </a:rPr>
              <a:t>Notes</a:t>
            </a:r>
          </a:p>
        </p:txBody>
      </p:sp>
      <p:sp>
        <p:nvSpPr>
          <p:cNvPr id="2053" name="Line 5"/>
          <p:cNvSpPr>
            <a:spLocks noChangeShapeType="1"/>
          </p:cNvSpPr>
          <p:nvPr/>
        </p:nvSpPr>
        <p:spPr bwMode="auto">
          <a:xfrm>
            <a:off x="608099" y="547551"/>
            <a:ext cx="8203074" cy="0"/>
          </a:xfrm>
          <a:prstGeom prst="line">
            <a:avLst/>
          </a:prstGeom>
          <a:noFill/>
          <a:ln w="12700">
            <a:solidFill>
              <a:schemeClr val="tx1"/>
            </a:solidFill>
            <a:round/>
            <a:headEnd type="none" w="sm" len="sm"/>
            <a:tailEnd type="none" w="sm" len="sm"/>
          </a:ln>
          <a:effectLst/>
        </p:spPr>
        <p:txBody>
          <a:bodyPr wrap="none" lIns="88139" tIns="44070" rIns="88139" bIns="44070" anchor="ctr"/>
          <a:lstStyle/>
          <a:p>
            <a:pPr>
              <a:defRPr/>
            </a:pPr>
            <a:endParaRPr lang="en-US"/>
          </a:p>
        </p:txBody>
      </p:sp>
      <p:sp>
        <p:nvSpPr>
          <p:cNvPr id="2054" name="Rectangle 6"/>
          <p:cNvSpPr>
            <a:spLocks noChangeArrowheads="1"/>
          </p:cNvSpPr>
          <p:nvPr/>
        </p:nvSpPr>
        <p:spPr bwMode="auto">
          <a:xfrm>
            <a:off x="599767" y="355963"/>
            <a:ext cx="5618658" cy="217047"/>
          </a:xfrm>
          <a:prstGeom prst="rect">
            <a:avLst/>
          </a:prstGeom>
          <a:noFill/>
          <a:ln w="9525">
            <a:noFill/>
            <a:miter lim="800000"/>
            <a:headEnd/>
            <a:tailEnd/>
          </a:ln>
          <a:effectLst/>
        </p:spPr>
        <p:txBody>
          <a:bodyPr lIns="66661" tIns="25395" rIns="66661" bIns="25395">
            <a:spAutoFit/>
          </a:bodyPr>
          <a:lstStyle/>
          <a:p>
            <a:pPr defTabSz="999215">
              <a:lnSpc>
                <a:spcPct val="90000"/>
              </a:lnSpc>
              <a:tabLst>
                <a:tab pos="953310" algn="l"/>
              </a:tabLst>
              <a:defRPr/>
            </a:pPr>
            <a:r>
              <a:rPr lang="en-US" sz="1200">
                <a:latin typeface="Arial" pitchFamily="34" charset="0"/>
              </a:rPr>
              <a:t>The ARM Architecture</a:t>
            </a:r>
          </a:p>
        </p:txBody>
      </p:sp>
      <p:sp>
        <p:nvSpPr>
          <p:cNvPr id="2055" name="Rectangle 7"/>
          <p:cNvSpPr>
            <a:spLocks noChangeArrowheads="1"/>
          </p:cNvSpPr>
          <p:nvPr/>
        </p:nvSpPr>
        <p:spPr bwMode="auto">
          <a:xfrm>
            <a:off x="4408711" y="6657703"/>
            <a:ext cx="314160" cy="217485"/>
          </a:xfrm>
          <a:prstGeom prst="rect">
            <a:avLst/>
          </a:prstGeom>
          <a:noFill/>
          <a:ln w="9525">
            <a:noFill/>
            <a:miter lim="800000"/>
            <a:headEnd/>
            <a:tailEnd/>
          </a:ln>
          <a:effectLst/>
        </p:spPr>
        <p:txBody>
          <a:bodyPr wrap="none" lIns="66661" tIns="25395" rIns="66661" bIns="25395">
            <a:spAutoFit/>
          </a:bodyPr>
          <a:lstStyle/>
          <a:p>
            <a:pPr defTabSz="999215">
              <a:lnSpc>
                <a:spcPct val="90000"/>
              </a:lnSpc>
              <a:defRPr/>
            </a:pPr>
            <a:fld id="{01D96813-752F-4230-8F78-89BE1AD35FEA}" type="slidenum">
              <a:rPr lang="en-US" sz="1200">
                <a:solidFill>
                  <a:srgbClr val="006D82"/>
                </a:solidFill>
                <a:latin typeface="Times New Roman" pitchFamily="18" charset="0"/>
              </a:rPr>
              <a:pPr defTabSz="999215">
                <a:lnSpc>
                  <a:spcPct val="90000"/>
                </a:lnSpc>
                <a:defRPr/>
              </a:pPr>
              <a:t>‹#›</a:t>
            </a:fld>
            <a:endParaRPr lang="en-US" sz="1200">
              <a:solidFill>
                <a:srgbClr val="006D82"/>
              </a:solidFill>
              <a:latin typeface="Times New Roman" pitchFamily="18" charset="0"/>
            </a:endParaRPr>
          </a:p>
        </p:txBody>
      </p:sp>
      <p:sp>
        <p:nvSpPr>
          <p:cNvPr id="32775" name="Rectangle 8"/>
          <p:cNvSpPr>
            <a:spLocks noGrp="1" noRot="1" noChangeAspect="1" noChangeArrowheads="1" noTextEdit="1"/>
          </p:cNvSpPr>
          <p:nvPr>
            <p:ph type="sldImg" idx="2"/>
          </p:nvPr>
        </p:nvSpPr>
        <p:spPr bwMode="auto">
          <a:xfrm>
            <a:off x="2994025" y="644525"/>
            <a:ext cx="3286125" cy="2465388"/>
          </a:xfrm>
          <a:prstGeom prst="rect">
            <a:avLst/>
          </a:prstGeom>
          <a:noFill/>
          <a:ln w="9525">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1201248719"/>
      </p:ext>
    </p:extLst>
  </p:cSld>
  <p:clrMap bg1="lt1" tx1="dk1" bg2="lt2" tx2="dk2" accent1="accent1" accent2="accent2" accent3="accent3" accent4="accent4" accent5="accent5" accent6="accent6" hlink="hlink" folHlink="folHlink"/>
  <p:notesStyle>
    <a:lvl1pPr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73075"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47738"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420813"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93888"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849773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69968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89509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984500" y="655638"/>
            <a:ext cx="3341688" cy="2506662"/>
          </a:xfrm>
          <a:ln/>
        </p:spPr>
        <p:txBody>
          <a:bodyPr/>
          <a:lstStyle/>
          <a:p>
            <a:endParaRPr lang="en-US"/>
          </a:p>
        </p:txBody>
      </p:sp>
      <p:sp>
        <p:nvSpPr>
          <p:cNvPr id="56323" name="Rectangle 1027"/>
          <p:cNvSpPr>
            <a:spLocks noGrp="1" noChangeArrowheads="1"/>
          </p:cNvSpPr>
          <p:nvPr>
            <p:ph type="body" idx="1"/>
          </p:nvPr>
        </p:nvSpPr>
        <p:spPr>
          <a:xfrm>
            <a:off x="1237022" y="3343004"/>
            <a:ext cx="6822358" cy="3165566"/>
          </a:xfrm>
          <a:solidFill>
            <a:srgbClr val="FFFFFF"/>
          </a:solidFill>
          <a:ln>
            <a:solidFill>
              <a:srgbClr val="000000"/>
            </a:solidFill>
          </a:ln>
        </p:spPr>
        <p:txBody>
          <a:bodyPr lIns="88007" tIns="44003" rIns="88007" bIns="44003"/>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032239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984500" y="655638"/>
            <a:ext cx="3341688" cy="2506662"/>
          </a:xfrm>
          <a:ln/>
        </p:spPr>
        <p:txBody>
          <a:bodyPr/>
          <a:lstStyle/>
          <a:p>
            <a:endParaRPr lang="en-US"/>
          </a:p>
        </p:txBody>
      </p:sp>
      <p:sp>
        <p:nvSpPr>
          <p:cNvPr id="56323" name="Rectangle 1027"/>
          <p:cNvSpPr>
            <a:spLocks noGrp="1" noChangeArrowheads="1"/>
          </p:cNvSpPr>
          <p:nvPr>
            <p:ph type="body" idx="1"/>
          </p:nvPr>
        </p:nvSpPr>
        <p:spPr>
          <a:xfrm>
            <a:off x="1237022" y="3343004"/>
            <a:ext cx="6822358" cy="3165566"/>
          </a:xfrm>
          <a:solidFill>
            <a:srgbClr val="FFFFFF"/>
          </a:solidFill>
          <a:ln>
            <a:solidFill>
              <a:srgbClr val="000000"/>
            </a:solidFill>
          </a:ln>
        </p:spPr>
        <p:txBody>
          <a:bodyPr lIns="88007" tIns="44003" rIns="88007" bIns="44003"/>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3518169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905125" y="628650"/>
            <a:ext cx="3203575" cy="2401888"/>
          </a:xfrm>
          <a:ln/>
        </p:spPr>
        <p:txBody>
          <a:bodyPr/>
          <a:lstStyle/>
          <a:p>
            <a:endParaRPr lang="en-US"/>
          </a:p>
        </p:txBody>
      </p:sp>
      <p:sp>
        <p:nvSpPr>
          <p:cNvPr id="56323" name="Rectangle 1027"/>
          <p:cNvSpPr>
            <a:spLocks noGrp="1" noChangeArrowheads="1"/>
          </p:cNvSpPr>
          <p:nvPr>
            <p:ph type="body" idx="1"/>
          </p:nvPr>
        </p:nvSpPr>
        <p:spPr>
          <a:xfrm>
            <a:off x="1197751" y="3203711"/>
            <a:ext cx="6605775" cy="3033667"/>
          </a:xfrm>
          <a:solidFill>
            <a:srgbClr val="FFFFFF"/>
          </a:solidFill>
          <a:ln>
            <a:solidFill>
              <a:srgbClr val="000000"/>
            </a:solidFill>
          </a:ln>
        </p:spPr>
        <p:txBody>
          <a:bodyPr lIns="84830" tIns="42414" rIns="84830" bIns="42414"/>
          <a:lstStyle/>
          <a:p>
            <a:r>
              <a:rPr lang="en-US" dirty="0"/>
              <a:t>Halfword access and signed halfword/byte accesses were added to the architecture in v4T, this is the reason the offset field is not as flexible as the normal word/byte load/store - not a problem because these accesses are less common.</a:t>
            </a:r>
          </a:p>
          <a:p>
            <a:endParaRPr lang="en-US" dirty="0"/>
          </a:p>
          <a:p>
            <a:r>
              <a:rPr lang="en-US" dirty="0"/>
              <a:t>Link: diagram on next slide</a:t>
            </a:r>
          </a:p>
        </p:txBody>
      </p:sp>
    </p:spTree>
    <p:extLst>
      <p:ext uri="{BB962C8B-B14F-4D97-AF65-F5344CB8AC3E}">
        <p14:creationId xmlns:p14="http://schemas.microsoft.com/office/powerpoint/2010/main" val="2013822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AF3F1-B017-A08A-9251-B46F8932819C}"/>
            </a:ext>
          </a:extLst>
        </p:cNvPr>
        <p:cNvGrpSpPr/>
        <p:nvPr/>
      </p:nvGrpSpPr>
      <p:grpSpPr>
        <a:xfrm>
          <a:off x="0" y="0"/>
          <a:ext cx="0" cy="0"/>
          <a:chOff x="0" y="0"/>
          <a:chExt cx="0" cy="0"/>
        </a:xfrm>
      </p:grpSpPr>
      <p:sp>
        <p:nvSpPr>
          <p:cNvPr id="56322" name="Rectangle 1026">
            <a:extLst>
              <a:ext uri="{FF2B5EF4-FFF2-40B4-BE49-F238E27FC236}">
                <a16:creationId xmlns:a16="http://schemas.microsoft.com/office/drawing/2014/main" id="{353D122D-0224-8535-E3A6-5FDD7A707E2A}"/>
              </a:ext>
            </a:extLst>
          </p:cNvPr>
          <p:cNvSpPr>
            <a:spLocks noGrp="1" noRot="1" noChangeAspect="1" noChangeArrowheads="1" noTextEdit="1"/>
          </p:cNvSpPr>
          <p:nvPr>
            <p:ph type="sldImg"/>
          </p:nvPr>
        </p:nvSpPr>
        <p:spPr>
          <a:xfrm>
            <a:off x="2905125" y="628650"/>
            <a:ext cx="3203575" cy="2401888"/>
          </a:xfrm>
          <a:ln/>
        </p:spPr>
        <p:txBody>
          <a:bodyPr/>
          <a:lstStyle/>
          <a:p>
            <a:endParaRPr lang="en-US"/>
          </a:p>
        </p:txBody>
      </p:sp>
      <p:sp>
        <p:nvSpPr>
          <p:cNvPr id="56323" name="Rectangle 1027">
            <a:extLst>
              <a:ext uri="{FF2B5EF4-FFF2-40B4-BE49-F238E27FC236}">
                <a16:creationId xmlns:a16="http://schemas.microsoft.com/office/drawing/2014/main" id="{E7284EB6-6786-5ABD-3B45-B558349A2A29}"/>
              </a:ext>
            </a:extLst>
          </p:cNvPr>
          <p:cNvSpPr>
            <a:spLocks noGrp="1" noChangeArrowheads="1"/>
          </p:cNvSpPr>
          <p:nvPr>
            <p:ph type="body" idx="1"/>
          </p:nvPr>
        </p:nvSpPr>
        <p:spPr>
          <a:xfrm>
            <a:off x="1197751" y="3203711"/>
            <a:ext cx="6605775" cy="3033667"/>
          </a:xfrm>
          <a:solidFill>
            <a:srgbClr val="FFFFFF"/>
          </a:solidFill>
          <a:ln>
            <a:solidFill>
              <a:srgbClr val="000000"/>
            </a:solidFill>
          </a:ln>
        </p:spPr>
        <p:txBody>
          <a:bodyPr lIns="84830" tIns="42414" rIns="84830" bIns="42414"/>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627589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23359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lIns="88139" tIns="44070" rIns="88139" bIns="44070"/>
          <a:lstStyle/>
          <a:p>
            <a:fld id="{EF97FDFF-7B9F-7D4D-BFC0-AAD1F3D3D3CB}" type="slidenum">
              <a:rPr lang="en-US" smtClean="0"/>
              <a:pPr/>
              <a:t>14</a:t>
            </a:fld>
            <a:endParaRPr lang="en-US" dirty="0"/>
          </a:p>
        </p:txBody>
      </p:sp>
    </p:spTree>
    <p:extLst>
      <p:ext uri="{BB962C8B-B14F-4D97-AF65-F5344CB8AC3E}">
        <p14:creationId xmlns:p14="http://schemas.microsoft.com/office/powerpoint/2010/main" val="9069692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defTabSz="945658">
              <a:defRPr/>
            </a:pPr>
            <a:r>
              <a:rPr lang="en-US" dirty="0">
                <a:solidFill>
                  <a:prstClr val="black"/>
                </a:solidFill>
              </a:rPr>
              <a:t>Reading the 32-bit word at address 102 spans addresses 102..105, which cross a 4-byte alignment boundary if the bus expects aligned words at multiples of 4 (e.g., aligned words at 100 and 104). Since 102 is misaligned, the access requires two aligned 32-bit bus cycles (one covering 100..103 and one covering 104..107) with the CPU combining bytes</a:t>
            </a:r>
          </a:p>
          <a:p>
            <a:pPr defTabSz="945658">
              <a:defRPr/>
            </a:pPr>
            <a:r>
              <a:rPr lang="en-US" dirty="0">
                <a:solidFill>
                  <a:prstClr val="black"/>
                </a:solidFill>
              </a:rPr>
              <a:t>Reading a 16-bit halfword at address 102 uses bytes 102..103, which reside within the same aligned 32-bit word (100..103). On a 32-bit bus that supports halfword transfers, this is a single bus cycle</a:t>
            </a:r>
          </a:p>
          <a:p>
            <a:pPr defTabSz="945658">
              <a:defRPr/>
            </a:pPr>
            <a:endParaRPr lang="en-US" dirty="0">
              <a:solidFill>
                <a:prstClr val="black"/>
              </a:solidFill>
            </a:endParaRPr>
          </a:p>
          <a:p>
            <a:endParaRPr lang="en-US" dirty="0"/>
          </a:p>
        </p:txBody>
      </p:sp>
    </p:spTree>
    <p:extLst>
      <p:ext uri="{BB962C8B-B14F-4D97-AF65-F5344CB8AC3E}">
        <p14:creationId xmlns:p14="http://schemas.microsoft.com/office/powerpoint/2010/main" val="2152255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668D8-F05C-2E94-D1C3-2181608EA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74A841-09CB-783C-8C0B-28BD29BAA0E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321DBF-12AB-9744-9A46-4D632253757A}"/>
              </a:ext>
            </a:extLst>
          </p:cNvPr>
          <p:cNvSpPr>
            <a:spLocks noGrp="1"/>
          </p:cNvSpPr>
          <p:nvPr>
            <p:ph type="body" idx="1"/>
          </p:nvPr>
        </p:nvSpPr>
        <p:spPr/>
        <p:txBody>
          <a:bodyPr/>
          <a:lstStyle/>
          <a:p>
            <a:endParaRPr/>
          </a:p>
        </p:txBody>
      </p:sp>
    </p:spTree>
    <p:extLst>
      <p:ext uri="{BB962C8B-B14F-4D97-AF65-F5344CB8AC3E}">
        <p14:creationId xmlns:p14="http://schemas.microsoft.com/office/powerpoint/2010/main" val="29007313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LDMIA and LDMDB exist in Thumb-2 (Cortex-M). LDMIB and LDMDA exist only in ARM (A32) state, which is why this exercise uses LDMIA/LDMDB.</a:t>
            </a:r>
          </a:p>
        </p:txBody>
      </p:sp>
    </p:spTree>
    <p:extLst>
      <p:ext uri="{BB962C8B-B14F-4D97-AF65-F5344CB8AC3E}">
        <p14:creationId xmlns:p14="http://schemas.microsoft.com/office/powerpoint/2010/main" val="32949389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A3867-4610-0FCB-FE13-CBAA94B0C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519C7F-982C-EA9B-A15F-97625353E83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03BB58-98A9-1D41-2B55-40AF13E8496A}"/>
              </a:ext>
            </a:extLst>
          </p:cNvPr>
          <p:cNvSpPr>
            <a:spLocks noGrp="1"/>
          </p:cNvSpPr>
          <p:nvPr>
            <p:ph type="body" idx="1"/>
          </p:nvPr>
        </p:nvSpPr>
        <p:spPr/>
        <p:txBody>
          <a:bodyPr/>
          <a:lstStyle/>
          <a:p>
            <a:endParaRPr/>
          </a:p>
        </p:txBody>
      </p:sp>
    </p:spTree>
    <p:extLst>
      <p:ext uri="{BB962C8B-B14F-4D97-AF65-F5344CB8AC3E}">
        <p14:creationId xmlns:p14="http://schemas.microsoft.com/office/powerpoint/2010/main" val="2121441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30714158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28F63-CB62-AD29-0E65-2F73F2894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A3B6A-BEBC-E047-D6F5-0CC9FE36CC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BBBA09-2F24-6E9E-D66B-08028CA3C10C}"/>
              </a:ext>
            </a:extLst>
          </p:cNvPr>
          <p:cNvSpPr>
            <a:spLocks noGrp="1"/>
          </p:cNvSpPr>
          <p:nvPr>
            <p:ph type="body" idx="1"/>
          </p:nvPr>
        </p:nvSpPr>
        <p:spPr/>
        <p:txBody>
          <a:bodyPr/>
          <a:lstStyle/>
          <a:p>
            <a:r>
              <a:t>Unaligned halfword access (address 9): allowed on Cortex-M3/M4/M7, HardFault on Cortex-M0/M0+.</a:t>
            </a:r>
          </a:p>
        </p:txBody>
      </p:sp>
    </p:spTree>
    <p:extLst>
      <p:ext uri="{BB962C8B-B14F-4D97-AF65-F5344CB8AC3E}">
        <p14:creationId xmlns:p14="http://schemas.microsoft.com/office/powerpoint/2010/main" val="3753239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CF467-06C2-3526-37D2-F03D64AF0F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38F54-911C-27C2-0DE4-E67D2E331AE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DB72AF-C25F-8B44-2BBF-BEEB603A2915}"/>
              </a:ext>
            </a:extLst>
          </p:cNvPr>
          <p:cNvSpPr>
            <a:spLocks noGrp="1"/>
          </p:cNvSpPr>
          <p:nvPr>
            <p:ph type="body" idx="1"/>
          </p:nvPr>
        </p:nvSpPr>
        <p:spPr/>
        <p:txBody>
          <a:bodyPr/>
          <a:lstStyle/>
          <a:p>
            <a:endParaRPr/>
          </a:p>
        </p:txBody>
      </p:sp>
    </p:spTree>
    <p:extLst>
      <p:ext uri="{BB962C8B-B14F-4D97-AF65-F5344CB8AC3E}">
        <p14:creationId xmlns:p14="http://schemas.microsoft.com/office/powerpoint/2010/main" val="3041489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de-DE" sz="1200" b="0" i="0" kern="1200" dirty="0">
                <a:solidFill>
                  <a:schemeClr val="tx1"/>
                </a:solidFill>
                <a:effectLst/>
                <a:latin typeface="Times New Roman" pitchFamily="18" charset="0"/>
                <a:ea typeface="+mn-ea"/>
                <a:cs typeface="+mn-cs"/>
              </a:rPr>
              <a:t>0x10000010 FF EF CD AB 00 00 CD AB D0 BC D7 A8</a:t>
            </a:r>
            <a:endParaRPr lang="en-US" dirty="0"/>
          </a:p>
        </p:txBody>
      </p:sp>
    </p:spTree>
    <p:extLst>
      <p:ext uri="{BB962C8B-B14F-4D97-AF65-F5344CB8AC3E}">
        <p14:creationId xmlns:p14="http://schemas.microsoft.com/office/powerpoint/2010/main" val="2373245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R0  = 0xABCDEFFF     R4  = 0x00000000     R8  = 0x00000000     R12 = 0xABD7BCD0  </a:t>
            </a:r>
          </a:p>
          <a:p>
            <a:r>
              <a:rPr lang="pt-BR" dirty="0"/>
              <a:t>R1  = 0x10000010     R5  = 0x00000001     R9  = 0x000ABCD0     R13 = 0x10000200  </a:t>
            </a:r>
          </a:p>
          <a:p>
            <a:r>
              <a:rPr lang="pt-BR" dirty="0"/>
              <a:t>R2  = 0xABCDEFFF     R6  = 0x00000010     R10 = 0xD0BC0A00     R14 = 0x00000260  </a:t>
            </a:r>
          </a:p>
          <a:p>
            <a:r>
              <a:rPr lang="pt-BR" dirty="0"/>
              <a:t>R3  = 0xABCD0000     R7  = 0xABCDEFEF     R11 = 0x00503D0B     R15 = 0x00000250</a:t>
            </a:r>
          </a:p>
          <a:p>
            <a:endParaRPr lang="en-US" dirty="0"/>
          </a:p>
        </p:txBody>
      </p:sp>
    </p:spTree>
    <p:extLst>
      <p:ext uri="{BB962C8B-B14F-4D97-AF65-F5344CB8AC3E}">
        <p14:creationId xmlns:p14="http://schemas.microsoft.com/office/powerpoint/2010/main" val="24123192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The program loads two words from memory, calls a max routine to choose the larger into R0, performs bit-masking and byte/bit-reordering operations, computes a rotated-sum, and stores that result back to memory at an 8‑byte offset from the base address R1, under little‑endian layout.</a:t>
            </a:r>
          </a:p>
          <a:p>
            <a:r>
              <a:rPr lang="en-US" b="0" dirty="0"/>
              <a:t>All intermediate register values, NZCV updates, and the final memory bytes at the store address are detailed below step by step.[1]</a:t>
            </a:r>
          </a:p>
          <a:p>
            <a:endParaRPr lang="en-US" b="0" dirty="0"/>
          </a:p>
          <a:p>
            <a:r>
              <a:rPr lang="en-US" b="0" dirty="0"/>
              <a:t>### Setup</a:t>
            </a:r>
          </a:p>
          <a:p>
            <a:r>
              <a:rPr lang="en-US" b="0" dirty="0"/>
              <a:t>- Memory at 0x10000010 contains bytes FF EF CD AB, and at 0x10000014 contains 00 00 CD AB, which, under little‑endian, correspond to words 0xABCDEFFF and 0xABCD0000 respectively.[1]</a:t>
            </a:r>
          </a:p>
          <a:p>
            <a:r>
              <a:rPr lang="en-US" b="0" dirty="0"/>
              <a:t>- The code sequence is the one shown on slide 32, and NZCV flags are reported in N Z C V order exactly as annotated on the slide.[1]</a:t>
            </a:r>
          </a:p>
          <a:p>
            <a:endParaRPr lang="en-US" b="0" dirty="0"/>
          </a:p>
          <a:p>
            <a:r>
              <a:rPr lang="en-US" b="0" dirty="0"/>
              <a:t>### Code listing</a:t>
            </a:r>
          </a:p>
          <a:p>
            <a:r>
              <a:rPr lang="en-US" b="0" dirty="0"/>
              <a:t>```arm</a:t>
            </a:r>
          </a:p>
          <a:p>
            <a:r>
              <a:rPr lang="en-US" b="0" dirty="0"/>
              <a:t>LDR R1, =0x10000010</a:t>
            </a:r>
          </a:p>
          <a:p>
            <a:r>
              <a:rPr lang="en-US" b="0" dirty="0"/>
              <a:t>LDR R2, [R1]</a:t>
            </a:r>
          </a:p>
          <a:p>
            <a:r>
              <a:rPr lang="en-US" b="0" dirty="0"/>
              <a:t>LDR R3, [R1,#4]</a:t>
            </a:r>
          </a:p>
          <a:p>
            <a:r>
              <a:rPr lang="en-US" b="0" dirty="0"/>
              <a:t>BL  max</a:t>
            </a:r>
          </a:p>
          <a:p>
            <a:r>
              <a:rPr lang="en-US" b="0" dirty="0"/>
              <a:t>SUBS R4, R2, R0     @NZCV =</a:t>
            </a:r>
          </a:p>
          <a:p>
            <a:r>
              <a:rPr lang="en-US" b="0" dirty="0"/>
              <a:t>MOVW R5, #1</a:t>
            </a:r>
          </a:p>
          <a:p>
            <a:r>
              <a:rPr lang="en-US" b="0" dirty="0"/>
              <a:t>LSL  R6, R5, #4</a:t>
            </a:r>
          </a:p>
          <a:p>
            <a:r>
              <a:rPr lang="en-US" b="0" dirty="0"/>
              <a:t>BIC  R7, R2, R6</a:t>
            </a:r>
          </a:p>
          <a:p>
            <a:r>
              <a:rPr lang="en-US" b="0" dirty="0"/>
              <a:t>ANDS R8, R7, R6     @NZCV =</a:t>
            </a:r>
          </a:p>
          <a:p>
            <a:r>
              <a:rPr lang="en-US" b="0" dirty="0"/>
              <a:t>ROR  R9, R3, #12</a:t>
            </a:r>
          </a:p>
          <a:p>
            <a:r>
              <a:rPr lang="en-US" b="0" dirty="0"/>
              <a:t>REV  R10, R9</a:t>
            </a:r>
          </a:p>
          <a:p>
            <a:r>
              <a:rPr lang="en-US" b="0" dirty="0"/>
              <a:t>RBIT R11, R10</a:t>
            </a:r>
          </a:p>
          <a:p>
            <a:r>
              <a:rPr lang="en-US" b="0" dirty="0"/>
              <a:t>ADDS R12, R3, R9    @NZCV =</a:t>
            </a:r>
          </a:p>
          <a:p>
            <a:r>
              <a:rPr lang="en-US" b="0" dirty="0"/>
              <a:t>STR  R12, [R1,#8]</a:t>
            </a:r>
          </a:p>
          <a:p>
            <a:r>
              <a:rPr lang="en-US" b="0" dirty="0"/>
              <a:t>```</a:t>
            </a:r>
          </a:p>
          <a:p>
            <a:endParaRPr lang="en-US" b="0" dirty="0"/>
          </a:p>
        </p:txBody>
      </p:sp>
    </p:spTree>
    <p:extLst>
      <p:ext uri="{BB962C8B-B14F-4D97-AF65-F5344CB8AC3E}">
        <p14:creationId xmlns:p14="http://schemas.microsoft.com/office/powerpoint/2010/main" val="35268961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itchFamily="18" charset="0"/>
                <a:ea typeface="+mn-ea"/>
                <a:cs typeface="+mn-cs"/>
              </a:rPr>
              <a:t>SP stays 0x10000200, LR holds the return address at 0x00000260 (next instruction after BL at 0x0000025C), and PC is shown at 0x00000250 at the snapshot with later progression omitted in the table.</a:t>
            </a:r>
            <a:endParaRPr lang="en-US" dirty="0"/>
          </a:p>
        </p:txBody>
      </p:sp>
    </p:spTree>
    <p:extLst>
      <p:ext uri="{BB962C8B-B14F-4D97-AF65-F5344CB8AC3E}">
        <p14:creationId xmlns:p14="http://schemas.microsoft.com/office/powerpoint/2010/main" val="40741159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https://www.youtube.com/watch?v=XkjC1avu6Ow&amp;list=PLHv6klbVebn0pCLcmCxGVa7ZPx7CB01Rh&amp;index=6</a:t>
            </a:r>
          </a:p>
        </p:txBody>
      </p:sp>
    </p:spTree>
    <p:extLst>
      <p:ext uri="{BB962C8B-B14F-4D97-AF65-F5344CB8AC3E}">
        <p14:creationId xmlns:p14="http://schemas.microsoft.com/office/powerpoint/2010/main" val="1781068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BA00D299-558C-468E-A8B3-0F5C3BFA45F9}" type="datetime1">
              <a:rPr lang="en-US" smtClean="0"/>
              <a:pPr/>
              <a:t>10/26/2026</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lvl1pPr>
              <a:defRPr sz="1800"/>
            </a:lvl1pPr>
          </a:lstStyle>
          <a:p>
            <a:fld id="{AEE14D4A-FE32-40AF-B06D-E9622816B101}"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D3A8BFB9-75E0-4A72-9D54-3C687B559A4D}" type="datetime1">
              <a:rPr lang="en-US" smtClean="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E470CD76-7AB7-4744-8178-DC5367B833CD}" type="datetime1">
              <a:rPr lang="en-US" smtClean="0"/>
              <a:pPr/>
              <a:t>10/26/2026</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AEE14D4A-FE32-40AF-B06D-E9622816B101}"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A5E3FC63-82A8-4ACC-B2CB-6D46E8B59216}" type="datetime1">
              <a:rPr lang="en-US" smtClean="0"/>
              <a:pPr/>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D3A9B8A6-94F4-4AF6-98DE-0FFC617E1C31}" type="datetime1">
              <a:rPr lang="en-US" smtClean="0"/>
              <a:pPr/>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E14D4A-FE32-40AF-B06D-E9622816B101}"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3CF4FC-8D0E-4C14-A02E-A429C4519FEF}" type="datetime1">
              <a:rPr lang="en-US" smtClean="0"/>
              <a:pPr/>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E14D4A-FE32-40AF-B06D-E9622816B101}"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BDC487-A287-485A-B215-4EC98DD3E443}" type="datetime1">
              <a:rPr lang="en-US" smtClean="0"/>
              <a:pPr/>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E14D4A-FE32-40AF-B06D-E9622816B101}"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6049AC6-4AC4-4D5F-9A1B-0E1C0FF133F9}" type="datetime1">
              <a:rPr lang="en-US" smtClean="0"/>
              <a:pPr/>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3AF4EF9-9AC8-4842-AFC3-C27337CCABE8}" type="datetime1">
              <a:rPr lang="en-US" smtClean="0"/>
              <a:pPr/>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22D175-8905-42BE-8088-EB39001CF9E2}" type="datetime1">
              <a:rPr lang="en-US" smtClean="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Tree>
  </p:cSld>
  <p:clrMapOvr>
    <a:masterClrMapping/>
  </p:clrMapOvr>
  <p:transition>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62AA8DD-1B66-47DA-8A31-5DCDA0DEF224}" type="datetime1">
              <a:rPr lang="en-US" smtClean="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transition>
    <p:pull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DF0DD18-6EB7-49F7-A70C-A012EDB48BDB}" type="datetime1">
              <a:rPr lang="en-US" smtClean="0"/>
              <a:pPr/>
              <a:t>10/26/2026</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800">
                <a:solidFill>
                  <a:schemeClr val="tx2"/>
                </a:solidFill>
              </a:defRPr>
            </a:lvl1pPr>
          </a:lstStyle>
          <a:p>
            <a:fld id="{AEE14D4A-FE32-40AF-B06D-E9622816B101}"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ransition>
    <p:pull dir="ru"/>
  </p:transition>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www.youtube.com/watch?v=XkjC1avu6O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0A1CC8E-A1B6-4F03-86F4-7DF2A440C9C6}" type="slidenum">
              <a:rPr lang="en-US" smtClean="0"/>
              <a:pPr/>
              <a:t>1</a:t>
            </a:fld>
            <a:endParaRPr lang="en-US"/>
          </a:p>
        </p:txBody>
      </p:sp>
      <p:sp>
        <p:nvSpPr>
          <p:cNvPr id="10" name="TextBox 9"/>
          <p:cNvSpPr txBox="1"/>
          <p:nvPr/>
        </p:nvSpPr>
        <p:spPr>
          <a:xfrm>
            <a:off x="1828800" y="337547"/>
            <a:ext cx="6477000" cy="523220"/>
          </a:xfrm>
          <a:prstGeom prst="rect">
            <a:avLst/>
          </a:prstGeom>
          <a:noFill/>
        </p:spPr>
        <p:txBody>
          <a:bodyPr wrap="square" rtlCol="0">
            <a:spAutoFit/>
          </a:bodyPr>
          <a:lstStyle/>
          <a:p>
            <a:pPr algn="r"/>
            <a:r>
              <a:rPr lang="en-US" dirty="0">
                <a:latin typeface="Bookman Old Style (Headings)"/>
              </a:rPr>
              <a:t>Embedded Systems with ARM Cortex-M Microcontrollers in Assembly Language and C</a:t>
            </a:r>
          </a:p>
        </p:txBody>
      </p:sp>
      <p:sp>
        <p:nvSpPr>
          <p:cNvPr id="11" name="TextBox 10"/>
          <p:cNvSpPr txBox="1"/>
          <p:nvPr/>
        </p:nvSpPr>
        <p:spPr>
          <a:xfrm>
            <a:off x="5688176" y="1828800"/>
            <a:ext cx="2581219" cy="1200329"/>
          </a:xfrm>
          <a:prstGeom prst="rect">
            <a:avLst/>
          </a:prstGeom>
          <a:noFill/>
        </p:spPr>
        <p:txBody>
          <a:bodyPr wrap="none" rtlCol="0">
            <a:spAutoFit/>
          </a:bodyPr>
          <a:lstStyle/>
          <a:p>
            <a:pPr algn="r"/>
            <a:r>
              <a:rPr lang="en-US" sz="2400" b="1" dirty="0">
                <a:solidFill>
                  <a:srgbClr val="C00000"/>
                </a:solidFill>
              </a:rPr>
              <a:t>Chapter 5</a:t>
            </a:r>
          </a:p>
          <a:p>
            <a:pPr algn="r"/>
            <a:r>
              <a:rPr lang="en-US" sz="2400" b="1" dirty="0">
                <a:solidFill>
                  <a:srgbClr val="C00000"/>
                </a:solidFill>
              </a:rPr>
              <a:t>Memory Access</a:t>
            </a:r>
          </a:p>
          <a:p>
            <a:pPr algn="r"/>
            <a:r>
              <a:rPr lang="en-US" altLang="zh-CN" sz="2400" dirty="0">
                <a:solidFill>
                  <a:srgbClr val="C00000"/>
                </a:solidFill>
              </a:rPr>
              <a:t>Exercises ANS</a:t>
            </a:r>
            <a:endParaRPr lang="en-US" sz="2400" b="1" dirty="0">
              <a:solidFill>
                <a:srgbClr val="C00000"/>
              </a:solidFill>
            </a:endParaRPr>
          </a:p>
        </p:txBody>
      </p:sp>
      <p:sp>
        <p:nvSpPr>
          <p:cNvPr id="12" name="Subtitle 2"/>
          <p:cNvSpPr txBox="1">
            <a:spLocks/>
          </p:cNvSpPr>
          <p:nvPr/>
        </p:nvSpPr>
        <p:spPr>
          <a:xfrm>
            <a:off x="1219200" y="5124450"/>
            <a:ext cx="6858000" cy="533400"/>
          </a:xfrm>
          <a:prstGeom prst="rect">
            <a:avLst/>
          </a:prstGeom>
        </p:spPr>
        <p:txBody>
          <a:bodyPr vert="horz">
            <a:norm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r>
              <a:rPr lang="en-US" b="0" dirty="0"/>
              <a:t>Fall 2026</a:t>
            </a:r>
          </a:p>
        </p:txBody>
      </p:sp>
      <p:sp>
        <p:nvSpPr>
          <p:cNvPr id="14" name="Title 1"/>
          <p:cNvSpPr>
            <a:spLocks noGrp="1"/>
          </p:cNvSpPr>
          <p:nvPr>
            <p:ph type="ctrTitle"/>
          </p:nvPr>
        </p:nvSpPr>
        <p:spPr>
          <a:xfrm>
            <a:off x="1219200" y="3886200"/>
            <a:ext cx="6858000" cy="990600"/>
          </a:xfrm>
        </p:spPr>
        <p:txBody>
          <a:bodyPr>
            <a:noAutofit/>
          </a:bodyPr>
          <a:lstStyle/>
          <a:p>
            <a:r>
              <a:rPr lang="en-US" sz="2000" dirty="0"/>
              <a:t>Zonghua Gu</a:t>
            </a:r>
          </a:p>
        </p:txBody>
      </p:sp>
      <p:sp>
        <p:nvSpPr>
          <p:cNvPr id="3" name="TextBox 2">
            <a:extLst>
              <a:ext uri="{FF2B5EF4-FFF2-40B4-BE49-F238E27FC236}">
                <a16:creationId xmlns:a16="http://schemas.microsoft.com/office/drawing/2014/main" id="{414636B5-1A15-392F-777F-ACB6D0BF1A0E}"/>
              </a:ext>
            </a:extLst>
          </p:cNvPr>
          <p:cNvSpPr txBox="1"/>
          <p:nvPr/>
        </p:nvSpPr>
        <p:spPr>
          <a:xfrm>
            <a:off x="709138" y="6259175"/>
            <a:ext cx="7725724" cy="461665"/>
          </a:xfrm>
          <a:prstGeom prst="rect">
            <a:avLst/>
          </a:prstGeom>
          <a:solidFill>
            <a:sysClr val="window" lastClr="FFFFFF"/>
          </a:solidFill>
          <a:ln w="9525" cap="flat" cmpd="sng" algn="ctr">
            <a:solidFill>
              <a:srgbClr val="4BACC6"/>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rPr>
              <a:t>Acknowledgement: Lecture slides based on Embedded Systems with ARM Cortex-M Microcontrollers in Assembly Language and C, University of Maine </a:t>
            </a: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hlinkClick r:id="rId3"/>
              </a:rPr>
              <a:t>https://web.eece.maine.edu/~zhu/book/</a:t>
            </a: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rPr>
              <a:t> </a:t>
            </a:r>
            <a:endParaRPr kumimoji="0" lang="en-SE" sz="1200" b="0" i="0" u="none" strike="noStrike" kern="0" cap="none" spc="0" normalizeH="0" baseline="0" noProof="0" dirty="0">
              <a:ln>
                <a:noFill/>
              </a:ln>
              <a:solidFill>
                <a:prstClr val="black"/>
              </a:solidFill>
              <a:effectLst/>
              <a:uLnTx/>
              <a:uFillTx/>
              <a:latin typeface="Gill Sans Ligh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type="title"/>
          </p:nvPr>
        </p:nvSpPr>
        <p:spPr/>
        <p:txBody>
          <a:bodyPr/>
          <a:lstStyle/>
          <a:p>
            <a:pPr marL="119063" indent="-119063"/>
            <a:r>
              <a:rPr lang="en-US" altLang="zh-CN" dirty="0"/>
              <a:t>Endianness</a:t>
            </a:r>
            <a:endParaRPr lang="en-US" dirty="0"/>
          </a:p>
        </p:txBody>
      </p:sp>
      <p:grpSp>
        <p:nvGrpSpPr>
          <p:cNvPr id="62" name="Group 61"/>
          <p:cNvGrpSpPr/>
          <p:nvPr/>
        </p:nvGrpSpPr>
        <p:grpSpPr>
          <a:xfrm>
            <a:off x="5630863" y="1057853"/>
            <a:ext cx="2504258" cy="5615166"/>
            <a:chOff x="5824055" y="1154163"/>
            <a:chExt cx="2504258" cy="5615166"/>
          </a:xfrm>
        </p:grpSpPr>
        <p:sp>
          <p:nvSpPr>
            <p:cNvPr id="63" name="Rectangle 6"/>
            <p:cNvSpPr>
              <a:spLocks/>
            </p:cNvSpPr>
            <p:nvPr/>
          </p:nvSpPr>
          <p:spPr bwMode="auto">
            <a:xfrm>
              <a:off x="6850351" y="1817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6850351" y="2122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6850351" y="2427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6850351" y="2732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6850351" y="3036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6850351" y="3341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6850351" y="3646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6850351" y="3951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6850351" y="4256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6850351" y="4560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6850351" y="4865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6850351" y="5170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5" name="Rectangle 18"/>
            <p:cNvSpPr>
              <a:spLocks/>
            </p:cNvSpPr>
            <p:nvPr/>
          </p:nvSpPr>
          <p:spPr bwMode="auto">
            <a:xfrm>
              <a:off x="7612351" y="176245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0015</a:t>
              </a:r>
            </a:p>
          </p:txBody>
        </p:sp>
        <p:sp>
          <p:nvSpPr>
            <p:cNvPr id="76" name="Rectangle 19"/>
            <p:cNvSpPr>
              <a:spLocks/>
            </p:cNvSpPr>
            <p:nvPr/>
          </p:nvSpPr>
          <p:spPr bwMode="auto">
            <a:xfrm>
              <a:off x="7612351" y="213897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0014</a:t>
              </a:r>
            </a:p>
          </p:txBody>
        </p:sp>
        <p:sp>
          <p:nvSpPr>
            <p:cNvPr id="77" name="Rectangle 20"/>
            <p:cNvSpPr>
              <a:spLocks/>
            </p:cNvSpPr>
            <p:nvPr/>
          </p:nvSpPr>
          <p:spPr bwMode="auto">
            <a:xfrm>
              <a:off x="7612351" y="2452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0013</a:t>
              </a:r>
            </a:p>
          </p:txBody>
        </p:sp>
        <p:sp>
          <p:nvSpPr>
            <p:cNvPr id="78" name="Rectangle 21"/>
            <p:cNvSpPr>
              <a:spLocks/>
            </p:cNvSpPr>
            <p:nvPr/>
          </p:nvSpPr>
          <p:spPr bwMode="auto">
            <a:xfrm>
              <a:off x="7612351" y="2757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0012</a:t>
              </a:r>
            </a:p>
          </p:txBody>
        </p:sp>
        <p:sp>
          <p:nvSpPr>
            <p:cNvPr id="79" name="Rectangle 22"/>
            <p:cNvSpPr>
              <a:spLocks/>
            </p:cNvSpPr>
            <p:nvPr/>
          </p:nvSpPr>
          <p:spPr bwMode="auto">
            <a:xfrm>
              <a:off x="7612351" y="3062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0011</a:t>
              </a:r>
            </a:p>
          </p:txBody>
        </p:sp>
        <p:sp>
          <p:nvSpPr>
            <p:cNvPr id="80" name="Rectangle 23"/>
            <p:cNvSpPr>
              <a:spLocks/>
            </p:cNvSpPr>
            <p:nvPr/>
          </p:nvSpPr>
          <p:spPr bwMode="auto">
            <a:xfrm>
              <a:off x="7612351" y="3367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0010</a:t>
              </a:r>
            </a:p>
          </p:txBody>
        </p:sp>
        <p:sp>
          <p:nvSpPr>
            <p:cNvPr id="81" name="Rectangle 24"/>
            <p:cNvSpPr>
              <a:spLocks/>
            </p:cNvSpPr>
            <p:nvPr/>
          </p:nvSpPr>
          <p:spPr bwMode="auto">
            <a:xfrm>
              <a:off x="7612351" y="3671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0009</a:t>
              </a:r>
            </a:p>
          </p:txBody>
        </p:sp>
        <p:sp>
          <p:nvSpPr>
            <p:cNvPr id="82" name="Rectangle 25"/>
            <p:cNvSpPr>
              <a:spLocks/>
            </p:cNvSpPr>
            <p:nvPr/>
          </p:nvSpPr>
          <p:spPr bwMode="auto">
            <a:xfrm>
              <a:off x="7612351" y="3976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0008</a:t>
              </a:r>
            </a:p>
          </p:txBody>
        </p:sp>
        <p:sp>
          <p:nvSpPr>
            <p:cNvPr id="83" name="Rectangle 26"/>
            <p:cNvSpPr>
              <a:spLocks/>
            </p:cNvSpPr>
            <p:nvPr/>
          </p:nvSpPr>
          <p:spPr bwMode="auto">
            <a:xfrm>
              <a:off x="7612351" y="4281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0007</a:t>
              </a:r>
            </a:p>
          </p:txBody>
        </p:sp>
        <p:sp>
          <p:nvSpPr>
            <p:cNvPr id="84" name="Rectangle 27"/>
            <p:cNvSpPr>
              <a:spLocks/>
            </p:cNvSpPr>
            <p:nvPr/>
          </p:nvSpPr>
          <p:spPr bwMode="auto">
            <a:xfrm>
              <a:off x="7612351" y="4586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0006</a:t>
              </a:r>
            </a:p>
          </p:txBody>
        </p:sp>
        <p:sp>
          <p:nvSpPr>
            <p:cNvPr id="85" name="Rectangle 28"/>
            <p:cNvSpPr>
              <a:spLocks/>
            </p:cNvSpPr>
            <p:nvPr/>
          </p:nvSpPr>
          <p:spPr bwMode="auto">
            <a:xfrm>
              <a:off x="7612351" y="4865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0005</a:t>
              </a:r>
            </a:p>
          </p:txBody>
        </p:sp>
        <p:sp>
          <p:nvSpPr>
            <p:cNvPr id="86" name="Rectangle 29"/>
            <p:cNvSpPr>
              <a:spLocks/>
            </p:cNvSpPr>
            <p:nvPr/>
          </p:nvSpPr>
          <p:spPr bwMode="auto">
            <a:xfrm>
              <a:off x="7612351" y="5170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0004</a:t>
              </a:r>
            </a:p>
          </p:txBody>
        </p:sp>
        <p:grpSp>
          <p:nvGrpSpPr>
            <p:cNvPr id="87" name="Group 33"/>
            <p:cNvGrpSpPr>
              <a:grpSpLocks/>
            </p:cNvGrpSpPr>
            <p:nvPr/>
          </p:nvGrpSpPr>
          <p:grpSpPr bwMode="auto">
            <a:xfrm>
              <a:off x="5952643" y="1817738"/>
              <a:ext cx="609600" cy="4876800"/>
              <a:chOff x="0" y="0"/>
              <a:chExt cx="384" cy="3072"/>
            </a:xfrm>
          </p:grpSpPr>
          <p:sp>
            <p:nvSpPr>
              <p:cNvPr id="108" name="Rectangle 34"/>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09" name="Rectangle 35"/>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0" name="Rectangle 36"/>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1" name="Rectangle 37"/>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88" name="Rectangle 38"/>
            <p:cNvSpPr>
              <a:spLocks/>
            </p:cNvSpPr>
            <p:nvPr/>
          </p:nvSpPr>
          <p:spPr bwMode="auto">
            <a:xfrm>
              <a:off x="5824055" y="1154163"/>
              <a:ext cx="862013" cy="6604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32-bit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Words</a:t>
              </a:r>
            </a:p>
          </p:txBody>
        </p:sp>
        <p:sp>
          <p:nvSpPr>
            <p:cNvPr id="89" name="Rectangle 39"/>
            <p:cNvSpPr>
              <a:spLocks/>
            </p:cNvSpPr>
            <p:nvPr/>
          </p:nvSpPr>
          <p:spPr bwMode="auto">
            <a:xfrm>
              <a:off x="6763038" y="1284338"/>
              <a:ext cx="7778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Bytes</a:t>
              </a:r>
            </a:p>
          </p:txBody>
        </p:sp>
        <p:sp>
          <p:nvSpPr>
            <p:cNvPr id="90" name="Rectangle 40"/>
            <p:cNvSpPr>
              <a:spLocks/>
            </p:cNvSpPr>
            <p:nvPr/>
          </p:nvSpPr>
          <p:spPr bwMode="auto">
            <a:xfrm>
              <a:off x="7588538" y="1284338"/>
              <a:ext cx="7397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8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p:txBody>
        </p:sp>
        <p:sp>
          <p:nvSpPr>
            <p:cNvPr id="91" name="Rectangle 41"/>
            <p:cNvSpPr>
              <a:spLocks/>
            </p:cNvSpPr>
            <p:nvPr/>
          </p:nvSpPr>
          <p:spPr bwMode="auto">
            <a:xfrm>
              <a:off x="6850351" y="5475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2" name="Rectangle 42"/>
            <p:cNvSpPr>
              <a:spLocks/>
            </p:cNvSpPr>
            <p:nvPr/>
          </p:nvSpPr>
          <p:spPr bwMode="auto">
            <a:xfrm>
              <a:off x="7612351" y="5475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0003</a:t>
              </a:r>
            </a:p>
          </p:txBody>
        </p:sp>
        <p:sp>
          <p:nvSpPr>
            <p:cNvPr id="93" name="Rectangle 43"/>
            <p:cNvSpPr>
              <a:spLocks/>
            </p:cNvSpPr>
            <p:nvPr/>
          </p:nvSpPr>
          <p:spPr bwMode="auto">
            <a:xfrm>
              <a:off x="6850351" y="5780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4" name="Rectangle 44"/>
            <p:cNvSpPr>
              <a:spLocks/>
            </p:cNvSpPr>
            <p:nvPr/>
          </p:nvSpPr>
          <p:spPr bwMode="auto">
            <a:xfrm>
              <a:off x="7612351" y="5780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0002</a:t>
              </a:r>
            </a:p>
          </p:txBody>
        </p:sp>
        <p:sp>
          <p:nvSpPr>
            <p:cNvPr id="95" name="Rectangle 45"/>
            <p:cNvSpPr>
              <a:spLocks/>
            </p:cNvSpPr>
            <p:nvPr/>
          </p:nvSpPr>
          <p:spPr bwMode="auto">
            <a:xfrm>
              <a:off x="6850351" y="6084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6" name="Rectangle 46"/>
            <p:cNvSpPr>
              <a:spLocks/>
            </p:cNvSpPr>
            <p:nvPr/>
          </p:nvSpPr>
          <p:spPr bwMode="auto">
            <a:xfrm>
              <a:off x="7612351" y="6084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0001</a:t>
              </a:r>
            </a:p>
          </p:txBody>
        </p:sp>
        <p:sp>
          <p:nvSpPr>
            <p:cNvPr id="97" name="Rectangle 47"/>
            <p:cNvSpPr>
              <a:spLocks/>
            </p:cNvSpPr>
            <p:nvPr/>
          </p:nvSpPr>
          <p:spPr bwMode="auto">
            <a:xfrm>
              <a:off x="6850351" y="6389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8" name="Rectangle 48"/>
            <p:cNvSpPr>
              <a:spLocks/>
            </p:cNvSpPr>
            <p:nvPr/>
          </p:nvSpPr>
          <p:spPr bwMode="auto">
            <a:xfrm>
              <a:off x="7612351" y="6389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0000</a:t>
              </a:r>
            </a:p>
          </p:txBody>
        </p:sp>
        <p:sp>
          <p:nvSpPr>
            <p:cNvPr id="99" name="Rectangle 52"/>
            <p:cNvSpPr>
              <a:spLocks/>
            </p:cNvSpPr>
            <p:nvPr/>
          </p:nvSpPr>
          <p:spPr bwMode="auto">
            <a:xfrm>
              <a:off x="5952643" y="20463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rPr>
                <a:t>??</a:t>
              </a:r>
            </a:p>
          </p:txBody>
        </p:sp>
        <p:sp>
          <p:nvSpPr>
            <p:cNvPr id="100" name="Rectangle 53"/>
            <p:cNvSpPr>
              <a:spLocks/>
            </p:cNvSpPr>
            <p:nvPr/>
          </p:nvSpPr>
          <p:spPr bwMode="auto">
            <a:xfrm>
              <a:off x="5952643" y="32655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rPr>
                <a:t>??</a:t>
              </a:r>
            </a:p>
          </p:txBody>
        </p:sp>
        <p:sp>
          <p:nvSpPr>
            <p:cNvPr id="101" name="Rectangle 54"/>
            <p:cNvSpPr>
              <a:spLocks/>
            </p:cNvSpPr>
            <p:nvPr/>
          </p:nvSpPr>
          <p:spPr bwMode="auto">
            <a:xfrm>
              <a:off x="5952643" y="44847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Addr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ourier New" charset="0"/>
                  <a:ea typeface="Courier New" charset="0"/>
                  <a:cs typeface="Courier New" charset="0"/>
                  <a:sym typeface="Courier New" charset="0"/>
                </a:rPr>
                <a:t>??</a:t>
              </a:r>
            </a:p>
          </p:txBody>
        </p:sp>
        <p:sp>
          <p:nvSpPr>
            <p:cNvPr id="102" name="Rectangle 55"/>
            <p:cNvSpPr>
              <a:spLocks/>
            </p:cNvSpPr>
            <p:nvPr/>
          </p:nvSpPr>
          <p:spPr bwMode="auto">
            <a:xfrm>
              <a:off x="5952643" y="57039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Addr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ourier New" charset="0"/>
                  <a:ea typeface="Courier New" charset="0"/>
                  <a:cs typeface="Courier New" charset="0"/>
                  <a:sym typeface="Courier New" charset="0"/>
                </a:rPr>
                <a:t>??</a:t>
              </a:r>
            </a:p>
          </p:txBody>
        </p:sp>
        <p:grpSp>
          <p:nvGrpSpPr>
            <p:cNvPr id="103" name="Group 56"/>
            <p:cNvGrpSpPr>
              <a:grpSpLocks/>
            </p:cNvGrpSpPr>
            <p:nvPr/>
          </p:nvGrpSpPr>
          <p:grpSpPr bwMode="auto">
            <a:xfrm>
              <a:off x="6208232" y="2470201"/>
              <a:ext cx="96838" cy="3954463"/>
              <a:chOff x="139" y="3"/>
              <a:chExt cx="61" cy="2491"/>
            </a:xfrm>
          </p:grpSpPr>
          <p:sp>
            <p:nvSpPr>
              <p:cNvPr id="104" name="Rectangle 59"/>
              <p:cNvSpPr>
                <a:spLocks/>
              </p:cNvSpPr>
              <p:nvPr/>
            </p:nvSpPr>
            <p:spPr bwMode="auto">
              <a:xfrm>
                <a:off x="139" y="3"/>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5" name="Rectangle 62"/>
              <p:cNvSpPr>
                <a:spLocks/>
              </p:cNvSpPr>
              <p:nvPr/>
            </p:nvSpPr>
            <p:spPr bwMode="auto">
              <a:xfrm>
                <a:off x="139" y="771"/>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6" name="Rectangle 65"/>
              <p:cNvSpPr>
                <a:spLocks/>
              </p:cNvSpPr>
              <p:nvPr/>
            </p:nvSpPr>
            <p:spPr bwMode="auto">
              <a:xfrm>
                <a:off x="139" y="1539"/>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7" name="Rectangle 68"/>
              <p:cNvSpPr>
                <a:spLocks/>
              </p:cNvSpPr>
              <p:nvPr/>
            </p:nvSpPr>
            <p:spPr bwMode="auto">
              <a:xfrm>
                <a:off x="139" y="2307"/>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grpSp>
      </p:grpSp>
      <p:sp>
        <p:nvSpPr>
          <p:cNvPr id="10" name="TextBox 9"/>
          <p:cNvSpPr txBox="1"/>
          <p:nvPr/>
        </p:nvSpPr>
        <p:spPr>
          <a:xfrm>
            <a:off x="244699" y="2826467"/>
            <a:ext cx="4151290" cy="70788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What are the memory address of these four words?</a:t>
            </a:r>
          </a:p>
        </p:txBody>
      </p:sp>
      <p:sp>
        <p:nvSpPr>
          <p:cNvPr id="11" name="TextBox 10"/>
          <p:cNvSpPr txBox="1"/>
          <p:nvPr/>
        </p:nvSpPr>
        <p:spPr>
          <a:xfrm>
            <a:off x="4748984" y="2178628"/>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3</a:t>
            </a:r>
          </a:p>
        </p:txBody>
      </p:sp>
      <p:sp>
        <p:nvSpPr>
          <p:cNvPr id="115" name="TextBox 114"/>
          <p:cNvSpPr txBox="1"/>
          <p:nvPr/>
        </p:nvSpPr>
        <p:spPr>
          <a:xfrm>
            <a:off x="4765930" y="3407253"/>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2</a:t>
            </a:r>
          </a:p>
        </p:txBody>
      </p:sp>
      <p:sp>
        <p:nvSpPr>
          <p:cNvPr id="116" name="TextBox 115"/>
          <p:cNvSpPr txBox="1"/>
          <p:nvPr/>
        </p:nvSpPr>
        <p:spPr>
          <a:xfrm>
            <a:off x="4798129" y="4561842"/>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1</a:t>
            </a:r>
          </a:p>
        </p:txBody>
      </p:sp>
      <p:sp>
        <p:nvSpPr>
          <p:cNvPr id="117" name="TextBox 116"/>
          <p:cNvSpPr txBox="1"/>
          <p:nvPr/>
        </p:nvSpPr>
        <p:spPr>
          <a:xfrm>
            <a:off x="4815075" y="5790467"/>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0</a:t>
            </a:r>
          </a:p>
        </p:txBody>
      </p:sp>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2</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Tree>
    <p:extLst>
      <p:ext uri="{BB962C8B-B14F-4D97-AF65-F5344CB8AC3E}">
        <p14:creationId xmlns:p14="http://schemas.microsoft.com/office/powerpoint/2010/main" val="33590757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type="title"/>
          </p:nvPr>
        </p:nvSpPr>
        <p:spPr/>
        <p:txBody>
          <a:bodyPr/>
          <a:lstStyle/>
          <a:p>
            <a:pPr marL="119063" indent="-119063"/>
            <a:r>
              <a:rPr lang="en-US" altLang="zh-CN" dirty="0"/>
              <a:t>Endianness ANS</a:t>
            </a:r>
            <a:endParaRPr lang="en-US" dirty="0"/>
          </a:p>
        </p:txBody>
      </p:sp>
      <p:grpSp>
        <p:nvGrpSpPr>
          <p:cNvPr id="62" name="Group 61"/>
          <p:cNvGrpSpPr/>
          <p:nvPr/>
        </p:nvGrpSpPr>
        <p:grpSpPr>
          <a:xfrm>
            <a:off x="5630863" y="1057853"/>
            <a:ext cx="2504258" cy="5615166"/>
            <a:chOff x="5824055" y="1154163"/>
            <a:chExt cx="2504258" cy="5615166"/>
          </a:xfrm>
        </p:grpSpPr>
        <p:sp>
          <p:nvSpPr>
            <p:cNvPr id="63" name="Rectangle 6"/>
            <p:cNvSpPr>
              <a:spLocks/>
            </p:cNvSpPr>
            <p:nvPr/>
          </p:nvSpPr>
          <p:spPr bwMode="auto">
            <a:xfrm>
              <a:off x="6850351" y="1817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6850351" y="2122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6850351" y="2427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6850351" y="2732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6850351" y="3036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6850351" y="3341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6850351" y="3646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6850351" y="3951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6850351" y="4256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6850351" y="4560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6850351" y="4865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6850351" y="5170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5" name="Rectangle 18"/>
            <p:cNvSpPr>
              <a:spLocks/>
            </p:cNvSpPr>
            <p:nvPr/>
          </p:nvSpPr>
          <p:spPr bwMode="auto">
            <a:xfrm>
              <a:off x="7612351" y="176245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0x000F</a:t>
              </a:r>
            </a:p>
          </p:txBody>
        </p:sp>
        <p:sp>
          <p:nvSpPr>
            <p:cNvPr id="76" name="Rectangle 19"/>
            <p:cNvSpPr>
              <a:spLocks/>
            </p:cNvSpPr>
            <p:nvPr/>
          </p:nvSpPr>
          <p:spPr bwMode="auto">
            <a:xfrm>
              <a:off x="7612351" y="213897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0x000E</a:t>
              </a:r>
            </a:p>
          </p:txBody>
        </p:sp>
        <p:sp>
          <p:nvSpPr>
            <p:cNvPr id="77" name="Rectangle 20"/>
            <p:cNvSpPr>
              <a:spLocks/>
            </p:cNvSpPr>
            <p:nvPr/>
          </p:nvSpPr>
          <p:spPr bwMode="auto">
            <a:xfrm>
              <a:off x="7612351" y="2452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0x000D</a:t>
              </a:r>
            </a:p>
          </p:txBody>
        </p:sp>
        <p:sp>
          <p:nvSpPr>
            <p:cNvPr id="78" name="Rectangle 21"/>
            <p:cNvSpPr>
              <a:spLocks/>
            </p:cNvSpPr>
            <p:nvPr/>
          </p:nvSpPr>
          <p:spPr bwMode="auto">
            <a:xfrm>
              <a:off x="7612351" y="2757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0x000C</a:t>
              </a:r>
            </a:p>
          </p:txBody>
        </p:sp>
        <p:sp>
          <p:nvSpPr>
            <p:cNvPr id="79" name="Rectangle 22"/>
            <p:cNvSpPr>
              <a:spLocks/>
            </p:cNvSpPr>
            <p:nvPr/>
          </p:nvSpPr>
          <p:spPr bwMode="auto">
            <a:xfrm>
              <a:off x="7612351" y="3062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0x000B</a:t>
              </a:r>
            </a:p>
          </p:txBody>
        </p:sp>
        <p:sp>
          <p:nvSpPr>
            <p:cNvPr id="80" name="Rectangle 23"/>
            <p:cNvSpPr>
              <a:spLocks/>
            </p:cNvSpPr>
            <p:nvPr/>
          </p:nvSpPr>
          <p:spPr bwMode="auto">
            <a:xfrm>
              <a:off x="7612351" y="3367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0x000A</a:t>
              </a:r>
            </a:p>
          </p:txBody>
        </p:sp>
        <p:sp>
          <p:nvSpPr>
            <p:cNvPr id="81" name="Rectangle 24"/>
            <p:cNvSpPr>
              <a:spLocks/>
            </p:cNvSpPr>
            <p:nvPr/>
          </p:nvSpPr>
          <p:spPr bwMode="auto">
            <a:xfrm>
              <a:off x="7612351" y="3671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0x0009</a:t>
              </a:r>
            </a:p>
          </p:txBody>
        </p:sp>
        <p:sp>
          <p:nvSpPr>
            <p:cNvPr id="82" name="Rectangle 25"/>
            <p:cNvSpPr>
              <a:spLocks/>
            </p:cNvSpPr>
            <p:nvPr/>
          </p:nvSpPr>
          <p:spPr bwMode="auto">
            <a:xfrm>
              <a:off x="7612351" y="3976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0x0008</a:t>
              </a:r>
            </a:p>
          </p:txBody>
        </p:sp>
        <p:sp>
          <p:nvSpPr>
            <p:cNvPr id="83" name="Rectangle 26"/>
            <p:cNvSpPr>
              <a:spLocks/>
            </p:cNvSpPr>
            <p:nvPr/>
          </p:nvSpPr>
          <p:spPr bwMode="auto">
            <a:xfrm>
              <a:off x="7612351" y="4281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0x0007</a:t>
              </a:r>
            </a:p>
          </p:txBody>
        </p:sp>
        <p:sp>
          <p:nvSpPr>
            <p:cNvPr id="84" name="Rectangle 27"/>
            <p:cNvSpPr>
              <a:spLocks/>
            </p:cNvSpPr>
            <p:nvPr/>
          </p:nvSpPr>
          <p:spPr bwMode="auto">
            <a:xfrm>
              <a:off x="7612351" y="4586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0x0006</a:t>
              </a:r>
            </a:p>
          </p:txBody>
        </p:sp>
        <p:sp>
          <p:nvSpPr>
            <p:cNvPr id="85" name="Rectangle 28"/>
            <p:cNvSpPr>
              <a:spLocks/>
            </p:cNvSpPr>
            <p:nvPr/>
          </p:nvSpPr>
          <p:spPr bwMode="auto">
            <a:xfrm>
              <a:off x="7612351" y="4865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0x0005</a:t>
              </a:r>
            </a:p>
          </p:txBody>
        </p:sp>
        <p:sp>
          <p:nvSpPr>
            <p:cNvPr id="86" name="Rectangle 29"/>
            <p:cNvSpPr>
              <a:spLocks/>
            </p:cNvSpPr>
            <p:nvPr/>
          </p:nvSpPr>
          <p:spPr bwMode="auto">
            <a:xfrm>
              <a:off x="7612351" y="5170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0x0004</a:t>
              </a:r>
            </a:p>
          </p:txBody>
        </p:sp>
        <p:grpSp>
          <p:nvGrpSpPr>
            <p:cNvPr id="87" name="Group 33"/>
            <p:cNvGrpSpPr>
              <a:grpSpLocks/>
            </p:cNvGrpSpPr>
            <p:nvPr/>
          </p:nvGrpSpPr>
          <p:grpSpPr bwMode="auto">
            <a:xfrm>
              <a:off x="5952643" y="1817738"/>
              <a:ext cx="609600" cy="4876800"/>
              <a:chOff x="0" y="0"/>
              <a:chExt cx="384" cy="3072"/>
            </a:xfrm>
          </p:grpSpPr>
          <p:sp>
            <p:nvSpPr>
              <p:cNvPr id="108" name="Rectangle 34"/>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09" name="Rectangle 35"/>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0" name="Rectangle 36"/>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1" name="Rectangle 37"/>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88" name="Rectangle 38"/>
            <p:cNvSpPr>
              <a:spLocks/>
            </p:cNvSpPr>
            <p:nvPr/>
          </p:nvSpPr>
          <p:spPr bwMode="auto">
            <a:xfrm>
              <a:off x="5824055" y="1154163"/>
              <a:ext cx="862013" cy="6604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32-bit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Words</a:t>
              </a:r>
            </a:p>
          </p:txBody>
        </p:sp>
        <p:sp>
          <p:nvSpPr>
            <p:cNvPr id="89" name="Rectangle 39"/>
            <p:cNvSpPr>
              <a:spLocks/>
            </p:cNvSpPr>
            <p:nvPr/>
          </p:nvSpPr>
          <p:spPr bwMode="auto">
            <a:xfrm>
              <a:off x="6763038" y="1284338"/>
              <a:ext cx="7778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Bytes</a:t>
              </a:r>
            </a:p>
          </p:txBody>
        </p:sp>
        <p:sp>
          <p:nvSpPr>
            <p:cNvPr id="90" name="Rectangle 40"/>
            <p:cNvSpPr>
              <a:spLocks/>
            </p:cNvSpPr>
            <p:nvPr/>
          </p:nvSpPr>
          <p:spPr bwMode="auto">
            <a:xfrm>
              <a:off x="7588538" y="1284338"/>
              <a:ext cx="7397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Addr.</a:t>
              </a:r>
            </a:p>
          </p:txBody>
        </p:sp>
        <p:sp>
          <p:nvSpPr>
            <p:cNvPr id="91" name="Rectangle 41"/>
            <p:cNvSpPr>
              <a:spLocks/>
            </p:cNvSpPr>
            <p:nvPr/>
          </p:nvSpPr>
          <p:spPr bwMode="auto">
            <a:xfrm>
              <a:off x="6850351" y="5475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2" name="Rectangle 42"/>
            <p:cNvSpPr>
              <a:spLocks/>
            </p:cNvSpPr>
            <p:nvPr/>
          </p:nvSpPr>
          <p:spPr bwMode="auto">
            <a:xfrm>
              <a:off x="7612351" y="5475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0x0003</a:t>
              </a:r>
            </a:p>
          </p:txBody>
        </p:sp>
        <p:sp>
          <p:nvSpPr>
            <p:cNvPr id="93" name="Rectangle 43"/>
            <p:cNvSpPr>
              <a:spLocks/>
            </p:cNvSpPr>
            <p:nvPr/>
          </p:nvSpPr>
          <p:spPr bwMode="auto">
            <a:xfrm>
              <a:off x="6850351" y="5780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4" name="Rectangle 44"/>
            <p:cNvSpPr>
              <a:spLocks/>
            </p:cNvSpPr>
            <p:nvPr/>
          </p:nvSpPr>
          <p:spPr bwMode="auto">
            <a:xfrm>
              <a:off x="7612351" y="5780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0x0002</a:t>
              </a:r>
            </a:p>
          </p:txBody>
        </p:sp>
        <p:sp>
          <p:nvSpPr>
            <p:cNvPr id="95" name="Rectangle 45"/>
            <p:cNvSpPr>
              <a:spLocks/>
            </p:cNvSpPr>
            <p:nvPr/>
          </p:nvSpPr>
          <p:spPr bwMode="auto">
            <a:xfrm>
              <a:off x="6850351" y="6084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6" name="Rectangle 46"/>
            <p:cNvSpPr>
              <a:spLocks/>
            </p:cNvSpPr>
            <p:nvPr/>
          </p:nvSpPr>
          <p:spPr bwMode="auto">
            <a:xfrm>
              <a:off x="7612351" y="6084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0x0001</a:t>
              </a:r>
            </a:p>
          </p:txBody>
        </p:sp>
        <p:sp>
          <p:nvSpPr>
            <p:cNvPr id="97" name="Rectangle 47"/>
            <p:cNvSpPr>
              <a:spLocks/>
            </p:cNvSpPr>
            <p:nvPr/>
          </p:nvSpPr>
          <p:spPr bwMode="auto">
            <a:xfrm>
              <a:off x="6850351" y="6389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8" name="Rectangle 48"/>
            <p:cNvSpPr>
              <a:spLocks/>
            </p:cNvSpPr>
            <p:nvPr/>
          </p:nvSpPr>
          <p:spPr bwMode="auto">
            <a:xfrm>
              <a:off x="7612351" y="6389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0x0000</a:t>
              </a:r>
            </a:p>
          </p:txBody>
        </p:sp>
        <p:sp>
          <p:nvSpPr>
            <p:cNvPr id="99" name="Rectangle 52"/>
            <p:cNvSpPr>
              <a:spLocks/>
            </p:cNvSpPr>
            <p:nvPr/>
          </p:nvSpPr>
          <p:spPr bwMode="auto">
            <a:xfrm>
              <a:off x="5952643" y="20463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3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0x000C</a:t>
              </a:r>
              <a:endParaRPr kumimoji="0" lang="en-US" sz="1300" b="1" i="0" u="none" strike="noStrike" kern="1200" cap="none" spc="0" normalizeH="0" baseline="0" noProof="0" dirty="0">
                <a:ln>
                  <a:noFill/>
                </a:ln>
                <a:solidFill>
                  <a:srgbClr val="C00000"/>
                </a:solidFill>
                <a:effectLst/>
                <a:uLnTx/>
                <a:uFillTx/>
                <a:latin typeface="Arial Narrow" panose="020B0606020202030204" pitchFamily="34" charset="0"/>
                <a:ea typeface="Courier New" charset="0"/>
                <a:cs typeface="Courier New" charset="0"/>
                <a:sym typeface="Courier New" charset="0"/>
              </a:endParaRPr>
            </a:p>
          </p:txBody>
        </p:sp>
        <p:sp>
          <p:nvSpPr>
            <p:cNvPr id="100" name="Rectangle 53"/>
            <p:cNvSpPr>
              <a:spLocks/>
            </p:cNvSpPr>
            <p:nvPr/>
          </p:nvSpPr>
          <p:spPr bwMode="auto">
            <a:xfrm>
              <a:off x="5907817" y="3265538"/>
              <a:ext cx="733425"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0x0008</a:t>
              </a:r>
              <a:endPar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endParaRPr>
            </a:p>
          </p:txBody>
        </p:sp>
        <p:sp>
          <p:nvSpPr>
            <p:cNvPr id="101" name="Rectangle 54"/>
            <p:cNvSpPr>
              <a:spLocks/>
            </p:cNvSpPr>
            <p:nvPr/>
          </p:nvSpPr>
          <p:spPr bwMode="auto">
            <a:xfrm>
              <a:off x="5925747" y="4484738"/>
              <a:ext cx="688599"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0x0004</a:t>
              </a:r>
              <a:endPar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endParaRPr>
            </a:p>
          </p:txBody>
        </p:sp>
        <p:sp>
          <p:nvSpPr>
            <p:cNvPr id="102" name="Rectangle 55"/>
            <p:cNvSpPr>
              <a:spLocks/>
            </p:cNvSpPr>
            <p:nvPr/>
          </p:nvSpPr>
          <p:spPr bwMode="auto">
            <a:xfrm>
              <a:off x="5907818" y="5703938"/>
              <a:ext cx="733424"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0x0000</a:t>
              </a:r>
              <a:endPar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endParaRPr>
            </a:p>
          </p:txBody>
        </p:sp>
        <p:grpSp>
          <p:nvGrpSpPr>
            <p:cNvPr id="103" name="Group 56"/>
            <p:cNvGrpSpPr>
              <a:grpSpLocks/>
            </p:cNvGrpSpPr>
            <p:nvPr/>
          </p:nvGrpSpPr>
          <p:grpSpPr bwMode="auto">
            <a:xfrm>
              <a:off x="6208232" y="2470201"/>
              <a:ext cx="96838" cy="3954463"/>
              <a:chOff x="139" y="3"/>
              <a:chExt cx="61" cy="2491"/>
            </a:xfrm>
          </p:grpSpPr>
          <p:sp>
            <p:nvSpPr>
              <p:cNvPr id="104" name="Rectangle 59"/>
              <p:cNvSpPr>
                <a:spLocks/>
              </p:cNvSpPr>
              <p:nvPr/>
            </p:nvSpPr>
            <p:spPr bwMode="auto">
              <a:xfrm>
                <a:off x="139" y="3"/>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5" name="Rectangle 62"/>
              <p:cNvSpPr>
                <a:spLocks/>
              </p:cNvSpPr>
              <p:nvPr/>
            </p:nvSpPr>
            <p:spPr bwMode="auto">
              <a:xfrm>
                <a:off x="139" y="771"/>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6" name="Rectangle 65"/>
              <p:cNvSpPr>
                <a:spLocks/>
              </p:cNvSpPr>
              <p:nvPr/>
            </p:nvSpPr>
            <p:spPr bwMode="auto">
              <a:xfrm>
                <a:off x="139" y="1539"/>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7" name="Rectangle 68"/>
              <p:cNvSpPr>
                <a:spLocks/>
              </p:cNvSpPr>
              <p:nvPr/>
            </p:nvSpPr>
            <p:spPr bwMode="auto">
              <a:xfrm>
                <a:off x="139" y="2307"/>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grpSp>
      </p:grpSp>
      <p:sp>
        <p:nvSpPr>
          <p:cNvPr id="11" name="TextBox 10"/>
          <p:cNvSpPr txBox="1"/>
          <p:nvPr/>
        </p:nvSpPr>
        <p:spPr>
          <a:xfrm>
            <a:off x="4748984" y="2178628"/>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3</a:t>
            </a:r>
          </a:p>
        </p:txBody>
      </p:sp>
      <p:sp>
        <p:nvSpPr>
          <p:cNvPr id="115" name="TextBox 114"/>
          <p:cNvSpPr txBox="1"/>
          <p:nvPr/>
        </p:nvSpPr>
        <p:spPr>
          <a:xfrm>
            <a:off x="4765930" y="3407253"/>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2</a:t>
            </a:r>
          </a:p>
        </p:txBody>
      </p:sp>
      <p:sp>
        <p:nvSpPr>
          <p:cNvPr id="116" name="TextBox 115"/>
          <p:cNvSpPr txBox="1"/>
          <p:nvPr/>
        </p:nvSpPr>
        <p:spPr>
          <a:xfrm>
            <a:off x="4798129" y="4561842"/>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1</a:t>
            </a:r>
          </a:p>
        </p:txBody>
      </p:sp>
      <p:sp>
        <p:nvSpPr>
          <p:cNvPr id="117" name="TextBox 116"/>
          <p:cNvSpPr txBox="1"/>
          <p:nvPr/>
        </p:nvSpPr>
        <p:spPr>
          <a:xfrm>
            <a:off x="4815075" y="5790467"/>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0</a:t>
            </a:r>
          </a:p>
        </p:txBody>
      </p:sp>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3</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60" name="TextBox 59"/>
          <p:cNvSpPr txBox="1"/>
          <p:nvPr/>
        </p:nvSpPr>
        <p:spPr>
          <a:xfrm>
            <a:off x="244699" y="2826467"/>
            <a:ext cx="4151290" cy="224676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What are the memory address of these four words?</a:t>
            </a:r>
          </a:p>
          <a:p>
            <a:pPr eaLnBrk="0" fontAlgn="base" hangingPunct="0">
              <a:spcBef>
                <a:spcPct val="0"/>
              </a:spcBef>
              <a:spcAft>
                <a:spcPct val="0"/>
              </a:spcAft>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Same as the address of the lowest-address Byte </a:t>
            </a:r>
          </a:p>
          <a:p>
            <a:pPr eaLnBrk="0" fontAlgn="base" hangingPunct="0">
              <a:spcBef>
                <a:spcPct val="0"/>
              </a:spcBef>
              <a:spcAft>
                <a:spcPct val="0"/>
              </a:spcAft>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(this is true </a:t>
            </a:r>
            <a:r>
              <a:rPr lang="en-US" sz="2000" dirty="0">
                <a:solidFill>
                  <a:srgbClr val="C00000"/>
                </a:solidFill>
              </a:rPr>
              <a:t>for either Little-Endian or Big-Endian ordering)</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C00000"/>
              </a:solidFill>
              <a:effectLst/>
              <a:uLnTx/>
              <a:uFillTx/>
              <a:latin typeface="Gill Sans MT"/>
              <a:ea typeface="+mn-ea"/>
              <a:cs typeface="+mn-cs"/>
            </a:endParaRPr>
          </a:p>
        </p:txBody>
      </p:sp>
    </p:spTree>
    <p:extLst>
      <p:ext uri="{BB962C8B-B14F-4D97-AF65-F5344CB8AC3E}">
        <p14:creationId xmlns:p14="http://schemas.microsoft.com/office/powerpoint/2010/main" val="12094707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Endianness</a:t>
            </a:r>
            <a:endParaRPr lang="en-US" dirty="0"/>
          </a:p>
        </p:txBody>
      </p:sp>
      <p:sp>
        <p:nvSpPr>
          <p:cNvPr id="3" name="Slide Number Placeholder 2"/>
          <p:cNvSpPr>
            <a:spLocks noGrp="1"/>
          </p:cNvSpPr>
          <p:nvPr>
            <p:ph type="sldNum" sz="quarter" idx="4294967295"/>
          </p:nvPr>
        </p:nvSpPr>
        <p:spPr/>
        <p:txBody>
          <a:bodyPr/>
          <a:lstStyle/>
          <a:p>
            <a:fld id="{3CC63E4C-4642-794D-A2FD-70F6B81535F5}" type="slidenum">
              <a:rPr lang="en-US" smtClean="0"/>
              <a:pPr/>
              <a:t>4</a:t>
            </a:fld>
            <a:endParaRPr lang="en-US" dirty="0"/>
          </a:p>
        </p:txBody>
      </p:sp>
      <p:sp>
        <p:nvSpPr>
          <p:cNvPr id="5" name="Rectangle 3">
            <a:extLst>
              <a:ext uri="{FF2B5EF4-FFF2-40B4-BE49-F238E27FC236}">
                <a16:creationId xmlns:a16="http://schemas.microsoft.com/office/drawing/2014/main" id="{49EAAEAC-5A83-FC31-3AD1-D95A0084E014}"/>
              </a:ext>
            </a:extLst>
          </p:cNvPr>
          <p:cNvSpPr txBox="1">
            <a:spLocks noChangeArrowheads="1"/>
          </p:cNvSpPr>
          <p:nvPr/>
        </p:nvSpPr>
        <p:spPr>
          <a:xfrm>
            <a:off x="267393" y="1295400"/>
            <a:ext cx="5904807" cy="4571999"/>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Assume Big-Endian ordering. If a 32-bit word resides at memory address N, what is the address of:</a:t>
            </a:r>
          </a:p>
          <a:p>
            <a:pPr marL="657225" lvl="1" indent="-257175" defTabSz="342900"/>
            <a:r>
              <a:rPr lang="en-US" sz="1800" b="0" dirty="0">
                <a:solidFill>
                  <a:prstClr val="black"/>
                </a:solidFill>
              </a:rPr>
              <a:t>(a) The MSB (Most Significant Byte)</a:t>
            </a:r>
          </a:p>
          <a:p>
            <a:pPr marL="657225" lvl="1" indent="-257175" defTabSz="342900"/>
            <a:r>
              <a:rPr lang="en-US" sz="1800" b="0" dirty="0">
                <a:solidFill>
                  <a:prstClr val="black"/>
                </a:solidFill>
              </a:rPr>
              <a:t>(b) The 16-bit half-word corresponding to the most significant half of the word</a:t>
            </a:r>
          </a:p>
          <a:p>
            <a:pPr marL="257175" indent="-257175" defTabSz="342900"/>
            <a:r>
              <a:rPr lang="en-US" sz="2400" b="0" dirty="0">
                <a:solidFill>
                  <a:prstClr val="black"/>
                </a:solidFill>
                <a:latin typeface="Calibri"/>
              </a:rPr>
              <a:t>Q: </a:t>
            </a:r>
            <a:r>
              <a:rPr lang="en-US" sz="2400" b="0" dirty="0">
                <a:solidFill>
                  <a:prstClr val="black"/>
                </a:solidFill>
              </a:rPr>
              <a:t>Redo the question assuming Little-Endian ordering.</a:t>
            </a:r>
            <a:endParaRPr lang="en-US" sz="2400" b="0" dirty="0">
              <a:solidFill>
                <a:prstClr val="black"/>
              </a:solidFill>
              <a:latin typeface="Calibri"/>
            </a:endParaRPr>
          </a:p>
        </p:txBody>
      </p:sp>
      <p:sp>
        <p:nvSpPr>
          <p:cNvPr id="6" name="TextBox 5">
            <a:extLst>
              <a:ext uri="{FF2B5EF4-FFF2-40B4-BE49-F238E27FC236}">
                <a16:creationId xmlns:a16="http://schemas.microsoft.com/office/drawing/2014/main" id="{5AC6BB36-F7F6-7578-6D42-2AA85F7E8DBE}"/>
              </a:ext>
            </a:extLst>
          </p:cNvPr>
          <p:cNvSpPr txBox="1"/>
          <p:nvPr/>
        </p:nvSpPr>
        <p:spPr>
          <a:xfrm>
            <a:off x="8325714" y="3094658"/>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sp>
        <p:nvSpPr>
          <p:cNvPr id="7" name="TextBox 6">
            <a:extLst>
              <a:ext uri="{FF2B5EF4-FFF2-40B4-BE49-F238E27FC236}">
                <a16:creationId xmlns:a16="http://schemas.microsoft.com/office/drawing/2014/main" id="{5445796D-3335-5534-5D96-A9140AE9A628}"/>
              </a:ext>
            </a:extLst>
          </p:cNvPr>
          <p:cNvSpPr txBox="1"/>
          <p:nvPr/>
        </p:nvSpPr>
        <p:spPr>
          <a:xfrm>
            <a:off x="8306888" y="1668764"/>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grpSp>
        <p:nvGrpSpPr>
          <p:cNvPr id="8" name="Group 33">
            <a:extLst>
              <a:ext uri="{FF2B5EF4-FFF2-40B4-BE49-F238E27FC236}">
                <a16:creationId xmlns:a16="http://schemas.microsoft.com/office/drawing/2014/main" id="{35C46318-1511-5927-1843-060ED31D9F4C}"/>
              </a:ext>
            </a:extLst>
          </p:cNvPr>
          <p:cNvGrpSpPr>
            <a:grpSpLocks/>
          </p:cNvGrpSpPr>
          <p:nvPr/>
        </p:nvGrpSpPr>
        <p:grpSpPr bwMode="auto">
          <a:xfrm>
            <a:off x="7743008" y="1615328"/>
            <a:ext cx="609600" cy="1944698"/>
            <a:chOff x="0" y="0"/>
            <a:chExt cx="384" cy="3072"/>
          </a:xfrm>
        </p:grpSpPr>
        <p:sp>
          <p:nvSpPr>
            <p:cNvPr id="9" name="Rectangle 34">
              <a:extLst>
                <a:ext uri="{FF2B5EF4-FFF2-40B4-BE49-F238E27FC236}">
                  <a16:creationId xmlns:a16="http://schemas.microsoft.com/office/drawing/2014/main" id="{D3CE61B3-7BC8-DF50-1362-0AE8D584EA89}"/>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0" name="Rectangle 35">
              <a:extLst>
                <a:ext uri="{FF2B5EF4-FFF2-40B4-BE49-F238E27FC236}">
                  <a16:creationId xmlns:a16="http://schemas.microsoft.com/office/drawing/2014/main" id="{F1F75AFF-16CC-3BED-47F1-ACAC71AA8325}"/>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 name="Rectangle 36">
              <a:extLst>
                <a:ext uri="{FF2B5EF4-FFF2-40B4-BE49-F238E27FC236}">
                  <a16:creationId xmlns:a16="http://schemas.microsoft.com/office/drawing/2014/main" id="{557CE143-5421-0957-D1D0-0F02EBBD1C68}"/>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2" name="Rectangle 37">
              <a:extLst>
                <a:ext uri="{FF2B5EF4-FFF2-40B4-BE49-F238E27FC236}">
                  <a16:creationId xmlns:a16="http://schemas.microsoft.com/office/drawing/2014/main" id="{1EE626ED-7010-17DE-AB5D-6AFB4D6382C9}"/>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13" name="TextBox 12">
            <a:extLst>
              <a:ext uri="{FF2B5EF4-FFF2-40B4-BE49-F238E27FC236}">
                <a16:creationId xmlns:a16="http://schemas.microsoft.com/office/drawing/2014/main" id="{32139613-6F00-189E-A3E7-E5782922CBC4}"/>
              </a:ext>
            </a:extLst>
          </p:cNvPr>
          <p:cNvSpPr txBox="1"/>
          <p:nvPr/>
        </p:nvSpPr>
        <p:spPr>
          <a:xfrm>
            <a:off x="5961324" y="2394670"/>
            <a:ext cx="1151277" cy="369332"/>
          </a:xfrm>
          <a:prstGeom prst="rect">
            <a:avLst/>
          </a:prstGeom>
          <a:noFill/>
        </p:spPr>
        <p:txBody>
          <a:bodyPr wrap="none" rtlCol="0">
            <a:spAutoFit/>
          </a:bodyPr>
          <a:lstStyle/>
          <a:p>
            <a:r>
              <a:rPr lang="en-US" dirty="0"/>
              <a:t>Big-Endian</a:t>
            </a:r>
          </a:p>
        </p:txBody>
      </p:sp>
      <p:sp>
        <p:nvSpPr>
          <p:cNvPr id="14" name="TextBox 13">
            <a:extLst>
              <a:ext uri="{FF2B5EF4-FFF2-40B4-BE49-F238E27FC236}">
                <a16:creationId xmlns:a16="http://schemas.microsoft.com/office/drawing/2014/main" id="{78CA3B04-30BA-AB52-96CE-C4D0D46EBB0E}"/>
              </a:ext>
            </a:extLst>
          </p:cNvPr>
          <p:cNvSpPr txBox="1"/>
          <p:nvPr/>
        </p:nvSpPr>
        <p:spPr>
          <a:xfrm>
            <a:off x="7397632" y="3173823"/>
            <a:ext cx="364202" cy="369332"/>
          </a:xfrm>
          <a:prstGeom prst="rect">
            <a:avLst/>
          </a:prstGeom>
          <a:noFill/>
        </p:spPr>
        <p:txBody>
          <a:bodyPr wrap="none" rtlCol="0">
            <a:spAutoFit/>
          </a:bodyPr>
          <a:lstStyle/>
          <a:p>
            <a:r>
              <a:rPr lang="en-US" dirty="0"/>
              <a:t>N</a:t>
            </a:r>
          </a:p>
        </p:txBody>
      </p:sp>
      <p:sp>
        <p:nvSpPr>
          <p:cNvPr id="15" name="TextBox 14">
            <a:extLst>
              <a:ext uri="{FF2B5EF4-FFF2-40B4-BE49-F238E27FC236}">
                <a16:creationId xmlns:a16="http://schemas.microsoft.com/office/drawing/2014/main" id="{23CD2F51-C323-A016-AE65-89BBE14397AE}"/>
              </a:ext>
            </a:extLst>
          </p:cNvPr>
          <p:cNvSpPr txBox="1"/>
          <p:nvPr/>
        </p:nvSpPr>
        <p:spPr>
          <a:xfrm>
            <a:off x="7289534" y="2671395"/>
            <a:ext cx="614271" cy="369332"/>
          </a:xfrm>
          <a:prstGeom prst="rect">
            <a:avLst/>
          </a:prstGeom>
          <a:noFill/>
        </p:spPr>
        <p:txBody>
          <a:bodyPr wrap="none" rtlCol="0">
            <a:spAutoFit/>
          </a:bodyPr>
          <a:lstStyle/>
          <a:p>
            <a:r>
              <a:rPr lang="en-US" dirty="0"/>
              <a:t>N+1</a:t>
            </a:r>
          </a:p>
        </p:txBody>
      </p:sp>
      <p:sp>
        <p:nvSpPr>
          <p:cNvPr id="16" name="TextBox 15">
            <a:extLst>
              <a:ext uri="{FF2B5EF4-FFF2-40B4-BE49-F238E27FC236}">
                <a16:creationId xmlns:a16="http://schemas.microsoft.com/office/drawing/2014/main" id="{3604BC0F-A245-42B3-C099-6BBF3E77DA07}"/>
              </a:ext>
            </a:extLst>
          </p:cNvPr>
          <p:cNvSpPr txBox="1"/>
          <p:nvPr/>
        </p:nvSpPr>
        <p:spPr>
          <a:xfrm>
            <a:off x="7271901" y="2221355"/>
            <a:ext cx="614271" cy="369332"/>
          </a:xfrm>
          <a:prstGeom prst="rect">
            <a:avLst/>
          </a:prstGeom>
          <a:noFill/>
        </p:spPr>
        <p:txBody>
          <a:bodyPr wrap="none" rtlCol="0">
            <a:spAutoFit/>
          </a:bodyPr>
          <a:lstStyle/>
          <a:p>
            <a:r>
              <a:rPr lang="en-US" dirty="0"/>
              <a:t>N+2</a:t>
            </a:r>
          </a:p>
        </p:txBody>
      </p:sp>
      <p:sp>
        <p:nvSpPr>
          <p:cNvPr id="17" name="TextBox 16">
            <a:extLst>
              <a:ext uri="{FF2B5EF4-FFF2-40B4-BE49-F238E27FC236}">
                <a16:creationId xmlns:a16="http://schemas.microsoft.com/office/drawing/2014/main" id="{92DF79D3-BC63-01D9-8A39-ECF46F38BC95}"/>
              </a:ext>
            </a:extLst>
          </p:cNvPr>
          <p:cNvSpPr txBox="1"/>
          <p:nvPr/>
        </p:nvSpPr>
        <p:spPr>
          <a:xfrm>
            <a:off x="7271901" y="1737988"/>
            <a:ext cx="506870" cy="307777"/>
          </a:xfrm>
          <a:prstGeom prst="rect">
            <a:avLst/>
          </a:prstGeom>
          <a:noFill/>
        </p:spPr>
        <p:txBody>
          <a:bodyPr wrap="none" rtlCol="0">
            <a:spAutoFit/>
          </a:bodyPr>
          <a:lstStyle/>
          <a:p>
            <a:r>
              <a:rPr lang="en-US" dirty="0"/>
              <a:t>N+3</a:t>
            </a:r>
          </a:p>
        </p:txBody>
      </p:sp>
      <p:sp>
        <p:nvSpPr>
          <p:cNvPr id="18" name="TextBox 17">
            <a:extLst>
              <a:ext uri="{FF2B5EF4-FFF2-40B4-BE49-F238E27FC236}">
                <a16:creationId xmlns:a16="http://schemas.microsoft.com/office/drawing/2014/main" id="{0169F1EE-91D8-E398-DD9D-52F4AB1EE7FB}"/>
              </a:ext>
            </a:extLst>
          </p:cNvPr>
          <p:cNvSpPr txBox="1"/>
          <p:nvPr/>
        </p:nvSpPr>
        <p:spPr>
          <a:xfrm>
            <a:off x="8344540" y="5672166"/>
            <a:ext cx="610660"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sp>
        <p:nvSpPr>
          <p:cNvPr id="19" name="TextBox 18">
            <a:extLst>
              <a:ext uri="{FF2B5EF4-FFF2-40B4-BE49-F238E27FC236}">
                <a16:creationId xmlns:a16="http://schemas.microsoft.com/office/drawing/2014/main" id="{01F0D440-E8BC-AE46-3AE9-338FF6B33378}"/>
              </a:ext>
            </a:extLst>
          </p:cNvPr>
          <p:cNvSpPr txBox="1"/>
          <p:nvPr/>
        </p:nvSpPr>
        <p:spPr>
          <a:xfrm>
            <a:off x="8325714" y="4246272"/>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grpSp>
        <p:nvGrpSpPr>
          <p:cNvPr id="20" name="Group 33">
            <a:extLst>
              <a:ext uri="{FF2B5EF4-FFF2-40B4-BE49-F238E27FC236}">
                <a16:creationId xmlns:a16="http://schemas.microsoft.com/office/drawing/2014/main" id="{183D2BEA-EE34-406C-6810-8CC6014B68DE}"/>
              </a:ext>
            </a:extLst>
          </p:cNvPr>
          <p:cNvGrpSpPr>
            <a:grpSpLocks/>
          </p:cNvGrpSpPr>
          <p:nvPr/>
        </p:nvGrpSpPr>
        <p:grpSpPr bwMode="auto">
          <a:xfrm>
            <a:off x="7761834" y="4192836"/>
            <a:ext cx="609600" cy="1944699"/>
            <a:chOff x="0" y="0"/>
            <a:chExt cx="384" cy="3072"/>
          </a:xfrm>
        </p:grpSpPr>
        <p:sp>
          <p:nvSpPr>
            <p:cNvPr id="21" name="Rectangle 34">
              <a:extLst>
                <a:ext uri="{FF2B5EF4-FFF2-40B4-BE49-F238E27FC236}">
                  <a16:creationId xmlns:a16="http://schemas.microsoft.com/office/drawing/2014/main" id="{C7582571-BA7F-69D0-827B-EBD82C5EE4DF}"/>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2" name="Rectangle 35">
              <a:extLst>
                <a:ext uri="{FF2B5EF4-FFF2-40B4-BE49-F238E27FC236}">
                  <a16:creationId xmlns:a16="http://schemas.microsoft.com/office/drawing/2014/main" id="{2C9B86DC-C9E1-CB88-7CD3-681B277B4DE8}"/>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3" name="Rectangle 36">
              <a:extLst>
                <a:ext uri="{FF2B5EF4-FFF2-40B4-BE49-F238E27FC236}">
                  <a16:creationId xmlns:a16="http://schemas.microsoft.com/office/drawing/2014/main" id="{2A76A58B-264C-EFD2-2DD5-02427C49A50A}"/>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4" name="Rectangle 37">
              <a:extLst>
                <a:ext uri="{FF2B5EF4-FFF2-40B4-BE49-F238E27FC236}">
                  <a16:creationId xmlns:a16="http://schemas.microsoft.com/office/drawing/2014/main" id="{E9D9C064-223F-22B8-97AD-F27CD454AEDB}"/>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25" name="TextBox 24">
            <a:extLst>
              <a:ext uri="{FF2B5EF4-FFF2-40B4-BE49-F238E27FC236}">
                <a16:creationId xmlns:a16="http://schemas.microsoft.com/office/drawing/2014/main" id="{3BADE73D-7CA6-218E-0220-1DF06272FAF8}"/>
              </a:ext>
            </a:extLst>
          </p:cNvPr>
          <p:cNvSpPr txBox="1"/>
          <p:nvPr/>
        </p:nvSpPr>
        <p:spPr>
          <a:xfrm>
            <a:off x="5740110" y="4960591"/>
            <a:ext cx="1353256" cy="369332"/>
          </a:xfrm>
          <a:prstGeom prst="rect">
            <a:avLst/>
          </a:prstGeom>
          <a:noFill/>
        </p:spPr>
        <p:txBody>
          <a:bodyPr wrap="none" rtlCol="0">
            <a:spAutoFit/>
          </a:bodyPr>
          <a:lstStyle/>
          <a:p>
            <a:r>
              <a:rPr lang="en-US" dirty="0"/>
              <a:t>Little-Endian</a:t>
            </a:r>
          </a:p>
        </p:txBody>
      </p:sp>
      <p:sp>
        <p:nvSpPr>
          <p:cNvPr id="4" name="TextBox 3">
            <a:extLst>
              <a:ext uri="{FF2B5EF4-FFF2-40B4-BE49-F238E27FC236}">
                <a16:creationId xmlns:a16="http://schemas.microsoft.com/office/drawing/2014/main" id="{4D035A48-A6FE-397D-11E7-79A26D57EE6C}"/>
              </a:ext>
            </a:extLst>
          </p:cNvPr>
          <p:cNvSpPr txBox="1"/>
          <p:nvPr/>
        </p:nvSpPr>
        <p:spPr>
          <a:xfrm>
            <a:off x="7397632" y="5775523"/>
            <a:ext cx="364202" cy="369332"/>
          </a:xfrm>
          <a:prstGeom prst="rect">
            <a:avLst/>
          </a:prstGeom>
          <a:noFill/>
        </p:spPr>
        <p:txBody>
          <a:bodyPr wrap="none" rtlCol="0">
            <a:spAutoFit/>
          </a:bodyPr>
          <a:lstStyle/>
          <a:p>
            <a:r>
              <a:rPr lang="en-US" dirty="0"/>
              <a:t>N</a:t>
            </a:r>
          </a:p>
        </p:txBody>
      </p:sp>
      <p:sp>
        <p:nvSpPr>
          <p:cNvPr id="30" name="TextBox 29">
            <a:extLst>
              <a:ext uri="{FF2B5EF4-FFF2-40B4-BE49-F238E27FC236}">
                <a16:creationId xmlns:a16="http://schemas.microsoft.com/office/drawing/2014/main" id="{D39685E5-F44B-9935-D033-23E4B449AF2C}"/>
              </a:ext>
            </a:extLst>
          </p:cNvPr>
          <p:cNvSpPr txBox="1"/>
          <p:nvPr/>
        </p:nvSpPr>
        <p:spPr>
          <a:xfrm>
            <a:off x="7289534" y="5273095"/>
            <a:ext cx="614271" cy="369332"/>
          </a:xfrm>
          <a:prstGeom prst="rect">
            <a:avLst/>
          </a:prstGeom>
          <a:noFill/>
        </p:spPr>
        <p:txBody>
          <a:bodyPr wrap="none" rtlCol="0">
            <a:spAutoFit/>
          </a:bodyPr>
          <a:lstStyle/>
          <a:p>
            <a:r>
              <a:rPr lang="en-US" dirty="0"/>
              <a:t>N+1</a:t>
            </a:r>
          </a:p>
        </p:txBody>
      </p:sp>
      <p:sp>
        <p:nvSpPr>
          <p:cNvPr id="31" name="TextBox 30">
            <a:extLst>
              <a:ext uri="{FF2B5EF4-FFF2-40B4-BE49-F238E27FC236}">
                <a16:creationId xmlns:a16="http://schemas.microsoft.com/office/drawing/2014/main" id="{A1DE57DA-AF45-14AC-B21C-DE925BE7BF0E}"/>
              </a:ext>
            </a:extLst>
          </p:cNvPr>
          <p:cNvSpPr txBox="1"/>
          <p:nvPr/>
        </p:nvSpPr>
        <p:spPr>
          <a:xfrm>
            <a:off x="7271901" y="4823055"/>
            <a:ext cx="614271" cy="369332"/>
          </a:xfrm>
          <a:prstGeom prst="rect">
            <a:avLst/>
          </a:prstGeom>
          <a:noFill/>
        </p:spPr>
        <p:txBody>
          <a:bodyPr wrap="none" rtlCol="0">
            <a:spAutoFit/>
          </a:bodyPr>
          <a:lstStyle/>
          <a:p>
            <a:r>
              <a:rPr lang="en-US" dirty="0"/>
              <a:t>N+2</a:t>
            </a:r>
          </a:p>
        </p:txBody>
      </p:sp>
      <p:sp>
        <p:nvSpPr>
          <p:cNvPr id="32" name="TextBox 31">
            <a:extLst>
              <a:ext uri="{FF2B5EF4-FFF2-40B4-BE49-F238E27FC236}">
                <a16:creationId xmlns:a16="http://schemas.microsoft.com/office/drawing/2014/main" id="{50CEED7B-77A7-495A-418F-A75FFEAB6E65}"/>
              </a:ext>
            </a:extLst>
          </p:cNvPr>
          <p:cNvSpPr txBox="1"/>
          <p:nvPr/>
        </p:nvSpPr>
        <p:spPr>
          <a:xfrm>
            <a:off x="7271901" y="4339688"/>
            <a:ext cx="506870" cy="307777"/>
          </a:xfrm>
          <a:prstGeom prst="rect">
            <a:avLst/>
          </a:prstGeom>
          <a:noFill/>
        </p:spPr>
        <p:txBody>
          <a:bodyPr wrap="none" rtlCol="0">
            <a:spAutoFit/>
          </a:bodyPr>
          <a:lstStyle/>
          <a:p>
            <a:r>
              <a:rPr lang="en-US" dirty="0"/>
              <a:t>N+3</a:t>
            </a:r>
          </a:p>
        </p:txBody>
      </p:sp>
    </p:spTree>
    <p:extLst>
      <p:ext uri="{BB962C8B-B14F-4D97-AF65-F5344CB8AC3E}">
        <p14:creationId xmlns:p14="http://schemas.microsoft.com/office/powerpoint/2010/main" val="3486040908"/>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Endianness ANS</a:t>
            </a:r>
            <a:endParaRPr lang="en-US" dirty="0"/>
          </a:p>
        </p:txBody>
      </p:sp>
      <p:sp>
        <p:nvSpPr>
          <p:cNvPr id="3" name="Slide Number Placeholder 2"/>
          <p:cNvSpPr>
            <a:spLocks noGrp="1"/>
          </p:cNvSpPr>
          <p:nvPr>
            <p:ph type="sldNum" sz="quarter" idx="4294967295"/>
          </p:nvPr>
        </p:nvSpPr>
        <p:spPr/>
        <p:txBody>
          <a:bodyPr/>
          <a:lstStyle/>
          <a:p>
            <a:fld id="{3CC63E4C-4642-794D-A2FD-70F6B81535F5}" type="slidenum">
              <a:rPr lang="en-US" smtClean="0"/>
              <a:pPr/>
              <a:t>5</a:t>
            </a:fld>
            <a:endParaRPr lang="en-US" dirty="0"/>
          </a:p>
        </p:txBody>
      </p:sp>
      <p:sp>
        <p:nvSpPr>
          <p:cNvPr id="4" name="Rectangle 3"/>
          <p:cNvSpPr txBox="1">
            <a:spLocks noChangeArrowheads="1"/>
          </p:cNvSpPr>
          <p:nvPr/>
        </p:nvSpPr>
        <p:spPr>
          <a:xfrm>
            <a:off x="268373" y="1141510"/>
            <a:ext cx="5621817" cy="54116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A: With Big-Endian ordering:</a:t>
            </a:r>
          </a:p>
          <a:p>
            <a:pPr marL="657225" lvl="1" indent="-257175" defTabSz="342900"/>
            <a:r>
              <a:rPr lang="en-US" sz="1800" b="0" dirty="0">
                <a:solidFill>
                  <a:prstClr val="black"/>
                </a:solidFill>
              </a:rPr>
              <a:t>(a) Address of MSB: N</a:t>
            </a:r>
          </a:p>
          <a:p>
            <a:pPr marL="657225" lvl="1" indent="-257175" defTabSz="342900"/>
            <a:r>
              <a:rPr lang="en-US" sz="1800" b="0" dirty="0">
                <a:solidFill>
                  <a:prstClr val="black"/>
                </a:solidFill>
              </a:rPr>
              <a:t>(b) Address of 16-bit half-word corresponding to the most significant half of the word: N (the half-word has address range of [N, N+1], so its address is N)</a:t>
            </a:r>
          </a:p>
          <a:p>
            <a:pPr marL="257175" indent="-257175" defTabSz="342900"/>
            <a:r>
              <a:rPr lang="en-US" sz="2400" b="0" dirty="0">
                <a:solidFill>
                  <a:prstClr val="black"/>
                </a:solidFill>
              </a:rPr>
              <a:t>With Little-Endian ordering:</a:t>
            </a:r>
          </a:p>
          <a:p>
            <a:pPr marL="657225" lvl="1" indent="-257175" defTabSz="342900"/>
            <a:r>
              <a:rPr lang="en-US" sz="1800" b="0" dirty="0">
                <a:solidFill>
                  <a:prstClr val="black"/>
                </a:solidFill>
              </a:rPr>
              <a:t>(a) Address of MSB: N+3</a:t>
            </a:r>
          </a:p>
          <a:p>
            <a:pPr marL="657225" lvl="1" indent="-257175" defTabSz="342900"/>
            <a:r>
              <a:rPr lang="en-US" sz="1800" b="0" dirty="0">
                <a:solidFill>
                  <a:prstClr val="black"/>
                </a:solidFill>
              </a:rPr>
              <a:t>(b) Address of 16-bit half-word corresponding to the most significant half of the word: N+2 (the half-word has address range of [N+2, N+3], so its address is N+2)</a:t>
            </a:r>
            <a:endParaRPr lang="en-US" sz="1800" b="0" dirty="0">
              <a:solidFill>
                <a:prstClr val="black"/>
              </a:solidFill>
              <a:latin typeface="Calibri"/>
            </a:endParaRPr>
          </a:p>
        </p:txBody>
      </p:sp>
      <p:sp>
        <p:nvSpPr>
          <p:cNvPr id="7" name="TextBox 6">
            <a:extLst>
              <a:ext uri="{FF2B5EF4-FFF2-40B4-BE49-F238E27FC236}">
                <a16:creationId xmlns:a16="http://schemas.microsoft.com/office/drawing/2014/main" id="{FB5D03F1-A762-F492-543B-9AD6EC9F9CD7}"/>
              </a:ext>
            </a:extLst>
          </p:cNvPr>
          <p:cNvSpPr txBox="1"/>
          <p:nvPr/>
        </p:nvSpPr>
        <p:spPr>
          <a:xfrm>
            <a:off x="8325714" y="3094658"/>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sp>
        <p:nvSpPr>
          <p:cNvPr id="8" name="TextBox 7">
            <a:extLst>
              <a:ext uri="{FF2B5EF4-FFF2-40B4-BE49-F238E27FC236}">
                <a16:creationId xmlns:a16="http://schemas.microsoft.com/office/drawing/2014/main" id="{EE9EBAB1-3E91-1738-6671-40808660D47E}"/>
              </a:ext>
            </a:extLst>
          </p:cNvPr>
          <p:cNvSpPr txBox="1"/>
          <p:nvPr/>
        </p:nvSpPr>
        <p:spPr>
          <a:xfrm>
            <a:off x="8306888" y="1668764"/>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grpSp>
        <p:nvGrpSpPr>
          <p:cNvPr id="9" name="Group 33">
            <a:extLst>
              <a:ext uri="{FF2B5EF4-FFF2-40B4-BE49-F238E27FC236}">
                <a16:creationId xmlns:a16="http://schemas.microsoft.com/office/drawing/2014/main" id="{0FF2FFB8-C1EC-4B19-F866-D1FB55EAD587}"/>
              </a:ext>
            </a:extLst>
          </p:cNvPr>
          <p:cNvGrpSpPr>
            <a:grpSpLocks/>
          </p:cNvGrpSpPr>
          <p:nvPr/>
        </p:nvGrpSpPr>
        <p:grpSpPr bwMode="auto">
          <a:xfrm>
            <a:off x="7743008" y="1615328"/>
            <a:ext cx="609600" cy="1944698"/>
            <a:chOff x="0" y="0"/>
            <a:chExt cx="384" cy="3072"/>
          </a:xfrm>
        </p:grpSpPr>
        <p:sp>
          <p:nvSpPr>
            <p:cNvPr id="10" name="Rectangle 34">
              <a:extLst>
                <a:ext uri="{FF2B5EF4-FFF2-40B4-BE49-F238E27FC236}">
                  <a16:creationId xmlns:a16="http://schemas.microsoft.com/office/drawing/2014/main" id="{F31FEC1C-ACD5-A713-4BFA-212468CF1CDB}"/>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 name="Rectangle 35">
              <a:extLst>
                <a:ext uri="{FF2B5EF4-FFF2-40B4-BE49-F238E27FC236}">
                  <a16:creationId xmlns:a16="http://schemas.microsoft.com/office/drawing/2014/main" id="{8901F92C-FFDE-99A5-2A39-F3A959892A58}"/>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2" name="Rectangle 36">
              <a:extLst>
                <a:ext uri="{FF2B5EF4-FFF2-40B4-BE49-F238E27FC236}">
                  <a16:creationId xmlns:a16="http://schemas.microsoft.com/office/drawing/2014/main" id="{FBF8E902-648C-92E9-3599-30414D1EC9B3}"/>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3" name="Rectangle 37">
              <a:extLst>
                <a:ext uri="{FF2B5EF4-FFF2-40B4-BE49-F238E27FC236}">
                  <a16:creationId xmlns:a16="http://schemas.microsoft.com/office/drawing/2014/main" id="{936169EB-F16E-DE3D-C69C-5E732BA948EB}"/>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14" name="TextBox 13">
            <a:extLst>
              <a:ext uri="{FF2B5EF4-FFF2-40B4-BE49-F238E27FC236}">
                <a16:creationId xmlns:a16="http://schemas.microsoft.com/office/drawing/2014/main" id="{30136153-F36F-FA15-4D76-068229B88F7A}"/>
              </a:ext>
            </a:extLst>
          </p:cNvPr>
          <p:cNvSpPr txBox="1"/>
          <p:nvPr/>
        </p:nvSpPr>
        <p:spPr>
          <a:xfrm>
            <a:off x="5961324" y="2394670"/>
            <a:ext cx="1151277" cy="369332"/>
          </a:xfrm>
          <a:prstGeom prst="rect">
            <a:avLst/>
          </a:prstGeom>
          <a:noFill/>
        </p:spPr>
        <p:txBody>
          <a:bodyPr wrap="none" rtlCol="0">
            <a:spAutoFit/>
          </a:bodyPr>
          <a:lstStyle/>
          <a:p>
            <a:r>
              <a:rPr lang="en-US" dirty="0"/>
              <a:t>Big-Endian</a:t>
            </a:r>
          </a:p>
        </p:txBody>
      </p:sp>
      <p:sp>
        <p:nvSpPr>
          <p:cNvPr id="19" name="TextBox 18">
            <a:extLst>
              <a:ext uri="{FF2B5EF4-FFF2-40B4-BE49-F238E27FC236}">
                <a16:creationId xmlns:a16="http://schemas.microsoft.com/office/drawing/2014/main" id="{896F1534-5A97-76BA-4D10-552F77E560B8}"/>
              </a:ext>
            </a:extLst>
          </p:cNvPr>
          <p:cNvSpPr txBox="1"/>
          <p:nvPr/>
        </p:nvSpPr>
        <p:spPr>
          <a:xfrm>
            <a:off x="8344540" y="5672166"/>
            <a:ext cx="610660"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sp>
        <p:nvSpPr>
          <p:cNvPr id="20" name="TextBox 19">
            <a:extLst>
              <a:ext uri="{FF2B5EF4-FFF2-40B4-BE49-F238E27FC236}">
                <a16:creationId xmlns:a16="http://schemas.microsoft.com/office/drawing/2014/main" id="{3CD6B71C-8785-BDEE-BEA1-D103CF6951D1}"/>
              </a:ext>
            </a:extLst>
          </p:cNvPr>
          <p:cNvSpPr txBox="1"/>
          <p:nvPr/>
        </p:nvSpPr>
        <p:spPr>
          <a:xfrm>
            <a:off x="8325714" y="4246272"/>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grpSp>
        <p:nvGrpSpPr>
          <p:cNvPr id="21" name="Group 33">
            <a:extLst>
              <a:ext uri="{FF2B5EF4-FFF2-40B4-BE49-F238E27FC236}">
                <a16:creationId xmlns:a16="http://schemas.microsoft.com/office/drawing/2014/main" id="{77DD1410-0E9B-3B5D-C548-891FB3449B78}"/>
              </a:ext>
            </a:extLst>
          </p:cNvPr>
          <p:cNvGrpSpPr>
            <a:grpSpLocks/>
          </p:cNvGrpSpPr>
          <p:nvPr/>
        </p:nvGrpSpPr>
        <p:grpSpPr bwMode="auto">
          <a:xfrm>
            <a:off x="7761834" y="4192836"/>
            <a:ext cx="609600" cy="1944699"/>
            <a:chOff x="0" y="0"/>
            <a:chExt cx="384" cy="3072"/>
          </a:xfrm>
        </p:grpSpPr>
        <p:sp>
          <p:nvSpPr>
            <p:cNvPr id="22" name="Rectangle 34">
              <a:extLst>
                <a:ext uri="{FF2B5EF4-FFF2-40B4-BE49-F238E27FC236}">
                  <a16:creationId xmlns:a16="http://schemas.microsoft.com/office/drawing/2014/main" id="{ED0F7942-A8BC-20A0-E327-00CCBDCEDAE7}"/>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3" name="Rectangle 35">
              <a:extLst>
                <a:ext uri="{FF2B5EF4-FFF2-40B4-BE49-F238E27FC236}">
                  <a16:creationId xmlns:a16="http://schemas.microsoft.com/office/drawing/2014/main" id="{3B811DFC-B92F-7CA1-6FD4-485CC4601B73}"/>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4" name="Rectangle 36">
              <a:extLst>
                <a:ext uri="{FF2B5EF4-FFF2-40B4-BE49-F238E27FC236}">
                  <a16:creationId xmlns:a16="http://schemas.microsoft.com/office/drawing/2014/main" id="{19400406-FD11-6DEA-2CD1-191108C0D0F0}"/>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5" name="Rectangle 37">
              <a:extLst>
                <a:ext uri="{FF2B5EF4-FFF2-40B4-BE49-F238E27FC236}">
                  <a16:creationId xmlns:a16="http://schemas.microsoft.com/office/drawing/2014/main" id="{CB0D7C8C-041A-DC9B-629E-F0CCD357FE28}"/>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26" name="TextBox 25">
            <a:extLst>
              <a:ext uri="{FF2B5EF4-FFF2-40B4-BE49-F238E27FC236}">
                <a16:creationId xmlns:a16="http://schemas.microsoft.com/office/drawing/2014/main" id="{6BB9DD8F-2242-59A2-BE32-39681AA7529C}"/>
              </a:ext>
            </a:extLst>
          </p:cNvPr>
          <p:cNvSpPr txBox="1"/>
          <p:nvPr/>
        </p:nvSpPr>
        <p:spPr>
          <a:xfrm>
            <a:off x="5740110" y="4960591"/>
            <a:ext cx="1353256" cy="369332"/>
          </a:xfrm>
          <a:prstGeom prst="rect">
            <a:avLst/>
          </a:prstGeom>
          <a:noFill/>
        </p:spPr>
        <p:txBody>
          <a:bodyPr wrap="none" rtlCol="0">
            <a:spAutoFit/>
          </a:bodyPr>
          <a:lstStyle/>
          <a:p>
            <a:r>
              <a:rPr lang="en-US" dirty="0"/>
              <a:t>Little-Endian</a:t>
            </a:r>
          </a:p>
        </p:txBody>
      </p:sp>
      <p:sp>
        <p:nvSpPr>
          <p:cNvPr id="31" name="Rectangle 30">
            <a:extLst>
              <a:ext uri="{FF2B5EF4-FFF2-40B4-BE49-F238E27FC236}">
                <a16:creationId xmlns:a16="http://schemas.microsoft.com/office/drawing/2014/main" id="{53638461-6269-C6E9-6786-C46710975E86}"/>
              </a:ext>
            </a:extLst>
          </p:cNvPr>
          <p:cNvSpPr/>
          <p:nvPr/>
        </p:nvSpPr>
        <p:spPr>
          <a:xfrm>
            <a:off x="7752965" y="2587678"/>
            <a:ext cx="599643" cy="972349"/>
          </a:xfrm>
          <a:prstGeom prst="rect">
            <a:avLst/>
          </a:prstGeom>
          <a:solidFill>
            <a:schemeClr val="bg1">
              <a:lumMod val="85000"/>
              <a:alpha val="5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526192F-D559-ADA3-4CCF-645E6A7E1269}"/>
              </a:ext>
            </a:extLst>
          </p:cNvPr>
          <p:cNvSpPr/>
          <p:nvPr/>
        </p:nvSpPr>
        <p:spPr>
          <a:xfrm>
            <a:off x="7772825" y="4202353"/>
            <a:ext cx="599643" cy="972349"/>
          </a:xfrm>
          <a:prstGeom prst="rect">
            <a:avLst/>
          </a:prstGeom>
          <a:solidFill>
            <a:schemeClr val="bg1">
              <a:lumMod val="85000"/>
              <a:alpha val="5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774CEE6-6F21-C8FD-F5E2-B3014B77F72A}"/>
              </a:ext>
            </a:extLst>
          </p:cNvPr>
          <p:cNvSpPr txBox="1"/>
          <p:nvPr/>
        </p:nvSpPr>
        <p:spPr>
          <a:xfrm>
            <a:off x="7397632" y="3173823"/>
            <a:ext cx="364202" cy="369332"/>
          </a:xfrm>
          <a:prstGeom prst="rect">
            <a:avLst/>
          </a:prstGeom>
          <a:noFill/>
        </p:spPr>
        <p:txBody>
          <a:bodyPr wrap="none" rtlCol="0">
            <a:spAutoFit/>
          </a:bodyPr>
          <a:lstStyle/>
          <a:p>
            <a:r>
              <a:rPr lang="en-US" dirty="0"/>
              <a:t>N</a:t>
            </a:r>
          </a:p>
        </p:txBody>
      </p:sp>
      <p:sp>
        <p:nvSpPr>
          <p:cNvPr id="6" name="TextBox 5">
            <a:extLst>
              <a:ext uri="{FF2B5EF4-FFF2-40B4-BE49-F238E27FC236}">
                <a16:creationId xmlns:a16="http://schemas.microsoft.com/office/drawing/2014/main" id="{225F0D47-4435-6F04-B674-6CBF74FC04C8}"/>
              </a:ext>
            </a:extLst>
          </p:cNvPr>
          <p:cNvSpPr txBox="1"/>
          <p:nvPr/>
        </p:nvSpPr>
        <p:spPr>
          <a:xfrm>
            <a:off x="7289534" y="2671395"/>
            <a:ext cx="614271" cy="369332"/>
          </a:xfrm>
          <a:prstGeom prst="rect">
            <a:avLst/>
          </a:prstGeom>
          <a:noFill/>
        </p:spPr>
        <p:txBody>
          <a:bodyPr wrap="none" rtlCol="0">
            <a:spAutoFit/>
          </a:bodyPr>
          <a:lstStyle/>
          <a:p>
            <a:r>
              <a:rPr lang="en-US" dirty="0"/>
              <a:t>N+1</a:t>
            </a:r>
          </a:p>
        </p:txBody>
      </p:sp>
      <p:sp>
        <p:nvSpPr>
          <p:cNvPr id="33" name="TextBox 32">
            <a:extLst>
              <a:ext uri="{FF2B5EF4-FFF2-40B4-BE49-F238E27FC236}">
                <a16:creationId xmlns:a16="http://schemas.microsoft.com/office/drawing/2014/main" id="{CC257C2C-171C-36C6-9B35-5D84C30FB5F6}"/>
              </a:ext>
            </a:extLst>
          </p:cNvPr>
          <p:cNvSpPr txBox="1"/>
          <p:nvPr/>
        </p:nvSpPr>
        <p:spPr>
          <a:xfrm>
            <a:off x="7271901" y="2221355"/>
            <a:ext cx="614271" cy="369332"/>
          </a:xfrm>
          <a:prstGeom prst="rect">
            <a:avLst/>
          </a:prstGeom>
          <a:noFill/>
        </p:spPr>
        <p:txBody>
          <a:bodyPr wrap="none" rtlCol="0">
            <a:spAutoFit/>
          </a:bodyPr>
          <a:lstStyle/>
          <a:p>
            <a:r>
              <a:rPr lang="en-US" dirty="0"/>
              <a:t>N+2</a:t>
            </a:r>
          </a:p>
        </p:txBody>
      </p:sp>
      <p:sp>
        <p:nvSpPr>
          <p:cNvPr id="34" name="TextBox 33">
            <a:extLst>
              <a:ext uri="{FF2B5EF4-FFF2-40B4-BE49-F238E27FC236}">
                <a16:creationId xmlns:a16="http://schemas.microsoft.com/office/drawing/2014/main" id="{E633E003-A348-C97C-7F11-F5817BB4A282}"/>
              </a:ext>
            </a:extLst>
          </p:cNvPr>
          <p:cNvSpPr txBox="1"/>
          <p:nvPr/>
        </p:nvSpPr>
        <p:spPr>
          <a:xfrm>
            <a:off x="7271901" y="1737988"/>
            <a:ext cx="506870" cy="307777"/>
          </a:xfrm>
          <a:prstGeom prst="rect">
            <a:avLst/>
          </a:prstGeom>
          <a:noFill/>
        </p:spPr>
        <p:txBody>
          <a:bodyPr wrap="none" rtlCol="0">
            <a:spAutoFit/>
          </a:bodyPr>
          <a:lstStyle/>
          <a:p>
            <a:r>
              <a:rPr lang="en-US" dirty="0"/>
              <a:t>N+3</a:t>
            </a:r>
          </a:p>
        </p:txBody>
      </p:sp>
      <p:sp>
        <p:nvSpPr>
          <p:cNvPr id="35" name="TextBox 34">
            <a:extLst>
              <a:ext uri="{FF2B5EF4-FFF2-40B4-BE49-F238E27FC236}">
                <a16:creationId xmlns:a16="http://schemas.microsoft.com/office/drawing/2014/main" id="{C88BD9B5-EA27-1E41-ABB8-18A51242E5CD}"/>
              </a:ext>
            </a:extLst>
          </p:cNvPr>
          <p:cNvSpPr txBox="1"/>
          <p:nvPr/>
        </p:nvSpPr>
        <p:spPr>
          <a:xfrm>
            <a:off x="7397632" y="5775523"/>
            <a:ext cx="364202" cy="369332"/>
          </a:xfrm>
          <a:prstGeom prst="rect">
            <a:avLst/>
          </a:prstGeom>
          <a:noFill/>
        </p:spPr>
        <p:txBody>
          <a:bodyPr wrap="none" rtlCol="0">
            <a:spAutoFit/>
          </a:bodyPr>
          <a:lstStyle/>
          <a:p>
            <a:r>
              <a:rPr lang="en-US" dirty="0"/>
              <a:t>N</a:t>
            </a:r>
          </a:p>
        </p:txBody>
      </p:sp>
      <p:sp>
        <p:nvSpPr>
          <p:cNvPr id="36" name="TextBox 35">
            <a:extLst>
              <a:ext uri="{FF2B5EF4-FFF2-40B4-BE49-F238E27FC236}">
                <a16:creationId xmlns:a16="http://schemas.microsoft.com/office/drawing/2014/main" id="{DB595757-9D42-648F-005B-4F7AC7B938EB}"/>
              </a:ext>
            </a:extLst>
          </p:cNvPr>
          <p:cNvSpPr txBox="1"/>
          <p:nvPr/>
        </p:nvSpPr>
        <p:spPr>
          <a:xfrm>
            <a:off x="7289534" y="5273095"/>
            <a:ext cx="614271" cy="369332"/>
          </a:xfrm>
          <a:prstGeom prst="rect">
            <a:avLst/>
          </a:prstGeom>
          <a:noFill/>
        </p:spPr>
        <p:txBody>
          <a:bodyPr wrap="none" rtlCol="0">
            <a:spAutoFit/>
          </a:bodyPr>
          <a:lstStyle/>
          <a:p>
            <a:r>
              <a:rPr lang="en-US" dirty="0"/>
              <a:t>N+1</a:t>
            </a:r>
          </a:p>
        </p:txBody>
      </p:sp>
      <p:sp>
        <p:nvSpPr>
          <p:cNvPr id="37" name="TextBox 36">
            <a:extLst>
              <a:ext uri="{FF2B5EF4-FFF2-40B4-BE49-F238E27FC236}">
                <a16:creationId xmlns:a16="http://schemas.microsoft.com/office/drawing/2014/main" id="{AD4EDC72-47D7-E0BB-30E4-E429A57E2390}"/>
              </a:ext>
            </a:extLst>
          </p:cNvPr>
          <p:cNvSpPr txBox="1"/>
          <p:nvPr/>
        </p:nvSpPr>
        <p:spPr>
          <a:xfrm>
            <a:off x="7271901" y="4823055"/>
            <a:ext cx="614271" cy="369332"/>
          </a:xfrm>
          <a:prstGeom prst="rect">
            <a:avLst/>
          </a:prstGeom>
          <a:noFill/>
        </p:spPr>
        <p:txBody>
          <a:bodyPr wrap="none" rtlCol="0">
            <a:spAutoFit/>
          </a:bodyPr>
          <a:lstStyle/>
          <a:p>
            <a:r>
              <a:rPr lang="en-US" dirty="0"/>
              <a:t>N+2</a:t>
            </a:r>
          </a:p>
        </p:txBody>
      </p:sp>
      <p:sp>
        <p:nvSpPr>
          <p:cNvPr id="38" name="TextBox 37">
            <a:extLst>
              <a:ext uri="{FF2B5EF4-FFF2-40B4-BE49-F238E27FC236}">
                <a16:creationId xmlns:a16="http://schemas.microsoft.com/office/drawing/2014/main" id="{4452D4CB-3821-115B-B028-2A330468B902}"/>
              </a:ext>
            </a:extLst>
          </p:cNvPr>
          <p:cNvSpPr txBox="1"/>
          <p:nvPr/>
        </p:nvSpPr>
        <p:spPr>
          <a:xfrm>
            <a:off x="7271901" y="4339688"/>
            <a:ext cx="506870" cy="307777"/>
          </a:xfrm>
          <a:prstGeom prst="rect">
            <a:avLst/>
          </a:prstGeom>
          <a:noFill/>
        </p:spPr>
        <p:txBody>
          <a:bodyPr wrap="none" rtlCol="0">
            <a:spAutoFit/>
          </a:bodyPr>
          <a:lstStyle/>
          <a:p>
            <a:r>
              <a:rPr lang="en-US" dirty="0"/>
              <a:t>N+3</a:t>
            </a:r>
          </a:p>
        </p:txBody>
      </p:sp>
    </p:spTree>
    <p:extLst>
      <p:ext uri="{BB962C8B-B14F-4D97-AF65-F5344CB8AC3E}">
        <p14:creationId xmlns:p14="http://schemas.microsoft.com/office/powerpoint/2010/main" val="3561992185"/>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3" name="Rectangle 1027"/>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4"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5" name="Rectangle 1029"/>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6" name="Rectangle 1030"/>
          <p:cNvSpPr>
            <a:spLocks noGrp="1" noChangeArrowheads="1"/>
          </p:cNvSpPr>
          <p:nvPr>
            <p:ph type="title"/>
          </p:nvPr>
        </p:nvSpPr>
        <p:spPr>
          <a:noFill/>
        </p:spPr>
        <p:txBody>
          <a:bodyPr lIns="92075" tIns="46038" rIns="92075" bIns="46038"/>
          <a:lstStyle/>
          <a:p>
            <a:pPr defTabSz="938213"/>
            <a:r>
              <a:rPr lang="en-US" altLang="zh-CN" dirty="0"/>
              <a:t>Endianness</a:t>
            </a:r>
            <a:endParaRPr lang="en-US" dirty="0"/>
          </a:p>
        </p:txBody>
      </p:sp>
      <p:sp>
        <p:nvSpPr>
          <p:cNvPr id="8" name="Slide Number Placeholder 7"/>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6</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graphicFrame>
        <p:nvGraphicFramePr>
          <p:cNvPr id="9" name="Table 8"/>
          <p:cNvGraphicFramePr>
            <a:graphicFrameLocks noGrp="1"/>
          </p:cNvGraphicFramePr>
          <p:nvPr/>
        </p:nvGraphicFramePr>
        <p:xfrm>
          <a:off x="4167266" y="2722693"/>
          <a:ext cx="4773635" cy="3017520"/>
        </p:xfrm>
        <a:graphic>
          <a:graphicData uri="http://schemas.openxmlformats.org/drawingml/2006/table">
            <a:tbl>
              <a:tblPr firstRow="1" bandRow="1">
                <a:tableStyleId>{5C22544A-7EE6-4342-B048-85BDC9FD1C3A}</a:tableStyleId>
              </a:tblPr>
              <a:tblGrid>
                <a:gridCol w="2261195">
                  <a:extLst>
                    <a:ext uri="{9D8B030D-6E8A-4147-A177-3AD203B41FA5}">
                      <a16:colId xmlns:a16="http://schemas.microsoft.com/office/drawing/2014/main" val="20000"/>
                    </a:ext>
                  </a:extLst>
                </a:gridCol>
                <a:gridCol w="2512440">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4" name="Rectangle 13"/>
          <p:cNvSpPr/>
          <p:nvPr/>
        </p:nvSpPr>
        <p:spPr>
          <a:xfrm>
            <a:off x="963700" y="305847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5" name="Rectangle 14"/>
          <p:cNvSpPr/>
          <p:nvPr/>
        </p:nvSpPr>
        <p:spPr>
          <a:xfrm>
            <a:off x="976439" y="3018265"/>
            <a:ext cx="354584"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a:t>
            </a:r>
          </a:p>
        </p:txBody>
      </p:sp>
      <p:sp>
        <p:nvSpPr>
          <p:cNvPr id="18" name="TextBox 17"/>
          <p:cNvSpPr txBox="1"/>
          <p:nvPr/>
        </p:nvSpPr>
        <p:spPr>
          <a:xfrm>
            <a:off x="329784" y="147197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Big-Endian ordering is</a:t>
            </a:r>
          </a:p>
        </p:txBody>
      </p:sp>
      <p:sp>
        <p:nvSpPr>
          <p:cNvPr id="13" name="Rectangle 12"/>
          <p:cNvSpPr/>
          <p:nvPr/>
        </p:nvSpPr>
        <p:spPr>
          <a:xfrm>
            <a:off x="963700" y="548264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7" name="Rectangle 16"/>
          <p:cNvSpPr/>
          <p:nvPr/>
        </p:nvSpPr>
        <p:spPr>
          <a:xfrm>
            <a:off x="976439" y="5442435"/>
            <a:ext cx="354584"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a:t>
            </a:r>
          </a:p>
        </p:txBody>
      </p:sp>
      <p:sp>
        <p:nvSpPr>
          <p:cNvPr id="19" name="TextBox 18"/>
          <p:cNvSpPr txBox="1"/>
          <p:nvPr/>
        </p:nvSpPr>
        <p:spPr>
          <a:xfrm>
            <a:off x="329784" y="389614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Little-Endian ordering is</a:t>
            </a:r>
          </a:p>
        </p:txBody>
      </p:sp>
    </p:spTree>
    <p:extLst>
      <p:ext uri="{BB962C8B-B14F-4D97-AF65-F5344CB8AC3E}">
        <p14:creationId xmlns:p14="http://schemas.microsoft.com/office/powerpoint/2010/main" val="15028101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3" name="Rectangle 1027"/>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4"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5" name="Rectangle 1029"/>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6" name="Rectangle 1030"/>
          <p:cNvSpPr>
            <a:spLocks noGrp="1" noChangeArrowheads="1"/>
          </p:cNvSpPr>
          <p:nvPr>
            <p:ph type="title"/>
          </p:nvPr>
        </p:nvSpPr>
        <p:spPr>
          <a:noFill/>
        </p:spPr>
        <p:txBody>
          <a:bodyPr lIns="92075" tIns="46038" rIns="92075" bIns="46038"/>
          <a:lstStyle/>
          <a:p>
            <a:pPr defTabSz="938213"/>
            <a:r>
              <a:rPr lang="en-US" altLang="zh-CN" dirty="0"/>
              <a:t>Endianness ANS</a:t>
            </a:r>
            <a:endParaRPr lang="en-US" dirty="0"/>
          </a:p>
        </p:txBody>
      </p:sp>
      <p:sp>
        <p:nvSpPr>
          <p:cNvPr id="8" name="Slide Number Placeholder 7"/>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7</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graphicFrame>
        <p:nvGraphicFramePr>
          <p:cNvPr id="9" name="Table 8"/>
          <p:cNvGraphicFramePr>
            <a:graphicFrameLocks noGrp="1"/>
          </p:cNvGraphicFramePr>
          <p:nvPr/>
        </p:nvGraphicFramePr>
        <p:xfrm>
          <a:off x="4167266" y="2722693"/>
          <a:ext cx="4773635" cy="3017520"/>
        </p:xfrm>
        <a:graphic>
          <a:graphicData uri="http://schemas.openxmlformats.org/drawingml/2006/table">
            <a:tbl>
              <a:tblPr firstRow="1" bandRow="1">
                <a:tableStyleId>{5C22544A-7EE6-4342-B048-85BDC9FD1C3A}</a:tableStyleId>
              </a:tblPr>
              <a:tblGrid>
                <a:gridCol w="2261195">
                  <a:extLst>
                    <a:ext uri="{9D8B030D-6E8A-4147-A177-3AD203B41FA5}">
                      <a16:colId xmlns:a16="http://schemas.microsoft.com/office/drawing/2014/main" val="20000"/>
                    </a:ext>
                  </a:extLst>
                </a:gridCol>
                <a:gridCol w="2512440">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4" name="Rectangle 13"/>
          <p:cNvSpPr/>
          <p:nvPr/>
        </p:nvSpPr>
        <p:spPr>
          <a:xfrm>
            <a:off x="963700" y="305847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5" name="Rectangle 14"/>
          <p:cNvSpPr/>
          <p:nvPr/>
        </p:nvSpPr>
        <p:spPr>
          <a:xfrm>
            <a:off x="976439" y="3018265"/>
            <a:ext cx="1883849"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0xEE8C90A7</a:t>
            </a:r>
          </a:p>
        </p:txBody>
      </p:sp>
      <p:sp>
        <p:nvSpPr>
          <p:cNvPr id="18" name="TextBox 17"/>
          <p:cNvSpPr txBox="1"/>
          <p:nvPr/>
        </p:nvSpPr>
        <p:spPr>
          <a:xfrm>
            <a:off x="329784" y="147197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Big-Endian ordering is</a:t>
            </a:r>
          </a:p>
        </p:txBody>
      </p:sp>
      <p:sp>
        <p:nvSpPr>
          <p:cNvPr id="13" name="Rectangle 12"/>
          <p:cNvSpPr/>
          <p:nvPr/>
        </p:nvSpPr>
        <p:spPr>
          <a:xfrm>
            <a:off x="963700" y="548264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7" name="Rectangle 16"/>
          <p:cNvSpPr/>
          <p:nvPr/>
        </p:nvSpPr>
        <p:spPr>
          <a:xfrm>
            <a:off x="976439" y="5442435"/>
            <a:ext cx="1883849"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0xA7908CEE</a:t>
            </a:r>
          </a:p>
        </p:txBody>
      </p:sp>
      <p:sp>
        <p:nvSpPr>
          <p:cNvPr id="19" name="TextBox 18"/>
          <p:cNvSpPr txBox="1"/>
          <p:nvPr/>
        </p:nvSpPr>
        <p:spPr>
          <a:xfrm>
            <a:off x="329784" y="389614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Little-Endian ordering is</a:t>
            </a:r>
          </a:p>
        </p:txBody>
      </p:sp>
      <p:sp>
        <p:nvSpPr>
          <p:cNvPr id="16" name="TextBox 15"/>
          <p:cNvSpPr txBox="1"/>
          <p:nvPr/>
        </p:nvSpPr>
        <p:spPr>
          <a:xfrm>
            <a:off x="329784" y="5982293"/>
            <a:ext cx="8829284"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41FF"/>
                </a:solidFill>
                <a:effectLst/>
                <a:uLnTx/>
                <a:uFillTx/>
                <a:latin typeface="Courier New" pitchFamily="49" charset="0"/>
                <a:ea typeface="+mn-ea"/>
                <a:cs typeface="+mn-cs"/>
              </a:rPr>
              <a:t>Endianness only specifies byte order, not bit order in a byte!</a:t>
            </a:r>
          </a:p>
        </p:txBody>
      </p:sp>
    </p:spTree>
    <p:extLst>
      <p:ext uri="{BB962C8B-B14F-4D97-AF65-F5344CB8AC3E}">
        <p14:creationId xmlns:p14="http://schemas.microsoft.com/office/powerpoint/2010/main" val="6709031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lIns="92075" tIns="46038" rIns="92075" bIns="46038"/>
          <a:lstStyle/>
          <a:p>
            <a:pPr defTabSz="938213"/>
            <a:r>
              <a:rPr lang="en-US" dirty="0"/>
              <a:t>Endianness</a:t>
            </a:r>
          </a:p>
        </p:txBody>
      </p:sp>
      <p:sp>
        <p:nvSpPr>
          <p:cNvPr id="25607" name="Rectangle 1031"/>
          <p:cNvSpPr>
            <a:spLocks noGrp="1" noChangeArrowheads="1"/>
          </p:cNvSpPr>
          <p:nvPr>
            <p:ph sz="quarter" idx="1"/>
          </p:nvPr>
        </p:nvSpPr>
        <p:spPr>
          <a:xfrm>
            <a:off x="3477717" y="1430312"/>
            <a:ext cx="4804348" cy="1028075"/>
          </a:xfrm>
          <a:noFill/>
        </p:spPr>
        <p:txBody>
          <a:bodyPr lIns="92075" tIns="46038" rIns="92075" bIns="46038" anchorCtr="1">
            <a:normAutofit/>
          </a:bodyPr>
          <a:lstStyle/>
          <a:p>
            <a:pPr defTabSz="938213">
              <a:lnSpc>
                <a:spcPct val="90000"/>
              </a:lnSpc>
              <a:buNone/>
            </a:pPr>
            <a:r>
              <a:rPr lang="en-US" dirty="0">
                <a:latin typeface="Consolas" panose="020B0609020204030204" pitchFamily="49" charset="0"/>
                <a:cs typeface="Consolas" panose="020B0609020204030204" pitchFamily="49" charset="0"/>
              </a:rPr>
              <a:t>LDR r11, [r0]</a:t>
            </a:r>
          </a:p>
          <a:p>
            <a:pPr defTabSz="938213">
              <a:lnSpc>
                <a:spcPct val="90000"/>
              </a:lnSpc>
              <a:buNone/>
            </a:pPr>
            <a:r>
              <a:rPr lang="en-US" dirty="0">
                <a:latin typeface="Consolas" panose="020B0609020204030204" pitchFamily="49" charset="0"/>
                <a:cs typeface="Consolas" panose="020B0609020204030204" pitchFamily="49" charset="0"/>
              </a:rPr>
              <a:t>; r0 = </a:t>
            </a:r>
            <a:r>
              <a:rPr lang="en-US" dirty="0" err="1">
                <a:latin typeface="Consolas" panose="020B0609020204030204" pitchFamily="49" charset="0"/>
                <a:cs typeface="Consolas" panose="020B0609020204030204" pitchFamily="49" charset="0"/>
              </a:rPr>
              <a:t>0x20008000</a:t>
            </a:r>
            <a:r>
              <a:rPr lang="en-US" dirty="0">
                <a:latin typeface="Consolas" panose="020B0609020204030204" pitchFamily="49" charset="0"/>
                <a:cs typeface="Consolas" panose="020B0609020204030204" pitchFamily="49" charset="0"/>
              </a:rPr>
              <a:t> </a:t>
            </a:r>
          </a:p>
        </p:txBody>
      </p:sp>
      <p:sp>
        <p:nvSpPr>
          <p:cNvPr id="8" name="Slide Number Placeholder 7"/>
          <p:cNvSpPr>
            <a:spLocks noGrp="1"/>
          </p:cNvSpPr>
          <p:nvPr>
            <p:ph type="sldNum" sz="quarter" idx="12"/>
          </p:nvPr>
        </p:nvSpPr>
        <p:spPr/>
        <p:txBody>
          <a:bodyPr/>
          <a:lstStyle/>
          <a:p>
            <a:fld id="{AEE14D4A-FE32-40AF-B06D-E9622816B101}" type="slidenum">
              <a:rPr lang="en-US" smtClean="0"/>
              <a:pPr/>
              <a:t>8</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2177192664"/>
              </p:ext>
            </p:extLst>
          </p:nvPr>
        </p:nvGraphicFramePr>
        <p:xfrm>
          <a:off x="4167267" y="2716135"/>
          <a:ext cx="4497050" cy="3017520"/>
        </p:xfrm>
        <a:graphic>
          <a:graphicData uri="http://schemas.openxmlformats.org/drawingml/2006/table">
            <a:tbl>
              <a:tblPr firstRow="1" bandRow="1">
                <a:tableStyleId>{5C22544A-7EE6-4342-B048-85BDC9FD1C3A}</a:tableStyleId>
              </a:tblPr>
              <a:tblGrid>
                <a:gridCol w="2457651">
                  <a:extLst>
                    <a:ext uri="{9D8B030D-6E8A-4147-A177-3AD203B41FA5}">
                      <a16:colId xmlns:a16="http://schemas.microsoft.com/office/drawing/2014/main" val="20000"/>
                    </a:ext>
                  </a:extLst>
                </a:gridCol>
                <a:gridCol w="2039399">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1" name="TextBox 10"/>
          <p:cNvSpPr txBox="1"/>
          <p:nvPr/>
        </p:nvSpPr>
        <p:spPr>
          <a:xfrm>
            <a:off x="366684" y="2231610"/>
            <a:ext cx="2949846" cy="461665"/>
          </a:xfrm>
          <a:prstGeom prst="rect">
            <a:avLst/>
          </a:prstGeom>
          <a:noFill/>
        </p:spPr>
        <p:txBody>
          <a:bodyPr wrap="none" rtlCol="0">
            <a:spAutoFit/>
          </a:bodyPr>
          <a:lstStyle/>
          <a:p>
            <a:r>
              <a:rPr lang="en-US" sz="2400" dirty="0"/>
              <a:t>r11 before load</a:t>
            </a:r>
          </a:p>
        </p:txBody>
      </p:sp>
      <p:sp>
        <p:nvSpPr>
          <p:cNvPr id="12" name="Rectangle 11"/>
          <p:cNvSpPr/>
          <p:nvPr/>
        </p:nvSpPr>
        <p:spPr>
          <a:xfrm>
            <a:off x="1026252" y="2741275"/>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p:cNvSpPr txBox="1"/>
          <p:nvPr/>
        </p:nvSpPr>
        <p:spPr>
          <a:xfrm>
            <a:off x="285829" y="3192496"/>
            <a:ext cx="3881437" cy="830997"/>
          </a:xfrm>
          <a:prstGeom prst="rect">
            <a:avLst/>
          </a:prstGeom>
          <a:noFill/>
        </p:spPr>
        <p:txBody>
          <a:bodyPr wrap="square" rtlCol="0">
            <a:spAutoFit/>
          </a:bodyPr>
          <a:lstStyle/>
          <a:p>
            <a:r>
              <a:rPr lang="en-US" sz="2400" dirty="0"/>
              <a:t>r11 after load w/ Big-Endian ordering  </a:t>
            </a:r>
          </a:p>
        </p:txBody>
      </p:sp>
      <p:sp>
        <p:nvSpPr>
          <p:cNvPr id="14" name="Rectangle 13"/>
          <p:cNvSpPr/>
          <p:nvPr/>
        </p:nvSpPr>
        <p:spPr>
          <a:xfrm>
            <a:off x="1026251" y="4018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2" name="TextBox 1">
            <a:extLst>
              <a:ext uri="{FF2B5EF4-FFF2-40B4-BE49-F238E27FC236}">
                <a16:creationId xmlns:a16="http://schemas.microsoft.com/office/drawing/2014/main" id="{03BF8BEC-CBCA-3D53-1D6F-7FE4217EF5F8}"/>
              </a:ext>
            </a:extLst>
          </p:cNvPr>
          <p:cNvSpPr txBox="1"/>
          <p:nvPr/>
        </p:nvSpPr>
        <p:spPr>
          <a:xfrm>
            <a:off x="0" y="4388465"/>
            <a:ext cx="4286171" cy="830997"/>
          </a:xfrm>
          <a:prstGeom prst="rect">
            <a:avLst/>
          </a:prstGeom>
          <a:noFill/>
        </p:spPr>
        <p:txBody>
          <a:bodyPr wrap="square" rtlCol="0">
            <a:spAutoFit/>
          </a:bodyPr>
          <a:lstStyle/>
          <a:p>
            <a:r>
              <a:rPr lang="en-US" sz="2400" dirty="0"/>
              <a:t>r11 after load w/ Little-Endian ordering  </a:t>
            </a:r>
          </a:p>
        </p:txBody>
      </p:sp>
      <p:sp>
        <p:nvSpPr>
          <p:cNvPr id="3" name="Rectangle 2">
            <a:extLst>
              <a:ext uri="{FF2B5EF4-FFF2-40B4-BE49-F238E27FC236}">
                <a16:creationId xmlns:a16="http://schemas.microsoft.com/office/drawing/2014/main" id="{D80FA951-DE02-3C91-9A1E-27C70066528C}"/>
              </a:ext>
            </a:extLst>
          </p:cNvPr>
          <p:cNvSpPr/>
          <p:nvPr/>
        </p:nvSpPr>
        <p:spPr>
          <a:xfrm>
            <a:off x="1026250" y="5214389"/>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24EDB-B367-8D5E-7A1D-8024D944D378}"/>
            </a:ext>
          </a:extLst>
        </p:cNvPr>
        <p:cNvGrpSpPr/>
        <p:nvPr/>
      </p:nvGrpSpPr>
      <p:grpSpPr>
        <a:xfrm>
          <a:off x="0" y="0"/>
          <a:ext cx="0" cy="0"/>
          <a:chOff x="0" y="0"/>
          <a:chExt cx="0" cy="0"/>
        </a:xfrm>
      </p:grpSpPr>
      <p:sp>
        <p:nvSpPr>
          <p:cNvPr id="25602" name="Rectangle 1026">
            <a:extLst>
              <a:ext uri="{FF2B5EF4-FFF2-40B4-BE49-F238E27FC236}">
                <a16:creationId xmlns:a16="http://schemas.microsoft.com/office/drawing/2014/main" id="{C05B9626-B3E8-BC07-B4F5-BC0FE3A8CEF0}"/>
              </a:ext>
            </a:extLst>
          </p:cNvPr>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a:extLst>
              <a:ext uri="{FF2B5EF4-FFF2-40B4-BE49-F238E27FC236}">
                <a16:creationId xmlns:a16="http://schemas.microsoft.com/office/drawing/2014/main" id="{99D37334-8950-8969-9AE6-58AA8FF1E2BA}"/>
              </a:ext>
            </a:extLst>
          </p:cNvPr>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endParaRPr lang="en-US"/>
          </a:p>
        </p:txBody>
      </p:sp>
      <p:sp>
        <p:nvSpPr>
          <p:cNvPr id="25604" name="Rectangle 1028">
            <a:extLst>
              <a:ext uri="{FF2B5EF4-FFF2-40B4-BE49-F238E27FC236}">
                <a16:creationId xmlns:a16="http://schemas.microsoft.com/office/drawing/2014/main" id="{0750E36E-39FB-8537-5322-BE27861AFF25}"/>
              </a:ext>
            </a:extLst>
          </p:cNvPr>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6" name="Rectangle 1030">
            <a:extLst>
              <a:ext uri="{FF2B5EF4-FFF2-40B4-BE49-F238E27FC236}">
                <a16:creationId xmlns:a16="http://schemas.microsoft.com/office/drawing/2014/main" id="{2B3E1AB2-B3CB-2CA3-69A9-9B3B2CA1C3F7}"/>
              </a:ext>
            </a:extLst>
          </p:cNvPr>
          <p:cNvSpPr>
            <a:spLocks noGrp="1" noChangeArrowheads="1"/>
          </p:cNvSpPr>
          <p:nvPr>
            <p:ph type="title"/>
          </p:nvPr>
        </p:nvSpPr>
        <p:spPr>
          <a:noFill/>
        </p:spPr>
        <p:txBody>
          <a:bodyPr lIns="92075" tIns="46038" rIns="92075" bIns="46038"/>
          <a:lstStyle/>
          <a:p>
            <a:pPr defTabSz="938213"/>
            <a:r>
              <a:rPr lang="en-US" dirty="0"/>
              <a:t>Endianness ANS</a:t>
            </a:r>
          </a:p>
        </p:txBody>
      </p:sp>
      <p:sp>
        <p:nvSpPr>
          <p:cNvPr id="25607" name="Rectangle 1031">
            <a:extLst>
              <a:ext uri="{FF2B5EF4-FFF2-40B4-BE49-F238E27FC236}">
                <a16:creationId xmlns:a16="http://schemas.microsoft.com/office/drawing/2014/main" id="{99AB09FF-CB1D-F4EB-3332-E2B56DF843A9}"/>
              </a:ext>
            </a:extLst>
          </p:cNvPr>
          <p:cNvSpPr>
            <a:spLocks noGrp="1" noChangeArrowheads="1"/>
          </p:cNvSpPr>
          <p:nvPr>
            <p:ph sz="quarter" idx="1"/>
          </p:nvPr>
        </p:nvSpPr>
        <p:spPr>
          <a:xfrm>
            <a:off x="3477717" y="1430312"/>
            <a:ext cx="4804348" cy="1028075"/>
          </a:xfrm>
          <a:noFill/>
        </p:spPr>
        <p:txBody>
          <a:bodyPr lIns="92075" tIns="46038" rIns="92075" bIns="46038" anchorCtr="1">
            <a:normAutofit/>
          </a:bodyPr>
          <a:lstStyle/>
          <a:p>
            <a:pPr defTabSz="938213">
              <a:lnSpc>
                <a:spcPct val="90000"/>
              </a:lnSpc>
              <a:buNone/>
            </a:pPr>
            <a:r>
              <a:rPr lang="en-US" dirty="0">
                <a:latin typeface="Consolas" panose="020B0609020204030204" pitchFamily="49" charset="0"/>
                <a:cs typeface="Consolas" panose="020B0609020204030204" pitchFamily="49" charset="0"/>
              </a:rPr>
              <a:t>LDR r11, [r0]</a:t>
            </a:r>
          </a:p>
          <a:p>
            <a:pPr defTabSz="938213">
              <a:lnSpc>
                <a:spcPct val="90000"/>
              </a:lnSpc>
              <a:buNone/>
            </a:pPr>
            <a:r>
              <a:rPr lang="en-US" dirty="0">
                <a:latin typeface="Consolas" panose="020B0609020204030204" pitchFamily="49" charset="0"/>
                <a:cs typeface="Consolas" panose="020B0609020204030204" pitchFamily="49" charset="0"/>
              </a:rPr>
              <a:t>; r0 = </a:t>
            </a:r>
            <a:r>
              <a:rPr lang="en-US" dirty="0" err="1">
                <a:latin typeface="Consolas" panose="020B0609020204030204" pitchFamily="49" charset="0"/>
                <a:cs typeface="Consolas" panose="020B0609020204030204" pitchFamily="49" charset="0"/>
              </a:rPr>
              <a:t>0x20008000</a:t>
            </a:r>
            <a:r>
              <a:rPr lang="en-US" dirty="0">
                <a:latin typeface="Consolas" panose="020B0609020204030204" pitchFamily="49" charset="0"/>
                <a:cs typeface="Consolas" panose="020B0609020204030204" pitchFamily="49" charset="0"/>
              </a:rPr>
              <a:t> </a:t>
            </a:r>
          </a:p>
        </p:txBody>
      </p:sp>
      <p:sp>
        <p:nvSpPr>
          <p:cNvPr id="8" name="Slide Number Placeholder 7">
            <a:extLst>
              <a:ext uri="{FF2B5EF4-FFF2-40B4-BE49-F238E27FC236}">
                <a16:creationId xmlns:a16="http://schemas.microsoft.com/office/drawing/2014/main" id="{BDE04384-8593-539C-67C3-6EE82121FC77}"/>
              </a:ext>
            </a:extLst>
          </p:cNvPr>
          <p:cNvSpPr>
            <a:spLocks noGrp="1"/>
          </p:cNvSpPr>
          <p:nvPr>
            <p:ph type="sldNum" sz="quarter" idx="12"/>
          </p:nvPr>
        </p:nvSpPr>
        <p:spPr/>
        <p:txBody>
          <a:bodyPr/>
          <a:lstStyle/>
          <a:p>
            <a:fld id="{AEE14D4A-FE32-40AF-B06D-E9622816B101}" type="slidenum">
              <a:rPr lang="en-US" smtClean="0"/>
              <a:pPr/>
              <a:t>9</a:t>
            </a:fld>
            <a:endParaRPr lang="en-US"/>
          </a:p>
        </p:txBody>
      </p:sp>
      <p:graphicFrame>
        <p:nvGraphicFramePr>
          <p:cNvPr id="9" name="Table 8">
            <a:extLst>
              <a:ext uri="{FF2B5EF4-FFF2-40B4-BE49-F238E27FC236}">
                <a16:creationId xmlns:a16="http://schemas.microsoft.com/office/drawing/2014/main" id="{0E30A4EB-ACBA-8E2B-82A1-96E1DB36D61D}"/>
              </a:ext>
            </a:extLst>
          </p:cNvPr>
          <p:cNvGraphicFramePr>
            <a:graphicFrameLocks noGrp="1"/>
          </p:cNvGraphicFramePr>
          <p:nvPr>
            <p:extLst>
              <p:ext uri="{D42A27DB-BD31-4B8C-83A1-F6EECF244321}">
                <p14:modId xmlns:p14="http://schemas.microsoft.com/office/powerpoint/2010/main" val="1686698578"/>
              </p:ext>
            </p:extLst>
          </p:nvPr>
        </p:nvGraphicFramePr>
        <p:xfrm>
          <a:off x="4167267" y="2716135"/>
          <a:ext cx="4497050" cy="3017520"/>
        </p:xfrm>
        <a:graphic>
          <a:graphicData uri="http://schemas.openxmlformats.org/drawingml/2006/table">
            <a:tbl>
              <a:tblPr firstRow="1" bandRow="1">
                <a:tableStyleId>{5C22544A-7EE6-4342-B048-85BDC9FD1C3A}</a:tableStyleId>
              </a:tblPr>
              <a:tblGrid>
                <a:gridCol w="2457651">
                  <a:extLst>
                    <a:ext uri="{9D8B030D-6E8A-4147-A177-3AD203B41FA5}">
                      <a16:colId xmlns:a16="http://schemas.microsoft.com/office/drawing/2014/main" val="20000"/>
                    </a:ext>
                  </a:extLst>
                </a:gridCol>
                <a:gridCol w="2039399">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1" name="TextBox 10">
            <a:extLst>
              <a:ext uri="{FF2B5EF4-FFF2-40B4-BE49-F238E27FC236}">
                <a16:creationId xmlns:a16="http://schemas.microsoft.com/office/drawing/2014/main" id="{0C123BA9-A51A-334A-3CCC-23E32C0FB2EF}"/>
              </a:ext>
            </a:extLst>
          </p:cNvPr>
          <p:cNvSpPr txBox="1"/>
          <p:nvPr/>
        </p:nvSpPr>
        <p:spPr>
          <a:xfrm>
            <a:off x="366684" y="2231610"/>
            <a:ext cx="2949846" cy="461665"/>
          </a:xfrm>
          <a:prstGeom prst="rect">
            <a:avLst/>
          </a:prstGeom>
          <a:noFill/>
        </p:spPr>
        <p:txBody>
          <a:bodyPr wrap="none" rtlCol="0">
            <a:spAutoFit/>
          </a:bodyPr>
          <a:lstStyle/>
          <a:p>
            <a:r>
              <a:rPr lang="en-US" sz="2400" dirty="0"/>
              <a:t>r11 before load</a:t>
            </a:r>
          </a:p>
        </p:txBody>
      </p:sp>
      <p:sp>
        <p:nvSpPr>
          <p:cNvPr id="12" name="Rectangle 11">
            <a:extLst>
              <a:ext uri="{FF2B5EF4-FFF2-40B4-BE49-F238E27FC236}">
                <a16:creationId xmlns:a16="http://schemas.microsoft.com/office/drawing/2014/main" id="{E1A81C05-5B13-07CB-4223-36EA7F5CA04E}"/>
              </a:ext>
            </a:extLst>
          </p:cNvPr>
          <p:cNvSpPr/>
          <p:nvPr/>
        </p:nvSpPr>
        <p:spPr>
          <a:xfrm>
            <a:off x="1026252" y="2741275"/>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a:extLst>
              <a:ext uri="{FF2B5EF4-FFF2-40B4-BE49-F238E27FC236}">
                <a16:creationId xmlns:a16="http://schemas.microsoft.com/office/drawing/2014/main" id="{1365D5A2-4D1B-E7B6-85AF-94A4001FB1BE}"/>
              </a:ext>
            </a:extLst>
          </p:cNvPr>
          <p:cNvSpPr txBox="1"/>
          <p:nvPr/>
        </p:nvSpPr>
        <p:spPr>
          <a:xfrm>
            <a:off x="285829" y="3192496"/>
            <a:ext cx="3881437" cy="830997"/>
          </a:xfrm>
          <a:prstGeom prst="rect">
            <a:avLst/>
          </a:prstGeom>
          <a:noFill/>
        </p:spPr>
        <p:txBody>
          <a:bodyPr wrap="square" rtlCol="0">
            <a:spAutoFit/>
          </a:bodyPr>
          <a:lstStyle/>
          <a:p>
            <a:r>
              <a:rPr lang="en-US" sz="2400" dirty="0"/>
              <a:t>r11 after load w/ Big-Endian ordering  </a:t>
            </a:r>
          </a:p>
        </p:txBody>
      </p:sp>
      <p:sp>
        <p:nvSpPr>
          <p:cNvPr id="2" name="TextBox 1">
            <a:extLst>
              <a:ext uri="{FF2B5EF4-FFF2-40B4-BE49-F238E27FC236}">
                <a16:creationId xmlns:a16="http://schemas.microsoft.com/office/drawing/2014/main" id="{0EF70820-D687-EE75-47D5-DA7B817D3044}"/>
              </a:ext>
            </a:extLst>
          </p:cNvPr>
          <p:cNvSpPr txBox="1"/>
          <p:nvPr/>
        </p:nvSpPr>
        <p:spPr>
          <a:xfrm>
            <a:off x="0" y="4388465"/>
            <a:ext cx="4286171" cy="830997"/>
          </a:xfrm>
          <a:prstGeom prst="rect">
            <a:avLst/>
          </a:prstGeom>
          <a:noFill/>
        </p:spPr>
        <p:txBody>
          <a:bodyPr wrap="square" rtlCol="0">
            <a:spAutoFit/>
          </a:bodyPr>
          <a:lstStyle/>
          <a:p>
            <a:r>
              <a:rPr lang="en-US" sz="2400" dirty="0"/>
              <a:t>r11 after load w/ Little-Endian ordering  </a:t>
            </a:r>
          </a:p>
        </p:txBody>
      </p:sp>
      <p:sp>
        <p:nvSpPr>
          <p:cNvPr id="4" name="Rectangle 3">
            <a:extLst>
              <a:ext uri="{FF2B5EF4-FFF2-40B4-BE49-F238E27FC236}">
                <a16:creationId xmlns:a16="http://schemas.microsoft.com/office/drawing/2014/main" id="{6F534A2F-9846-7A97-D479-D46DB56AB958}"/>
              </a:ext>
            </a:extLst>
          </p:cNvPr>
          <p:cNvSpPr/>
          <p:nvPr/>
        </p:nvSpPr>
        <p:spPr>
          <a:xfrm>
            <a:off x="1041817" y="5253741"/>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5" name="Rectangle 4">
            <a:extLst>
              <a:ext uri="{FF2B5EF4-FFF2-40B4-BE49-F238E27FC236}">
                <a16:creationId xmlns:a16="http://schemas.microsoft.com/office/drawing/2014/main" id="{BC3F3BEC-A50C-878A-987B-AAF83CD43E44}"/>
              </a:ext>
            </a:extLst>
          </p:cNvPr>
          <p:cNvSpPr/>
          <p:nvPr/>
        </p:nvSpPr>
        <p:spPr>
          <a:xfrm>
            <a:off x="1054556" y="5213529"/>
            <a:ext cx="1883849" cy="461665"/>
          </a:xfrm>
          <a:prstGeom prst="rect">
            <a:avLst/>
          </a:prstGeom>
        </p:spPr>
        <p:txBody>
          <a:bodyPr wrap="none">
            <a:spAutoFit/>
          </a:bodyPr>
          <a:lstStyle/>
          <a:p>
            <a:r>
              <a:rPr lang="en-US" sz="2400" dirty="0" err="1">
                <a:solidFill>
                  <a:srgbClr val="FF0000"/>
                </a:solidFill>
                <a:latin typeface="Consolas" panose="020B0609020204030204" pitchFamily="49" charset="0"/>
                <a:cs typeface="Consolas" panose="020B0609020204030204" pitchFamily="49" charset="0"/>
              </a:rPr>
              <a:t>0xA7908CEE</a:t>
            </a:r>
            <a:endParaRPr lang="en-US" sz="2400" dirty="0">
              <a:solidFill>
                <a:srgbClr val="FF0000"/>
              </a:solidFill>
              <a:latin typeface="Consolas" panose="020B0609020204030204" pitchFamily="49" charset="0"/>
              <a:cs typeface="Consolas" panose="020B0609020204030204" pitchFamily="49" charset="0"/>
            </a:endParaRPr>
          </a:p>
        </p:txBody>
      </p:sp>
      <p:sp>
        <p:nvSpPr>
          <p:cNvPr id="6" name="Rectangle 5">
            <a:extLst>
              <a:ext uri="{FF2B5EF4-FFF2-40B4-BE49-F238E27FC236}">
                <a16:creationId xmlns:a16="http://schemas.microsoft.com/office/drawing/2014/main" id="{FF49A434-8C62-C958-9270-232816F13AE4}"/>
              </a:ext>
            </a:extLst>
          </p:cNvPr>
          <p:cNvSpPr/>
          <p:nvPr/>
        </p:nvSpPr>
        <p:spPr>
          <a:xfrm>
            <a:off x="1041817" y="4032316"/>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7" name="Rectangle 6">
            <a:extLst>
              <a:ext uri="{FF2B5EF4-FFF2-40B4-BE49-F238E27FC236}">
                <a16:creationId xmlns:a16="http://schemas.microsoft.com/office/drawing/2014/main" id="{F6F628D0-DD4D-72F2-BDF1-C601826C46E8}"/>
              </a:ext>
            </a:extLst>
          </p:cNvPr>
          <p:cNvSpPr/>
          <p:nvPr/>
        </p:nvSpPr>
        <p:spPr>
          <a:xfrm>
            <a:off x="1054556" y="3992104"/>
            <a:ext cx="1883849" cy="461665"/>
          </a:xfrm>
          <a:prstGeom prst="rect">
            <a:avLst/>
          </a:prstGeom>
        </p:spPr>
        <p:txBody>
          <a:bodyPr wrap="none">
            <a:spAutoFit/>
          </a:bodyPr>
          <a:lstStyle/>
          <a:p>
            <a:r>
              <a:rPr lang="en-US" sz="2400" dirty="0">
                <a:solidFill>
                  <a:srgbClr val="FF0000"/>
                </a:solidFill>
                <a:latin typeface="Consolas" panose="020B0609020204030204" pitchFamily="49" charset="0"/>
                <a:cs typeface="Consolas" panose="020B0609020204030204" pitchFamily="49" charset="0"/>
              </a:rPr>
              <a:t>0xEE8C90A7</a:t>
            </a:r>
          </a:p>
        </p:txBody>
      </p:sp>
    </p:spTree>
    <p:extLst>
      <p:ext uri="{BB962C8B-B14F-4D97-AF65-F5344CB8AC3E}">
        <p14:creationId xmlns:p14="http://schemas.microsoft.com/office/powerpoint/2010/main" val="14224036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D13A2-283C-C569-EF1A-CBC7504FE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84595-D472-6F68-DE47-3C22C5AAF578}"/>
              </a:ext>
            </a:extLst>
          </p:cNvPr>
          <p:cNvSpPr>
            <a:spLocks noGrp="1"/>
          </p:cNvSpPr>
          <p:nvPr>
            <p:ph type="title"/>
          </p:nvPr>
        </p:nvSpPr>
        <p:spPr/>
        <p:txBody>
          <a:bodyPr/>
          <a:lstStyle/>
          <a:p>
            <a:r>
              <a:rPr lang="en-US" dirty="0"/>
              <a:t>Endianness</a:t>
            </a:r>
          </a:p>
        </p:txBody>
      </p:sp>
      <p:sp>
        <p:nvSpPr>
          <p:cNvPr id="3" name="Slide Number Placeholder 2">
            <a:extLst>
              <a:ext uri="{FF2B5EF4-FFF2-40B4-BE49-F238E27FC236}">
                <a16:creationId xmlns:a16="http://schemas.microsoft.com/office/drawing/2014/main" id="{13A5959D-8205-525D-CB04-4F53DED6B8D9}"/>
              </a:ext>
            </a:extLst>
          </p:cNvPr>
          <p:cNvSpPr>
            <a:spLocks noGrp="1"/>
          </p:cNvSpPr>
          <p:nvPr>
            <p:ph type="sldNum" sz="quarter" idx="12"/>
          </p:nvPr>
        </p:nvSpPr>
        <p:spPr/>
        <p:txBody>
          <a:bodyPr/>
          <a:lstStyle/>
          <a:p>
            <a:fld id="{AEE14D4A-FE32-40AF-B06D-E9622816B101}" type="slidenum">
              <a:rPr lang="en-US" smtClean="0"/>
              <a:pPr/>
              <a:t>10</a:t>
            </a:fld>
            <a:endParaRPr lang="en-US"/>
          </a:p>
        </p:txBody>
      </p:sp>
      <p:sp>
        <p:nvSpPr>
          <p:cNvPr id="4" name="Content Placeholder 3">
            <a:extLst>
              <a:ext uri="{FF2B5EF4-FFF2-40B4-BE49-F238E27FC236}">
                <a16:creationId xmlns:a16="http://schemas.microsoft.com/office/drawing/2014/main" id="{2E30BEB6-14A6-7DA1-64FA-D0E05B682530}"/>
              </a:ext>
            </a:extLst>
          </p:cNvPr>
          <p:cNvSpPr>
            <a:spLocks noGrp="1"/>
          </p:cNvSpPr>
          <p:nvPr>
            <p:ph sz="quarter" idx="1"/>
          </p:nvPr>
        </p:nvSpPr>
        <p:spPr>
          <a:xfrm>
            <a:off x="457200" y="1250950"/>
            <a:ext cx="4495800" cy="4997450"/>
          </a:xfrm>
        </p:spPr>
        <p:txBody>
          <a:bodyPr>
            <a:normAutofit fontScale="70000" lnSpcReduction="20000"/>
          </a:bodyPr>
          <a:lstStyle/>
          <a:p>
            <a:r>
              <a:rPr lang="en-US" dirty="0"/>
              <a:t>Assume little endian for the following questions:   r0 = 0x20008000</a:t>
            </a:r>
          </a:p>
          <a:p>
            <a:pPr lvl="0"/>
            <a:r>
              <a:rPr lang="en-US" b="1" dirty="0"/>
              <a:t>LDRH r1, [r0]</a:t>
            </a:r>
            <a:r>
              <a:rPr lang="en-US" dirty="0"/>
              <a:t>  </a:t>
            </a:r>
          </a:p>
          <a:p>
            <a:pPr lvl="1"/>
            <a:r>
              <a:rPr lang="en-US" dirty="0"/>
              <a:t>r1 after load: 0x00008CEE</a:t>
            </a:r>
          </a:p>
          <a:p>
            <a:pPr lvl="0"/>
            <a:r>
              <a:rPr lang="en-US" b="1" dirty="0"/>
              <a:t>LDRSB r1, [r0]</a:t>
            </a:r>
            <a:r>
              <a:rPr lang="en-US" dirty="0"/>
              <a:t> </a:t>
            </a:r>
          </a:p>
          <a:p>
            <a:pPr lvl="1"/>
            <a:r>
              <a:rPr lang="en-US" dirty="0"/>
              <a:t>r1 after load: 0xFFFFFFEE</a:t>
            </a:r>
          </a:p>
          <a:p>
            <a:r>
              <a:rPr lang="en-US" b="1" dirty="0"/>
              <a:t>STR r1, [r0], #4  </a:t>
            </a:r>
            <a:endParaRPr lang="en-US" dirty="0"/>
          </a:p>
          <a:p>
            <a:pPr lvl="1"/>
            <a:r>
              <a:rPr lang="en-US" dirty="0"/>
              <a:t>Assume r1 = 0x76543210</a:t>
            </a:r>
          </a:p>
          <a:p>
            <a:pPr lvl="1"/>
            <a:r>
              <a:rPr lang="en-US" dirty="0"/>
              <a:t>r0 after store: 0x20008004</a:t>
            </a:r>
          </a:p>
          <a:p>
            <a:pPr lvl="1"/>
            <a:r>
              <a:rPr lang="en-US" dirty="0"/>
              <a:t>Memory content after </a:t>
            </a:r>
            <a:r>
              <a:rPr lang="en-US"/>
              <a:t>store: </a:t>
            </a:r>
            <a:endParaRPr lang="en-US" dirty="0"/>
          </a:p>
          <a:p>
            <a:pPr lvl="0"/>
            <a:r>
              <a:rPr lang="en-US" b="1" dirty="0"/>
              <a:t>STR r1, [r0, #4]</a:t>
            </a:r>
            <a:endParaRPr lang="en-US" dirty="0"/>
          </a:p>
          <a:p>
            <a:pPr lvl="1"/>
            <a:r>
              <a:rPr lang="en-US" dirty="0"/>
              <a:t>Assume r1 = 0x76543210</a:t>
            </a:r>
          </a:p>
          <a:p>
            <a:pPr lvl="1"/>
            <a:r>
              <a:rPr lang="en-US" dirty="0"/>
              <a:t>r0 after store:</a:t>
            </a:r>
          </a:p>
          <a:p>
            <a:pPr lvl="1"/>
            <a:r>
              <a:rPr lang="en-US" dirty="0"/>
              <a:t>Memory content after store:</a:t>
            </a:r>
          </a:p>
          <a:p>
            <a:pPr lvl="0"/>
            <a:r>
              <a:rPr lang="en-US" b="1" dirty="0"/>
              <a:t>STR r1, [r0, #4]!</a:t>
            </a:r>
            <a:endParaRPr lang="en-US" dirty="0"/>
          </a:p>
          <a:p>
            <a:pPr lvl="1"/>
            <a:r>
              <a:rPr lang="en-US" dirty="0"/>
              <a:t>Assume r1 = 0x76543210</a:t>
            </a:r>
          </a:p>
          <a:p>
            <a:pPr lvl="1"/>
            <a:r>
              <a:rPr lang="en-US" dirty="0"/>
              <a:t>r0 after store:</a:t>
            </a:r>
          </a:p>
          <a:p>
            <a:pPr lvl="1"/>
            <a:r>
              <a:rPr lang="en-US" dirty="0"/>
              <a:t>Memory content after store:</a:t>
            </a:r>
          </a:p>
          <a:p>
            <a:endParaRPr lang="en-US" dirty="0"/>
          </a:p>
          <a:p>
            <a:endParaRPr lang="en-US" dirty="0"/>
          </a:p>
        </p:txBody>
      </p:sp>
      <p:graphicFrame>
        <p:nvGraphicFramePr>
          <p:cNvPr id="9" name="Table 8">
            <a:extLst>
              <a:ext uri="{FF2B5EF4-FFF2-40B4-BE49-F238E27FC236}">
                <a16:creationId xmlns:a16="http://schemas.microsoft.com/office/drawing/2014/main" id="{CDC85F25-15D6-DAB9-23EA-EF1BBDC222C1}"/>
              </a:ext>
            </a:extLst>
          </p:cNvPr>
          <p:cNvGraphicFramePr>
            <a:graphicFrameLocks noGrp="1"/>
          </p:cNvGraphicFramePr>
          <p:nvPr/>
        </p:nvGraphicFramePr>
        <p:xfrm>
          <a:off x="4953000" y="44450"/>
          <a:ext cx="4102100" cy="198120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16263769"/>
      </p:ext>
    </p:extLst>
  </p:cSld>
  <p:clrMapOvr>
    <a:masterClrMapping/>
  </p:clrMapOvr>
  <p:transition>
    <p:pull dir="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87A03-6041-026E-57B5-BB15BE9C9179}"/>
              </a:ext>
            </a:extLst>
          </p:cNvPr>
          <p:cNvSpPr>
            <a:spLocks noGrp="1"/>
          </p:cNvSpPr>
          <p:nvPr>
            <p:ph type="title"/>
          </p:nvPr>
        </p:nvSpPr>
        <p:spPr/>
        <p:txBody>
          <a:bodyPr/>
          <a:lstStyle/>
          <a:p>
            <a:r>
              <a:rPr lang="en-US" dirty="0"/>
              <a:t>Endianness ANS</a:t>
            </a:r>
          </a:p>
        </p:txBody>
      </p:sp>
      <p:sp>
        <p:nvSpPr>
          <p:cNvPr id="3" name="Slide Number Placeholder 2">
            <a:extLst>
              <a:ext uri="{FF2B5EF4-FFF2-40B4-BE49-F238E27FC236}">
                <a16:creationId xmlns:a16="http://schemas.microsoft.com/office/drawing/2014/main" id="{BAFAECCC-348A-6E6B-7C99-059184B867B6}"/>
              </a:ext>
            </a:extLst>
          </p:cNvPr>
          <p:cNvSpPr>
            <a:spLocks noGrp="1"/>
          </p:cNvSpPr>
          <p:nvPr>
            <p:ph type="sldNum" sz="quarter" idx="12"/>
          </p:nvPr>
        </p:nvSpPr>
        <p:spPr/>
        <p:txBody>
          <a:bodyPr/>
          <a:lstStyle/>
          <a:p>
            <a:fld id="{AEE14D4A-FE32-40AF-B06D-E9622816B101}" type="slidenum">
              <a:rPr lang="en-US" smtClean="0"/>
              <a:pPr/>
              <a:t>11</a:t>
            </a:fld>
            <a:endParaRPr lang="en-US"/>
          </a:p>
        </p:txBody>
      </p:sp>
      <p:sp>
        <p:nvSpPr>
          <p:cNvPr id="4" name="Content Placeholder 3">
            <a:extLst>
              <a:ext uri="{FF2B5EF4-FFF2-40B4-BE49-F238E27FC236}">
                <a16:creationId xmlns:a16="http://schemas.microsoft.com/office/drawing/2014/main" id="{820F721C-49AF-4791-CFC3-7A5BCF18A263}"/>
              </a:ext>
            </a:extLst>
          </p:cNvPr>
          <p:cNvSpPr>
            <a:spLocks noGrp="1"/>
          </p:cNvSpPr>
          <p:nvPr>
            <p:ph sz="quarter" idx="1"/>
          </p:nvPr>
        </p:nvSpPr>
        <p:spPr>
          <a:xfrm>
            <a:off x="254000" y="1143000"/>
            <a:ext cx="4699000" cy="5213350"/>
          </a:xfrm>
        </p:spPr>
        <p:txBody>
          <a:bodyPr>
            <a:normAutofit lnSpcReduction="10000"/>
          </a:bodyPr>
          <a:lstStyle/>
          <a:p>
            <a:r>
              <a:rPr lang="en-US" dirty="0"/>
              <a:t>Assume little endian for the following questions:   r0 = 0x20008000</a:t>
            </a:r>
          </a:p>
          <a:p>
            <a:pPr lvl="0"/>
            <a:r>
              <a:rPr lang="en-US" b="1" dirty="0"/>
              <a:t>LDRH r1, [r0]</a:t>
            </a:r>
            <a:r>
              <a:rPr lang="en-US" dirty="0"/>
              <a:t>  </a:t>
            </a:r>
          </a:p>
          <a:p>
            <a:pPr lvl="1"/>
            <a:r>
              <a:rPr lang="en-US" dirty="0"/>
              <a:t>r1 after load: 0x00008CEE</a:t>
            </a:r>
          </a:p>
          <a:p>
            <a:pPr lvl="0"/>
            <a:r>
              <a:rPr lang="en-US" b="1" dirty="0"/>
              <a:t>LDRSB r1, [r0]</a:t>
            </a:r>
            <a:r>
              <a:rPr lang="en-US" dirty="0"/>
              <a:t> </a:t>
            </a:r>
          </a:p>
          <a:p>
            <a:pPr lvl="1"/>
            <a:r>
              <a:rPr lang="en-US" dirty="0"/>
              <a:t>r1 after load: 0xFFFFFFEE</a:t>
            </a:r>
          </a:p>
          <a:p>
            <a:r>
              <a:rPr lang="en-US" b="1" dirty="0"/>
              <a:t>STR r1, [r0], #4  </a:t>
            </a:r>
            <a:endParaRPr lang="en-US" dirty="0"/>
          </a:p>
          <a:p>
            <a:pPr lvl="1"/>
            <a:r>
              <a:rPr lang="en-US" dirty="0"/>
              <a:t>Assume r1 = 0x76543210</a:t>
            </a:r>
          </a:p>
          <a:p>
            <a:pPr lvl="1"/>
            <a:r>
              <a:rPr lang="en-US" dirty="0"/>
              <a:t>r0 after store: 0x20008004</a:t>
            </a:r>
          </a:p>
          <a:p>
            <a:pPr lvl="2"/>
            <a:r>
              <a:rPr lang="en-US" dirty="0"/>
              <a:t>Post-index. Store at old r0, then r0 = r0 + 4.</a:t>
            </a:r>
          </a:p>
          <a:p>
            <a:pPr lvl="1"/>
            <a:r>
              <a:rPr lang="en-US" dirty="0"/>
              <a:t>Memory content after store:</a:t>
            </a:r>
          </a:p>
        </p:txBody>
      </p:sp>
      <p:graphicFrame>
        <p:nvGraphicFramePr>
          <p:cNvPr id="11" name="Table 10">
            <a:extLst>
              <a:ext uri="{FF2B5EF4-FFF2-40B4-BE49-F238E27FC236}">
                <a16:creationId xmlns:a16="http://schemas.microsoft.com/office/drawing/2014/main" id="{E200620A-B2FE-B335-0D7B-0C5D9D0E887A}"/>
              </a:ext>
            </a:extLst>
          </p:cNvPr>
          <p:cNvGraphicFramePr>
            <a:graphicFrameLocks noGrp="1"/>
          </p:cNvGraphicFramePr>
          <p:nvPr>
            <p:extLst>
              <p:ext uri="{D42A27DB-BD31-4B8C-83A1-F6EECF244321}">
                <p14:modId xmlns:p14="http://schemas.microsoft.com/office/powerpoint/2010/main" val="164133359"/>
              </p:ext>
            </p:extLst>
          </p:nvPr>
        </p:nvGraphicFramePr>
        <p:xfrm>
          <a:off x="4953000" y="44450"/>
          <a:ext cx="4102100" cy="198120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graphicFrame>
        <p:nvGraphicFramePr>
          <p:cNvPr id="12" name="Table 11">
            <a:extLst>
              <a:ext uri="{FF2B5EF4-FFF2-40B4-BE49-F238E27FC236}">
                <a16:creationId xmlns:a16="http://schemas.microsoft.com/office/drawing/2014/main" id="{9E77696A-7447-CDEC-D8B2-8C7336B6AE76}"/>
              </a:ext>
            </a:extLst>
          </p:cNvPr>
          <p:cNvGraphicFramePr>
            <a:graphicFrameLocks noGrp="1"/>
          </p:cNvGraphicFramePr>
          <p:nvPr>
            <p:extLst>
              <p:ext uri="{D42A27DB-BD31-4B8C-83A1-F6EECF244321}">
                <p14:modId xmlns:p14="http://schemas.microsoft.com/office/powerpoint/2010/main" val="3739502144"/>
              </p:ext>
            </p:extLst>
          </p:nvPr>
        </p:nvGraphicFramePr>
        <p:xfrm>
          <a:off x="4953000" y="2973070"/>
          <a:ext cx="4102100" cy="356616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0x20008003</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0x76</a:t>
                      </a:r>
                    </a:p>
                  </a:txBody>
                  <a:tcPr/>
                </a:tc>
                <a:extLst>
                  <a:ext uri="{0D108BD9-81ED-4DB2-BD59-A6C34878D82A}">
                    <a16:rowId xmlns:a16="http://schemas.microsoft.com/office/drawing/2014/main" val="1987059201"/>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0x20008002</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0x54</a:t>
                      </a:r>
                    </a:p>
                  </a:txBody>
                  <a:tcPr/>
                </a:tc>
                <a:extLst>
                  <a:ext uri="{0D108BD9-81ED-4DB2-BD59-A6C34878D82A}">
                    <a16:rowId xmlns:a16="http://schemas.microsoft.com/office/drawing/2014/main" val="1519320359"/>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0x20008001</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0x32</a:t>
                      </a:r>
                    </a:p>
                  </a:txBody>
                  <a:tcPr/>
                </a:tc>
                <a:extLst>
                  <a:ext uri="{0D108BD9-81ED-4DB2-BD59-A6C34878D82A}">
                    <a16:rowId xmlns:a16="http://schemas.microsoft.com/office/drawing/2014/main" val="3186104927"/>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0x20008000</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0x10</a:t>
                      </a:r>
                    </a:p>
                  </a:txBody>
                  <a:tcPr/>
                </a:tc>
                <a:extLst>
                  <a:ext uri="{0D108BD9-81ED-4DB2-BD59-A6C34878D82A}">
                    <a16:rowId xmlns:a16="http://schemas.microsoft.com/office/drawing/2014/main" val="3027765399"/>
                  </a:ext>
                </a:extLst>
              </a:tr>
            </a:tbl>
          </a:graphicData>
        </a:graphic>
      </p:graphicFrame>
    </p:spTree>
    <p:extLst>
      <p:ext uri="{BB962C8B-B14F-4D97-AF65-F5344CB8AC3E}">
        <p14:creationId xmlns:p14="http://schemas.microsoft.com/office/powerpoint/2010/main" val="2284923932"/>
      </p:ext>
    </p:extLst>
  </p:cSld>
  <p:clrMapOvr>
    <a:masterClrMapping/>
  </p:clrMapOvr>
  <p:transition>
    <p:pull dir="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C02EF-D8BE-BC84-83FA-044486DF31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B998F4-8959-2255-3954-C64B653D3286}"/>
              </a:ext>
            </a:extLst>
          </p:cNvPr>
          <p:cNvSpPr>
            <a:spLocks noGrp="1"/>
          </p:cNvSpPr>
          <p:nvPr>
            <p:ph type="title"/>
          </p:nvPr>
        </p:nvSpPr>
        <p:spPr/>
        <p:txBody>
          <a:bodyPr/>
          <a:lstStyle/>
          <a:p>
            <a:r>
              <a:rPr lang="en-US" dirty="0"/>
              <a:t>Endianness ANS</a:t>
            </a:r>
          </a:p>
        </p:txBody>
      </p:sp>
      <p:sp>
        <p:nvSpPr>
          <p:cNvPr id="3" name="Slide Number Placeholder 2">
            <a:extLst>
              <a:ext uri="{FF2B5EF4-FFF2-40B4-BE49-F238E27FC236}">
                <a16:creationId xmlns:a16="http://schemas.microsoft.com/office/drawing/2014/main" id="{D35107B7-E265-EA99-A1DB-F65ACA9D5570}"/>
              </a:ext>
            </a:extLst>
          </p:cNvPr>
          <p:cNvSpPr>
            <a:spLocks noGrp="1"/>
          </p:cNvSpPr>
          <p:nvPr>
            <p:ph type="sldNum" sz="quarter" idx="12"/>
          </p:nvPr>
        </p:nvSpPr>
        <p:spPr/>
        <p:txBody>
          <a:bodyPr/>
          <a:lstStyle/>
          <a:p>
            <a:fld id="{AEE14D4A-FE32-40AF-B06D-E9622816B101}" type="slidenum">
              <a:rPr lang="en-US" smtClean="0"/>
              <a:pPr/>
              <a:t>12</a:t>
            </a:fld>
            <a:endParaRPr lang="en-US"/>
          </a:p>
        </p:txBody>
      </p:sp>
      <p:sp>
        <p:nvSpPr>
          <p:cNvPr id="4" name="Content Placeholder 3">
            <a:extLst>
              <a:ext uri="{FF2B5EF4-FFF2-40B4-BE49-F238E27FC236}">
                <a16:creationId xmlns:a16="http://schemas.microsoft.com/office/drawing/2014/main" id="{3528BAFB-7E83-6017-36A5-8856E36AD2DF}"/>
              </a:ext>
            </a:extLst>
          </p:cNvPr>
          <p:cNvSpPr>
            <a:spLocks noGrp="1"/>
          </p:cNvSpPr>
          <p:nvPr>
            <p:ph sz="quarter" idx="1"/>
          </p:nvPr>
        </p:nvSpPr>
        <p:spPr>
          <a:xfrm>
            <a:off x="457200" y="1250950"/>
            <a:ext cx="4545142" cy="4906010"/>
          </a:xfrm>
        </p:spPr>
        <p:txBody>
          <a:bodyPr>
            <a:normAutofit/>
          </a:bodyPr>
          <a:lstStyle/>
          <a:p>
            <a:pPr lvl="0"/>
            <a:r>
              <a:rPr lang="en-US" b="1" dirty="0"/>
              <a:t>STR r1, [r0, #4]</a:t>
            </a:r>
            <a:endParaRPr lang="en-US" dirty="0"/>
          </a:p>
          <a:p>
            <a:pPr lvl="1"/>
            <a:r>
              <a:rPr lang="en-US" dirty="0"/>
              <a:t>Assume r1 = 0x76543210</a:t>
            </a:r>
          </a:p>
          <a:p>
            <a:pPr lvl="1"/>
            <a:r>
              <a:rPr lang="en-US" dirty="0"/>
              <a:t>r0 after store: 0x20008000</a:t>
            </a:r>
          </a:p>
          <a:p>
            <a:pPr lvl="2"/>
            <a:r>
              <a:rPr lang="en-US" dirty="0"/>
              <a:t>Pre-index. Store at r0 + 4; r0 unchanged.</a:t>
            </a:r>
          </a:p>
          <a:p>
            <a:pPr lvl="1"/>
            <a:r>
              <a:rPr lang="en-US" dirty="0"/>
              <a:t>Memory content after store:</a:t>
            </a:r>
          </a:p>
          <a:p>
            <a:endParaRPr lang="en-US" dirty="0"/>
          </a:p>
        </p:txBody>
      </p:sp>
      <p:graphicFrame>
        <p:nvGraphicFramePr>
          <p:cNvPr id="5" name="Table 4">
            <a:extLst>
              <a:ext uri="{FF2B5EF4-FFF2-40B4-BE49-F238E27FC236}">
                <a16:creationId xmlns:a16="http://schemas.microsoft.com/office/drawing/2014/main" id="{DCFF20E1-6306-C5B2-B89F-50622B752DF5}"/>
              </a:ext>
            </a:extLst>
          </p:cNvPr>
          <p:cNvGraphicFramePr>
            <a:graphicFrameLocks noGrp="1"/>
          </p:cNvGraphicFramePr>
          <p:nvPr>
            <p:extLst>
              <p:ext uri="{D42A27DB-BD31-4B8C-83A1-F6EECF244321}">
                <p14:modId xmlns:p14="http://schemas.microsoft.com/office/powerpoint/2010/main" val="4051012641"/>
              </p:ext>
            </p:extLst>
          </p:nvPr>
        </p:nvGraphicFramePr>
        <p:xfrm>
          <a:off x="5051684" y="44450"/>
          <a:ext cx="4003416" cy="1981200"/>
        </p:xfrm>
        <a:graphic>
          <a:graphicData uri="http://schemas.openxmlformats.org/drawingml/2006/table">
            <a:tbl>
              <a:tblPr firstRow="1" bandRow="1">
                <a:tableStyleId>{5C22544A-7EE6-4342-B048-85BDC9FD1C3A}</a:tableStyleId>
              </a:tblPr>
              <a:tblGrid>
                <a:gridCol w="2187879">
                  <a:extLst>
                    <a:ext uri="{9D8B030D-6E8A-4147-A177-3AD203B41FA5}">
                      <a16:colId xmlns:a16="http://schemas.microsoft.com/office/drawing/2014/main" val="20000"/>
                    </a:ext>
                  </a:extLst>
                </a:gridCol>
                <a:gridCol w="1815537">
                  <a:extLst>
                    <a:ext uri="{9D8B030D-6E8A-4147-A177-3AD203B41FA5}">
                      <a16:colId xmlns:a16="http://schemas.microsoft.com/office/drawing/2014/main" val="20001"/>
                    </a:ext>
                  </a:extLst>
                </a:gridCol>
              </a:tblGrid>
              <a:tr h="370840">
                <a:tc>
                  <a:txBody>
                    <a:bodyPr/>
                    <a:lstStyle/>
                    <a:p>
                      <a:pPr algn="ctr"/>
                      <a:r>
                        <a:rPr lang="en-US" sz="2000" dirty="0">
                          <a:latin typeface="Consolas" panose="020B0609020204030204" pitchFamily="49" charset="0"/>
                          <a:cs typeface="Consolas" panose="020B0609020204030204" pitchFamily="49" charset="0"/>
                        </a:rPr>
                        <a:t>Memory Address</a:t>
                      </a:r>
                    </a:p>
                  </a:txBody>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001500E7-0850-9C66-1E7A-24ECEE3B31E6}"/>
              </a:ext>
            </a:extLst>
          </p:cNvPr>
          <p:cNvGraphicFramePr>
            <a:graphicFrameLocks noGrp="1"/>
          </p:cNvGraphicFramePr>
          <p:nvPr>
            <p:extLst>
              <p:ext uri="{D42A27DB-BD31-4B8C-83A1-F6EECF244321}">
                <p14:modId xmlns:p14="http://schemas.microsoft.com/office/powerpoint/2010/main" val="3254932805"/>
              </p:ext>
            </p:extLst>
          </p:nvPr>
        </p:nvGraphicFramePr>
        <p:xfrm>
          <a:off x="5002342" y="2222500"/>
          <a:ext cx="4102100" cy="356616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0x20008007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0x76</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0x20008006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0x54</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0x20008005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0x32</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0x20008004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0x10</a:t>
                      </a:r>
                    </a:p>
                  </a:txBody>
                  <a:tcPr/>
                </a:tc>
                <a:extLst>
                  <a:ext uri="{0D108BD9-81ED-4DB2-BD59-A6C34878D82A}">
                    <a16:rowId xmlns:a16="http://schemas.microsoft.com/office/drawing/2014/main" val="10004"/>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9870592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519320359"/>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186104927"/>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027765399"/>
                  </a:ext>
                </a:extLst>
              </a:tr>
            </a:tbl>
          </a:graphicData>
        </a:graphic>
      </p:graphicFrame>
    </p:spTree>
    <p:extLst>
      <p:ext uri="{BB962C8B-B14F-4D97-AF65-F5344CB8AC3E}">
        <p14:creationId xmlns:p14="http://schemas.microsoft.com/office/powerpoint/2010/main" val="2957949268"/>
      </p:ext>
    </p:extLst>
  </p:cSld>
  <p:clrMapOvr>
    <a:masterClrMapping/>
  </p:clrMapOvr>
  <p:transition>
    <p:pull dir="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7C6BD-F7DC-8873-84D3-CB3E842E4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9F3CF-EF2A-B6F0-90EF-4F39F4FE575D}"/>
              </a:ext>
            </a:extLst>
          </p:cNvPr>
          <p:cNvSpPr>
            <a:spLocks noGrp="1"/>
          </p:cNvSpPr>
          <p:nvPr>
            <p:ph type="title"/>
          </p:nvPr>
        </p:nvSpPr>
        <p:spPr/>
        <p:txBody>
          <a:bodyPr/>
          <a:lstStyle/>
          <a:p>
            <a:r>
              <a:rPr lang="en-US" dirty="0"/>
              <a:t>Endianness ANS</a:t>
            </a:r>
          </a:p>
        </p:txBody>
      </p:sp>
      <p:sp>
        <p:nvSpPr>
          <p:cNvPr id="3" name="Slide Number Placeholder 2">
            <a:extLst>
              <a:ext uri="{FF2B5EF4-FFF2-40B4-BE49-F238E27FC236}">
                <a16:creationId xmlns:a16="http://schemas.microsoft.com/office/drawing/2014/main" id="{25D7AD32-6C27-08D2-2FE0-9997B9231A9E}"/>
              </a:ext>
            </a:extLst>
          </p:cNvPr>
          <p:cNvSpPr>
            <a:spLocks noGrp="1"/>
          </p:cNvSpPr>
          <p:nvPr>
            <p:ph type="sldNum" sz="quarter" idx="12"/>
          </p:nvPr>
        </p:nvSpPr>
        <p:spPr/>
        <p:txBody>
          <a:bodyPr/>
          <a:lstStyle/>
          <a:p>
            <a:fld id="{AEE14D4A-FE32-40AF-B06D-E9622816B101}" type="slidenum">
              <a:rPr lang="en-US" smtClean="0"/>
              <a:pPr/>
              <a:t>13</a:t>
            </a:fld>
            <a:endParaRPr lang="en-US"/>
          </a:p>
        </p:txBody>
      </p:sp>
      <p:sp>
        <p:nvSpPr>
          <p:cNvPr id="4" name="Content Placeholder 3">
            <a:extLst>
              <a:ext uri="{FF2B5EF4-FFF2-40B4-BE49-F238E27FC236}">
                <a16:creationId xmlns:a16="http://schemas.microsoft.com/office/drawing/2014/main" id="{BA095994-96A1-3342-AF91-E5C6E48F1321}"/>
              </a:ext>
            </a:extLst>
          </p:cNvPr>
          <p:cNvSpPr>
            <a:spLocks noGrp="1"/>
          </p:cNvSpPr>
          <p:nvPr>
            <p:ph sz="quarter" idx="1"/>
          </p:nvPr>
        </p:nvSpPr>
        <p:spPr>
          <a:xfrm>
            <a:off x="457200" y="1250950"/>
            <a:ext cx="4594484" cy="4906010"/>
          </a:xfrm>
        </p:spPr>
        <p:txBody>
          <a:bodyPr>
            <a:normAutofit/>
          </a:bodyPr>
          <a:lstStyle/>
          <a:p>
            <a:pPr lvl="0"/>
            <a:r>
              <a:rPr lang="en-US" b="1" dirty="0"/>
              <a:t>STR r1, [r0, #4]!</a:t>
            </a:r>
            <a:endParaRPr lang="en-US" dirty="0"/>
          </a:p>
          <a:p>
            <a:pPr lvl="1"/>
            <a:r>
              <a:rPr lang="pt-BR" dirty="0"/>
              <a:t>r0 := r0 + 4; store at new r0.</a:t>
            </a:r>
            <a:endParaRPr lang="en-US" dirty="0"/>
          </a:p>
          <a:p>
            <a:pPr lvl="1"/>
            <a:r>
              <a:rPr lang="en-US" dirty="0"/>
              <a:t>Assume r1 = 0x76543210</a:t>
            </a:r>
          </a:p>
          <a:p>
            <a:pPr lvl="1"/>
            <a:r>
              <a:rPr lang="en-US" dirty="0"/>
              <a:t>r0 after store: 0x20008004</a:t>
            </a:r>
          </a:p>
          <a:p>
            <a:pPr lvl="2"/>
            <a:r>
              <a:rPr lang="pt-BR" dirty="0"/>
              <a:t>Pre-index with update. r0 = r0 + 4; store at new r0.</a:t>
            </a:r>
            <a:endParaRPr lang="en-US" dirty="0"/>
          </a:p>
          <a:p>
            <a:pPr lvl="1"/>
            <a:r>
              <a:rPr lang="en-US" dirty="0"/>
              <a:t>Memory content after store:</a:t>
            </a:r>
          </a:p>
          <a:p>
            <a:endParaRPr lang="en-US" dirty="0"/>
          </a:p>
        </p:txBody>
      </p:sp>
      <p:graphicFrame>
        <p:nvGraphicFramePr>
          <p:cNvPr id="5" name="Table 4">
            <a:extLst>
              <a:ext uri="{FF2B5EF4-FFF2-40B4-BE49-F238E27FC236}">
                <a16:creationId xmlns:a16="http://schemas.microsoft.com/office/drawing/2014/main" id="{D498C2BC-A36B-2776-0B1E-F91C98229E3B}"/>
              </a:ext>
            </a:extLst>
          </p:cNvPr>
          <p:cNvGraphicFramePr>
            <a:graphicFrameLocks noGrp="1"/>
          </p:cNvGraphicFramePr>
          <p:nvPr/>
        </p:nvGraphicFramePr>
        <p:xfrm>
          <a:off x="5051684" y="44450"/>
          <a:ext cx="4003416" cy="1981200"/>
        </p:xfrm>
        <a:graphic>
          <a:graphicData uri="http://schemas.openxmlformats.org/drawingml/2006/table">
            <a:tbl>
              <a:tblPr firstRow="1" bandRow="1">
                <a:tableStyleId>{5C22544A-7EE6-4342-B048-85BDC9FD1C3A}</a:tableStyleId>
              </a:tblPr>
              <a:tblGrid>
                <a:gridCol w="2187879">
                  <a:extLst>
                    <a:ext uri="{9D8B030D-6E8A-4147-A177-3AD203B41FA5}">
                      <a16:colId xmlns:a16="http://schemas.microsoft.com/office/drawing/2014/main" val="20000"/>
                    </a:ext>
                  </a:extLst>
                </a:gridCol>
                <a:gridCol w="1815537">
                  <a:extLst>
                    <a:ext uri="{9D8B030D-6E8A-4147-A177-3AD203B41FA5}">
                      <a16:colId xmlns:a16="http://schemas.microsoft.com/office/drawing/2014/main" val="20001"/>
                    </a:ext>
                  </a:extLst>
                </a:gridCol>
              </a:tblGrid>
              <a:tr h="370840">
                <a:tc>
                  <a:txBody>
                    <a:bodyPr/>
                    <a:lstStyle/>
                    <a:p>
                      <a:pPr algn="ctr"/>
                      <a:r>
                        <a:rPr lang="en-US" sz="2000" dirty="0">
                          <a:latin typeface="Consolas" panose="020B0609020204030204" pitchFamily="49" charset="0"/>
                          <a:cs typeface="Consolas" panose="020B0609020204030204" pitchFamily="49" charset="0"/>
                        </a:rPr>
                        <a:t>Memory Address</a:t>
                      </a:r>
                    </a:p>
                  </a:txBody>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60AE3A56-A9DF-FAD9-AC88-A33CE64954D5}"/>
              </a:ext>
            </a:extLst>
          </p:cNvPr>
          <p:cNvGraphicFramePr>
            <a:graphicFrameLocks noGrp="1"/>
          </p:cNvGraphicFramePr>
          <p:nvPr/>
        </p:nvGraphicFramePr>
        <p:xfrm>
          <a:off x="5002342" y="2222500"/>
          <a:ext cx="4102100" cy="356616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0x20008007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0x76</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0x20008006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0x54</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0x20008005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0x32</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0x20008004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0x10</a:t>
                      </a:r>
                    </a:p>
                  </a:txBody>
                  <a:tcPr/>
                </a:tc>
                <a:extLst>
                  <a:ext uri="{0D108BD9-81ED-4DB2-BD59-A6C34878D82A}">
                    <a16:rowId xmlns:a16="http://schemas.microsoft.com/office/drawing/2014/main" val="10004"/>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9870592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519320359"/>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186104927"/>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027765399"/>
                  </a:ext>
                </a:extLst>
              </a:tr>
            </a:tbl>
          </a:graphicData>
        </a:graphic>
      </p:graphicFrame>
    </p:spTree>
    <p:extLst>
      <p:ext uri="{BB962C8B-B14F-4D97-AF65-F5344CB8AC3E}">
        <p14:creationId xmlns:p14="http://schemas.microsoft.com/office/powerpoint/2010/main" val="195030017"/>
      </p:ext>
    </p:extLst>
  </p:cSld>
  <p:clrMapOvr>
    <a:masterClrMapping/>
  </p:clrMapOvr>
  <p:transition>
    <p:pull dir="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Alignment</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14</a:t>
            </a:fld>
            <a:endParaRPr lang="en-US" dirty="0"/>
          </a:p>
        </p:txBody>
      </p:sp>
      <p:sp>
        <p:nvSpPr>
          <p:cNvPr id="4" name="Rectangle 3"/>
          <p:cNvSpPr txBox="1">
            <a:spLocks noChangeArrowheads="1"/>
          </p:cNvSpPr>
          <p:nvPr/>
        </p:nvSpPr>
        <p:spPr>
          <a:xfrm>
            <a:off x="612648" y="1673752"/>
            <a:ext cx="8182841" cy="1755248"/>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500" dirty="0"/>
              <a:t>Assume a byte-addressable memory with a data bus that is 32 bits (4 bytes) wide</a:t>
            </a:r>
          </a:p>
          <a:p>
            <a:r>
              <a:rPr lang="en-US" sz="1500" dirty="0"/>
              <a:t>Consider 16 bytes of memory (addresses 0 to 15) arranged as four 32-bit words (4 bytes each)</a:t>
            </a:r>
          </a:p>
        </p:txBody>
      </p:sp>
      <p:sp>
        <p:nvSpPr>
          <p:cNvPr id="7" name="TextBox 6"/>
          <p:cNvSpPr txBox="1"/>
          <p:nvPr/>
        </p:nvSpPr>
        <p:spPr>
          <a:xfrm>
            <a:off x="542078" y="3412912"/>
            <a:ext cx="3581400" cy="715581"/>
          </a:xfrm>
          <a:prstGeom prst="rect">
            <a:avLst/>
          </a:prstGeom>
          <a:noFill/>
        </p:spPr>
        <p:txBody>
          <a:bodyPr wrap="square" rtlCol="0">
            <a:spAutoFit/>
          </a:bodyPr>
          <a:lstStyle/>
          <a:p>
            <a:r>
              <a:rPr lang="en-US" sz="1350" dirty="0">
                <a:solidFill>
                  <a:srgbClr val="FF0000"/>
                </a:solidFill>
              </a:rPr>
              <a:t>Well-aligned</a:t>
            </a:r>
            <a:r>
              <a:rPr lang="en-US" sz="1350" dirty="0"/>
              <a:t>: each word begins on a mod-4 address, which can be read in a single memory cycle</a:t>
            </a:r>
          </a:p>
        </p:txBody>
      </p:sp>
      <p:pic>
        <p:nvPicPr>
          <p:cNvPr id="9" name="Picture 8"/>
          <p:cNvPicPr>
            <a:picLocks noChangeAspect="1"/>
          </p:cNvPicPr>
          <p:nvPr/>
        </p:nvPicPr>
        <p:blipFill>
          <a:blip r:embed="rId3"/>
          <a:stretch>
            <a:fillRect/>
          </a:stretch>
        </p:blipFill>
        <p:spPr>
          <a:xfrm>
            <a:off x="4543965" y="2307838"/>
            <a:ext cx="3785316" cy="1121162"/>
          </a:xfrm>
          <a:prstGeom prst="rect">
            <a:avLst/>
          </a:prstGeom>
        </p:spPr>
      </p:pic>
      <p:pic>
        <p:nvPicPr>
          <p:cNvPr id="10" name="Picture 9"/>
          <p:cNvPicPr>
            <a:picLocks noChangeAspect="1"/>
          </p:cNvPicPr>
          <p:nvPr/>
        </p:nvPicPr>
        <p:blipFill>
          <a:blip r:embed="rId4"/>
          <a:stretch>
            <a:fillRect/>
          </a:stretch>
        </p:blipFill>
        <p:spPr>
          <a:xfrm>
            <a:off x="542078" y="2283024"/>
            <a:ext cx="3802444" cy="1129888"/>
          </a:xfrm>
          <a:prstGeom prst="rect">
            <a:avLst/>
          </a:prstGeom>
        </p:spPr>
      </p:pic>
      <p:sp>
        <p:nvSpPr>
          <p:cNvPr id="11" name="TextBox 10"/>
          <p:cNvSpPr txBox="1"/>
          <p:nvPr/>
        </p:nvSpPr>
        <p:spPr>
          <a:xfrm>
            <a:off x="4543965" y="3412912"/>
            <a:ext cx="3581400" cy="715581"/>
          </a:xfrm>
          <a:prstGeom prst="rect">
            <a:avLst/>
          </a:prstGeom>
          <a:noFill/>
        </p:spPr>
        <p:txBody>
          <a:bodyPr wrap="square" rtlCol="0">
            <a:spAutoFit/>
          </a:bodyPr>
          <a:lstStyle/>
          <a:p>
            <a:r>
              <a:rPr lang="en-US" sz="1350" dirty="0">
                <a:solidFill>
                  <a:srgbClr val="FF0000"/>
                </a:solidFill>
              </a:rPr>
              <a:t>Ill-aligned</a:t>
            </a:r>
            <a:r>
              <a:rPr lang="en-US" sz="1350" dirty="0"/>
              <a:t>: a word begins on address 6, not a mod-4 address, which can be read in 2 memory cycles</a:t>
            </a:r>
          </a:p>
        </p:txBody>
      </p:sp>
      <p:pic>
        <p:nvPicPr>
          <p:cNvPr id="12" name="Picture 11"/>
          <p:cNvPicPr>
            <a:picLocks noChangeAspect="1"/>
          </p:cNvPicPr>
          <p:nvPr/>
        </p:nvPicPr>
        <p:blipFill>
          <a:blip r:embed="rId5">
            <a:extLst>
              <a:ext uri="{28A0092B-C50C-407E-A947-70E740481C1C}">
                <a14:useLocalDpi xmlns:a14="http://schemas.microsoft.com/office/drawing/2010/main" val="0"/>
              </a:ext>
            </a:extLst>
          </a:blip>
          <a:srcRect/>
          <a:stretch/>
        </p:blipFill>
        <p:spPr>
          <a:xfrm>
            <a:off x="4827632" y="4223976"/>
            <a:ext cx="3807836" cy="305375"/>
          </a:xfrm>
          <a:prstGeom prst="rect">
            <a:avLst/>
          </a:prstGeom>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rcRect/>
          <a:stretch/>
        </p:blipFill>
        <p:spPr>
          <a:xfrm>
            <a:off x="4827632" y="4670653"/>
            <a:ext cx="3807836" cy="283696"/>
          </a:xfrm>
          <a:prstGeom prst="rect">
            <a:avLst/>
          </a:prstGeom>
        </p:spPr>
      </p:pic>
      <p:pic>
        <p:nvPicPr>
          <p:cNvPr id="14" name="Picture 13"/>
          <p:cNvPicPr>
            <a:picLocks noChangeAspect="1"/>
          </p:cNvPicPr>
          <p:nvPr/>
        </p:nvPicPr>
        <p:blipFill>
          <a:blip r:embed="rId7"/>
          <a:stretch>
            <a:fillRect/>
          </a:stretch>
        </p:blipFill>
        <p:spPr>
          <a:xfrm>
            <a:off x="4827630" y="5273334"/>
            <a:ext cx="3665419" cy="335912"/>
          </a:xfrm>
          <a:prstGeom prst="rect">
            <a:avLst/>
          </a:prstGeom>
        </p:spPr>
      </p:pic>
      <p:sp>
        <p:nvSpPr>
          <p:cNvPr id="16" name="TextBox 15"/>
          <p:cNvSpPr txBox="1"/>
          <p:nvPr/>
        </p:nvSpPr>
        <p:spPr>
          <a:xfrm>
            <a:off x="109436" y="4128493"/>
            <a:ext cx="4268981" cy="1754326"/>
          </a:xfrm>
          <a:prstGeom prst="rect">
            <a:avLst/>
          </a:prstGeom>
          <a:noFill/>
          <a:ln>
            <a:solidFill>
              <a:schemeClr val="tx1"/>
            </a:solidFill>
          </a:ln>
        </p:spPr>
        <p:txBody>
          <a:bodyPr wrap="square" rtlCol="0">
            <a:spAutoFit/>
          </a:bodyPr>
          <a:lstStyle/>
          <a:p>
            <a:r>
              <a:rPr lang="en-US" sz="1200" dirty="0"/>
              <a:t>The first read cycle would retrieve 4 bytes from addresses 4 through 7; of these, the bytes from addresses 4 and 5</a:t>
            </a:r>
          </a:p>
          <a:p>
            <a:r>
              <a:rPr lang="en-US" sz="1200" dirty="0"/>
              <a:t>are discarded, and those from addresses 6 and 7 are moved to the far right;</a:t>
            </a:r>
          </a:p>
          <a:p>
            <a:r>
              <a:rPr lang="en-US" sz="1200" dirty="0"/>
              <a:t>The second read cycle retrieves 4 bytes from addresses 8 through 11; the bytes from addresses 10 and 11 are  discarded, and those from addresses 8 and 9 are moved to the far left;</a:t>
            </a:r>
          </a:p>
          <a:p>
            <a:r>
              <a:rPr lang="en-US" sz="1200" dirty="0"/>
              <a:t>Finally, the two halves are combined to form the desired 32-bit operand:</a:t>
            </a:r>
          </a:p>
        </p:txBody>
      </p:sp>
      <p:sp>
        <p:nvSpPr>
          <p:cNvPr id="5" name="Arrow: Right 4">
            <a:extLst>
              <a:ext uri="{FF2B5EF4-FFF2-40B4-BE49-F238E27FC236}">
                <a16:creationId xmlns:a16="http://schemas.microsoft.com/office/drawing/2014/main" id="{403B0BD2-2931-BDC5-E683-51FBAB7B8593}"/>
              </a:ext>
            </a:extLst>
          </p:cNvPr>
          <p:cNvSpPr/>
          <p:nvPr/>
        </p:nvSpPr>
        <p:spPr>
          <a:xfrm>
            <a:off x="4413347" y="4630642"/>
            <a:ext cx="285830" cy="36347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Horizontal Scroll 14">
            <a:extLst>
              <a:ext uri="{FF2B5EF4-FFF2-40B4-BE49-F238E27FC236}">
                <a16:creationId xmlns:a16="http://schemas.microsoft.com/office/drawing/2014/main" id="{9847AA0A-7964-4433-C181-1EB7B5E48F3F}"/>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
        <p:nvSpPr>
          <p:cNvPr id="8" name="Arrow: Down 7">
            <a:extLst>
              <a:ext uri="{FF2B5EF4-FFF2-40B4-BE49-F238E27FC236}">
                <a16:creationId xmlns:a16="http://schemas.microsoft.com/office/drawing/2014/main" id="{B9B3AF0F-A272-85F5-9499-4FA634AB7DC6}"/>
              </a:ext>
            </a:extLst>
          </p:cNvPr>
          <p:cNvSpPr/>
          <p:nvPr/>
        </p:nvSpPr>
        <p:spPr>
          <a:xfrm>
            <a:off x="6486835" y="4994116"/>
            <a:ext cx="347011" cy="27921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4663475"/>
      </p:ext>
    </p:extLst>
  </p:cSld>
  <p:clrMapOvr>
    <a:masterClrMapping/>
  </p:clrMapOvr>
  <p:transition>
    <p:pull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Alignment</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15</a:t>
            </a:fld>
            <a:endParaRPr lang="en-US" dirty="0"/>
          </a:p>
        </p:txBody>
      </p:sp>
      <p:sp>
        <p:nvSpPr>
          <p:cNvPr id="4" name="Rectangle 3"/>
          <p:cNvSpPr txBox="1">
            <a:spLocks noChangeArrowheads="1"/>
          </p:cNvSpPr>
          <p:nvPr/>
        </p:nvSpPr>
        <p:spPr>
          <a:xfrm>
            <a:off x="311998" y="1307051"/>
            <a:ext cx="8182841" cy="3476822"/>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000" b="0" dirty="0">
                <a:solidFill>
                  <a:prstClr val="black"/>
                </a:solidFill>
              </a:rPr>
              <a:t>Q:  Assume a byte-addressable memory with a data bus that is 32 bits (4 bytes) wide. </a:t>
            </a:r>
            <a:r>
              <a:rPr lang="en-US" altLang="zh-CN" sz="2000" b="0" dirty="0">
                <a:solidFill>
                  <a:prstClr val="black"/>
                </a:solidFill>
              </a:rPr>
              <a:t>H</a:t>
            </a:r>
            <a:r>
              <a:rPr lang="en-US" sz="2000" b="0" dirty="0">
                <a:solidFill>
                  <a:prstClr val="black"/>
                </a:solidFill>
              </a:rPr>
              <a:t>ow many memory cycles are required to read each of the following from memory?</a:t>
            </a:r>
          </a:p>
          <a:p>
            <a:pPr marL="657225" lvl="1" indent="-257175" defTabSz="342900"/>
            <a:r>
              <a:rPr lang="en-US" sz="1600" b="0" dirty="0">
                <a:solidFill>
                  <a:prstClr val="black"/>
                </a:solidFill>
              </a:rPr>
              <a:t>(a) A 2-Byte operand read from decimal address 5</a:t>
            </a:r>
          </a:p>
          <a:p>
            <a:pPr marL="657225" lvl="1" indent="-257175" defTabSz="342900"/>
            <a:r>
              <a:rPr lang="en-US" sz="1600" b="0" dirty="0">
                <a:solidFill>
                  <a:prstClr val="black"/>
                </a:solidFill>
              </a:rPr>
              <a:t>(b) A 2-Byte operand read from decimal address 15</a:t>
            </a:r>
          </a:p>
          <a:p>
            <a:pPr marL="657225" lvl="1" indent="-257175" defTabSz="342900"/>
            <a:r>
              <a:rPr lang="en-US" sz="1600" b="0" dirty="0">
                <a:solidFill>
                  <a:prstClr val="black"/>
                </a:solidFill>
              </a:rPr>
              <a:t>(c) A 4-Byte operand read from decimal address 10</a:t>
            </a:r>
          </a:p>
          <a:p>
            <a:pPr marL="657225" lvl="1" indent="-257175" defTabSz="342900"/>
            <a:r>
              <a:rPr lang="en-US" sz="1600" b="0" dirty="0">
                <a:solidFill>
                  <a:prstClr val="black"/>
                </a:solidFill>
              </a:rPr>
              <a:t>(d) A 4-Byte operand read from decimal address 20</a:t>
            </a:r>
            <a:endParaRPr lang="en-US" sz="1600" b="0" dirty="0">
              <a:solidFill>
                <a:prstClr val="black"/>
              </a:solidFill>
              <a:latin typeface="Calibri"/>
            </a:endParaRPr>
          </a:p>
        </p:txBody>
      </p:sp>
    </p:spTree>
    <p:extLst>
      <p:ext uri="{BB962C8B-B14F-4D97-AF65-F5344CB8AC3E}">
        <p14:creationId xmlns:p14="http://schemas.microsoft.com/office/powerpoint/2010/main" val="936686548"/>
      </p:ext>
    </p:extLst>
  </p:cSld>
  <p:clrMapOvr>
    <a:masterClrMapping/>
  </p:clrMapOvr>
  <p:transition>
    <p:pull dir="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34" y="0"/>
            <a:ext cx="8229600" cy="1143000"/>
          </a:xfrm>
        </p:spPr>
        <p:txBody>
          <a:bodyPr/>
          <a:lstStyle/>
          <a:p>
            <a:r>
              <a:rPr lang="en-US" dirty="0"/>
              <a:t>Data Alignment </a:t>
            </a:r>
            <a:r>
              <a:rPr lang="en-US" altLang="zh-CN" dirty="0"/>
              <a:t>ANS</a:t>
            </a:r>
            <a:endParaRPr lang="en-US" dirty="0"/>
          </a:p>
        </p:txBody>
      </p:sp>
      <p:sp>
        <p:nvSpPr>
          <p:cNvPr id="3" name="Slide Number Placeholder 2"/>
          <p:cNvSpPr>
            <a:spLocks noGrp="1"/>
          </p:cNvSpPr>
          <p:nvPr>
            <p:ph type="sldNum" sz="quarter" idx="12"/>
          </p:nvPr>
        </p:nvSpPr>
        <p:spPr/>
        <p:txBody>
          <a:bodyPr/>
          <a:lstStyle/>
          <a:p>
            <a:fld id="{3CC63E4C-4642-794D-A2FD-70F6B81535F5}" type="slidenum">
              <a:rPr lang="en-US" smtClean="0"/>
              <a:pPr/>
              <a:t>16</a:t>
            </a:fld>
            <a:endParaRPr lang="en-US" dirty="0"/>
          </a:p>
        </p:txBody>
      </p:sp>
      <p:sp>
        <p:nvSpPr>
          <p:cNvPr id="4" name="Rectangle 3"/>
          <p:cNvSpPr txBox="1">
            <a:spLocks noChangeArrowheads="1"/>
          </p:cNvSpPr>
          <p:nvPr/>
        </p:nvSpPr>
        <p:spPr>
          <a:xfrm>
            <a:off x="267393" y="1644276"/>
            <a:ext cx="8620129" cy="31868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1600" b="0" dirty="0">
                <a:solidFill>
                  <a:prstClr val="black"/>
                </a:solidFill>
              </a:rPr>
              <a:t>Q:  Assume a byte-addressable memory with a data bus that is 32 bits (4 bytes) wide. How many memory cycles are required to read each of the following from memory?</a:t>
            </a:r>
          </a:p>
          <a:p>
            <a:pPr marL="657225" lvl="1" indent="-257175" defTabSz="342900"/>
            <a:r>
              <a:rPr lang="en-US" sz="1200" b="0" dirty="0">
                <a:solidFill>
                  <a:prstClr val="black"/>
                </a:solidFill>
              </a:rPr>
              <a:t>(a) A 2-Byte operand read from decimal address 5</a:t>
            </a:r>
          </a:p>
          <a:p>
            <a:pPr marL="657225" lvl="1" indent="-257175" defTabSz="342900"/>
            <a:r>
              <a:rPr lang="en-US" sz="1200" b="0" dirty="0">
                <a:solidFill>
                  <a:prstClr val="black"/>
                </a:solidFill>
              </a:rPr>
              <a:t>(b) A 2-Byte operand read from decimal address 15</a:t>
            </a:r>
          </a:p>
          <a:p>
            <a:pPr marL="657225" lvl="1" indent="-257175" defTabSz="342900"/>
            <a:r>
              <a:rPr lang="en-US" sz="1200" b="0" dirty="0">
                <a:solidFill>
                  <a:prstClr val="black"/>
                </a:solidFill>
              </a:rPr>
              <a:t>(c) A 4-Byte operand read from decimal address 10</a:t>
            </a:r>
          </a:p>
          <a:p>
            <a:pPr marL="657225" lvl="1" indent="-257175" defTabSz="342900"/>
            <a:r>
              <a:rPr lang="en-US" sz="1200" b="0" dirty="0">
                <a:solidFill>
                  <a:prstClr val="black"/>
                </a:solidFill>
              </a:rPr>
              <a:t>(d) A 4-Byte operand read from decimal address 20</a:t>
            </a:r>
          </a:p>
          <a:p>
            <a:pPr marL="257175" indent="-257175" defTabSz="342900"/>
            <a:r>
              <a:rPr lang="en-US" sz="1600" b="0" dirty="0">
                <a:solidFill>
                  <a:prstClr val="black"/>
                </a:solidFill>
              </a:rPr>
              <a:t>A: (a) The operand contains memory content </a:t>
            </a:r>
            <a:r>
              <a:rPr lang="en-US" altLang="zh-CN" sz="1600" b="0" dirty="0">
                <a:solidFill>
                  <a:prstClr val="black"/>
                </a:solidFill>
              </a:rPr>
              <a:t>in</a:t>
            </a:r>
            <a:r>
              <a:rPr lang="en-US" sz="1600" b="0" dirty="0">
                <a:solidFill>
                  <a:prstClr val="black"/>
                </a:solidFill>
              </a:rPr>
              <a:t> address range [5,6]. It can be read in 1 memory cycle; the memory controller returns a word in address range [4,7]. The operand can be obtained via 1-Byte offset addressing into the word.</a:t>
            </a:r>
          </a:p>
          <a:p>
            <a:pPr marL="257175" indent="-257175" defTabSz="342900"/>
            <a:r>
              <a:rPr lang="en-US" sz="1600" b="0" dirty="0">
                <a:solidFill>
                  <a:prstClr val="black"/>
                </a:solidFill>
              </a:rPr>
              <a:t>(b) The operand contains memory content in address range [15,16]. It can be read in 2 memory cycles; the memory controller returns 2 words in address ranges [12,15] and [16, 19], which can be combined to return a word in address range [14,17]. The operand can be obtained via 1-Byte offset addressing into the word.</a:t>
            </a:r>
          </a:p>
          <a:p>
            <a:pPr marL="257175" indent="-257175" defTabSz="342900"/>
            <a:r>
              <a:rPr lang="en-US" sz="1600" b="0" dirty="0">
                <a:solidFill>
                  <a:prstClr val="black"/>
                </a:solidFill>
              </a:rPr>
              <a:t>(c) The operand contains memory content in address range [10,13]. It can be read in 2 memory cycles; the memory controller returns 2 words </a:t>
            </a:r>
            <a:r>
              <a:rPr lang="en-US" altLang="zh-CN" sz="1600" b="0" dirty="0">
                <a:solidFill>
                  <a:prstClr val="black"/>
                </a:solidFill>
              </a:rPr>
              <a:t>in</a:t>
            </a:r>
            <a:r>
              <a:rPr lang="en-US" sz="1600" b="0" dirty="0">
                <a:solidFill>
                  <a:prstClr val="black"/>
                </a:solidFill>
              </a:rPr>
              <a:t> address ranges [8,11] and [12, 15], which can be combined to return a word with address range [10,13].</a:t>
            </a:r>
          </a:p>
          <a:p>
            <a:pPr marL="257175" indent="-257175" defTabSz="342900"/>
            <a:r>
              <a:rPr lang="en-US" sz="1600" b="0" dirty="0">
                <a:solidFill>
                  <a:prstClr val="black"/>
                </a:solidFill>
              </a:rPr>
              <a:t>(d) The operand contains memory content in address range [20,23]. Since 20%4=0, it is well-aligned, and can be read in 1 memory cycle.</a:t>
            </a:r>
          </a:p>
        </p:txBody>
      </p:sp>
      <p:pic>
        <p:nvPicPr>
          <p:cNvPr id="6" name="Picture 5"/>
          <p:cNvPicPr>
            <a:picLocks noChangeAspect="1"/>
          </p:cNvPicPr>
          <p:nvPr/>
        </p:nvPicPr>
        <p:blipFill>
          <a:blip r:embed="rId2"/>
          <a:stretch>
            <a:fillRect/>
          </a:stretch>
        </p:blipFill>
        <p:spPr>
          <a:xfrm>
            <a:off x="5004684" y="83634"/>
            <a:ext cx="4067187" cy="1560642"/>
          </a:xfrm>
          <a:prstGeom prst="rect">
            <a:avLst/>
          </a:prstGeom>
        </p:spPr>
      </p:pic>
    </p:spTree>
    <p:extLst>
      <p:ext uri="{BB962C8B-B14F-4D97-AF65-F5344CB8AC3E}">
        <p14:creationId xmlns:p14="http://schemas.microsoft.com/office/powerpoint/2010/main" val="2173526811"/>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143000"/>
          </a:xfrm>
        </p:spPr>
        <p:txBody>
          <a:bodyPr/>
          <a:lstStyle/>
          <a:p>
            <a:r>
              <a:rPr lang="en-US" dirty="0"/>
              <a:t>Data Alignment</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17</a:t>
            </a:fld>
            <a:endParaRPr lang="en-US" dirty="0"/>
          </a:p>
        </p:txBody>
      </p:sp>
      <p:sp>
        <p:nvSpPr>
          <p:cNvPr id="4" name="Rectangle 3"/>
          <p:cNvSpPr txBox="1">
            <a:spLocks noChangeArrowheads="1"/>
          </p:cNvSpPr>
          <p:nvPr/>
        </p:nvSpPr>
        <p:spPr>
          <a:xfrm>
            <a:off x="267393" y="1842309"/>
            <a:ext cx="8182841" cy="3510275"/>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000" b="0" dirty="0">
                <a:solidFill>
                  <a:prstClr val="black"/>
                </a:solidFill>
              </a:rPr>
              <a:t>Q:  Assume a byte-addressable memory with a data bus that is 32 bits (4 bytes) wide. Consider 16 bytes of memory (addresses 96 to 111) arranged as four 32-bit words (4 bytes each). </a:t>
            </a:r>
          </a:p>
          <a:p>
            <a:pPr marL="657225" lvl="1" indent="-257175" defTabSz="342900"/>
            <a:r>
              <a:rPr lang="en-US" sz="1600" b="0" dirty="0">
                <a:solidFill>
                  <a:prstClr val="black"/>
                </a:solidFill>
              </a:rPr>
              <a:t>(a) What is the address of MSB of the word at address 102, assuming Little-Endian ordering?</a:t>
            </a:r>
          </a:p>
          <a:p>
            <a:pPr marL="657225" lvl="1" indent="-257175" defTabSz="342900"/>
            <a:r>
              <a:rPr lang="en-US" sz="1600" b="0" dirty="0">
                <a:solidFill>
                  <a:prstClr val="black"/>
                </a:solidFill>
              </a:rPr>
              <a:t>(b) What is the address of LSB of the word at address 102, assuming Little-Endian ordering?</a:t>
            </a:r>
          </a:p>
          <a:p>
            <a:pPr marL="657225" lvl="1" indent="-257175" defTabSz="342900"/>
            <a:r>
              <a:rPr lang="en-US" sz="1600" b="0" dirty="0">
                <a:solidFill>
                  <a:prstClr val="black"/>
                </a:solidFill>
              </a:rPr>
              <a:t>(c) How many memory cycles are required to read the word at address 102?</a:t>
            </a:r>
          </a:p>
          <a:p>
            <a:pPr marL="657225" lvl="1" indent="-257175" defTabSz="342900"/>
            <a:r>
              <a:rPr lang="en-US" sz="1600" b="0" dirty="0">
                <a:solidFill>
                  <a:prstClr val="black"/>
                </a:solidFill>
              </a:rPr>
              <a:t>(d) How many memory cycles are required to read the half word at address 102?</a:t>
            </a:r>
            <a:endParaRPr lang="en-US" sz="1000" b="0" dirty="0">
              <a:solidFill>
                <a:prstClr val="black"/>
              </a:solidFill>
              <a:latin typeface="Calibri"/>
            </a:endParaRPr>
          </a:p>
        </p:txBody>
      </p:sp>
      <p:pic>
        <p:nvPicPr>
          <p:cNvPr id="5" name="Picture 4"/>
          <p:cNvPicPr>
            <a:picLocks noChangeAspect="1"/>
          </p:cNvPicPr>
          <p:nvPr/>
        </p:nvPicPr>
        <p:blipFill>
          <a:blip r:embed="rId2"/>
          <a:stretch>
            <a:fillRect/>
          </a:stretch>
        </p:blipFill>
        <p:spPr>
          <a:xfrm>
            <a:off x="4345363" y="76200"/>
            <a:ext cx="4779587" cy="1729193"/>
          </a:xfrm>
          <a:prstGeom prst="rect">
            <a:avLst/>
          </a:prstGeom>
        </p:spPr>
      </p:pic>
    </p:spTree>
    <p:extLst>
      <p:ext uri="{BB962C8B-B14F-4D97-AF65-F5344CB8AC3E}">
        <p14:creationId xmlns:p14="http://schemas.microsoft.com/office/powerpoint/2010/main" val="1545068738"/>
      </p:ext>
    </p:extLst>
  </p:cSld>
  <p:clrMapOvr>
    <a:masterClrMapping/>
  </p:clrMapOvr>
  <p:transition>
    <p:pull dir="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143000"/>
          </a:xfrm>
        </p:spPr>
        <p:txBody>
          <a:bodyPr/>
          <a:lstStyle/>
          <a:p>
            <a:r>
              <a:rPr lang="en-US" dirty="0"/>
              <a:t>Data Alignment ANS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18</a:t>
            </a:fld>
            <a:endParaRPr lang="en-US" dirty="0"/>
          </a:p>
        </p:txBody>
      </p:sp>
      <p:sp>
        <p:nvSpPr>
          <p:cNvPr id="4" name="Rectangle 3"/>
          <p:cNvSpPr txBox="1">
            <a:spLocks noChangeArrowheads="1"/>
          </p:cNvSpPr>
          <p:nvPr/>
        </p:nvSpPr>
        <p:spPr>
          <a:xfrm>
            <a:off x="267393" y="1842310"/>
            <a:ext cx="8182841" cy="47108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000" b="0" dirty="0">
                <a:solidFill>
                  <a:prstClr val="black"/>
                </a:solidFill>
              </a:rPr>
              <a:t>Q:  Assume a byte-addressable memory with a data bus that is 32 bits (4 bytes) wide. Consider 16 bytes of memory (addresses 96 to 111) arranged as four 32-bit words (4 bytes each). </a:t>
            </a:r>
          </a:p>
          <a:p>
            <a:pPr marL="657225" lvl="1" indent="-257175" defTabSz="342900"/>
            <a:r>
              <a:rPr lang="en-US" sz="1600" b="0" dirty="0">
                <a:solidFill>
                  <a:prstClr val="black"/>
                </a:solidFill>
              </a:rPr>
              <a:t>(a) What is the address of MSB of the word at address 102, assuming Little-Endian ordering?</a:t>
            </a:r>
          </a:p>
          <a:p>
            <a:pPr marL="657225" lvl="1" indent="-257175" defTabSz="342900"/>
            <a:r>
              <a:rPr lang="en-US" sz="1600" b="0" dirty="0">
                <a:solidFill>
                  <a:prstClr val="black"/>
                </a:solidFill>
              </a:rPr>
              <a:t>(b) What is the address of LSB of the word at address 102, assuming Little-Endian ordering?</a:t>
            </a:r>
          </a:p>
          <a:p>
            <a:pPr marL="657225" lvl="1" indent="-257175" defTabSz="342900"/>
            <a:r>
              <a:rPr lang="en-US" sz="1600" b="0" dirty="0">
                <a:solidFill>
                  <a:prstClr val="black"/>
                </a:solidFill>
              </a:rPr>
              <a:t>(c) How many memory cycles are required to read the word at address 102?</a:t>
            </a:r>
          </a:p>
          <a:p>
            <a:pPr marL="657225" lvl="1" indent="-257175" defTabSz="342900"/>
            <a:r>
              <a:rPr lang="en-US" sz="1600" b="0" dirty="0">
                <a:solidFill>
                  <a:prstClr val="black"/>
                </a:solidFill>
              </a:rPr>
              <a:t>(d) How many memory cycles are required to read the half word at address 102?</a:t>
            </a:r>
            <a:endParaRPr lang="en-US" sz="1000" b="0" dirty="0">
              <a:solidFill>
                <a:prstClr val="black"/>
              </a:solidFill>
              <a:latin typeface="Calibri"/>
            </a:endParaRPr>
          </a:p>
          <a:p>
            <a:pPr marL="257175" indent="-257175" defTabSz="342900"/>
            <a:r>
              <a:rPr lang="en-US" sz="2000" b="0" dirty="0">
                <a:solidFill>
                  <a:prstClr val="black"/>
                </a:solidFill>
              </a:rPr>
              <a:t>A: </a:t>
            </a:r>
          </a:p>
          <a:p>
            <a:pPr marL="657225" lvl="1" indent="-257175" defTabSz="342900"/>
            <a:r>
              <a:rPr lang="en-US" sz="1600" b="0" dirty="0">
                <a:solidFill>
                  <a:prstClr val="black"/>
                </a:solidFill>
              </a:rPr>
              <a:t>(a) MSB of the word at address 102 is 105</a:t>
            </a:r>
          </a:p>
          <a:p>
            <a:pPr marL="657225" lvl="1" indent="-257175" defTabSz="342900"/>
            <a:r>
              <a:rPr lang="en-US" sz="1600" b="0" dirty="0">
                <a:solidFill>
                  <a:prstClr val="black"/>
                </a:solidFill>
              </a:rPr>
              <a:t>(b) LSB of the word at address 102 is 102</a:t>
            </a:r>
          </a:p>
          <a:p>
            <a:pPr marL="657225" lvl="1" indent="-257175" defTabSz="342900"/>
            <a:r>
              <a:rPr lang="en-US" sz="1600" b="0" dirty="0">
                <a:solidFill>
                  <a:prstClr val="black"/>
                </a:solidFill>
              </a:rPr>
              <a:t>(c) 2 cycles</a:t>
            </a:r>
          </a:p>
          <a:p>
            <a:pPr marL="657225" lvl="1" indent="-257175" defTabSz="342900"/>
            <a:r>
              <a:rPr lang="en-US" sz="1600" b="0" dirty="0">
                <a:solidFill>
                  <a:prstClr val="black"/>
                </a:solidFill>
              </a:rPr>
              <a:t>(d) 1 cycle</a:t>
            </a:r>
            <a:endParaRPr lang="en-US" sz="900" dirty="0">
              <a:solidFill>
                <a:prstClr val="black"/>
              </a:solidFill>
              <a:latin typeface="Calibri"/>
            </a:endParaRPr>
          </a:p>
        </p:txBody>
      </p:sp>
      <p:pic>
        <p:nvPicPr>
          <p:cNvPr id="5" name="Picture 4"/>
          <p:cNvPicPr>
            <a:picLocks noChangeAspect="1"/>
          </p:cNvPicPr>
          <p:nvPr/>
        </p:nvPicPr>
        <p:blipFill>
          <a:blip r:embed="rId3"/>
          <a:stretch>
            <a:fillRect/>
          </a:stretch>
        </p:blipFill>
        <p:spPr>
          <a:xfrm>
            <a:off x="4345363" y="76200"/>
            <a:ext cx="4779587" cy="1729193"/>
          </a:xfrm>
          <a:prstGeom prst="rect">
            <a:avLst/>
          </a:prstGeom>
        </p:spPr>
      </p:pic>
    </p:spTree>
    <p:extLst>
      <p:ext uri="{BB962C8B-B14F-4D97-AF65-F5344CB8AC3E}">
        <p14:creationId xmlns:p14="http://schemas.microsoft.com/office/powerpoint/2010/main" val="598515287"/>
      </p:ext>
    </p:extLst>
  </p:cSld>
  <p:clrMapOvr>
    <a:masterClrMapping/>
  </p:clrMapOvr>
  <p:transition>
    <p:pull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CC63E4C-4642-794D-A2FD-70F6B81535F5}" type="slidenum">
              <a:rPr lang="en-US" smtClean="0"/>
              <a:pPr/>
              <a:t>19</a:t>
            </a:fld>
            <a:endParaRPr lang="en-US" dirty="0"/>
          </a:p>
        </p:txBody>
      </p:sp>
      <p:sp>
        <p:nvSpPr>
          <p:cNvPr id="4" name="Rectangle 3"/>
          <p:cNvSpPr txBox="1">
            <a:spLocks noChangeArrowheads="1"/>
          </p:cNvSpPr>
          <p:nvPr/>
        </p:nvSpPr>
        <p:spPr>
          <a:xfrm>
            <a:off x="267393" y="1447800"/>
            <a:ext cx="8182841" cy="35814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Assume a byte-addressable memory with a data bus that is 32 bits (4 bytes) wide. </a:t>
            </a:r>
          </a:p>
          <a:p>
            <a:pPr marL="657225" lvl="1" indent="-257175" defTabSz="342900"/>
            <a:r>
              <a:rPr lang="en-US" altLang="zh-CN" sz="2000" b="0" dirty="0">
                <a:solidFill>
                  <a:prstClr val="black"/>
                </a:solidFill>
              </a:rPr>
              <a:t>It takes ____ memory cycle(s) to read a Byte from memory</a:t>
            </a:r>
          </a:p>
          <a:p>
            <a:pPr marL="657225" lvl="1" indent="-257175" defTabSz="342900"/>
            <a:r>
              <a:rPr lang="en-US" altLang="zh-CN" sz="2000" b="0" dirty="0">
                <a:solidFill>
                  <a:prstClr val="black"/>
                </a:solidFill>
              </a:rPr>
              <a:t>It takes ____ memory cycle(s) to read a half-word from memory</a:t>
            </a:r>
          </a:p>
          <a:p>
            <a:pPr marL="657225" lvl="1" indent="-257175" defTabSz="342900"/>
            <a:r>
              <a:rPr lang="en-US" altLang="zh-CN" sz="2000" b="0" dirty="0">
                <a:solidFill>
                  <a:prstClr val="black"/>
                </a:solidFill>
              </a:rPr>
              <a:t>It takes ____ memory cycle(s) to read a word from memory</a:t>
            </a:r>
          </a:p>
          <a:p>
            <a:pPr marL="657225" lvl="1" indent="-257175" defTabSz="342900"/>
            <a:r>
              <a:rPr lang="en-US" altLang="zh-CN" sz="2000" b="0" dirty="0">
                <a:solidFill>
                  <a:prstClr val="black"/>
                </a:solidFill>
              </a:rPr>
              <a:t>It takes ____ memory cycle(s) to read a double word from memory</a:t>
            </a:r>
            <a:endParaRPr lang="en-US" sz="2400" b="0" dirty="0">
              <a:solidFill>
                <a:prstClr val="black"/>
              </a:solidFill>
              <a:latin typeface="Calibri"/>
            </a:endParaRPr>
          </a:p>
        </p:txBody>
      </p:sp>
      <p:pic>
        <p:nvPicPr>
          <p:cNvPr id="5" name="Picture 4"/>
          <p:cNvPicPr>
            <a:picLocks noChangeAspect="1"/>
          </p:cNvPicPr>
          <p:nvPr/>
        </p:nvPicPr>
        <p:blipFill>
          <a:blip r:embed="rId2"/>
          <a:stretch>
            <a:fillRect/>
          </a:stretch>
        </p:blipFill>
        <p:spPr>
          <a:xfrm>
            <a:off x="5029200" y="-6804"/>
            <a:ext cx="4067187" cy="1560642"/>
          </a:xfrm>
          <a:prstGeom prst="rect">
            <a:avLst/>
          </a:prstGeom>
        </p:spPr>
      </p:pic>
      <p:sp>
        <p:nvSpPr>
          <p:cNvPr id="9" name="Title 1">
            <a:extLst>
              <a:ext uri="{FF2B5EF4-FFF2-40B4-BE49-F238E27FC236}">
                <a16:creationId xmlns:a16="http://schemas.microsoft.com/office/drawing/2014/main" id="{78DA596E-85CA-C0C6-85A8-74A98C3DFFDB}"/>
              </a:ext>
            </a:extLst>
          </p:cNvPr>
          <p:cNvSpPr>
            <a:spLocks noGrp="1"/>
          </p:cNvSpPr>
          <p:nvPr>
            <p:ph type="title"/>
          </p:nvPr>
        </p:nvSpPr>
        <p:spPr>
          <a:xfrm>
            <a:off x="0" y="22225"/>
            <a:ext cx="8229600" cy="1143000"/>
          </a:xfrm>
        </p:spPr>
        <p:txBody>
          <a:bodyPr/>
          <a:lstStyle/>
          <a:p>
            <a:r>
              <a:rPr lang="en-US" dirty="0"/>
              <a:t>Memory Cycles</a:t>
            </a:r>
          </a:p>
        </p:txBody>
      </p:sp>
    </p:spTree>
    <p:extLst>
      <p:ext uri="{BB962C8B-B14F-4D97-AF65-F5344CB8AC3E}">
        <p14:creationId xmlns:p14="http://schemas.microsoft.com/office/powerpoint/2010/main" val="1910717593"/>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225"/>
            <a:ext cx="8229600" cy="1143000"/>
          </a:xfrm>
        </p:spPr>
        <p:txBody>
          <a:bodyPr/>
          <a:lstStyle/>
          <a:p>
            <a:r>
              <a:rPr lang="en-US" dirty="0"/>
              <a:t>Memory Cycles ANS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20</a:t>
            </a:fld>
            <a:endParaRPr lang="en-US" dirty="0"/>
          </a:p>
        </p:txBody>
      </p:sp>
      <p:sp>
        <p:nvSpPr>
          <p:cNvPr id="4" name="Rectangle 3"/>
          <p:cNvSpPr txBox="1">
            <a:spLocks noChangeArrowheads="1"/>
          </p:cNvSpPr>
          <p:nvPr/>
        </p:nvSpPr>
        <p:spPr>
          <a:xfrm>
            <a:off x="267393" y="1447800"/>
            <a:ext cx="8182841" cy="43434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Assume a byte-addressable memory with a data bus that is 32 bits (4 bytes) wide. </a:t>
            </a:r>
          </a:p>
          <a:p>
            <a:pPr marL="657225" lvl="1" indent="-257175" defTabSz="342900"/>
            <a:r>
              <a:rPr lang="en-US" altLang="zh-CN" sz="2000" b="0" dirty="0">
                <a:solidFill>
                  <a:prstClr val="black"/>
                </a:solidFill>
              </a:rPr>
              <a:t>It takes ____ memory cycle(s) to read a Byte from memory</a:t>
            </a:r>
          </a:p>
          <a:p>
            <a:pPr marL="657225" lvl="1" indent="-257175" defTabSz="342900"/>
            <a:r>
              <a:rPr lang="en-US" altLang="zh-CN" sz="2000" b="0" dirty="0">
                <a:solidFill>
                  <a:prstClr val="black"/>
                </a:solidFill>
              </a:rPr>
              <a:t>It takes ____ memory cycle(s) to read a half-word from memory</a:t>
            </a:r>
          </a:p>
          <a:p>
            <a:pPr marL="657225" lvl="1" indent="-257175" defTabSz="342900"/>
            <a:r>
              <a:rPr lang="en-US" altLang="zh-CN" sz="2000" b="0" dirty="0">
                <a:solidFill>
                  <a:prstClr val="black"/>
                </a:solidFill>
              </a:rPr>
              <a:t>It takes ____ memory cycle(s) to read a word from memory</a:t>
            </a:r>
          </a:p>
          <a:p>
            <a:pPr marL="657225" lvl="1" indent="-257175" defTabSz="342900"/>
            <a:r>
              <a:rPr lang="en-US" altLang="zh-CN" sz="2000" b="0" dirty="0">
                <a:solidFill>
                  <a:prstClr val="black"/>
                </a:solidFill>
              </a:rPr>
              <a:t>It takes ____ memory cycle(s) to read a double word from memory</a:t>
            </a:r>
          </a:p>
          <a:p>
            <a:pPr marL="257175" indent="-257175" defTabSz="342900"/>
            <a:r>
              <a:rPr lang="en-US" altLang="zh-CN" sz="2400" b="0" dirty="0">
                <a:solidFill>
                  <a:prstClr val="black"/>
                </a:solidFill>
              </a:rPr>
              <a:t>A:</a:t>
            </a:r>
          </a:p>
          <a:p>
            <a:pPr marL="657225" lvl="1" indent="-257175" defTabSz="342900"/>
            <a:r>
              <a:rPr lang="en-US" altLang="zh-CN" sz="2000" b="0" dirty="0">
                <a:solidFill>
                  <a:prstClr val="black"/>
                </a:solidFill>
              </a:rPr>
              <a:t>It takes __1__ memory cycle(s) to read a Byte from memory</a:t>
            </a:r>
          </a:p>
          <a:p>
            <a:pPr marL="657225" lvl="1" indent="-257175" defTabSz="342900"/>
            <a:r>
              <a:rPr lang="en-US" altLang="zh-CN" sz="2000" b="0" dirty="0">
                <a:solidFill>
                  <a:prstClr val="black"/>
                </a:solidFill>
              </a:rPr>
              <a:t>It takes __1 or 2__ memory cycle(s) to read a half-word from memory</a:t>
            </a:r>
          </a:p>
          <a:p>
            <a:pPr marL="657225" lvl="1" indent="-257175" defTabSz="342900"/>
            <a:r>
              <a:rPr lang="en-US" altLang="zh-CN" sz="2000" b="0" dirty="0">
                <a:solidFill>
                  <a:prstClr val="black"/>
                </a:solidFill>
              </a:rPr>
              <a:t>It takes __1 or 2__ memory cycle(s) to read a word from memory</a:t>
            </a:r>
          </a:p>
          <a:p>
            <a:pPr marL="657225" lvl="1" indent="-257175" defTabSz="342900"/>
            <a:r>
              <a:rPr lang="en-US" altLang="zh-CN" sz="2000" b="0" dirty="0">
                <a:solidFill>
                  <a:prstClr val="black"/>
                </a:solidFill>
              </a:rPr>
              <a:t>It takes __2 or 3__ memory cycle(s) to read a double word from memory (a double word may span at least 2 consecutive words, and at most 3 consecutive words in memory)</a:t>
            </a:r>
            <a:endParaRPr lang="en-US" sz="2400" b="0" dirty="0">
              <a:solidFill>
                <a:prstClr val="black"/>
              </a:solidFill>
              <a:latin typeface="Calibri"/>
            </a:endParaRPr>
          </a:p>
        </p:txBody>
      </p:sp>
      <p:pic>
        <p:nvPicPr>
          <p:cNvPr id="8" name="Picture 7"/>
          <p:cNvPicPr>
            <a:picLocks noChangeAspect="1"/>
          </p:cNvPicPr>
          <p:nvPr/>
        </p:nvPicPr>
        <p:blipFill>
          <a:blip r:embed="rId2"/>
          <a:stretch>
            <a:fillRect/>
          </a:stretch>
        </p:blipFill>
        <p:spPr>
          <a:xfrm>
            <a:off x="5029200" y="-6804"/>
            <a:ext cx="4067187" cy="1560642"/>
          </a:xfrm>
          <a:prstGeom prst="rect">
            <a:avLst/>
          </a:prstGeom>
        </p:spPr>
      </p:pic>
    </p:spTree>
    <p:extLst>
      <p:ext uri="{BB962C8B-B14F-4D97-AF65-F5344CB8AC3E}">
        <p14:creationId xmlns:p14="http://schemas.microsoft.com/office/powerpoint/2010/main" val="3116329460"/>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21</a:t>
            </a:fld>
            <a:endParaRPr lang="en-US" dirty="0"/>
          </a:p>
        </p:txBody>
      </p:sp>
      <p:sp>
        <p:nvSpPr>
          <p:cNvPr id="4" name="Rectangle 3"/>
          <p:cNvSpPr txBox="1">
            <a:spLocks noChangeArrowheads="1"/>
          </p:cNvSpPr>
          <p:nvPr/>
        </p:nvSpPr>
        <p:spPr>
          <a:xfrm>
            <a:off x="271346" y="1299117"/>
            <a:ext cx="8182841" cy="33392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If the first element of a one-dimensional array x[] is stored at memory address 0</a:t>
            </a:r>
            <a:r>
              <a:rPr lang="en-US" altLang="zh-CN" sz="2400" b="0" dirty="0">
                <a:solidFill>
                  <a:prstClr val="black"/>
                </a:solidFill>
              </a:rPr>
              <a:t>x</a:t>
            </a:r>
            <a:r>
              <a:rPr lang="en-US" sz="2400" b="0" dirty="0">
                <a:solidFill>
                  <a:prstClr val="black"/>
                </a:solidFill>
              </a:rPr>
              <a:t>12345678, what is address of the second element if the array x[] contains</a:t>
            </a:r>
          </a:p>
          <a:p>
            <a:pPr marL="657225" lvl="1" indent="-257175" defTabSz="342900"/>
            <a:r>
              <a:rPr lang="en-US" sz="1800" b="0" dirty="0">
                <a:solidFill>
                  <a:prstClr val="black"/>
                </a:solidFill>
              </a:rPr>
              <a:t>(a) chars </a:t>
            </a:r>
          </a:p>
          <a:p>
            <a:pPr marL="657225" lvl="1" indent="-257175" defTabSz="342900"/>
            <a:r>
              <a:rPr lang="en-US" sz="1800" b="0" dirty="0">
                <a:solidFill>
                  <a:prstClr val="black"/>
                </a:solidFill>
              </a:rPr>
              <a:t>(b) shorts</a:t>
            </a:r>
          </a:p>
          <a:p>
            <a:pPr marL="657225" lvl="1" indent="-257175" defTabSz="342900"/>
            <a:r>
              <a:rPr lang="en-US" altLang="zh-CN" sz="1800" b="0" dirty="0">
                <a:solidFill>
                  <a:prstClr val="black"/>
                </a:solidFill>
              </a:rPr>
              <a:t>(c) </a:t>
            </a:r>
            <a:r>
              <a:rPr lang="en-US" altLang="zh-CN" sz="1800" b="0" dirty="0" err="1">
                <a:solidFill>
                  <a:prstClr val="black"/>
                </a:solidFill>
              </a:rPr>
              <a:t>ints</a:t>
            </a:r>
            <a:endParaRPr lang="en-US" sz="1800" b="0" dirty="0">
              <a:solidFill>
                <a:prstClr val="black"/>
              </a:solidFill>
            </a:endParaRPr>
          </a:p>
          <a:p>
            <a:pPr marL="657225" lvl="1" indent="-257175" defTabSz="342900"/>
            <a:r>
              <a:rPr lang="en-US" sz="1800" b="0" dirty="0">
                <a:solidFill>
                  <a:prstClr val="black"/>
                </a:solidFill>
              </a:rPr>
              <a:t>(d) longs (32-bit ARM/Cortex-M: long = 4 bytes)</a:t>
            </a:r>
            <a:endParaRPr lang="en-US" sz="1800" b="0" dirty="0">
              <a:solidFill>
                <a:prstClr val="black"/>
              </a:solidFill>
              <a:latin typeface="Calibri"/>
            </a:endParaRPr>
          </a:p>
          <a:p>
            <a:pPr marL="657225" lvl="1" indent="-257175" defTabSz="342900"/>
            <a:r>
              <a:rPr lang="en-US" sz="1800" b="0" dirty="0">
                <a:solidFill>
                  <a:prstClr val="black"/>
                </a:solidFill>
              </a:rPr>
              <a:t>(e) long longs (8 bytes)</a:t>
            </a:r>
            <a:endParaRPr lang="en-US" sz="1800" b="0" dirty="0">
              <a:solidFill>
                <a:prstClr val="black"/>
              </a:solidFill>
              <a:latin typeface="Calibri"/>
            </a:endParaRPr>
          </a:p>
        </p:txBody>
      </p:sp>
    </p:spTree>
    <p:extLst>
      <p:ext uri="{BB962C8B-B14F-4D97-AF65-F5344CB8AC3E}">
        <p14:creationId xmlns:p14="http://schemas.microsoft.com/office/powerpoint/2010/main" val="802972020"/>
      </p:ext>
    </p:extLst>
  </p:cSld>
  <p:clrMapOvr>
    <a:masterClrMapping/>
  </p:clrMapOvr>
  <p:transition>
    <p:pull dir="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Arrays ANS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22</a:t>
            </a:fld>
            <a:endParaRPr lang="en-US" dirty="0"/>
          </a:p>
        </p:txBody>
      </p:sp>
      <p:sp>
        <p:nvSpPr>
          <p:cNvPr id="4" name="Rectangle 3"/>
          <p:cNvSpPr txBox="1">
            <a:spLocks noChangeArrowheads="1"/>
          </p:cNvSpPr>
          <p:nvPr/>
        </p:nvSpPr>
        <p:spPr>
          <a:xfrm>
            <a:off x="338254" y="1425575"/>
            <a:ext cx="8182841" cy="4648200"/>
          </a:xfrm>
          <a:prstGeom prst="rect">
            <a:avLst/>
          </a:prstGeom>
        </p:spPr>
        <p:txBody>
          <a:bodyPr>
            <a:normAutofit fontScale="975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If the first element of a one-dimensional array x[] is stored at memory address 0</a:t>
            </a:r>
            <a:r>
              <a:rPr lang="en-US" altLang="zh-CN" sz="2400" b="0" dirty="0">
                <a:solidFill>
                  <a:prstClr val="black"/>
                </a:solidFill>
              </a:rPr>
              <a:t>x</a:t>
            </a:r>
            <a:r>
              <a:rPr lang="en-US" sz="2400" b="0" dirty="0">
                <a:solidFill>
                  <a:prstClr val="black"/>
                </a:solidFill>
              </a:rPr>
              <a:t>12345678, what is address of the second element if the array x[] contains</a:t>
            </a:r>
          </a:p>
          <a:p>
            <a:pPr marL="657225" lvl="1" indent="-257175" defTabSz="342900"/>
            <a:r>
              <a:rPr lang="en-US" sz="1800" b="0" dirty="0">
                <a:solidFill>
                  <a:prstClr val="black"/>
                </a:solidFill>
              </a:rPr>
              <a:t>(a) chars </a:t>
            </a:r>
          </a:p>
          <a:p>
            <a:pPr marL="657225" lvl="1" indent="-257175" defTabSz="342900"/>
            <a:r>
              <a:rPr lang="en-US" sz="1800" b="0" dirty="0">
                <a:solidFill>
                  <a:prstClr val="black"/>
                </a:solidFill>
              </a:rPr>
              <a:t>(b) shorts</a:t>
            </a:r>
          </a:p>
          <a:p>
            <a:pPr marL="657225" lvl="1" indent="-257175" defTabSz="342900"/>
            <a:r>
              <a:rPr lang="en-US" altLang="zh-CN" sz="1800" b="0" dirty="0">
                <a:solidFill>
                  <a:prstClr val="black"/>
                </a:solidFill>
              </a:rPr>
              <a:t>(c) </a:t>
            </a:r>
            <a:r>
              <a:rPr lang="en-US" altLang="zh-CN" sz="1800" b="0" dirty="0" err="1">
                <a:solidFill>
                  <a:prstClr val="black"/>
                </a:solidFill>
              </a:rPr>
              <a:t>ints</a:t>
            </a:r>
            <a:endParaRPr lang="en-US" sz="1800" b="0" dirty="0">
              <a:solidFill>
                <a:prstClr val="black"/>
              </a:solidFill>
            </a:endParaRPr>
          </a:p>
          <a:p>
            <a:pPr marL="657225" lvl="1" indent="-257175" defTabSz="342900"/>
            <a:r>
              <a:rPr lang="en-US" sz="1800" b="0" dirty="0">
                <a:solidFill>
                  <a:prstClr val="black"/>
                </a:solidFill>
              </a:rPr>
              <a:t>(d) longs (32-bit ARM/Cortex-M: long = 4 bytes)</a:t>
            </a:r>
            <a:endParaRPr lang="en-US" sz="1800" b="0" dirty="0">
              <a:solidFill>
                <a:prstClr val="black"/>
              </a:solidFill>
              <a:latin typeface="Calibri"/>
            </a:endParaRPr>
          </a:p>
          <a:p>
            <a:pPr marL="657225" lvl="1" indent="-257175" defTabSz="342900"/>
            <a:r>
              <a:rPr lang="en-US" sz="1800" b="0" dirty="0">
                <a:solidFill>
                  <a:prstClr val="black"/>
                </a:solidFill>
              </a:rPr>
              <a:t>(e) long longs (8 bytes)</a:t>
            </a:r>
            <a:endParaRPr lang="en-US" sz="1800" b="0" dirty="0">
              <a:solidFill>
                <a:prstClr val="black"/>
              </a:solidFill>
              <a:latin typeface="Calibri"/>
            </a:endParaRPr>
          </a:p>
          <a:p>
            <a:pPr marL="257175" indent="-257175" defTabSz="342900"/>
            <a:r>
              <a:rPr lang="en-US" sz="2400" b="0" dirty="0">
                <a:solidFill>
                  <a:prstClr val="black"/>
                </a:solidFill>
                <a:latin typeface="Calibri"/>
              </a:rPr>
              <a:t>A: x[1]’s address is x’s address plus the data type size in Bytes</a:t>
            </a:r>
          </a:p>
          <a:p>
            <a:pPr marL="657225" lvl="1" indent="-257175" defTabSz="342900"/>
            <a:r>
              <a:rPr lang="en-US" sz="1800" b="0" dirty="0">
                <a:solidFill>
                  <a:prstClr val="black"/>
                </a:solidFill>
              </a:rPr>
              <a:t>(a) chars: 0</a:t>
            </a:r>
            <a:r>
              <a:rPr lang="en-US" altLang="zh-CN" sz="1800" b="0" dirty="0">
                <a:solidFill>
                  <a:prstClr val="black"/>
                </a:solidFill>
              </a:rPr>
              <a:t>x</a:t>
            </a:r>
            <a:r>
              <a:rPr lang="en-US" sz="1800" b="0" dirty="0">
                <a:solidFill>
                  <a:prstClr val="black"/>
                </a:solidFill>
              </a:rPr>
              <a:t>12345678+1= 0</a:t>
            </a:r>
            <a:r>
              <a:rPr lang="en-US" altLang="zh-CN" sz="1800" b="0" dirty="0">
                <a:solidFill>
                  <a:prstClr val="black"/>
                </a:solidFill>
              </a:rPr>
              <a:t>x</a:t>
            </a:r>
            <a:r>
              <a:rPr lang="en-US" sz="1800" b="0" dirty="0">
                <a:solidFill>
                  <a:prstClr val="black"/>
                </a:solidFill>
              </a:rPr>
              <a:t>12345679</a:t>
            </a:r>
          </a:p>
          <a:p>
            <a:pPr marL="657225" lvl="1" indent="-257175" defTabSz="342900"/>
            <a:r>
              <a:rPr lang="en-US" sz="1800" b="0" dirty="0">
                <a:solidFill>
                  <a:prstClr val="black"/>
                </a:solidFill>
              </a:rPr>
              <a:t>(b) shorts: 0</a:t>
            </a:r>
            <a:r>
              <a:rPr lang="en-US" altLang="zh-CN" sz="1800" b="0" dirty="0">
                <a:solidFill>
                  <a:prstClr val="black"/>
                </a:solidFill>
              </a:rPr>
              <a:t>x</a:t>
            </a:r>
            <a:r>
              <a:rPr lang="en-US" sz="1800" b="0" dirty="0">
                <a:solidFill>
                  <a:prstClr val="black"/>
                </a:solidFill>
              </a:rPr>
              <a:t>12345678+2 = 0</a:t>
            </a:r>
            <a:r>
              <a:rPr lang="en-US" altLang="zh-CN" sz="1800" b="0" dirty="0">
                <a:solidFill>
                  <a:prstClr val="black"/>
                </a:solidFill>
              </a:rPr>
              <a:t>x</a:t>
            </a:r>
            <a:r>
              <a:rPr lang="en-US" sz="1800" b="0" dirty="0">
                <a:solidFill>
                  <a:prstClr val="black"/>
                </a:solidFill>
              </a:rPr>
              <a:t>1234567A</a:t>
            </a:r>
          </a:p>
          <a:p>
            <a:pPr marL="657225" lvl="1" indent="-257175" defTabSz="342900"/>
            <a:r>
              <a:rPr lang="en-US" altLang="zh-CN" sz="1800" b="0" dirty="0">
                <a:solidFill>
                  <a:prstClr val="black"/>
                </a:solidFill>
              </a:rPr>
              <a:t>(c) </a:t>
            </a:r>
            <a:r>
              <a:rPr lang="en-US" altLang="zh-CN" sz="1800" b="0" dirty="0" err="1">
                <a:solidFill>
                  <a:prstClr val="black"/>
                </a:solidFill>
              </a:rPr>
              <a:t>ints</a:t>
            </a:r>
            <a:r>
              <a:rPr lang="en-US" altLang="zh-CN" sz="1800" b="0" dirty="0">
                <a:solidFill>
                  <a:prstClr val="black"/>
                </a:solidFill>
              </a:rPr>
              <a:t>: </a:t>
            </a:r>
            <a:r>
              <a:rPr lang="en-US" sz="1800" b="0" dirty="0">
                <a:solidFill>
                  <a:prstClr val="black"/>
                </a:solidFill>
              </a:rPr>
              <a:t>0</a:t>
            </a:r>
            <a:r>
              <a:rPr lang="en-US" altLang="zh-CN" sz="1800" b="0" dirty="0">
                <a:solidFill>
                  <a:prstClr val="black"/>
                </a:solidFill>
              </a:rPr>
              <a:t>x</a:t>
            </a:r>
            <a:r>
              <a:rPr lang="en-US" sz="1800" b="0" dirty="0">
                <a:solidFill>
                  <a:prstClr val="black"/>
                </a:solidFill>
              </a:rPr>
              <a:t>12345678+4 = 0</a:t>
            </a:r>
            <a:r>
              <a:rPr lang="en-US" altLang="zh-CN" sz="1800" b="0" dirty="0">
                <a:solidFill>
                  <a:prstClr val="black"/>
                </a:solidFill>
              </a:rPr>
              <a:t>x</a:t>
            </a:r>
            <a:r>
              <a:rPr lang="en-US" sz="1800" b="0" dirty="0">
                <a:solidFill>
                  <a:prstClr val="black"/>
                </a:solidFill>
              </a:rPr>
              <a:t>1234567C</a:t>
            </a:r>
          </a:p>
          <a:p>
            <a:pPr marL="657225" lvl="1" indent="-257175" defTabSz="342900"/>
            <a:r>
              <a:rPr lang="en-US" sz="1800" b="0" dirty="0">
                <a:solidFill>
                  <a:prstClr val="black"/>
                </a:solidFill>
              </a:rPr>
              <a:t>(d) longs: 0</a:t>
            </a:r>
            <a:r>
              <a:rPr lang="en-US" altLang="zh-CN" sz="1800" b="0" dirty="0">
                <a:solidFill>
                  <a:prstClr val="black"/>
                </a:solidFill>
              </a:rPr>
              <a:t>x</a:t>
            </a:r>
            <a:r>
              <a:rPr lang="en-US" sz="1800" b="0" dirty="0">
                <a:solidFill>
                  <a:prstClr val="black"/>
                </a:solidFill>
              </a:rPr>
              <a:t>12345678+4 = 0</a:t>
            </a:r>
            <a:r>
              <a:rPr lang="en-US" altLang="zh-CN" sz="1800" b="0" dirty="0">
                <a:solidFill>
                  <a:prstClr val="black"/>
                </a:solidFill>
              </a:rPr>
              <a:t>x</a:t>
            </a:r>
            <a:r>
              <a:rPr lang="en-US" sz="1800" b="0" dirty="0">
                <a:solidFill>
                  <a:prstClr val="black"/>
                </a:solidFill>
              </a:rPr>
              <a:t>1234567C</a:t>
            </a:r>
            <a:endParaRPr lang="en-US" sz="2400" b="0" dirty="0">
              <a:solidFill>
                <a:prstClr val="black"/>
              </a:solidFill>
              <a:latin typeface="Calibri"/>
            </a:endParaRPr>
          </a:p>
          <a:p>
            <a:pPr marL="657225" lvl="1" indent="-257175" defTabSz="342900"/>
            <a:r>
              <a:rPr lang="en-US" sz="1800" b="0" dirty="0">
                <a:solidFill>
                  <a:prstClr val="black"/>
                </a:solidFill>
              </a:rPr>
              <a:t>(e) long longs: 0</a:t>
            </a:r>
            <a:r>
              <a:rPr lang="en-US" altLang="zh-CN" sz="1800" b="0" dirty="0">
                <a:solidFill>
                  <a:prstClr val="black"/>
                </a:solidFill>
              </a:rPr>
              <a:t>x</a:t>
            </a:r>
            <a:r>
              <a:rPr lang="en-US" sz="1800" b="0" dirty="0">
                <a:solidFill>
                  <a:prstClr val="black"/>
                </a:solidFill>
              </a:rPr>
              <a:t>12345678+8 = 0</a:t>
            </a:r>
            <a:r>
              <a:rPr lang="en-US" altLang="zh-CN" sz="1800" b="0" dirty="0">
                <a:solidFill>
                  <a:prstClr val="black"/>
                </a:solidFill>
              </a:rPr>
              <a:t>x</a:t>
            </a:r>
            <a:r>
              <a:rPr lang="en-US" sz="1800" b="0" dirty="0">
                <a:solidFill>
                  <a:prstClr val="black"/>
                </a:solidFill>
              </a:rPr>
              <a:t>12345680</a:t>
            </a:r>
            <a:endParaRPr lang="en-US" sz="2400" b="0" dirty="0">
              <a:solidFill>
                <a:prstClr val="black"/>
              </a:solidFill>
              <a:latin typeface="Calibri"/>
            </a:endParaRPr>
          </a:p>
        </p:txBody>
      </p:sp>
    </p:spTree>
    <p:extLst>
      <p:ext uri="{BB962C8B-B14F-4D97-AF65-F5344CB8AC3E}">
        <p14:creationId xmlns:p14="http://schemas.microsoft.com/office/powerpoint/2010/main" val="415260018"/>
      </p:ext>
    </p:extLst>
  </p:cSld>
  <p:clrMapOvr>
    <a:masterClrMapping/>
  </p:clrMapOvr>
  <p:transition>
    <p:pull dir="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23</a:t>
            </a:fld>
            <a:endParaRPr lang="en-US"/>
          </a:p>
        </p:txBody>
      </p:sp>
      <p:pic>
        <p:nvPicPr>
          <p:cNvPr id="6" name="Picture 5"/>
          <p:cNvPicPr>
            <a:picLocks noChangeAspect="1"/>
          </p:cNvPicPr>
          <p:nvPr/>
        </p:nvPicPr>
        <p:blipFill>
          <a:blip r:embed="rId2"/>
          <a:stretch>
            <a:fillRect/>
          </a:stretch>
        </p:blipFill>
        <p:spPr>
          <a:xfrm>
            <a:off x="120263" y="1331918"/>
            <a:ext cx="8932501" cy="4803751"/>
          </a:xfrm>
          <a:prstGeom prst="rect">
            <a:avLst/>
          </a:prstGeom>
        </p:spPr>
      </p:pic>
      <p:sp>
        <p:nvSpPr>
          <p:cNvPr id="4" name="Horizontal Scroll 14">
            <a:extLst>
              <a:ext uri="{FF2B5EF4-FFF2-40B4-BE49-F238E27FC236}">
                <a16:creationId xmlns:a16="http://schemas.microsoft.com/office/drawing/2014/main" id="{FA6A14B0-92BB-D509-5DE4-9E034654971E}"/>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
        <p:nvSpPr>
          <p:cNvPr id="7" name="Footnote A32"/>
          <p:cNvSpPr txBox="1"/>
          <p:nvPr/>
        </p:nvSpPr>
        <p:spPr>
          <a:xfrm>
            <a:off x="457200" y="6085000"/>
            <a:ext cx="8229600" cy="250000"/>
          </a:xfrm>
          <a:prstGeom prst="rect">
            <a:avLst/>
          </a:prstGeom>
          <a:noFill/>
        </p:spPr>
        <p:txBody>
          <a:bodyPr wrap="square" lIns="0" tIns="0" rIns="0" bIns="0" rtlCol="0" anchor="ctr">
            <a:noAutofit/>
          </a:bodyPr>
          <a:lstStyle/>
          <a:p>
            <a:r>
              <a:rPr lang="en-US" sz="1100" b="1" dirty="0">
                <a:solidFill>
                  <a:srgbClr val="C00000"/>
                </a:solidFill>
                <a:latin typeface="+mn-lt"/>
                <a:cs typeface="+mn-cs"/>
              </a:rPr>
              <a:t>A32 only: </a:t>
            </a:r>
            <a:r>
              <a:rPr lang="en-US" sz="1100" b="0" dirty="0">
                <a:solidFill>
                  <a:schemeClr val="tx2"/>
                </a:solidFill>
                <a:latin typeface="+mn-lt"/>
                <a:cs typeface="+mn-cs"/>
              </a:rPr>
              <a:t>IB and DA modes (STMIB/LDMIB, STMDA/LDMDA). Cortex-M (Thumb-2) supports only IA and DB.</a:t>
            </a:r>
          </a:p>
        </p:txBody>
      </p:sp>
    </p:spTree>
    <p:extLst>
      <p:ext uri="{BB962C8B-B14F-4D97-AF65-F5344CB8AC3E}">
        <p14:creationId xmlns:p14="http://schemas.microsoft.com/office/powerpoint/2010/main" val="1468211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861E1-0E8B-78F8-D2D2-3F55D16ED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225031-3EBD-28FC-E1A0-0049330C0107}"/>
              </a:ext>
            </a:extLst>
          </p:cNvPr>
          <p:cNvSpPr>
            <a:spLocks noGrp="1"/>
          </p:cNvSpPr>
          <p:nvPr>
            <p:ph type="title"/>
          </p:nvPr>
        </p:nvSpPr>
        <p:spPr/>
        <p:txBody>
          <a:bodyPr/>
          <a:lstStyle/>
          <a:p>
            <a:r>
              <a:rPr lang="en-US" dirty="0"/>
              <a:t>LDM</a:t>
            </a:r>
          </a:p>
        </p:txBody>
      </p:sp>
      <p:sp>
        <p:nvSpPr>
          <p:cNvPr id="3" name="Slide Number Placeholder 2">
            <a:extLst>
              <a:ext uri="{FF2B5EF4-FFF2-40B4-BE49-F238E27FC236}">
                <a16:creationId xmlns:a16="http://schemas.microsoft.com/office/drawing/2014/main" id="{37A30E0F-B359-645E-5E6D-5DC92C1B996E}"/>
              </a:ext>
            </a:extLst>
          </p:cNvPr>
          <p:cNvSpPr>
            <a:spLocks noGrp="1"/>
          </p:cNvSpPr>
          <p:nvPr>
            <p:ph type="sldNum" sz="quarter" idx="12"/>
          </p:nvPr>
        </p:nvSpPr>
        <p:spPr/>
        <p:txBody>
          <a:bodyPr/>
          <a:lstStyle/>
          <a:p>
            <a:fld id="{AEE14D4A-FE32-40AF-B06D-E9622816B101}" type="slidenum">
              <a:rPr lang="en-US" smtClean="0"/>
              <a:pPr/>
              <a:t>24</a:t>
            </a:fld>
            <a:endParaRPr lang="en-US"/>
          </a:p>
        </p:txBody>
      </p:sp>
      <p:graphicFrame>
        <p:nvGraphicFramePr>
          <p:cNvPr id="8" name="Table 7">
            <a:extLst>
              <a:ext uri="{FF2B5EF4-FFF2-40B4-BE49-F238E27FC236}">
                <a16:creationId xmlns:a16="http://schemas.microsoft.com/office/drawing/2014/main" id="{D3C2D736-73D7-3A26-A782-9CEC03C12D04}"/>
              </a:ext>
            </a:extLst>
          </p:cNvPr>
          <p:cNvGraphicFramePr>
            <a:graphicFrameLocks noGrp="1"/>
          </p:cNvGraphicFramePr>
          <p:nvPr>
            <p:extLst>
              <p:ext uri="{D42A27DB-BD31-4B8C-83A1-F6EECF244321}">
                <p14:modId xmlns:p14="http://schemas.microsoft.com/office/powerpoint/2010/main" val="3555381988"/>
              </p:ext>
            </p:extLst>
          </p:nvPr>
        </p:nvGraphicFramePr>
        <p:xfrm>
          <a:off x="5410243" y="2477135"/>
          <a:ext cx="3627621" cy="249428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0x8010</a:t>
                      </a:r>
                    </a:p>
                  </a:txBody>
                  <a:tcPr>
                    <a:noFill/>
                  </a:tcPr>
                </a:tc>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0x00000001</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0x800c</a:t>
                      </a:r>
                    </a:p>
                  </a:txBody>
                  <a:tcPr>
                    <a:noFill/>
                  </a:tcPr>
                </a:tc>
                <a:tc>
                  <a:txBody>
                    <a:bodyPr/>
                    <a:lstStyle/>
                    <a:p>
                      <a:pPr algn="ctr"/>
                      <a:r>
                        <a:rPr lang="en-US" sz="1800" dirty="0">
                          <a:latin typeface="Consolas" panose="020B0609020204030204" pitchFamily="49" charset="0"/>
                          <a:cs typeface="Consolas" panose="020B0609020204030204" pitchFamily="49" charset="0"/>
                        </a:rPr>
                        <a:t>0xFEEDDEAF</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0x8008</a:t>
                      </a:r>
                    </a:p>
                  </a:txBody>
                  <a:tcPr>
                    <a:noFill/>
                  </a:tcPr>
                </a:tc>
                <a:tc>
                  <a:txBody>
                    <a:bodyPr/>
                    <a:lstStyle/>
                    <a:p>
                      <a:pPr algn="ctr"/>
                      <a:r>
                        <a:rPr lang="en-US" sz="1800" dirty="0">
                          <a:latin typeface="Consolas" panose="020B0609020204030204" pitchFamily="49" charset="0"/>
                          <a:cs typeface="Consolas" panose="020B0609020204030204" pitchFamily="49" charset="0"/>
                        </a:rPr>
                        <a:t>0x00008888</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0x8004</a:t>
                      </a:r>
                    </a:p>
                  </a:txBody>
                  <a:tcPr>
                    <a:noFill/>
                  </a:tcPr>
                </a:tc>
                <a:tc>
                  <a:txBody>
                    <a:bodyPr/>
                    <a:lstStyle/>
                    <a:p>
                      <a:pPr algn="ctr"/>
                      <a:r>
                        <a:rPr lang="en-US" sz="1800" dirty="0">
                          <a:latin typeface="Consolas" panose="020B0609020204030204" pitchFamily="49" charset="0"/>
                          <a:cs typeface="Consolas" panose="020B0609020204030204" pitchFamily="49" charset="0"/>
                        </a:rPr>
                        <a:t>0x12340000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0x8000</a:t>
                      </a:r>
                    </a:p>
                  </a:txBody>
                  <a:tcPr>
                    <a:noFill/>
                  </a:tcPr>
                </a:tc>
                <a:tc>
                  <a:txBody>
                    <a:bodyPr/>
                    <a:lstStyle/>
                    <a:p>
                      <a:pPr algn="ctr"/>
                      <a:r>
                        <a:rPr lang="en-US" sz="1800" dirty="0">
                          <a:latin typeface="Consolas" panose="020B0609020204030204" pitchFamily="49" charset="0"/>
                          <a:cs typeface="Consolas" panose="020B0609020204030204" pitchFamily="49" charset="0"/>
                        </a:rPr>
                        <a:t>0xBABE0000</a:t>
                      </a:r>
                    </a:p>
                  </a:txBody>
                  <a:tcPr/>
                </a:tc>
                <a:extLst>
                  <a:ext uri="{0D108BD9-81ED-4DB2-BD59-A6C34878D82A}">
                    <a16:rowId xmlns:a16="http://schemas.microsoft.com/office/drawing/2014/main" val="10008"/>
                  </a:ext>
                </a:extLst>
              </a:tr>
            </a:tbl>
          </a:graphicData>
        </a:graphic>
      </p:graphicFrame>
      <p:sp>
        <p:nvSpPr>
          <p:cNvPr id="9" name="TextBox 8">
            <a:extLst>
              <a:ext uri="{FF2B5EF4-FFF2-40B4-BE49-F238E27FC236}">
                <a16:creationId xmlns:a16="http://schemas.microsoft.com/office/drawing/2014/main" id="{DC077EDE-860F-119C-95B4-998969925842}"/>
              </a:ext>
            </a:extLst>
          </p:cNvPr>
          <p:cNvSpPr txBox="1"/>
          <p:nvPr/>
        </p:nvSpPr>
        <p:spPr>
          <a:xfrm>
            <a:off x="5016500" y="4560550"/>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r3 </a:t>
            </a:r>
          </a:p>
        </p:txBody>
      </p:sp>
      <p:sp>
        <p:nvSpPr>
          <p:cNvPr id="10" name="Arrow: Right 9">
            <a:extLst>
              <a:ext uri="{FF2B5EF4-FFF2-40B4-BE49-F238E27FC236}">
                <a16:creationId xmlns:a16="http://schemas.microsoft.com/office/drawing/2014/main" id="{0401EA57-66F9-3EE2-E561-2AB9C3395B7B}"/>
              </a:ext>
            </a:extLst>
          </p:cNvPr>
          <p:cNvSpPr/>
          <p:nvPr/>
        </p:nvSpPr>
        <p:spPr>
          <a:xfrm>
            <a:off x="5509075" y="4684711"/>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3">
            <a:extLst>
              <a:ext uri="{FF2B5EF4-FFF2-40B4-BE49-F238E27FC236}">
                <a16:creationId xmlns:a16="http://schemas.microsoft.com/office/drawing/2014/main" id="{45B25AD4-8787-2AE5-61C8-58C8E91AB6F9}"/>
              </a:ext>
            </a:extLst>
          </p:cNvPr>
          <p:cNvSpPr txBox="1">
            <a:spLocks/>
          </p:cNvSpPr>
          <p:nvPr/>
        </p:nvSpPr>
        <p:spPr>
          <a:xfrm>
            <a:off x="457200" y="1219200"/>
            <a:ext cx="8229600" cy="4937760"/>
          </a:xfrm>
          <a:prstGeom prst="rect">
            <a:avLst/>
          </a:prstGeom>
        </p:spPr>
        <p:txBody>
          <a:bodyPr>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b="0" dirty="0"/>
              <a:t>Assume that memory and registers r0 through r3 appear as follows. Suppose r3 = 0x8000 (for LDMDB: r3 = 0x800C). Describe the memory and register contents after executing each instruction (individually, not sequentially):</a:t>
            </a:r>
          </a:p>
          <a:p>
            <a:pPr lvl="1" fontAlgn="auto">
              <a:spcAft>
                <a:spcPts val="0"/>
              </a:spcAft>
            </a:pPr>
            <a:r>
              <a:rPr lang="en-US" b="0" dirty="0"/>
              <a:t>LDMIA r3!, {r0, r1, r2}</a:t>
            </a:r>
          </a:p>
          <a:p>
            <a:pPr lvl="1" fontAlgn="auto">
              <a:spcAft>
                <a:spcPts val="0"/>
              </a:spcAft>
            </a:pPr>
            <a:r>
              <a:rPr lang="en-US" b="0" dirty="0"/>
              <a:t>Or LDMIA r3!, {r2, r1, r0}</a:t>
            </a:r>
          </a:p>
          <a:p>
            <a:pPr lvl="1" fontAlgn="auto">
              <a:spcAft>
                <a:spcPts val="0"/>
              </a:spcAft>
            </a:pPr>
            <a:r>
              <a:rPr lang="en-US" b="0" dirty="0"/>
              <a:t>LDMDB r3!, {r0, r1, r2}</a:t>
            </a:r>
          </a:p>
        </p:txBody>
      </p:sp>
    </p:spTree>
    <p:extLst>
      <p:ext uri="{BB962C8B-B14F-4D97-AF65-F5344CB8AC3E}">
        <p14:creationId xmlns:p14="http://schemas.microsoft.com/office/powerpoint/2010/main" val="3968162788"/>
      </p:ext>
    </p:extLst>
  </p:cSld>
  <p:clrMapOvr>
    <a:masterClrMapping/>
  </p:clrMapOvr>
  <p:transition>
    <p:pull dir="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3BAC0-1ED1-3CC9-BDD8-A393E1B052E7}"/>
              </a:ext>
            </a:extLst>
          </p:cNvPr>
          <p:cNvSpPr>
            <a:spLocks noGrp="1"/>
          </p:cNvSpPr>
          <p:nvPr>
            <p:ph type="title"/>
          </p:nvPr>
        </p:nvSpPr>
        <p:spPr/>
        <p:txBody>
          <a:bodyPr/>
          <a:lstStyle/>
          <a:p>
            <a:r>
              <a:rPr lang="en-US" dirty="0"/>
              <a:t>LDM ANS</a:t>
            </a:r>
          </a:p>
        </p:txBody>
      </p:sp>
      <p:sp>
        <p:nvSpPr>
          <p:cNvPr id="3" name="Slide Number Placeholder 2">
            <a:extLst>
              <a:ext uri="{FF2B5EF4-FFF2-40B4-BE49-F238E27FC236}">
                <a16:creationId xmlns:a16="http://schemas.microsoft.com/office/drawing/2014/main" id="{AE9F51EC-3133-7DCD-D9AC-FB8A645241FC}"/>
              </a:ext>
            </a:extLst>
          </p:cNvPr>
          <p:cNvSpPr>
            <a:spLocks noGrp="1"/>
          </p:cNvSpPr>
          <p:nvPr>
            <p:ph type="sldNum" sz="quarter" idx="12"/>
          </p:nvPr>
        </p:nvSpPr>
        <p:spPr/>
        <p:txBody>
          <a:bodyPr/>
          <a:lstStyle/>
          <a:p>
            <a:fld id="{AEE14D4A-FE32-40AF-B06D-E9622816B101}" type="slidenum">
              <a:rPr lang="en-US" smtClean="0"/>
              <a:pPr/>
              <a:t>25</a:t>
            </a:fld>
            <a:endParaRPr lang="en-US"/>
          </a:p>
        </p:txBody>
      </p:sp>
      <p:graphicFrame>
        <p:nvGraphicFramePr>
          <p:cNvPr id="8" name="Table 7">
            <a:extLst>
              <a:ext uri="{FF2B5EF4-FFF2-40B4-BE49-F238E27FC236}">
                <a16:creationId xmlns:a16="http://schemas.microsoft.com/office/drawing/2014/main" id="{38E9B9C5-BA3B-C651-FA94-86C87FF6C80A}"/>
              </a:ext>
            </a:extLst>
          </p:cNvPr>
          <p:cNvGraphicFramePr>
            <a:graphicFrameLocks noGrp="1"/>
          </p:cNvGraphicFramePr>
          <p:nvPr>
            <p:extLst>
              <p:ext uri="{D42A27DB-BD31-4B8C-83A1-F6EECF244321}">
                <p14:modId xmlns:p14="http://schemas.microsoft.com/office/powerpoint/2010/main" val="3099445929"/>
              </p:ext>
            </p:extLst>
          </p:nvPr>
        </p:nvGraphicFramePr>
        <p:xfrm>
          <a:off x="5422943" y="2311933"/>
          <a:ext cx="3627621" cy="249428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0x8010</a:t>
                      </a:r>
                    </a:p>
                  </a:txBody>
                  <a:tcPr>
                    <a:noFill/>
                  </a:tcPr>
                </a:tc>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0x00000001</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0x800c</a:t>
                      </a:r>
                    </a:p>
                  </a:txBody>
                  <a:tcPr>
                    <a:noFill/>
                  </a:tcPr>
                </a:tc>
                <a:tc>
                  <a:txBody>
                    <a:bodyPr/>
                    <a:lstStyle/>
                    <a:p>
                      <a:pPr algn="ctr"/>
                      <a:r>
                        <a:rPr lang="en-US" sz="1800" dirty="0">
                          <a:latin typeface="Consolas" panose="020B0609020204030204" pitchFamily="49" charset="0"/>
                          <a:cs typeface="Consolas" panose="020B0609020204030204" pitchFamily="49" charset="0"/>
                        </a:rPr>
                        <a:t>0xFEEDDEAF</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0x8008</a:t>
                      </a:r>
                    </a:p>
                  </a:txBody>
                  <a:tcPr>
                    <a:noFill/>
                  </a:tcPr>
                </a:tc>
                <a:tc>
                  <a:txBody>
                    <a:bodyPr/>
                    <a:lstStyle/>
                    <a:p>
                      <a:pPr algn="ctr"/>
                      <a:r>
                        <a:rPr lang="en-US" sz="1800" dirty="0">
                          <a:latin typeface="Consolas" panose="020B0609020204030204" pitchFamily="49" charset="0"/>
                          <a:cs typeface="Consolas" panose="020B0609020204030204" pitchFamily="49" charset="0"/>
                        </a:rPr>
                        <a:t>0x00008888</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0x8004</a:t>
                      </a:r>
                    </a:p>
                  </a:txBody>
                  <a:tcPr>
                    <a:noFill/>
                  </a:tcPr>
                </a:tc>
                <a:tc>
                  <a:txBody>
                    <a:bodyPr/>
                    <a:lstStyle/>
                    <a:p>
                      <a:pPr algn="ctr"/>
                      <a:r>
                        <a:rPr lang="en-US" sz="1800" dirty="0">
                          <a:latin typeface="Consolas" panose="020B0609020204030204" pitchFamily="49" charset="0"/>
                          <a:cs typeface="Consolas" panose="020B0609020204030204" pitchFamily="49" charset="0"/>
                        </a:rPr>
                        <a:t>0x12340000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0x8000</a:t>
                      </a:r>
                    </a:p>
                  </a:txBody>
                  <a:tcPr>
                    <a:noFill/>
                  </a:tcPr>
                </a:tc>
                <a:tc>
                  <a:txBody>
                    <a:bodyPr/>
                    <a:lstStyle/>
                    <a:p>
                      <a:pPr algn="ctr"/>
                      <a:r>
                        <a:rPr lang="en-US" sz="1800" dirty="0">
                          <a:latin typeface="Consolas" panose="020B0609020204030204" pitchFamily="49" charset="0"/>
                          <a:cs typeface="Consolas" panose="020B0609020204030204" pitchFamily="49" charset="0"/>
                        </a:rPr>
                        <a:t>0xBABE0000</a:t>
                      </a:r>
                    </a:p>
                  </a:txBody>
                  <a:tcPr/>
                </a:tc>
                <a:extLst>
                  <a:ext uri="{0D108BD9-81ED-4DB2-BD59-A6C34878D82A}">
                    <a16:rowId xmlns:a16="http://schemas.microsoft.com/office/drawing/2014/main" val="10008"/>
                  </a:ext>
                </a:extLst>
              </a:tr>
            </a:tbl>
          </a:graphicData>
        </a:graphic>
      </p:graphicFrame>
      <p:sp>
        <p:nvSpPr>
          <p:cNvPr id="9" name="TextBox 8">
            <a:extLst>
              <a:ext uri="{FF2B5EF4-FFF2-40B4-BE49-F238E27FC236}">
                <a16:creationId xmlns:a16="http://schemas.microsoft.com/office/drawing/2014/main" id="{1CE606E0-E40B-C230-04E8-0FC3B6565AF7}"/>
              </a:ext>
            </a:extLst>
          </p:cNvPr>
          <p:cNvSpPr txBox="1"/>
          <p:nvPr/>
        </p:nvSpPr>
        <p:spPr>
          <a:xfrm>
            <a:off x="5029200" y="4395348"/>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r3 </a:t>
            </a:r>
          </a:p>
        </p:txBody>
      </p:sp>
      <p:sp>
        <p:nvSpPr>
          <p:cNvPr id="10" name="Arrow: Right 9">
            <a:extLst>
              <a:ext uri="{FF2B5EF4-FFF2-40B4-BE49-F238E27FC236}">
                <a16:creationId xmlns:a16="http://schemas.microsoft.com/office/drawing/2014/main" id="{3784F08A-CE46-3CB7-3599-5D636AB5ED5C}"/>
              </a:ext>
            </a:extLst>
          </p:cNvPr>
          <p:cNvSpPr/>
          <p:nvPr/>
        </p:nvSpPr>
        <p:spPr>
          <a:xfrm>
            <a:off x="5521775" y="4519509"/>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3">
            <a:extLst>
              <a:ext uri="{FF2B5EF4-FFF2-40B4-BE49-F238E27FC236}">
                <a16:creationId xmlns:a16="http://schemas.microsoft.com/office/drawing/2014/main" id="{6EF9D02D-5D8D-AFF6-3EFF-241315018FBE}"/>
              </a:ext>
            </a:extLst>
          </p:cNvPr>
          <p:cNvSpPr txBox="1">
            <a:spLocks/>
          </p:cNvSpPr>
          <p:nvPr/>
        </p:nvSpPr>
        <p:spPr>
          <a:xfrm>
            <a:off x="457200" y="1054100"/>
            <a:ext cx="8229600" cy="5588000"/>
          </a:xfrm>
          <a:prstGeom prst="rect">
            <a:avLst/>
          </a:prstGeom>
        </p:spPr>
        <p:txBody>
          <a:bodyPr>
            <a:normAutofit fontScale="70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b="0" dirty="0"/>
              <a:t>Assume that memory and registers r0 through r3 appear as follows. Suppose r3 = 0x8000 (for LDMDB: r3 = 0x800C). Describe the memory and register contents after executing each instruction (individually, not sequentially):</a:t>
            </a:r>
          </a:p>
          <a:p>
            <a:pPr lvl="1" fontAlgn="auto">
              <a:spcAft>
                <a:spcPts val="0"/>
              </a:spcAft>
            </a:pPr>
            <a:r>
              <a:rPr lang="en-US" b="0" dirty="0"/>
              <a:t>LDMIA r3!, {r0, r1, r2}</a:t>
            </a:r>
          </a:p>
          <a:p>
            <a:pPr lvl="1" fontAlgn="auto">
              <a:spcAft>
                <a:spcPts val="0"/>
              </a:spcAft>
            </a:pPr>
            <a:r>
              <a:rPr lang="en-US" b="0" dirty="0"/>
              <a:t>Or LDMIA r3!, {r2, r1, r0}</a:t>
            </a:r>
          </a:p>
          <a:p>
            <a:pPr fontAlgn="auto">
              <a:spcAft>
                <a:spcPts val="0"/>
              </a:spcAft>
            </a:pPr>
            <a:r>
              <a:rPr lang="en-US" b="0" dirty="0"/>
              <a:t>ANS:</a:t>
            </a:r>
          </a:p>
          <a:p>
            <a:pPr lvl="1" fontAlgn="auto">
              <a:spcAft>
                <a:spcPts val="0"/>
              </a:spcAft>
            </a:pPr>
            <a:r>
              <a:rPr lang="en-US" b="0" dirty="0"/>
              <a:t>After </a:t>
            </a:r>
            <a:r>
              <a:rPr lang="pt-BR" b="0" dirty="0"/>
              <a:t>LDMIA r3!, {r0, r1, r2}</a:t>
            </a:r>
          </a:p>
          <a:p>
            <a:pPr lvl="1" fontAlgn="auto">
              <a:spcAft>
                <a:spcPts val="0"/>
              </a:spcAft>
            </a:pPr>
            <a:r>
              <a:rPr lang="en-US" b="0" dirty="0"/>
              <a:t>r0 = 0xBABE0000 (loaded from 0x8000)</a:t>
            </a:r>
          </a:p>
          <a:p>
            <a:pPr lvl="1" fontAlgn="auto">
              <a:spcAft>
                <a:spcPts val="0"/>
              </a:spcAft>
            </a:pPr>
            <a:r>
              <a:rPr lang="en-US" b="0" dirty="0"/>
              <a:t>r1 = 0x12340000 (loaded from 0x8004)</a:t>
            </a:r>
          </a:p>
          <a:p>
            <a:pPr lvl="1" fontAlgn="auto">
              <a:spcAft>
                <a:spcPts val="0"/>
              </a:spcAft>
            </a:pPr>
            <a:r>
              <a:rPr lang="en-US" b="0" dirty="0"/>
              <a:t>r2 = 0x00008888 (loaded from 0x8008)</a:t>
            </a:r>
          </a:p>
          <a:p>
            <a:pPr lvl="1" fontAlgn="auto">
              <a:spcAft>
                <a:spcPts val="0"/>
              </a:spcAft>
            </a:pPr>
            <a:r>
              <a:rPr lang="en-US" b="0" dirty="0"/>
              <a:t>r3 = 0x800C (auto-incremented)</a:t>
            </a:r>
          </a:p>
          <a:p>
            <a:pPr lvl="1" fontAlgn="auto">
              <a:spcAft>
                <a:spcPts val="0"/>
              </a:spcAft>
            </a:pPr>
            <a:r>
              <a:rPr lang="en-US" b="0" dirty="0"/>
              <a:t>Or after LDMIA r3!, {r2, r1, r0} (same result)</a:t>
            </a:r>
          </a:p>
          <a:p>
            <a:pPr lvl="1" fontAlgn="auto">
              <a:spcAft>
                <a:spcPts val="0"/>
              </a:spcAft>
            </a:pPr>
            <a:r>
              <a:rPr lang="en-US" b="0" dirty="0"/>
              <a:t>r0 = 0xBABE0000 (loaded from 0x8000)</a:t>
            </a:r>
          </a:p>
          <a:p>
            <a:pPr lvl="1" fontAlgn="auto">
              <a:spcAft>
                <a:spcPts val="0"/>
              </a:spcAft>
            </a:pPr>
            <a:r>
              <a:rPr lang="en-US" b="0" dirty="0"/>
              <a:t>r1 = 0x12340000 (loaded from 0x8004)</a:t>
            </a:r>
          </a:p>
          <a:p>
            <a:pPr lvl="1" fontAlgn="auto">
              <a:spcAft>
                <a:spcPts val="0"/>
              </a:spcAft>
            </a:pPr>
            <a:r>
              <a:rPr lang="en-US" b="0" dirty="0"/>
              <a:t>r2 = 0x00008888 (loaded from 0x8008)</a:t>
            </a:r>
          </a:p>
          <a:p>
            <a:pPr lvl="1" fontAlgn="auto">
              <a:spcAft>
                <a:spcPts val="0"/>
              </a:spcAft>
            </a:pPr>
            <a:r>
              <a:rPr lang="en-US" b="0" dirty="0"/>
              <a:t>r3 = 0x800C (auto-incremented)</a:t>
            </a:r>
          </a:p>
          <a:p>
            <a:pPr lvl="1" fontAlgn="auto">
              <a:spcAft>
                <a:spcPts val="0"/>
              </a:spcAft>
            </a:pPr>
            <a:r>
              <a:rPr lang="en-US" b="0" dirty="0"/>
              <a:t>After LDMDB (r3 = 0x800C):</a:t>
            </a:r>
          </a:p>
          <a:p>
            <a:pPr lvl="1" fontAlgn="auto">
              <a:spcAft>
                <a:spcPts val="0"/>
              </a:spcAft>
            </a:pPr>
            <a:r>
              <a:rPr lang="en-US" b="0" dirty="0"/>
              <a:t>r0 = 0xBABE0000 (loaded from 0x8000)</a:t>
            </a:r>
          </a:p>
          <a:p>
            <a:pPr lvl="1" fontAlgn="auto">
              <a:spcAft>
                <a:spcPts val="0"/>
              </a:spcAft>
            </a:pPr>
            <a:r>
              <a:rPr lang="en-US" b="0" dirty="0"/>
              <a:t>r1 = 0x12340000 (loaded from 0x8004)</a:t>
            </a:r>
          </a:p>
          <a:p>
            <a:pPr lvl="1" fontAlgn="auto">
              <a:spcAft>
                <a:spcPts val="0"/>
              </a:spcAft>
            </a:pPr>
            <a:r>
              <a:rPr lang="en-US" b="0" dirty="0"/>
              <a:t>r2 = 0x00008888 (loaded from 0x8008)</a:t>
            </a:r>
          </a:p>
          <a:p>
            <a:pPr lvl="1" fontAlgn="auto">
              <a:spcAft>
                <a:spcPts val="0"/>
              </a:spcAft>
            </a:pPr>
            <a:r>
              <a:rPr lang="en-US" b="0" dirty="0"/>
              <a:t>r3 = 0x8000 (auto-decremented)</a:t>
            </a:r>
          </a:p>
        </p:txBody>
      </p:sp>
      <p:sp>
        <p:nvSpPr>
          <p:cNvPr id="4" name="TextBox 3">
            <a:extLst>
              <a:ext uri="{FF2B5EF4-FFF2-40B4-BE49-F238E27FC236}">
                <a16:creationId xmlns:a16="http://schemas.microsoft.com/office/drawing/2014/main" id="{2DDCD008-C81A-0FDE-1A42-D78DBFAE7B90}"/>
              </a:ext>
            </a:extLst>
          </p:cNvPr>
          <p:cNvSpPr txBox="1"/>
          <p:nvPr/>
        </p:nvSpPr>
        <p:spPr>
          <a:xfrm>
            <a:off x="4519205" y="4967784"/>
            <a:ext cx="4571999" cy="175432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b="0" dirty="0">
                <a:latin typeface="+mn-lt"/>
              </a:rPr>
              <a:t>The order in which registers are listed does not matter. For STM/LDM, the lowest-numbered register is stored/loaded at the lowest memory address. (Note that r3 is incremented by 4 (1 word) each time, not 1 byte)</a:t>
            </a:r>
          </a:p>
        </p:txBody>
      </p:sp>
    </p:spTree>
    <p:extLst>
      <p:ext uri="{BB962C8B-B14F-4D97-AF65-F5344CB8AC3E}">
        <p14:creationId xmlns:p14="http://schemas.microsoft.com/office/powerpoint/2010/main" val="3896189839"/>
      </p:ext>
    </p:extLst>
  </p:cSld>
  <p:clrMapOvr>
    <a:masterClrMapping/>
  </p:clrMapOvr>
  <p:transition>
    <p:pull dir="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9E08C-929E-B06D-9D5C-D3C07F296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1F6C3-9012-39E9-02E8-5A15294CC493}"/>
              </a:ext>
            </a:extLst>
          </p:cNvPr>
          <p:cNvSpPr>
            <a:spLocks noGrp="1"/>
          </p:cNvSpPr>
          <p:nvPr>
            <p:ph type="title"/>
          </p:nvPr>
        </p:nvSpPr>
        <p:spPr/>
        <p:txBody>
          <a:bodyPr/>
          <a:lstStyle/>
          <a:p>
            <a:r>
              <a:rPr lang="en-US" dirty="0"/>
              <a:t>LDR</a:t>
            </a:r>
          </a:p>
        </p:txBody>
      </p:sp>
      <p:sp>
        <p:nvSpPr>
          <p:cNvPr id="3" name="Slide Number Placeholder 2">
            <a:extLst>
              <a:ext uri="{FF2B5EF4-FFF2-40B4-BE49-F238E27FC236}">
                <a16:creationId xmlns:a16="http://schemas.microsoft.com/office/drawing/2014/main" id="{9AF0EF40-C94A-5BF4-DE58-F56B8F03E0C2}"/>
              </a:ext>
            </a:extLst>
          </p:cNvPr>
          <p:cNvSpPr>
            <a:spLocks noGrp="1"/>
          </p:cNvSpPr>
          <p:nvPr>
            <p:ph type="sldNum" sz="quarter" idx="12"/>
          </p:nvPr>
        </p:nvSpPr>
        <p:spPr/>
        <p:txBody>
          <a:bodyPr/>
          <a:lstStyle/>
          <a:p>
            <a:fld id="{AEE14D4A-FE32-40AF-B06D-E9622816B101}" type="slidenum">
              <a:rPr lang="en-US" smtClean="0"/>
              <a:pPr/>
              <a:t>26</a:t>
            </a:fld>
            <a:endParaRPr lang="en-US"/>
          </a:p>
        </p:txBody>
      </p:sp>
      <p:sp>
        <p:nvSpPr>
          <p:cNvPr id="4" name="Content Placeholder 3">
            <a:extLst>
              <a:ext uri="{FF2B5EF4-FFF2-40B4-BE49-F238E27FC236}">
                <a16:creationId xmlns:a16="http://schemas.microsoft.com/office/drawing/2014/main" id="{0A072226-E71C-C418-9D4C-D783EC4359F1}"/>
              </a:ext>
            </a:extLst>
          </p:cNvPr>
          <p:cNvSpPr>
            <a:spLocks noGrp="1"/>
          </p:cNvSpPr>
          <p:nvPr>
            <p:ph sz="quarter" idx="1"/>
          </p:nvPr>
        </p:nvSpPr>
        <p:spPr>
          <a:xfrm>
            <a:off x="457200" y="1219200"/>
            <a:ext cx="8229600" cy="5137150"/>
          </a:xfrm>
        </p:spPr>
        <p:txBody>
          <a:bodyPr>
            <a:normAutofit/>
          </a:bodyPr>
          <a:lstStyle/>
          <a:p>
            <a:r>
              <a:rPr lang="en-US" dirty="0"/>
              <a:t>Suppose R2 and R5 hold the values 8 and 0x23456789. After following code runs with big-endian ordering, what value is in R7? How about with little-endian ordering? (Assume Cortex-M3/M4, which allow unaligned halfword access.)</a:t>
            </a:r>
          </a:p>
          <a:p>
            <a:pPr lvl="1"/>
            <a:r>
              <a:rPr lang="en-US" dirty="0"/>
              <a:t>STR R5, [R2, #0]</a:t>
            </a:r>
          </a:p>
          <a:p>
            <a:pPr lvl="1"/>
            <a:r>
              <a:rPr lang="en-US" dirty="0"/>
              <a:t>LDRB R7, [R2, #1]</a:t>
            </a:r>
          </a:p>
          <a:p>
            <a:pPr lvl="1"/>
            <a:r>
              <a:rPr lang="en-US" dirty="0"/>
              <a:t>LDRSH R7, [R2, #1]</a:t>
            </a:r>
          </a:p>
          <a:p>
            <a:pPr lvl="1"/>
            <a:r>
              <a:rPr lang="en-US" dirty="0"/>
              <a:t>LDRSH R7, [R2, #2]</a:t>
            </a:r>
          </a:p>
        </p:txBody>
      </p:sp>
    </p:spTree>
    <p:extLst>
      <p:ext uri="{BB962C8B-B14F-4D97-AF65-F5344CB8AC3E}">
        <p14:creationId xmlns:p14="http://schemas.microsoft.com/office/powerpoint/2010/main" val="2882502133"/>
      </p:ext>
    </p:extLst>
  </p:cSld>
  <p:clrMapOvr>
    <a:masterClrMapping/>
  </p:clrMapOvr>
  <p:transition>
    <p:pull dir="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B2238-BBC0-CBBF-7810-8FBE90A0F7F6}"/>
              </a:ext>
            </a:extLst>
          </p:cNvPr>
          <p:cNvSpPr>
            <a:spLocks noGrp="1"/>
          </p:cNvSpPr>
          <p:nvPr>
            <p:ph type="title"/>
          </p:nvPr>
        </p:nvSpPr>
        <p:spPr/>
        <p:txBody>
          <a:bodyPr>
            <a:normAutofit/>
          </a:bodyPr>
          <a:lstStyle/>
          <a:p>
            <a:r>
              <a:rPr lang="en-US" dirty="0"/>
              <a:t>LDRB R7, [R2, #1] ANS</a:t>
            </a:r>
          </a:p>
        </p:txBody>
      </p:sp>
      <p:sp>
        <p:nvSpPr>
          <p:cNvPr id="4" name="Content Placeholder 3">
            <a:extLst>
              <a:ext uri="{FF2B5EF4-FFF2-40B4-BE49-F238E27FC236}">
                <a16:creationId xmlns:a16="http://schemas.microsoft.com/office/drawing/2014/main" id="{2463EDD9-B8F6-0646-18B3-CC070E8A0A43}"/>
              </a:ext>
            </a:extLst>
          </p:cNvPr>
          <p:cNvSpPr>
            <a:spLocks noGrp="1"/>
          </p:cNvSpPr>
          <p:nvPr>
            <p:ph sz="quarter" idx="1"/>
          </p:nvPr>
        </p:nvSpPr>
        <p:spPr>
          <a:xfrm>
            <a:off x="457200" y="1267161"/>
            <a:ext cx="8229600" cy="3558746"/>
          </a:xfrm>
        </p:spPr>
        <p:txBody>
          <a:bodyPr>
            <a:normAutofit fontScale="70000" lnSpcReduction="20000"/>
          </a:bodyPr>
          <a:lstStyle/>
          <a:p>
            <a:r>
              <a:rPr lang="en-US" dirty="0"/>
              <a:t>After STR R5, [R2, #0] (same as STR R5, [R2]) (detailed explanations not needed for exam):</a:t>
            </a:r>
          </a:p>
          <a:p>
            <a:pPr lvl="1"/>
            <a:r>
              <a:rPr lang="en-US" dirty="0"/>
              <a:t>Memory address R2 contains  0x23456789. STR stores a 32-bit register value to memory at base-plus-immediate without changing the base, and LDRB loads a single byte and zero-extends to 32 bits, so endianness only affects which byte resides at offset +1. </a:t>
            </a:r>
          </a:p>
          <a:p>
            <a:pPr lvl="1"/>
            <a:r>
              <a:rPr lang="en-US" dirty="0"/>
              <a:t>R2 holds 8 (base address), and R5 holds 0x23456789; first the store writes that 32-bit word to memory at address R2+0, and then a byte load reads one byte from address R2+1 into R7.</a:t>
            </a:r>
          </a:p>
          <a:p>
            <a:pPr lvl="1"/>
            <a:r>
              <a:rPr lang="en-US" dirty="0"/>
              <a:t>Big-endian: the word 0x23456789 is laid out in memory as bytes 23 45 67 89 at addresses A,  A+1,  A+2,  A+3 respectively, so LDRB R7,[R2,#1] reads </a:t>
            </a:r>
            <a:r>
              <a:rPr lang="en-US" dirty="0">
                <a:solidFill>
                  <a:srgbClr val="FF0000"/>
                </a:solidFill>
              </a:rPr>
              <a:t>0x45</a:t>
            </a:r>
            <a:r>
              <a:rPr lang="en-US" dirty="0"/>
              <a:t> and zero-extends it to R7 = </a:t>
            </a:r>
            <a:r>
              <a:rPr lang="en-US" dirty="0">
                <a:solidFill>
                  <a:srgbClr val="FF0000"/>
                </a:solidFill>
              </a:rPr>
              <a:t>0x00000045</a:t>
            </a:r>
            <a:r>
              <a:rPr lang="en-US" dirty="0"/>
              <a:t>.</a:t>
            </a:r>
          </a:p>
          <a:p>
            <a:pPr lvl="1"/>
            <a:r>
              <a:rPr lang="en-US" dirty="0"/>
              <a:t>Little-endian: the same word is laid out as 89 67 45 23 at addresses A,  A+1,  A+2,  A+3 respectively, so LDRB R7,[R2,#1] reads </a:t>
            </a:r>
            <a:r>
              <a:rPr lang="en-US" dirty="0">
                <a:solidFill>
                  <a:srgbClr val="FF0000"/>
                </a:solidFill>
              </a:rPr>
              <a:t>0x67</a:t>
            </a:r>
            <a:r>
              <a:rPr lang="en-US" dirty="0"/>
              <a:t> and zero-extends it to R7 = </a:t>
            </a:r>
            <a:r>
              <a:rPr lang="en-US" dirty="0">
                <a:solidFill>
                  <a:srgbClr val="FF0000"/>
                </a:solidFill>
              </a:rPr>
              <a:t>0x00000067</a:t>
            </a:r>
            <a:r>
              <a:rPr lang="en-US" dirty="0"/>
              <a:t>.</a:t>
            </a:r>
          </a:p>
        </p:txBody>
      </p:sp>
      <p:graphicFrame>
        <p:nvGraphicFramePr>
          <p:cNvPr id="8" name="Table 7">
            <a:extLst>
              <a:ext uri="{FF2B5EF4-FFF2-40B4-BE49-F238E27FC236}">
                <a16:creationId xmlns:a16="http://schemas.microsoft.com/office/drawing/2014/main" id="{7BD17121-F2EE-4EB2-E99B-5E4ED1E984B5}"/>
              </a:ext>
            </a:extLst>
          </p:cNvPr>
          <p:cNvGraphicFramePr>
            <a:graphicFrameLocks noGrp="1"/>
          </p:cNvGraphicFramePr>
          <p:nvPr>
            <p:extLst>
              <p:ext uri="{D42A27DB-BD31-4B8C-83A1-F6EECF244321}">
                <p14:modId xmlns:p14="http://schemas.microsoft.com/office/powerpoint/2010/main" val="39592336"/>
              </p:ext>
            </p:extLst>
          </p:nvPr>
        </p:nvGraphicFramePr>
        <p:xfrm>
          <a:off x="721634" y="4323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FF0000"/>
                          </a:solidFill>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DD348A1B-265D-FC66-3D0D-1FCF93CB8C74}"/>
              </a:ext>
            </a:extLst>
          </p:cNvPr>
          <p:cNvGraphicFramePr>
            <a:graphicFrameLocks noGrp="1"/>
          </p:cNvGraphicFramePr>
          <p:nvPr>
            <p:extLst>
              <p:ext uri="{D42A27DB-BD31-4B8C-83A1-F6EECF244321}">
                <p14:modId xmlns:p14="http://schemas.microsoft.com/office/powerpoint/2010/main" val="2728803482"/>
              </p:ext>
            </p:extLst>
          </p:nvPr>
        </p:nvGraphicFramePr>
        <p:xfrm>
          <a:off x="5027417" y="4323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FF0000"/>
                          </a:solidFill>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0CBD8A71-6858-EB63-60B1-2BCE04BF15A1}"/>
              </a:ext>
            </a:extLst>
          </p:cNvPr>
          <p:cNvSpPr txBox="1"/>
          <p:nvPr/>
        </p:nvSpPr>
        <p:spPr>
          <a:xfrm>
            <a:off x="264345" y="6195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1" name="Arrow: Right 10">
            <a:extLst>
              <a:ext uri="{FF2B5EF4-FFF2-40B4-BE49-F238E27FC236}">
                <a16:creationId xmlns:a16="http://schemas.microsoft.com/office/drawing/2014/main" id="{F431F53F-9A54-2B40-184B-D840774F8B1E}"/>
              </a:ext>
            </a:extLst>
          </p:cNvPr>
          <p:cNvSpPr/>
          <p:nvPr/>
        </p:nvSpPr>
        <p:spPr>
          <a:xfrm>
            <a:off x="756920" y="6319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B931BD9-C3E4-0025-B087-EEB521A2C46D}"/>
              </a:ext>
            </a:extLst>
          </p:cNvPr>
          <p:cNvSpPr txBox="1"/>
          <p:nvPr/>
        </p:nvSpPr>
        <p:spPr>
          <a:xfrm>
            <a:off x="4601166" y="6195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3" name="Arrow: Right 12">
            <a:extLst>
              <a:ext uri="{FF2B5EF4-FFF2-40B4-BE49-F238E27FC236}">
                <a16:creationId xmlns:a16="http://schemas.microsoft.com/office/drawing/2014/main" id="{A4CE08F2-4EA8-54EE-BF49-1DDF1427E231}"/>
              </a:ext>
            </a:extLst>
          </p:cNvPr>
          <p:cNvSpPr/>
          <p:nvPr/>
        </p:nvSpPr>
        <p:spPr>
          <a:xfrm>
            <a:off x="5093741" y="6319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34F654E-6B9A-5E4A-3FC3-CC41877EE3C7}"/>
              </a:ext>
            </a:extLst>
          </p:cNvPr>
          <p:cNvSpPr txBox="1"/>
          <p:nvPr/>
        </p:nvSpPr>
        <p:spPr>
          <a:xfrm>
            <a:off x="2192867" y="6560680"/>
            <a:ext cx="1494366" cy="338554"/>
          </a:xfrm>
          <a:prstGeom prst="rect">
            <a:avLst/>
          </a:prstGeom>
          <a:noFill/>
        </p:spPr>
        <p:txBody>
          <a:bodyPr wrap="square">
            <a:spAutoFit/>
          </a:bodyPr>
          <a:lstStyle/>
          <a:p>
            <a:r>
              <a:rPr lang="en-US" sz="1600" dirty="0"/>
              <a:t>Big-endian</a:t>
            </a:r>
          </a:p>
        </p:txBody>
      </p:sp>
      <p:sp>
        <p:nvSpPr>
          <p:cNvPr id="6" name="TextBox 5">
            <a:extLst>
              <a:ext uri="{FF2B5EF4-FFF2-40B4-BE49-F238E27FC236}">
                <a16:creationId xmlns:a16="http://schemas.microsoft.com/office/drawing/2014/main" id="{B7FB9DE7-668A-85D2-E117-93D9CBA65672}"/>
              </a:ext>
            </a:extLst>
          </p:cNvPr>
          <p:cNvSpPr txBox="1"/>
          <p:nvPr/>
        </p:nvSpPr>
        <p:spPr>
          <a:xfrm>
            <a:off x="6362700" y="6536323"/>
            <a:ext cx="1896533" cy="338554"/>
          </a:xfrm>
          <a:prstGeom prst="rect">
            <a:avLst/>
          </a:prstGeom>
          <a:noFill/>
        </p:spPr>
        <p:txBody>
          <a:bodyPr wrap="square">
            <a:spAutoFit/>
          </a:bodyPr>
          <a:lstStyle/>
          <a:p>
            <a:r>
              <a:rPr lang="en-US" sz="1600" dirty="0"/>
              <a:t>Little-endian</a:t>
            </a:r>
          </a:p>
        </p:txBody>
      </p:sp>
    </p:spTree>
    <p:extLst>
      <p:ext uri="{BB962C8B-B14F-4D97-AF65-F5344CB8AC3E}">
        <p14:creationId xmlns:p14="http://schemas.microsoft.com/office/powerpoint/2010/main" val="2664882224"/>
      </p:ext>
    </p:extLst>
  </p:cSld>
  <p:clrMapOvr>
    <a:masterClrMapping/>
  </p:clrMapOvr>
  <p:transition>
    <p:pull dir="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FC384-FFC9-52AC-1FF2-B2F5F7DDE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D04C52-29FC-2FF0-4F89-3285A82B3DAB}"/>
              </a:ext>
            </a:extLst>
          </p:cNvPr>
          <p:cNvSpPr>
            <a:spLocks noGrp="1"/>
          </p:cNvSpPr>
          <p:nvPr>
            <p:ph type="title"/>
          </p:nvPr>
        </p:nvSpPr>
        <p:spPr/>
        <p:txBody>
          <a:bodyPr>
            <a:normAutofit/>
          </a:bodyPr>
          <a:lstStyle/>
          <a:p>
            <a:r>
              <a:rPr lang="en-US" dirty="0"/>
              <a:t>LDRSH R7, [R2, #1] ANS</a:t>
            </a:r>
          </a:p>
        </p:txBody>
      </p:sp>
      <p:sp>
        <p:nvSpPr>
          <p:cNvPr id="4" name="Content Placeholder 3">
            <a:extLst>
              <a:ext uri="{FF2B5EF4-FFF2-40B4-BE49-F238E27FC236}">
                <a16:creationId xmlns:a16="http://schemas.microsoft.com/office/drawing/2014/main" id="{22D5A64C-016C-A0F2-38AF-054CBADAE79C}"/>
              </a:ext>
            </a:extLst>
          </p:cNvPr>
          <p:cNvSpPr>
            <a:spLocks noGrp="1"/>
          </p:cNvSpPr>
          <p:nvPr>
            <p:ph sz="quarter" idx="1"/>
          </p:nvPr>
        </p:nvSpPr>
        <p:spPr>
          <a:xfrm>
            <a:off x="457200" y="1143000"/>
            <a:ext cx="8229600" cy="3558746"/>
          </a:xfrm>
        </p:spPr>
        <p:txBody>
          <a:bodyPr>
            <a:normAutofit/>
          </a:bodyPr>
          <a:lstStyle/>
          <a:p>
            <a:r>
              <a:rPr lang="en-US" sz="2400" dirty="0"/>
              <a:t>ANS after LDRSH R7, [R2, #1] (unaligned address)</a:t>
            </a:r>
          </a:p>
          <a:p>
            <a:pPr lvl="1"/>
            <a:r>
              <a:rPr lang="en-US" sz="2000" dirty="0"/>
              <a:t>Big-endian: the word 0x23456789 is laid out in memory as bytes 23 45 67 89 at addresses A, A+1, A+2, A+3 respectively, so LDRSH R7, [R2, #1] reads 0x4567 and sign-extends it to R7 = 0x00004567. (Sign bit is 0 for 0x4567)</a:t>
            </a:r>
          </a:p>
          <a:p>
            <a:pPr lvl="1"/>
            <a:r>
              <a:rPr lang="en-US" sz="2000" dirty="0"/>
              <a:t>Little-endian: the same word is laid out as 89 67 45 23 at addresses A, A+1, A+2, A+3 respectively, so LDRSH R7, [R2, #1] reads 0x4567 and sign-extends it to R7 = 0x00004567. (Sign bit is 0 for 0x4567)</a:t>
            </a:r>
          </a:p>
        </p:txBody>
      </p:sp>
      <p:graphicFrame>
        <p:nvGraphicFramePr>
          <p:cNvPr id="8" name="Table 7">
            <a:extLst>
              <a:ext uri="{FF2B5EF4-FFF2-40B4-BE49-F238E27FC236}">
                <a16:creationId xmlns:a16="http://schemas.microsoft.com/office/drawing/2014/main" id="{F6C059E5-F0E5-8833-AA36-573533B7B6AE}"/>
              </a:ext>
            </a:extLst>
          </p:cNvPr>
          <p:cNvGraphicFramePr>
            <a:graphicFrameLocks noGrp="1"/>
          </p:cNvGraphicFramePr>
          <p:nvPr>
            <p:extLst>
              <p:ext uri="{D42A27DB-BD31-4B8C-83A1-F6EECF244321}">
                <p14:modId xmlns:p14="http://schemas.microsoft.com/office/powerpoint/2010/main" val="2889823835"/>
              </p:ext>
            </p:extLst>
          </p:nvPr>
        </p:nvGraphicFramePr>
        <p:xfrm>
          <a:off x="773827" y="4069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9521C1A2-D863-2E48-2394-4B8095D9FC9E}"/>
              </a:ext>
            </a:extLst>
          </p:cNvPr>
          <p:cNvGraphicFramePr>
            <a:graphicFrameLocks noGrp="1"/>
          </p:cNvGraphicFramePr>
          <p:nvPr>
            <p:extLst>
              <p:ext uri="{D42A27DB-BD31-4B8C-83A1-F6EECF244321}">
                <p14:modId xmlns:p14="http://schemas.microsoft.com/office/powerpoint/2010/main" val="1282393997"/>
              </p:ext>
            </p:extLst>
          </p:nvPr>
        </p:nvGraphicFramePr>
        <p:xfrm>
          <a:off x="5079610" y="4069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07A996FC-F93E-6EF2-A02F-BA392BF9A202}"/>
              </a:ext>
            </a:extLst>
          </p:cNvPr>
          <p:cNvSpPr txBox="1"/>
          <p:nvPr/>
        </p:nvSpPr>
        <p:spPr>
          <a:xfrm>
            <a:off x="316538" y="5941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1" name="Arrow: Right 10">
            <a:extLst>
              <a:ext uri="{FF2B5EF4-FFF2-40B4-BE49-F238E27FC236}">
                <a16:creationId xmlns:a16="http://schemas.microsoft.com/office/drawing/2014/main" id="{9303034B-1544-8514-5223-EA486A850EC3}"/>
              </a:ext>
            </a:extLst>
          </p:cNvPr>
          <p:cNvSpPr/>
          <p:nvPr/>
        </p:nvSpPr>
        <p:spPr>
          <a:xfrm>
            <a:off x="809113" y="6065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0110493-0041-BD86-E3E1-1704C9C6DDC3}"/>
              </a:ext>
            </a:extLst>
          </p:cNvPr>
          <p:cNvSpPr txBox="1"/>
          <p:nvPr/>
        </p:nvSpPr>
        <p:spPr>
          <a:xfrm>
            <a:off x="4653359" y="5941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3" name="Arrow: Right 12">
            <a:extLst>
              <a:ext uri="{FF2B5EF4-FFF2-40B4-BE49-F238E27FC236}">
                <a16:creationId xmlns:a16="http://schemas.microsoft.com/office/drawing/2014/main" id="{83CA7F24-6687-6FF3-F8F0-EDA8288DA6CA}"/>
              </a:ext>
            </a:extLst>
          </p:cNvPr>
          <p:cNvSpPr/>
          <p:nvPr/>
        </p:nvSpPr>
        <p:spPr>
          <a:xfrm>
            <a:off x="5145934" y="6065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FD606FE-9064-4146-CB67-088419A83B80}"/>
              </a:ext>
            </a:extLst>
          </p:cNvPr>
          <p:cNvSpPr txBox="1"/>
          <p:nvPr/>
        </p:nvSpPr>
        <p:spPr>
          <a:xfrm>
            <a:off x="2192867" y="6501418"/>
            <a:ext cx="1494366" cy="338554"/>
          </a:xfrm>
          <a:prstGeom prst="rect">
            <a:avLst/>
          </a:prstGeom>
          <a:noFill/>
        </p:spPr>
        <p:txBody>
          <a:bodyPr wrap="square">
            <a:spAutoFit/>
          </a:bodyPr>
          <a:lstStyle/>
          <a:p>
            <a:r>
              <a:rPr lang="en-US" sz="1600" dirty="0"/>
              <a:t>Big-endian</a:t>
            </a:r>
          </a:p>
        </p:txBody>
      </p:sp>
      <p:sp>
        <p:nvSpPr>
          <p:cNvPr id="5" name="TextBox 4">
            <a:extLst>
              <a:ext uri="{FF2B5EF4-FFF2-40B4-BE49-F238E27FC236}">
                <a16:creationId xmlns:a16="http://schemas.microsoft.com/office/drawing/2014/main" id="{BC41C636-DF55-BD12-7CF3-D5F614B3576C}"/>
              </a:ext>
            </a:extLst>
          </p:cNvPr>
          <p:cNvSpPr txBox="1"/>
          <p:nvPr/>
        </p:nvSpPr>
        <p:spPr>
          <a:xfrm>
            <a:off x="6362700" y="6477061"/>
            <a:ext cx="1896533" cy="338554"/>
          </a:xfrm>
          <a:prstGeom prst="rect">
            <a:avLst/>
          </a:prstGeom>
          <a:noFill/>
        </p:spPr>
        <p:txBody>
          <a:bodyPr wrap="square">
            <a:spAutoFit/>
          </a:bodyPr>
          <a:lstStyle/>
          <a:p>
            <a:r>
              <a:rPr lang="en-US" sz="1600" dirty="0"/>
              <a:t>Little-endian</a:t>
            </a:r>
          </a:p>
        </p:txBody>
      </p:sp>
    </p:spTree>
    <p:extLst>
      <p:ext uri="{BB962C8B-B14F-4D97-AF65-F5344CB8AC3E}">
        <p14:creationId xmlns:p14="http://schemas.microsoft.com/office/powerpoint/2010/main" val="3336550644"/>
      </p:ext>
    </p:extLst>
  </p:cSld>
  <p:clrMapOvr>
    <a:masterClrMapping/>
  </p:clrMapOvr>
  <p:transition>
    <p:pull dir="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5164D-65DE-1197-3213-5D4C9C12C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1FC6F-F86B-D4FA-4FF9-D7B46DE6EB88}"/>
              </a:ext>
            </a:extLst>
          </p:cNvPr>
          <p:cNvSpPr>
            <a:spLocks noGrp="1"/>
          </p:cNvSpPr>
          <p:nvPr>
            <p:ph type="title"/>
          </p:nvPr>
        </p:nvSpPr>
        <p:spPr/>
        <p:txBody>
          <a:bodyPr>
            <a:normAutofit/>
          </a:bodyPr>
          <a:lstStyle/>
          <a:p>
            <a:r>
              <a:rPr lang="en-US" dirty="0"/>
              <a:t>LDRSH R7, [R2, #2] ANS</a:t>
            </a:r>
          </a:p>
        </p:txBody>
      </p:sp>
      <p:sp>
        <p:nvSpPr>
          <p:cNvPr id="4" name="Content Placeholder 3">
            <a:extLst>
              <a:ext uri="{FF2B5EF4-FFF2-40B4-BE49-F238E27FC236}">
                <a16:creationId xmlns:a16="http://schemas.microsoft.com/office/drawing/2014/main" id="{F5BD1FD1-2387-26FB-4BF0-E2B12311B2D2}"/>
              </a:ext>
            </a:extLst>
          </p:cNvPr>
          <p:cNvSpPr>
            <a:spLocks noGrp="1"/>
          </p:cNvSpPr>
          <p:nvPr>
            <p:ph sz="quarter" idx="1"/>
          </p:nvPr>
        </p:nvSpPr>
        <p:spPr>
          <a:xfrm>
            <a:off x="457200" y="1143000"/>
            <a:ext cx="8229600" cy="3558746"/>
          </a:xfrm>
        </p:spPr>
        <p:txBody>
          <a:bodyPr>
            <a:normAutofit/>
          </a:bodyPr>
          <a:lstStyle/>
          <a:p>
            <a:r>
              <a:rPr lang="en-US" dirty="0"/>
              <a:t>ANS after LDRSH R7, [R2, #2]:</a:t>
            </a:r>
          </a:p>
          <a:p>
            <a:pPr lvl="1"/>
            <a:r>
              <a:rPr lang="en-US" dirty="0"/>
              <a:t>Big-endian: the word 0x23456789 is laid out in memory as bytes 23 45 67 89 at addresses A, A+1, A+2, A+3 respectively, so LDRSH R7, [R2, #2] reads 0x6789 and sign-extends it to R7 = 0x00006789. </a:t>
            </a:r>
          </a:p>
          <a:p>
            <a:pPr lvl="1"/>
            <a:r>
              <a:rPr lang="en-US" dirty="0"/>
              <a:t>Little-endian: the same word is laid out as 89 67 45 23 at addresses A, A+1, A+2, A+3 respectively, so LDRSH R7, [R2, #2] reads 0x2345 and sign-extends it to R7 = 0x00002345. </a:t>
            </a:r>
          </a:p>
          <a:p>
            <a:pPr lvl="1"/>
            <a:endParaRPr lang="en-US" dirty="0"/>
          </a:p>
        </p:txBody>
      </p:sp>
      <p:graphicFrame>
        <p:nvGraphicFramePr>
          <p:cNvPr id="8" name="Table 7">
            <a:extLst>
              <a:ext uri="{FF2B5EF4-FFF2-40B4-BE49-F238E27FC236}">
                <a16:creationId xmlns:a16="http://schemas.microsoft.com/office/drawing/2014/main" id="{A9B3120B-E6CB-D08B-C83A-65EA4EBFEEBA}"/>
              </a:ext>
            </a:extLst>
          </p:cNvPr>
          <p:cNvGraphicFramePr>
            <a:graphicFrameLocks noGrp="1"/>
          </p:cNvGraphicFramePr>
          <p:nvPr>
            <p:extLst>
              <p:ext uri="{D42A27DB-BD31-4B8C-83A1-F6EECF244321}">
                <p14:modId xmlns:p14="http://schemas.microsoft.com/office/powerpoint/2010/main" val="2373286293"/>
              </p:ext>
            </p:extLst>
          </p:nvPr>
        </p:nvGraphicFramePr>
        <p:xfrm>
          <a:off x="773827" y="42217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68A9D7B6-EE91-3397-F114-367B143D28C0}"/>
              </a:ext>
            </a:extLst>
          </p:cNvPr>
          <p:cNvGraphicFramePr>
            <a:graphicFrameLocks noGrp="1"/>
          </p:cNvGraphicFramePr>
          <p:nvPr>
            <p:extLst>
              <p:ext uri="{D42A27DB-BD31-4B8C-83A1-F6EECF244321}">
                <p14:modId xmlns:p14="http://schemas.microsoft.com/office/powerpoint/2010/main" val="1700288449"/>
              </p:ext>
            </p:extLst>
          </p:nvPr>
        </p:nvGraphicFramePr>
        <p:xfrm>
          <a:off x="5079610" y="42217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CD328998-F5A5-38ED-01EA-1EC3EF7E338A}"/>
              </a:ext>
            </a:extLst>
          </p:cNvPr>
          <p:cNvSpPr txBox="1"/>
          <p:nvPr/>
        </p:nvSpPr>
        <p:spPr>
          <a:xfrm>
            <a:off x="316538" y="60940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1" name="Arrow: Right 10">
            <a:extLst>
              <a:ext uri="{FF2B5EF4-FFF2-40B4-BE49-F238E27FC236}">
                <a16:creationId xmlns:a16="http://schemas.microsoft.com/office/drawing/2014/main" id="{87B6A0A7-7A1C-7320-C242-11989D0D0ED0}"/>
              </a:ext>
            </a:extLst>
          </p:cNvPr>
          <p:cNvSpPr/>
          <p:nvPr/>
        </p:nvSpPr>
        <p:spPr>
          <a:xfrm>
            <a:off x="809113" y="62181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64CC732-54C8-85E9-07B7-FAF0798F74AA}"/>
              </a:ext>
            </a:extLst>
          </p:cNvPr>
          <p:cNvSpPr txBox="1"/>
          <p:nvPr/>
        </p:nvSpPr>
        <p:spPr>
          <a:xfrm>
            <a:off x="4653359" y="60940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3" name="Arrow: Right 12">
            <a:extLst>
              <a:ext uri="{FF2B5EF4-FFF2-40B4-BE49-F238E27FC236}">
                <a16:creationId xmlns:a16="http://schemas.microsoft.com/office/drawing/2014/main" id="{2C9720F2-1965-B15A-E7DD-DB560229807A}"/>
              </a:ext>
            </a:extLst>
          </p:cNvPr>
          <p:cNvSpPr/>
          <p:nvPr/>
        </p:nvSpPr>
        <p:spPr>
          <a:xfrm>
            <a:off x="5145934" y="62181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B7033C2-62A3-1CC4-0EAE-BB47E6B0B7F4}"/>
              </a:ext>
            </a:extLst>
          </p:cNvPr>
          <p:cNvSpPr txBox="1"/>
          <p:nvPr/>
        </p:nvSpPr>
        <p:spPr>
          <a:xfrm>
            <a:off x="2192867" y="6543748"/>
            <a:ext cx="1494366" cy="338554"/>
          </a:xfrm>
          <a:prstGeom prst="rect">
            <a:avLst/>
          </a:prstGeom>
          <a:noFill/>
        </p:spPr>
        <p:txBody>
          <a:bodyPr wrap="square">
            <a:spAutoFit/>
          </a:bodyPr>
          <a:lstStyle/>
          <a:p>
            <a:r>
              <a:rPr lang="en-US" sz="1600" dirty="0"/>
              <a:t>Big-endian</a:t>
            </a:r>
          </a:p>
        </p:txBody>
      </p:sp>
      <p:sp>
        <p:nvSpPr>
          <p:cNvPr id="5" name="TextBox 4">
            <a:extLst>
              <a:ext uri="{FF2B5EF4-FFF2-40B4-BE49-F238E27FC236}">
                <a16:creationId xmlns:a16="http://schemas.microsoft.com/office/drawing/2014/main" id="{090BF91F-1C2A-3374-D8D9-005234D2B8E5}"/>
              </a:ext>
            </a:extLst>
          </p:cNvPr>
          <p:cNvSpPr txBox="1"/>
          <p:nvPr/>
        </p:nvSpPr>
        <p:spPr>
          <a:xfrm>
            <a:off x="6362700" y="6519391"/>
            <a:ext cx="1896533" cy="338554"/>
          </a:xfrm>
          <a:prstGeom prst="rect">
            <a:avLst/>
          </a:prstGeom>
          <a:noFill/>
        </p:spPr>
        <p:txBody>
          <a:bodyPr wrap="square">
            <a:spAutoFit/>
          </a:bodyPr>
          <a:lstStyle/>
          <a:p>
            <a:r>
              <a:rPr lang="en-US" sz="1600" dirty="0"/>
              <a:t>Little-endian</a:t>
            </a:r>
          </a:p>
        </p:txBody>
      </p:sp>
    </p:spTree>
    <p:extLst>
      <p:ext uri="{BB962C8B-B14F-4D97-AF65-F5344CB8AC3E}">
        <p14:creationId xmlns:p14="http://schemas.microsoft.com/office/powerpoint/2010/main" val="1204830540"/>
      </p:ext>
    </p:extLst>
  </p:cSld>
  <p:clrMapOvr>
    <a:masterClrMapping/>
  </p:clrMapOvr>
  <p:transition>
    <p:pull dir="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46943-56FC-4F00-B4C2-002F4BD6545D}"/>
              </a:ext>
            </a:extLst>
          </p:cNvPr>
          <p:cNvSpPr>
            <a:spLocks noGrp="1"/>
          </p:cNvSpPr>
          <p:nvPr>
            <p:ph type="title"/>
          </p:nvPr>
        </p:nvSpPr>
        <p:spPr/>
        <p:txBody>
          <a:bodyPr/>
          <a:lstStyle/>
          <a:p>
            <a:r>
              <a:rPr lang="en-US" dirty="0"/>
              <a:t>Program Understanding 1</a:t>
            </a:r>
          </a:p>
        </p:txBody>
      </p:sp>
      <p:sp>
        <p:nvSpPr>
          <p:cNvPr id="3" name="Slide Number Placeholder 2">
            <a:extLst>
              <a:ext uri="{FF2B5EF4-FFF2-40B4-BE49-F238E27FC236}">
                <a16:creationId xmlns:a16="http://schemas.microsoft.com/office/drawing/2014/main" id="{8990BACD-3920-5666-CE72-223F9F2FC606}"/>
              </a:ext>
            </a:extLst>
          </p:cNvPr>
          <p:cNvSpPr>
            <a:spLocks noGrp="1"/>
          </p:cNvSpPr>
          <p:nvPr>
            <p:ph type="sldNum" sz="quarter" idx="12"/>
          </p:nvPr>
        </p:nvSpPr>
        <p:spPr/>
        <p:txBody>
          <a:bodyPr/>
          <a:lstStyle/>
          <a:p>
            <a:fld id="{AEE14D4A-FE32-40AF-B06D-E9622816B101}" type="slidenum">
              <a:rPr lang="en-US" smtClean="0"/>
              <a:pPr/>
              <a:t>30</a:t>
            </a:fld>
            <a:endParaRPr lang="en-US"/>
          </a:p>
        </p:txBody>
      </p:sp>
      <p:graphicFrame>
        <p:nvGraphicFramePr>
          <p:cNvPr id="7" name="Content Placeholder 6">
            <a:extLst>
              <a:ext uri="{FF2B5EF4-FFF2-40B4-BE49-F238E27FC236}">
                <a16:creationId xmlns:a16="http://schemas.microsoft.com/office/drawing/2014/main" id="{921A7FA2-20A5-D70A-4C8A-128BD78BDA7C}"/>
              </a:ext>
            </a:extLst>
          </p:cNvPr>
          <p:cNvGraphicFramePr>
            <a:graphicFrameLocks noGrp="1"/>
          </p:cNvGraphicFramePr>
          <p:nvPr>
            <p:ph sz="quarter" idx="1"/>
            <p:extLst>
              <p:ext uri="{D42A27DB-BD31-4B8C-83A1-F6EECF244321}">
                <p14:modId xmlns:p14="http://schemas.microsoft.com/office/powerpoint/2010/main" val="2023997554"/>
              </p:ext>
            </p:extLst>
          </p:nvPr>
        </p:nvGraphicFramePr>
        <p:xfrm>
          <a:off x="12661" y="5145594"/>
          <a:ext cx="9117892" cy="1112520"/>
        </p:xfrm>
        <a:graphic>
          <a:graphicData uri="http://schemas.openxmlformats.org/drawingml/2006/table">
            <a:tbl>
              <a:tblPr firstRow="1" bandRow="1">
                <a:tableStyleId>{5940675A-B579-460E-94D1-54222C63F5DA}</a:tableStyleId>
              </a:tblPr>
              <a:tblGrid>
                <a:gridCol w="1562417">
                  <a:extLst>
                    <a:ext uri="{9D8B030D-6E8A-4147-A177-3AD203B41FA5}">
                      <a16:colId xmlns:a16="http://schemas.microsoft.com/office/drawing/2014/main" val="4041087470"/>
                    </a:ext>
                  </a:extLst>
                </a:gridCol>
                <a:gridCol w="472033">
                  <a:extLst>
                    <a:ext uri="{9D8B030D-6E8A-4147-A177-3AD203B41FA5}">
                      <a16:colId xmlns:a16="http://schemas.microsoft.com/office/drawing/2014/main" val="475833553"/>
                    </a:ext>
                  </a:extLst>
                </a:gridCol>
                <a:gridCol w="472033">
                  <a:extLst>
                    <a:ext uri="{9D8B030D-6E8A-4147-A177-3AD203B41FA5}">
                      <a16:colId xmlns:a16="http://schemas.microsoft.com/office/drawing/2014/main" val="3440583969"/>
                    </a:ext>
                  </a:extLst>
                </a:gridCol>
                <a:gridCol w="472033">
                  <a:extLst>
                    <a:ext uri="{9D8B030D-6E8A-4147-A177-3AD203B41FA5}">
                      <a16:colId xmlns:a16="http://schemas.microsoft.com/office/drawing/2014/main" val="3973726920"/>
                    </a:ext>
                  </a:extLst>
                </a:gridCol>
                <a:gridCol w="472033">
                  <a:extLst>
                    <a:ext uri="{9D8B030D-6E8A-4147-A177-3AD203B41FA5}">
                      <a16:colId xmlns:a16="http://schemas.microsoft.com/office/drawing/2014/main" val="1099364392"/>
                    </a:ext>
                  </a:extLst>
                </a:gridCol>
                <a:gridCol w="472033">
                  <a:extLst>
                    <a:ext uri="{9D8B030D-6E8A-4147-A177-3AD203B41FA5}">
                      <a16:colId xmlns:a16="http://schemas.microsoft.com/office/drawing/2014/main" val="598594491"/>
                    </a:ext>
                  </a:extLst>
                </a:gridCol>
                <a:gridCol w="472033">
                  <a:extLst>
                    <a:ext uri="{9D8B030D-6E8A-4147-A177-3AD203B41FA5}">
                      <a16:colId xmlns:a16="http://schemas.microsoft.com/office/drawing/2014/main" val="3299168853"/>
                    </a:ext>
                  </a:extLst>
                </a:gridCol>
                <a:gridCol w="472033">
                  <a:extLst>
                    <a:ext uri="{9D8B030D-6E8A-4147-A177-3AD203B41FA5}">
                      <a16:colId xmlns:a16="http://schemas.microsoft.com/office/drawing/2014/main" val="3639377261"/>
                    </a:ext>
                  </a:extLst>
                </a:gridCol>
                <a:gridCol w="472033">
                  <a:extLst>
                    <a:ext uri="{9D8B030D-6E8A-4147-A177-3AD203B41FA5}">
                      <a16:colId xmlns:a16="http://schemas.microsoft.com/office/drawing/2014/main" val="2095656865"/>
                    </a:ext>
                  </a:extLst>
                </a:gridCol>
                <a:gridCol w="474980">
                  <a:extLst>
                    <a:ext uri="{9D8B030D-6E8A-4147-A177-3AD203B41FA5}">
                      <a16:colId xmlns:a16="http://schemas.microsoft.com/office/drawing/2014/main" val="2172498307"/>
                    </a:ext>
                  </a:extLst>
                </a:gridCol>
                <a:gridCol w="472033">
                  <a:extLst>
                    <a:ext uri="{9D8B030D-6E8A-4147-A177-3AD203B41FA5}">
                      <a16:colId xmlns:a16="http://schemas.microsoft.com/office/drawing/2014/main" val="3928751653"/>
                    </a:ext>
                  </a:extLst>
                </a:gridCol>
                <a:gridCol w="472033">
                  <a:extLst>
                    <a:ext uri="{9D8B030D-6E8A-4147-A177-3AD203B41FA5}">
                      <a16:colId xmlns:a16="http://schemas.microsoft.com/office/drawing/2014/main" val="1178522413"/>
                    </a:ext>
                  </a:extLst>
                </a:gridCol>
                <a:gridCol w="472033">
                  <a:extLst>
                    <a:ext uri="{9D8B030D-6E8A-4147-A177-3AD203B41FA5}">
                      <a16:colId xmlns:a16="http://schemas.microsoft.com/office/drawing/2014/main" val="4096721898"/>
                    </a:ext>
                  </a:extLst>
                </a:gridCol>
                <a:gridCol w="472033">
                  <a:extLst>
                    <a:ext uri="{9D8B030D-6E8A-4147-A177-3AD203B41FA5}">
                      <a16:colId xmlns:a16="http://schemas.microsoft.com/office/drawing/2014/main" val="1208970794"/>
                    </a:ext>
                  </a:extLst>
                </a:gridCol>
                <a:gridCol w="472033">
                  <a:extLst>
                    <a:ext uri="{9D8B030D-6E8A-4147-A177-3AD203B41FA5}">
                      <a16:colId xmlns:a16="http://schemas.microsoft.com/office/drawing/2014/main" val="2430138671"/>
                    </a:ext>
                  </a:extLst>
                </a:gridCol>
                <a:gridCol w="472033">
                  <a:extLst>
                    <a:ext uri="{9D8B030D-6E8A-4147-A177-3AD203B41FA5}">
                      <a16:colId xmlns:a16="http://schemas.microsoft.com/office/drawing/2014/main" val="2553032553"/>
                    </a:ext>
                  </a:extLst>
                </a:gridCol>
                <a:gridCol w="472033">
                  <a:extLst>
                    <a:ext uri="{9D8B030D-6E8A-4147-A177-3AD203B41FA5}">
                      <a16:colId xmlns:a16="http://schemas.microsoft.com/office/drawing/2014/main" val="247236167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0x10000200</a:t>
                      </a:r>
                    </a:p>
                  </a:txBody>
                  <a:tcPr/>
                </a:tc>
                <a:tc>
                  <a:txBody>
                    <a:bodyPr/>
                    <a:lstStyle/>
                    <a:p>
                      <a:pPr algn="ctr"/>
                      <a:r>
                        <a:rPr lang="en-US" dirty="0"/>
                        <a:t>60</a:t>
                      </a: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EE</a:t>
                      </a:r>
                    </a:p>
                  </a:txBody>
                  <a:tcPr/>
                </a:tc>
                <a:tc>
                  <a:txBody>
                    <a:bodyPr/>
                    <a:lstStyle/>
                    <a:p>
                      <a:pPr marL="0" algn="ctr" rtl="0" eaLnBrk="1" latinLnBrk="0" hangingPunct="1"/>
                      <a:r>
                        <a:rPr kumimoji="0" lang="en-US" kern="1200" dirty="0">
                          <a:solidFill>
                            <a:schemeClr val="tx1"/>
                          </a:solidFill>
                          <a:latin typeface="+mn-lt"/>
                          <a:ea typeface="+mn-ea"/>
                          <a:cs typeface="+mn-cs"/>
                        </a:rPr>
                        <a:t>FF</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22</a:t>
                      </a:r>
                    </a:p>
                  </a:txBody>
                  <a:tcPr/>
                </a:tc>
                <a:tc>
                  <a:txBody>
                    <a:bodyPr/>
                    <a:lstStyle/>
                    <a:p>
                      <a:pPr marL="0" algn="ctr" rtl="0" eaLnBrk="1" latinLnBrk="0" hangingPunct="1"/>
                      <a:r>
                        <a:rPr kumimoji="0" lang="en-US" kern="1200" dirty="0">
                          <a:solidFill>
                            <a:schemeClr val="tx1"/>
                          </a:solidFill>
                          <a:latin typeface="+mn-lt"/>
                          <a:ea typeface="+mn-ea"/>
                          <a:cs typeface="+mn-cs"/>
                        </a:rPr>
                        <a:t>33</a:t>
                      </a:r>
                    </a:p>
                  </a:txBody>
                  <a:tcPr/>
                </a:tc>
                <a:tc>
                  <a:txBody>
                    <a:bodyPr/>
                    <a:lstStyle/>
                    <a:p>
                      <a:pPr marL="0" algn="ctr" rtl="0" eaLnBrk="1" latinLnBrk="0" hangingPunct="1"/>
                      <a:r>
                        <a:rPr kumimoji="0" lang="en-US" kern="1200" dirty="0">
                          <a:solidFill>
                            <a:schemeClr val="tx1"/>
                          </a:solidFill>
                          <a:latin typeface="+mn-lt"/>
                          <a:ea typeface="+mn-ea"/>
                          <a:cs typeface="+mn-cs"/>
                        </a:rPr>
                        <a:t>44</a:t>
                      </a:r>
                    </a:p>
                  </a:txBody>
                  <a:tcPr/>
                </a:tc>
                <a:tc>
                  <a:txBody>
                    <a:bodyPr/>
                    <a:lstStyle/>
                    <a:p>
                      <a:pPr marL="0" algn="ctr" rtl="0" eaLnBrk="1" latinLnBrk="0" hangingPunct="1"/>
                      <a:r>
                        <a:rPr kumimoji="0" lang="en-US" kern="1200" dirty="0">
                          <a:solidFill>
                            <a:schemeClr val="tx1"/>
                          </a:solidFill>
                          <a:latin typeface="+mn-lt"/>
                          <a:ea typeface="+mn-ea"/>
                          <a:cs typeface="+mn-cs"/>
                        </a:rPr>
                        <a:t>55</a:t>
                      </a:r>
                    </a:p>
                  </a:txBody>
                  <a:tcPr/>
                </a:tc>
                <a:tc>
                  <a:txBody>
                    <a:bodyPr/>
                    <a:lstStyle/>
                    <a:p>
                      <a:pPr marL="0" algn="ctr" rtl="0" eaLnBrk="1" latinLnBrk="0" hangingPunct="1"/>
                      <a:r>
                        <a:rPr kumimoji="0" lang="en-US" kern="1200" dirty="0">
                          <a:solidFill>
                            <a:schemeClr val="tx1"/>
                          </a:solidFill>
                          <a:latin typeface="+mn-lt"/>
                          <a:ea typeface="+mn-ea"/>
                          <a:cs typeface="+mn-cs"/>
                        </a:rPr>
                        <a:t>66</a:t>
                      </a:r>
                    </a:p>
                  </a:txBody>
                  <a:tcPr/>
                </a:tc>
                <a:tc>
                  <a:txBody>
                    <a:bodyPr/>
                    <a:lstStyle/>
                    <a:p>
                      <a:pPr marL="0" algn="ctr" rtl="0" eaLnBrk="1" latinLnBrk="0" hangingPunct="1"/>
                      <a:r>
                        <a:rPr kumimoji="0" lang="en-US" kern="1200" dirty="0">
                          <a:solidFill>
                            <a:schemeClr val="tx1"/>
                          </a:solidFill>
                          <a:latin typeface="+mn-lt"/>
                          <a:ea typeface="+mn-ea"/>
                          <a:cs typeface="+mn-cs"/>
                        </a:rPr>
                        <a:t>77</a:t>
                      </a:r>
                    </a:p>
                  </a:txBody>
                  <a:tcPr/>
                </a:tc>
                <a:tc>
                  <a:txBody>
                    <a:bodyPr/>
                    <a:lstStyle/>
                    <a:p>
                      <a:pPr marL="0" algn="ctr" rtl="0" eaLnBrk="1" latinLnBrk="0" hangingPunct="1"/>
                      <a:r>
                        <a:rPr kumimoji="0" lang="en-US" kern="1200" dirty="0">
                          <a:solidFill>
                            <a:schemeClr val="tx1"/>
                          </a:solidFill>
                          <a:latin typeface="+mn-lt"/>
                          <a:ea typeface="+mn-ea"/>
                          <a:cs typeface="+mn-cs"/>
                        </a:rPr>
                        <a:t>88</a:t>
                      </a:r>
                    </a:p>
                  </a:txBody>
                  <a:tcPr/>
                </a:tc>
                <a:tc>
                  <a:txBody>
                    <a:bodyPr/>
                    <a:lstStyle/>
                    <a:p>
                      <a:pPr marL="0" algn="ctr" rtl="0" eaLnBrk="1" latinLnBrk="0" hangingPunct="1"/>
                      <a:r>
                        <a:rPr kumimoji="0" lang="en-US" kern="1200" dirty="0">
                          <a:solidFill>
                            <a:schemeClr val="tx1"/>
                          </a:solidFill>
                          <a:latin typeface="+mn-lt"/>
                          <a:ea typeface="+mn-ea"/>
                          <a:cs typeface="+mn-cs"/>
                        </a:rPr>
                        <a:t>99</a:t>
                      </a:r>
                    </a:p>
                  </a:txBody>
                  <a:tcPr/>
                </a:tc>
                <a:tc>
                  <a:txBody>
                    <a:bodyPr/>
                    <a:lstStyle/>
                    <a:p>
                      <a:pPr marL="0" algn="ctr" rtl="0" eaLnBrk="1" latinLnBrk="0" hangingPunct="1"/>
                      <a:r>
                        <a:rPr kumimoji="0" lang="en-US" kern="1200" dirty="0">
                          <a:solidFill>
                            <a:schemeClr val="tx1"/>
                          </a:solidFill>
                          <a:latin typeface="+mn-lt"/>
                          <a:ea typeface="+mn-ea"/>
                          <a:cs typeface="+mn-cs"/>
                        </a:rPr>
                        <a:t>92</a:t>
                      </a:r>
                    </a:p>
                  </a:txBody>
                  <a:tcPr/>
                </a:tc>
                <a:extLst>
                  <a:ext uri="{0D108BD9-81ED-4DB2-BD59-A6C34878D82A}">
                    <a16:rowId xmlns:a16="http://schemas.microsoft.com/office/drawing/2014/main" val="972262183"/>
                  </a:ext>
                </a:extLst>
              </a:tr>
              <a:tr h="370840">
                <a:tc>
                  <a:txBody>
                    <a:bodyPr/>
                    <a:lstStyle/>
                    <a:p>
                      <a:pPr algn="ctr"/>
                      <a:r>
                        <a:rPr lang="en-US" sz="1800" b="0" dirty="0">
                          <a:latin typeface="Consolas" panose="020B0609020204030204" pitchFamily="49" charset="0"/>
                          <a:cs typeface="Consolas" panose="020B0609020204030204" pitchFamily="49" charset="0"/>
                        </a:rPr>
                        <a:t>0x100001F0</a:t>
                      </a:r>
                      <a:endParaRPr lang="en-US" dirty="0"/>
                    </a:p>
                  </a:txBody>
                  <a:tcPr/>
                </a:tc>
                <a:tc>
                  <a:txBody>
                    <a:bodyPr/>
                    <a:lstStyle/>
                    <a:p>
                      <a:pPr algn="ctr"/>
                      <a:r>
                        <a:rPr lang="en-US" dirty="0"/>
                        <a:t>10</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13</a:t>
                      </a:r>
                    </a:p>
                  </a:txBody>
                  <a:tcPr/>
                </a:tc>
                <a:tc>
                  <a:txBody>
                    <a:bodyPr/>
                    <a:lstStyle/>
                    <a:p>
                      <a:pPr marL="0" algn="ctr" rtl="0" eaLnBrk="1" latinLnBrk="0" hangingPunct="1"/>
                      <a:r>
                        <a:rPr kumimoji="0" lang="en-US" kern="1200" dirty="0">
                          <a:solidFill>
                            <a:schemeClr val="tx1"/>
                          </a:solidFill>
                          <a:latin typeface="+mn-lt"/>
                          <a:ea typeface="+mn-ea"/>
                          <a:cs typeface="+mn-cs"/>
                        </a:rPr>
                        <a:t>14</a:t>
                      </a:r>
                    </a:p>
                  </a:txBody>
                  <a:tcPr/>
                </a:tc>
                <a:tc>
                  <a:txBody>
                    <a:bodyPr/>
                    <a:lstStyle/>
                    <a:p>
                      <a:pPr marL="0" algn="ctr" rtl="0" eaLnBrk="1" latinLnBrk="0" hangingPunct="1"/>
                      <a:r>
                        <a:rPr kumimoji="0" lang="en-US" kern="1200" dirty="0">
                          <a:solidFill>
                            <a:schemeClr val="tx1"/>
                          </a:solidFill>
                          <a:latin typeface="+mn-lt"/>
                          <a:ea typeface="+mn-ea"/>
                          <a:cs typeface="+mn-cs"/>
                        </a:rPr>
                        <a:t>15</a:t>
                      </a:r>
                    </a:p>
                  </a:txBody>
                  <a:tcPr/>
                </a:tc>
                <a:tc>
                  <a:txBody>
                    <a:bodyPr/>
                    <a:lstStyle/>
                    <a:p>
                      <a:pPr marL="0" algn="ctr" rtl="0" eaLnBrk="1" latinLnBrk="0" hangingPunct="1"/>
                      <a:r>
                        <a:rPr kumimoji="0" lang="en-US" kern="1200" dirty="0">
                          <a:solidFill>
                            <a:schemeClr val="tx1"/>
                          </a:solidFill>
                          <a:latin typeface="+mn-lt"/>
                          <a:ea typeface="+mn-ea"/>
                          <a:cs typeface="+mn-cs"/>
                        </a:rPr>
                        <a:t>16</a:t>
                      </a:r>
                    </a:p>
                  </a:txBody>
                  <a:tcPr/>
                </a:tc>
                <a:tc>
                  <a:txBody>
                    <a:bodyPr/>
                    <a:lstStyle/>
                    <a:p>
                      <a:pPr marL="0" algn="ctr" rtl="0" eaLnBrk="1" latinLnBrk="0" hangingPunct="1"/>
                      <a:r>
                        <a:rPr kumimoji="0" lang="en-US" kern="1200" dirty="0">
                          <a:solidFill>
                            <a:schemeClr val="tx1"/>
                          </a:solidFill>
                          <a:latin typeface="+mn-lt"/>
                          <a:ea typeface="+mn-ea"/>
                          <a:cs typeface="+mn-cs"/>
                        </a:rPr>
                        <a:t>17</a:t>
                      </a:r>
                    </a:p>
                  </a:txBody>
                  <a:tcPr/>
                </a:tc>
                <a:tc>
                  <a:txBody>
                    <a:bodyPr/>
                    <a:lstStyle/>
                    <a:p>
                      <a:pPr marL="0" algn="ctr" rtl="0" eaLnBrk="1" latinLnBrk="0" hangingPunct="1"/>
                      <a:r>
                        <a:rPr kumimoji="0" lang="en-US" kern="1200" dirty="0">
                          <a:solidFill>
                            <a:schemeClr val="tx1"/>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19</a:t>
                      </a:r>
                    </a:p>
                  </a:txBody>
                  <a:tcPr/>
                </a:tc>
                <a:tc>
                  <a:txBody>
                    <a:bodyPr/>
                    <a:lstStyle/>
                    <a:p>
                      <a:pPr marL="0" algn="ctr" rtl="0" eaLnBrk="1" latinLnBrk="0" hangingPunct="1"/>
                      <a:r>
                        <a:rPr kumimoji="0" lang="en-US" kern="1200" dirty="0">
                          <a:solidFill>
                            <a:schemeClr val="tx1"/>
                          </a:solidFill>
                          <a:latin typeface="+mn-lt"/>
                          <a:ea typeface="+mn-ea"/>
                          <a:cs typeface="+mn-cs"/>
                        </a:rPr>
                        <a:t>1</a:t>
                      </a:r>
                      <a:r>
                        <a:rPr kumimoji="0" lang="en-US" altLang="zh-CN" kern="1200" dirty="0">
                          <a:solidFill>
                            <a:schemeClr val="tx1"/>
                          </a:solidFill>
                          <a:latin typeface="+mn-lt"/>
                          <a:ea typeface="+mn-ea"/>
                          <a:cs typeface="+mn-cs"/>
                        </a:rPr>
                        <a:t>A</a:t>
                      </a:r>
                      <a:endParaRPr kumimoji="0" lang="en-US" kern="1200" dirty="0">
                        <a:solidFill>
                          <a:schemeClr val="tx1"/>
                        </a:solidFill>
                        <a:latin typeface="+mn-lt"/>
                        <a:ea typeface="+mn-ea"/>
                        <a:cs typeface="+mn-cs"/>
                      </a:endParaRP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1C</a:t>
                      </a:r>
                    </a:p>
                  </a:txBody>
                  <a:tcPr/>
                </a:tc>
                <a:tc>
                  <a:txBody>
                    <a:bodyPr/>
                    <a:lstStyle/>
                    <a:p>
                      <a:pPr marL="0" algn="ctr" rtl="0" eaLnBrk="1" latinLnBrk="0" hangingPunct="1"/>
                      <a:r>
                        <a:rPr kumimoji="0" lang="en-US" kern="1200" dirty="0">
                          <a:solidFill>
                            <a:schemeClr val="tx1"/>
                          </a:solidFill>
                          <a:latin typeface="+mn-lt"/>
                          <a:ea typeface="+mn-ea"/>
                          <a:cs typeface="+mn-cs"/>
                        </a:rPr>
                        <a:t>1D</a:t>
                      </a:r>
                    </a:p>
                  </a:txBody>
                  <a:tcPr/>
                </a:tc>
                <a:tc>
                  <a:txBody>
                    <a:bodyPr/>
                    <a:lstStyle/>
                    <a:p>
                      <a:pPr marL="0" algn="ctr" rtl="0" eaLnBrk="1" latinLnBrk="0" hangingPunct="1"/>
                      <a:r>
                        <a:rPr kumimoji="0" lang="en-US" kern="1200" dirty="0">
                          <a:solidFill>
                            <a:schemeClr val="tx1"/>
                          </a:solidFill>
                          <a:latin typeface="+mn-lt"/>
                          <a:ea typeface="+mn-ea"/>
                          <a:cs typeface="+mn-cs"/>
                        </a:rPr>
                        <a:t>1E</a:t>
                      </a:r>
                    </a:p>
                  </a:txBody>
                  <a:tcPr/>
                </a:tc>
                <a:tc>
                  <a:txBody>
                    <a:bodyPr/>
                    <a:lstStyle/>
                    <a:p>
                      <a:pPr marL="0" algn="ctr" rtl="0" eaLnBrk="1" latinLnBrk="0" hangingPunct="1"/>
                      <a:r>
                        <a:rPr kumimoji="0" lang="en-US" kern="1200" dirty="0">
                          <a:solidFill>
                            <a:schemeClr val="tx1"/>
                          </a:solidFill>
                          <a:latin typeface="+mn-lt"/>
                          <a:ea typeface="+mn-ea"/>
                          <a:cs typeface="+mn-cs"/>
                        </a:rPr>
                        <a:t>1F</a:t>
                      </a:r>
                    </a:p>
                  </a:txBody>
                  <a:tcPr/>
                </a:tc>
                <a:extLst>
                  <a:ext uri="{0D108BD9-81ED-4DB2-BD59-A6C34878D82A}">
                    <a16:rowId xmlns:a16="http://schemas.microsoft.com/office/drawing/2014/main" val="1568566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0x100001E0</a:t>
                      </a:r>
                    </a:p>
                  </a:txBody>
                  <a:tcPr/>
                </a:tc>
                <a:tc>
                  <a:txBody>
                    <a:bodyPr/>
                    <a:lstStyle/>
                    <a:p>
                      <a:pPr algn="ctr"/>
                      <a:r>
                        <a:rPr lang="en-US" dirty="0"/>
                        <a:t>00</a:t>
                      </a:r>
                    </a:p>
                  </a:txBody>
                  <a:tcPr/>
                </a:tc>
                <a:tc>
                  <a:txBody>
                    <a:bodyPr/>
                    <a:lstStyle/>
                    <a:p>
                      <a:pPr marL="0" algn="ctr" rtl="0" eaLnBrk="1" latinLnBrk="0" hangingPunct="1"/>
                      <a:r>
                        <a:rPr kumimoji="0" lang="en-US" kern="1200" dirty="0">
                          <a:solidFill>
                            <a:schemeClr val="tx1"/>
                          </a:solidFill>
                          <a:latin typeface="+mn-lt"/>
                          <a:ea typeface="+mn-ea"/>
                          <a:cs typeface="+mn-cs"/>
                        </a:rPr>
                        <a:t>01</a:t>
                      </a:r>
                    </a:p>
                  </a:txBody>
                  <a:tcPr/>
                </a:tc>
                <a:tc>
                  <a:txBody>
                    <a:bodyPr/>
                    <a:lstStyle/>
                    <a:p>
                      <a:pPr marL="0" algn="ctr" rtl="0" eaLnBrk="1" latinLnBrk="0" hangingPunct="1"/>
                      <a:r>
                        <a:rPr kumimoji="0" lang="en-US" kern="1200" dirty="0">
                          <a:solidFill>
                            <a:schemeClr val="tx1"/>
                          </a:solidFill>
                          <a:latin typeface="+mn-lt"/>
                          <a:ea typeface="+mn-ea"/>
                          <a:cs typeface="+mn-cs"/>
                        </a:rPr>
                        <a:t>02</a:t>
                      </a:r>
                    </a:p>
                  </a:txBody>
                  <a:tcPr/>
                </a:tc>
                <a:tc>
                  <a:txBody>
                    <a:bodyPr/>
                    <a:lstStyle/>
                    <a:p>
                      <a:pPr marL="0" algn="ctr" rtl="0" eaLnBrk="1" latinLnBrk="0" hangingPunct="1"/>
                      <a:r>
                        <a:rPr kumimoji="0" lang="en-US" kern="1200" dirty="0">
                          <a:solidFill>
                            <a:schemeClr val="tx1"/>
                          </a:solidFill>
                          <a:latin typeface="+mn-lt"/>
                          <a:ea typeface="+mn-ea"/>
                          <a:cs typeface="+mn-cs"/>
                        </a:rPr>
                        <a:t>03</a:t>
                      </a:r>
                    </a:p>
                  </a:txBody>
                  <a:tcPr/>
                </a:tc>
                <a:tc>
                  <a:txBody>
                    <a:bodyPr/>
                    <a:lstStyle/>
                    <a:p>
                      <a:pPr marL="0" algn="ctr" rtl="0" eaLnBrk="1" latinLnBrk="0" hangingPunct="1"/>
                      <a:r>
                        <a:rPr kumimoji="0" lang="en-US" kern="1200" dirty="0">
                          <a:solidFill>
                            <a:schemeClr val="tx1"/>
                          </a:solidFill>
                          <a:latin typeface="+mn-lt"/>
                          <a:ea typeface="+mn-ea"/>
                          <a:cs typeface="+mn-cs"/>
                        </a:rPr>
                        <a:t>04</a:t>
                      </a:r>
                    </a:p>
                  </a:txBody>
                  <a:tcPr/>
                </a:tc>
                <a:tc>
                  <a:txBody>
                    <a:bodyPr/>
                    <a:lstStyle/>
                    <a:p>
                      <a:pPr marL="0" algn="ctr" rtl="0" eaLnBrk="1" latinLnBrk="0" hangingPunct="1"/>
                      <a:r>
                        <a:rPr kumimoji="0" lang="en-US" kern="1200" dirty="0">
                          <a:solidFill>
                            <a:schemeClr val="tx1"/>
                          </a:solidFill>
                          <a:latin typeface="+mn-lt"/>
                          <a:ea typeface="+mn-ea"/>
                          <a:cs typeface="+mn-cs"/>
                        </a:rPr>
                        <a:t>05</a:t>
                      </a:r>
                    </a:p>
                  </a:txBody>
                  <a:tcPr/>
                </a:tc>
                <a:tc>
                  <a:txBody>
                    <a:bodyPr/>
                    <a:lstStyle/>
                    <a:p>
                      <a:pPr marL="0" algn="ctr" rtl="0" eaLnBrk="1" latinLnBrk="0" hangingPunct="1"/>
                      <a:r>
                        <a:rPr kumimoji="0" lang="en-US" kern="1200" dirty="0">
                          <a:solidFill>
                            <a:schemeClr val="tx1"/>
                          </a:solidFill>
                          <a:latin typeface="+mn-lt"/>
                          <a:ea typeface="+mn-ea"/>
                          <a:cs typeface="+mn-cs"/>
                        </a:rPr>
                        <a:t>06</a:t>
                      </a:r>
                    </a:p>
                  </a:txBody>
                  <a:tcPr/>
                </a:tc>
                <a:tc>
                  <a:txBody>
                    <a:bodyPr/>
                    <a:lstStyle/>
                    <a:p>
                      <a:pPr marL="0" algn="ctr" rtl="0" eaLnBrk="1" latinLnBrk="0" hangingPunct="1"/>
                      <a:r>
                        <a:rPr kumimoji="0" lang="en-US" kern="1200" dirty="0">
                          <a:solidFill>
                            <a:schemeClr val="tx1"/>
                          </a:solidFill>
                          <a:latin typeface="+mn-lt"/>
                          <a:ea typeface="+mn-ea"/>
                          <a:cs typeface="+mn-cs"/>
                        </a:rPr>
                        <a:t>07</a:t>
                      </a:r>
                    </a:p>
                  </a:txBody>
                  <a:tcPr/>
                </a:tc>
                <a:tc>
                  <a:txBody>
                    <a:bodyPr/>
                    <a:lstStyle/>
                    <a:p>
                      <a:pPr marL="0" algn="ctr" rtl="0" eaLnBrk="1" latinLnBrk="0" hangingPunct="1"/>
                      <a:r>
                        <a:rPr kumimoji="0" lang="en-US" kern="1200" dirty="0">
                          <a:solidFill>
                            <a:schemeClr val="tx1"/>
                          </a:solidFill>
                          <a:latin typeface="+mn-lt"/>
                          <a:ea typeface="+mn-ea"/>
                          <a:cs typeface="+mn-cs"/>
                        </a:rPr>
                        <a:t>08</a:t>
                      </a:r>
                    </a:p>
                  </a:txBody>
                  <a:tcPr/>
                </a:tc>
                <a:tc>
                  <a:txBody>
                    <a:bodyPr/>
                    <a:lstStyle/>
                    <a:p>
                      <a:pPr marL="0" algn="ctr" rtl="0" eaLnBrk="1" latinLnBrk="0" hangingPunct="1"/>
                      <a:r>
                        <a:rPr kumimoji="0" lang="en-US" kern="1200" dirty="0">
                          <a:solidFill>
                            <a:schemeClr val="tx1"/>
                          </a:solidFill>
                          <a:latin typeface="+mn-lt"/>
                          <a:ea typeface="+mn-ea"/>
                          <a:cs typeface="+mn-cs"/>
                        </a:rPr>
                        <a:t>09</a:t>
                      </a:r>
                    </a:p>
                  </a:txBody>
                  <a:tcPr/>
                </a:tc>
                <a:tc>
                  <a:txBody>
                    <a:bodyPr/>
                    <a:lstStyle/>
                    <a:p>
                      <a:pPr marL="0" algn="ctr" rtl="0" eaLnBrk="1" latinLnBrk="0" hangingPunct="1"/>
                      <a:r>
                        <a:rPr kumimoji="0" lang="en-US" kern="1200" dirty="0">
                          <a:solidFill>
                            <a:schemeClr val="tx1"/>
                          </a:solidFill>
                          <a:latin typeface="+mn-lt"/>
                          <a:ea typeface="+mn-ea"/>
                          <a:cs typeface="+mn-cs"/>
                        </a:rPr>
                        <a:t>0A</a:t>
                      </a:r>
                    </a:p>
                  </a:txBody>
                  <a:tcPr/>
                </a:tc>
                <a:tc>
                  <a:txBody>
                    <a:bodyPr/>
                    <a:lstStyle/>
                    <a:p>
                      <a:pPr marL="0" algn="ctr" rtl="0" eaLnBrk="1" latinLnBrk="0" hangingPunct="1"/>
                      <a:r>
                        <a:rPr kumimoji="0" lang="en-US" kern="1200" dirty="0">
                          <a:solidFill>
                            <a:schemeClr val="tx1"/>
                          </a:solidFill>
                          <a:latin typeface="+mn-lt"/>
                          <a:ea typeface="+mn-ea"/>
                          <a:cs typeface="+mn-cs"/>
                        </a:rPr>
                        <a:t>0B</a:t>
                      </a:r>
                    </a:p>
                  </a:txBody>
                  <a:tcPr/>
                </a:tc>
                <a:tc>
                  <a:txBody>
                    <a:bodyPr/>
                    <a:lstStyle/>
                    <a:p>
                      <a:pPr marL="0" algn="ctr" rtl="0" eaLnBrk="1" latinLnBrk="0" hangingPunct="1"/>
                      <a:r>
                        <a:rPr kumimoji="0" lang="en-US" kern="1200" dirty="0">
                          <a:solidFill>
                            <a:schemeClr val="tx1"/>
                          </a:solidFill>
                          <a:latin typeface="+mn-lt"/>
                          <a:ea typeface="+mn-ea"/>
                          <a:cs typeface="+mn-cs"/>
                        </a:rPr>
                        <a:t>0C</a:t>
                      </a:r>
                    </a:p>
                  </a:txBody>
                  <a:tcPr/>
                </a:tc>
                <a:tc>
                  <a:txBody>
                    <a:bodyPr/>
                    <a:lstStyle/>
                    <a:p>
                      <a:pPr marL="0" algn="ctr" rtl="0" eaLnBrk="1" latinLnBrk="0" hangingPunct="1"/>
                      <a:r>
                        <a:rPr kumimoji="0" lang="en-US" kern="1200" dirty="0">
                          <a:solidFill>
                            <a:schemeClr val="tx1"/>
                          </a:solidFill>
                          <a:latin typeface="+mn-lt"/>
                          <a:ea typeface="+mn-ea"/>
                          <a:cs typeface="+mn-cs"/>
                        </a:rPr>
                        <a:t>0D</a:t>
                      </a:r>
                    </a:p>
                  </a:txBody>
                  <a:tcPr/>
                </a:tc>
                <a:tc>
                  <a:txBody>
                    <a:bodyPr/>
                    <a:lstStyle/>
                    <a:p>
                      <a:pPr marL="0" algn="ctr" rtl="0" eaLnBrk="1" latinLnBrk="0" hangingPunct="1"/>
                      <a:r>
                        <a:rPr kumimoji="0" lang="en-US" kern="1200" dirty="0">
                          <a:solidFill>
                            <a:schemeClr val="tx1"/>
                          </a:solidFill>
                          <a:latin typeface="+mn-lt"/>
                          <a:ea typeface="+mn-ea"/>
                          <a:cs typeface="+mn-cs"/>
                        </a:rPr>
                        <a:t>0E</a:t>
                      </a:r>
                    </a:p>
                  </a:txBody>
                  <a:tcPr/>
                </a:tc>
                <a:tc>
                  <a:txBody>
                    <a:bodyPr/>
                    <a:lstStyle/>
                    <a:p>
                      <a:pPr marL="0" algn="ctr" rtl="0" eaLnBrk="1" latinLnBrk="0" hangingPunct="1"/>
                      <a:r>
                        <a:rPr kumimoji="0" lang="en-US" kern="1200" dirty="0">
                          <a:solidFill>
                            <a:schemeClr val="tx1"/>
                          </a:solidFill>
                          <a:latin typeface="+mn-lt"/>
                          <a:ea typeface="+mn-ea"/>
                          <a:cs typeface="+mn-cs"/>
                        </a:rPr>
                        <a:t>0F</a:t>
                      </a:r>
                    </a:p>
                  </a:txBody>
                  <a:tcPr/>
                </a:tc>
                <a:extLst>
                  <a:ext uri="{0D108BD9-81ED-4DB2-BD59-A6C34878D82A}">
                    <a16:rowId xmlns:a16="http://schemas.microsoft.com/office/drawing/2014/main" val="3396541759"/>
                  </a:ext>
                </a:extLst>
              </a:tr>
            </a:tbl>
          </a:graphicData>
        </a:graphic>
      </p:graphicFrame>
      <p:graphicFrame>
        <p:nvGraphicFramePr>
          <p:cNvPr id="8" name="Content Placeholder 4">
            <a:extLst>
              <a:ext uri="{FF2B5EF4-FFF2-40B4-BE49-F238E27FC236}">
                <a16:creationId xmlns:a16="http://schemas.microsoft.com/office/drawing/2014/main" id="{D888B29E-C3F6-5701-3FB8-7AD8E9E5634F}"/>
              </a:ext>
            </a:extLst>
          </p:cNvPr>
          <p:cNvGraphicFramePr>
            <a:graphicFrameLocks/>
          </p:cNvGraphicFramePr>
          <p:nvPr>
            <p:extLst>
              <p:ext uri="{D42A27DB-BD31-4B8C-83A1-F6EECF244321}">
                <p14:modId xmlns:p14="http://schemas.microsoft.com/office/powerpoint/2010/main" val="3486199344"/>
              </p:ext>
            </p:extLst>
          </p:nvPr>
        </p:nvGraphicFramePr>
        <p:xfrm>
          <a:off x="6707997" y="1945640"/>
          <a:ext cx="2219325" cy="2966720"/>
        </p:xfrm>
        <a:graphic>
          <a:graphicData uri="http://schemas.openxmlformats.org/drawingml/2006/table">
            <a:tbl>
              <a:tblPr firstRow="1" bandRow="1">
                <a:tableStyleId>{5940675A-B579-460E-94D1-54222C63F5DA}</a:tableStyleId>
              </a:tblPr>
              <a:tblGrid>
                <a:gridCol w="537012">
                  <a:extLst>
                    <a:ext uri="{9D8B030D-6E8A-4147-A177-3AD203B41FA5}">
                      <a16:colId xmlns:a16="http://schemas.microsoft.com/office/drawing/2014/main" val="3133599075"/>
                    </a:ext>
                  </a:extLst>
                </a:gridCol>
                <a:gridCol w="1682313">
                  <a:extLst>
                    <a:ext uri="{9D8B030D-6E8A-4147-A177-3AD203B41FA5}">
                      <a16:colId xmlns:a16="http://schemas.microsoft.com/office/drawing/2014/main" val="1327154262"/>
                    </a:ext>
                  </a:extLst>
                </a:gridCol>
              </a:tblGrid>
              <a:tr h="370840">
                <a:tc>
                  <a:txBody>
                    <a:bodyPr/>
                    <a:lstStyle/>
                    <a:p>
                      <a:pPr marL="0" algn="ctr" rtl="0" eaLnBrk="1" latinLnBrk="0" hangingPunct="1"/>
                      <a:r>
                        <a:rPr kumimoji="0" lang="en-US" b="0" kern="1200" dirty="0">
                          <a:solidFill>
                            <a:schemeClr val="tx1"/>
                          </a:solidFill>
                          <a:latin typeface="+mn-lt"/>
                          <a:ea typeface="+mn-ea"/>
                          <a:cs typeface="+mn-cs"/>
                        </a:rPr>
                        <a:t>R0</a:t>
                      </a:r>
                    </a:p>
                  </a:txBody>
                  <a:tcPr/>
                </a:tc>
                <a:tc>
                  <a:txBody>
                    <a:bodyPr/>
                    <a:lstStyle/>
                    <a:p>
                      <a:pPr marL="0" algn="ctr" rtl="0" eaLnBrk="1" latinLnBrk="0" hangingPunct="1"/>
                      <a:r>
                        <a:rPr kumimoji="0" lang="pt-BR" b="0" kern="1200" dirty="0">
                          <a:solidFill>
                            <a:schemeClr val="tx1"/>
                          </a:solidFill>
                          <a:latin typeface="+mn-lt"/>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814596732"/>
                  </a:ext>
                </a:extLst>
              </a:tr>
              <a:tr h="370840">
                <a:tc>
                  <a:txBody>
                    <a:bodyPr/>
                    <a:lstStyle/>
                    <a:p>
                      <a:pPr marL="0" algn="ctr" rtl="0" eaLnBrk="1" latinLnBrk="0" hangingPunct="1"/>
                      <a:r>
                        <a:rPr kumimoji="0" lang="en-US" b="0" kern="1200" dirty="0">
                          <a:solidFill>
                            <a:schemeClr val="tx1"/>
                          </a:solidFill>
                          <a:latin typeface="+mn-lt"/>
                          <a:ea typeface="+mn-ea"/>
                          <a:cs typeface="+mn-cs"/>
                        </a:rPr>
                        <a:t>R1</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81549779"/>
                  </a:ext>
                </a:extLst>
              </a:tr>
              <a:tr h="370840">
                <a:tc>
                  <a:txBody>
                    <a:bodyPr/>
                    <a:lstStyle/>
                    <a:p>
                      <a:pPr marL="0" algn="ctr" rtl="0" eaLnBrk="1" latinLnBrk="0" hangingPunct="1"/>
                      <a:r>
                        <a:rPr kumimoji="0" lang="en-US" b="0" kern="1200" dirty="0">
                          <a:solidFill>
                            <a:schemeClr val="tx1"/>
                          </a:solidFill>
                          <a:latin typeface="+mn-lt"/>
                          <a:ea typeface="+mn-ea"/>
                          <a:cs typeface="+mn-cs"/>
                        </a:rPr>
                        <a:t>R2</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0x0000FFFF</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337800547"/>
                  </a:ext>
                </a:extLst>
              </a:tr>
              <a:tr h="370840">
                <a:tc>
                  <a:txBody>
                    <a:bodyPr/>
                    <a:lstStyle/>
                    <a:p>
                      <a:pPr marL="0" algn="ctr" rtl="0" eaLnBrk="1" latinLnBrk="0" hangingPunct="1"/>
                      <a:r>
                        <a:rPr kumimoji="0" lang="en-US" b="0" kern="1200" dirty="0">
                          <a:solidFill>
                            <a:schemeClr val="tx1"/>
                          </a:solidFill>
                          <a:latin typeface="+mn-lt"/>
                          <a:ea typeface="+mn-ea"/>
                          <a:cs typeface="+mn-cs"/>
                        </a:rPr>
                        <a:t>R3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0x18675309</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365453190"/>
                  </a:ext>
                </a:extLst>
              </a:tr>
              <a:tr h="370840">
                <a:tc>
                  <a:txBody>
                    <a:bodyPr/>
                    <a:lstStyle/>
                    <a:p>
                      <a:pPr marL="0" algn="ctr" rtl="0" eaLnBrk="1" latinLnBrk="0" hangingPunct="1"/>
                      <a:r>
                        <a:rPr kumimoji="0" lang="en-US" b="0" kern="1200" dirty="0">
                          <a:solidFill>
                            <a:schemeClr val="tx1"/>
                          </a:solidFill>
                          <a:latin typeface="+mn-lt"/>
                          <a:ea typeface="+mn-ea"/>
                          <a:cs typeface="+mn-cs"/>
                        </a:rPr>
                        <a:t>R4</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217285831"/>
                  </a:ext>
                </a:extLst>
              </a:tr>
              <a:tr h="370840">
                <a:tc>
                  <a:txBody>
                    <a:bodyPr/>
                    <a:lstStyle/>
                    <a:p>
                      <a:pPr marL="0" algn="ctr" rtl="0" eaLnBrk="1" latinLnBrk="0" hangingPunct="1"/>
                      <a:r>
                        <a:rPr kumimoji="0" lang="en-US" b="0" kern="1200" dirty="0">
                          <a:solidFill>
                            <a:schemeClr val="tx1"/>
                          </a:solidFill>
                          <a:latin typeface="+mn-lt"/>
                          <a:ea typeface="+mn-ea"/>
                          <a:cs typeface="+mn-cs"/>
                        </a:rPr>
                        <a:t>R5</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012525772"/>
                  </a:ext>
                </a:extLst>
              </a:tr>
              <a:tr h="370840">
                <a:tc>
                  <a:txBody>
                    <a:bodyPr/>
                    <a:lstStyle/>
                    <a:p>
                      <a:pPr marL="0" algn="ctr" rtl="0" eaLnBrk="1" latinLnBrk="0" hangingPunct="1"/>
                      <a:r>
                        <a:rPr kumimoji="0" lang="en-US" b="0" kern="1200" dirty="0">
                          <a:solidFill>
                            <a:schemeClr val="tx1"/>
                          </a:solidFill>
                          <a:latin typeface="+mn-lt"/>
                          <a:ea typeface="+mn-ea"/>
                          <a:cs typeface="+mn-cs"/>
                        </a:rPr>
                        <a:t>…</a:t>
                      </a:r>
                    </a:p>
                  </a:txBody>
                  <a:tcPr/>
                </a:tc>
                <a:tc>
                  <a:txBody>
                    <a:bodyPr/>
                    <a:lstStyle/>
                    <a:p>
                      <a:pPr marL="0" algn="ctr" rtl="0" eaLnBrk="1" latinLnBrk="0" hangingPunct="1"/>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767889990"/>
                  </a:ext>
                </a:extLst>
              </a:tr>
              <a:tr h="370840">
                <a:tc>
                  <a:txBody>
                    <a:bodyPr/>
                    <a:lstStyle/>
                    <a:p>
                      <a:pPr marL="0" algn="ctr" rtl="0" eaLnBrk="1" latinLnBrk="0" hangingPunct="1"/>
                      <a:r>
                        <a:rPr kumimoji="0" lang="en-US" sz="1600" b="0" kern="1200" dirty="0">
                          <a:solidFill>
                            <a:schemeClr val="tx1"/>
                          </a:solidFill>
                          <a:latin typeface="+mn-lt"/>
                          <a:ea typeface="+mn-ea"/>
                          <a:cs typeface="+mn-cs"/>
                        </a:rPr>
                        <a:t>R13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656245920"/>
                  </a:ext>
                </a:extLst>
              </a:tr>
            </a:tbl>
          </a:graphicData>
        </a:graphic>
      </p:graphicFrame>
      <p:sp>
        <p:nvSpPr>
          <p:cNvPr id="10" name="TextBox 9">
            <a:extLst>
              <a:ext uri="{FF2B5EF4-FFF2-40B4-BE49-F238E27FC236}">
                <a16:creationId xmlns:a16="http://schemas.microsoft.com/office/drawing/2014/main" id="{1E914C08-96CB-135B-1433-52624F812AD9}"/>
              </a:ext>
            </a:extLst>
          </p:cNvPr>
          <p:cNvSpPr txBox="1"/>
          <p:nvPr/>
        </p:nvSpPr>
        <p:spPr>
          <a:xfrm>
            <a:off x="457200" y="3114268"/>
            <a:ext cx="3005951" cy="163121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MOVW R0, #0xAFE1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R0, #0xBADC</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R2, #0xABCD</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STR R3,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LDRSH </a:t>
            </a:r>
            <a:r>
              <a:rPr kumimoji="0" lang="pt-BR" sz="2000" b="0" i="0" u="none" strike="noStrike" kern="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R4, </a:t>
            </a:r>
            <a:r>
              <a:rPr lang="pt-BR" sz="2000" b="0" kern="0">
                <a:solidFill>
                  <a:prstClr val="black"/>
                </a:solidFill>
                <a:latin typeface="Consolas" panose="020B0609020204030204" pitchFamily="49" charset="0"/>
                <a:cs typeface="Consolas" panose="020B0609020204030204" pitchFamily="49" charset="0"/>
              </a:rPr>
              <a:t>[</a:t>
            </a: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R1, #0xC</a:t>
            </a:r>
            <a:r>
              <a:rPr lang="pt-BR" sz="2000" b="0" kern="0" dirty="0">
                <a:solidFill>
                  <a:prstClr val="black"/>
                </a:solidFill>
                <a:latin typeface="Consolas" panose="020B0609020204030204" pitchFamily="49" charset="0"/>
                <a:cs typeface="Consolas" panose="020B0609020204030204" pitchFamily="49" charset="0"/>
              </a:rPr>
              <a:t>]</a:t>
            </a:r>
            <a:endPar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1" name="Content Placeholder 3">
            <a:extLst>
              <a:ext uri="{FF2B5EF4-FFF2-40B4-BE49-F238E27FC236}">
                <a16:creationId xmlns:a16="http://schemas.microsoft.com/office/drawing/2014/main" id="{E0C303F2-641E-019B-CA34-0B02E8722206}"/>
              </a:ext>
            </a:extLst>
          </p:cNvPr>
          <p:cNvSpPr txBox="1">
            <a:spLocks/>
          </p:cNvSpPr>
          <p:nvPr/>
        </p:nvSpPr>
        <p:spPr>
          <a:xfrm>
            <a:off x="216677" y="1116957"/>
            <a:ext cx="8913875" cy="1112520"/>
          </a:xfrm>
          <a:prstGeom prst="rect">
            <a:avLst/>
          </a:prstGeom>
        </p:spPr>
        <p:txBody>
          <a:bodyPr vert="horz">
            <a:normAutofit fontScale="92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000" b="0" dirty="0"/>
              <a:t>Compute register and memory values at each step of this program, given initial register values and memory contents, assuming little-endian ordering. Memory addresses and contents are shown in the table. (Assume memory addresses increase from left to right, and from bottom to top in the table.)</a:t>
            </a:r>
          </a:p>
        </p:txBody>
      </p:sp>
      <p:sp>
        <p:nvSpPr>
          <p:cNvPr id="12" name="TextBox 11">
            <a:extLst>
              <a:ext uri="{FF2B5EF4-FFF2-40B4-BE49-F238E27FC236}">
                <a16:creationId xmlns:a16="http://schemas.microsoft.com/office/drawing/2014/main" id="{4C6A6B80-3FEE-6D76-7A51-6A84F29B3557}"/>
              </a:ext>
            </a:extLst>
          </p:cNvPr>
          <p:cNvSpPr txBox="1"/>
          <p:nvPr/>
        </p:nvSpPr>
        <p:spPr>
          <a:xfrm>
            <a:off x="4357032" y="4507329"/>
            <a:ext cx="2350965" cy="400110"/>
          </a:xfrm>
          <a:prstGeom prst="rect">
            <a:avLst/>
          </a:prstGeom>
          <a:noFill/>
        </p:spPr>
        <p:txBody>
          <a:bodyPr wrap="none" rtlCol="0">
            <a:spAutoFit/>
          </a:bodyPr>
          <a:lstStyle/>
          <a:p>
            <a:r>
              <a:rPr lang="en-US" sz="2000" b="0" dirty="0">
                <a:latin typeface="+mn-lt"/>
              </a:rPr>
              <a:t>Initial Register Values</a:t>
            </a:r>
          </a:p>
        </p:txBody>
      </p:sp>
      <p:sp>
        <p:nvSpPr>
          <p:cNvPr id="13" name="TextBox 12">
            <a:extLst>
              <a:ext uri="{FF2B5EF4-FFF2-40B4-BE49-F238E27FC236}">
                <a16:creationId xmlns:a16="http://schemas.microsoft.com/office/drawing/2014/main" id="{E381BB9B-55E3-DA1B-9EC5-B7BD5B3494A9}"/>
              </a:ext>
            </a:extLst>
          </p:cNvPr>
          <p:cNvSpPr txBox="1"/>
          <p:nvPr/>
        </p:nvSpPr>
        <p:spPr>
          <a:xfrm>
            <a:off x="3832596" y="6258114"/>
            <a:ext cx="2734659" cy="400110"/>
          </a:xfrm>
          <a:prstGeom prst="rect">
            <a:avLst/>
          </a:prstGeom>
          <a:noFill/>
        </p:spPr>
        <p:txBody>
          <a:bodyPr wrap="none" rtlCol="0">
            <a:spAutoFit/>
          </a:bodyPr>
          <a:lstStyle/>
          <a:p>
            <a:r>
              <a:rPr lang="en-US" sz="2000" b="0" dirty="0">
                <a:latin typeface="+mn-lt"/>
              </a:rPr>
              <a:t>Initial Memory Contents</a:t>
            </a:r>
          </a:p>
        </p:txBody>
      </p:sp>
    </p:spTree>
    <p:extLst>
      <p:ext uri="{BB962C8B-B14F-4D97-AF65-F5344CB8AC3E}">
        <p14:creationId xmlns:p14="http://schemas.microsoft.com/office/powerpoint/2010/main" val="811401925"/>
      </p:ext>
    </p:extLst>
  </p:cSld>
  <p:clrMapOvr>
    <a:masterClrMapping/>
  </p:clrMapOvr>
  <p:transition>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7DA1D-8964-ADF5-7DC4-B22254060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13921-2A45-DFEB-5309-D3FF1ADB4632}"/>
              </a:ext>
            </a:extLst>
          </p:cNvPr>
          <p:cNvSpPr>
            <a:spLocks noGrp="1"/>
          </p:cNvSpPr>
          <p:nvPr>
            <p:ph type="title"/>
          </p:nvPr>
        </p:nvSpPr>
        <p:spPr/>
        <p:txBody>
          <a:bodyPr>
            <a:normAutofit/>
          </a:bodyPr>
          <a:lstStyle/>
          <a:p>
            <a:r>
              <a:rPr lang="en-US" sz="2800" dirty="0"/>
              <a:t>Program Understanding 1 ANS</a:t>
            </a:r>
          </a:p>
        </p:txBody>
      </p:sp>
      <p:sp>
        <p:nvSpPr>
          <p:cNvPr id="3" name="Slide Number Placeholder 2">
            <a:extLst>
              <a:ext uri="{FF2B5EF4-FFF2-40B4-BE49-F238E27FC236}">
                <a16:creationId xmlns:a16="http://schemas.microsoft.com/office/drawing/2014/main" id="{87633AE3-5DA6-3B1B-7578-E01A1841C9DC}"/>
              </a:ext>
            </a:extLst>
          </p:cNvPr>
          <p:cNvSpPr>
            <a:spLocks noGrp="1"/>
          </p:cNvSpPr>
          <p:nvPr>
            <p:ph type="sldNum" sz="quarter" idx="12"/>
          </p:nvPr>
        </p:nvSpPr>
        <p:spPr/>
        <p:txBody>
          <a:bodyPr/>
          <a:lstStyle/>
          <a:p>
            <a:fld id="{AEE14D4A-FE32-40AF-B06D-E9622816B101}" type="slidenum">
              <a:rPr lang="en-US" smtClean="0"/>
              <a:pPr/>
              <a:t>31</a:t>
            </a:fld>
            <a:endParaRPr lang="en-US"/>
          </a:p>
        </p:txBody>
      </p:sp>
      <p:graphicFrame>
        <p:nvGraphicFramePr>
          <p:cNvPr id="7" name="Content Placeholder 6">
            <a:extLst>
              <a:ext uri="{FF2B5EF4-FFF2-40B4-BE49-F238E27FC236}">
                <a16:creationId xmlns:a16="http://schemas.microsoft.com/office/drawing/2014/main" id="{34E32F45-A466-4D81-2CAD-4DBC2C6742BC}"/>
              </a:ext>
            </a:extLst>
          </p:cNvPr>
          <p:cNvGraphicFramePr>
            <a:graphicFrameLocks noGrp="1"/>
          </p:cNvGraphicFramePr>
          <p:nvPr>
            <p:ph sz="quarter" idx="1"/>
            <p:extLst>
              <p:ext uri="{D42A27DB-BD31-4B8C-83A1-F6EECF244321}">
                <p14:modId xmlns:p14="http://schemas.microsoft.com/office/powerpoint/2010/main" val="2215591943"/>
              </p:ext>
            </p:extLst>
          </p:nvPr>
        </p:nvGraphicFramePr>
        <p:xfrm>
          <a:off x="12661" y="5198932"/>
          <a:ext cx="9117892" cy="1112520"/>
        </p:xfrm>
        <a:graphic>
          <a:graphicData uri="http://schemas.openxmlformats.org/drawingml/2006/table">
            <a:tbl>
              <a:tblPr firstRow="1" bandRow="1">
                <a:tableStyleId>{5940675A-B579-460E-94D1-54222C63F5DA}</a:tableStyleId>
              </a:tblPr>
              <a:tblGrid>
                <a:gridCol w="1562417">
                  <a:extLst>
                    <a:ext uri="{9D8B030D-6E8A-4147-A177-3AD203B41FA5}">
                      <a16:colId xmlns:a16="http://schemas.microsoft.com/office/drawing/2014/main" val="4041087470"/>
                    </a:ext>
                  </a:extLst>
                </a:gridCol>
                <a:gridCol w="472033">
                  <a:extLst>
                    <a:ext uri="{9D8B030D-6E8A-4147-A177-3AD203B41FA5}">
                      <a16:colId xmlns:a16="http://schemas.microsoft.com/office/drawing/2014/main" val="475833553"/>
                    </a:ext>
                  </a:extLst>
                </a:gridCol>
                <a:gridCol w="472033">
                  <a:extLst>
                    <a:ext uri="{9D8B030D-6E8A-4147-A177-3AD203B41FA5}">
                      <a16:colId xmlns:a16="http://schemas.microsoft.com/office/drawing/2014/main" val="3440583969"/>
                    </a:ext>
                  </a:extLst>
                </a:gridCol>
                <a:gridCol w="472033">
                  <a:extLst>
                    <a:ext uri="{9D8B030D-6E8A-4147-A177-3AD203B41FA5}">
                      <a16:colId xmlns:a16="http://schemas.microsoft.com/office/drawing/2014/main" val="3973726920"/>
                    </a:ext>
                  </a:extLst>
                </a:gridCol>
                <a:gridCol w="472033">
                  <a:extLst>
                    <a:ext uri="{9D8B030D-6E8A-4147-A177-3AD203B41FA5}">
                      <a16:colId xmlns:a16="http://schemas.microsoft.com/office/drawing/2014/main" val="1099364392"/>
                    </a:ext>
                  </a:extLst>
                </a:gridCol>
                <a:gridCol w="472033">
                  <a:extLst>
                    <a:ext uri="{9D8B030D-6E8A-4147-A177-3AD203B41FA5}">
                      <a16:colId xmlns:a16="http://schemas.microsoft.com/office/drawing/2014/main" val="598594491"/>
                    </a:ext>
                  </a:extLst>
                </a:gridCol>
                <a:gridCol w="472033">
                  <a:extLst>
                    <a:ext uri="{9D8B030D-6E8A-4147-A177-3AD203B41FA5}">
                      <a16:colId xmlns:a16="http://schemas.microsoft.com/office/drawing/2014/main" val="3299168853"/>
                    </a:ext>
                  </a:extLst>
                </a:gridCol>
                <a:gridCol w="472033">
                  <a:extLst>
                    <a:ext uri="{9D8B030D-6E8A-4147-A177-3AD203B41FA5}">
                      <a16:colId xmlns:a16="http://schemas.microsoft.com/office/drawing/2014/main" val="3639377261"/>
                    </a:ext>
                  </a:extLst>
                </a:gridCol>
                <a:gridCol w="472033">
                  <a:extLst>
                    <a:ext uri="{9D8B030D-6E8A-4147-A177-3AD203B41FA5}">
                      <a16:colId xmlns:a16="http://schemas.microsoft.com/office/drawing/2014/main" val="2095656865"/>
                    </a:ext>
                  </a:extLst>
                </a:gridCol>
                <a:gridCol w="474980">
                  <a:extLst>
                    <a:ext uri="{9D8B030D-6E8A-4147-A177-3AD203B41FA5}">
                      <a16:colId xmlns:a16="http://schemas.microsoft.com/office/drawing/2014/main" val="2172498307"/>
                    </a:ext>
                  </a:extLst>
                </a:gridCol>
                <a:gridCol w="472033">
                  <a:extLst>
                    <a:ext uri="{9D8B030D-6E8A-4147-A177-3AD203B41FA5}">
                      <a16:colId xmlns:a16="http://schemas.microsoft.com/office/drawing/2014/main" val="3928751653"/>
                    </a:ext>
                  </a:extLst>
                </a:gridCol>
                <a:gridCol w="472033">
                  <a:extLst>
                    <a:ext uri="{9D8B030D-6E8A-4147-A177-3AD203B41FA5}">
                      <a16:colId xmlns:a16="http://schemas.microsoft.com/office/drawing/2014/main" val="1178522413"/>
                    </a:ext>
                  </a:extLst>
                </a:gridCol>
                <a:gridCol w="472033">
                  <a:extLst>
                    <a:ext uri="{9D8B030D-6E8A-4147-A177-3AD203B41FA5}">
                      <a16:colId xmlns:a16="http://schemas.microsoft.com/office/drawing/2014/main" val="4096721898"/>
                    </a:ext>
                  </a:extLst>
                </a:gridCol>
                <a:gridCol w="472033">
                  <a:extLst>
                    <a:ext uri="{9D8B030D-6E8A-4147-A177-3AD203B41FA5}">
                      <a16:colId xmlns:a16="http://schemas.microsoft.com/office/drawing/2014/main" val="1208970794"/>
                    </a:ext>
                  </a:extLst>
                </a:gridCol>
                <a:gridCol w="472033">
                  <a:extLst>
                    <a:ext uri="{9D8B030D-6E8A-4147-A177-3AD203B41FA5}">
                      <a16:colId xmlns:a16="http://schemas.microsoft.com/office/drawing/2014/main" val="2430138671"/>
                    </a:ext>
                  </a:extLst>
                </a:gridCol>
                <a:gridCol w="472033">
                  <a:extLst>
                    <a:ext uri="{9D8B030D-6E8A-4147-A177-3AD203B41FA5}">
                      <a16:colId xmlns:a16="http://schemas.microsoft.com/office/drawing/2014/main" val="2553032553"/>
                    </a:ext>
                  </a:extLst>
                </a:gridCol>
                <a:gridCol w="472033">
                  <a:extLst>
                    <a:ext uri="{9D8B030D-6E8A-4147-A177-3AD203B41FA5}">
                      <a16:colId xmlns:a16="http://schemas.microsoft.com/office/drawing/2014/main" val="247236167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0x10000200</a:t>
                      </a:r>
                    </a:p>
                  </a:txBody>
                  <a:tcPr/>
                </a:tc>
                <a:tc>
                  <a:txBody>
                    <a:bodyPr/>
                    <a:lstStyle/>
                    <a:p>
                      <a:pPr algn="ctr"/>
                      <a:r>
                        <a:rPr lang="en-US" dirty="0">
                          <a:solidFill>
                            <a:srgbClr val="FF0000"/>
                          </a:solidFill>
                        </a:rPr>
                        <a:t>09</a:t>
                      </a:r>
                    </a:p>
                  </a:txBody>
                  <a:tcPr/>
                </a:tc>
                <a:tc>
                  <a:txBody>
                    <a:bodyPr/>
                    <a:lstStyle/>
                    <a:p>
                      <a:pPr marL="0" algn="ctr" rtl="0" eaLnBrk="1" latinLnBrk="0" hangingPunct="1"/>
                      <a:r>
                        <a:rPr kumimoji="0" lang="en-US" kern="1200" dirty="0">
                          <a:solidFill>
                            <a:srgbClr val="FF0000"/>
                          </a:solidFill>
                          <a:latin typeface="+mn-lt"/>
                          <a:ea typeface="+mn-ea"/>
                          <a:cs typeface="+mn-cs"/>
                        </a:rPr>
                        <a:t>53</a:t>
                      </a:r>
                    </a:p>
                  </a:txBody>
                  <a:tcPr/>
                </a:tc>
                <a:tc>
                  <a:txBody>
                    <a:bodyPr/>
                    <a:lstStyle/>
                    <a:p>
                      <a:pPr marL="0" algn="ctr" rtl="0" eaLnBrk="1" latinLnBrk="0" hangingPunct="1"/>
                      <a:r>
                        <a:rPr kumimoji="0" lang="en-US" kern="1200" dirty="0">
                          <a:solidFill>
                            <a:srgbClr val="FF0000"/>
                          </a:solidFill>
                          <a:latin typeface="+mn-lt"/>
                          <a:ea typeface="+mn-ea"/>
                          <a:cs typeface="+mn-cs"/>
                        </a:rPr>
                        <a:t>67</a:t>
                      </a:r>
                    </a:p>
                  </a:txBody>
                  <a:tcPr/>
                </a:tc>
                <a:tc>
                  <a:txBody>
                    <a:bodyPr/>
                    <a:lstStyle/>
                    <a:p>
                      <a:pPr marL="0" algn="ctr" rtl="0" eaLnBrk="1" latinLnBrk="0" hangingPunct="1"/>
                      <a:r>
                        <a:rPr kumimoji="0" lang="en-US" kern="1200" dirty="0">
                          <a:solidFill>
                            <a:srgbClr val="FF0000"/>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EE</a:t>
                      </a:r>
                    </a:p>
                  </a:txBody>
                  <a:tcPr/>
                </a:tc>
                <a:tc>
                  <a:txBody>
                    <a:bodyPr/>
                    <a:lstStyle/>
                    <a:p>
                      <a:pPr marL="0" algn="ctr" rtl="0" eaLnBrk="1" latinLnBrk="0" hangingPunct="1"/>
                      <a:r>
                        <a:rPr kumimoji="0" lang="en-US" kern="1200" dirty="0">
                          <a:solidFill>
                            <a:schemeClr val="tx1"/>
                          </a:solidFill>
                          <a:latin typeface="+mn-lt"/>
                          <a:ea typeface="+mn-ea"/>
                          <a:cs typeface="+mn-cs"/>
                        </a:rPr>
                        <a:t>FF</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22</a:t>
                      </a:r>
                    </a:p>
                  </a:txBody>
                  <a:tcPr/>
                </a:tc>
                <a:tc>
                  <a:txBody>
                    <a:bodyPr/>
                    <a:lstStyle/>
                    <a:p>
                      <a:pPr marL="0" algn="ctr" rtl="0" eaLnBrk="1" latinLnBrk="0" hangingPunct="1"/>
                      <a:r>
                        <a:rPr kumimoji="0" lang="en-US" kern="1200" dirty="0">
                          <a:solidFill>
                            <a:schemeClr val="tx1"/>
                          </a:solidFill>
                          <a:latin typeface="+mn-lt"/>
                          <a:ea typeface="+mn-ea"/>
                          <a:cs typeface="+mn-cs"/>
                        </a:rPr>
                        <a:t>33</a:t>
                      </a:r>
                    </a:p>
                  </a:txBody>
                  <a:tcPr/>
                </a:tc>
                <a:tc>
                  <a:txBody>
                    <a:bodyPr/>
                    <a:lstStyle/>
                    <a:p>
                      <a:pPr marL="0" algn="ctr" rtl="0" eaLnBrk="1" latinLnBrk="0" hangingPunct="1"/>
                      <a:r>
                        <a:rPr kumimoji="0" lang="en-US" kern="1200" dirty="0">
                          <a:solidFill>
                            <a:schemeClr val="tx1"/>
                          </a:solidFill>
                          <a:latin typeface="+mn-lt"/>
                          <a:ea typeface="+mn-ea"/>
                          <a:cs typeface="+mn-cs"/>
                        </a:rPr>
                        <a:t>44</a:t>
                      </a:r>
                    </a:p>
                  </a:txBody>
                  <a:tcPr/>
                </a:tc>
                <a:tc>
                  <a:txBody>
                    <a:bodyPr/>
                    <a:lstStyle/>
                    <a:p>
                      <a:pPr marL="0" algn="ctr" rtl="0" eaLnBrk="1" latinLnBrk="0" hangingPunct="1"/>
                      <a:r>
                        <a:rPr kumimoji="0" lang="en-US" kern="1200" dirty="0">
                          <a:solidFill>
                            <a:schemeClr val="tx1"/>
                          </a:solidFill>
                          <a:latin typeface="+mn-lt"/>
                          <a:ea typeface="+mn-ea"/>
                          <a:cs typeface="+mn-cs"/>
                        </a:rPr>
                        <a:t>55</a:t>
                      </a:r>
                    </a:p>
                  </a:txBody>
                  <a:tcPr/>
                </a:tc>
                <a:tc>
                  <a:txBody>
                    <a:bodyPr/>
                    <a:lstStyle/>
                    <a:p>
                      <a:pPr marL="0" algn="ctr" rtl="0" eaLnBrk="1" latinLnBrk="0" hangingPunct="1"/>
                      <a:r>
                        <a:rPr kumimoji="0" lang="en-US" kern="1200" dirty="0">
                          <a:solidFill>
                            <a:schemeClr val="tx1"/>
                          </a:solidFill>
                          <a:latin typeface="+mn-lt"/>
                          <a:ea typeface="+mn-ea"/>
                          <a:cs typeface="+mn-cs"/>
                        </a:rPr>
                        <a:t>66</a:t>
                      </a:r>
                    </a:p>
                  </a:txBody>
                  <a:tcPr/>
                </a:tc>
                <a:tc>
                  <a:txBody>
                    <a:bodyPr/>
                    <a:lstStyle/>
                    <a:p>
                      <a:pPr marL="0" algn="ctr" rtl="0" eaLnBrk="1" latinLnBrk="0" hangingPunct="1"/>
                      <a:r>
                        <a:rPr kumimoji="0" lang="en-US" kern="1200" dirty="0">
                          <a:solidFill>
                            <a:srgbClr val="FF0000"/>
                          </a:solidFill>
                          <a:latin typeface="+mn-lt"/>
                          <a:ea typeface="+mn-ea"/>
                          <a:cs typeface="+mn-cs"/>
                        </a:rPr>
                        <a:t>77</a:t>
                      </a:r>
                    </a:p>
                  </a:txBody>
                  <a:tcPr/>
                </a:tc>
                <a:tc>
                  <a:txBody>
                    <a:bodyPr/>
                    <a:lstStyle/>
                    <a:p>
                      <a:pPr marL="0" algn="ctr" rtl="0" eaLnBrk="1" latinLnBrk="0" hangingPunct="1"/>
                      <a:r>
                        <a:rPr kumimoji="0" lang="en-US" kern="1200" dirty="0">
                          <a:solidFill>
                            <a:srgbClr val="FF0000"/>
                          </a:solidFill>
                          <a:latin typeface="+mn-lt"/>
                          <a:ea typeface="+mn-ea"/>
                          <a:cs typeface="+mn-cs"/>
                        </a:rPr>
                        <a:t>88</a:t>
                      </a:r>
                    </a:p>
                  </a:txBody>
                  <a:tcPr/>
                </a:tc>
                <a:tc>
                  <a:txBody>
                    <a:bodyPr/>
                    <a:lstStyle/>
                    <a:p>
                      <a:pPr marL="0" algn="ctr" rtl="0" eaLnBrk="1" latinLnBrk="0" hangingPunct="1"/>
                      <a:r>
                        <a:rPr kumimoji="0" lang="en-US" kern="1200" dirty="0">
                          <a:solidFill>
                            <a:schemeClr val="tx1"/>
                          </a:solidFill>
                          <a:latin typeface="+mn-lt"/>
                          <a:ea typeface="+mn-ea"/>
                          <a:cs typeface="+mn-cs"/>
                        </a:rPr>
                        <a:t>99</a:t>
                      </a:r>
                    </a:p>
                  </a:txBody>
                  <a:tcPr/>
                </a:tc>
                <a:tc>
                  <a:txBody>
                    <a:bodyPr/>
                    <a:lstStyle/>
                    <a:p>
                      <a:pPr marL="0" algn="ctr" rtl="0" eaLnBrk="1" latinLnBrk="0" hangingPunct="1"/>
                      <a:r>
                        <a:rPr kumimoji="0" lang="en-US" kern="1200" dirty="0">
                          <a:solidFill>
                            <a:schemeClr val="tx1"/>
                          </a:solidFill>
                          <a:latin typeface="+mn-lt"/>
                          <a:ea typeface="+mn-ea"/>
                          <a:cs typeface="+mn-cs"/>
                        </a:rPr>
                        <a:t>92</a:t>
                      </a:r>
                    </a:p>
                  </a:txBody>
                  <a:tcPr/>
                </a:tc>
                <a:extLst>
                  <a:ext uri="{0D108BD9-81ED-4DB2-BD59-A6C34878D82A}">
                    <a16:rowId xmlns:a16="http://schemas.microsoft.com/office/drawing/2014/main" val="972262183"/>
                  </a:ext>
                </a:extLst>
              </a:tr>
              <a:tr h="370840">
                <a:tc>
                  <a:txBody>
                    <a:bodyPr/>
                    <a:lstStyle/>
                    <a:p>
                      <a:pPr algn="ctr"/>
                      <a:r>
                        <a:rPr lang="en-US" sz="1800" b="0" dirty="0">
                          <a:latin typeface="Consolas" panose="020B0609020204030204" pitchFamily="49" charset="0"/>
                          <a:cs typeface="Consolas" panose="020B0609020204030204" pitchFamily="49" charset="0"/>
                        </a:rPr>
                        <a:t>0x100001F0</a:t>
                      </a:r>
                      <a:endParaRPr lang="en-US" dirty="0"/>
                    </a:p>
                  </a:txBody>
                  <a:tcPr/>
                </a:tc>
                <a:tc>
                  <a:txBody>
                    <a:bodyPr/>
                    <a:lstStyle/>
                    <a:p>
                      <a:pPr algn="ctr"/>
                      <a:r>
                        <a:rPr lang="en-US" dirty="0"/>
                        <a:t>10</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13</a:t>
                      </a:r>
                    </a:p>
                  </a:txBody>
                  <a:tcPr/>
                </a:tc>
                <a:tc>
                  <a:txBody>
                    <a:bodyPr/>
                    <a:lstStyle/>
                    <a:p>
                      <a:pPr marL="0" algn="ctr" rtl="0" eaLnBrk="1" latinLnBrk="0" hangingPunct="1"/>
                      <a:r>
                        <a:rPr kumimoji="0" lang="en-US" kern="1200" dirty="0">
                          <a:solidFill>
                            <a:schemeClr val="tx1"/>
                          </a:solidFill>
                          <a:latin typeface="+mn-lt"/>
                          <a:ea typeface="+mn-ea"/>
                          <a:cs typeface="+mn-cs"/>
                        </a:rPr>
                        <a:t>14</a:t>
                      </a:r>
                    </a:p>
                  </a:txBody>
                  <a:tcPr/>
                </a:tc>
                <a:tc>
                  <a:txBody>
                    <a:bodyPr/>
                    <a:lstStyle/>
                    <a:p>
                      <a:pPr marL="0" algn="ctr" rtl="0" eaLnBrk="1" latinLnBrk="0" hangingPunct="1"/>
                      <a:r>
                        <a:rPr kumimoji="0" lang="en-US" kern="1200" dirty="0">
                          <a:solidFill>
                            <a:schemeClr val="tx1"/>
                          </a:solidFill>
                          <a:latin typeface="+mn-lt"/>
                          <a:ea typeface="+mn-ea"/>
                          <a:cs typeface="+mn-cs"/>
                        </a:rPr>
                        <a:t>15</a:t>
                      </a:r>
                    </a:p>
                  </a:txBody>
                  <a:tcPr/>
                </a:tc>
                <a:tc>
                  <a:txBody>
                    <a:bodyPr/>
                    <a:lstStyle/>
                    <a:p>
                      <a:pPr marL="0" algn="ctr" rtl="0" eaLnBrk="1" latinLnBrk="0" hangingPunct="1"/>
                      <a:r>
                        <a:rPr kumimoji="0" lang="en-US" kern="1200" dirty="0">
                          <a:solidFill>
                            <a:schemeClr val="tx1"/>
                          </a:solidFill>
                          <a:latin typeface="+mn-lt"/>
                          <a:ea typeface="+mn-ea"/>
                          <a:cs typeface="+mn-cs"/>
                        </a:rPr>
                        <a:t>16</a:t>
                      </a:r>
                    </a:p>
                  </a:txBody>
                  <a:tcPr/>
                </a:tc>
                <a:tc>
                  <a:txBody>
                    <a:bodyPr/>
                    <a:lstStyle/>
                    <a:p>
                      <a:pPr marL="0" algn="ctr" rtl="0" eaLnBrk="1" latinLnBrk="0" hangingPunct="1"/>
                      <a:r>
                        <a:rPr kumimoji="0" lang="en-US" kern="1200" dirty="0">
                          <a:solidFill>
                            <a:schemeClr val="tx1"/>
                          </a:solidFill>
                          <a:latin typeface="+mn-lt"/>
                          <a:ea typeface="+mn-ea"/>
                          <a:cs typeface="+mn-cs"/>
                        </a:rPr>
                        <a:t>17</a:t>
                      </a:r>
                    </a:p>
                  </a:txBody>
                  <a:tcPr/>
                </a:tc>
                <a:tc>
                  <a:txBody>
                    <a:bodyPr/>
                    <a:lstStyle/>
                    <a:p>
                      <a:pPr marL="0" algn="ctr" rtl="0" eaLnBrk="1" latinLnBrk="0" hangingPunct="1"/>
                      <a:r>
                        <a:rPr kumimoji="0" lang="en-US" kern="1200" dirty="0">
                          <a:solidFill>
                            <a:schemeClr val="tx1"/>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19</a:t>
                      </a:r>
                    </a:p>
                  </a:txBody>
                  <a:tcPr/>
                </a:tc>
                <a:tc>
                  <a:txBody>
                    <a:bodyPr/>
                    <a:lstStyle/>
                    <a:p>
                      <a:pPr marL="0" algn="ctr" rtl="0" eaLnBrk="1" latinLnBrk="0" hangingPunct="1"/>
                      <a:r>
                        <a:rPr kumimoji="0" lang="en-US" kern="1200" dirty="0">
                          <a:solidFill>
                            <a:schemeClr val="tx1"/>
                          </a:solidFill>
                          <a:latin typeface="+mn-lt"/>
                          <a:ea typeface="+mn-ea"/>
                          <a:cs typeface="+mn-cs"/>
                        </a:rPr>
                        <a:t>1</a:t>
                      </a:r>
                      <a:r>
                        <a:rPr kumimoji="0" lang="en-US" altLang="zh-CN" kern="1200" dirty="0">
                          <a:solidFill>
                            <a:schemeClr val="tx1"/>
                          </a:solidFill>
                          <a:latin typeface="+mn-lt"/>
                          <a:ea typeface="+mn-ea"/>
                          <a:cs typeface="+mn-cs"/>
                        </a:rPr>
                        <a:t>A</a:t>
                      </a:r>
                      <a:endParaRPr kumimoji="0" lang="en-US" kern="1200" dirty="0">
                        <a:solidFill>
                          <a:schemeClr val="tx1"/>
                        </a:solidFill>
                        <a:latin typeface="+mn-lt"/>
                        <a:ea typeface="+mn-ea"/>
                        <a:cs typeface="+mn-cs"/>
                      </a:endParaRP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1C</a:t>
                      </a:r>
                    </a:p>
                  </a:txBody>
                  <a:tcPr/>
                </a:tc>
                <a:tc>
                  <a:txBody>
                    <a:bodyPr/>
                    <a:lstStyle/>
                    <a:p>
                      <a:pPr marL="0" algn="ctr" rtl="0" eaLnBrk="1" latinLnBrk="0" hangingPunct="1"/>
                      <a:r>
                        <a:rPr kumimoji="0" lang="en-US" kern="1200" dirty="0">
                          <a:solidFill>
                            <a:schemeClr val="tx1"/>
                          </a:solidFill>
                          <a:latin typeface="+mn-lt"/>
                          <a:ea typeface="+mn-ea"/>
                          <a:cs typeface="+mn-cs"/>
                        </a:rPr>
                        <a:t>1D</a:t>
                      </a:r>
                    </a:p>
                  </a:txBody>
                  <a:tcPr/>
                </a:tc>
                <a:tc>
                  <a:txBody>
                    <a:bodyPr/>
                    <a:lstStyle/>
                    <a:p>
                      <a:pPr marL="0" algn="ctr" rtl="0" eaLnBrk="1" latinLnBrk="0" hangingPunct="1"/>
                      <a:r>
                        <a:rPr kumimoji="0" lang="en-US" kern="1200" dirty="0">
                          <a:solidFill>
                            <a:schemeClr val="tx1"/>
                          </a:solidFill>
                          <a:latin typeface="+mn-lt"/>
                          <a:ea typeface="+mn-ea"/>
                          <a:cs typeface="+mn-cs"/>
                        </a:rPr>
                        <a:t>1E</a:t>
                      </a:r>
                    </a:p>
                  </a:txBody>
                  <a:tcPr/>
                </a:tc>
                <a:tc>
                  <a:txBody>
                    <a:bodyPr/>
                    <a:lstStyle/>
                    <a:p>
                      <a:pPr marL="0" algn="ctr" rtl="0" eaLnBrk="1" latinLnBrk="0" hangingPunct="1"/>
                      <a:r>
                        <a:rPr kumimoji="0" lang="en-US" kern="1200" dirty="0">
                          <a:solidFill>
                            <a:schemeClr val="tx1"/>
                          </a:solidFill>
                          <a:latin typeface="+mn-lt"/>
                          <a:ea typeface="+mn-ea"/>
                          <a:cs typeface="+mn-cs"/>
                        </a:rPr>
                        <a:t>1F</a:t>
                      </a:r>
                    </a:p>
                  </a:txBody>
                  <a:tcPr/>
                </a:tc>
                <a:extLst>
                  <a:ext uri="{0D108BD9-81ED-4DB2-BD59-A6C34878D82A}">
                    <a16:rowId xmlns:a16="http://schemas.microsoft.com/office/drawing/2014/main" val="1568566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0x100001E0</a:t>
                      </a:r>
                    </a:p>
                  </a:txBody>
                  <a:tcPr/>
                </a:tc>
                <a:tc>
                  <a:txBody>
                    <a:bodyPr/>
                    <a:lstStyle/>
                    <a:p>
                      <a:pPr algn="ctr"/>
                      <a:r>
                        <a:rPr lang="en-US" dirty="0"/>
                        <a:t>00</a:t>
                      </a:r>
                    </a:p>
                  </a:txBody>
                  <a:tcPr/>
                </a:tc>
                <a:tc>
                  <a:txBody>
                    <a:bodyPr/>
                    <a:lstStyle/>
                    <a:p>
                      <a:pPr marL="0" algn="ctr" rtl="0" eaLnBrk="1" latinLnBrk="0" hangingPunct="1"/>
                      <a:r>
                        <a:rPr kumimoji="0" lang="en-US" kern="1200" dirty="0">
                          <a:solidFill>
                            <a:schemeClr val="tx1"/>
                          </a:solidFill>
                          <a:latin typeface="+mn-lt"/>
                          <a:ea typeface="+mn-ea"/>
                          <a:cs typeface="+mn-cs"/>
                        </a:rPr>
                        <a:t>01</a:t>
                      </a:r>
                    </a:p>
                  </a:txBody>
                  <a:tcPr/>
                </a:tc>
                <a:tc>
                  <a:txBody>
                    <a:bodyPr/>
                    <a:lstStyle/>
                    <a:p>
                      <a:pPr marL="0" algn="ctr" rtl="0" eaLnBrk="1" latinLnBrk="0" hangingPunct="1"/>
                      <a:r>
                        <a:rPr kumimoji="0" lang="en-US" kern="1200" dirty="0">
                          <a:solidFill>
                            <a:schemeClr val="tx1"/>
                          </a:solidFill>
                          <a:latin typeface="+mn-lt"/>
                          <a:ea typeface="+mn-ea"/>
                          <a:cs typeface="+mn-cs"/>
                        </a:rPr>
                        <a:t>02</a:t>
                      </a:r>
                    </a:p>
                  </a:txBody>
                  <a:tcPr/>
                </a:tc>
                <a:tc>
                  <a:txBody>
                    <a:bodyPr/>
                    <a:lstStyle/>
                    <a:p>
                      <a:pPr marL="0" algn="ctr" rtl="0" eaLnBrk="1" latinLnBrk="0" hangingPunct="1"/>
                      <a:r>
                        <a:rPr kumimoji="0" lang="en-US" kern="1200" dirty="0">
                          <a:solidFill>
                            <a:schemeClr val="tx1"/>
                          </a:solidFill>
                          <a:latin typeface="+mn-lt"/>
                          <a:ea typeface="+mn-ea"/>
                          <a:cs typeface="+mn-cs"/>
                        </a:rPr>
                        <a:t>03</a:t>
                      </a:r>
                    </a:p>
                  </a:txBody>
                  <a:tcPr/>
                </a:tc>
                <a:tc>
                  <a:txBody>
                    <a:bodyPr/>
                    <a:lstStyle/>
                    <a:p>
                      <a:pPr marL="0" algn="ctr" rtl="0" eaLnBrk="1" latinLnBrk="0" hangingPunct="1"/>
                      <a:r>
                        <a:rPr kumimoji="0" lang="en-US" kern="1200" dirty="0">
                          <a:solidFill>
                            <a:schemeClr val="tx1"/>
                          </a:solidFill>
                          <a:latin typeface="+mn-lt"/>
                          <a:ea typeface="+mn-ea"/>
                          <a:cs typeface="+mn-cs"/>
                        </a:rPr>
                        <a:t>04</a:t>
                      </a:r>
                    </a:p>
                  </a:txBody>
                  <a:tcPr/>
                </a:tc>
                <a:tc>
                  <a:txBody>
                    <a:bodyPr/>
                    <a:lstStyle/>
                    <a:p>
                      <a:pPr marL="0" algn="ctr" rtl="0" eaLnBrk="1" latinLnBrk="0" hangingPunct="1"/>
                      <a:r>
                        <a:rPr kumimoji="0" lang="en-US" kern="1200" dirty="0">
                          <a:solidFill>
                            <a:schemeClr val="tx1"/>
                          </a:solidFill>
                          <a:latin typeface="+mn-lt"/>
                          <a:ea typeface="+mn-ea"/>
                          <a:cs typeface="+mn-cs"/>
                        </a:rPr>
                        <a:t>05</a:t>
                      </a:r>
                    </a:p>
                  </a:txBody>
                  <a:tcPr/>
                </a:tc>
                <a:tc>
                  <a:txBody>
                    <a:bodyPr/>
                    <a:lstStyle/>
                    <a:p>
                      <a:pPr marL="0" algn="ctr" rtl="0" eaLnBrk="1" latinLnBrk="0" hangingPunct="1"/>
                      <a:r>
                        <a:rPr kumimoji="0" lang="en-US" kern="1200" dirty="0">
                          <a:solidFill>
                            <a:schemeClr val="tx1"/>
                          </a:solidFill>
                          <a:latin typeface="+mn-lt"/>
                          <a:ea typeface="+mn-ea"/>
                          <a:cs typeface="+mn-cs"/>
                        </a:rPr>
                        <a:t>06</a:t>
                      </a:r>
                    </a:p>
                  </a:txBody>
                  <a:tcPr/>
                </a:tc>
                <a:tc>
                  <a:txBody>
                    <a:bodyPr/>
                    <a:lstStyle/>
                    <a:p>
                      <a:pPr marL="0" algn="ctr" rtl="0" eaLnBrk="1" latinLnBrk="0" hangingPunct="1"/>
                      <a:r>
                        <a:rPr kumimoji="0" lang="en-US" kern="1200" dirty="0">
                          <a:solidFill>
                            <a:schemeClr val="tx1"/>
                          </a:solidFill>
                          <a:latin typeface="+mn-lt"/>
                          <a:ea typeface="+mn-ea"/>
                          <a:cs typeface="+mn-cs"/>
                        </a:rPr>
                        <a:t>07</a:t>
                      </a:r>
                    </a:p>
                  </a:txBody>
                  <a:tcPr/>
                </a:tc>
                <a:tc>
                  <a:txBody>
                    <a:bodyPr/>
                    <a:lstStyle/>
                    <a:p>
                      <a:pPr marL="0" algn="ctr" rtl="0" eaLnBrk="1" latinLnBrk="0" hangingPunct="1"/>
                      <a:r>
                        <a:rPr kumimoji="0" lang="en-US" kern="1200" dirty="0">
                          <a:solidFill>
                            <a:schemeClr val="tx1"/>
                          </a:solidFill>
                          <a:latin typeface="+mn-lt"/>
                          <a:ea typeface="+mn-ea"/>
                          <a:cs typeface="+mn-cs"/>
                        </a:rPr>
                        <a:t>08</a:t>
                      </a:r>
                    </a:p>
                  </a:txBody>
                  <a:tcPr/>
                </a:tc>
                <a:tc>
                  <a:txBody>
                    <a:bodyPr/>
                    <a:lstStyle/>
                    <a:p>
                      <a:pPr marL="0" algn="ctr" rtl="0" eaLnBrk="1" latinLnBrk="0" hangingPunct="1"/>
                      <a:r>
                        <a:rPr kumimoji="0" lang="en-US" kern="1200" dirty="0">
                          <a:solidFill>
                            <a:schemeClr val="tx1"/>
                          </a:solidFill>
                          <a:latin typeface="+mn-lt"/>
                          <a:ea typeface="+mn-ea"/>
                          <a:cs typeface="+mn-cs"/>
                        </a:rPr>
                        <a:t>09</a:t>
                      </a:r>
                    </a:p>
                  </a:txBody>
                  <a:tcPr/>
                </a:tc>
                <a:tc>
                  <a:txBody>
                    <a:bodyPr/>
                    <a:lstStyle/>
                    <a:p>
                      <a:pPr marL="0" algn="ctr" rtl="0" eaLnBrk="1" latinLnBrk="0" hangingPunct="1"/>
                      <a:r>
                        <a:rPr kumimoji="0" lang="en-US" kern="1200" dirty="0">
                          <a:solidFill>
                            <a:schemeClr val="tx1"/>
                          </a:solidFill>
                          <a:latin typeface="+mn-lt"/>
                          <a:ea typeface="+mn-ea"/>
                          <a:cs typeface="+mn-cs"/>
                        </a:rPr>
                        <a:t>0A</a:t>
                      </a:r>
                    </a:p>
                  </a:txBody>
                  <a:tcPr/>
                </a:tc>
                <a:tc>
                  <a:txBody>
                    <a:bodyPr/>
                    <a:lstStyle/>
                    <a:p>
                      <a:pPr marL="0" algn="ctr" rtl="0" eaLnBrk="1" latinLnBrk="0" hangingPunct="1"/>
                      <a:r>
                        <a:rPr kumimoji="0" lang="en-US" kern="1200" dirty="0">
                          <a:solidFill>
                            <a:schemeClr val="tx1"/>
                          </a:solidFill>
                          <a:latin typeface="+mn-lt"/>
                          <a:ea typeface="+mn-ea"/>
                          <a:cs typeface="+mn-cs"/>
                        </a:rPr>
                        <a:t>0B</a:t>
                      </a:r>
                    </a:p>
                  </a:txBody>
                  <a:tcPr/>
                </a:tc>
                <a:tc>
                  <a:txBody>
                    <a:bodyPr/>
                    <a:lstStyle/>
                    <a:p>
                      <a:pPr marL="0" algn="ctr" rtl="0" eaLnBrk="1" latinLnBrk="0" hangingPunct="1"/>
                      <a:r>
                        <a:rPr kumimoji="0" lang="en-US" kern="1200" dirty="0">
                          <a:solidFill>
                            <a:schemeClr val="tx1"/>
                          </a:solidFill>
                          <a:latin typeface="+mn-lt"/>
                          <a:ea typeface="+mn-ea"/>
                          <a:cs typeface="+mn-cs"/>
                        </a:rPr>
                        <a:t>0C</a:t>
                      </a:r>
                    </a:p>
                  </a:txBody>
                  <a:tcPr/>
                </a:tc>
                <a:tc>
                  <a:txBody>
                    <a:bodyPr/>
                    <a:lstStyle/>
                    <a:p>
                      <a:pPr marL="0" algn="ctr" rtl="0" eaLnBrk="1" latinLnBrk="0" hangingPunct="1"/>
                      <a:r>
                        <a:rPr kumimoji="0" lang="en-US" kern="1200" dirty="0">
                          <a:solidFill>
                            <a:schemeClr val="tx1"/>
                          </a:solidFill>
                          <a:latin typeface="+mn-lt"/>
                          <a:ea typeface="+mn-ea"/>
                          <a:cs typeface="+mn-cs"/>
                        </a:rPr>
                        <a:t>0D</a:t>
                      </a:r>
                    </a:p>
                  </a:txBody>
                  <a:tcPr/>
                </a:tc>
                <a:tc>
                  <a:txBody>
                    <a:bodyPr/>
                    <a:lstStyle/>
                    <a:p>
                      <a:pPr marL="0" algn="ctr" rtl="0" eaLnBrk="1" latinLnBrk="0" hangingPunct="1"/>
                      <a:r>
                        <a:rPr kumimoji="0" lang="en-US" kern="1200" dirty="0">
                          <a:solidFill>
                            <a:schemeClr val="tx1"/>
                          </a:solidFill>
                          <a:latin typeface="+mn-lt"/>
                          <a:ea typeface="+mn-ea"/>
                          <a:cs typeface="+mn-cs"/>
                        </a:rPr>
                        <a:t>0E</a:t>
                      </a:r>
                    </a:p>
                  </a:txBody>
                  <a:tcPr/>
                </a:tc>
                <a:tc>
                  <a:txBody>
                    <a:bodyPr/>
                    <a:lstStyle/>
                    <a:p>
                      <a:pPr marL="0" algn="ctr" rtl="0" eaLnBrk="1" latinLnBrk="0" hangingPunct="1"/>
                      <a:r>
                        <a:rPr kumimoji="0" lang="en-US" kern="1200" dirty="0">
                          <a:solidFill>
                            <a:schemeClr val="tx1"/>
                          </a:solidFill>
                          <a:latin typeface="+mn-lt"/>
                          <a:ea typeface="+mn-ea"/>
                          <a:cs typeface="+mn-cs"/>
                        </a:rPr>
                        <a:t>0F</a:t>
                      </a:r>
                    </a:p>
                  </a:txBody>
                  <a:tcPr/>
                </a:tc>
                <a:extLst>
                  <a:ext uri="{0D108BD9-81ED-4DB2-BD59-A6C34878D82A}">
                    <a16:rowId xmlns:a16="http://schemas.microsoft.com/office/drawing/2014/main" val="3396541759"/>
                  </a:ext>
                </a:extLst>
              </a:tr>
            </a:tbl>
          </a:graphicData>
        </a:graphic>
      </p:graphicFrame>
      <p:graphicFrame>
        <p:nvGraphicFramePr>
          <p:cNvPr id="8" name="Content Placeholder 4">
            <a:extLst>
              <a:ext uri="{FF2B5EF4-FFF2-40B4-BE49-F238E27FC236}">
                <a16:creationId xmlns:a16="http://schemas.microsoft.com/office/drawing/2014/main" id="{9770AA11-4F5C-66E5-32E6-746A87733451}"/>
              </a:ext>
            </a:extLst>
          </p:cNvPr>
          <p:cNvGraphicFramePr>
            <a:graphicFrameLocks/>
          </p:cNvGraphicFramePr>
          <p:nvPr/>
        </p:nvGraphicFramePr>
        <p:xfrm>
          <a:off x="6707997" y="1945640"/>
          <a:ext cx="2219325" cy="2966720"/>
        </p:xfrm>
        <a:graphic>
          <a:graphicData uri="http://schemas.openxmlformats.org/drawingml/2006/table">
            <a:tbl>
              <a:tblPr firstRow="1" bandRow="1">
                <a:tableStyleId>{5940675A-B579-460E-94D1-54222C63F5DA}</a:tableStyleId>
              </a:tblPr>
              <a:tblGrid>
                <a:gridCol w="537012">
                  <a:extLst>
                    <a:ext uri="{9D8B030D-6E8A-4147-A177-3AD203B41FA5}">
                      <a16:colId xmlns:a16="http://schemas.microsoft.com/office/drawing/2014/main" val="3133599075"/>
                    </a:ext>
                  </a:extLst>
                </a:gridCol>
                <a:gridCol w="1682313">
                  <a:extLst>
                    <a:ext uri="{9D8B030D-6E8A-4147-A177-3AD203B41FA5}">
                      <a16:colId xmlns:a16="http://schemas.microsoft.com/office/drawing/2014/main" val="1327154262"/>
                    </a:ext>
                  </a:extLst>
                </a:gridCol>
              </a:tblGrid>
              <a:tr h="370840">
                <a:tc>
                  <a:txBody>
                    <a:bodyPr/>
                    <a:lstStyle/>
                    <a:p>
                      <a:pPr marL="0" algn="ctr" rtl="0" eaLnBrk="1" latinLnBrk="0" hangingPunct="1"/>
                      <a:r>
                        <a:rPr kumimoji="0" lang="en-US" b="0" kern="1200" dirty="0">
                          <a:solidFill>
                            <a:schemeClr val="tx1"/>
                          </a:solidFill>
                          <a:latin typeface="+mn-lt"/>
                          <a:ea typeface="+mn-ea"/>
                          <a:cs typeface="+mn-cs"/>
                        </a:rPr>
                        <a:t>R0</a:t>
                      </a:r>
                    </a:p>
                  </a:txBody>
                  <a:tcPr/>
                </a:tc>
                <a:tc>
                  <a:txBody>
                    <a:bodyPr/>
                    <a:lstStyle/>
                    <a:p>
                      <a:pPr marL="0" algn="ctr" rtl="0" eaLnBrk="1" latinLnBrk="0" hangingPunct="1"/>
                      <a:r>
                        <a:rPr kumimoji="0" lang="pt-BR" b="0" kern="1200" dirty="0">
                          <a:solidFill>
                            <a:schemeClr val="tx1"/>
                          </a:solidFill>
                          <a:latin typeface="+mn-lt"/>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814596732"/>
                  </a:ext>
                </a:extLst>
              </a:tr>
              <a:tr h="370840">
                <a:tc>
                  <a:txBody>
                    <a:bodyPr/>
                    <a:lstStyle/>
                    <a:p>
                      <a:pPr marL="0" algn="ctr" rtl="0" eaLnBrk="1" latinLnBrk="0" hangingPunct="1"/>
                      <a:r>
                        <a:rPr kumimoji="0" lang="en-US" b="0" kern="1200" dirty="0">
                          <a:solidFill>
                            <a:schemeClr val="tx1"/>
                          </a:solidFill>
                          <a:latin typeface="+mn-lt"/>
                          <a:ea typeface="+mn-ea"/>
                          <a:cs typeface="+mn-cs"/>
                        </a:rPr>
                        <a:t>R1</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81549779"/>
                  </a:ext>
                </a:extLst>
              </a:tr>
              <a:tr h="370840">
                <a:tc>
                  <a:txBody>
                    <a:bodyPr/>
                    <a:lstStyle/>
                    <a:p>
                      <a:pPr marL="0" algn="ctr" rtl="0" eaLnBrk="1" latinLnBrk="0" hangingPunct="1"/>
                      <a:r>
                        <a:rPr kumimoji="0" lang="en-US" b="0" kern="1200" dirty="0">
                          <a:solidFill>
                            <a:schemeClr val="tx1"/>
                          </a:solidFill>
                          <a:latin typeface="+mn-lt"/>
                          <a:ea typeface="+mn-ea"/>
                          <a:cs typeface="+mn-cs"/>
                        </a:rPr>
                        <a:t>R2</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0x0000FFFF</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337800547"/>
                  </a:ext>
                </a:extLst>
              </a:tr>
              <a:tr h="370840">
                <a:tc>
                  <a:txBody>
                    <a:bodyPr/>
                    <a:lstStyle/>
                    <a:p>
                      <a:pPr marL="0" algn="ctr" rtl="0" eaLnBrk="1" latinLnBrk="0" hangingPunct="1"/>
                      <a:r>
                        <a:rPr kumimoji="0" lang="en-US" b="0" kern="1200" dirty="0">
                          <a:solidFill>
                            <a:schemeClr val="tx1"/>
                          </a:solidFill>
                          <a:latin typeface="+mn-lt"/>
                          <a:ea typeface="+mn-ea"/>
                          <a:cs typeface="+mn-cs"/>
                        </a:rPr>
                        <a:t>R3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0x18675309</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365453190"/>
                  </a:ext>
                </a:extLst>
              </a:tr>
              <a:tr h="370840">
                <a:tc>
                  <a:txBody>
                    <a:bodyPr/>
                    <a:lstStyle/>
                    <a:p>
                      <a:pPr marL="0" algn="ctr" rtl="0" eaLnBrk="1" latinLnBrk="0" hangingPunct="1"/>
                      <a:r>
                        <a:rPr kumimoji="0" lang="en-US" b="0" kern="1200" dirty="0">
                          <a:solidFill>
                            <a:schemeClr val="tx1"/>
                          </a:solidFill>
                          <a:latin typeface="+mn-lt"/>
                          <a:ea typeface="+mn-ea"/>
                          <a:cs typeface="+mn-cs"/>
                        </a:rPr>
                        <a:t>R4</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217285831"/>
                  </a:ext>
                </a:extLst>
              </a:tr>
              <a:tr h="370840">
                <a:tc>
                  <a:txBody>
                    <a:bodyPr/>
                    <a:lstStyle/>
                    <a:p>
                      <a:pPr marL="0" algn="ctr" rtl="0" eaLnBrk="1" latinLnBrk="0" hangingPunct="1"/>
                      <a:r>
                        <a:rPr kumimoji="0" lang="en-US" b="0" kern="1200" dirty="0">
                          <a:solidFill>
                            <a:schemeClr val="tx1"/>
                          </a:solidFill>
                          <a:latin typeface="+mn-lt"/>
                          <a:ea typeface="+mn-ea"/>
                          <a:cs typeface="+mn-cs"/>
                        </a:rPr>
                        <a:t>R5</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012525772"/>
                  </a:ext>
                </a:extLst>
              </a:tr>
              <a:tr h="370840">
                <a:tc>
                  <a:txBody>
                    <a:bodyPr/>
                    <a:lstStyle/>
                    <a:p>
                      <a:pPr marL="0" algn="ctr" rtl="0" eaLnBrk="1" latinLnBrk="0" hangingPunct="1"/>
                      <a:r>
                        <a:rPr kumimoji="0" lang="en-US" b="0" kern="1200" dirty="0">
                          <a:solidFill>
                            <a:schemeClr val="tx1"/>
                          </a:solidFill>
                          <a:latin typeface="+mn-lt"/>
                          <a:ea typeface="+mn-ea"/>
                          <a:cs typeface="+mn-cs"/>
                        </a:rPr>
                        <a:t>…</a:t>
                      </a:r>
                    </a:p>
                  </a:txBody>
                  <a:tcPr/>
                </a:tc>
                <a:tc>
                  <a:txBody>
                    <a:bodyPr/>
                    <a:lstStyle/>
                    <a:p>
                      <a:pPr marL="0" algn="ctr" rtl="0" eaLnBrk="1" latinLnBrk="0" hangingPunct="1"/>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767889990"/>
                  </a:ext>
                </a:extLst>
              </a:tr>
              <a:tr h="370840">
                <a:tc>
                  <a:txBody>
                    <a:bodyPr/>
                    <a:lstStyle/>
                    <a:p>
                      <a:pPr marL="0" algn="ctr" rtl="0" eaLnBrk="1" latinLnBrk="0" hangingPunct="1"/>
                      <a:r>
                        <a:rPr kumimoji="0" lang="en-US" sz="1600" b="0" kern="1200" dirty="0">
                          <a:solidFill>
                            <a:schemeClr val="tx1"/>
                          </a:solidFill>
                          <a:latin typeface="+mn-lt"/>
                          <a:ea typeface="+mn-ea"/>
                          <a:cs typeface="+mn-cs"/>
                        </a:rPr>
                        <a:t>R13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656245920"/>
                  </a:ext>
                </a:extLst>
              </a:tr>
            </a:tbl>
          </a:graphicData>
        </a:graphic>
      </p:graphicFrame>
      <p:sp>
        <p:nvSpPr>
          <p:cNvPr id="11" name="Content Placeholder 3">
            <a:extLst>
              <a:ext uri="{FF2B5EF4-FFF2-40B4-BE49-F238E27FC236}">
                <a16:creationId xmlns:a16="http://schemas.microsoft.com/office/drawing/2014/main" id="{722AEABA-ECF0-EE34-D92D-0B9E8214F92E}"/>
              </a:ext>
            </a:extLst>
          </p:cNvPr>
          <p:cNvSpPr txBox="1">
            <a:spLocks/>
          </p:cNvSpPr>
          <p:nvPr/>
        </p:nvSpPr>
        <p:spPr>
          <a:xfrm>
            <a:off x="457200" y="1219200"/>
            <a:ext cx="5593976" cy="3420035"/>
          </a:xfrm>
          <a:prstGeom prst="rect">
            <a:avLst/>
          </a:prstGeom>
        </p:spPr>
        <p:txBody>
          <a:bodyPr vert="horz">
            <a:normAutofit fontScale="925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000" b="0" dirty="0"/>
              <a:t>After </a:t>
            </a:r>
            <a:r>
              <a:rPr lang="pt-BR" sz="2000" b="0" dirty="0"/>
              <a:t>MOVW R0, #0xAFE1, MOVT R0, #0xBADC</a:t>
            </a:r>
          </a:p>
          <a:p>
            <a:pPr fontAlgn="auto">
              <a:spcAft>
                <a:spcPts val="0"/>
              </a:spcAft>
            </a:pPr>
            <a:r>
              <a:rPr lang="en-US" sz="2000" b="0" dirty="0"/>
              <a:t>R0 = 0xBADCAFE1</a:t>
            </a:r>
          </a:p>
          <a:p>
            <a:pPr fontAlgn="auto">
              <a:spcAft>
                <a:spcPts val="0"/>
              </a:spcAft>
            </a:pPr>
            <a:r>
              <a:rPr lang="en-US" sz="2000" b="0" dirty="0"/>
              <a:t>After MOVT R2, #0xABCD</a:t>
            </a:r>
          </a:p>
          <a:p>
            <a:pPr lvl="1" fontAlgn="auto">
              <a:spcAft>
                <a:spcPts val="0"/>
              </a:spcAft>
            </a:pPr>
            <a:r>
              <a:rPr lang="en-US" sz="1700" b="0" dirty="0"/>
              <a:t>R2 = 0xABCDFFFF</a:t>
            </a:r>
          </a:p>
          <a:p>
            <a:pPr fontAlgn="auto">
              <a:spcAft>
                <a:spcPts val="0"/>
              </a:spcAft>
            </a:pPr>
            <a:r>
              <a:rPr lang="en-US" sz="2000" b="0" dirty="0"/>
              <a:t>After STR R3, [R1]</a:t>
            </a:r>
          </a:p>
          <a:p>
            <a:pPr lvl="1" fontAlgn="auto">
              <a:spcAft>
                <a:spcPts val="0"/>
              </a:spcAft>
            </a:pPr>
            <a:r>
              <a:rPr lang="en-US" sz="1700" b="0" dirty="0"/>
              <a:t>R3 = 0x18675309 is stored at mem address R1 = 0x10000200  </a:t>
            </a:r>
          </a:p>
          <a:p>
            <a:pPr fontAlgn="auto">
              <a:spcAft>
                <a:spcPts val="0"/>
              </a:spcAft>
            </a:pPr>
            <a:r>
              <a:rPr lang="en-US" sz="2000" b="0" dirty="0"/>
              <a:t>After LDRSH R4, [R1, #0xC] (load signed half word from R1+0xC=0x1000020C)</a:t>
            </a:r>
          </a:p>
          <a:p>
            <a:pPr lvl="1" fontAlgn="auto">
              <a:spcAft>
                <a:spcPts val="0"/>
              </a:spcAft>
            </a:pPr>
            <a:r>
              <a:rPr lang="en-US" sz="1700" b="0" dirty="0"/>
              <a:t>R4 = 0xFFFF8877</a:t>
            </a:r>
          </a:p>
        </p:txBody>
      </p:sp>
      <p:sp>
        <p:nvSpPr>
          <p:cNvPr id="12" name="TextBox 11">
            <a:extLst>
              <a:ext uri="{FF2B5EF4-FFF2-40B4-BE49-F238E27FC236}">
                <a16:creationId xmlns:a16="http://schemas.microsoft.com/office/drawing/2014/main" id="{A8FE334F-F18A-EB69-90F3-94DB53A49559}"/>
              </a:ext>
            </a:extLst>
          </p:cNvPr>
          <p:cNvSpPr txBox="1"/>
          <p:nvPr/>
        </p:nvSpPr>
        <p:spPr>
          <a:xfrm>
            <a:off x="4357032" y="4507329"/>
            <a:ext cx="2350965" cy="400110"/>
          </a:xfrm>
          <a:prstGeom prst="rect">
            <a:avLst/>
          </a:prstGeom>
          <a:noFill/>
        </p:spPr>
        <p:txBody>
          <a:bodyPr wrap="none" rtlCol="0">
            <a:spAutoFit/>
          </a:bodyPr>
          <a:lstStyle/>
          <a:p>
            <a:r>
              <a:rPr lang="en-US" sz="2000" b="0" dirty="0">
                <a:latin typeface="+mn-lt"/>
              </a:rPr>
              <a:t>Initial Register Values</a:t>
            </a:r>
          </a:p>
        </p:txBody>
      </p:sp>
      <p:sp>
        <p:nvSpPr>
          <p:cNvPr id="13" name="TextBox 12">
            <a:extLst>
              <a:ext uri="{FF2B5EF4-FFF2-40B4-BE49-F238E27FC236}">
                <a16:creationId xmlns:a16="http://schemas.microsoft.com/office/drawing/2014/main" id="{E9CBE065-F441-7322-28B6-C0DE231F3059}"/>
              </a:ext>
            </a:extLst>
          </p:cNvPr>
          <p:cNvSpPr txBox="1"/>
          <p:nvPr/>
        </p:nvSpPr>
        <p:spPr>
          <a:xfrm>
            <a:off x="3832596" y="6258114"/>
            <a:ext cx="2734659" cy="400110"/>
          </a:xfrm>
          <a:prstGeom prst="rect">
            <a:avLst/>
          </a:prstGeom>
          <a:noFill/>
        </p:spPr>
        <p:txBody>
          <a:bodyPr wrap="none" rtlCol="0">
            <a:spAutoFit/>
          </a:bodyPr>
          <a:lstStyle/>
          <a:p>
            <a:r>
              <a:rPr lang="en-US" sz="2000" b="0" dirty="0">
                <a:latin typeface="+mn-lt"/>
              </a:rPr>
              <a:t>Initial Memory Contents</a:t>
            </a:r>
          </a:p>
        </p:txBody>
      </p:sp>
      <p:sp>
        <p:nvSpPr>
          <p:cNvPr id="4" name="TextBox 3">
            <a:extLst>
              <a:ext uri="{FF2B5EF4-FFF2-40B4-BE49-F238E27FC236}">
                <a16:creationId xmlns:a16="http://schemas.microsoft.com/office/drawing/2014/main" id="{85B69292-CBB5-3DF7-B428-218A4A7336AD}"/>
              </a:ext>
            </a:extLst>
          </p:cNvPr>
          <p:cNvSpPr txBox="1"/>
          <p:nvPr/>
        </p:nvSpPr>
        <p:spPr>
          <a:xfrm>
            <a:off x="5921371" y="195347"/>
            <a:ext cx="3005951" cy="163121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MOVW R0, #0xAFE1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R0, #0xBADC</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R2, #0xABCD</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STR R3,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LDRSH R4, [R1, #0xC]</a:t>
            </a:r>
          </a:p>
        </p:txBody>
      </p:sp>
    </p:spTree>
    <p:extLst>
      <p:ext uri="{BB962C8B-B14F-4D97-AF65-F5344CB8AC3E}">
        <p14:creationId xmlns:p14="http://schemas.microsoft.com/office/powerpoint/2010/main" val="436543705"/>
      </p:ext>
    </p:extLst>
  </p:cSld>
  <p:clrMapOvr>
    <a:masterClrMapping/>
  </p:clrMapOvr>
  <p:transition>
    <p:pull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92FCB-7FF9-9037-3DC9-B18E7B49293F}"/>
              </a:ext>
            </a:extLst>
          </p:cNvPr>
          <p:cNvSpPr>
            <a:spLocks noGrp="1"/>
          </p:cNvSpPr>
          <p:nvPr>
            <p:ph type="title"/>
          </p:nvPr>
        </p:nvSpPr>
        <p:spPr/>
        <p:txBody>
          <a:bodyPr>
            <a:normAutofit/>
          </a:bodyPr>
          <a:lstStyle/>
          <a:p>
            <a:r>
              <a:rPr lang="en-US" sz="2400" dirty="0"/>
              <a:t>Program Understanding 2</a:t>
            </a:r>
          </a:p>
        </p:txBody>
      </p:sp>
      <p:sp>
        <p:nvSpPr>
          <p:cNvPr id="3" name="Slide Number Placeholder 2">
            <a:extLst>
              <a:ext uri="{FF2B5EF4-FFF2-40B4-BE49-F238E27FC236}">
                <a16:creationId xmlns:a16="http://schemas.microsoft.com/office/drawing/2014/main" id="{51BF2EDE-04BA-CDE6-155B-A94557178B71}"/>
              </a:ext>
            </a:extLst>
          </p:cNvPr>
          <p:cNvSpPr>
            <a:spLocks noGrp="1"/>
          </p:cNvSpPr>
          <p:nvPr>
            <p:ph type="sldNum" sz="quarter" idx="12"/>
          </p:nvPr>
        </p:nvSpPr>
        <p:spPr/>
        <p:txBody>
          <a:bodyPr/>
          <a:lstStyle/>
          <a:p>
            <a:fld id="{AEE14D4A-FE32-40AF-B06D-E9622816B101}" type="slidenum">
              <a:rPr lang="en-US" smtClean="0"/>
              <a:pPr/>
              <a:t>32</a:t>
            </a:fld>
            <a:endParaRPr lang="en-US"/>
          </a:p>
        </p:txBody>
      </p:sp>
      <p:sp>
        <p:nvSpPr>
          <p:cNvPr id="4" name="Content Placeholder 3">
            <a:extLst>
              <a:ext uri="{FF2B5EF4-FFF2-40B4-BE49-F238E27FC236}">
                <a16:creationId xmlns:a16="http://schemas.microsoft.com/office/drawing/2014/main" id="{145B3053-CFB1-6838-AAE4-D5E27021784B}"/>
              </a:ext>
            </a:extLst>
          </p:cNvPr>
          <p:cNvSpPr>
            <a:spLocks noGrp="1"/>
          </p:cNvSpPr>
          <p:nvPr>
            <p:ph sz="quarter" idx="1"/>
          </p:nvPr>
        </p:nvSpPr>
        <p:spPr>
          <a:xfrm>
            <a:off x="137322" y="1219200"/>
            <a:ext cx="5305560" cy="3262877"/>
          </a:xfrm>
        </p:spPr>
        <p:txBody>
          <a:bodyPr>
            <a:normAutofit fontScale="77500" lnSpcReduction="20000"/>
          </a:bodyPr>
          <a:lstStyle/>
          <a:p>
            <a:pPr fontAlgn="auto">
              <a:spcAft>
                <a:spcPts val="0"/>
              </a:spcAft>
            </a:pPr>
            <a:r>
              <a:rPr lang="en-US" dirty="0"/>
              <a:t>Show all updates to registers as the assembly code shown below runs, </a:t>
            </a:r>
            <a:r>
              <a:rPr lang="en-US" sz="2800" dirty="0"/>
              <a:t>assuming little-endian ordering. Memory addresses and contents are shown in the table. (Assume memory addresses increase from left to right, and from bottom to top in the table.)</a:t>
            </a:r>
            <a:r>
              <a:rPr lang="en-US" dirty="0"/>
              <a:t> Show the NZCV flags next to the instruction if they change. Each instruction is 32 bits. </a:t>
            </a:r>
            <a:r>
              <a:rPr lang="en-US" altLang="zh-CN" dirty="0"/>
              <a:t>Do not update PC after each instruction. </a:t>
            </a:r>
            <a:r>
              <a:rPr lang="en-US" dirty="0"/>
              <a:t>R13 and R15 have initial values shown. </a:t>
            </a:r>
          </a:p>
        </p:txBody>
      </p:sp>
      <p:sp>
        <p:nvSpPr>
          <p:cNvPr id="5" name="TextBox 4">
            <a:extLst>
              <a:ext uri="{FF2B5EF4-FFF2-40B4-BE49-F238E27FC236}">
                <a16:creationId xmlns:a16="http://schemas.microsoft.com/office/drawing/2014/main" id="{393557C1-FD7E-7283-65D1-80093EB57E23}"/>
              </a:ext>
            </a:extLst>
          </p:cNvPr>
          <p:cNvSpPr txBox="1"/>
          <p:nvPr/>
        </p:nvSpPr>
        <p:spPr>
          <a:xfrm>
            <a:off x="5442882" y="463094"/>
            <a:ext cx="2967479" cy="569386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b="0" kern="0" dirty="0">
                <a:solidFill>
                  <a:prstClr val="black"/>
                </a:solidFill>
                <a:latin typeface="Consolas" panose="020B0609020204030204" pitchFamily="49" charset="0"/>
                <a:cs typeface="Consolas" panose="020B0609020204030204" pitchFamily="49" charset="0"/>
              </a:rPr>
              <a:t>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R1, =0x10000010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R2,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R3, [R1,#4]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 max</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SUBS R4, R2, R0  @NZCV =</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MOVW R5, #1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LSL R6, R5, #4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BIC R7, R2, R6</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ANDS R8, R7, </a:t>
            </a:r>
            <a:r>
              <a:rPr lang="pt-BR" b="0" kern="0" dirty="0">
                <a:solidFill>
                  <a:prstClr val="black"/>
                </a:solidFill>
                <a:latin typeface="Consolas" panose="020B0609020204030204" pitchFamily="49" charset="0"/>
                <a:cs typeface="Consolas" panose="020B0609020204030204" pitchFamily="49" charset="0"/>
              </a:rPr>
              <a:t>R6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ROR R9, R3, #12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REV R10, R9</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RBIT R11, R10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ADDS R12, R3, </a:t>
            </a:r>
            <a:r>
              <a:rPr lang="pt-BR" b="0" kern="0" dirty="0">
                <a:solidFill>
                  <a:prstClr val="black"/>
                </a:solidFill>
                <a:latin typeface="Consolas" panose="020B0609020204030204" pitchFamily="49" charset="0"/>
                <a:cs typeface="Consolas" panose="020B0609020204030204" pitchFamily="49" charset="0"/>
              </a:rPr>
              <a:t>R9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STR R12, [R1,#8]</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loop B loop</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max PROC</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CMP R2, </a:t>
            </a:r>
            <a:r>
              <a:rPr lang="pt-BR" b="0" kern="0" dirty="0">
                <a:solidFill>
                  <a:prstClr val="black"/>
                </a:solidFill>
                <a:latin typeface="Consolas" panose="020B0609020204030204" pitchFamily="49" charset="0"/>
                <a:cs typeface="Consolas" panose="020B0609020204030204" pitchFamily="49" charset="0"/>
              </a:rPr>
              <a:t>R3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BLT second</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first MOV R0, R2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 done</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second MOV R0,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done   BX LR</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p:txBody>
      </p:sp>
      <p:graphicFrame>
        <p:nvGraphicFramePr>
          <p:cNvPr id="6" name="Table 5">
            <a:extLst>
              <a:ext uri="{FF2B5EF4-FFF2-40B4-BE49-F238E27FC236}">
                <a16:creationId xmlns:a16="http://schemas.microsoft.com/office/drawing/2014/main" id="{43586B0A-AAB6-1D2E-24D6-64E619D83AA5}"/>
              </a:ext>
            </a:extLst>
          </p:cNvPr>
          <p:cNvGraphicFramePr>
            <a:graphicFrameLocks noGrp="1"/>
          </p:cNvGraphicFramePr>
          <p:nvPr>
            <p:extLst>
              <p:ext uri="{D42A27DB-BD31-4B8C-83A1-F6EECF244321}">
                <p14:modId xmlns:p14="http://schemas.microsoft.com/office/powerpoint/2010/main" val="2472080063"/>
              </p:ext>
            </p:extLst>
          </p:nvPr>
        </p:nvGraphicFramePr>
        <p:xfrm>
          <a:off x="212382" y="4426444"/>
          <a:ext cx="5155440" cy="1778000"/>
        </p:xfrm>
        <a:graphic>
          <a:graphicData uri="http://schemas.openxmlformats.org/drawingml/2006/table">
            <a:tbl>
              <a:tblPr firstRow="1" bandRow="1">
                <a:tableStyleId>{5940675A-B579-460E-94D1-54222C63F5DA}</a:tableStyleId>
              </a:tblPr>
              <a:tblGrid>
                <a:gridCol w="644430">
                  <a:extLst>
                    <a:ext uri="{9D8B030D-6E8A-4147-A177-3AD203B41FA5}">
                      <a16:colId xmlns:a16="http://schemas.microsoft.com/office/drawing/2014/main" val="2337985746"/>
                    </a:ext>
                  </a:extLst>
                </a:gridCol>
                <a:gridCol w="644430">
                  <a:extLst>
                    <a:ext uri="{9D8B030D-6E8A-4147-A177-3AD203B41FA5}">
                      <a16:colId xmlns:a16="http://schemas.microsoft.com/office/drawing/2014/main" val="1802740170"/>
                    </a:ext>
                  </a:extLst>
                </a:gridCol>
                <a:gridCol w="644430">
                  <a:extLst>
                    <a:ext uri="{9D8B030D-6E8A-4147-A177-3AD203B41FA5}">
                      <a16:colId xmlns:a16="http://schemas.microsoft.com/office/drawing/2014/main" val="2590131525"/>
                    </a:ext>
                  </a:extLst>
                </a:gridCol>
                <a:gridCol w="644430">
                  <a:extLst>
                    <a:ext uri="{9D8B030D-6E8A-4147-A177-3AD203B41FA5}">
                      <a16:colId xmlns:a16="http://schemas.microsoft.com/office/drawing/2014/main" val="947827850"/>
                    </a:ext>
                  </a:extLst>
                </a:gridCol>
                <a:gridCol w="644430">
                  <a:extLst>
                    <a:ext uri="{9D8B030D-6E8A-4147-A177-3AD203B41FA5}">
                      <a16:colId xmlns:a16="http://schemas.microsoft.com/office/drawing/2014/main" val="2189951492"/>
                    </a:ext>
                  </a:extLst>
                </a:gridCol>
                <a:gridCol w="644430">
                  <a:extLst>
                    <a:ext uri="{9D8B030D-6E8A-4147-A177-3AD203B41FA5}">
                      <a16:colId xmlns:a16="http://schemas.microsoft.com/office/drawing/2014/main" val="2319925471"/>
                    </a:ext>
                  </a:extLst>
                </a:gridCol>
                <a:gridCol w="644430">
                  <a:extLst>
                    <a:ext uri="{9D8B030D-6E8A-4147-A177-3AD203B41FA5}">
                      <a16:colId xmlns:a16="http://schemas.microsoft.com/office/drawing/2014/main" val="3873491110"/>
                    </a:ext>
                  </a:extLst>
                </a:gridCol>
                <a:gridCol w="644430">
                  <a:extLst>
                    <a:ext uri="{9D8B030D-6E8A-4147-A177-3AD203B41FA5}">
                      <a16:colId xmlns:a16="http://schemas.microsoft.com/office/drawing/2014/main" val="2341457647"/>
                    </a:ext>
                  </a:extLst>
                </a:gridCol>
              </a:tblGrid>
              <a:tr h="370840">
                <a:tc>
                  <a:txBody>
                    <a:bodyPr/>
                    <a:lstStyle/>
                    <a:p>
                      <a:r>
                        <a:rPr lang="en-US" dirty="0"/>
                        <a:t>R0</a:t>
                      </a:r>
                    </a:p>
                  </a:txBody>
                  <a:tcPr/>
                </a:tc>
                <a:tc>
                  <a:txBody>
                    <a:bodyPr/>
                    <a:lstStyle/>
                    <a:p>
                      <a:endParaRPr lang="en-US"/>
                    </a:p>
                  </a:txBody>
                  <a:tcPr/>
                </a:tc>
                <a:tc>
                  <a:txBody>
                    <a:bodyPr/>
                    <a:lstStyle/>
                    <a:p>
                      <a:r>
                        <a:rPr lang="en-US" dirty="0"/>
                        <a:t>R4</a:t>
                      </a:r>
                    </a:p>
                  </a:txBody>
                  <a:tcPr/>
                </a:tc>
                <a:tc>
                  <a:txBody>
                    <a:bodyPr/>
                    <a:lstStyle/>
                    <a:p>
                      <a:endParaRPr lang="en-US"/>
                    </a:p>
                  </a:txBody>
                  <a:tcPr/>
                </a:tc>
                <a:tc>
                  <a:txBody>
                    <a:bodyPr/>
                    <a:lstStyle/>
                    <a:p>
                      <a:r>
                        <a:rPr lang="en-US" dirty="0"/>
                        <a:t>R8</a:t>
                      </a:r>
                    </a:p>
                  </a:txBody>
                  <a:tcPr/>
                </a:tc>
                <a:tc>
                  <a:txBody>
                    <a:bodyPr/>
                    <a:lstStyle/>
                    <a:p>
                      <a:endParaRPr lang="en-US"/>
                    </a:p>
                  </a:txBody>
                  <a:tcPr/>
                </a:tc>
                <a:tc>
                  <a:txBody>
                    <a:bodyPr/>
                    <a:lstStyle/>
                    <a:p>
                      <a:r>
                        <a:rPr lang="en-US" dirty="0"/>
                        <a:t>R12</a:t>
                      </a:r>
                    </a:p>
                  </a:txBody>
                  <a:tcPr/>
                </a:tc>
                <a:tc>
                  <a:txBody>
                    <a:bodyPr/>
                    <a:lstStyle/>
                    <a:p>
                      <a:endParaRPr lang="en-US" dirty="0"/>
                    </a:p>
                  </a:txBody>
                  <a:tcPr/>
                </a:tc>
                <a:extLst>
                  <a:ext uri="{0D108BD9-81ED-4DB2-BD59-A6C34878D82A}">
                    <a16:rowId xmlns:a16="http://schemas.microsoft.com/office/drawing/2014/main" val="100651221"/>
                  </a:ext>
                </a:extLst>
              </a:tr>
              <a:tr h="370840">
                <a:tc>
                  <a:txBody>
                    <a:bodyPr/>
                    <a:lstStyle/>
                    <a:p>
                      <a:r>
                        <a:rPr lang="en-US" dirty="0"/>
                        <a:t>R1</a:t>
                      </a:r>
                    </a:p>
                  </a:txBody>
                  <a:tcPr/>
                </a:tc>
                <a:tc>
                  <a:txBody>
                    <a:bodyPr/>
                    <a:lstStyle/>
                    <a:p>
                      <a:endParaRPr lang="en-US"/>
                    </a:p>
                  </a:txBody>
                  <a:tcPr/>
                </a:tc>
                <a:tc>
                  <a:txBody>
                    <a:bodyPr/>
                    <a:lstStyle/>
                    <a:p>
                      <a:r>
                        <a:rPr lang="en-US" dirty="0"/>
                        <a:t>R5</a:t>
                      </a:r>
                    </a:p>
                  </a:txBody>
                  <a:tcPr/>
                </a:tc>
                <a:tc>
                  <a:txBody>
                    <a:bodyPr/>
                    <a:lstStyle/>
                    <a:p>
                      <a:endParaRPr lang="en-US"/>
                    </a:p>
                  </a:txBody>
                  <a:tcPr/>
                </a:tc>
                <a:tc>
                  <a:txBody>
                    <a:bodyPr/>
                    <a:lstStyle/>
                    <a:p>
                      <a:r>
                        <a:rPr lang="en-US" dirty="0"/>
                        <a:t>R9</a:t>
                      </a:r>
                    </a:p>
                  </a:txBody>
                  <a:tcPr/>
                </a:tc>
                <a:tc>
                  <a:txBody>
                    <a:bodyPr/>
                    <a:lstStyle/>
                    <a:p>
                      <a:endParaRPr lang="en-US"/>
                    </a:p>
                  </a:txBody>
                  <a:tcPr/>
                </a:tc>
                <a:tc>
                  <a:txBody>
                    <a:bodyPr/>
                    <a:lstStyle/>
                    <a:p>
                      <a:r>
                        <a:rPr lang="en-US" dirty="0"/>
                        <a:t>R13</a:t>
                      </a:r>
                    </a:p>
                  </a:txBody>
                  <a:tcPr/>
                </a:tc>
                <a:tc>
                  <a:txBody>
                    <a:bodyPr/>
                    <a:lstStyle/>
                    <a:p>
                      <a:r>
                        <a:rPr lang="pt-BR" sz="1400" dirty="0"/>
                        <a:t>0x10000200</a:t>
                      </a:r>
                      <a:endParaRPr lang="en-US" sz="1400" dirty="0"/>
                    </a:p>
                  </a:txBody>
                  <a:tcPr/>
                </a:tc>
                <a:extLst>
                  <a:ext uri="{0D108BD9-81ED-4DB2-BD59-A6C34878D82A}">
                    <a16:rowId xmlns:a16="http://schemas.microsoft.com/office/drawing/2014/main" val="146351233"/>
                  </a:ext>
                </a:extLst>
              </a:tr>
              <a:tr h="370840">
                <a:tc>
                  <a:txBody>
                    <a:bodyPr/>
                    <a:lstStyle/>
                    <a:p>
                      <a:r>
                        <a:rPr lang="en-US" dirty="0"/>
                        <a:t>R2</a:t>
                      </a:r>
                    </a:p>
                  </a:txBody>
                  <a:tcPr/>
                </a:tc>
                <a:tc>
                  <a:txBody>
                    <a:bodyPr/>
                    <a:lstStyle/>
                    <a:p>
                      <a:endParaRPr lang="en-US"/>
                    </a:p>
                  </a:txBody>
                  <a:tcPr/>
                </a:tc>
                <a:tc>
                  <a:txBody>
                    <a:bodyPr/>
                    <a:lstStyle/>
                    <a:p>
                      <a:r>
                        <a:rPr lang="en-US" dirty="0"/>
                        <a:t>R6</a:t>
                      </a:r>
                    </a:p>
                  </a:txBody>
                  <a:tcPr/>
                </a:tc>
                <a:tc>
                  <a:txBody>
                    <a:bodyPr/>
                    <a:lstStyle/>
                    <a:p>
                      <a:endParaRPr lang="en-US"/>
                    </a:p>
                  </a:txBody>
                  <a:tcPr/>
                </a:tc>
                <a:tc>
                  <a:txBody>
                    <a:bodyPr/>
                    <a:lstStyle/>
                    <a:p>
                      <a:r>
                        <a:rPr lang="en-US" dirty="0"/>
                        <a:t>R10</a:t>
                      </a:r>
                    </a:p>
                  </a:txBody>
                  <a:tcPr/>
                </a:tc>
                <a:tc>
                  <a:txBody>
                    <a:bodyPr/>
                    <a:lstStyle/>
                    <a:p>
                      <a:endParaRPr lang="en-US"/>
                    </a:p>
                  </a:txBody>
                  <a:tcPr/>
                </a:tc>
                <a:tc>
                  <a:txBody>
                    <a:bodyPr/>
                    <a:lstStyle/>
                    <a:p>
                      <a:r>
                        <a:rPr lang="en-US" dirty="0"/>
                        <a:t>R14</a:t>
                      </a:r>
                    </a:p>
                  </a:txBody>
                  <a:tcPr/>
                </a:tc>
                <a:tc>
                  <a:txBody>
                    <a:bodyPr/>
                    <a:lstStyle/>
                    <a:p>
                      <a:endParaRPr lang="en-US" dirty="0"/>
                    </a:p>
                  </a:txBody>
                  <a:tcPr/>
                </a:tc>
                <a:extLst>
                  <a:ext uri="{0D108BD9-81ED-4DB2-BD59-A6C34878D82A}">
                    <a16:rowId xmlns:a16="http://schemas.microsoft.com/office/drawing/2014/main" val="1775583618"/>
                  </a:ext>
                </a:extLst>
              </a:tr>
              <a:tr h="370840">
                <a:tc>
                  <a:txBody>
                    <a:bodyPr/>
                    <a:lstStyle/>
                    <a:p>
                      <a:r>
                        <a:rPr lang="en-US" dirty="0"/>
                        <a:t>R3</a:t>
                      </a:r>
                    </a:p>
                  </a:txBody>
                  <a:tcPr/>
                </a:tc>
                <a:tc>
                  <a:txBody>
                    <a:bodyPr/>
                    <a:lstStyle/>
                    <a:p>
                      <a:endParaRPr lang="en-US"/>
                    </a:p>
                  </a:txBody>
                  <a:tcPr/>
                </a:tc>
                <a:tc>
                  <a:txBody>
                    <a:bodyPr/>
                    <a:lstStyle/>
                    <a:p>
                      <a:r>
                        <a:rPr lang="en-US" dirty="0"/>
                        <a:t>R7</a:t>
                      </a:r>
                    </a:p>
                  </a:txBody>
                  <a:tcPr/>
                </a:tc>
                <a:tc>
                  <a:txBody>
                    <a:bodyPr/>
                    <a:lstStyle/>
                    <a:p>
                      <a:endParaRPr lang="en-US"/>
                    </a:p>
                  </a:txBody>
                  <a:tcPr/>
                </a:tc>
                <a:tc>
                  <a:txBody>
                    <a:bodyPr/>
                    <a:lstStyle/>
                    <a:p>
                      <a:r>
                        <a:rPr lang="en-US" dirty="0"/>
                        <a:t>R11</a:t>
                      </a:r>
                    </a:p>
                  </a:txBody>
                  <a:tcPr/>
                </a:tc>
                <a:tc>
                  <a:txBody>
                    <a:bodyPr/>
                    <a:lstStyle/>
                    <a:p>
                      <a:endParaRPr lang="en-US"/>
                    </a:p>
                  </a:txBody>
                  <a:tcPr/>
                </a:tc>
                <a:tc>
                  <a:txBody>
                    <a:bodyPr/>
                    <a:lstStyle/>
                    <a:p>
                      <a:r>
                        <a:rPr lang="en-US" dirty="0"/>
                        <a:t>R15</a:t>
                      </a:r>
                    </a:p>
                  </a:txBody>
                  <a:tcPr/>
                </a:tc>
                <a:tc>
                  <a:txBody>
                    <a:bodyPr/>
                    <a:lstStyle/>
                    <a:p>
                      <a:r>
                        <a:rPr kumimoji="0" lang="pt-BR" sz="1400" kern="1200" dirty="0">
                          <a:solidFill>
                            <a:schemeClr val="tx1"/>
                          </a:solidFill>
                          <a:latin typeface="+mn-lt"/>
                          <a:ea typeface="+mn-ea"/>
                          <a:cs typeface="+mn-cs"/>
                        </a:rPr>
                        <a:t>0x00000250</a:t>
                      </a:r>
                      <a:endParaRPr kumimoji="0" lang="en-US" sz="1400" kern="1200" dirty="0">
                        <a:solidFill>
                          <a:schemeClr val="tx1"/>
                        </a:solidFill>
                        <a:latin typeface="+mn-lt"/>
                        <a:ea typeface="+mn-ea"/>
                        <a:cs typeface="+mn-cs"/>
                      </a:endParaRPr>
                    </a:p>
                  </a:txBody>
                  <a:tcPr/>
                </a:tc>
                <a:extLst>
                  <a:ext uri="{0D108BD9-81ED-4DB2-BD59-A6C34878D82A}">
                    <a16:rowId xmlns:a16="http://schemas.microsoft.com/office/drawing/2014/main" val="3562356508"/>
                  </a:ext>
                </a:extLst>
              </a:tr>
            </a:tbl>
          </a:graphicData>
        </a:graphic>
      </p:graphicFrame>
      <p:graphicFrame>
        <p:nvGraphicFramePr>
          <p:cNvPr id="8" name="Content Placeholder 6">
            <a:extLst>
              <a:ext uri="{FF2B5EF4-FFF2-40B4-BE49-F238E27FC236}">
                <a16:creationId xmlns:a16="http://schemas.microsoft.com/office/drawing/2014/main" id="{C7C14E0C-8BA7-B240-2E5F-B804E09539CB}"/>
              </a:ext>
            </a:extLst>
          </p:cNvPr>
          <p:cNvGraphicFramePr>
            <a:graphicFrameLocks/>
          </p:cNvGraphicFramePr>
          <p:nvPr>
            <p:extLst>
              <p:ext uri="{D42A27DB-BD31-4B8C-83A1-F6EECF244321}">
                <p14:modId xmlns:p14="http://schemas.microsoft.com/office/powerpoint/2010/main" val="1596401708"/>
              </p:ext>
            </p:extLst>
          </p:nvPr>
        </p:nvGraphicFramePr>
        <p:xfrm>
          <a:off x="457200" y="6282234"/>
          <a:ext cx="8423243"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49956">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3488595267"/>
      </p:ext>
    </p:extLst>
  </p:cSld>
  <p:clrMapOvr>
    <a:masterClrMapping/>
  </p:clrMapOvr>
  <p:transition>
    <p:pull dir="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752C9-A190-0C90-07D3-8923B6AEDFF5}"/>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3AB1D5E-EA8C-DC0E-3504-787C31C3FF4B}"/>
              </a:ext>
            </a:extLst>
          </p:cNvPr>
          <p:cNvSpPr txBox="1"/>
          <p:nvPr/>
        </p:nvSpPr>
        <p:spPr>
          <a:xfrm>
            <a:off x="5601810" y="58282"/>
            <a:ext cx="3464410" cy="5909310"/>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b="0" kern="0" dirty="0">
                <a:solidFill>
                  <a:prstClr val="black"/>
                </a:solidFill>
                <a:latin typeface="Consolas" panose="020B0609020204030204" pitchFamily="49" charset="0"/>
                <a:cs typeface="Consolas" panose="020B0609020204030204" pitchFamily="49" charset="0"/>
              </a:rPr>
              <a:t>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R1, =0x10000010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R2,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R3, [R1,#4]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 max</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SUBS R4, R2, R0  @NZCV = 0110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MOVW R5, #1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LSL R6, R5, #4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BIC R7, R2, R6</a:t>
            </a:r>
          </a:p>
          <a:p>
            <a:pPr eaLnBrk="1" fontAlgn="auto" hangingPunct="1">
              <a:spcBef>
                <a:spcPts val="0"/>
              </a:spcBef>
              <a:spcAft>
                <a:spcPts val="0"/>
              </a:spcAf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ANDS R8, R7, </a:t>
            </a:r>
            <a:r>
              <a:rPr lang="pt-BR" b="0" kern="0" dirty="0">
                <a:solidFill>
                  <a:prstClr val="black"/>
                </a:solidFill>
                <a:latin typeface="Consolas" panose="020B0609020204030204" pitchFamily="49" charset="0"/>
                <a:cs typeface="Consolas" panose="020B0609020204030204" pitchFamily="49" charset="0"/>
              </a:rPr>
              <a:t>R6  @NZCV = 0110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ROR R9, R3, #12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REV R10, R9</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RBIT R11, R10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ADDS R12, R3, </a:t>
            </a:r>
            <a:r>
              <a:rPr lang="pt-BR" b="0" kern="0" dirty="0">
                <a:solidFill>
                  <a:prstClr val="black"/>
                </a:solidFill>
                <a:latin typeface="Consolas" panose="020B0609020204030204" pitchFamily="49" charset="0"/>
                <a:cs typeface="Consolas" panose="020B0609020204030204" pitchFamily="49" charset="0"/>
              </a:rPr>
              <a:t>R9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1000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STR R12, [R1,#8]</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loop B loop</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max PROC</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CMP R2, </a:t>
            </a:r>
            <a:r>
              <a:rPr lang="pt-BR" b="0" kern="0" dirty="0">
                <a:solidFill>
                  <a:prstClr val="black"/>
                </a:solidFill>
                <a:latin typeface="Consolas" panose="020B0609020204030204" pitchFamily="49" charset="0"/>
                <a:cs typeface="Consolas" panose="020B0609020204030204" pitchFamily="49" charset="0"/>
              </a:rPr>
              <a:t>R3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BLT second</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first MOV R0, R2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 done</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second MOV R0,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done   BX LR</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p:txBody>
      </p:sp>
      <p:sp>
        <p:nvSpPr>
          <p:cNvPr id="2" name="Title 1">
            <a:extLst>
              <a:ext uri="{FF2B5EF4-FFF2-40B4-BE49-F238E27FC236}">
                <a16:creationId xmlns:a16="http://schemas.microsoft.com/office/drawing/2014/main" id="{8D6A2D63-87B9-C779-5841-28DFFCC174D8}"/>
              </a:ext>
            </a:extLst>
          </p:cNvPr>
          <p:cNvSpPr>
            <a:spLocks noGrp="1"/>
          </p:cNvSpPr>
          <p:nvPr>
            <p:ph type="title"/>
          </p:nvPr>
        </p:nvSpPr>
        <p:spPr/>
        <p:txBody>
          <a:bodyPr>
            <a:normAutofit/>
          </a:bodyPr>
          <a:lstStyle/>
          <a:p>
            <a:r>
              <a:rPr lang="en-US" sz="2400" dirty="0"/>
              <a:t>Program Understanding 2 ANS</a:t>
            </a:r>
          </a:p>
        </p:txBody>
      </p:sp>
      <p:sp>
        <p:nvSpPr>
          <p:cNvPr id="3" name="Slide Number Placeholder 2">
            <a:extLst>
              <a:ext uri="{FF2B5EF4-FFF2-40B4-BE49-F238E27FC236}">
                <a16:creationId xmlns:a16="http://schemas.microsoft.com/office/drawing/2014/main" id="{961F06BA-354F-8F81-75C8-4C60C1F30A09}"/>
              </a:ext>
            </a:extLst>
          </p:cNvPr>
          <p:cNvSpPr>
            <a:spLocks noGrp="1"/>
          </p:cNvSpPr>
          <p:nvPr>
            <p:ph type="sldNum" sz="quarter" idx="12"/>
          </p:nvPr>
        </p:nvSpPr>
        <p:spPr/>
        <p:txBody>
          <a:bodyPr/>
          <a:lstStyle/>
          <a:p>
            <a:fld id="{AEE14D4A-FE32-40AF-B06D-E9622816B101}" type="slidenum">
              <a:rPr lang="en-US" smtClean="0"/>
              <a:pPr/>
              <a:t>33</a:t>
            </a:fld>
            <a:endParaRPr lang="en-US"/>
          </a:p>
        </p:txBody>
      </p:sp>
      <p:sp>
        <p:nvSpPr>
          <p:cNvPr id="4" name="Content Placeholder 3">
            <a:extLst>
              <a:ext uri="{FF2B5EF4-FFF2-40B4-BE49-F238E27FC236}">
                <a16:creationId xmlns:a16="http://schemas.microsoft.com/office/drawing/2014/main" id="{47E16147-F6FF-DA8E-A54B-3AD6FD9BC42D}"/>
              </a:ext>
            </a:extLst>
          </p:cNvPr>
          <p:cNvSpPr>
            <a:spLocks noGrp="1"/>
          </p:cNvSpPr>
          <p:nvPr>
            <p:ph sz="quarter" idx="1"/>
          </p:nvPr>
        </p:nvSpPr>
        <p:spPr>
          <a:xfrm>
            <a:off x="137322" y="1219200"/>
            <a:ext cx="5395377" cy="4937760"/>
          </a:xfrm>
        </p:spPr>
        <p:txBody>
          <a:bodyPr/>
          <a:lstStyle/>
          <a:p>
            <a:pPr fontAlgn="auto">
              <a:spcAft>
                <a:spcPts val="0"/>
              </a:spcAft>
            </a:pPr>
            <a:r>
              <a:rPr lang="en-US" dirty="0"/>
              <a:t>Step-by-step execution shown in next slide.</a:t>
            </a:r>
          </a:p>
        </p:txBody>
      </p:sp>
      <p:graphicFrame>
        <p:nvGraphicFramePr>
          <p:cNvPr id="6" name="Table 5">
            <a:extLst>
              <a:ext uri="{FF2B5EF4-FFF2-40B4-BE49-F238E27FC236}">
                <a16:creationId xmlns:a16="http://schemas.microsoft.com/office/drawing/2014/main" id="{20BD6E28-A5B2-15E2-4657-69B74D865AD1}"/>
              </a:ext>
            </a:extLst>
          </p:cNvPr>
          <p:cNvGraphicFramePr>
            <a:graphicFrameLocks noGrp="1"/>
          </p:cNvGraphicFramePr>
          <p:nvPr>
            <p:extLst>
              <p:ext uri="{D42A27DB-BD31-4B8C-83A1-F6EECF244321}">
                <p14:modId xmlns:p14="http://schemas.microsoft.com/office/powerpoint/2010/main" val="2194543076"/>
              </p:ext>
            </p:extLst>
          </p:nvPr>
        </p:nvGraphicFramePr>
        <p:xfrm>
          <a:off x="33150" y="4882874"/>
          <a:ext cx="9087700" cy="1483360"/>
        </p:xfrm>
        <a:graphic>
          <a:graphicData uri="http://schemas.openxmlformats.org/drawingml/2006/table">
            <a:tbl>
              <a:tblPr firstRow="1" bandRow="1">
                <a:tableStyleId>{5940675A-B579-460E-94D1-54222C63F5DA}</a:tableStyleId>
              </a:tblPr>
              <a:tblGrid>
                <a:gridCol w="561982">
                  <a:extLst>
                    <a:ext uri="{9D8B030D-6E8A-4147-A177-3AD203B41FA5}">
                      <a16:colId xmlns:a16="http://schemas.microsoft.com/office/drawing/2014/main" val="2337985746"/>
                    </a:ext>
                  </a:extLst>
                </a:gridCol>
                <a:gridCol w="1698150">
                  <a:extLst>
                    <a:ext uri="{9D8B030D-6E8A-4147-A177-3AD203B41FA5}">
                      <a16:colId xmlns:a16="http://schemas.microsoft.com/office/drawing/2014/main" val="1802740170"/>
                    </a:ext>
                  </a:extLst>
                </a:gridCol>
                <a:gridCol w="512373">
                  <a:extLst>
                    <a:ext uri="{9D8B030D-6E8A-4147-A177-3AD203B41FA5}">
                      <a16:colId xmlns:a16="http://schemas.microsoft.com/office/drawing/2014/main" val="2590131525"/>
                    </a:ext>
                  </a:extLst>
                </a:gridCol>
                <a:gridCol w="1566396">
                  <a:extLst>
                    <a:ext uri="{9D8B030D-6E8A-4147-A177-3AD203B41FA5}">
                      <a16:colId xmlns:a16="http://schemas.microsoft.com/office/drawing/2014/main" val="947827850"/>
                    </a:ext>
                  </a:extLst>
                </a:gridCol>
                <a:gridCol w="702683">
                  <a:extLst>
                    <a:ext uri="{9D8B030D-6E8A-4147-A177-3AD203B41FA5}">
                      <a16:colId xmlns:a16="http://schemas.microsoft.com/office/drawing/2014/main" val="2189951492"/>
                    </a:ext>
                  </a:extLst>
                </a:gridCol>
                <a:gridCol w="1727428">
                  <a:extLst>
                    <a:ext uri="{9D8B030D-6E8A-4147-A177-3AD203B41FA5}">
                      <a16:colId xmlns:a16="http://schemas.microsoft.com/office/drawing/2014/main" val="2319925471"/>
                    </a:ext>
                  </a:extLst>
                </a:gridCol>
                <a:gridCol w="570913">
                  <a:extLst>
                    <a:ext uri="{9D8B030D-6E8A-4147-A177-3AD203B41FA5}">
                      <a16:colId xmlns:a16="http://schemas.microsoft.com/office/drawing/2014/main" val="3873491110"/>
                    </a:ext>
                  </a:extLst>
                </a:gridCol>
                <a:gridCol w="174777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pt-BR" dirty="0"/>
                        <a:t>0xABCDEFFF</a:t>
                      </a:r>
                      <a:r>
                        <a:rPr lang="en-US" dirty="0"/>
                        <a:t>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kumimoji="0" lang="en-US" b="0" i="0" kern="1200" dirty="0">
                          <a:solidFill>
                            <a:schemeClr val="tx1"/>
                          </a:solidFill>
                          <a:effectLst/>
                          <a:latin typeface="+mn-lt"/>
                          <a:ea typeface="+mn-ea"/>
                          <a:cs typeface="+mn-cs"/>
                        </a:rPr>
                        <a:t>0xABD7BCD0</a:t>
                      </a:r>
                      <a:endParaRPr lang="en-US" dirty="0"/>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kumimoji="0" lang="en-US" b="0" i="0" kern="1200" dirty="0">
                          <a:solidFill>
                            <a:schemeClr val="tx1"/>
                          </a:solidFill>
                          <a:effectLst/>
                          <a:latin typeface="+mn-lt"/>
                          <a:ea typeface="+mn-ea"/>
                          <a:cs typeface="+mn-cs"/>
                        </a:rPr>
                        <a:t>0x000ABCD0</a:t>
                      </a:r>
                      <a:endParaRPr lang="en-US" dirty="0"/>
                    </a:p>
                  </a:txBody>
                  <a:tcPr>
                    <a:solidFill>
                      <a:schemeClr val="bg1"/>
                    </a:solidFill>
                  </a:tcPr>
                </a:tc>
                <a:tc>
                  <a:txBody>
                    <a:bodyPr/>
                    <a:lstStyle/>
                    <a:p>
                      <a:r>
                        <a:rPr lang="en-US" dirty="0"/>
                        <a:t>R13</a:t>
                      </a:r>
                    </a:p>
                  </a:txBody>
                  <a:tcPr>
                    <a:solidFill>
                      <a:schemeClr val="bg1"/>
                    </a:solidFill>
                  </a:tcPr>
                </a:tc>
                <a:tc>
                  <a:txBody>
                    <a:bodyPr/>
                    <a:lstStyle/>
                    <a:p>
                      <a:r>
                        <a:rPr lang="pt-BR" dirty="0"/>
                        <a:t>0x10000200</a:t>
                      </a:r>
                      <a:endParaRPr lang="en-US" dirty="0"/>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pt-BR" dirty="0"/>
                        <a:t>0xABCDEFFF</a:t>
                      </a:r>
                      <a:endParaRPr lang="en-US" dirty="0"/>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kumimoji="0" lang="en-US" b="0" i="0" kern="1200" dirty="0">
                          <a:solidFill>
                            <a:schemeClr val="tx1"/>
                          </a:solidFill>
                          <a:effectLst/>
                          <a:latin typeface="+mn-lt"/>
                          <a:ea typeface="+mn-ea"/>
                          <a:cs typeface="+mn-cs"/>
                        </a:rPr>
                        <a:t>0xD0BC0A00</a:t>
                      </a:r>
                      <a:endParaRPr lang="en-US" dirty="0"/>
                    </a:p>
                  </a:txBody>
                  <a:tcPr>
                    <a:solidFill>
                      <a:schemeClr val="bg1"/>
                    </a:solidFill>
                  </a:tcPr>
                </a:tc>
                <a:tc>
                  <a:txBody>
                    <a:bodyPr/>
                    <a:lstStyle/>
                    <a:p>
                      <a:r>
                        <a:rPr lang="en-US" dirty="0"/>
                        <a:t>R14</a:t>
                      </a:r>
                    </a:p>
                  </a:txBody>
                  <a:tcPr>
                    <a:solidFill>
                      <a:schemeClr val="bg1"/>
                    </a:solidFill>
                  </a:tcPr>
                </a:tc>
                <a:tc>
                  <a:txBody>
                    <a:bodyPr/>
                    <a:lstStyle/>
                    <a:p>
                      <a:r>
                        <a:rPr lang="pt-BR" dirty="0"/>
                        <a:t>0x00000260</a:t>
                      </a:r>
                      <a:endParaRPr lang="en-US" dirty="0"/>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pt-BR" dirty="0"/>
                        <a:t>0xABCD0000</a:t>
                      </a:r>
                      <a:endParaRPr lang="en-US" dirty="0"/>
                    </a:p>
                  </a:txBody>
                  <a:tcPr>
                    <a:solidFill>
                      <a:schemeClr val="bg1"/>
                    </a:solidFill>
                  </a:tcPr>
                </a:tc>
                <a:tc>
                  <a:txBody>
                    <a:bodyPr/>
                    <a:lstStyle/>
                    <a:p>
                      <a:r>
                        <a:rPr lang="en-US" dirty="0"/>
                        <a:t>R7</a:t>
                      </a:r>
                    </a:p>
                  </a:txBody>
                  <a:tcPr>
                    <a:solidFill>
                      <a:schemeClr val="bg1"/>
                    </a:solidFill>
                  </a:tcPr>
                </a:tc>
                <a:tc>
                  <a:txBody>
                    <a:bodyPr/>
                    <a:lstStyle/>
                    <a:p>
                      <a:r>
                        <a:rPr kumimoji="0" lang="en-US" b="0" i="0" kern="1200" dirty="0">
                          <a:solidFill>
                            <a:schemeClr val="tx1"/>
                          </a:solidFill>
                          <a:effectLst/>
                          <a:latin typeface="+mn-lt"/>
                          <a:ea typeface="+mn-ea"/>
                          <a:cs typeface="+mn-cs"/>
                        </a:rPr>
                        <a:t>0xABCDEFEF</a:t>
                      </a:r>
                      <a:endParaRPr lang="en-US" dirty="0"/>
                    </a:p>
                  </a:txBody>
                  <a:tcPr>
                    <a:solidFill>
                      <a:schemeClr val="bg1"/>
                    </a:solidFill>
                  </a:tcPr>
                </a:tc>
                <a:tc>
                  <a:txBody>
                    <a:bodyPr/>
                    <a:lstStyle/>
                    <a:p>
                      <a:r>
                        <a:rPr lang="en-US" dirty="0"/>
                        <a:t>R11</a:t>
                      </a:r>
                    </a:p>
                  </a:txBody>
                  <a:tcPr>
                    <a:solidFill>
                      <a:schemeClr val="bg1"/>
                    </a:solidFill>
                  </a:tcPr>
                </a:tc>
                <a:tc>
                  <a:txBody>
                    <a:bodyPr/>
                    <a:lstStyle/>
                    <a:p>
                      <a:r>
                        <a:rPr lang="pt-BR" dirty="0"/>
                        <a:t>0x00503D0B</a:t>
                      </a:r>
                      <a:endParaRPr lang="en-US" dirty="0"/>
                    </a:p>
                  </a:txBody>
                  <a:tcPr>
                    <a:solidFill>
                      <a:schemeClr val="bg1"/>
                    </a:solidFill>
                  </a:tcPr>
                </a:tc>
                <a:tc>
                  <a:txBody>
                    <a:bodyPr/>
                    <a:lstStyle/>
                    <a:p>
                      <a:r>
                        <a:rPr lang="en-US" dirty="0"/>
                        <a:t>R15</a:t>
                      </a:r>
                    </a:p>
                  </a:txBody>
                  <a:tcPr>
                    <a:solidFill>
                      <a:schemeClr val="bg1"/>
                    </a:solidFill>
                  </a:tcPr>
                </a:tc>
                <a:tc>
                  <a:txBody>
                    <a:bodyPr/>
                    <a:lstStyle/>
                    <a:p>
                      <a:r>
                        <a:rPr lang="pt-BR" dirty="0"/>
                        <a:t>omitted</a:t>
                      </a:r>
                      <a:endParaRPr lang="en-US" dirty="0"/>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7" name="Content Placeholder 6">
            <a:extLst>
              <a:ext uri="{FF2B5EF4-FFF2-40B4-BE49-F238E27FC236}">
                <a16:creationId xmlns:a16="http://schemas.microsoft.com/office/drawing/2014/main" id="{744E2143-7A13-BD9D-79CC-8CEAA8258A28}"/>
              </a:ext>
            </a:extLst>
          </p:cNvPr>
          <p:cNvGraphicFramePr>
            <a:graphicFrameLocks/>
          </p:cNvGraphicFramePr>
          <p:nvPr>
            <p:extLst>
              <p:ext uri="{D42A27DB-BD31-4B8C-83A1-F6EECF244321}">
                <p14:modId xmlns:p14="http://schemas.microsoft.com/office/powerpoint/2010/main" val="1454189981"/>
              </p:ext>
            </p:extLst>
          </p:nvPr>
        </p:nvGraphicFramePr>
        <p:xfrm>
          <a:off x="457200" y="6413457"/>
          <a:ext cx="8405417"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32130">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D7</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AB</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3653550031"/>
      </p:ext>
    </p:extLst>
  </p:cSld>
  <p:clrMapOvr>
    <a:masterClrMapping/>
  </p:clrMapOvr>
  <p:transition>
    <p:pull dir="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D297AFE-3356-FACD-BA7D-CCBAAB591F62}"/>
              </a:ext>
            </a:extLst>
          </p:cNvPr>
          <p:cNvSpPr>
            <a:spLocks noGrp="1"/>
          </p:cNvSpPr>
          <p:nvPr>
            <p:ph type="sldNum" sz="quarter" idx="12"/>
          </p:nvPr>
        </p:nvSpPr>
        <p:spPr/>
        <p:txBody>
          <a:bodyPr/>
          <a:lstStyle/>
          <a:p>
            <a:fld id="{AEE14D4A-FE32-40AF-B06D-E9622816B101}" type="slidenum">
              <a:rPr lang="en-US" smtClean="0"/>
              <a:pPr/>
              <a:t>34</a:t>
            </a:fld>
            <a:endParaRPr lang="en-US"/>
          </a:p>
        </p:txBody>
      </p:sp>
      <p:sp>
        <p:nvSpPr>
          <p:cNvPr id="4" name="Content Placeholder 3">
            <a:extLst>
              <a:ext uri="{FF2B5EF4-FFF2-40B4-BE49-F238E27FC236}">
                <a16:creationId xmlns:a16="http://schemas.microsoft.com/office/drawing/2014/main" id="{53110734-57D2-2BF2-C541-48EEFD793D20}"/>
              </a:ext>
            </a:extLst>
          </p:cNvPr>
          <p:cNvSpPr>
            <a:spLocks noGrp="1"/>
          </p:cNvSpPr>
          <p:nvPr>
            <p:ph sz="quarter" idx="1"/>
          </p:nvPr>
        </p:nvSpPr>
        <p:spPr>
          <a:xfrm>
            <a:off x="122921" y="135890"/>
            <a:ext cx="8739696" cy="4937760"/>
          </a:xfrm>
          <a:solidFill>
            <a:schemeClr val="bg1"/>
          </a:solidFill>
        </p:spPr>
        <p:txBody>
          <a:bodyPr>
            <a:normAutofit fontScale="92500" lnSpcReduction="20000"/>
          </a:bodyPr>
          <a:lstStyle/>
          <a:p>
            <a:r>
              <a:rPr lang="en-US" sz="1600" dirty="0"/>
              <a:t>LDR R1, =0x10000010 → R1 = 0x10000010 (literal load of the base address).</a:t>
            </a:r>
          </a:p>
          <a:p>
            <a:r>
              <a:rPr lang="en-US" sz="1600" dirty="0"/>
              <a:t>LDR R2, [R1] → reads bytes FF EF CD AB at 0x10000010..13 and forms R2 = 0xABCDEFFF (little‑endian).</a:t>
            </a:r>
          </a:p>
          <a:p>
            <a:r>
              <a:rPr lang="en-US" sz="1600" dirty="0"/>
              <a:t>LDR R3, [R1,#4] → reads bytes 00 00 CD AB at 0x10000014..17 and forms R3 = 0xABCD0000 (little‑endian).</a:t>
            </a:r>
          </a:p>
          <a:p>
            <a:r>
              <a:rPr lang="en-US" sz="1600" dirty="0"/>
              <a:t>BL max → in max: CMP R2, R3 sets NZCV = 0010 since R2 &gt; R3 (N=0, Z=0, C=1, V=0), path takes first: MOV R0, R2, then BX LR returns with R0 = 0xABCDEFFF.</a:t>
            </a:r>
          </a:p>
          <a:p>
            <a:r>
              <a:rPr lang="en-US" sz="1600" dirty="0"/>
              <a:t>SUBS R4, R2, R0 → R4 = R2 − R0 = 0, NZCV = 0110 (N=0, Z=1, C=1, V=0) because subtracting equal values yields zero with carry set.</a:t>
            </a:r>
          </a:p>
          <a:p>
            <a:r>
              <a:rPr lang="en-US" sz="1600" dirty="0"/>
              <a:t>MOVW R5, #1 → R5 = 0x00000001 (loads 16‑bit immediate into low halfword).</a:t>
            </a:r>
          </a:p>
          <a:p>
            <a:r>
              <a:rPr lang="en-US" sz="1600" dirty="0"/>
              <a:t>LSL R6, R5, #4 → R6 = 0x00000010 (1 shifted left by 4).</a:t>
            </a:r>
          </a:p>
          <a:p>
            <a:r>
              <a:rPr lang="en-US" sz="1600" dirty="0"/>
              <a:t>BIC R7, R2, R6 → R7 = R2 &amp; ~R6 = 0xABCDEFFF &amp; 0xFFFFFFEF = 0xABCDEFEF (clears bit 4).</a:t>
            </a:r>
          </a:p>
          <a:p>
            <a:r>
              <a:rPr lang="en-US" sz="1600" dirty="0"/>
              <a:t>ANDS R8, R7, R6 → R8 = 0xABCDEFEF &amp; 0x10 = 0x00000000 with NZCV = 0110 (zero result with carry preserved from previous </a:t>
            </a:r>
            <a:r>
              <a:rPr lang="en-US" sz="1600"/>
              <a:t>SUBS instruction).</a:t>
            </a:r>
            <a:endParaRPr lang="en-US" sz="1600" dirty="0"/>
          </a:p>
          <a:p>
            <a:r>
              <a:rPr lang="en-US" sz="1600" dirty="0"/>
              <a:t>ROR R9, R3, #12 → rotates 0xABCD0000 right by 12 bits to R9 = 0x000ABCD0.</a:t>
            </a:r>
          </a:p>
          <a:p>
            <a:r>
              <a:rPr lang="en-US" sz="1600" dirty="0"/>
              <a:t>REV R10, R9 → byte‑reverse 00 0A BC D0 into D0 BC 0A 00, giving R10 = 0xD0BC0A00.</a:t>
            </a:r>
          </a:p>
          <a:p>
            <a:r>
              <a:rPr lang="en-US" sz="1600" dirty="0"/>
              <a:t>RBIT R11, R10 → bit‑reverse all 32 bits of 0xD0BC0A00, yielding R11 = 0x00503D0B (per architectural bit‑reverse).</a:t>
            </a:r>
          </a:p>
          <a:p>
            <a:r>
              <a:rPr lang="en-US" sz="1600" dirty="0"/>
              <a:t>ADDS R12, R3, R9 → R12 = 0xABCD0000 + 0x000ABCD0 = 0xABD7BCD0 with NZCV = 1000 (negative due to high bit, non‑zero, no carry, no overflow).</a:t>
            </a:r>
          </a:p>
          <a:p>
            <a:r>
              <a:rPr lang="en-US" sz="1600" dirty="0"/>
              <a:t>STR R12, [R1,#8] → stores 0xABD7BCD0 at 0x10000018 as bytes D0 BC D7 AB in little‑endian.</a:t>
            </a:r>
          </a:p>
        </p:txBody>
      </p:sp>
      <p:graphicFrame>
        <p:nvGraphicFramePr>
          <p:cNvPr id="5" name="Table 4">
            <a:extLst>
              <a:ext uri="{FF2B5EF4-FFF2-40B4-BE49-F238E27FC236}">
                <a16:creationId xmlns:a16="http://schemas.microsoft.com/office/drawing/2014/main" id="{AC30E1FB-AD9F-F830-145F-E37C379A0532}"/>
              </a:ext>
            </a:extLst>
          </p:cNvPr>
          <p:cNvGraphicFramePr>
            <a:graphicFrameLocks noGrp="1"/>
          </p:cNvGraphicFramePr>
          <p:nvPr>
            <p:extLst>
              <p:ext uri="{D42A27DB-BD31-4B8C-83A1-F6EECF244321}">
                <p14:modId xmlns:p14="http://schemas.microsoft.com/office/powerpoint/2010/main" val="337987943"/>
              </p:ext>
            </p:extLst>
          </p:nvPr>
        </p:nvGraphicFramePr>
        <p:xfrm>
          <a:off x="56300" y="4930097"/>
          <a:ext cx="9087700" cy="1483360"/>
        </p:xfrm>
        <a:graphic>
          <a:graphicData uri="http://schemas.openxmlformats.org/drawingml/2006/table">
            <a:tbl>
              <a:tblPr firstRow="1" bandRow="1">
                <a:tableStyleId>{5940675A-B579-460E-94D1-54222C63F5DA}</a:tableStyleId>
              </a:tblPr>
              <a:tblGrid>
                <a:gridCol w="561982">
                  <a:extLst>
                    <a:ext uri="{9D8B030D-6E8A-4147-A177-3AD203B41FA5}">
                      <a16:colId xmlns:a16="http://schemas.microsoft.com/office/drawing/2014/main" val="2337985746"/>
                    </a:ext>
                  </a:extLst>
                </a:gridCol>
                <a:gridCol w="1698150">
                  <a:extLst>
                    <a:ext uri="{9D8B030D-6E8A-4147-A177-3AD203B41FA5}">
                      <a16:colId xmlns:a16="http://schemas.microsoft.com/office/drawing/2014/main" val="1802740170"/>
                    </a:ext>
                  </a:extLst>
                </a:gridCol>
                <a:gridCol w="512373">
                  <a:extLst>
                    <a:ext uri="{9D8B030D-6E8A-4147-A177-3AD203B41FA5}">
                      <a16:colId xmlns:a16="http://schemas.microsoft.com/office/drawing/2014/main" val="2590131525"/>
                    </a:ext>
                  </a:extLst>
                </a:gridCol>
                <a:gridCol w="1566396">
                  <a:extLst>
                    <a:ext uri="{9D8B030D-6E8A-4147-A177-3AD203B41FA5}">
                      <a16:colId xmlns:a16="http://schemas.microsoft.com/office/drawing/2014/main" val="947827850"/>
                    </a:ext>
                  </a:extLst>
                </a:gridCol>
                <a:gridCol w="702683">
                  <a:extLst>
                    <a:ext uri="{9D8B030D-6E8A-4147-A177-3AD203B41FA5}">
                      <a16:colId xmlns:a16="http://schemas.microsoft.com/office/drawing/2014/main" val="2189951492"/>
                    </a:ext>
                  </a:extLst>
                </a:gridCol>
                <a:gridCol w="1727428">
                  <a:extLst>
                    <a:ext uri="{9D8B030D-6E8A-4147-A177-3AD203B41FA5}">
                      <a16:colId xmlns:a16="http://schemas.microsoft.com/office/drawing/2014/main" val="2319925471"/>
                    </a:ext>
                  </a:extLst>
                </a:gridCol>
                <a:gridCol w="570913">
                  <a:extLst>
                    <a:ext uri="{9D8B030D-6E8A-4147-A177-3AD203B41FA5}">
                      <a16:colId xmlns:a16="http://schemas.microsoft.com/office/drawing/2014/main" val="3873491110"/>
                    </a:ext>
                  </a:extLst>
                </a:gridCol>
                <a:gridCol w="174777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pt-BR" dirty="0"/>
                        <a:t>0xABCDEFFF</a:t>
                      </a:r>
                      <a:r>
                        <a:rPr lang="en-US" dirty="0"/>
                        <a:t>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kumimoji="0" lang="en-US" b="0" i="0" kern="1200" dirty="0">
                          <a:solidFill>
                            <a:schemeClr val="tx1"/>
                          </a:solidFill>
                          <a:effectLst/>
                          <a:latin typeface="+mn-lt"/>
                          <a:ea typeface="+mn-ea"/>
                          <a:cs typeface="+mn-cs"/>
                        </a:rPr>
                        <a:t>0xABD7BCD0</a:t>
                      </a:r>
                      <a:endParaRPr lang="en-US" dirty="0"/>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kumimoji="0" lang="en-US" b="0" i="0" kern="1200" dirty="0">
                          <a:solidFill>
                            <a:schemeClr val="tx1"/>
                          </a:solidFill>
                          <a:effectLst/>
                          <a:latin typeface="+mn-lt"/>
                          <a:ea typeface="+mn-ea"/>
                          <a:cs typeface="+mn-cs"/>
                        </a:rPr>
                        <a:t>0x000ABCD0</a:t>
                      </a:r>
                      <a:endParaRPr lang="en-US" dirty="0"/>
                    </a:p>
                  </a:txBody>
                  <a:tcPr>
                    <a:solidFill>
                      <a:schemeClr val="bg1"/>
                    </a:solidFill>
                  </a:tcPr>
                </a:tc>
                <a:tc>
                  <a:txBody>
                    <a:bodyPr/>
                    <a:lstStyle/>
                    <a:p>
                      <a:r>
                        <a:rPr lang="en-US" dirty="0"/>
                        <a:t>R13</a:t>
                      </a:r>
                    </a:p>
                  </a:txBody>
                  <a:tcPr>
                    <a:solidFill>
                      <a:schemeClr val="bg1"/>
                    </a:solidFill>
                  </a:tcPr>
                </a:tc>
                <a:tc>
                  <a:txBody>
                    <a:bodyPr/>
                    <a:lstStyle/>
                    <a:p>
                      <a:r>
                        <a:rPr lang="pt-BR" dirty="0"/>
                        <a:t>0x10000200</a:t>
                      </a:r>
                      <a:endParaRPr lang="en-US" dirty="0"/>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pt-BR"/>
                        <a:t>0xABCDEFFF</a:t>
                      </a:r>
                      <a:endParaRPr lang="en-US" dirty="0"/>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kumimoji="0" lang="en-US" b="0" i="0" kern="1200" dirty="0">
                          <a:solidFill>
                            <a:schemeClr val="tx1"/>
                          </a:solidFill>
                          <a:effectLst/>
                          <a:latin typeface="+mn-lt"/>
                          <a:ea typeface="+mn-ea"/>
                          <a:cs typeface="+mn-cs"/>
                        </a:rPr>
                        <a:t>0xD0BC0A00</a:t>
                      </a:r>
                      <a:endParaRPr lang="en-US" dirty="0"/>
                    </a:p>
                  </a:txBody>
                  <a:tcPr>
                    <a:solidFill>
                      <a:schemeClr val="bg1"/>
                    </a:solidFill>
                  </a:tcPr>
                </a:tc>
                <a:tc>
                  <a:txBody>
                    <a:bodyPr/>
                    <a:lstStyle/>
                    <a:p>
                      <a:r>
                        <a:rPr lang="en-US" dirty="0"/>
                        <a:t>R14</a:t>
                      </a:r>
                    </a:p>
                  </a:txBody>
                  <a:tcPr>
                    <a:solidFill>
                      <a:schemeClr val="bg1"/>
                    </a:solidFill>
                  </a:tcPr>
                </a:tc>
                <a:tc>
                  <a:txBody>
                    <a:bodyPr/>
                    <a:lstStyle/>
                    <a:p>
                      <a:r>
                        <a:rPr lang="pt-BR" dirty="0"/>
                        <a:t>0x00000260</a:t>
                      </a:r>
                      <a:endParaRPr lang="en-US" dirty="0"/>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pt-BR" dirty="0"/>
                        <a:t>0xABCD0000</a:t>
                      </a:r>
                      <a:endParaRPr lang="en-US" dirty="0"/>
                    </a:p>
                  </a:txBody>
                  <a:tcPr>
                    <a:solidFill>
                      <a:schemeClr val="bg1"/>
                    </a:solidFill>
                  </a:tcPr>
                </a:tc>
                <a:tc>
                  <a:txBody>
                    <a:bodyPr/>
                    <a:lstStyle/>
                    <a:p>
                      <a:r>
                        <a:rPr lang="en-US" dirty="0"/>
                        <a:t>R7</a:t>
                      </a:r>
                    </a:p>
                  </a:txBody>
                  <a:tcPr>
                    <a:solidFill>
                      <a:schemeClr val="bg1"/>
                    </a:solidFill>
                  </a:tcPr>
                </a:tc>
                <a:tc>
                  <a:txBody>
                    <a:bodyPr/>
                    <a:lstStyle/>
                    <a:p>
                      <a:r>
                        <a:rPr kumimoji="0" lang="en-US" b="0" i="0" kern="1200" dirty="0">
                          <a:solidFill>
                            <a:schemeClr val="tx1"/>
                          </a:solidFill>
                          <a:effectLst/>
                          <a:latin typeface="+mn-lt"/>
                          <a:ea typeface="+mn-ea"/>
                          <a:cs typeface="+mn-cs"/>
                        </a:rPr>
                        <a:t>0xABCDEFEF</a:t>
                      </a:r>
                      <a:endParaRPr lang="en-US" dirty="0"/>
                    </a:p>
                  </a:txBody>
                  <a:tcPr>
                    <a:solidFill>
                      <a:schemeClr val="bg1"/>
                    </a:solidFill>
                  </a:tcPr>
                </a:tc>
                <a:tc>
                  <a:txBody>
                    <a:bodyPr/>
                    <a:lstStyle/>
                    <a:p>
                      <a:r>
                        <a:rPr lang="en-US" dirty="0"/>
                        <a:t>R11</a:t>
                      </a:r>
                    </a:p>
                  </a:txBody>
                  <a:tcPr>
                    <a:solidFill>
                      <a:schemeClr val="bg1"/>
                    </a:solidFill>
                  </a:tcPr>
                </a:tc>
                <a:tc>
                  <a:txBody>
                    <a:bodyPr/>
                    <a:lstStyle/>
                    <a:p>
                      <a:r>
                        <a:rPr lang="pt-BR" dirty="0"/>
                        <a:t>0x00503D0B</a:t>
                      </a:r>
                      <a:endParaRPr lang="en-US" dirty="0"/>
                    </a:p>
                  </a:txBody>
                  <a:tcPr>
                    <a:solidFill>
                      <a:schemeClr val="bg1"/>
                    </a:solidFill>
                  </a:tcPr>
                </a:tc>
                <a:tc>
                  <a:txBody>
                    <a:bodyPr/>
                    <a:lstStyle/>
                    <a:p>
                      <a:r>
                        <a:rPr lang="en-US" dirty="0"/>
                        <a:t>R15</a:t>
                      </a:r>
                    </a:p>
                  </a:txBody>
                  <a:tcPr>
                    <a:solidFill>
                      <a:schemeClr val="bg1"/>
                    </a:solidFill>
                  </a:tcPr>
                </a:tc>
                <a:tc>
                  <a:txBody>
                    <a:bodyPr/>
                    <a:lstStyle/>
                    <a:p>
                      <a:r>
                        <a:rPr lang="pt-BR" dirty="0"/>
                        <a:t>omitted</a:t>
                      </a:r>
                      <a:endParaRPr lang="en-US" dirty="0"/>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6" name="Content Placeholder 6">
            <a:extLst>
              <a:ext uri="{FF2B5EF4-FFF2-40B4-BE49-F238E27FC236}">
                <a16:creationId xmlns:a16="http://schemas.microsoft.com/office/drawing/2014/main" id="{D224D27B-3F94-7C6B-E7AD-4D1E028E1241}"/>
              </a:ext>
            </a:extLst>
          </p:cNvPr>
          <p:cNvGraphicFramePr>
            <a:graphicFrameLocks/>
          </p:cNvGraphicFramePr>
          <p:nvPr>
            <p:extLst>
              <p:ext uri="{D42A27DB-BD31-4B8C-83A1-F6EECF244321}">
                <p14:modId xmlns:p14="http://schemas.microsoft.com/office/powerpoint/2010/main" val="695616032"/>
              </p:ext>
            </p:extLst>
          </p:nvPr>
        </p:nvGraphicFramePr>
        <p:xfrm>
          <a:off x="457200" y="6448182"/>
          <a:ext cx="8405417"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32130">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D7</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AB</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2270848448"/>
      </p:ext>
    </p:extLst>
  </p:cSld>
  <p:clrMapOvr>
    <a:masterClrMapping/>
  </p:clrMapOvr>
  <p:transition>
    <p:pull dir="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01A4E-B48D-1DBD-A8D9-2E7B56DAED3E}"/>
              </a:ext>
            </a:extLst>
          </p:cNvPr>
          <p:cNvSpPr>
            <a:spLocks noGrp="1"/>
          </p:cNvSpPr>
          <p:nvPr>
            <p:ph type="title"/>
          </p:nvPr>
        </p:nvSpPr>
        <p:spPr/>
        <p:txBody>
          <a:bodyPr/>
          <a:lstStyle/>
          <a:p>
            <a:r>
              <a:rPr lang="en-US" dirty="0"/>
              <a:t>Notes on Flags</a:t>
            </a:r>
          </a:p>
        </p:txBody>
      </p:sp>
      <p:sp>
        <p:nvSpPr>
          <p:cNvPr id="3" name="Slide Number Placeholder 2">
            <a:extLst>
              <a:ext uri="{FF2B5EF4-FFF2-40B4-BE49-F238E27FC236}">
                <a16:creationId xmlns:a16="http://schemas.microsoft.com/office/drawing/2014/main" id="{438B5934-5852-80F9-BC73-C9CB87277DC2}"/>
              </a:ext>
            </a:extLst>
          </p:cNvPr>
          <p:cNvSpPr>
            <a:spLocks noGrp="1"/>
          </p:cNvSpPr>
          <p:nvPr>
            <p:ph type="sldNum" sz="quarter" idx="12"/>
          </p:nvPr>
        </p:nvSpPr>
        <p:spPr/>
        <p:txBody>
          <a:bodyPr/>
          <a:lstStyle/>
          <a:p>
            <a:fld id="{AEE14D4A-FE32-40AF-B06D-E9622816B101}" type="slidenum">
              <a:rPr lang="en-US" smtClean="0"/>
              <a:pPr/>
              <a:t>35</a:t>
            </a:fld>
            <a:endParaRPr lang="en-US"/>
          </a:p>
        </p:txBody>
      </p:sp>
      <p:sp>
        <p:nvSpPr>
          <p:cNvPr id="4" name="Content Placeholder 3">
            <a:extLst>
              <a:ext uri="{FF2B5EF4-FFF2-40B4-BE49-F238E27FC236}">
                <a16:creationId xmlns:a16="http://schemas.microsoft.com/office/drawing/2014/main" id="{92D7924B-1264-801F-B527-B071DE30B0D5}"/>
              </a:ext>
            </a:extLst>
          </p:cNvPr>
          <p:cNvSpPr>
            <a:spLocks noGrp="1"/>
          </p:cNvSpPr>
          <p:nvPr>
            <p:ph sz="quarter" idx="1"/>
          </p:nvPr>
        </p:nvSpPr>
        <p:spPr>
          <a:xfrm>
            <a:off x="457200" y="1219199"/>
            <a:ext cx="8229600" cy="3613985"/>
          </a:xfrm>
        </p:spPr>
        <p:txBody>
          <a:bodyPr>
            <a:normAutofit fontScale="85000" lnSpcReduction="20000"/>
          </a:bodyPr>
          <a:lstStyle/>
          <a:p>
            <a:r>
              <a:rPr lang="en-US" dirty="0"/>
              <a:t>CMP R2,R3 → NZCV = 0010 because R2 &gt; R3 in unsigned comparison semantics used by CMP on 32‑bit registers without carry‑in.​</a:t>
            </a:r>
          </a:p>
          <a:p>
            <a:r>
              <a:rPr lang="en-US" dirty="0"/>
              <a:t>SUBS R4,R2,R0 → NZCV = 0110 because the result is zero and subtraction of equal values sets carry and clears negative and overflow.​</a:t>
            </a:r>
          </a:p>
          <a:p>
            <a:r>
              <a:rPr lang="en-US" dirty="0"/>
              <a:t>ANDS R8,R7,R6 → NZCV = 0110 because the logical AND produced zero, and the carry is preserved from SUBS.​</a:t>
            </a:r>
          </a:p>
          <a:p>
            <a:r>
              <a:rPr lang="en-US" dirty="0"/>
              <a:t>ADDS R12,R3,R9 → NZCV = 1000 because the sum has the top bit set (negative in signed sense), is non‑zero, and does not generate carry or overflow for these operands.</a:t>
            </a:r>
          </a:p>
        </p:txBody>
      </p:sp>
      <p:sp>
        <p:nvSpPr>
          <p:cNvPr id="5" name="Slide Number Placeholder 2">
            <a:extLst>
              <a:ext uri="{FF2B5EF4-FFF2-40B4-BE49-F238E27FC236}">
                <a16:creationId xmlns:a16="http://schemas.microsoft.com/office/drawing/2014/main" id="{7271186D-05AA-4376-BD30-2CA45FBDA190}"/>
              </a:ext>
            </a:extLst>
          </p:cNvPr>
          <p:cNvSpPr txBox="1">
            <a:spLocks/>
          </p:cNvSpPr>
          <p:nvPr/>
        </p:nvSpPr>
        <p:spPr>
          <a:xfrm>
            <a:off x="612648" y="6356350"/>
            <a:ext cx="1981200" cy="365760"/>
          </a:xfrm>
          <a:prstGeom prst="rect">
            <a:avLst/>
          </a:prstGeom>
        </p:spPr>
        <p:txBody>
          <a:bodyPr vert="horz"/>
          <a:lstStyle>
            <a:defPPr>
              <a:defRPr lang="en-US"/>
            </a:defPPr>
            <a:lvl1pPr algn="l" rtl="0" eaLnBrk="1" fontAlgn="base" latinLnBrk="0" hangingPunct="1">
              <a:spcBef>
                <a:spcPct val="0"/>
              </a:spcBef>
              <a:spcAft>
                <a:spcPct val="0"/>
              </a:spcAft>
              <a:defRPr kumimoji="0" sz="1800" b="1" kern="1200">
                <a:solidFill>
                  <a:schemeClr val="tx2"/>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a:lstStyle>
          <a:p>
            <a:fld id="{AEE14D4A-FE32-40AF-B06D-E9622816B101}" type="slidenum">
              <a:rPr lang="en-US" smtClean="0"/>
              <a:pPr/>
              <a:t>35</a:t>
            </a:fld>
            <a:endParaRPr lang="en-US"/>
          </a:p>
        </p:txBody>
      </p:sp>
      <p:graphicFrame>
        <p:nvGraphicFramePr>
          <p:cNvPr id="6" name="Table 5">
            <a:extLst>
              <a:ext uri="{FF2B5EF4-FFF2-40B4-BE49-F238E27FC236}">
                <a16:creationId xmlns:a16="http://schemas.microsoft.com/office/drawing/2014/main" id="{7E4F03E2-3309-3F5B-7C2A-81D445DA8BA6}"/>
              </a:ext>
            </a:extLst>
          </p:cNvPr>
          <p:cNvGraphicFramePr>
            <a:graphicFrameLocks noGrp="1"/>
          </p:cNvGraphicFramePr>
          <p:nvPr>
            <p:extLst>
              <p:ext uri="{D42A27DB-BD31-4B8C-83A1-F6EECF244321}">
                <p14:modId xmlns:p14="http://schemas.microsoft.com/office/powerpoint/2010/main" val="2191483490"/>
              </p:ext>
            </p:extLst>
          </p:nvPr>
        </p:nvGraphicFramePr>
        <p:xfrm>
          <a:off x="56300" y="4930097"/>
          <a:ext cx="9087700" cy="1483360"/>
        </p:xfrm>
        <a:graphic>
          <a:graphicData uri="http://schemas.openxmlformats.org/drawingml/2006/table">
            <a:tbl>
              <a:tblPr firstRow="1" bandRow="1">
                <a:tableStyleId>{5940675A-B579-460E-94D1-54222C63F5DA}</a:tableStyleId>
              </a:tblPr>
              <a:tblGrid>
                <a:gridCol w="561982">
                  <a:extLst>
                    <a:ext uri="{9D8B030D-6E8A-4147-A177-3AD203B41FA5}">
                      <a16:colId xmlns:a16="http://schemas.microsoft.com/office/drawing/2014/main" val="2337985746"/>
                    </a:ext>
                  </a:extLst>
                </a:gridCol>
                <a:gridCol w="1698150">
                  <a:extLst>
                    <a:ext uri="{9D8B030D-6E8A-4147-A177-3AD203B41FA5}">
                      <a16:colId xmlns:a16="http://schemas.microsoft.com/office/drawing/2014/main" val="1802740170"/>
                    </a:ext>
                  </a:extLst>
                </a:gridCol>
                <a:gridCol w="512373">
                  <a:extLst>
                    <a:ext uri="{9D8B030D-6E8A-4147-A177-3AD203B41FA5}">
                      <a16:colId xmlns:a16="http://schemas.microsoft.com/office/drawing/2014/main" val="2590131525"/>
                    </a:ext>
                  </a:extLst>
                </a:gridCol>
                <a:gridCol w="1566396">
                  <a:extLst>
                    <a:ext uri="{9D8B030D-6E8A-4147-A177-3AD203B41FA5}">
                      <a16:colId xmlns:a16="http://schemas.microsoft.com/office/drawing/2014/main" val="947827850"/>
                    </a:ext>
                  </a:extLst>
                </a:gridCol>
                <a:gridCol w="702683">
                  <a:extLst>
                    <a:ext uri="{9D8B030D-6E8A-4147-A177-3AD203B41FA5}">
                      <a16:colId xmlns:a16="http://schemas.microsoft.com/office/drawing/2014/main" val="2189951492"/>
                    </a:ext>
                  </a:extLst>
                </a:gridCol>
                <a:gridCol w="1727428">
                  <a:extLst>
                    <a:ext uri="{9D8B030D-6E8A-4147-A177-3AD203B41FA5}">
                      <a16:colId xmlns:a16="http://schemas.microsoft.com/office/drawing/2014/main" val="2319925471"/>
                    </a:ext>
                  </a:extLst>
                </a:gridCol>
                <a:gridCol w="570913">
                  <a:extLst>
                    <a:ext uri="{9D8B030D-6E8A-4147-A177-3AD203B41FA5}">
                      <a16:colId xmlns:a16="http://schemas.microsoft.com/office/drawing/2014/main" val="3873491110"/>
                    </a:ext>
                  </a:extLst>
                </a:gridCol>
                <a:gridCol w="174777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pt-BR" dirty="0"/>
                        <a:t>0xABCDEFFF</a:t>
                      </a:r>
                      <a:r>
                        <a:rPr lang="en-US" dirty="0"/>
                        <a:t>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kumimoji="0" lang="en-US" b="0" i="0" kern="1200" dirty="0">
                          <a:solidFill>
                            <a:schemeClr val="tx1"/>
                          </a:solidFill>
                          <a:effectLst/>
                          <a:latin typeface="+mn-lt"/>
                          <a:ea typeface="+mn-ea"/>
                          <a:cs typeface="+mn-cs"/>
                        </a:rPr>
                        <a:t>0xABD7BCD0</a:t>
                      </a:r>
                      <a:endParaRPr lang="en-US" dirty="0"/>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kumimoji="0" lang="en-US" b="0" i="0" kern="1200" dirty="0">
                          <a:solidFill>
                            <a:schemeClr val="tx1"/>
                          </a:solidFill>
                          <a:effectLst/>
                          <a:latin typeface="+mn-lt"/>
                          <a:ea typeface="+mn-ea"/>
                          <a:cs typeface="+mn-cs"/>
                        </a:rPr>
                        <a:t>0x000ABCD0</a:t>
                      </a:r>
                      <a:endParaRPr lang="en-US" dirty="0"/>
                    </a:p>
                  </a:txBody>
                  <a:tcPr>
                    <a:solidFill>
                      <a:schemeClr val="bg1"/>
                    </a:solidFill>
                  </a:tcPr>
                </a:tc>
                <a:tc>
                  <a:txBody>
                    <a:bodyPr/>
                    <a:lstStyle/>
                    <a:p>
                      <a:r>
                        <a:rPr lang="en-US" dirty="0"/>
                        <a:t>R13</a:t>
                      </a:r>
                    </a:p>
                  </a:txBody>
                  <a:tcPr>
                    <a:solidFill>
                      <a:schemeClr val="bg1"/>
                    </a:solidFill>
                  </a:tcPr>
                </a:tc>
                <a:tc>
                  <a:txBody>
                    <a:bodyPr/>
                    <a:lstStyle/>
                    <a:p>
                      <a:r>
                        <a:rPr lang="pt-BR" dirty="0"/>
                        <a:t>0x10000200</a:t>
                      </a:r>
                      <a:endParaRPr lang="en-US" dirty="0"/>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pt-BR" dirty="0"/>
                        <a:t>0xABCDEFFF</a:t>
                      </a:r>
                      <a:endParaRPr lang="en-US" dirty="0"/>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kumimoji="0" lang="en-US" b="0" i="0" kern="1200" dirty="0">
                          <a:solidFill>
                            <a:schemeClr val="tx1"/>
                          </a:solidFill>
                          <a:effectLst/>
                          <a:latin typeface="+mn-lt"/>
                          <a:ea typeface="+mn-ea"/>
                          <a:cs typeface="+mn-cs"/>
                        </a:rPr>
                        <a:t>0xD0BC0A00</a:t>
                      </a:r>
                      <a:endParaRPr lang="en-US" dirty="0"/>
                    </a:p>
                  </a:txBody>
                  <a:tcPr>
                    <a:solidFill>
                      <a:schemeClr val="bg1"/>
                    </a:solidFill>
                  </a:tcPr>
                </a:tc>
                <a:tc>
                  <a:txBody>
                    <a:bodyPr/>
                    <a:lstStyle/>
                    <a:p>
                      <a:r>
                        <a:rPr lang="en-US" dirty="0"/>
                        <a:t>R14</a:t>
                      </a:r>
                    </a:p>
                  </a:txBody>
                  <a:tcPr>
                    <a:solidFill>
                      <a:schemeClr val="bg1"/>
                    </a:solidFill>
                  </a:tcPr>
                </a:tc>
                <a:tc>
                  <a:txBody>
                    <a:bodyPr/>
                    <a:lstStyle/>
                    <a:p>
                      <a:r>
                        <a:rPr lang="pt-BR" dirty="0"/>
                        <a:t>0x00000260</a:t>
                      </a:r>
                      <a:endParaRPr lang="en-US" dirty="0"/>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pt-BR" dirty="0"/>
                        <a:t>0xABCD0000</a:t>
                      </a:r>
                      <a:endParaRPr lang="en-US" dirty="0"/>
                    </a:p>
                  </a:txBody>
                  <a:tcPr>
                    <a:solidFill>
                      <a:schemeClr val="bg1"/>
                    </a:solidFill>
                  </a:tcPr>
                </a:tc>
                <a:tc>
                  <a:txBody>
                    <a:bodyPr/>
                    <a:lstStyle/>
                    <a:p>
                      <a:r>
                        <a:rPr lang="en-US" dirty="0"/>
                        <a:t>R7</a:t>
                      </a:r>
                    </a:p>
                  </a:txBody>
                  <a:tcPr>
                    <a:solidFill>
                      <a:schemeClr val="bg1"/>
                    </a:solidFill>
                  </a:tcPr>
                </a:tc>
                <a:tc>
                  <a:txBody>
                    <a:bodyPr/>
                    <a:lstStyle/>
                    <a:p>
                      <a:r>
                        <a:rPr kumimoji="0" lang="en-US" b="0" i="0" kern="1200" dirty="0">
                          <a:solidFill>
                            <a:schemeClr val="tx1"/>
                          </a:solidFill>
                          <a:effectLst/>
                          <a:latin typeface="+mn-lt"/>
                          <a:ea typeface="+mn-ea"/>
                          <a:cs typeface="+mn-cs"/>
                        </a:rPr>
                        <a:t>0xABCDEFEF</a:t>
                      </a:r>
                      <a:endParaRPr lang="en-US" dirty="0"/>
                    </a:p>
                  </a:txBody>
                  <a:tcPr>
                    <a:solidFill>
                      <a:schemeClr val="bg1"/>
                    </a:solidFill>
                  </a:tcPr>
                </a:tc>
                <a:tc>
                  <a:txBody>
                    <a:bodyPr/>
                    <a:lstStyle/>
                    <a:p>
                      <a:r>
                        <a:rPr lang="en-US" dirty="0"/>
                        <a:t>R11</a:t>
                      </a:r>
                    </a:p>
                  </a:txBody>
                  <a:tcPr>
                    <a:solidFill>
                      <a:schemeClr val="bg1"/>
                    </a:solidFill>
                  </a:tcPr>
                </a:tc>
                <a:tc>
                  <a:txBody>
                    <a:bodyPr/>
                    <a:lstStyle/>
                    <a:p>
                      <a:r>
                        <a:rPr lang="pt-BR" dirty="0"/>
                        <a:t>0x00503D0B</a:t>
                      </a:r>
                      <a:endParaRPr lang="en-US" dirty="0"/>
                    </a:p>
                  </a:txBody>
                  <a:tcPr>
                    <a:solidFill>
                      <a:schemeClr val="bg1"/>
                    </a:solidFill>
                  </a:tcPr>
                </a:tc>
                <a:tc>
                  <a:txBody>
                    <a:bodyPr/>
                    <a:lstStyle/>
                    <a:p>
                      <a:r>
                        <a:rPr lang="en-US" dirty="0"/>
                        <a:t>R15</a:t>
                      </a:r>
                    </a:p>
                  </a:txBody>
                  <a:tcPr>
                    <a:solidFill>
                      <a:schemeClr val="bg1"/>
                    </a:solidFill>
                  </a:tcPr>
                </a:tc>
                <a:tc>
                  <a:txBody>
                    <a:bodyPr/>
                    <a:lstStyle/>
                    <a:p>
                      <a:r>
                        <a:rPr lang="pt-BR" dirty="0"/>
                        <a:t>omitted</a:t>
                      </a:r>
                      <a:endParaRPr lang="en-US" dirty="0"/>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7" name="Content Placeholder 6">
            <a:extLst>
              <a:ext uri="{FF2B5EF4-FFF2-40B4-BE49-F238E27FC236}">
                <a16:creationId xmlns:a16="http://schemas.microsoft.com/office/drawing/2014/main" id="{F05BFDFB-FCA9-9356-1E8B-8D31B2E6CEF7}"/>
              </a:ext>
            </a:extLst>
          </p:cNvPr>
          <p:cNvGraphicFramePr>
            <a:graphicFrameLocks/>
          </p:cNvGraphicFramePr>
          <p:nvPr>
            <p:extLst>
              <p:ext uri="{D42A27DB-BD31-4B8C-83A1-F6EECF244321}">
                <p14:modId xmlns:p14="http://schemas.microsoft.com/office/powerpoint/2010/main" val="2149899251"/>
              </p:ext>
            </p:extLst>
          </p:nvPr>
        </p:nvGraphicFramePr>
        <p:xfrm>
          <a:off x="457200" y="6448182"/>
          <a:ext cx="8405417"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32130">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D7</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AB</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357148919"/>
      </p:ext>
    </p:extLst>
  </p:cSld>
  <p:clrMapOvr>
    <a:masterClrMapping/>
  </p:clrMapOvr>
  <p:transition>
    <p:pull dir="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835B942-ADBC-4C62-98E9-1A40633804F6}"/>
              </a:ext>
            </a:extLst>
          </p:cNvPr>
          <p:cNvSpPr txBox="1"/>
          <p:nvPr/>
        </p:nvSpPr>
        <p:spPr>
          <a:xfrm>
            <a:off x="6120221" y="152400"/>
            <a:ext cx="2967479" cy="569386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b="0" kern="0" dirty="0">
                <a:solidFill>
                  <a:prstClr val="black"/>
                </a:solidFill>
                <a:latin typeface="Consolas" panose="020B0609020204030204" pitchFamily="49" charset="0"/>
                <a:cs typeface="Consolas" panose="020B0609020204030204" pitchFamily="49" charset="0"/>
              </a:rPr>
              <a:t>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R1, =0x10000010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R2,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R3, [R1,#4]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 max</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SUBS R4, R2, R0  @NZCV =</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MOVW R5, #1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LSL R6, R5, #4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BIC R7, R2, R6</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ANDS R8, R7, </a:t>
            </a:r>
            <a:r>
              <a:rPr lang="pt-BR" b="0" kern="0" dirty="0">
                <a:solidFill>
                  <a:prstClr val="black"/>
                </a:solidFill>
                <a:latin typeface="Consolas" panose="020B0609020204030204" pitchFamily="49" charset="0"/>
                <a:cs typeface="Consolas" panose="020B0609020204030204" pitchFamily="49" charset="0"/>
              </a:rPr>
              <a:t>R6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ROR R9, R3, #12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REV R10, R9</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RBIT R11, R10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ADDS R12, R3, </a:t>
            </a:r>
            <a:r>
              <a:rPr lang="pt-BR" b="0" kern="0" dirty="0">
                <a:solidFill>
                  <a:prstClr val="black"/>
                </a:solidFill>
                <a:latin typeface="Consolas" panose="020B0609020204030204" pitchFamily="49" charset="0"/>
                <a:cs typeface="Consolas" panose="020B0609020204030204" pitchFamily="49" charset="0"/>
              </a:rPr>
              <a:t>R9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STR R12, [R1,#8]</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loop B loop</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max PROC</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CMP R2, </a:t>
            </a:r>
            <a:r>
              <a:rPr lang="pt-BR" b="0" kern="0" dirty="0">
                <a:solidFill>
                  <a:prstClr val="black"/>
                </a:solidFill>
                <a:latin typeface="Consolas" panose="020B0609020204030204" pitchFamily="49" charset="0"/>
                <a:cs typeface="Consolas" panose="020B0609020204030204" pitchFamily="49" charset="0"/>
              </a:rPr>
              <a:t>R3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BLT second</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first MOV R0, R2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 done</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second MOV R0,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done   BX LR</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p:txBody>
      </p:sp>
      <p:sp>
        <p:nvSpPr>
          <p:cNvPr id="2" name="Title 1">
            <a:extLst>
              <a:ext uri="{FF2B5EF4-FFF2-40B4-BE49-F238E27FC236}">
                <a16:creationId xmlns:a16="http://schemas.microsoft.com/office/drawing/2014/main" id="{BDA40FCB-D54C-D82C-3682-2EDAFE1522C2}"/>
              </a:ext>
            </a:extLst>
          </p:cNvPr>
          <p:cNvSpPr>
            <a:spLocks noGrp="1"/>
          </p:cNvSpPr>
          <p:nvPr>
            <p:ph type="title"/>
          </p:nvPr>
        </p:nvSpPr>
        <p:spPr/>
        <p:txBody>
          <a:bodyPr/>
          <a:lstStyle/>
          <a:p>
            <a:r>
              <a:rPr lang="en-US" dirty="0"/>
              <a:t>R13, R14, R15</a:t>
            </a:r>
          </a:p>
        </p:txBody>
      </p:sp>
      <p:sp>
        <p:nvSpPr>
          <p:cNvPr id="3" name="Slide Number Placeholder 2">
            <a:extLst>
              <a:ext uri="{FF2B5EF4-FFF2-40B4-BE49-F238E27FC236}">
                <a16:creationId xmlns:a16="http://schemas.microsoft.com/office/drawing/2014/main" id="{27A1AFFF-574E-8B5A-40A0-486FB05915AC}"/>
              </a:ext>
            </a:extLst>
          </p:cNvPr>
          <p:cNvSpPr>
            <a:spLocks noGrp="1"/>
          </p:cNvSpPr>
          <p:nvPr>
            <p:ph type="sldNum" sz="quarter" idx="12"/>
          </p:nvPr>
        </p:nvSpPr>
        <p:spPr/>
        <p:txBody>
          <a:bodyPr/>
          <a:lstStyle/>
          <a:p>
            <a:fld id="{AEE14D4A-FE32-40AF-B06D-E9622816B101}" type="slidenum">
              <a:rPr lang="en-US" smtClean="0"/>
              <a:pPr/>
              <a:t>36</a:t>
            </a:fld>
            <a:endParaRPr lang="en-US"/>
          </a:p>
        </p:txBody>
      </p:sp>
      <p:sp>
        <p:nvSpPr>
          <p:cNvPr id="4" name="Content Placeholder 3">
            <a:extLst>
              <a:ext uri="{FF2B5EF4-FFF2-40B4-BE49-F238E27FC236}">
                <a16:creationId xmlns:a16="http://schemas.microsoft.com/office/drawing/2014/main" id="{57BCF497-35C8-0714-FEEA-1350E6ED5D96}"/>
              </a:ext>
            </a:extLst>
          </p:cNvPr>
          <p:cNvSpPr>
            <a:spLocks noGrp="1"/>
          </p:cNvSpPr>
          <p:nvPr>
            <p:ph sz="quarter" idx="1"/>
          </p:nvPr>
        </p:nvSpPr>
        <p:spPr>
          <a:xfrm>
            <a:off x="228600" y="1219199"/>
            <a:ext cx="5835321" cy="3710897"/>
          </a:xfrm>
        </p:spPr>
        <p:txBody>
          <a:bodyPr>
            <a:normAutofit fontScale="70000" lnSpcReduction="20000"/>
          </a:bodyPr>
          <a:lstStyle/>
          <a:p>
            <a:r>
              <a:rPr lang="en-US" dirty="0"/>
              <a:t>R13 is the stack pointer (SP), R14 is the link register (LR), and R15 is the program counter (PC). Table shows </a:t>
            </a:r>
          </a:p>
          <a:p>
            <a:r>
              <a:rPr lang="en-US" dirty="0"/>
              <a:t>R13 (SP): points to the current top of the stack used for pushes, pops, and call frames; here it’s </a:t>
            </a:r>
            <a:r>
              <a:rPr lang="en-US" altLang="zh-CN" dirty="0"/>
              <a:t>initialized to</a:t>
            </a:r>
            <a:r>
              <a:rPr lang="en-US" dirty="0"/>
              <a:t> 0x10000200 and remains the same since there is no stack operation (PUSH, POP).​</a:t>
            </a:r>
          </a:p>
          <a:p>
            <a:r>
              <a:rPr lang="en-US" dirty="0"/>
              <a:t>R15 (PC): Initially, PC = 0x00000250 at the first instruction “LDR R1, =0x10000010”. It gets incremented by 4 after execution of each instruction without branch, hence PC =  0x0000025C at instruction “BL max”. When the program finishes, PC is at the last instruction “loop B loop”, and shown as “omitted” in the table.</a:t>
            </a:r>
          </a:p>
          <a:p>
            <a:r>
              <a:rPr lang="en-US" dirty="0"/>
              <a:t>R14 (LR): holds the return address set by BL (address of the instruction after the branch), which is 0x0000025C + 4 = 0x00000260.</a:t>
            </a:r>
          </a:p>
        </p:txBody>
      </p:sp>
      <p:sp>
        <p:nvSpPr>
          <p:cNvPr id="5" name="Slide Number Placeholder 2">
            <a:extLst>
              <a:ext uri="{FF2B5EF4-FFF2-40B4-BE49-F238E27FC236}">
                <a16:creationId xmlns:a16="http://schemas.microsoft.com/office/drawing/2014/main" id="{58C3480D-C74D-EA1C-E341-5549A62A9CE4}"/>
              </a:ext>
            </a:extLst>
          </p:cNvPr>
          <p:cNvSpPr txBox="1">
            <a:spLocks/>
          </p:cNvSpPr>
          <p:nvPr/>
        </p:nvSpPr>
        <p:spPr>
          <a:xfrm>
            <a:off x="612648" y="6356350"/>
            <a:ext cx="1981200" cy="365760"/>
          </a:xfrm>
          <a:prstGeom prst="rect">
            <a:avLst/>
          </a:prstGeom>
        </p:spPr>
        <p:txBody>
          <a:bodyPr vert="horz"/>
          <a:lstStyle>
            <a:defPPr>
              <a:defRPr lang="en-US"/>
            </a:defPPr>
            <a:lvl1pPr algn="l" rtl="0" eaLnBrk="1" fontAlgn="base" latinLnBrk="0" hangingPunct="1">
              <a:spcBef>
                <a:spcPct val="0"/>
              </a:spcBef>
              <a:spcAft>
                <a:spcPct val="0"/>
              </a:spcAft>
              <a:defRPr kumimoji="0" sz="1800" b="1" kern="1200">
                <a:solidFill>
                  <a:schemeClr val="tx2"/>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a:lstStyle>
          <a:p>
            <a:fld id="{AEE14D4A-FE32-40AF-B06D-E9622816B101}" type="slidenum">
              <a:rPr lang="en-US" smtClean="0"/>
              <a:pPr/>
              <a:t>36</a:t>
            </a:fld>
            <a:endParaRPr lang="en-US"/>
          </a:p>
        </p:txBody>
      </p:sp>
      <p:sp>
        <p:nvSpPr>
          <p:cNvPr id="6" name="Slide Number Placeholder 2">
            <a:extLst>
              <a:ext uri="{FF2B5EF4-FFF2-40B4-BE49-F238E27FC236}">
                <a16:creationId xmlns:a16="http://schemas.microsoft.com/office/drawing/2014/main" id="{23B67C02-1D81-0D7F-AB7B-00142E1D4042}"/>
              </a:ext>
            </a:extLst>
          </p:cNvPr>
          <p:cNvSpPr txBox="1">
            <a:spLocks/>
          </p:cNvSpPr>
          <p:nvPr/>
        </p:nvSpPr>
        <p:spPr>
          <a:xfrm>
            <a:off x="612648" y="6356350"/>
            <a:ext cx="1981200" cy="365760"/>
          </a:xfrm>
          <a:prstGeom prst="rect">
            <a:avLst/>
          </a:prstGeom>
        </p:spPr>
        <p:txBody>
          <a:bodyPr vert="horz"/>
          <a:lstStyle>
            <a:defPPr>
              <a:defRPr lang="en-US"/>
            </a:defPPr>
            <a:lvl1pPr algn="l" rtl="0" eaLnBrk="1" fontAlgn="base" latinLnBrk="0" hangingPunct="1">
              <a:spcBef>
                <a:spcPct val="0"/>
              </a:spcBef>
              <a:spcAft>
                <a:spcPct val="0"/>
              </a:spcAft>
              <a:defRPr kumimoji="0" sz="1800" b="1" kern="1200">
                <a:solidFill>
                  <a:schemeClr val="tx2"/>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a:lstStyle>
          <a:p>
            <a:fld id="{AEE14D4A-FE32-40AF-B06D-E9622816B101}" type="slidenum">
              <a:rPr lang="en-US" smtClean="0"/>
              <a:pPr/>
              <a:t>36</a:t>
            </a:fld>
            <a:endParaRPr lang="en-US"/>
          </a:p>
        </p:txBody>
      </p:sp>
      <p:graphicFrame>
        <p:nvGraphicFramePr>
          <p:cNvPr id="7" name="Table 6">
            <a:extLst>
              <a:ext uri="{FF2B5EF4-FFF2-40B4-BE49-F238E27FC236}">
                <a16:creationId xmlns:a16="http://schemas.microsoft.com/office/drawing/2014/main" id="{6FFFED02-5A98-7BA0-6E1F-FFE53EB36F8B}"/>
              </a:ext>
            </a:extLst>
          </p:cNvPr>
          <p:cNvGraphicFramePr>
            <a:graphicFrameLocks noGrp="1"/>
          </p:cNvGraphicFramePr>
          <p:nvPr>
            <p:extLst>
              <p:ext uri="{D42A27DB-BD31-4B8C-83A1-F6EECF244321}">
                <p14:modId xmlns:p14="http://schemas.microsoft.com/office/powerpoint/2010/main" val="2620328051"/>
              </p:ext>
            </p:extLst>
          </p:nvPr>
        </p:nvGraphicFramePr>
        <p:xfrm>
          <a:off x="56300" y="4930097"/>
          <a:ext cx="9087700" cy="1483360"/>
        </p:xfrm>
        <a:graphic>
          <a:graphicData uri="http://schemas.openxmlformats.org/drawingml/2006/table">
            <a:tbl>
              <a:tblPr firstRow="1" bandRow="1">
                <a:tableStyleId>{5940675A-B579-460E-94D1-54222C63F5DA}</a:tableStyleId>
              </a:tblPr>
              <a:tblGrid>
                <a:gridCol w="561982">
                  <a:extLst>
                    <a:ext uri="{9D8B030D-6E8A-4147-A177-3AD203B41FA5}">
                      <a16:colId xmlns:a16="http://schemas.microsoft.com/office/drawing/2014/main" val="2337985746"/>
                    </a:ext>
                  </a:extLst>
                </a:gridCol>
                <a:gridCol w="1698150">
                  <a:extLst>
                    <a:ext uri="{9D8B030D-6E8A-4147-A177-3AD203B41FA5}">
                      <a16:colId xmlns:a16="http://schemas.microsoft.com/office/drawing/2014/main" val="1802740170"/>
                    </a:ext>
                  </a:extLst>
                </a:gridCol>
                <a:gridCol w="512373">
                  <a:extLst>
                    <a:ext uri="{9D8B030D-6E8A-4147-A177-3AD203B41FA5}">
                      <a16:colId xmlns:a16="http://schemas.microsoft.com/office/drawing/2014/main" val="2590131525"/>
                    </a:ext>
                  </a:extLst>
                </a:gridCol>
                <a:gridCol w="1566396">
                  <a:extLst>
                    <a:ext uri="{9D8B030D-6E8A-4147-A177-3AD203B41FA5}">
                      <a16:colId xmlns:a16="http://schemas.microsoft.com/office/drawing/2014/main" val="947827850"/>
                    </a:ext>
                  </a:extLst>
                </a:gridCol>
                <a:gridCol w="702683">
                  <a:extLst>
                    <a:ext uri="{9D8B030D-6E8A-4147-A177-3AD203B41FA5}">
                      <a16:colId xmlns:a16="http://schemas.microsoft.com/office/drawing/2014/main" val="2189951492"/>
                    </a:ext>
                  </a:extLst>
                </a:gridCol>
                <a:gridCol w="1727428">
                  <a:extLst>
                    <a:ext uri="{9D8B030D-6E8A-4147-A177-3AD203B41FA5}">
                      <a16:colId xmlns:a16="http://schemas.microsoft.com/office/drawing/2014/main" val="2319925471"/>
                    </a:ext>
                  </a:extLst>
                </a:gridCol>
                <a:gridCol w="570913">
                  <a:extLst>
                    <a:ext uri="{9D8B030D-6E8A-4147-A177-3AD203B41FA5}">
                      <a16:colId xmlns:a16="http://schemas.microsoft.com/office/drawing/2014/main" val="3873491110"/>
                    </a:ext>
                  </a:extLst>
                </a:gridCol>
                <a:gridCol w="174777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pt-BR" dirty="0"/>
                        <a:t>0xABCDEFFF</a:t>
                      </a:r>
                      <a:r>
                        <a:rPr lang="en-US" dirty="0"/>
                        <a:t>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kumimoji="0" lang="en-US" b="0" i="0" kern="1200" dirty="0">
                          <a:solidFill>
                            <a:schemeClr val="tx1"/>
                          </a:solidFill>
                          <a:effectLst/>
                          <a:latin typeface="+mn-lt"/>
                          <a:ea typeface="+mn-ea"/>
                          <a:cs typeface="+mn-cs"/>
                        </a:rPr>
                        <a:t>0xABD7BCD0</a:t>
                      </a:r>
                      <a:endParaRPr lang="en-US" dirty="0"/>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kumimoji="0" lang="en-US" b="0" i="0" kern="1200" dirty="0">
                          <a:solidFill>
                            <a:schemeClr val="tx1"/>
                          </a:solidFill>
                          <a:effectLst/>
                          <a:latin typeface="+mn-lt"/>
                          <a:ea typeface="+mn-ea"/>
                          <a:cs typeface="+mn-cs"/>
                        </a:rPr>
                        <a:t>0x000ABCD0</a:t>
                      </a:r>
                      <a:endParaRPr lang="en-US" dirty="0"/>
                    </a:p>
                  </a:txBody>
                  <a:tcPr>
                    <a:solidFill>
                      <a:schemeClr val="bg1"/>
                    </a:solidFill>
                  </a:tcPr>
                </a:tc>
                <a:tc>
                  <a:txBody>
                    <a:bodyPr/>
                    <a:lstStyle/>
                    <a:p>
                      <a:r>
                        <a:rPr lang="en-US" dirty="0"/>
                        <a:t>R13</a:t>
                      </a:r>
                    </a:p>
                  </a:txBody>
                  <a:tcPr>
                    <a:solidFill>
                      <a:schemeClr val="bg1"/>
                    </a:solidFill>
                  </a:tcPr>
                </a:tc>
                <a:tc>
                  <a:txBody>
                    <a:bodyPr/>
                    <a:lstStyle/>
                    <a:p>
                      <a:r>
                        <a:rPr lang="pt-BR" dirty="0"/>
                        <a:t>0x10000200</a:t>
                      </a:r>
                      <a:endParaRPr lang="en-US" dirty="0"/>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pt-BR" dirty="0"/>
                        <a:t>0xABCDEFFF</a:t>
                      </a:r>
                      <a:endParaRPr lang="en-US" dirty="0"/>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kumimoji="0" lang="en-US" b="0" i="0" kern="1200" dirty="0">
                          <a:solidFill>
                            <a:schemeClr val="tx1"/>
                          </a:solidFill>
                          <a:effectLst/>
                          <a:latin typeface="+mn-lt"/>
                          <a:ea typeface="+mn-ea"/>
                          <a:cs typeface="+mn-cs"/>
                        </a:rPr>
                        <a:t>0xD0BC0A00</a:t>
                      </a:r>
                      <a:endParaRPr lang="en-US" dirty="0"/>
                    </a:p>
                  </a:txBody>
                  <a:tcPr>
                    <a:solidFill>
                      <a:schemeClr val="bg1"/>
                    </a:solidFill>
                  </a:tcPr>
                </a:tc>
                <a:tc>
                  <a:txBody>
                    <a:bodyPr/>
                    <a:lstStyle/>
                    <a:p>
                      <a:r>
                        <a:rPr lang="en-US" dirty="0"/>
                        <a:t>R14</a:t>
                      </a:r>
                    </a:p>
                  </a:txBody>
                  <a:tcPr>
                    <a:solidFill>
                      <a:schemeClr val="bg1"/>
                    </a:solidFill>
                  </a:tcPr>
                </a:tc>
                <a:tc>
                  <a:txBody>
                    <a:bodyPr/>
                    <a:lstStyle/>
                    <a:p>
                      <a:r>
                        <a:rPr lang="pt-BR" dirty="0"/>
                        <a:t>0x00000260</a:t>
                      </a:r>
                      <a:endParaRPr lang="en-US" dirty="0"/>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pt-BR" dirty="0"/>
                        <a:t>0xABCD0000</a:t>
                      </a:r>
                      <a:endParaRPr lang="en-US" dirty="0"/>
                    </a:p>
                  </a:txBody>
                  <a:tcPr>
                    <a:solidFill>
                      <a:schemeClr val="bg1"/>
                    </a:solidFill>
                  </a:tcPr>
                </a:tc>
                <a:tc>
                  <a:txBody>
                    <a:bodyPr/>
                    <a:lstStyle/>
                    <a:p>
                      <a:r>
                        <a:rPr lang="en-US" dirty="0"/>
                        <a:t>R7</a:t>
                      </a:r>
                    </a:p>
                  </a:txBody>
                  <a:tcPr>
                    <a:solidFill>
                      <a:schemeClr val="bg1"/>
                    </a:solidFill>
                  </a:tcPr>
                </a:tc>
                <a:tc>
                  <a:txBody>
                    <a:bodyPr/>
                    <a:lstStyle/>
                    <a:p>
                      <a:r>
                        <a:rPr kumimoji="0" lang="en-US" b="0" i="0" kern="1200" dirty="0">
                          <a:solidFill>
                            <a:schemeClr val="tx1"/>
                          </a:solidFill>
                          <a:effectLst/>
                          <a:latin typeface="+mn-lt"/>
                          <a:ea typeface="+mn-ea"/>
                          <a:cs typeface="+mn-cs"/>
                        </a:rPr>
                        <a:t>0xABCDEFEF</a:t>
                      </a:r>
                      <a:endParaRPr lang="en-US" dirty="0"/>
                    </a:p>
                  </a:txBody>
                  <a:tcPr>
                    <a:solidFill>
                      <a:schemeClr val="bg1"/>
                    </a:solidFill>
                  </a:tcPr>
                </a:tc>
                <a:tc>
                  <a:txBody>
                    <a:bodyPr/>
                    <a:lstStyle/>
                    <a:p>
                      <a:r>
                        <a:rPr lang="en-US" dirty="0"/>
                        <a:t>R11</a:t>
                      </a:r>
                    </a:p>
                  </a:txBody>
                  <a:tcPr>
                    <a:solidFill>
                      <a:schemeClr val="bg1"/>
                    </a:solidFill>
                  </a:tcPr>
                </a:tc>
                <a:tc>
                  <a:txBody>
                    <a:bodyPr/>
                    <a:lstStyle/>
                    <a:p>
                      <a:r>
                        <a:rPr lang="pt-BR" dirty="0"/>
                        <a:t>0x00503D0B</a:t>
                      </a:r>
                      <a:endParaRPr lang="en-US" dirty="0"/>
                    </a:p>
                  </a:txBody>
                  <a:tcPr>
                    <a:solidFill>
                      <a:schemeClr val="bg1"/>
                    </a:solidFill>
                  </a:tcPr>
                </a:tc>
                <a:tc>
                  <a:txBody>
                    <a:bodyPr/>
                    <a:lstStyle/>
                    <a:p>
                      <a:r>
                        <a:rPr lang="en-US" dirty="0"/>
                        <a:t>R15</a:t>
                      </a:r>
                    </a:p>
                  </a:txBody>
                  <a:tcPr>
                    <a:solidFill>
                      <a:schemeClr val="bg1"/>
                    </a:solidFill>
                  </a:tcPr>
                </a:tc>
                <a:tc>
                  <a:txBody>
                    <a:bodyPr/>
                    <a:lstStyle/>
                    <a:p>
                      <a:r>
                        <a:rPr lang="pt-BR" dirty="0"/>
                        <a:t>omitted</a:t>
                      </a:r>
                      <a:endParaRPr lang="en-US" dirty="0"/>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8" name="Content Placeholder 6">
            <a:extLst>
              <a:ext uri="{FF2B5EF4-FFF2-40B4-BE49-F238E27FC236}">
                <a16:creationId xmlns:a16="http://schemas.microsoft.com/office/drawing/2014/main" id="{2B85D733-7206-4E27-9FF6-DD90689D85DA}"/>
              </a:ext>
            </a:extLst>
          </p:cNvPr>
          <p:cNvGraphicFramePr>
            <a:graphicFrameLocks/>
          </p:cNvGraphicFramePr>
          <p:nvPr>
            <p:extLst>
              <p:ext uri="{D42A27DB-BD31-4B8C-83A1-F6EECF244321}">
                <p14:modId xmlns:p14="http://schemas.microsoft.com/office/powerpoint/2010/main" val="2267930343"/>
              </p:ext>
            </p:extLst>
          </p:nvPr>
        </p:nvGraphicFramePr>
        <p:xfrm>
          <a:off x="457200" y="6448182"/>
          <a:ext cx="8405417"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32130">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D7</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AB</a:t>
                      </a:r>
                    </a:p>
                  </a:txBody>
                  <a:tcPr>
                    <a:solidFill>
                      <a:schemeClr val="bg1"/>
                    </a:solidFill>
                  </a:tcPr>
                </a:tc>
                <a:extLst>
                  <a:ext uri="{0D108BD9-81ED-4DB2-BD59-A6C34878D82A}">
                    <a16:rowId xmlns:a16="http://schemas.microsoft.com/office/drawing/2014/main" val="3396541759"/>
                  </a:ext>
                </a:extLst>
              </a:tr>
            </a:tbl>
          </a:graphicData>
        </a:graphic>
      </p:graphicFrame>
      <p:sp>
        <p:nvSpPr>
          <p:cNvPr id="12" name="TextBox 11">
            <a:extLst>
              <a:ext uri="{FF2B5EF4-FFF2-40B4-BE49-F238E27FC236}">
                <a16:creationId xmlns:a16="http://schemas.microsoft.com/office/drawing/2014/main" id="{9392F158-CDA9-52E5-97A3-8A9E24704B5D}"/>
              </a:ext>
            </a:extLst>
          </p:cNvPr>
          <p:cNvSpPr txBox="1"/>
          <p:nvPr/>
        </p:nvSpPr>
        <p:spPr>
          <a:xfrm>
            <a:off x="5341924" y="152399"/>
            <a:ext cx="1082348" cy="30777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0" dirty="0">
                <a:latin typeface="+mn-lt"/>
              </a:rPr>
              <a:t>0x00000250</a:t>
            </a:r>
            <a:endParaRPr lang="en-US" sz="1200" b="0" dirty="0">
              <a:latin typeface="+mn-lt"/>
            </a:endParaRPr>
          </a:p>
        </p:txBody>
      </p:sp>
      <p:sp>
        <p:nvSpPr>
          <p:cNvPr id="13" name="TextBox 12">
            <a:extLst>
              <a:ext uri="{FF2B5EF4-FFF2-40B4-BE49-F238E27FC236}">
                <a16:creationId xmlns:a16="http://schemas.microsoft.com/office/drawing/2014/main" id="{4821AA2C-AE9A-E5E1-13BF-BD21613C1256}"/>
              </a:ext>
            </a:extLst>
          </p:cNvPr>
          <p:cNvSpPr txBox="1"/>
          <p:nvPr/>
        </p:nvSpPr>
        <p:spPr>
          <a:xfrm>
            <a:off x="5305055" y="740171"/>
            <a:ext cx="1119217" cy="30777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0" dirty="0">
                <a:latin typeface="+mn-lt"/>
              </a:rPr>
              <a:t>0x0000025C</a:t>
            </a:r>
            <a:endParaRPr lang="en-US" sz="1200" b="0" dirty="0">
              <a:latin typeface="+mn-lt"/>
            </a:endParaRPr>
          </a:p>
        </p:txBody>
      </p:sp>
      <p:sp>
        <p:nvSpPr>
          <p:cNvPr id="14" name="TextBox 13">
            <a:extLst>
              <a:ext uri="{FF2B5EF4-FFF2-40B4-BE49-F238E27FC236}">
                <a16:creationId xmlns:a16="http://schemas.microsoft.com/office/drawing/2014/main" id="{EA159E56-53CA-B7CC-AD90-7DD4547F2129}"/>
              </a:ext>
            </a:extLst>
          </p:cNvPr>
          <p:cNvSpPr txBox="1"/>
          <p:nvPr/>
        </p:nvSpPr>
        <p:spPr>
          <a:xfrm>
            <a:off x="5305055" y="1047947"/>
            <a:ext cx="1119217" cy="30777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mn-lt"/>
              </a:rPr>
              <a:t>0x00000260</a:t>
            </a:r>
            <a:endParaRPr lang="en-US" sz="1200" b="0" dirty="0">
              <a:latin typeface="+mn-lt"/>
            </a:endParaRPr>
          </a:p>
        </p:txBody>
      </p:sp>
    </p:spTree>
    <p:extLst>
      <p:ext uri="{BB962C8B-B14F-4D97-AF65-F5344CB8AC3E}">
        <p14:creationId xmlns:p14="http://schemas.microsoft.com/office/powerpoint/2010/main" val="1902584283"/>
      </p:ext>
    </p:extLst>
  </p:cSld>
  <p:clrMapOvr>
    <a:masterClrMapping/>
  </p:clrMapOvr>
  <p:transition>
    <p:pull dir="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5CC5A91-7318-5266-2B36-68F3E5DFBE3F}"/>
              </a:ext>
            </a:extLst>
          </p:cNvPr>
          <p:cNvPicPr>
            <a:picLocks noChangeAspect="1"/>
          </p:cNvPicPr>
          <p:nvPr/>
        </p:nvPicPr>
        <p:blipFill>
          <a:blip r:embed="rId3"/>
          <a:stretch>
            <a:fillRect/>
          </a:stretch>
        </p:blipFill>
        <p:spPr>
          <a:xfrm>
            <a:off x="1367644" y="0"/>
            <a:ext cx="6408712" cy="6858000"/>
          </a:xfrm>
          <a:prstGeom prst="rect">
            <a:avLst/>
          </a:prstGeom>
        </p:spPr>
      </p:pic>
      <p:sp>
        <p:nvSpPr>
          <p:cNvPr id="3" name="Slide Number Placeholder 2">
            <a:extLst>
              <a:ext uri="{FF2B5EF4-FFF2-40B4-BE49-F238E27FC236}">
                <a16:creationId xmlns:a16="http://schemas.microsoft.com/office/drawing/2014/main" id="{69212CA9-B083-7D95-603D-B6C26B0D67F4}"/>
              </a:ext>
            </a:extLst>
          </p:cNvPr>
          <p:cNvSpPr>
            <a:spLocks noGrp="1"/>
          </p:cNvSpPr>
          <p:nvPr>
            <p:ph type="sldNum" sz="quarter" idx="12"/>
          </p:nvPr>
        </p:nvSpPr>
        <p:spPr/>
        <p:txBody>
          <a:bodyPr/>
          <a:lstStyle/>
          <a:p>
            <a:fld id="{AEE14D4A-FE32-40AF-B06D-E9622816B101}" type="slidenum">
              <a:rPr lang="en-US" smtClean="0"/>
              <a:pPr/>
              <a:t>37</a:t>
            </a:fld>
            <a:endParaRPr lang="en-US"/>
          </a:p>
        </p:txBody>
      </p:sp>
      <p:sp>
        <p:nvSpPr>
          <p:cNvPr id="5" name="TextBox 4">
            <a:extLst>
              <a:ext uri="{FF2B5EF4-FFF2-40B4-BE49-F238E27FC236}">
                <a16:creationId xmlns:a16="http://schemas.microsoft.com/office/drawing/2014/main" id="{32A79334-25D3-6F34-8E60-D781DF9B18E9}"/>
              </a:ext>
            </a:extLst>
          </p:cNvPr>
          <p:cNvSpPr txBox="1"/>
          <p:nvPr/>
        </p:nvSpPr>
        <p:spPr>
          <a:xfrm>
            <a:off x="5132070" y="1010077"/>
            <a:ext cx="3885042" cy="523220"/>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mn-lt"/>
              </a:rPr>
              <a:t>EC361 2020 Exam 2 Q1</a:t>
            </a:r>
          </a:p>
          <a:p>
            <a:r>
              <a:rPr lang="en-US" b="0" dirty="0">
                <a:hlinkClick r:id="rId4"/>
              </a:rPr>
              <a:t>https://www.youtube.com/watch?v=XkjC1avu6Ow</a:t>
            </a:r>
            <a:endParaRPr lang="en-US" b="0" dirty="0"/>
          </a:p>
        </p:txBody>
      </p:sp>
    </p:spTree>
    <p:extLst>
      <p:ext uri="{BB962C8B-B14F-4D97-AF65-F5344CB8AC3E}">
        <p14:creationId xmlns:p14="http://schemas.microsoft.com/office/powerpoint/2010/main" val="606520013"/>
      </p:ext>
    </p:extLst>
  </p:cSld>
  <p:clrMapOvr>
    <a:masterClrMapping/>
  </p:clrMapOvr>
  <p:transition>
    <p:pull dir="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Custom 2">
      <a:dk1>
        <a:sysClr val="windowText" lastClr="000000"/>
      </a:dk1>
      <a:lt1>
        <a:sysClr val="window" lastClr="FFFFFF"/>
      </a:lt1>
      <a:dk2>
        <a:srgbClr val="1F497D"/>
      </a:dk2>
      <a:lt2>
        <a:srgbClr val="C00000"/>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15146</TotalTime>
  <Pages>1</Pages>
  <Words>5753</Words>
  <Application>Microsoft Office PowerPoint</Application>
  <PresentationFormat>On-screen Show (4:3)</PresentationFormat>
  <Paragraphs>1119</Paragraphs>
  <Slides>37</Slides>
  <Notes>21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37</vt:i4>
      </vt:variant>
    </vt:vector>
  </HeadingPairs>
  <TitlesOfParts>
    <vt:vector size="52" baseType="lpstr">
      <vt:lpstr>Arial</vt:lpstr>
      <vt:lpstr>Arial Narrow</vt:lpstr>
      <vt:lpstr>Bookman Old Style</vt:lpstr>
      <vt:lpstr>Bookman Old Style (Headings)</vt:lpstr>
      <vt:lpstr>Calibri</vt:lpstr>
      <vt:lpstr>Consolas</vt:lpstr>
      <vt:lpstr>Courier New</vt:lpstr>
      <vt:lpstr>Gill Sans</vt:lpstr>
      <vt:lpstr>Gill Sans Light</vt:lpstr>
      <vt:lpstr>Gill Sans MT</vt:lpstr>
      <vt:lpstr>Helvetica</vt:lpstr>
      <vt:lpstr>Times New Roman</vt:lpstr>
      <vt:lpstr>Wingdings</vt:lpstr>
      <vt:lpstr>Wingdings 3</vt:lpstr>
      <vt:lpstr>Origin</vt:lpstr>
      <vt:lpstr>Zonghua Gu</vt:lpstr>
      <vt:lpstr>Endianness</vt:lpstr>
      <vt:lpstr>Endianness ANS</vt:lpstr>
      <vt:lpstr>Endianness</vt:lpstr>
      <vt:lpstr>Endianness ANS</vt:lpstr>
      <vt:lpstr>Endianness</vt:lpstr>
      <vt:lpstr>Endianness ANS</vt:lpstr>
      <vt:lpstr>Endianness</vt:lpstr>
      <vt:lpstr>Endianness ANS</vt:lpstr>
      <vt:lpstr>Endianness</vt:lpstr>
      <vt:lpstr>Endianness ANS</vt:lpstr>
      <vt:lpstr>Endianness ANS</vt:lpstr>
      <vt:lpstr>Endianness ANS</vt:lpstr>
      <vt:lpstr>Data Alignment</vt:lpstr>
      <vt:lpstr>Data Alignment</vt:lpstr>
      <vt:lpstr>Data Alignment ANS</vt:lpstr>
      <vt:lpstr>Data Alignment</vt:lpstr>
      <vt:lpstr>Data Alignment ANS</vt:lpstr>
      <vt:lpstr>Memory Cycles</vt:lpstr>
      <vt:lpstr>Memory Cycles ANS</vt:lpstr>
      <vt:lpstr>Arrays</vt:lpstr>
      <vt:lpstr>Arrays ANS</vt:lpstr>
      <vt:lpstr>Load Multiple Registers</vt:lpstr>
      <vt:lpstr>LDM</vt:lpstr>
      <vt:lpstr>LDM ANS</vt:lpstr>
      <vt:lpstr>LDR</vt:lpstr>
      <vt:lpstr>LDRB R7, [R2, #1] ANS</vt:lpstr>
      <vt:lpstr>LDRSH R7, [R2, #1] ANS</vt:lpstr>
      <vt:lpstr>LDRSH R7, [R2, #2] ANS</vt:lpstr>
      <vt:lpstr>Program Understanding 1</vt:lpstr>
      <vt:lpstr>Program Understanding 1 ANS</vt:lpstr>
      <vt:lpstr>Program Understanding 2</vt:lpstr>
      <vt:lpstr>Program Understanding 2 ANS</vt:lpstr>
      <vt:lpstr>PowerPoint Presentation</vt:lpstr>
      <vt:lpstr>Notes on Flags</vt:lpstr>
      <vt:lpstr>R13, R14, R15</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ARM Architecture</dc:title>
  <dc:creator>ARM Training</dc:creator>
  <cp:lastModifiedBy>Zonghua Gu</cp:lastModifiedBy>
  <cp:revision>582</cp:revision>
  <cp:lastPrinted>2025-09-18T21:37:08Z</cp:lastPrinted>
  <dcterms:created xsi:type="dcterms:W3CDTF">2014-02-12T15:59:14Z</dcterms:created>
  <dcterms:modified xsi:type="dcterms:W3CDTF">2026-10-26T15:08:37Z</dcterms:modified>
</cp:coreProperties>
</file>