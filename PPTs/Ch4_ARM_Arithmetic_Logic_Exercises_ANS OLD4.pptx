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2" r:id="rId21"/>
    <p:sldId id="261" r:id="rId22"/>
    <p:sldId id="352" r:id="rId23"/>
    <p:sldId id="353" r:id="rId24"/>
    <p:sldId id="559" r:id="rId25"/>
    <p:sldId id="560" r:id="rId26"/>
    <p:sldId id="592" r:id="rId27"/>
    <p:sldId id="561" r:id="rId28"/>
    <p:sldId id="563" r:id="rId29"/>
    <p:sldId id="562" r:id="rId30"/>
    <p:sldId id="568" r:id="rId31"/>
    <p:sldId id="570" r:id="rId32"/>
    <p:sldId id="571" r:id="rId33"/>
    <p:sldId id="572" r:id="rId34"/>
    <p:sldId id="574" r:id="rId35"/>
    <p:sldId id="573" r:id="rId36"/>
    <p:sldId id="579" r:id="rId37"/>
    <p:sldId id="582" r:id="rId38"/>
    <p:sldId id="580" r:id="rId39"/>
    <p:sldId id="354" r:id="rId40"/>
    <p:sldId id="356" r:id="rId41"/>
    <p:sldId id="357" r:id="rId42"/>
    <p:sldId id="358" r:id="rId43"/>
    <p:sldId id="384" r:id="rId44"/>
    <p:sldId id="385" r:id="rId45"/>
    <p:sldId id="387" r:id="rId46"/>
    <p:sldId id="589" r:id="rId47"/>
    <p:sldId id="591" r:id="rId48"/>
    <p:sldId id="590" r:id="rId49"/>
    <p:sldId id="587" r:id="rId50"/>
    <p:sldId id="583" r:id="rId51"/>
    <p:sldId id="585" r:id="rId52"/>
    <p:sldId id="586" r:id="rId5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F66C0-3357-40C2-B5B1-DCDAC1289C61}" v="40" dt="2025-10-16T22:36:13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#0x1011  @ Set bits 0, 4, and 12 (0x1011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ustomXml" Target="../ink/ink1.xml"/><Relationship Id="rId4" Type="http://schemas.openxmlformats.org/officeDocument/2006/relationships/image" Target="../media/image2.png"/><Relationship Id="rId5" Type="http://schemas.openxmlformats.org/officeDocument/2006/relationships/customXml" Target="../ink/ink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0x00000ABC | 0xFFFFF210 = 0xFFFFFABC</a:t>
            </a:r>
          </a:p>
          <a:p>
            <a:r>
              <a:rPr lang="pt-BR" dirty="0"/>
              <a:t>r6 = r0 BIC R1 = R0 &amp; (~R1) = 0x00000ABC &amp; 0xFFFFF210 = 0x00000210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Complement (toggle)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0xDEEB. </a:t>
            </a:r>
          </a:p>
          <a:p>
            <a:pPr lvl="1"/>
            <a:r>
              <a:rPr lang="en-US" dirty="0"/>
              <a:t>Clear: 0xDECB &amp; ~0x10A0 = 0xCE4B.</a:t>
            </a:r>
          </a:p>
          <a:p>
            <a:pPr lvl="1"/>
            <a:r>
              <a:rPr lang="en-US" dirty="0"/>
              <a:t>Complement: 0xDECB ^ 0x10A0 = 0xCE6B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three instructions (HINT: Check CMP, IT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three instructions (HINT: Check CMP, IT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IT LT         @ Cortex-M: next instr. only if LT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Assuming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0000 0000 0000 = 0x3FFFF000</a:t>
            </a:r>
          </a:p>
          <a:p>
            <a:pPr lvl="1"/>
            <a:r>
              <a:rPr lang="en-US" dirty="0"/>
              <a:t>In decimal: 4,294,950,912 ÷ 4 = 1,073,737,728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80EF-5EA1-3126-9F72-DBC3BB5C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8A9-784B-2788-2972-41B5BBF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A7CFC-639E-5CD7-AD17-ED109B73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3D22-7664-ED5A-1A06-11937BAAD8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ASR 2, 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0000 0000 0000 = 0xFFFFF000 (-4096 in decimal)</a:t>
            </a:r>
          </a:p>
          <a:p>
            <a:pPr lvl="1"/>
            <a:r>
              <a:rPr lang="en-US" dirty="0"/>
              <a:t>In decimal: -16384 ÷ 2² = -4096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4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502910"/>
          </a:xfrm>
        </p:spPr>
        <p:txBody>
          <a:bodyPr>
            <a:normAutofit fontScale="92500" lnSpcReduction="20000"/>
          </a:bodyPr>
          <a:lstStyle/>
          <a:p>
            <a:r>
              <a:rPr lang="pt-BR"/>
              <a:t>Compute register values, and</a:t>
            </a:r>
            <a:r>
              <a:rPr lang="en-US" dirty="0"/>
              <a:t> </a:t>
            </a:r>
            <a:r>
              <a:rPr lang="en-US"/>
              <a:t>NZCV flags after execution of each instruction, assuming all flags are initially 0</a:t>
            </a:r>
            <a:r>
              <a:rPr lang="pt-BR"/>
              <a:t>:</a:t>
            </a:r>
            <a:endParaRPr lang="pt-BR" dirty="0"/>
          </a:p>
          <a:p>
            <a:pPr lvl="1"/>
            <a:r>
              <a:rPr lang="pt-BR"/>
              <a:t>LDR R1, =0x11223344</a:t>
            </a:r>
            <a:endParaRPr lang="pt-BR" dirty="0"/>
          </a:p>
          <a:p>
            <a:pPr lvl="1"/>
            <a:r>
              <a:rPr lang="pt-BR"/>
              <a:t>MOVS R2, R1, LSL </a:t>
            </a:r>
            <a:r>
              <a:rPr lang="pt-BR" dirty="0"/>
              <a:t>#4</a:t>
            </a:r>
          </a:p>
          <a:p>
            <a:pPr lvl="1"/>
            <a:r>
              <a:rPr lang="pt-BR"/>
              <a:t>MOVS R3, R1, LSL </a:t>
            </a:r>
            <a:r>
              <a:rPr lang="pt-BR" dirty="0"/>
              <a:t>#8</a:t>
            </a:r>
          </a:p>
          <a:p>
            <a:pPr lvl="1"/>
            <a:r>
              <a:rPr lang="pt-BR"/>
              <a:t>MOVS R4, R1, LSL </a:t>
            </a:r>
            <a:r>
              <a:rPr lang="pt-BR" dirty="0"/>
              <a:t>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/>
              <a:t>MOVS R2, R1, LSL </a:t>
            </a:r>
            <a:r>
              <a:rPr lang="en-US" dirty="0"/>
              <a:t>#4 performs a logical left </a:t>
            </a:r>
            <a:r>
              <a:rPr lang="en-US"/>
              <a:t>shift of R1 by 4 bits, inserting zeros; 0x11223344 &lt;&lt; 4 = 0x12233440.</a:t>
            </a:r>
            <a:r>
              <a:rPr lang="en-US" dirty="0"/>
              <a:t> </a:t>
            </a:r>
          </a:p>
          <a:p>
            <a:pPr lvl="2"/>
            <a:r>
              <a:rPr lang="en-US"/>
              <a:t>NZCV = 0010 (Carry is 1 since last bit shifted out was 1)</a:t>
            </a:r>
            <a:endParaRPr lang="en-US" dirty="0"/>
          </a:p>
          <a:p>
            <a:pPr lvl="1"/>
            <a:r>
              <a:rPr lang="en-US"/>
              <a:t>MOVS R5, R1, LSL </a:t>
            </a:r>
            <a:r>
              <a:rPr lang="en-US" dirty="0"/>
              <a:t>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2226504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153*r3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     r1, #2             // r3 = x, r1 = 2,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r1       // r2 = r3*r0 + r1 = x(6x - 9)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0x00000000</a:t>
            </a:r>
          </a:p>
          <a:p>
            <a:r>
              <a:rPr lang="pt-BR" dirty="0"/>
              <a:t>NZCV = 0110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860298" y="2074783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57200" y="4055358"/>
            <a:ext cx="8348605" cy="265024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The carry flag is updated based on the last bit shifted out during the left shift operation on r0. Since the left shift of 0xFFFFFF00 by 1 bit causes a '1' to be shifted out, the carry flag is set to 1.</a:t>
            </a:r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0xFFFFFE01</a:t>
            </a:r>
          </a:p>
          <a:p>
            <a:r>
              <a:rPr lang="pt-BR" dirty="0"/>
              <a:t>NZCV = 1000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860298" y="2054905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Left shift (LSL #1) moves the bits in r0 left by 1 bit, so r0 = 0xFFFFFE00. The ADDS is then computed: r2 = r1 + (r0 &lt;&lt; 1) = 0xFFFFFE01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Carry is set if there is an unsigned overflow. Here carry flag C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  <a:blipFill>
                <a:blip r:embed="rId3"/>
                <a:stretch>
                  <a:fillRect t="-239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 (ADD doesn't affect flags)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(LSL without S does not update flags)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/>
              <a:t>(f) </a:t>
            </a:r>
            <a:r>
              <a:rPr lang="pt-BR" dirty="0"/>
              <a:t>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52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11764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86678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3655</TotalTime>
  <Words>6347</Words>
  <Application>Microsoft Office PowerPoint</Application>
  <PresentationFormat>On-screen Show (4:3)</PresentationFormat>
  <Paragraphs>906</Paragraphs>
  <Slides>52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Q4 ANS</vt:lpstr>
      <vt:lpstr>Q5 ANS</vt:lpstr>
      <vt:lpstr>Assembly Programming</vt:lpstr>
      <vt:lpstr>Assembly Programming ANS</vt:lpstr>
      <vt:lpstr>Shift LSL</vt:lpstr>
      <vt:lpstr>Shift LSL ANS</vt:lpstr>
      <vt:lpstr>Shift LSLS ANS</vt:lpstr>
      <vt:lpstr>Shift LSR ASR ANS</vt:lpstr>
      <vt:lpstr>Shift ASR</vt:lpstr>
      <vt:lpstr>Shift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&amp; Subtraction ANS</vt:lpstr>
      <vt:lpstr>Addition &amp; Subtraction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346</cp:revision>
  <cp:lastPrinted>2025-10-09T21:51:20Z</cp:lastPrinted>
  <dcterms:created xsi:type="dcterms:W3CDTF">2014-02-05T02:41:42Z</dcterms:created>
  <dcterms:modified xsi:type="dcterms:W3CDTF">2025-10-16T22:40:45Z</dcterms:modified>
</cp:coreProperties>
</file>