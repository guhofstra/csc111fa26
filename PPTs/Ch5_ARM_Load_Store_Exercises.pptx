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6" r:id="rId1"/>
  </p:sldMasterIdLst>
  <p:notesMasterIdLst>
    <p:notesMasterId r:id="rId16"/>
  </p:notesMasterIdLst>
  <p:handoutMasterIdLst>
    <p:handoutMasterId r:id="rId17"/>
  </p:handoutMasterIdLst>
  <p:sldIdLst>
    <p:sldId id="385" r:id="rId2"/>
    <p:sldId id="821" r:id="rId3"/>
    <p:sldId id="822" r:id="rId4"/>
    <p:sldId id="823" r:id="rId5"/>
    <p:sldId id="824" r:id="rId6"/>
    <p:sldId id="813" r:id="rId7"/>
    <p:sldId id="825" r:id="rId8"/>
    <p:sldId id="826" r:id="rId9"/>
    <p:sldId id="827" r:id="rId10"/>
    <p:sldId id="828" r:id="rId11"/>
    <p:sldId id="829" r:id="rId12"/>
    <p:sldId id="830" r:id="rId13"/>
    <p:sldId id="816" r:id="rId14"/>
    <p:sldId id="818" r:id="rId15"/>
  </p:sldIdLst>
  <p:sldSz cx="9144000" cy="6858000" type="screen4x3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3">
          <p15:clr>
            <a:srgbClr val="A4A3A4"/>
          </p15:clr>
        </p15:guide>
        <p15:guide id="2" orient="horz" pos="1826">
          <p15:clr>
            <a:srgbClr val="A4A3A4"/>
          </p15:clr>
        </p15:guide>
        <p15:guide id="3" orient="horz" pos="1381">
          <p15:clr>
            <a:srgbClr val="A4A3A4"/>
          </p15:clr>
        </p15:guide>
        <p15:guide id="4" pos="395">
          <p15:clr>
            <a:srgbClr val="A4A3A4"/>
          </p15:clr>
        </p15:guide>
        <p15:guide id="5" pos="3259">
          <p15:clr>
            <a:srgbClr val="A4A3A4"/>
          </p15:clr>
        </p15:guide>
        <p15:guide id="6" pos="1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615">
          <p15:clr>
            <a:srgbClr val="A4A3A4"/>
          </p15:clr>
        </p15:guide>
        <p15:guide id="2" pos="402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1FF"/>
    <a:srgbClr val="00618C"/>
    <a:srgbClr val="006D82"/>
    <a:srgbClr val="A5D0E3"/>
    <a:srgbClr val="49C7FF"/>
    <a:srgbClr val="DDDDDD"/>
    <a:srgbClr val="60E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05C3B-B728-42D2-90B4-B4A194916ABF}" v="9" dt="2025-10-22T01:08:14.5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7353" autoAdjust="0"/>
    <p:restoredTop sz="84052" autoAdjust="0"/>
  </p:normalViewPr>
  <p:slideViewPr>
    <p:cSldViewPr snapToGrid="0">
      <p:cViewPr varScale="1">
        <p:scale>
          <a:sx n="69" d="100"/>
          <a:sy n="69" d="100"/>
        </p:scale>
        <p:origin x="1320" y="67"/>
      </p:cViewPr>
      <p:guideLst>
        <p:guide orient="horz" pos="1083"/>
        <p:guide orient="horz" pos="1826"/>
        <p:guide orient="horz" pos="1381"/>
        <p:guide pos="395"/>
        <p:guide pos="3259"/>
        <p:guide pos="1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648" y="-821"/>
      </p:cViewPr>
      <p:guideLst>
        <p:guide orient="horz" pos="1615"/>
        <p:guide pos="4025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5-10-22T01:08:25.509" v="698" actId="47"/>
      <pc:docMkLst>
        <pc:docMk/>
      </pc:docMkLst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936686548" sldId="345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3359075723" sldId="356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1502810167" sldId="358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3486040908" sldId="363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802972020" sldId="365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1910717593" sldId="367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1545068738" sldId="369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0" sldId="417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1864663475" sldId="774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3968162788" sldId="801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2882502133" sldId="804"/>
        </pc:sldMkLst>
      </pc:sldChg>
      <pc:sldChg chg="modSp add del mod">
        <pc:chgData name="Zonghua Gu" userId="9a7e1853e1951ef5" providerId="LiveId" clId="{CF1FAA12-072C-4ED5-BA76-0FFFAEFDB88A}" dt="2025-10-22T01:08:25.509" v="698" actId="47"/>
        <pc:sldMkLst>
          <pc:docMk/>
          <pc:sldMk cId="2952063245" sldId="810"/>
        </pc:sldMkLst>
        <pc:spChg chg="mod">
          <ac:chgData name="Zonghua Gu" userId="9a7e1853e1951ef5" providerId="LiveId" clId="{CF1FAA12-072C-4ED5-BA76-0FFFAEFDB88A}" dt="2025-10-08T02:00:59.295" v="631" actId="14100"/>
          <ac:spMkLst>
            <pc:docMk/>
            <pc:sldMk cId="2952063245" sldId="810"/>
            <ac:spMk id="4" creationId="{2E30BEB6-14A6-7DA1-64FA-D0E05B682530}"/>
          </ac:spMkLst>
        </pc:spChg>
      </pc:sldChg>
      <pc:sldChg chg="add del">
        <pc:chgData name="Zonghua Gu" userId="9a7e1853e1951ef5" providerId="LiveId" clId="{CF1FAA12-072C-4ED5-BA76-0FFFAEFDB88A}" dt="2025-10-22T01:08:14.485" v="697"/>
        <pc:sldMkLst>
          <pc:docMk/>
          <pc:sldMk cId="1716263769" sldId="813"/>
        </pc:sldMkLst>
      </pc:sldChg>
      <pc:sldChg chg="addSp delSp modSp add del mod">
        <pc:chgData name="Zonghua Gu" userId="9a7e1853e1951ef5" providerId="LiveId" clId="{CF1FAA12-072C-4ED5-BA76-0FFFAEFDB88A}" dt="2025-10-21T23:17:31.496" v="689" actId="47"/>
        <pc:sldMkLst>
          <pc:docMk/>
          <pc:sldMk cId="754608230" sldId="815"/>
        </pc:sldMkLst>
      </pc:sldChg>
      <pc:sldChg chg="add del">
        <pc:chgData name="Zonghua Gu" userId="9a7e1853e1951ef5" providerId="LiveId" clId="{CF1FAA12-072C-4ED5-BA76-0FFFAEFDB88A}" dt="2025-10-22T01:08:14.485" v="697"/>
        <pc:sldMkLst>
          <pc:docMk/>
          <pc:sldMk cId="811401925" sldId="816"/>
        </pc:sldMkLst>
      </pc:sldChg>
      <pc:sldChg chg="add del">
        <pc:chgData name="Zonghua Gu" userId="9a7e1853e1951ef5" providerId="LiveId" clId="{CF1FAA12-072C-4ED5-BA76-0FFFAEFDB88A}" dt="2025-10-22T01:08:14.485" v="697"/>
        <pc:sldMkLst>
          <pc:docMk/>
          <pc:sldMk cId="3488595267" sldId="818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2547497624" sldId="819"/>
        </pc:sldMkLst>
      </pc:sldChg>
      <pc:sldChg chg="add del">
        <pc:chgData name="Zonghua Gu" userId="9a7e1853e1951ef5" providerId="LiveId" clId="{CF1FAA12-072C-4ED5-BA76-0FFFAEFDB88A}" dt="2025-10-22T01:08:25.509" v="698" actId="47"/>
        <pc:sldMkLst>
          <pc:docMk/>
          <pc:sldMk cId="3176157734" sldId="820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3582727275" sldId="821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4063912812" sldId="822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3885410331" sldId="823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0" sldId="824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1966266804" sldId="825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3196280469" sldId="826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200176859" sldId="827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3122295692" sldId="828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1544697831" sldId="829"/>
        </pc:sldMkLst>
      </pc:sldChg>
      <pc:sldChg chg="add">
        <pc:chgData name="Zonghua Gu" userId="9a7e1853e1951ef5" providerId="LiveId" clId="{CF1FAA12-072C-4ED5-BA76-0FFFAEFDB88A}" dt="2025-10-22T01:08:14.485" v="697"/>
        <pc:sldMkLst>
          <pc:docMk/>
          <pc:sldMk cId="264205630" sldId="830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269102" y="229451"/>
            <a:ext cx="5179142" cy="251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7580" y="3487216"/>
            <a:ext cx="7043891" cy="3306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798" tIns="49399" rIns="98798" bIns="493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gray">
          <a:xfrm>
            <a:off x="7351457" y="144260"/>
            <a:ext cx="1740003" cy="34645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00444" tIns="49399" rIns="100444" bIns="49399" anchor="ctr"/>
          <a:lstStyle/>
          <a:p>
            <a:pPr algn="ctr" defTabSz="1036638">
              <a:defRPr/>
            </a:pPr>
            <a:r>
              <a:rPr lang="en-US" sz="1900">
                <a:solidFill>
                  <a:schemeClr val="bg1"/>
                </a:solidFill>
                <a:latin typeface="Arial" pitchFamily="34" charset="0"/>
              </a:rPr>
              <a:t>Notes</a:t>
            </a: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628036" y="571358"/>
            <a:ext cx="847202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19432" y="371440"/>
            <a:ext cx="5802876" cy="22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158" tIns="26346" rIns="69158" bIns="26346">
            <a:spAutoFit/>
          </a:bodyPr>
          <a:lstStyle/>
          <a:p>
            <a:pPr defTabSz="1036638">
              <a:lnSpc>
                <a:spcPct val="90000"/>
              </a:lnSpc>
              <a:tabLst>
                <a:tab pos="989013" algn="l"/>
              </a:tabLst>
              <a:defRPr/>
            </a:pPr>
            <a:r>
              <a:rPr lang="en-US" sz="1200">
                <a:latin typeface="Arial" pitchFamily="34" charset="0"/>
              </a:rPr>
              <a:t>The ARM Architecture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553259" y="6947168"/>
            <a:ext cx="319203" cy="21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9158" tIns="26346" rIns="69158" bIns="26346">
            <a:spAutoFit/>
          </a:bodyPr>
          <a:lstStyle/>
          <a:p>
            <a:pPr defTabSz="1036638">
              <a:lnSpc>
                <a:spcPct val="90000"/>
              </a:lnSpc>
              <a:defRPr/>
            </a:pPr>
            <a:fld id="{01D96813-752F-4230-8F78-89BE1AD35FEA}" type="slidenum">
              <a:rPr lang="en-US" sz="1200">
                <a:solidFill>
                  <a:srgbClr val="006D82"/>
                </a:solidFill>
                <a:latin typeface="Times New Roman" pitchFamily="18" charset="0"/>
              </a:rPr>
              <a:pPr defTabSz="1036638">
                <a:lnSpc>
                  <a:spcPct val="90000"/>
                </a:lnSpc>
                <a:defRPr/>
              </a:pPr>
              <a:t>‹#›</a:t>
            </a:fld>
            <a:endParaRPr lang="en-US" sz="1200">
              <a:solidFill>
                <a:srgbClr val="006D82"/>
              </a:solidFill>
              <a:latin typeface="Times New Roman" pitchFamily="18" charset="0"/>
            </a:endParaRPr>
          </a:p>
        </p:txBody>
      </p:sp>
      <p:sp>
        <p:nvSpPr>
          <p:cNvPr id="32775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74988" y="673100"/>
            <a:ext cx="3427412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01248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73075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4773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20813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93888" algn="l" defTabSz="9810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Relationship Id="rId3" Type="http://schemas.openxmlformats.org/officeDocument/2006/relationships/hyperlink" Target="file:///C:\Users\zongh\Desktop\CSC111\exercises\Scribd%20OCR%20II.docx#fn1" TargetMode="Externa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7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968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84500" y="655638"/>
            <a:ext cx="3341688" cy="2506662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37022" y="3343004"/>
            <a:ext cx="6822358" cy="31655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8007" tIns="44003" rIns="88007" bIns="44003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25" y="628650"/>
            <a:ext cx="3203575" cy="2401888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97751" y="3203711"/>
            <a:ext cx="6605775" cy="303366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4830" tIns="42414" rIns="84830" bIns="42414"/>
          <a:lstStyle/>
          <a:p>
            <a:r>
              <a:rPr lang="en-US" dirty="0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 dirty="0"/>
          </a:p>
          <a:p>
            <a:r>
              <a:rPr lang="en-US" dirty="0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13822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68D8-F05C-2E94-D1C3-2181608E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4A841-09CB-783C-8C0B-28BD29BAA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21DBF-12AB-9744-9A46-4D6322537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81075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Address Register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0x8010 0x00000001 0x13 r0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0x800c 0xFEEDDEAF 0xFFFFFFFF r1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0x8008 0x00008888 0xEEEEEEEE r2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0x8004 0x12340000 0x8000 r3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0x8000 0xBABE0000</a:t>
            </a:r>
            <a:r>
              <a:rPr lang="en-US" sz="1200" u="sng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/>
              </a:rPr>
              <a:t>[1]</a:t>
            </a:r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31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A3867-4610-0FCB-FE13-CBAA94B0C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19C7F-982C-EA9B-A15F-97625353E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3BB58-98A9-1D41-2B55-40AF13E84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121441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0x10000010 FF EF CD AB 00 00 CD AB D0 BC D7 A8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458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A00D299-558C-468E-A8B3-0F5C3BFA45F9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>
            <a:lvl1pPr>
              <a:defRPr sz="1800"/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8BFB9-75E0-4A72-9D54-3C687B559A4D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E470CD76-7AB7-4744-8178-DC5367B833CD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FC63-82A8-4ACC-B2CB-6D46E8B59216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9B8A6-94F4-4AF6-98DE-0FFC617E1C31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CF4FC-8D0E-4C14-A02E-A429C4519FEF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DC487-A287-485A-B215-4EC98DD3E443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49AC6-4AC4-4D5F-9A1B-0E1C0FF133F9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F4EF9-9AC8-4842-AFC3-C27337CCABE8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D175-8905-42BE-8088-EB39001CF9E2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A8DD-1B66-47DA-8A31-5DCDA0DEF224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DF0DD18-6EB7-49F7-A70C-A012EDB48BDB}" type="datetime1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800">
                <a:solidFill>
                  <a:schemeClr val="tx2"/>
                </a:solidFill>
              </a:defRPr>
            </a:lvl1pPr>
          </a:lstStyle>
          <a:p>
            <a:fld id="{AEE14D4A-FE32-40AF-B06D-E9622816B1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pull dir="ru"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1CC8E-A1B6-4F03-86F4-7DF2A440C9C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8176" y="1828800"/>
            <a:ext cx="2581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5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Memory Access</a:t>
            </a:r>
          </a:p>
          <a:p>
            <a:pPr algn="r"/>
            <a:r>
              <a:rPr lang="en-US" altLang="zh-CN" sz="2400">
                <a:solidFill>
                  <a:srgbClr val="C00000"/>
                </a:solidFill>
              </a:rPr>
              <a:t>Exercises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219200" y="5124450"/>
            <a:ext cx="68580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Fall 2026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>
            <a:noAutofit/>
          </a:bodyPr>
          <a:lstStyle/>
          <a:p>
            <a:r>
              <a:rPr lang="en-US" sz="2000" dirty="0"/>
              <a:t>Zonghua Gu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636B5-1A15-392F-777F-ACB6D0BF1A0E}"/>
              </a:ext>
            </a:extLst>
          </p:cNvPr>
          <p:cNvSpPr txBox="1"/>
          <p:nvPr/>
        </p:nvSpPr>
        <p:spPr>
          <a:xfrm>
            <a:off x="709138" y="6259175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Acknowledgement: Lecture slides based on Embedded Systems with ARM Cortex-M Microcontrollers in Assembly Language and C, University of Maine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  <a:hlinkClick r:id="rId3"/>
              </a:rPr>
              <a:t>https://web.eece.maine.edu/~zhu/book/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Light"/>
                <a:ea typeface="华文新魏" panose="02010800040101010101" pitchFamily="2" charset="-122"/>
                <a:cs typeface="+mn-cs"/>
              </a:rPr>
              <a:t> 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Ligh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5630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0x000F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0x000E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0x000D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0x000C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0x000B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0x000A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0x0000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244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What are the memory address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8984" y="217862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5930" y="340725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8129" y="456184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15075" y="579046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72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267393" y="1295400"/>
            <a:ext cx="5904807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</a:rPr>
              <a:t>Q: Assume Big-Endian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400" b="0" dirty="0">
                <a:solidFill>
                  <a:prstClr val="black"/>
                </a:solidFill>
              </a:rPr>
              <a:t>Redo the question assuming Little-Endian ordering.</a:t>
            </a:r>
            <a:endParaRPr lang="en-US" sz="240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8325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8306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7743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5961324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7397632" y="317382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7289534" y="267139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7271901" y="222135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7271901" y="1737988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8344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8325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7761834" y="4192836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5740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35A48-A6FE-397D-11E7-79A26D57EE6C}"/>
              </a:ext>
            </a:extLst>
          </p:cNvPr>
          <p:cNvSpPr txBox="1"/>
          <p:nvPr/>
        </p:nvSpPr>
        <p:spPr>
          <a:xfrm>
            <a:off x="7397632" y="577552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9685E5-F44B-9935-D033-23E4B449AF2C}"/>
              </a:ext>
            </a:extLst>
          </p:cNvPr>
          <p:cNvSpPr txBox="1"/>
          <p:nvPr/>
        </p:nvSpPr>
        <p:spPr>
          <a:xfrm>
            <a:off x="7289534" y="527309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DE57DA-AF45-14AC-B21C-DE925BE7BF0E}"/>
              </a:ext>
            </a:extLst>
          </p:cNvPr>
          <p:cNvSpPr txBox="1"/>
          <p:nvPr/>
        </p:nvSpPr>
        <p:spPr>
          <a:xfrm>
            <a:off x="7271901" y="482305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CEED7B-77A7-495A-418F-A75FFEAB6E65}"/>
              </a:ext>
            </a:extLst>
          </p:cNvPr>
          <p:cNvSpPr txBox="1"/>
          <p:nvPr/>
        </p:nvSpPr>
        <p:spPr>
          <a:xfrm>
            <a:off x="7271901" y="4339688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4063912812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E14D4A-FE32-40AF-B06D-E9622816B101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7266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63700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6439" y="301826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3700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76439" y="5442435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The word stored at address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0x20008000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388541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3125788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690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defTabSz="938213"/>
            <a:r>
              <a:rPr lang="en-US" dirty="0"/>
              <a:t>Endianness</a:t>
            </a:r>
          </a:p>
        </p:txBody>
      </p:sp>
      <p:sp>
        <p:nvSpPr>
          <p:cNvPr id="25607" name="Rectangle 1031"/>
          <p:cNvSpPr>
            <a:spLocks noGrp="1" noChangeArrowheads="1"/>
          </p:cNvSpPr>
          <p:nvPr>
            <p:ph sz="quarter" idx="1"/>
          </p:nvPr>
        </p:nvSpPr>
        <p:spPr>
          <a:xfrm>
            <a:off x="3477717" y="1430312"/>
            <a:ext cx="4804348" cy="1028075"/>
          </a:xfrm>
          <a:noFill/>
        </p:spPr>
        <p:txBody>
          <a:bodyPr lIns="92075" tIns="46038" rIns="92075" bIns="46038" anchorCtr="1">
            <a:normAutofit/>
          </a:bodyPr>
          <a:lstStyle/>
          <a:p>
            <a:pPr defTabSz="938213">
              <a:lnSpc>
                <a:spcPct val="9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LDR r11, [r0]</a:t>
            </a:r>
          </a:p>
          <a:p>
            <a:pPr defTabSz="938213">
              <a:lnSpc>
                <a:spcPct val="9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r0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67267" y="2716135"/>
          <a:ext cx="44970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6684" y="2231610"/>
            <a:ext cx="2949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r11 before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252" y="2741275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829" y="3192496"/>
            <a:ext cx="3881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r11 after load w/ Big-Endian ordering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6251" y="4018420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BF8BEC-CBCA-3D53-1D6F-7FE4217EF5F8}"/>
              </a:ext>
            </a:extLst>
          </p:cNvPr>
          <p:cNvSpPr txBox="1"/>
          <p:nvPr/>
        </p:nvSpPr>
        <p:spPr>
          <a:xfrm>
            <a:off x="0" y="4388465"/>
            <a:ext cx="4286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r11 after load w/ Little-Endian ordering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0FA951-DE02-3C91-9A1E-27C70066528C}"/>
              </a:ext>
            </a:extLst>
          </p:cNvPr>
          <p:cNvSpPr/>
          <p:nvPr/>
        </p:nvSpPr>
        <p:spPr>
          <a:xfrm>
            <a:off x="1026250" y="5214389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D13A2-283C-C569-EF1A-CBC7504F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4595-D472-6F68-DE47-3C22C5AA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Endianness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A5959D-8205-525D-CB04-4F53DED6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0BEB6-14A6-7DA1-64FA-D0E05B68253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50950"/>
            <a:ext cx="4495800" cy="49974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Assume little endian for the following questions:   r0 = 0x20008000</a:t>
            </a:r>
          </a:p>
          <a:p>
            <a:pPr lvl="0"/>
            <a:r>
              <a:rPr lang="en-US" b="1" dirty="0"/>
              <a:t>LDRH r1, [r0]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r1 after load:</a:t>
            </a:r>
          </a:p>
          <a:p>
            <a:pPr lvl="0"/>
            <a:r>
              <a:rPr lang="en-US" b="1" dirty="0"/>
              <a:t>LDRSB r1, [r0]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r1 after load:</a:t>
            </a:r>
          </a:p>
          <a:p>
            <a:r>
              <a:rPr lang="en-US" b="1" dirty="0"/>
              <a:t>STR r1, [r0], #4  </a:t>
            </a:r>
            <a:endParaRPr lang="en-US" dirty="0"/>
          </a:p>
          <a:p>
            <a:pPr lvl="1"/>
            <a:r>
              <a:rPr lang="en-US" dirty="0"/>
              <a:t>Assume r1 = 0x76543210</a:t>
            </a:r>
          </a:p>
          <a:p>
            <a:pPr lvl="1"/>
            <a:r>
              <a:rPr lang="en-US" dirty="0"/>
              <a:t>r0 after store:</a:t>
            </a:r>
          </a:p>
          <a:p>
            <a:pPr lvl="1"/>
            <a:r>
              <a:rPr lang="en-US" dirty="0"/>
              <a:t>Memory content after store:</a:t>
            </a:r>
          </a:p>
          <a:p>
            <a:pPr lvl="0"/>
            <a:r>
              <a:rPr lang="en-US" b="1" dirty="0"/>
              <a:t>STR r1, [r0, #4]</a:t>
            </a:r>
            <a:endParaRPr lang="en-US" dirty="0"/>
          </a:p>
          <a:p>
            <a:pPr lvl="1"/>
            <a:r>
              <a:rPr lang="en-US" dirty="0"/>
              <a:t>Assume r1 = 0x76543210</a:t>
            </a:r>
          </a:p>
          <a:p>
            <a:pPr lvl="1"/>
            <a:r>
              <a:rPr lang="en-US" dirty="0"/>
              <a:t>r0 after store:</a:t>
            </a:r>
          </a:p>
          <a:p>
            <a:pPr lvl="1"/>
            <a:r>
              <a:rPr lang="en-US" dirty="0"/>
              <a:t>Memory content after store:</a:t>
            </a:r>
          </a:p>
          <a:p>
            <a:pPr lvl="0"/>
            <a:r>
              <a:rPr lang="en-US" b="1" dirty="0"/>
              <a:t>STR r1, [r0, #4]!</a:t>
            </a:r>
            <a:endParaRPr lang="en-US" dirty="0"/>
          </a:p>
          <a:p>
            <a:pPr lvl="1"/>
            <a:r>
              <a:rPr lang="en-US" dirty="0"/>
              <a:t>Assume r1 = 0x76543210</a:t>
            </a:r>
          </a:p>
          <a:p>
            <a:pPr lvl="1"/>
            <a:r>
              <a:rPr lang="en-US" dirty="0"/>
              <a:t>r0 after store:</a:t>
            </a:r>
          </a:p>
          <a:p>
            <a:pPr lvl="1"/>
            <a:r>
              <a:rPr lang="en-US" dirty="0"/>
              <a:t>Memory content after store: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C85F25-15D6-DAB9-23EA-EF1BBDC222C1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44450"/>
          <a:ext cx="41021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Consolas" panose="020B0609020204030204" pitchFamily="49" charset="0"/>
                        </a:rPr>
                        <a:t>Memory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263769"/>
      </p:ext>
    </p:extLst>
  </p:cSld>
  <p:clrMapOvr>
    <a:masterClrMapping/>
  </p:clrMapOvr>
  <p:transition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11998" y="1307051"/>
            <a:ext cx="8182841" cy="347682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b="0" dirty="0">
                <a:solidFill>
                  <a:prstClr val="black"/>
                </a:solidFill>
              </a:rPr>
              <a:t>Q:  Assume a byte-addressable memory with a data bus that is 32 bits (4 bytes) wide. </a:t>
            </a:r>
            <a:r>
              <a:rPr lang="en-US" altLang="zh-CN" sz="2000" b="0" dirty="0">
                <a:solidFill>
                  <a:prstClr val="black"/>
                </a:solidFill>
              </a:rPr>
              <a:t>H</a:t>
            </a:r>
            <a:r>
              <a:rPr lang="en-US" sz="2000" b="0" dirty="0">
                <a:solidFill>
                  <a:prstClr val="black"/>
                </a:solidFill>
              </a:rPr>
              <a:t>ow many memory cycles are required to read each of the following from memory?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(a) A 2-Byte operand read from decimal address 5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(b) A 2-Byte operand read from decimal address 15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(c) A 4-Byte operand read from decimal address 10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(d) A 4-Byte operand read from decimal address 20</a:t>
            </a:r>
            <a:endParaRPr lang="en-US" sz="16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6266804"/>
      </p:ext>
    </p:extLst>
  </p:cSld>
  <p:clrMapOvr>
    <a:masterClrMapping/>
  </p:clrMapOvr>
  <p:transition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dirty="0"/>
              <a:t>Data Alignment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842309"/>
            <a:ext cx="8182841" cy="351027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b="0" dirty="0">
                <a:solidFill>
                  <a:prstClr val="black"/>
                </a:solidFill>
              </a:rPr>
              <a:t>Q:  Assume a byte-addressable memory with a data bus that is 32 bits (4 bytes) wide. Consider 16 bytes of memory (addresses 96 to 111) arranged as four 32-bit words (4 bytes each). 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(a) What is the address of MSB of the word at address 102, assuming Little-Endian ordering?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(b) What is the address of LSB of the word at address 102, assuming Little-Endian ordering?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(c) How many memory cycles are required to read the word at address 102?</a:t>
            </a:r>
          </a:p>
          <a:p>
            <a:pPr marL="657225" lvl="1" indent="-257175" defTabSz="342900"/>
            <a:r>
              <a:rPr lang="en-US" sz="1600" b="0" dirty="0">
                <a:solidFill>
                  <a:prstClr val="black"/>
                </a:solidFill>
              </a:rPr>
              <a:t>(d) How many memory cycles are required to read the half word at address 102?</a:t>
            </a:r>
            <a:endParaRPr lang="en-US" sz="1000" b="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363" y="76200"/>
            <a:ext cx="4779587" cy="17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80469"/>
      </p:ext>
    </p:extLst>
  </p:cSld>
  <p:clrMapOvr>
    <a:masterClrMapping/>
  </p:clrMapOvr>
  <p:transition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67393" y="1447800"/>
            <a:ext cx="8182841" cy="35814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</a:rPr>
              <a:t>Q:  Assume a byte-addressable memory with a data bus that is 32 bits (4 bytes) wide. 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Byte from memory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half-word from memory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word from memory</a:t>
            </a:r>
          </a:p>
          <a:p>
            <a:pPr marL="657225" lvl="1" indent="-257175" defTabSz="342900"/>
            <a:r>
              <a:rPr lang="en-US" altLang="zh-CN" sz="2000" b="0" dirty="0">
                <a:solidFill>
                  <a:prstClr val="black"/>
                </a:solidFill>
              </a:rPr>
              <a:t>It takes ____ memory cycle(s) to read a double word from memory</a:t>
            </a:r>
            <a:endParaRPr lang="en-US" sz="2400" b="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-6804"/>
            <a:ext cx="4067187" cy="156064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8DA596E-85CA-C0C6-85A8-74A98C3D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225"/>
            <a:ext cx="8229600" cy="1143000"/>
          </a:xfrm>
        </p:spPr>
        <p:txBody>
          <a:bodyPr/>
          <a:lstStyle/>
          <a:p>
            <a:r>
              <a:rPr lang="en-US" dirty="0"/>
              <a:t>Memory Cycles</a:t>
            </a:r>
          </a:p>
        </p:txBody>
      </p:sp>
    </p:spTree>
    <p:extLst>
      <p:ext uri="{BB962C8B-B14F-4D97-AF65-F5344CB8AC3E}">
        <p14:creationId xmlns:p14="http://schemas.microsoft.com/office/powerpoint/2010/main" val="200176859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1346" y="1299117"/>
            <a:ext cx="8182841" cy="333929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400" b="0" dirty="0">
                <a:solidFill>
                  <a:prstClr val="black"/>
                </a:solidFill>
              </a:rPr>
              <a:t>Q:  If the first element of a one-dimensional array x[] is stored at memory address 0</a:t>
            </a:r>
            <a:r>
              <a:rPr lang="en-US" altLang="zh-CN" sz="2400" b="0" dirty="0">
                <a:solidFill>
                  <a:prstClr val="black"/>
                </a:solidFill>
              </a:rPr>
              <a:t>x</a:t>
            </a:r>
            <a:r>
              <a:rPr lang="en-US" sz="2400" b="0" dirty="0">
                <a:solidFill>
                  <a:prstClr val="black"/>
                </a:solidFill>
              </a:rPr>
              <a:t>12345678, what is address of the second element if the array x[] contains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(a) chars </a:t>
            </a: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(b) shorts</a:t>
            </a:r>
          </a:p>
          <a:p>
            <a:pPr marL="657225" lvl="1" indent="-257175" defTabSz="342900"/>
            <a:r>
              <a:rPr lang="en-US" altLang="zh-CN" sz="1800" b="0" dirty="0">
                <a:solidFill>
                  <a:prstClr val="black"/>
                </a:solidFill>
              </a:rPr>
              <a:t>(c) </a:t>
            </a:r>
            <a:r>
              <a:rPr lang="en-US" altLang="zh-CN" sz="1800" b="0" dirty="0" err="1">
                <a:solidFill>
                  <a:prstClr val="black"/>
                </a:solidFill>
              </a:rPr>
              <a:t>ints</a:t>
            </a:r>
            <a:endParaRPr lang="en-US" sz="1800" b="0" dirty="0">
              <a:solidFill>
                <a:prstClr val="black"/>
              </a:solidFill>
            </a:endParaRP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(d) longs (32-bit ARM/Cortex-M: long = 4 bytes)</a:t>
            </a:r>
            <a:endParaRPr lang="en-US" sz="1800" b="0" dirty="0">
              <a:solidFill>
                <a:prstClr val="black"/>
              </a:solidFill>
              <a:latin typeface="Calibri"/>
            </a:endParaRPr>
          </a:p>
          <a:p>
            <a:pPr marL="657225" lvl="1" indent="-257175" defTabSz="342900"/>
            <a:r>
              <a:rPr lang="en-US" sz="1800" b="0" dirty="0">
                <a:solidFill>
                  <a:prstClr val="black"/>
                </a:solidFill>
              </a:rPr>
              <a:t>(e) long longs (8 bytes)</a:t>
            </a:r>
            <a:endParaRPr lang="en-US" sz="1800" b="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2295692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61E1-0E8B-78F8-D2D2-3F55D16ED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5031-3EBD-28FC-E1A0-0049330C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A30E0F-B359-645E-5E6D-5DC92C1B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C2D736-73D7-3A26-A782-9CEC03C12D04}"/>
              </a:ext>
            </a:extLst>
          </p:cNvPr>
          <p:cNvGraphicFramePr>
            <a:graphicFrameLocks noGrp="1"/>
          </p:cNvGraphicFramePr>
          <p:nvPr/>
        </p:nvGraphicFramePr>
        <p:xfrm>
          <a:off x="5410243" y="2477135"/>
          <a:ext cx="3627621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Memory Address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Memory</a:t>
                      </a:r>
                      <a:r>
                        <a:rPr lang="en-US" sz="1800" baseline="0" dirty="0"/>
                        <a:t> </a:t>
                      </a:r>
                    </a:p>
                    <a:p>
                      <a:pPr algn="ctr"/>
                      <a:r>
                        <a:rPr lang="en-US" sz="1800" baseline="0" dirty="0"/>
                        <a:t>Data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0x8010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0x00000001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0xFEEDDEAF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0x00008888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0x12340000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0x8000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0xBABE0000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077EDE-860F-119C-95B4-998969925842}"/>
              </a:ext>
            </a:extLst>
          </p:cNvPr>
          <p:cNvSpPr txBox="1"/>
          <p:nvPr/>
        </p:nvSpPr>
        <p:spPr>
          <a:xfrm>
            <a:off x="5016500" y="4560550"/>
            <a:ext cx="541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latin typeface="Consolas" panose="020B0609020204030204" pitchFamily="49" charset="0"/>
                <a:cs typeface="Consolas" panose="020B0609020204030204" pitchFamily="49" charset="0"/>
              </a:rPr>
              <a:t>r3 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401EA57-66F9-3EE2-E561-2AB9C3395B7B}"/>
              </a:ext>
            </a:extLst>
          </p:cNvPr>
          <p:cNvSpPr/>
          <p:nvPr/>
        </p:nvSpPr>
        <p:spPr>
          <a:xfrm>
            <a:off x="5509075" y="4684711"/>
            <a:ext cx="298611" cy="240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5B25AD4-8787-2AE5-61C8-58C8E91AB6F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b="0" dirty="0"/>
              <a:t>Assume that memory and registers r0 through r3 appear as follows. Suppose r3 = 0x8000 (for LDMDB: r3 = 0x800C). Describe the memory and register contents after executing each instruction (individually, not sequentially):</a:t>
            </a:r>
          </a:p>
          <a:p>
            <a:pPr lvl="1" fontAlgn="auto">
              <a:spcAft>
                <a:spcPts val="0"/>
              </a:spcAft>
            </a:pPr>
            <a:r>
              <a:rPr lang="en-US" b="0" dirty="0"/>
              <a:t>LDMIA r3!, {r0, r1, r2}</a:t>
            </a:r>
          </a:p>
          <a:p>
            <a:pPr lvl="1" fontAlgn="auto">
              <a:spcAft>
                <a:spcPts val="0"/>
              </a:spcAft>
            </a:pPr>
            <a:r>
              <a:rPr lang="en-US" b="0" dirty="0"/>
              <a:t>Or LDMIA r3!, {r2, r1, r0}</a:t>
            </a:r>
          </a:p>
          <a:p>
            <a:pPr lvl="1" fontAlgn="auto">
              <a:spcAft>
                <a:spcPts val="0"/>
              </a:spcAft>
            </a:pPr>
            <a:r>
              <a:rPr lang="en-US" b="0" dirty="0"/>
              <a:t>LDMDB r3!, {r0, r1, r2}</a:t>
            </a:r>
          </a:p>
        </p:txBody>
      </p:sp>
    </p:spTree>
    <p:extLst>
      <p:ext uri="{BB962C8B-B14F-4D97-AF65-F5344CB8AC3E}">
        <p14:creationId xmlns:p14="http://schemas.microsoft.com/office/powerpoint/2010/main" val="1544697831"/>
      </p:ext>
    </p:extLst>
  </p:cSld>
  <p:clrMapOvr>
    <a:masterClrMapping/>
  </p:clrMapOvr>
  <p:transition>
    <p:pull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9E08C-929E-B06D-9D5C-D3C07F29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F6C3-9012-39E9-02E8-5A15294C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F0EF40-C94A-5BF4-DE58-F56B8F03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72226-E71C-C418-9D4C-D783EC4359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/>
          </a:bodyPr>
          <a:lstStyle/>
          <a:p>
            <a:r>
              <a:rPr lang="en-US" dirty="0"/>
              <a:t>Suppose R2 and R5 hold the values 8 and 0x23456789. After following code runs with big-endian ordering, what value is in R7? How about with little-endian ordering? (Assume Cortex-M3/M4, which allow unaligned halfword access.)</a:t>
            </a:r>
          </a:p>
          <a:p>
            <a:pPr lvl="1"/>
            <a:r>
              <a:rPr lang="en-US" dirty="0"/>
              <a:t>STR R5, [R2, #0]</a:t>
            </a:r>
          </a:p>
          <a:p>
            <a:pPr lvl="1"/>
            <a:r>
              <a:rPr lang="en-US" dirty="0"/>
              <a:t>LDRB R7, [R2, #1]</a:t>
            </a:r>
          </a:p>
          <a:p>
            <a:pPr lvl="1"/>
            <a:r>
              <a:rPr lang="en-US" dirty="0"/>
              <a:t>LDRSH R7, [R2, #1]</a:t>
            </a:r>
          </a:p>
          <a:p>
            <a:pPr lvl="1"/>
            <a:r>
              <a:rPr lang="en-US" dirty="0"/>
              <a:t>LDRSH R7, [R2, #2]</a:t>
            </a:r>
          </a:p>
        </p:txBody>
      </p:sp>
    </p:spTree>
    <p:extLst>
      <p:ext uri="{BB962C8B-B14F-4D97-AF65-F5344CB8AC3E}">
        <p14:creationId xmlns:p14="http://schemas.microsoft.com/office/powerpoint/2010/main" val="264205630"/>
      </p:ext>
    </p:extLst>
  </p:cSld>
  <p:clrMapOvr>
    <a:masterClrMapping/>
  </p:clrMapOvr>
  <p:transition>
    <p:pull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6943-56FC-4F00-B4C2-002F4BD6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Understanding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90BACD-3920-5666-CE72-223F9F2F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21A7FA2-20A5-D70A-4C8A-128BD78BDA7C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12661" y="5145594"/>
          <a:ext cx="911789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2417">
                  <a:extLst>
                    <a:ext uri="{9D8B030D-6E8A-4147-A177-3AD203B41FA5}">
                      <a16:colId xmlns:a16="http://schemas.microsoft.com/office/drawing/2014/main" val="4041087470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4758335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440583969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973726920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1099364392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598594491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2991688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639377261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095656865"/>
                    </a:ext>
                  </a:extLst>
                </a:gridCol>
                <a:gridCol w="474980">
                  <a:extLst>
                    <a:ext uri="{9D8B030D-6E8A-4147-A177-3AD203B41FA5}">
                      <a16:colId xmlns:a16="http://schemas.microsoft.com/office/drawing/2014/main" val="2172498307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39287516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117852241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4096721898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1208970794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430138671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553032553"/>
                    </a:ext>
                  </a:extLst>
                </a:gridCol>
                <a:gridCol w="472033">
                  <a:extLst>
                    <a:ext uri="{9D8B030D-6E8A-4147-A177-3AD203B41FA5}">
                      <a16:colId xmlns:a16="http://schemas.microsoft.com/office/drawing/2014/main" val="2472361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0x10000200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62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0x100001F0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en-US" altLang="zh-CN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56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0x100001E0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541759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D888B29E-C3F6-5701-3FB8-7AD8E9E5634F}"/>
              </a:ext>
            </a:extLst>
          </p:cNvPr>
          <p:cNvGraphicFramePr>
            <a:graphicFrameLocks/>
          </p:cNvGraphicFramePr>
          <p:nvPr/>
        </p:nvGraphicFramePr>
        <p:xfrm>
          <a:off x="6707997" y="1945640"/>
          <a:ext cx="2219325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12">
                  <a:extLst>
                    <a:ext uri="{9D8B030D-6E8A-4147-A177-3AD203B41FA5}">
                      <a16:colId xmlns:a16="http://schemas.microsoft.com/office/drawing/2014/main" val="3133599075"/>
                    </a:ext>
                  </a:extLst>
                </a:gridCol>
                <a:gridCol w="1682313">
                  <a:extLst>
                    <a:ext uri="{9D8B030D-6E8A-4147-A177-3AD203B41FA5}">
                      <a16:colId xmlns:a16="http://schemas.microsoft.com/office/drawing/2014/main" val="1327154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pt-BR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0x00000000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9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0x10000200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549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0x0000FFFF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800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0x18675309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5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0x00000000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285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0x00000000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52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88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0x10000200</a:t>
                      </a:r>
                      <a:endParaRPr kumimoji="0" lang="en-US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459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E914C08-96CB-135B-1433-52624F812AD9}"/>
              </a:ext>
            </a:extLst>
          </p:cNvPr>
          <p:cNvSpPr txBox="1"/>
          <p:nvPr/>
        </p:nvSpPr>
        <p:spPr>
          <a:xfrm>
            <a:off x="457200" y="3114268"/>
            <a:ext cx="3005951" cy="163121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MOVW R0, #0xAFE1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MOVT R0, #0xBADC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MOVT R2, #0xABCD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STR R3, [R1]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LDRSH R4, </a:t>
            </a:r>
            <a:r>
              <a:rPr lang="pt-BR" sz="2000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R1, #0xC</a:t>
            </a:r>
            <a:r>
              <a:rPr lang="pt-BR" sz="2000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0C303F2-641E-019B-CA34-0B02E8722206}"/>
              </a:ext>
            </a:extLst>
          </p:cNvPr>
          <p:cNvSpPr txBox="1">
            <a:spLocks/>
          </p:cNvSpPr>
          <p:nvPr/>
        </p:nvSpPr>
        <p:spPr>
          <a:xfrm>
            <a:off x="216677" y="1116957"/>
            <a:ext cx="8913875" cy="828683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b="0" dirty="0"/>
              <a:t>Compute register and memory values at each step of this program, given initial register values and memory contents, assuming little-endian ordering. (Memory addresses increase from bottom to top, and from left to right in the table.)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A6B80-3FEE-6D76-7A51-6A84F29B3557}"/>
              </a:ext>
            </a:extLst>
          </p:cNvPr>
          <p:cNvSpPr txBox="1"/>
          <p:nvPr/>
        </p:nvSpPr>
        <p:spPr>
          <a:xfrm>
            <a:off x="4357032" y="4507329"/>
            <a:ext cx="2350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+mn-lt"/>
              </a:rPr>
              <a:t>Initial Register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1BB9B-55E3-DA1B-9EC5-B7BD5B3494A9}"/>
              </a:ext>
            </a:extLst>
          </p:cNvPr>
          <p:cNvSpPr txBox="1"/>
          <p:nvPr/>
        </p:nvSpPr>
        <p:spPr>
          <a:xfrm>
            <a:off x="3832596" y="6258114"/>
            <a:ext cx="2734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>
                <a:latin typeface="+mn-lt"/>
              </a:rPr>
              <a:t>Initial Memory Contents</a:t>
            </a:r>
          </a:p>
        </p:txBody>
      </p:sp>
    </p:spTree>
    <p:extLst>
      <p:ext uri="{BB962C8B-B14F-4D97-AF65-F5344CB8AC3E}">
        <p14:creationId xmlns:p14="http://schemas.microsoft.com/office/powerpoint/2010/main" val="811401925"/>
      </p:ext>
    </p:extLst>
  </p:cSld>
  <p:clrMapOvr>
    <a:masterClrMapping/>
  </p:clrMapOvr>
  <p:transition>
    <p:pull dir="r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2FCB-7FF9-9037-3DC9-B18E7B49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Program Understanding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F2EDE-04BA-CDE6-155B-A9455717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B3053-CFB1-6838-AAE4-D5E2702178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7322" y="1219200"/>
            <a:ext cx="5305560" cy="3262877"/>
          </a:xfrm>
        </p:spPr>
        <p:txBody>
          <a:bodyPr>
            <a:normAutofit fontScale="92500"/>
          </a:bodyPr>
          <a:lstStyle/>
          <a:p>
            <a:pPr fontAlgn="auto">
              <a:spcAft>
                <a:spcPts val="0"/>
              </a:spcAft>
            </a:pPr>
            <a:r>
              <a:rPr lang="en-US" dirty="0"/>
              <a:t>Show all updates to registers as the assembly code shown below runs, </a:t>
            </a:r>
            <a:r>
              <a:rPr lang="en-US" sz="2800" dirty="0"/>
              <a:t>assuming little-endian ordering.</a:t>
            </a:r>
            <a:r>
              <a:rPr lang="en-US" dirty="0"/>
              <a:t> </a:t>
            </a:r>
            <a:r>
              <a:rPr lang="en-US" sz="2800" dirty="0"/>
              <a:t>(Memory addresses increase from bottom to top, and from left to right in the table.) </a:t>
            </a:r>
            <a:r>
              <a:rPr lang="en-US" dirty="0"/>
              <a:t>Show the NZCV flags next to the instruction if they change. Each instruction is 32 bits.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557C1-FD7E-7283-65D1-80093EB57E23}"/>
              </a:ext>
            </a:extLst>
          </p:cNvPr>
          <p:cNvSpPr txBox="1"/>
          <p:nvPr/>
        </p:nvSpPr>
        <p:spPr>
          <a:xfrm>
            <a:off x="5442882" y="463094"/>
            <a:ext cx="2967479" cy="5693866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LDR R1, =0x10000010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LDR R2, [R1]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LDR R3, [R1,#4]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BL max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SUBS R4, R2, R0  @NZCV 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MOVW R5, #1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LSL R6, R5, #4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BIC R7, R2, R6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ANDS R8, R7, </a:t>
            </a:r>
            <a:r>
              <a:rPr lang="pt-BR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  @NZCV </a:t>
            </a: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ROR R9, R3, #12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REV R10, R9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RBIT R11, R10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ADDS R12, R3, </a:t>
            </a:r>
            <a:r>
              <a:rPr lang="pt-BR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R9 @NZCV </a:t>
            </a: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STR R12, [R1,#8]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loop B loop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ENDP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max PROC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CMP R2, </a:t>
            </a:r>
            <a:r>
              <a:rPr lang="pt-BR" b="0" kern="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      @NZCV </a:t>
            </a: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BLT second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first MOV R0, R2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B done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second MOV R0, R3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done   BX LR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ENDP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586B0A-AAB6-1D2E-24D6-64E619D83AA5}"/>
              </a:ext>
            </a:extLst>
          </p:cNvPr>
          <p:cNvGraphicFramePr>
            <a:graphicFrameLocks noGrp="1"/>
          </p:cNvGraphicFramePr>
          <p:nvPr/>
        </p:nvGraphicFramePr>
        <p:xfrm>
          <a:off x="137322" y="4551113"/>
          <a:ext cx="515544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4430">
                  <a:extLst>
                    <a:ext uri="{9D8B030D-6E8A-4147-A177-3AD203B41FA5}">
                      <a16:colId xmlns:a16="http://schemas.microsoft.com/office/drawing/2014/main" val="2337985746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1802740170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2590131525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947827850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2189951492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2319925471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3873491110"/>
                    </a:ext>
                  </a:extLst>
                </a:gridCol>
                <a:gridCol w="644430">
                  <a:extLst>
                    <a:ext uri="{9D8B030D-6E8A-4147-A177-3AD203B41FA5}">
                      <a16:colId xmlns:a16="http://schemas.microsoft.com/office/drawing/2014/main" val="2341457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5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5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58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356508"/>
                  </a:ext>
                </a:extLst>
              </a:tr>
            </a:tbl>
          </a:graphicData>
        </a:graphic>
      </p:graphicFrame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C7C14E0C-8BA7-B240-2E5F-B804E09539CB}"/>
              </a:ext>
            </a:extLst>
          </p:cNvPr>
          <p:cNvGraphicFramePr>
            <a:graphicFrameLocks/>
          </p:cNvGraphicFramePr>
          <p:nvPr/>
        </p:nvGraphicFramePr>
        <p:xfrm>
          <a:off x="457200" y="6282234"/>
          <a:ext cx="842324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0338">
                  <a:extLst>
                    <a:ext uri="{9D8B030D-6E8A-4147-A177-3AD203B41FA5}">
                      <a16:colId xmlns:a16="http://schemas.microsoft.com/office/drawing/2014/main" val="4041087470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475833553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440583969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973726920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1099364392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598594491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299168853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639377261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2095656865"/>
                    </a:ext>
                  </a:extLst>
                </a:gridCol>
                <a:gridCol w="553389">
                  <a:extLst>
                    <a:ext uri="{9D8B030D-6E8A-4147-A177-3AD203B41FA5}">
                      <a16:colId xmlns:a16="http://schemas.microsoft.com/office/drawing/2014/main" val="2172498307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3928751653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1178522413"/>
                    </a:ext>
                  </a:extLst>
                </a:gridCol>
                <a:gridCol w="549956">
                  <a:extLst>
                    <a:ext uri="{9D8B030D-6E8A-4147-A177-3AD203B41FA5}">
                      <a16:colId xmlns:a16="http://schemas.microsoft.com/office/drawing/2014/main" val="409672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+mn-cs"/>
                        </a:rPr>
                        <a:t>0x10000010</a:t>
                      </a:r>
                      <a:endParaRPr lang="en-US" sz="18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54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595267"/>
      </p:ext>
    </p:extLst>
  </p:cSld>
  <p:clrMapOvr>
    <a:masterClrMapping/>
  </p:clrMapOvr>
  <p:transition>
    <p:pull dir="ru"/>
  </p:transition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C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14640</TotalTime>
  <Pages>1</Pages>
  <Words>1632</Words>
  <Application>Microsoft Office PowerPoint</Application>
  <PresentationFormat>On-screen Show (4:3)</PresentationFormat>
  <Paragraphs>346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Bookman Old Style (Headings)</vt:lpstr>
      <vt:lpstr>Gill Sans</vt:lpstr>
      <vt:lpstr>Gill Sans Light</vt:lpstr>
      <vt:lpstr>Arial</vt:lpstr>
      <vt:lpstr>Bookman Old Style</vt:lpstr>
      <vt:lpstr>Calibri</vt:lpstr>
      <vt:lpstr>Consolas</vt:lpstr>
      <vt:lpstr>Courier New</vt:lpstr>
      <vt:lpstr>Gill Sans MT</vt:lpstr>
      <vt:lpstr>Helvetica</vt:lpstr>
      <vt:lpstr>Times New Roman</vt:lpstr>
      <vt:lpstr>Wingdings</vt:lpstr>
      <vt:lpstr>Wingdings 3</vt:lpstr>
      <vt:lpstr>Origin</vt:lpstr>
      <vt:lpstr>Zonghua Gu</vt:lpstr>
      <vt:lpstr>Endianness</vt:lpstr>
      <vt:lpstr>Endianness</vt:lpstr>
      <vt:lpstr>Endianness</vt:lpstr>
      <vt:lpstr>Endianness</vt:lpstr>
      <vt:lpstr>Endianness</vt:lpstr>
      <vt:lpstr>Data Alignment</vt:lpstr>
      <vt:lpstr>Data Alignment</vt:lpstr>
      <vt:lpstr>Memory Cycles</vt:lpstr>
      <vt:lpstr>Arrays</vt:lpstr>
      <vt:lpstr>LDM</vt:lpstr>
      <vt:lpstr>LDR</vt:lpstr>
      <vt:lpstr>Program Understanding 1</vt:lpstr>
      <vt:lpstr>Program Understanding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ARM Architecture</dc:title>
  <dc:creator>ARM Training</dc:creator>
  <cp:lastModifiedBy>Zonghua Gu</cp:lastModifiedBy>
  <cp:revision>577</cp:revision>
  <cp:lastPrinted>2002-11-19T17:09:26Z</cp:lastPrinted>
  <dcterms:created xsi:type="dcterms:W3CDTF">2014-02-12T15:59:14Z</dcterms:created>
  <dcterms:modified xsi:type="dcterms:W3CDTF">2025-10-22T01:08:26Z</dcterms:modified>
</cp:coreProperties>
</file>