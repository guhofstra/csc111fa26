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0" r:id="rId20"/>
    <p:sldId id="278" r:id="rId21"/>
    <p:sldId id="279" r:id="rId22"/>
    <p:sldId id="281" r:id="rId23"/>
    <p:sldId id="282" r:id="rId24"/>
    <p:sldId id="284" r:id="rId25"/>
    <p:sldId id="283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94"/>
  </p:normalViewPr>
  <p:slideViewPr>
    <p:cSldViewPr>
      <p:cViewPr varScale="1">
        <p:scale>
          <a:sx n="150" d="100"/>
          <a:sy n="150" d="100"/>
        </p:scale>
        <p:origin x="349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CEE8-BAA8-4602-AE4E-9D0414A5E53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2D34E-482C-401C-AF3F-3B34B6DF36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2D34E-482C-401C-AF3F-3B34B6DF367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09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083366F4-BA51-4938-9FF1-D8409703612D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8139190-C0F2-4D08-8AD2-E72BF4FCFC10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284A76A-4937-419E-AFF7-370F427D7E17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F68FA7C-0340-42AC-B3A9-93B6DD9C9D1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E0C6488-5FF4-4E8B-A85B-7D79F7EA3A5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A1FB3A-2786-429F-A05E-5BF9080ECE8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D25FC9C-B195-4C28-B612-D2FE86078257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64C9545-16B5-4782-BE28-D228F834BB2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2597DFE-DE0C-474A-84E0-CD760612E05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0D00691-1BBD-48C5-9CFE-8A73E4DF46A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2E17150-0A91-452D-88EE-4EAB4A05540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BA09D4F3-4BB6-46E7-886B-8919FBD86D7F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14772" y="894831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1400" y="2138175"/>
            <a:ext cx="3700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21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Digital Signal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Diagram of DSP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828800"/>
            <a:ext cx="8336280" cy="1533078"/>
          </a:xfrm>
        </p:spPr>
      </p:pic>
      <p:sp>
        <p:nvSpPr>
          <p:cNvPr id="6" name="Rectangle 5"/>
          <p:cNvSpPr/>
          <p:nvPr/>
        </p:nvSpPr>
        <p:spPr>
          <a:xfrm>
            <a:off x="4117849" y="3346639"/>
            <a:ext cx="1740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Quantize analog input signal</a:t>
            </a:r>
          </a:p>
        </p:txBody>
      </p:sp>
    </p:spTree>
    <p:extLst>
      <p:ext uri="{BB962C8B-B14F-4D97-AF65-F5344CB8AC3E}">
        <p14:creationId xmlns:p14="http://schemas.microsoft.com/office/powerpoint/2010/main" val="207545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vs Floating-point DSP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4876800" cy="4937760"/>
          </a:xfrm>
        </p:spPr>
        <p:txBody>
          <a:bodyPr/>
          <a:lstStyle/>
          <a:p>
            <a:r>
              <a:rPr lang="en-US" dirty="0"/>
              <a:t>Floating-point DSP uses FPU</a:t>
            </a:r>
          </a:p>
          <a:p>
            <a:pPr lvl="1"/>
            <a:r>
              <a:rPr lang="en-US" dirty="0"/>
              <a:t>Suitable for applications with wide data range </a:t>
            </a:r>
          </a:p>
          <a:p>
            <a:pPr lvl="1"/>
            <a:r>
              <a:rPr lang="en-US" dirty="0"/>
              <a:t>Easy to program</a:t>
            </a:r>
          </a:p>
          <a:p>
            <a:pPr lvl="1"/>
            <a:r>
              <a:rPr lang="en-US" dirty="0"/>
              <a:t>High hardware cost</a:t>
            </a:r>
          </a:p>
          <a:p>
            <a:pPr lvl="1"/>
            <a:r>
              <a:rPr lang="en-US" dirty="0"/>
              <a:t>Not energy efficient</a:t>
            </a:r>
          </a:p>
          <a:p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134100" y="1219200"/>
            <a:ext cx="5448300" cy="5013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Fixed-point DSP uses SIMD DSP coprocessor</a:t>
            </a:r>
          </a:p>
          <a:p>
            <a:pPr lvl="1"/>
            <a:r>
              <a:rPr lang="en-US" sz="2000" dirty="0"/>
              <a:t>Suitable for applications with known data range</a:t>
            </a:r>
          </a:p>
          <a:p>
            <a:pPr lvl="1"/>
            <a:r>
              <a:rPr lang="en-US" sz="2000" dirty="0"/>
              <a:t>Difficult to program</a:t>
            </a:r>
          </a:p>
          <a:p>
            <a:pPr lvl="1"/>
            <a:r>
              <a:rPr lang="en-US" sz="2000" dirty="0"/>
              <a:t>Low hardware cost</a:t>
            </a:r>
          </a:p>
          <a:p>
            <a:pPr lvl="1"/>
            <a:r>
              <a:rPr lang="en-US" sz="2000" dirty="0"/>
              <a:t>Very energy efficient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789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3322474"/>
            <a:ext cx="5995473" cy="1810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numbers (Review)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Signed fixed-point format: </a:t>
            </a:r>
            <a:r>
              <a:rPr lang="en-US" dirty="0" err="1"/>
              <a:t>Qn</a:t>
            </a:r>
            <a:endParaRPr lang="en-US" dirty="0"/>
          </a:p>
          <a:p>
            <a:pPr lvl="1"/>
            <a:r>
              <a:rPr lang="en-US" dirty="0"/>
              <a:t>n is the number of fraction bits</a:t>
            </a:r>
          </a:p>
          <a:p>
            <a:pPr lvl="1"/>
            <a:r>
              <a:rPr lang="en-US" dirty="0"/>
              <a:t>Two’s complement with n+1 bits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9749" y="3276600"/>
            <a:ext cx="45079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Data range: [-1, 1- 2</a:t>
            </a:r>
            <a:r>
              <a:rPr lang="en-US" sz="16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-7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], i.e. [-1, 0.9921875]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3852446"/>
            <a:ext cx="5105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Data range: [-1, 1- 2</a:t>
            </a:r>
            <a:r>
              <a:rPr lang="en-US" sz="16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-15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], i.e. [-1, 0.999969482421875]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4274" y="4313848"/>
            <a:ext cx="28437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Data range: [-1, 1- 2</a:t>
            </a:r>
            <a:r>
              <a:rPr lang="en-US" sz="16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-31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i.e. [-1, 0.999999999534339]</a:t>
            </a:r>
          </a:p>
        </p:txBody>
      </p:sp>
    </p:spTree>
    <p:extLst>
      <p:ext uri="{BB962C8B-B14F-4D97-AF65-F5344CB8AC3E}">
        <p14:creationId xmlns:p14="http://schemas.microsoft.com/office/powerpoint/2010/main" val="15874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between Q7, Q15, and Q31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057400"/>
            <a:ext cx="592506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6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between Q7, Q15, and Q31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288" y="2057400"/>
            <a:ext cx="5925312" cy="364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92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904491"/>
            <a:ext cx="4572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When a result of an arithmetic operation is larger than the maximum representable number, </a:t>
            </a:r>
            <a:r>
              <a:rPr lang="en-US" sz="1800" dirty="0">
                <a:solidFill>
                  <a:srgbClr val="C00000"/>
                </a:solidFill>
              </a:rPr>
              <a:t>overflow </a:t>
            </a:r>
            <a:r>
              <a:rPr lang="en-US" sz="1800" dirty="0"/>
              <a:t>occurs. </a:t>
            </a:r>
          </a:p>
          <a:p>
            <a:r>
              <a:rPr lang="en-US" sz="1800" dirty="0"/>
              <a:t>When a result is smaller than the minimum representable number, </a:t>
            </a:r>
            <a:r>
              <a:rPr lang="en-US" sz="1800" dirty="0">
                <a:solidFill>
                  <a:srgbClr val="C00000"/>
                </a:solidFill>
              </a:rPr>
              <a:t>underflow</a:t>
            </a:r>
            <a:r>
              <a:rPr lang="en-US" sz="1800" dirty="0"/>
              <a:t> occurs. </a:t>
            </a:r>
          </a:p>
          <a:p>
            <a:r>
              <a:rPr lang="en-US" sz="1800" dirty="0"/>
              <a:t>In ARM technical documents, underflow is often called as overflow.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4866" y="3688081"/>
            <a:ext cx="2641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Q16 fixed-point numbers</a:t>
            </a:r>
          </a:p>
          <a:p>
            <a:r>
              <a:rPr lang="en-US" dirty="0"/>
              <a:t>Program treats them as signed integers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3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06631" y="1233055"/>
            <a:ext cx="82296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Without saturation, outputs are wrapped-around.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7124700" y="2964873"/>
            <a:ext cx="4495800" cy="31851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least-significant bits are truncated.</a:t>
            </a:r>
          </a:p>
          <a:p>
            <a:pPr lvl="1"/>
            <a:r>
              <a:rPr lang="en-US" sz="1700" dirty="0"/>
              <a:t>Overflow values are trimmed to very small values, and </a:t>
            </a:r>
          </a:p>
          <a:p>
            <a:pPr lvl="1"/>
            <a:r>
              <a:rPr lang="en-US" sz="1700" dirty="0"/>
              <a:t>Underflow values are wrapped around to very high values</a:t>
            </a:r>
          </a:p>
          <a:p>
            <a:pPr lvl="1"/>
            <a:endParaRPr 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06832"/>
            <a:ext cx="593344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75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Saturated outputs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7086600" y="2743200"/>
            <a:ext cx="4800600" cy="1524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Saturation clamps the result to the max or min limit of the representable range</a:t>
            </a:r>
            <a:endParaRPr lang="en-US" sz="1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13255"/>
            <a:ext cx="5791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65567339"/>
              </p:ext>
            </p:extLst>
          </p:nvPr>
        </p:nvGraphicFramePr>
        <p:xfrm>
          <a:off x="2137664" y="1676400"/>
          <a:ext cx="8077200" cy="18526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2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SSAT16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Rd,#imm4,Rm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Signed saturate two signed 16-bit values 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#imm4 =saturation bit position, 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  <a:r>
                        <a:rPr lang="en-US" sz="1800" baseline="300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imm4 - 1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≤ x ≤ 2</a:t>
                      </a:r>
                      <a:r>
                        <a:rPr lang="en-US" sz="1800" baseline="300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imm4 - 1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USAT16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Rd,#imm4,Rm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Unsigned saturate two unsigned 16-bit values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#imm4 = saturation bit position, 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≤ x ≤ 2</a:t>
                      </a:r>
                      <a:r>
                        <a:rPr lang="en-US" sz="1800" baseline="300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imm4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256913"/>
            <a:ext cx="6205066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2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flag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87424335"/>
              </p:ext>
            </p:extLst>
          </p:nvPr>
        </p:nvGraphicFramePr>
        <p:xfrm>
          <a:off x="1828800" y="4495800"/>
          <a:ext cx="8610600" cy="12573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85850" algn="l"/>
                        </a:tabLst>
                      </a:pPr>
                      <a:r>
                        <a:rPr lang="en-US" sz="20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 </a:t>
                      </a: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20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flag</a:t>
                      </a:r>
                      <a:endParaRPr lang="en-US" sz="2800" b="1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85850" algn="l"/>
                        </a:tabLst>
                      </a:pPr>
                      <a:r>
                        <a:rPr lang="en-US" sz="20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Clear </a:t>
                      </a: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20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flag</a:t>
                      </a:r>
                      <a:endParaRPr lang="en-US" sz="2800" b="1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MRS r0, APSR   </a:t>
                      </a:r>
                    </a:p>
                    <a:p>
                      <a:pPr marL="0" marR="0" algn="l">
                        <a:spcBef>
                          <a:spcPts val="3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Z is 1 if Q is 0  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TST r0, #(1&lt;&lt;27)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MRS r0, APSR          ; Read APSR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BIC r0, r0, #(1&lt;&lt;27)  ; Clear Q flag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MSR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APSR_nzcvq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r0    ; Write APSR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638" y="1295400"/>
            <a:ext cx="8785962" cy="277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67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5977360"/>
                  </p:ext>
                </p:extLst>
              </p:nvPr>
            </p:nvGraphicFramePr>
            <p:xfrm>
              <a:off x="848532" y="1250061"/>
              <a:ext cx="5166360" cy="4999228"/>
            </p:xfrm>
            <a:graphic>
              <a:graphicData uri="http://schemas.openxmlformats.org/drawingml/2006/table">
                <a:tbl>
                  <a:tblPr firstRow="1" firstCol="1" bandRow="1">
                    <a:tableStyleId>{69012ECD-51FC-41F1-AA8D-1B2483CD663E}</a:tableStyleId>
                  </a:tblPr>
                  <a:tblGrid>
                    <a:gridCol w="2090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757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 dirty="0">
                              <a:effectLst/>
                            </a:rPr>
                            <a:t>Data Length &amp; Operation</a:t>
                          </a:r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Instructions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9999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8 ± 8 = 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SADD8, QADD8, USADD8, UQADD8, SSUB8, QSUB8, USUB8, UQSUB8	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(8 ± 8) ÷ two = 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SHADD8, UHADD8, SHSUB8, UHSUB8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9999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± 16 = 16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SADD16, QADD16, USADD16, UQADD16, SSUB16, QSUB16, USUB16, UQSUB16, SASX, QASX, UASX, UQASX, SSAX, QSAX, USAX, UQSAX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9999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(16 ± 16) ÷ two = 16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SHADD16, UHADD16, SHSUB16, UHSUB16, SHASX, UHASX, SHSAX, UHSAX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QADD, QSUB, ADD, ADC, SUB, ADC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x two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QDADD, QDSUB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SMULBB, SMULBT, SMULTB, SMULTT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SMULWB, SMULWT, 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SMMUL, SMMULR, MUL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x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UMULL, SMULL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÷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SDIV, UDIV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+ 16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SMLABB, SMLABT, SMLATB, SMLATT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16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SMLAWB, SMLAWT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SMMLA, SMMLAR, SMMLS, SMMLSR, MLA, MLS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+ 16 x 16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SMLALBB, SMLALBT, SMLALTB, SMLALTT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+ 32 x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SMLAL, UMULAL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±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SMUAD, SMUADX, SMUSD, SMUSDX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+ 16 x 16 ±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SMLAD, SMLADX, SMLSD, SMLSDX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+ 16 x 16 ± 16 x 16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SMLALD, SMLALDX, SMLSLD, SMLSLDX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6000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+ 32 + 32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UMAAL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  <a:tr h="490793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105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05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𝑎𝑏𝑠𝑜𝑙𝑢𝑡𝑒</m:t>
                                        </m:r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(8−8)</m:t>
                                        </m:r>
                                      </m:e>
                                      <m:sub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USAD8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1"/>
                      </a:ext>
                    </a:extLst>
                  </a:tr>
                  <a:tr h="507935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050">
                                    <a:effectLst/>
                                    <a:latin typeface="Cambria Math" panose="02040503050406030204" pitchFamily="18" charset="0"/>
                                  </a:rPr>
                                  <m:t>32+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105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05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05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𝑎𝑏𝑠𝑜𝑙𝑢𝑡𝑒</m:t>
                                        </m:r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(8−8)</m:t>
                                        </m:r>
                                      </m:e>
                                      <m:sub>
                                        <m:r>
                                          <a:rPr lang="en-US" sz="105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 dirty="0">
                              <a:effectLst/>
                            </a:rPr>
                            <a:t>USADA8</a:t>
                          </a:r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5977360"/>
                  </p:ext>
                </p:extLst>
              </p:nvPr>
            </p:nvGraphicFramePr>
            <p:xfrm>
              <a:off x="848532" y="1250061"/>
              <a:ext cx="5166360" cy="4999228"/>
            </p:xfrm>
            <a:graphic>
              <a:graphicData uri="http://schemas.openxmlformats.org/drawingml/2006/table">
                <a:tbl>
                  <a:tblPr firstRow="1" firstCol="1" bandRow="1">
                    <a:tableStyleId>{69012ECD-51FC-41F1-AA8D-1B2483CD663E}</a:tableStyleId>
                  </a:tblPr>
                  <a:tblGrid>
                    <a:gridCol w="2090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757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 dirty="0">
                              <a:effectLst/>
                            </a:rPr>
                            <a:t>Data Length &amp; Operation</a:t>
                          </a:r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Instructions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8 ± 8 = 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SADD8, QADD8, USADD8, UQADD8, SSUB8, QSUB8, USUB8, UQSUB8	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(8 ± 8) ÷ two = 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SHADD8, UHADD8, SHSUB8, UHSUB8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± 16 = 16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SADD16, QADD16, USADD16, UQADD16, SSUB16, QSUB16, USUB16, UQSUB16, SASX, QASX, UASX, UQASX, SSAX, QSAX, USAX, UQSAX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(16 ± 16) ÷ two = 16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SHADD16, UHADD16, SHSUB16, UHSUB16, SHASX, UHASX, SHSAX, UHSAX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QADD, QSUB, ADD, ADC, SUB, ADC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x two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QDADD, QDSUB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SMULBB, SMULBT, SMULTB, SMULTT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SMULWB, SMULWT, 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SMMUL, SMMULR, MUL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x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UMULL, SMULL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÷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SDIV, UDIV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+ 16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SMLABB, SMLABT, SMLATB, SMLATT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16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SMLAWB, SMLAWT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± 32 x 32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SMMLA, SMMLAR, SMMLS, SMMLSR, MLA, MLS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+ 16 x 16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SMLALBB, SMLALBT, SMLALTB, SMLALTT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+ 32 x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SMLAL, UMULAL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±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SMUAD, SMUADX, SMUSD, SMUSDX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32 + 16 x 16 ± 16 x 16 = 32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SMLAD, SMLADX, SMLSD, SMLSDX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64 + 16 x 16 ± 16 x 16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SMLALD, SMLALDX, SMLSLD, SMLSLDX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16 x 16 + 32 + 32 = 64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UMAAL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  <a:tr h="4907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817949" r="-147879" b="-2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>
                              <a:effectLst/>
                            </a:rPr>
                            <a:t>USAD8</a:t>
                          </a:r>
                          <a:endParaRPr lang="en-US" sz="120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1"/>
                      </a:ext>
                    </a:extLst>
                  </a:tr>
                  <a:tr h="5079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895000" r="-147879" b="-1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50" dirty="0">
                              <a:effectLst/>
                            </a:rPr>
                            <a:t>USADA8</a:t>
                          </a:r>
                          <a:endParaRPr lang="en-US" sz="1200" dirty="0">
                            <a:effectLst/>
                            <a:latin typeface="Palatino Linotype" panose="0204050205050503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/>
          <p:cNvSpPr/>
          <p:nvPr/>
        </p:nvSpPr>
        <p:spPr>
          <a:xfrm>
            <a:off x="6797040" y="2514601"/>
            <a:ext cx="5166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SIMD (Single-Instruction Multiple-Data)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leverage </a:t>
            </a:r>
            <a:r>
              <a:rPr lang="en-US" dirty="0">
                <a:solidFill>
                  <a:srgbClr val="C00000"/>
                </a:solidFill>
              </a:rPr>
              <a:t>data-level parallelism </a:t>
            </a:r>
            <a:r>
              <a:rPr lang="en-US" dirty="0"/>
              <a:t>and simultaneously apply the same operation to each member of a set of data. </a:t>
            </a:r>
          </a:p>
        </p:txBody>
      </p:sp>
    </p:spTree>
    <p:extLst>
      <p:ext uri="{BB962C8B-B14F-4D97-AF65-F5344CB8AC3E}">
        <p14:creationId xmlns:p14="http://schemas.microsoft.com/office/powerpoint/2010/main" val="296868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29538803"/>
              </p:ext>
            </p:extLst>
          </p:nvPr>
        </p:nvGraphicFramePr>
        <p:xfrm>
          <a:off x="2400300" y="1905000"/>
          <a:ext cx="7391400" cy="33528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988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07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Prefix/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Postfix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Signed (S)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Signed Saturating</a:t>
                      </a:r>
                      <a:endParaRPr lang="en-US" sz="160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(Q)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Signed Halving</a:t>
                      </a:r>
                      <a:endParaRPr lang="en-US" sz="160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(SH)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Unsigned</a:t>
                      </a:r>
                      <a:endParaRPr lang="en-US" sz="160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(U)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Unsigned Saturating</a:t>
                      </a:r>
                      <a:endParaRPr lang="en-US" sz="160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(UQ)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Unsigned Halving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(UH)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ADD8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UHADD8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SUB8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UHSUB8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ADD16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UHADD16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SUB16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UHSUB16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ASX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UHASX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SAX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QSAX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SHSAX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UQSAX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UHSAX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1308" marR="6130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795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573780" y="4826737"/>
            <a:ext cx="251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SADD8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UADD8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QADD8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UQADD8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Rd, Rn, Rm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638300"/>
            <a:ext cx="6257616" cy="2667000"/>
          </a:xfrm>
        </p:spPr>
      </p:pic>
      <p:sp>
        <p:nvSpPr>
          <p:cNvPr id="9" name="Rectangle 8"/>
          <p:cNvSpPr/>
          <p:nvPr/>
        </p:nvSpPr>
        <p:spPr>
          <a:xfrm>
            <a:off x="6705600" y="4813669"/>
            <a:ext cx="251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QSUB8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Rd, Rn, Rm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UQSUB8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Rd, Rn, 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08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Add/Subtract and Half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5156786"/>
            <a:ext cx="2496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SHADD8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UHADD8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0444" y="5179646"/>
            <a:ext cx="236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SHSUB8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UHSUB8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828800"/>
            <a:ext cx="5800211" cy="291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82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589020" y="4610815"/>
            <a:ext cx="251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SADD16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UADD16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QADD16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UQADD16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29400" y="4602838"/>
            <a:ext cx="259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QSUB16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UQSUB16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500466"/>
            <a:ext cx="3830188" cy="27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56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Add/Subtract and Half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2800" y="5105399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SHADD16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UHADD16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0" y="5084545"/>
            <a:ext cx="251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SHSUB16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UHSUB16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550126"/>
            <a:ext cx="3615312" cy="31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55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3581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Exchange and Add/Subtract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58651"/>
            <a:ext cx="9153658" cy="6369050"/>
          </a:xfrm>
        </p:spPr>
      </p:pic>
    </p:spTree>
    <p:extLst>
      <p:ext uri="{BB962C8B-B14F-4D97-AF65-F5344CB8AC3E}">
        <p14:creationId xmlns:p14="http://schemas.microsoft.com/office/powerpoint/2010/main" val="98925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16-bit and 32-bit Multiplication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68891"/>
              </p:ext>
            </p:extLst>
          </p:nvPr>
        </p:nvGraphicFramePr>
        <p:xfrm>
          <a:off x="1981200" y="1619232"/>
          <a:ext cx="8229600" cy="1897636"/>
        </p:xfrm>
        <a:graphic>
          <a:graphicData uri="http://schemas.openxmlformats.org/drawingml/2006/table">
            <a:tbl>
              <a:tblPr firstCol="1" bandRow="1">
                <a:tableStyleId>{3B4B98B0-60AC-42C2-AFA5-B58CD77FA1E5}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2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SMULBB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Signed multiply bottom halfwords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Rd = Rn[B]*Rm[B]</a:t>
                      </a:r>
                      <a:endParaRPr lang="en-US" sz="1400" b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SMULBT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Signed multiply bottom and top halfwords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Rd = Rn[B]*Rm[T]</a:t>
                      </a:r>
                      <a:endParaRPr lang="en-US" sz="1400" b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SMULTB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multiply top and bottom halfwords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Rn[T]*Rm[B]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SMULTT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multiply top halfwords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Rn[T]*Rm[T]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1214251"/>
            <a:ext cx="3531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ea typeface="宋体" panose="02010600030101010101" pitchFamily="2" charset="-122"/>
                <a:cs typeface="Times New Roman" panose="02020603050405020304" pitchFamily="18" charset="0"/>
              </a:rPr>
              <a:t>Signed halfword multiplication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685800" y="3567608"/>
            <a:ext cx="6626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Signed multiplication between halfword and word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75473"/>
              </p:ext>
            </p:extLst>
          </p:nvPr>
        </p:nvGraphicFramePr>
        <p:xfrm>
          <a:off x="1943100" y="3987681"/>
          <a:ext cx="8237220" cy="951230"/>
        </p:xfrm>
        <a:graphic>
          <a:graphicData uri="http://schemas.openxmlformats.org/drawingml/2006/table">
            <a:tbl>
              <a:tblPr firstCol="1" bandRow="1">
                <a:tableStyleId>{3B4B98B0-60AC-42C2-AFA5-B58CD77FA1E5}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SMULWB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multiply word by bottom halfword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(Rn*Rm[B])&gt;&gt;16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SMULWT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multiply word by top halfword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(Rn*Rm[T])&gt;&gt;16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79352"/>
              </p:ext>
            </p:extLst>
          </p:nvPr>
        </p:nvGraphicFramePr>
        <p:xfrm>
          <a:off x="1981200" y="5374894"/>
          <a:ext cx="8229600" cy="951230"/>
        </p:xfrm>
        <a:graphic>
          <a:graphicData uri="http://schemas.openxmlformats.org/drawingml/2006/table">
            <a:tbl>
              <a:tblPr firstCol="1" bandRow="1">
                <a:tableStyleId>{3B4B98B0-60AC-42C2-AFA5-B58CD77FA1E5}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SMMUL</a:t>
                      </a:r>
                      <a:r>
                        <a:rPr lang="en-US" sz="1400" dirty="0">
                          <a:effectLst/>
                        </a:rPr>
                        <a:t> 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most significant word multiply with truncating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(Rn*Rm)&gt;&gt;32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SMMULR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Rd,Rn,Rm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Signed most significant word multiply with rounding to the nearest,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 = (Rn*Rm)&gt;&gt;32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4985047"/>
            <a:ext cx="3080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Signed word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86966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4800" y="287861"/>
            <a:ext cx="1981200" cy="990600"/>
          </a:xfrm>
        </p:spPr>
        <p:txBody>
          <a:bodyPr>
            <a:noAutofit/>
          </a:bodyPr>
          <a:lstStyle/>
          <a:p>
            <a:r>
              <a:rPr lang="en-US" sz="2000" dirty="0"/>
              <a:t>16-bit Multiplication and Add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90830"/>
            <a:ext cx="9189059" cy="6248400"/>
          </a:xfrm>
        </p:spPr>
      </p:pic>
    </p:spTree>
    <p:extLst>
      <p:ext uri="{BB962C8B-B14F-4D97-AF65-F5344CB8AC3E}">
        <p14:creationId xmlns:p14="http://schemas.microsoft.com/office/powerpoint/2010/main" val="124514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16-bit Multiply and Accumulate with 64-bit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565861"/>
            <a:ext cx="7533808" cy="2564195"/>
          </a:xfrm>
        </p:spPr>
      </p:pic>
      <p:sp>
        <p:nvSpPr>
          <p:cNvPr id="5" name="Rectangle 4"/>
          <p:cNvSpPr/>
          <p:nvPr/>
        </p:nvSpPr>
        <p:spPr>
          <a:xfrm>
            <a:off x="3581400" y="52871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SMLALD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RdLo,RdHi,Rn,Rm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SMLSLD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RdLo,RdHi,Rn,Rm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43200" y="4718437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RdHi:RdLo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RdHi:RdLo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+ Rn[T]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Rm[T] ± Rn[B]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Rm[B]</a:t>
            </a:r>
          </a:p>
        </p:txBody>
      </p:sp>
    </p:spTree>
    <p:extLst>
      <p:ext uri="{BB962C8B-B14F-4D97-AF65-F5344CB8AC3E}">
        <p14:creationId xmlns:p14="http://schemas.microsoft.com/office/powerpoint/2010/main" val="814404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16-bit Multiply and Accumulate with 64-bit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730163"/>
            <a:ext cx="7309926" cy="2487995"/>
          </a:xfrm>
        </p:spPr>
      </p:pic>
      <p:sp>
        <p:nvSpPr>
          <p:cNvPr id="5" name="Rectangle 4"/>
          <p:cNvSpPr/>
          <p:nvPr/>
        </p:nvSpPr>
        <p:spPr>
          <a:xfrm>
            <a:off x="3581400" y="52871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SMLALDX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RdLo,RdHi,Rn,Rm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SMLSLDX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RdLo,RdHi,Rn,Rm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71800" y="4671497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RdHi:RdLo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RdHi:RdLo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± Rn[T]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Rm[B] + Rn[B]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Rm[T]</a:t>
            </a:r>
          </a:p>
        </p:txBody>
      </p:sp>
    </p:spTree>
    <p:extLst>
      <p:ext uri="{BB962C8B-B14F-4D97-AF65-F5344CB8AC3E}">
        <p14:creationId xmlns:p14="http://schemas.microsoft.com/office/powerpoint/2010/main" val="55498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16-bit Multiply and Accumulate with 64-bit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51449"/>
            <a:ext cx="9753599" cy="4857164"/>
          </a:xfrm>
        </p:spPr>
      </p:pic>
    </p:spTree>
    <p:extLst>
      <p:ext uri="{BB962C8B-B14F-4D97-AF65-F5344CB8AC3E}">
        <p14:creationId xmlns:p14="http://schemas.microsoft.com/office/powerpoint/2010/main" val="2032662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16-bit Multiply and Accumulate with 32-bit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219199"/>
            <a:ext cx="5562600" cy="5534585"/>
          </a:xfrm>
        </p:spPr>
      </p:pic>
    </p:spTree>
    <p:extLst>
      <p:ext uri="{BB962C8B-B14F-4D97-AF65-F5344CB8AC3E}">
        <p14:creationId xmlns:p14="http://schemas.microsoft.com/office/powerpoint/2010/main" val="2887978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16-bit Multiply and Accumulate with 32-bit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252845"/>
            <a:ext cx="6858000" cy="5096341"/>
          </a:xfrm>
        </p:spPr>
      </p:pic>
    </p:spTree>
    <p:extLst>
      <p:ext uri="{BB962C8B-B14F-4D97-AF65-F5344CB8AC3E}">
        <p14:creationId xmlns:p14="http://schemas.microsoft.com/office/powerpoint/2010/main" val="1473834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16×32 Multiply and Accumulate with 32-bit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752600"/>
            <a:ext cx="8686883" cy="3429000"/>
          </a:xfrm>
        </p:spPr>
      </p:pic>
    </p:spTree>
    <p:extLst>
      <p:ext uri="{BB962C8B-B14F-4D97-AF65-F5344CB8AC3E}">
        <p14:creationId xmlns:p14="http://schemas.microsoft.com/office/powerpoint/2010/main" val="1058383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Packing Halfwords into a Word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790701"/>
            <a:ext cx="8522011" cy="2971799"/>
          </a:xfrm>
        </p:spPr>
      </p:pic>
    </p:spTree>
    <p:extLst>
      <p:ext uri="{BB962C8B-B14F-4D97-AF65-F5344CB8AC3E}">
        <p14:creationId xmlns:p14="http://schemas.microsoft.com/office/powerpoint/2010/main" val="900783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and Unsigned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38172739"/>
              </p:ext>
            </p:extLst>
          </p:nvPr>
        </p:nvGraphicFramePr>
        <p:xfrm>
          <a:off x="2734945" y="1816608"/>
          <a:ext cx="6722110" cy="1439546"/>
        </p:xfrm>
        <a:graphic>
          <a:graphicData uri="http://schemas.openxmlformats.org/drawingml/2006/table">
            <a:tbl>
              <a:tblPr firstCol="1" bandRow="1">
                <a:tableStyleId>{3B4B98B0-60AC-42C2-AFA5-B58CD77FA1E5}</a:tableStyleId>
              </a:tblPr>
              <a:tblGrid>
                <a:gridCol w="268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9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SXTB16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Rd,Rm</a:t>
                      </a:r>
                      <a:r>
                        <a:rPr lang="en-US" sz="1400" dirty="0">
                          <a:effectLst/>
                        </a:rPr>
                        <a:t> {,ROR #n}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Signed extend byte to 16-bit value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Rd[T] = sign_extend ((Rm, ROR #)[23:16])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Rd[B] = sign_extend ((Rm, ROR #)[7:0])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</a:rPr>
                        <a:t>UXTB16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Rd,Rm</a:t>
                      </a:r>
                      <a:r>
                        <a:rPr lang="en-US" sz="1400" dirty="0">
                          <a:effectLst/>
                        </a:rPr>
                        <a:t> {,ROR #n}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Unsigned extend byte to 16-bit value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Rd[T] = </a:t>
                      </a:r>
                      <a:r>
                        <a:rPr lang="en-US" sz="1400" dirty="0" err="1">
                          <a:effectLst/>
                        </a:rPr>
                        <a:t>zero_extend</a:t>
                      </a:r>
                      <a:r>
                        <a:rPr lang="en-US" sz="1400" dirty="0">
                          <a:effectLst/>
                        </a:rPr>
                        <a:t> ((Rm, ROR #)[23:16])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Rd[B] = </a:t>
                      </a:r>
                      <a:r>
                        <a:rPr lang="en-US" sz="1400" dirty="0" err="1">
                          <a:effectLst/>
                        </a:rPr>
                        <a:t>zero_extend</a:t>
                      </a:r>
                      <a:r>
                        <a:rPr lang="en-US" sz="1400" dirty="0">
                          <a:effectLst/>
                        </a:rPr>
                        <a:t> ((Rm, ROR #)[7:0])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1" y="3962400"/>
            <a:ext cx="655502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61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0862132"/>
              </p:ext>
            </p:extLst>
          </p:nvPr>
        </p:nvGraphicFramePr>
        <p:xfrm>
          <a:off x="2514600" y="1371600"/>
          <a:ext cx="7239000" cy="4495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GE = 1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GE = 0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SADD8, SADD16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is greater than or equal to zero.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is smaller than zero.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SSUB8, SSUB16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SASX, SSAX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UADD8</a:t>
                      </a:r>
                      <a:endParaRPr lang="en-US" sz="1800">
                        <a:effectLst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UADD16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did overflow, generating a carry.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did not overflow.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418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USUB8</a:t>
                      </a:r>
                      <a:endParaRPr lang="en-US" sz="1800">
                        <a:effectLst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USUB16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is greater than or equal to zero, meaning borrow did not occur.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corresponding result is smaller than zero, meaning borrow did occur.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61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UASX</a:t>
                      </a:r>
                      <a:endParaRPr lang="en-US" sz="1800">
                        <a:effectLst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USAX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“A” (Add) sets </a:t>
                      </a:r>
                      <a:r>
                        <a:rPr lang="en-US" sz="1600" dirty="0">
                          <a:effectLst/>
                        </a:rPr>
                        <a:t>GE</a:t>
                      </a:r>
                      <a:r>
                        <a:rPr lang="en-US" sz="1400" dirty="0">
                          <a:effectLst/>
                        </a:rPr>
                        <a:t> flags in the same way as ADDS sets the C flag. If overflow occurs, corresponding </a:t>
                      </a:r>
                      <a:r>
                        <a:rPr lang="en-US" sz="1600" dirty="0">
                          <a:effectLst/>
                        </a:rPr>
                        <a:t>GE</a:t>
                      </a:r>
                      <a:r>
                        <a:rPr lang="en-US" sz="1400" dirty="0">
                          <a:effectLst/>
                        </a:rPr>
                        <a:t> flags are set to 1.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“S” (Subtract) sets </a:t>
                      </a:r>
                      <a:r>
                        <a:rPr lang="en-US" sz="1600" dirty="0">
                          <a:effectLst/>
                        </a:rPr>
                        <a:t>GE</a:t>
                      </a:r>
                      <a:r>
                        <a:rPr lang="en-US" sz="1400" dirty="0">
                          <a:effectLst/>
                        </a:rPr>
                        <a:t> flags in the same way as SUBS sets the C flag. If borrow occurs, the corresponding </a:t>
                      </a:r>
                      <a:r>
                        <a:rPr lang="en-US" sz="1600" dirty="0">
                          <a:effectLst/>
                        </a:rPr>
                        <a:t>GE</a:t>
                      </a:r>
                      <a:r>
                        <a:rPr lang="en-US" sz="1400" dirty="0">
                          <a:effectLst/>
                        </a:rPr>
                        <a:t> flags are set to 0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367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Selection 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649" y="2057400"/>
            <a:ext cx="7928343" cy="2816798"/>
          </a:xfrm>
        </p:spPr>
      </p:pic>
      <p:sp>
        <p:nvSpPr>
          <p:cNvPr id="5" name="Rectangle 4"/>
          <p:cNvSpPr/>
          <p:nvPr/>
        </p:nvSpPr>
        <p:spPr>
          <a:xfrm>
            <a:off x="5410201" y="5245942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SEL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223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Vector Negate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37582252"/>
              </p:ext>
            </p:extLst>
          </p:nvPr>
        </p:nvGraphicFramePr>
        <p:xfrm>
          <a:off x="2819400" y="1447800"/>
          <a:ext cx="6697980" cy="46939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69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vector_negate_Q15 PROC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export vector_negate_Q15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r0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pSrc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pointer to source Q15 array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r1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pDst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pointer to destination Q15 array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r2 = # of Q15 values in source array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PUSH   {r4,r5,lr}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 r3, #0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 r4, #0         ; Initialize loop counter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      check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  LDR    r5, [r0], #4   ; Load two Q15 values, post-index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QSUB16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r5, r3, r5     ; Negate two Q15 values in parallel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STR    r5, [r1], #4   ; Store two Q15 values, post-index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ADDS   r4, r4, #2     ; Increase loop counter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 CMP    r4, r2         ; Compare with array size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BLT    loop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POP    {r4,r5,pc}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ENDP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4215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Vector Mean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1015"/>
              </p:ext>
            </p:extLst>
          </p:nvPr>
        </p:nvGraphicFramePr>
        <p:xfrm>
          <a:off x="2286000" y="1447800"/>
          <a:ext cx="7848600" cy="46939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84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vector_mean_Q15 PROC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export vector_mean_Q15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r0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pSrc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pointer to source Q15 array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r1 = # of Q15 values in source array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PUSH  {r4-r6,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r3, #0               ; sum = 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r6, #0x00010001      ; r3[T] = 1, r3[B] = 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r4, #0               ; Initialize loop counter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     check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  LDR   r5, [r0], #4         ; Load four Q15 values, post-index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SMLAD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r3, r5, r6, r3       ; r3 = 1*r5[T] + 1*r5[B]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ADDS  r4, r4, #2           ; Increase loop counter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 CMP   r4, r1               ; Compare with array size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BLT   loop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SDIV  r3, r3, r1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r0, r3               ; sum returned in r0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POP   {r4-r6, pc}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ENDP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93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Vector Absolute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207577"/>
              </p:ext>
            </p:extLst>
          </p:nvPr>
        </p:nvGraphicFramePr>
        <p:xfrm>
          <a:off x="2971800" y="1205230"/>
          <a:ext cx="6469380" cy="512064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469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vector_abs_Q15 PROC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EXPORT   vector_abs_Q15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r0 =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pSrc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pointer to source Q15 array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r1 =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pDst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pointer to destination Q15 array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r2 = # of Q15 values in source array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PUSH   {r4-r8, LR}       ; Preserve registers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 r6, #0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MOV    r3, #0            ; Initialize loop counter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      check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  LDR    r4, [r0], #4      ; Load two Q15 values   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SSUB16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r5, r4, r6        ; Set GE flags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SEL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r7, r5, r6        ; Select all positive Q15 based on GE flags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SSUB16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r5, r6, r4        ; Negate r4, and set GE flags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SEL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r8, r5, r6        ; Select all positive Q15 based on GE flags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ORR    r5, r7, r8        ; Merge two selections 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STR    r5, [r1], #4      ; Store results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 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ADDS   r3, r3, #2        ; Increase loop counter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 CMP    r3, r2            ; Compare with array size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BLT    loop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POP    {r4-r8, pc}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642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2437</TotalTime>
  <Words>2170</Words>
  <Application>Microsoft Office PowerPoint</Application>
  <PresentationFormat>Widescreen</PresentationFormat>
  <Paragraphs>377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Bookman Old Style (Headings)</vt:lpstr>
      <vt:lpstr>宋体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Times New Roman</vt:lpstr>
      <vt:lpstr>Wingdings</vt:lpstr>
      <vt:lpstr>Wingdings 3</vt:lpstr>
      <vt:lpstr>Origin</vt:lpstr>
      <vt:lpstr>Dr. Yifeng Zhu Electrical and Computer Engineering University of Maine</vt:lpstr>
      <vt:lpstr>Common Diagram of DSP systems</vt:lpstr>
      <vt:lpstr>Fixed-point vs Floating-point DSP</vt:lpstr>
      <vt:lpstr>Fixed-point numbers (Review)</vt:lpstr>
      <vt:lpstr>Conversion between Q7, Q15, and Q31</vt:lpstr>
      <vt:lpstr>Conversion between Q7, Q15, and Q31</vt:lpstr>
      <vt:lpstr>Saturation</vt:lpstr>
      <vt:lpstr>Saturation</vt:lpstr>
      <vt:lpstr>Saturation</vt:lpstr>
      <vt:lpstr>Saturation Instructions</vt:lpstr>
      <vt:lpstr>Q flag</vt:lpstr>
      <vt:lpstr>Arithmetic Instructions</vt:lpstr>
      <vt:lpstr>Parallel Add and Subtract</vt:lpstr>
      <vt:lpstr>Parallel 8-bit Add and Subtract</vt:lpstr>
      <vt:lpstr>Parallel 8-bit Add/Subtract and Half</vt:lpstr>
      <vt:lpstr>Parallel 8-bit Add and Subtract</vt:lpstr>
      <vt:lpstr>Parallel 8-bit Add/Subtract and Half</vt:lpstr>
      <vt:lpstr>Exchange and Add/Subtract</vt:lpstr>
      <vt:lpstr>16-bit and 32-bit Multiplication</vt:lpstr>
      <vt:lpstr>16-bit Multiplication and Add</vt:lpstr>
      <vt:lpstr>16-bit Multiply and Accumulate with 64-bit Result</vt:lpstr>
      <vt:lpstr>16-bit Multiply and Accumulate with 64-bit Result</vt:lpstr>
      <vt:lpstr>16-bit Multiply and Accumulate with 64-bit Result</vt:lpstr>
      <vt:lpstr>16-bit Multiply and Accumulate with 32-bit Result</vt:lpstr>
      <vt:lpstr>16-bit Multiply and Accumulate with 32-bit Result</vt:lpstr>
      <vt:lpstr>16×32 Multiply and Accumulate with 32-bit Result</vt:lpstr>
      <vt:lpstr>Packing Halfwords into a Word</vt:lpstr>
      <vt:lpstr>Signed and Unsigned Extension</vt:lpstr>
      <vt:lpstr>GE Flags</vt:lpstr>
      <vt:lpstr>Byte Selection Instruction</vt:lpstr>
      <vt:lpstr>Example 1: Vector Negate</vt:lpstr>
      <vt:lpstr>Example 2: Vector Mean</vt:lpstr>
      <vt:lpstr>Example 3: Vector Absolute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73</cp:revision>
  <dcterms:created xsi:type="dcterms:W3CDTF">2014-05-03T13:36:50Z</dcterms:created>
  <dcterms:modified xsi:type="dcterms:W3CDTF">2025-09-25T00:33:10Z</dcterms:modified>
</cp:coreProperties>
</file>