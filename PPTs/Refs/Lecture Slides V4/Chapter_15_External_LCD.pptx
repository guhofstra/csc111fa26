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8" r:id="rId3"/>
    <p:sldId id="257" r:id="rId4"/>
    <p:sldId id="263" r:id="rId5"/>
    <p:sldId id="259" r:id="rId6"/>
    <p:sldId id="265" r:id="rId7"/>
    <p:sldId id="260" r:id="rId8"/>
    <p:sldId id="264" r:id="rId9"/>
    <p:sldId id="266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16"/>
    <p:restoredTop sz="86667" autoAdjust="0"/>
  </p:normalViewPr>
  <p:slideViewPr>
    <p:cSldViewPr>
      <p:cViewPr varScale="1">
        <p:scale>
          <a:sx n="138" d="100"/>
          <a:sy n="138" d="100"/>
        </p:scale>
        <p:origin x="3642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9/24/2025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9/24/2025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Dr. Yifeng Zhu</a:t>
            </a:r>
            <a:br>
              <a:rPr lang="en-US" sz="2000" dirty="0"/>
            </a:br>
            <a:r>
              <a:rPr lang="en-US" sz="2000" dirty="0"/>
              <a:t>Electrical and Computer Engineering</a:t>
            </a:r>
            <a:br>
              <a:rPr lang="en-US" sz="2000" dirty="0"/>
            </a:br>
            <a:r>
              <a:rPr lang="en-US" sz="2000" dirty="0"/>
              <a:t>University of Maine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68314" y="640060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0" y="2161880"/>
            <a:ext cx="43397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15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Liquid-Crystal Display (LCD)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HD44780 Connection Diagram (8-bit data bus)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300" y="1315535"/>
            <a:ext cx="5867400" cy="3194175"/>
          </a:xfrm>
          <a:prstGeom prst="rect">
            <a:avLst/>
          </a:prstGeom>
        </p:spPr>
      </p:pic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85800" y="4724400"/>
            <a:ext cx="11277600" cy="1708150"/>
          </a:xfrm>
        </p:spPr>
        <p:txBody>
          <a:bodyPr>
            <a:noAutofit/>
          </a:bodyPr>
          <a:lstStyle/>
          <a:p>
            <a:r>
              <a:rPr lang="en-US" sz="1400" dirty="0"/>
              <a:t>Read/Write (RW) connects to the ground if processor does not read data from LCD</a:t>
            </a:r>
          </a:p>
          <a:p>
            <a:r>
              <a:rPr lang="en-US" sz="1400" dirty="0"/>
              <a:t>LED+ and LED- pins provide 5V voltage for backlights. </a:t>
            </a:r>
          </a:p>
          <a:p>
            <a:r>
              <a:rPr lang="en-US" sz="1400" dirty="0"/>
              <a:t>Enable (E) pin provides clock signal</a:t>
            </a:r>
          </a:p>
          <a:p>
            <a:r>
              <a:rPr lang="en-US" sz="1400" dirty="0"/>
              <a:t>Register Select (RS)</a:t>
            </a:r>
          </a:p>
          <a:p>
            <a:pPr lvl="1"/>
            <a:r>
              <a:rPr lang="en-US" sz="1100" dirty="0"/>
              <a:t>RS = 0:  data on the data bus is a command </a:t>
            </a:r>
          </a:p>
          <a:p>
            <a:pPr lvl="1"/>
            <a:r>
              <a:rPr lang="en-US" sz="1100" dirty="0"/>
              <a:t>RS = 1:  data on the data bus is actual data.</a:t>
            </a:r>
          </a:p>
        </p:txBody>
      </p:sp>
    </p:spTree>
    <p:extLst>
      <p:ext uri="{BB962C8B-B14F-4D97-AF65-F5344CB8AC3E}">
        <p14:creationId xmlns:p14="http://schemas.microsoft.com/office/powerpoint/2010/main" val="329229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HD44780 Connection Diagram</a:t>
            </a:r>
            <a:br>
              <a:rPr lang="en-US" dirty="0"/>
            </a:br>
            <a:r>
              <a:rPr lang="en-US" dirty="0"/>
              <a:t>(8-bit data bus)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219200"/>
            <a:ext cx="5791200" cy="3152692"/>
          </a:xfrm>
          <a:prstGeom prst="rect">
            <a:avLst/>
          </a:prstGeom>
        </p:spPr>
      </p:pic>
      <p:sp>
        <p:nvSpPr>
          <p:cNvPr id="8" name="Content Placeholder 8"/>
          <p:cNvSpPr txBox="1">
            <a:spLocks/>
          </p:cNvSpPr>
          <p:nvPr/>
        </p:nvSpPr>
        <p:spPr>
          <a:xfrm>
            <a:off x="1752600" y="4600492"/>
            <a:ext cx="8763000" cy="1755858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/>
              <a:t>Saves four pins for the processor</a:t>
            </a:r>
          </a:p>
          <a:p>
            <a:r>
              <a:rPr lang="en-US" sz="1700" dirty="0"/>
              <a:t>For each 8-bit data, transfer the upper 4 bits first and then the lower 4 bits. </a:t>
            </a:r>
          </a:p>
        </p:txBody>
      </p:sp>
    </p:spTree>
    <p:extLst>
      <p:ext uri="{BB962C8B-B14F-4D97-AF65-F5344CB8AC3E}">
        <p14:creationId xmlns:p14="http://schemas.microsoft.com/office/powerpoint/2010/main" val="3652326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HD44780 Controller:</a:t>
            </a:r>
            <a:br>
              <a:rPr lang="en-US" dirty="0"/>
            </a:br>
            <a:r>
              <a:rPr lang="en-US" dirty="0"/>
              <a:t>Internal Diagram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71" y="1371600"/>
            <a:ext cx="10824819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21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 Signal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>
          <a:xfrm>
            <a:off x="614464" y="4343400"/>
            <a:ext cx="10967936" cy="1882940"/>
          </a:xfrm>
        </p:spPr>
        <p:txBody>
          <a:bodyPr>
            <a:noAutofit/>
          </a:bodyPr>
          <a:lstStyle/>
          <a:p>
            <a:r>
              <a:rPr lang="en-US" sz="2000" dirty="0"/>
              <a:t>On the falling edge of E (Enable), data are latched into the data or command register</a:t>
            </a:r>
          </a:p>
          <a:p>
            <a:pPr lvl="1"/>
            <a:r>
              <a:rPr lang="en-US" sz="1800" dirty="0"/>
              <a:t>RS = 0: command; RS = 1: data</a:t>
            </a:r>
            <a:endParaRPr lang="en-US" sz="2000" dirty="0"/>
          </a:p>
          <a:p>
            <a:r>
              <a:rPr lang="en-US" sz="2000" dirty="0"/>
              <a:t>E is a data transmission clock signal provided by the processor</a:t>
            </a:r>
          </a:p>
          <a:p>
            <a:r>
              <a:rPr lang="en-US" sz="2000" dirty="0"/>
              <a:t>A nibble = 4 bits</a:t>
            </a:r>
          </a:p>
          <a:p>
            <a:r>
              <a:rPr lang="en-US" sz="2000" dirty="0"/>
              <a:t>For each byte, the upper nibble is sent out first.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331" y="1447800"/>
            <a:ext cx="5001338" cy="262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598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Clock Signal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979377576"/>
              </p:ext>
            </p:extLst>
          </p:nvPr>
        </p:nvGraphicFramePr>
        <p:xfrm>
          <a:off x="2743200" y="2743200"/>
          <a:ext cx="7162800" cy="2194560"/>
        </p:xfrm>
        <a:graphic>
          <a:graphicData uri="http://schemas.openxmlformats.org/drawingml/2006/table">
            <a:tbl>
              <a:tblPr firstRow="1" firstCol="1" bandRow="1"/>
              <a:tblGrid>
                <a:gridCol w="7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void </a:t>
                      </a:r>
                      <a:r>
                        <a:rPr lang="en-US" sz="1800" b="1" dirty="0" err="1">
                          <a:solidFill>
                            <a:srgbClr val="C00000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LCD_Pulse</a:t>
                      </a:r>
                      <a:r>
                        <a:rPr lang="en-US" sz="1800" dirty="0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(void)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  </a:t>
                      </a:r>
                      <a:r>
                        <a:rPr lang="en-US" sz="1800" dirty="0" err="1">
                          <a:solidFill>
                            <a:srgbClr val="C00000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LCD_Port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-&gt;ODR |= 1&lt;&lt;LCD_EN;	     </a:t>
                      </a:r>
                      <a:r>
                        <a:rPr lang="en-US" sz="18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// Set E high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  Delay(4);                       </a:t>
                      </a:r>
                      <a:r>
                        <a:rPr lang="en-US" sz="18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// Delay 40us           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  </a:t>
                      </a:r>
                      <a:r>
                        <a:rPr lang="en-US" sz="1800" dirty="0" err="1">
                          <a:solidFill>
                            <a:srgbClr val="C00000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LCD_Port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-&gt;ODR &amp;= ~(1&lt;&lt;LCD_EN);  </a:t>
                      </a:r>
                      <a:r>
                        <a:rPr lang="en-US" sz="18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// Set E low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  Delay(4);                       </a:t>
                      </a:r>
                      <a:r>
                        <a:rPr lang="en-US" sz="18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// Delay 40us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}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9678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Signals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85800" y="1371600"/>
            <a:ext cx="8229600" cy="441960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Sending “hello”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015248"/>
            <a:ext cx="6172200" cy="40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2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Sending Command and Data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089261280"/>
              </p:ext>
            </p:extLst>
          </p:nvPr>
        </p:nvGraphicFramePr>
        <p:xfrm>
          <a:off x="1828800" y="1590040"/>
          <a:ext cx="8458200" cy="41452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Sending Command to LCD</a:t>
                      </a:r>
                      <a:endParaRPr lang="en-US" sz="1600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Sending Data to LCD</a:t>
                      </a:r>
                      <a:endParaRPr lang="en-US" sz="1600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void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</a:rPr>
                        <a:t>LCD_SendCmd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(uint8_t c)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 // RS: 0 = command, 1 = data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</a:rPr>
                        <a:t>LCD_Port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-&gt;ODR &amp;= ~(1&lt;&lt;LCD_RS);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 // Send Upper 4 bits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</a:rPr>
                        <a:t>LCD_PutNibble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( c &gt;&gt; 4 ); 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</a:rPr>
                        <a:t>LCD_Pulse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();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 // Send Lower 4 bits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</a:rPr>
                        <a:t>LCD_PutNibble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( c &amp; 0xF ); 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</a:rPr>
                        <a:t>LCD_Pulse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();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 // Return to default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</a:rPr>
                        <a:t>LCD_Port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-&gt;ODR |= 1&lt;&lt;LCD_RS;  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void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</a:rPr>
                        <a:t>LCD_SendData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(uint8_t c)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 // RS defaults to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 // Send Upper 4 bits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</a:rPr>
                        <a:t>LCD_PutNibble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( c &gt;&gt; 4 );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</a:rPr>
                        <a:t>LCD_Pulse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();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 // Send Lower 4 bits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</a:rPr>
                        <a:t>LCD_PutNibble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( c &amp; 0xF );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</a:rPr>
                        <a:t>LCD_Pulse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();  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             		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8107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Format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288820"/>
              </p:ext>
            </p:extLst>
          </p:nvPr>
        </p:nvGraphicFramePr>
        <p:xfrm>
          <a:off x="1752599" y="1447799"/>
          <a:ext cx="8458205" cy="4419601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2409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1960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3035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Palatino Linotype" charset="0"/>
                        <a:ea typeface="宋体" charset="0"/>
                        <a:cs typeface="Times New Roman" charset="0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RS</a:t>
                      </a:r>
                      <a:endParaRPr lang="en-US" sz="1600">
                        <a:effectLst/>
                        <a:latin typeface="Palatino Linotype" charset="0"/>
                        <a:ea typeface="宋体" charset="0"/>
                        <a:cs typeface="Times New Roman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RW</a:t>
                      </a:r>
                      <a:endParaRPr lang="en-US" sz="1600" dirty="0">
                        <a:effectLst/>
                        <a:latin typeface="Palatino Linotype" charset="0"/>
                        <a:ea typeface="宋体" charset="0"/>
                        <a:cs typeface="Times New Roman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DB7</a:t>
                      </a:r>
                      <a:endParaRPr lang="en-US" sz="1600">
                        <a:effectLst/>
                        <a:latin typeface="Palatino Linotype" charset="0"/>
                        <a:ea typeface="宋体" charset="0"/>
                        <a:cs typeface="Times New Roman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DB6</a:t>
                      </a:r>
                      <a:endParaRPr lang="en-US" sz="1600" dirty="0">
                        <a:effectLst/>
                        <a:latin typeface="Palatino Linotype" charset="0"/>
                        <a:ea typeface="宋体" charset="0"/>
                        <a:cs typeface="Times New Roman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DB5</a:t>
                      </a:r>
                      <a:endParaRPr lang="en-US" sz="1600" dirty="0">
                        <a:effectLst/>
                        <a:latin typeface="Palatino Linotype" charset="0"/>
                        <a:ea typeface="宋体" charset="0"/>
                        <a:cs typeface="Times New Roman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DB4</a:t>
                      </a:r>
                      <a:endParaRPr lang="en-US" sz="1600">
                        <a:effectLst/>
                        <a:latin typeface="Palatino Linotype" charset="0"/>
                        <a:ea typeface="宋体" charset="0"/>
                        <a:cs typeface="Times New Roman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DB3</a:t>
                      </a:r>
                      <a:endParaRPr lang="en-US" sz="1600">
                        <a:effectLst/>
                        <a:latin typeface="Palatino Linotype" charset="0"/>
                        <a:ea typeface="宋体" charset="0"/>
                        <a:cs typeface="Times New Roman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DB2</a:t>
                      </a:r>
                      <a:endParaRPr lang="en-US" sz="1600">
                        <a:effectLst/>
                        <a:latin typeface="Palatino Linotype" charset="0"/>
                        <a:ea typeface="宋体" charset="0"/>
                        <a:cs typeface="Times New Roman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DB1</a:t>
                      </a:r>
                      <a:endParaRPr lang="en-US" sz="1600">
                        <a:effectLst/>
                        <a:latin typeface="Palatino Linotype" charset="0"/>
                        <a:ea typeface="宋体" charset="0"/>
                        <a:cs typeface="Times New Roman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DB0</a:t>
                      </a:r>
                      <a:endParaRPr lang="en-US" sz="1600" dirty="0">
                        <a:effectLst/>
                        <a:latin typeface="Palatino Linotype" charset="0"/>
                        <a:ea typeface="宋体" charset="0"/>
                        <a:cs typeface="Times New Roman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600" dirty="0">
                        <a:effectLst/>
                        <a:latin typeface="Palatino Linotype" charset="0"/>
                        <a:ea typeface="宋体" charset="0"/>
                        <a:cs typeface="Times New Roman" charset="0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568">
                <a:tc rowSpan="8">
                  <a:txBody>
                    <a:bodyPr/>
                    <a:lstStyle/>
                    <a:p>
                      <a:pPr marL="71755" marR="71755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</a:rPr>
                        <a:t>LCD Commands</a:t>
                      </a:r>
                      <a:endParaRPr lang="en-US" sz="1600" dirty="0">
                        <a:solidFill>
                          <a:srgbClr val="C00000"/>
                        </a:solidFill>
                        <a:effectLst/>
                        <a:latin typeface="Palatino Linotype" charset="0"/>
                        <a:ea typeface="宋体" charset="0"/>
                        <a:cs typeface="Times New Roman" charset="0"/>
                      </a:endParaRPr>
                    </a:p>
                  </a:txBody>
                  <a:tcPr marL="45720" marR="45720" marT="0" marB="0"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Clear screen and set DDRAM address to 0</a:t>
                      </a:r>
                      <a:endParaRPr lang="en-US" sz="1600">
                        <a:effectLst/>
                        <a:latin typeface="Palatino Linotype" charset="0"/>
                        <a:ea typeface="宋体" charset="0"/>
                        <a:cs typeface="Times New Roman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5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-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Return home (set DDRAM address to 0)</a:t>
                      </a:r>
                      <a:endParaRPr lang="en-US" sz="1600">
                        <a:effectLst/>
                        <a:latin typeface="Palatino Linotype" charset="0"/>
                        <a:ea typeface="宋体" charset="0"/>
                        <a:cs typeface="Times New Roman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5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I/D</a:t>
                      </a:r>
                      <a:endParaRPr lang="en-US" sz="2000" b="1" dirty="0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S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Entry mode set </a:t>
                      </a:r>
                      <a:endParaRPr lang="en-US" sz="1600">
                        <a:effectLst/>
                        <a:latin typeface="Palatino Linotype" charset="0"/>
                        <a:ea typeface="宋体" charset="0"/>
                        <a:cs typeface="Times New Roman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5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D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C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B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Control on/off of display, cursor, and blink </a:t>
                      </a:r>
                      <a:endParaRPr lang="en-US" sz="1600" dirty="0">
                        <a:effectLst/>
                        <a:latin typeface="Palatino Linotype" charset="0"/>
                        <a:ea typeface="宋体" charset="0"/>
                        <a:cs typeface="Times New Roman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5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SC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RL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-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-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Cursor/display shift</a:t>
                      </a:r>
                      <a:endParaRPr lang="en-US" sz="1600">
                        <a:effectLst/>
                        <a:latin typeface="Palatino Linotype" charset="0"/>
                        <a:ea typeface="宋体" charset="0"/>
                        <a:cs typeface="Times New Roman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5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DL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N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F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-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-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Set of data length, lines, and font type</a:t>
                      </a:r>
                      <a:endParaRPr lang="en-US" sz="1600" dirty="0">
                        <a:effectLst/>
                        <a:latin typeface="Palatino Linotype" charset="0"/>
                        <a:ea typeface="宋体" charset="0"/>
                        <a:cs typeface="Times New Roman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5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A5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A4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A3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A2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A1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Set code generator CG-RAM address A5-A0</a:t>
                      </a:r>
                      <a:endParaRPr lang="en-US" sz="1600">
                        <a:effectLst/>
                        <a:latin typeface="Palatino Linotype" charset="0"/>
                        <a:ea typeface="宋体" charset="0"/>
                        <a:cs typeface="Times New Roman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5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A6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A5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A4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A3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A2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A1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Set display memory DDRAM address A6-A0</a:t>
                      </a:r>
                      <a:endParaRPr lang="en-US" sz="1600">
                        <a:effectLst/>
                        <a:latin typeface="Palatino Linotype" charset="0"/>
                        <a:ea typeface="宋体" charset="0"/>
                        <a:cs typeface="Times New Roman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Palatino Linotype" charset="0"/>
                        <a:ea typeface="宋体" charset="0"/>
                        <a:cs typeface="Times New Roman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BF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A6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A5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A4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A3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A2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A1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Ready busy flag (BF) and address A6-A0</a:t>
                      </a:r>
                      <a:endParaRPr lang="en-US" sz="1600">
                        <a:effectLst/>
                        <a:latin typeface="Palatino Linotype" charset="0"/>
                        <a:ea typeface="宋体" charset="0"/>
                        <a:cs typeface="Times New Roman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Palatino Linotype" charset="0"/>
                        <a:ea typeface="宋体" charset="0"/>
                        <a:cs typeface="Times New Roman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D7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D6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D5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D4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D3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D2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D1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D0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Write data D7-D0 to DDRAM or CG-RAM</a:t>
                      </a:r>
                      <a:endParaRPr lang="en-US" sz="1600">
                        <a:effectLst/>
                        <a:latin typeface="Palatino Linotype" charset="0"/>
                        <a:ea typeface="宋体" charset="0"/>
                        <a:cs typeface="Times New Roman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600" dirty="0">
                        <a:effectLst/>
                        <a:latin typeface="Palatino Linotype" charset="0"/>
                        <a:ea typeface="宋体" charset="0"/>
                        <a:cs typeface="Times New Roman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D7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D6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D5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D4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D3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D2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D1</a:t>
                      </a:r>
                      <a:endParaRPr lang="en-US" sz="2000" b="1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D0</a:t>
                      </a:r>
                      <a:endParaRPr lang="en-US" sz="2000" b="1" dirty="0"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7305" marR="273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Read data D7-D0 from DDRAM or CG-RAM</a:t>
                      </a:r>
                      <a:endParaRPr lang="en-US" sz="1600" dirty="0">
                        <a:effectLst/>
                        <a:latin typeface="Palatino Linotype" charset="0"/>
                        <a:ea typeface="宋体" charset="0"/>
                        <a:cs typeface="Times New Roman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49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LCD Initialization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648" y="1219201"/>
            <a:ext cx="7997952" cy="5061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8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Customized Font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754989" cy="25775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87765" y="4495800"/>
            <a:ext cx="1369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Smiling Face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1295401"/>
            <a:ext cx="4800600" cy="477053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latin typeface="Consolas" charset="0"/>
                <a:ea typeface="Consolas" charset="0"/>
                <a:cs typeface="Consolas" charset="0"/>
              </a:rPr>
              <a:t>// Select CGRAM and set address to 0x00</a:t>
            </a:r>
          </a:p>
          <a:p>
            <a:r>
              <a:rPr lang="en-US" sz="1600" dirty="0" err="1">
                <a:latin typeface="Consolas" charset="0"/>
                <a:ea typeface="Consolas" charset="0"/>
                <a:cs typeface="Consolas" charset="0"/>
              </a:rPr>
              <a:t>LCD_SendCmd</a:t>
            </a:r>
            <a:r>
              <a:rPr lang="en-US" sz="1600" dirty="0">
                <a:latin typeface="Consolas" charset="0"/>
                <a:ea typeface="Consolas" charset="0"/>
                <a:cs typeface="Consolas" charset="0"/>
              </a:rPr>
              <a:t>(0x40 + 0x00);  </a:t>
            </a:r>
          </a:p>
          <a:p>
            <a:r>
              <a:rPr lang="en-US" sz="1600" dirty="0">
                <a:latin typeface="Consolas" charset="0"/>
                <a:ea typeface="Consolas" charset="0"/>
                <a:cs typeface="Consolas" charset="0"/>
              </a:rPr>
              <a:t>Delay(4);            // Wait &gt; 39us	</a:t>
            </a:r>
          </a:p>
          <a:p>
            <a:endParaRPr lang="en-US" sz="1600" dirty="0">
              <a:latin typeface="Consolas" charset="0"/>
              <a:ea typeface="Consolas" charset="0"/>
              <a:cs typeface="Consolas" charset="0"/>
            </a:endParaRPr>
          </a:p>
          <a:p>
            <a:r>
              <a:rPr lang="en-US" sz="1600" dirty="0">
                <a:latin typeface="Consolas" charset="0"/>
                <a:ea typeface="Consolas" charset="0"/>
                <a:cs typeface="Consolas" charset="0"/>
              </a:rPr>
              <a:t>// Define smile face	</a:t>
            </a:r>
          </a:p>
          <a:p>
            <a:r>
              <a:rPr lang="en-US" sz="1600" dirty="0" err="1">
                <a:latin typeface="Consolas" charset="0"/>
                <a:ea typeface="Consolas" charset="0"/>
                <a:cs typeface="Consolas" charset="0"/>
              </a:rPr>
              <a:t>LCD_SendData</a:t>
            </a:r>
            <a:r>
              <a:rPr lang="en-US" sz="1600" dirty="0">
                <a:latin typeface="Consolas" charset="0"/>
                <a:ea typeface="Consolas" charset="0"/>
                <a:cs typeface="Consolas" charset="0"/>
              </a:rPr>
              <a:t>(0x00);  // 1st row byte</a:t>
            </a:r>
          </a:p>
          <a:p>
            <a:r>
              <a:rPr lang="en-US" sz="1600" dirty="0" err="1">
                <a:latin typeface="Consolas" charset="0"/>
                <a:ea typeface="Consolas" charset="0"/>
                <a:cs typeface="Consolas" charset="0"/>
              </a:rPr>
              <a:t>LCD_SendData</a:t>
            </a:r>
            <a:r>
              <a:rPr lang="en-US" sz="1600" dirty="0">
                <a:latin typeface="Consolas" charset="0"/>
                <a:ea typeface="Consolas" charset="0"/>
                <a:cs typeface="Consolas" charset="0"/>
              </a:rPr>
              <a:t>(0x0A);  // 2nd row byte</a:t>
            </a:r>
          </a:p>
          <a:p>
            <a:r>
              <a:rPr lang="en-US" sz="1600" dirty="0" err="1">
                <a:latin typeface="Consolas" charset="0"/>
                <a:ea typeface="Consolas" charset="0"/>
                <a:cs typeface="Consolas" charset="0"/>
              </a:rPr>
              <a:t>LCD_SendData</a:t>
            </a:r>
            <a:r>
              <a:rPr lang="en-US" sz="1600" dirty="0">
                <a:latin typeface="Consolas" charset="0"/>
                <a:ea typeface="Consolas" charset="0"/>
                <a:cs typeface="Consolas" charset="0"/>
              </a:rPr>
              <a:t>(0x0A);  // 3rd row byte</a:t>
            </a:r>
          </a:p>
          <a:p>
            <a:r>
              <a:rPr lang="en-US" sz="1600" dirty="0" err="1">
                <a:latin typeface="Consolas" charset="0"/>
                <a:ea typeface="Consolas" charset="0"/>
                <a:cs typeface="Consolas" charset="0"/>
              </a:rPr>
              <a:t>LCD_SendData</a:t>
            </a:r>
            <a:r>
              <a:rPr lang="en-US" sz="1600" dirty="0">
                <a:latin typeface="Consolas" charset="0"/>
                <a:ea typeface="Consolas" charset="0"/>
                <a:cs typeface="Consolas" charset="0"/>
              </a:rPr>
              <a:t>(0x0A);  // 4th row byte</a:t>
            </a:r>
          </a:p>
          <a:p>
            <a:r>
              <a:rPr lang="en-US" sz="1600" dirty="0" err="1">
                <a:latin typeface="Consolas" charset="0"/>
                <a:ea typeface="Consolas" charset="0"/>
                <a:cs typeface="Consolas" charset="0"/>
              </a:rPr>
              <a:t>LCD_SendData</a:t>
            </a:r>
            <a:r>
              <a:rPr lang="en-US" sz="1600" dirty="0">
                <a:latin typeface="Consolas" charset="0"/>
                <a:ea typeface="Consolas" charset="0"/>
                <a:cs typeface="Consolas" charset="0"/>
              </a:rPr>
              <a:t>(0x00);  // 5th row byte</a:t>
            </a:r>
          </a:p>
          <a:p>
            <a:r>
              <a:rPr lang="en-US" sz="1600" dirty="0" err="1">
                <a:latin typeface="Consolas" charset="0"/>
                <a:ea typeface="Consolas" charset="0"/>
                <a:cs typeface="Consolas" charset="0"/>
              </a:rPr>
              <a:t>LCD_SendData</a:t>
            </a:r>
            <a:r>
              <a:rPr lang="en-US" sz="1600" dirty="0">
                <a:latin typeface="Consolas" charset="0"/>
                <a:ea typeface="Consolas" charset="0"/>
                <a:cs typeface="Consolas" charset="0"/>
              </a:rPr>
              <a:t>(0x11);  // 6th row byte</a:t>
            </a:r>
          </a:p>
          <a:p>
            <a:r>
              <a:rPr lang="en-US" sz="1600" dirty="0" err="1">
                <a:latin typeface="Consolas" charset="0"/>
                <a:ea typeface="Consolas" charset="0"/>
                <a:cs typeface="Consolas" charset="0"/>
              </a:rPr>
              <a:t>LCD_SendData</a:t>
            </a:r>
            <a:r>
              <a:rPr lang="en-US" sz="1600" dirty="0">
                <a:latin typeface="Consolas" charset="0"/>
                <a:ea typeface="Consolas" charset="0"/>
                <a:cs typeface="Consolas" charset="0"/>
              </a:rPr>
              <a:t>(0x0E);  // 7th row byte</a:t>
            </a:r>
          </a:p>
          <a:p>
            <a:r>
              <a:rPr lang="en-US" sz="1600" dirty="0" err="1">
                <a:latin typeface="Consolas" charset="0"/>
                <a:ea typeface="Consolas" charset="0"/>
                <a:cs typeface="Consolas" charset="0"/>
              </a:rPr>
              <a:t>LCD_SendData</a:t>
            </a:r>
            <a:r>
              <a:rPr lang="en-US" sz="1600" dirty="0">
                <a:latin typeface="Consolas" charset="0"/>
                <a:ea typeface="Consolas" charset="0"/>
                <a:cs typeface="Consolas" charset="0"/>
              </a:rPr>
              <a:t>(0x00);  // 8th row byte</a:t>
            </a:r>
          </a:p>
          <a:p>
            <a:endParaRPr lang="en-US" sz="1600" dirty="0">
              <a:latin typeface="Consolas" charset="0"/>
              <a:ea typeface="Consolas" charset="0"/>
              <a:cs typeface="Consolas" charset="0"/>
            </a:endParaRPr>
          </a:p>
          <a:p>
            <a:r>
              <a:rPr lang="en-US" sz="1600" dirty="0">
                <a:latin typeface="Consolas" charset="0"/>
                <a:ea typeface="Consolas" charset="0"/>
                <a:cs typeface="Consolas" charset="0"/>
              </a:rPr>
              <a:t>// Select display RAM &amp; set address to 0</a:t>
            </a:r>
          </a:p>
          <a:p>
            <a:r>
              <a:rPr lang="en-US" sz="1600" dirty="0" err="1">
                <a:latin typeface="Consolas" charset="0"/>
                <a:ea typeface="Consolas" charset="0"/>
                <a:cs typeface="Consolas" charset="0"/>
              </a:rPr>
              <a:t>LCD_SendCmd</a:t>
            </a:r>
            <a:r>
              <a:rPr lang="en-US" sz="1600" dirty="0">
                <a:latin typeface="Consolas" charset="0"/>
                <a:ea typeface="Consolas" charset="0"/>
                <a:cs typeface="Consolas" charset="0"/>
              </a:rPr>
              <a:t>(0x80);   // First character</a:t>
            </a:r>
          </a:p>
          <a:p>
            <a:r>
              <a:rPr lang="en-US" sz="1600" dirty="0">
                <a:latin typeface="Consolas" charset="0"/>
                <a:ea typeface="Consolas" charset="0"/>
                <a:cs typeface="Consolas" charset="0"/>
              </a:rPr>
              <a:t>Delay(4);            // Wait &gt; 39us			</a:t>
            </a:r>
          </a:p>
          <a:p>
            <a:r>
              <a:rPr lang="en-US" sz="1600" dirty="0" err="1">
                <a:latin typeface="Consolas" charset="0"/>
                <a:ea typeface="Consolas" charset="0"/>
                <a:cs typeface="Consolas" charset="0"/>
              </a:rPr>
              <a:t>LCD_SendData</a:t>
            </a:r>
            <a:r>
              <a:rPr lang="en-US" sz="1600" dirty="0">
                <a:latin typeface="Consolas" charset="0"/>
                <a:ea typeface="Consolas" charset="0"/>
                <a:cs typeface="Consolas" charset="0"/>
              </a:rPr>
              <a:t>(0x00);  // Display the font</a:t>
            </a:r>
          </a:p>
        </p:txBody>
      </p:sp>
    </p:spTree>
    <p:extLst>
      <p:ext uri="{BB962C8B-B14F-4D97-AF65-F5344CB8AC3E}">
        <p14:creationId xmlns:p14="http://schemas.microsoft.com/office/powerpoint/2010/main" val="27230400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2375</TotalTime>
  <Words>829</Words>
  <Application>Microsoft Office PowerPoint</Application>
  <PresentationFormat>Widescreen</PresentationFormat>
  <Paragraphs>234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Bookman Old Style (Headings)</vt:lpstr>
      <vt:lpstr>Bookman Old Style</vt:lpstr>
      <vt:lpstr>Calibri</vt:lpstr>
      <vt:lpstr>Consolas</vt:lpstr>
      <vt:lpstr>Gill Sans MT</vt:lpstr>
      <vt:lpstr>Palatino Linotype</vt:lpstr>
      <vt:lpstr>Wingdings</vt:lpstr>
      <vt:lpstr>Wingdings 3</vt:lpstr>
      <vt:lpstr>Origin</vt:lpstr>
      <vt:lpstr>Dr. Yifeng Zhu Electrical and Computer Engineering University of Maine</vt:lpstr>
      <vt:lpstr>HD44780 Connection Diagram (8-bit data bus)</vt:lpstr>
      <vt:lpstr>HD44780 Connection Diagram (8-bit data bus)</vt:lpstr>
      <vt:lpstr>HD44780 Controller: Internal Diagram</vt:lpstr>
      <vt:lpstr>Clock Signal</vt:lpstr>
      <vt:lpstr>Generating Clock Signal</vt:lpstr>
      <vt:lpstr>Example Signals</vt:lpstr>
      <vt:lpstr>Sending Command and Data</vt:lpstr>
      <vt:lpstr>Command Format</vt:lpstr>
      <vt:lpstr>LCD Initialization</vt:lpstr>
      <vt:lpstr>Customized Font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Yifeng Zhu</cp:lastModifiedBy>
  <cp:revision>235</cp:revision>
  <dcterms:created xsi:type="dcterms:W3CDTF">2013-02-03T05:36:57Z</dcterms:created>
  <dcterms:modified xsi:type="dcterms:W3CDTF">2025-09-25T00:30:38Z</dcterms:modified>
</cp:coreProperties>
</file>