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91" r:id="rId3"/>
    <p:sldId id="297" r:id="rId4"/>
    <p:sldId id="298" r:id="rId5"/>
    <p:sldId id="293" r:id="rId6"/>
    <p:sldId id="296" r:id="rId7"/>
    <p:sldId id="290" r:id="rId8"/>
    <p:sldId id="295" r:id="rId9"/>
    <p:sldId id="258" r:id="rId10"/>
    <p:sldId id="289" r:id="rId11"/>
    <p:sldId id="259" r:id="rId12"/>
    <p:sldId id="260" r:id="rId13"/>
    <p:sldId id="261" r:id="rId14"/>
    <p:sldId id="262" r:id="rId15"/>
    <p:sldId id="299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94"/>
  </p:normalViewPr>
  <p:slideViewPr>
    <p:cSldViewPr>
      <p:cViewPr varScale="1">
        <p:scale>
          <a:sx n="150" d="100"/>
          <a:sy n="150" d="100"/>
        </p:scale>
        <p:origin x="283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EF719-015B-3149-B0DB-04DEB652C8E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088D-F0DD-CE46-B4BA-776179528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365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B6CA9-4ACC-4B9F-9FE0-F451E90D37F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2AF1D-1787-4F45-8D94-E743595044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72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057A6A-B77C-4897-B1C8-6A79DF1ACFEA}" type="slidenum">
              <a:rPr lang="en-US"/>
              <a:pPr/>
              <a:t>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F85A4BD1-C214-914B-ACAB-15CC00F00739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057C9E-E7C3-EE45-9F4E-F943ABC660F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1FD3CCF0-0E50-ED4E-895E-E8E91B07F444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460B456-48DA-0E4B-A7CE-7EAC8A961D4B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7D4BE25-EA1C-E844-A7AF-FB3B72089F6C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3AD30CC-A691-8F46-9733-17067A201D17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DB8808-C7CE-7649-8A75-54570C85AAC9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B1CA8DD-B321-DF43-9569-813D48D9FB26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4CCB8E-2508-BA4C-BD9F-FBC696344050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256E47D-7E0C-F94C-9A57-378282A29535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D1F3413-51B0-8346-854A-D8FC5A75D85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37E1065-3FAD-C44F-A231-7AC12CF83CF4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70494" y="624546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57985"/>
            <a:ext cx="4546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Stack and Recursive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C0000"/>
                </a:solidFill>
              </a:rPr>
              <a:t>recursive function</a:t>
            </a:r>
            <a:r>
              <a:rPr lang="en-US" sz="2800" dirty="0"/>
              <a:t> is one that solves its task by </a:t>
            </a:r>
            <a:r>
              <a:rPr lang="en-US" sz="2800" dirty="0">
                <a:solidFill>
                  <a:srgbClr val="CC0000"/>
                </a:solidFill>
              </a:rPr>
              <a:t>calling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C0000"/>
                </a:solidFill>
              </a:rPr>
              <a:t>itself</a:t>
            </a:r>
            <a:r>
              <a:rPr lang="en-US" sz="2800" dirty="0"/>
              <a:t> on smaller pieces of data.</a:t>
            </a:r>
          </a:p>
          <a:p>
            <a:r>
              <a:rPr lang="en-US" dirty="0"/>
              <a:t>An effective tactic is to </a:t>
            </a:r>
          </a:p>
          <a:p>
            <a:pPr lvl="1"/>
            <a:r>
              <a:rPr lang="en-US" dirty="0"/>
              <a:t>divide a problem into sub-problems of the same type as the original,</a:t>
            </a:r>
          </a:p>
          <a:p>
            <a:pPr lvl="1"/>
            <a:r>
              <a:rPr lang="en-US" dirty="0"/>
              <a:t>solve those sub-problems, and </a:t>
            </a:r>
          </a:p>
          <a:p>
            <a:pPr lvl="1"/>
            <a:r>
              <a:rPr lang="en-US" dirty="0"/>
              <a:t>combine the results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Factorial(n)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209800"/>
            <a:ext cx="4267200" cy="533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nsolas"/>
                <a:cs typeface="Consolas"/>
              </a:rPr>
              <a:t>1 × 2 × 3 × … × 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9718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29718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34290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factorial(1)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5400" y="34290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34290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 × factorial(0)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3886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5400" y="38862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2×1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400" y="38862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 × factorial(1)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6600" y="43434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5400" y="43434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3×2×1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10400" y="43434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 × factorial(2)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48006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5400" y="48006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4×3×2×1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0400" y="48006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 × factorial(3)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52578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5257800"/>
            <a:ext cx="1981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n×(n-1)×…×1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0400" y="5257800"/>
            <a:ext cx="3048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 × factorial(n-1)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4067" y="1524000"/>
            <a:ext cx="3340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cs typeface="Consolas"/>
              </a:rPr>
              <a:t>Product of the first n numbers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5578-6362-40ED-A1CA-67F0418FAFB2}" type="slidenum">
              <a:rPr lang="en-US"/>
              <a:pPr/>
              <a:t>4</a:t>
            </a:fld>
            <a:endParaRPr lang="en-US"/>
          </a:p>
        </p:txBody>
      </p:sp>
      <p:sp>
        <p:nvSpPr>
          <p:cNvPr id="32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Factorial</a:t>
            </a:r>
            <a:endParaRPr lang="en-US" sz="2400" dirty="0"/>
          </a:p>
        </p:txBody>
      </p:sp>
      <p:sp>
        <p:nvSpPr>
          <p:cNvPr id="32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44614"/>
            <a:ext cx="10668000" cy="26939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Factorial is the classic example: </a:t>
            </a: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5!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4!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...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3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2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factorial function can be easily written as a recursive function:</a:t>
            </a:r>
          </a:p>
        </p:txBody>
      </p:sp>
      <p:sp>
        <p:nvSpPr>
          <p:cNvPr id="3212292" name="Text Box 4"/>
          <p:cNvSpPr txBox="1">
            <a:spLocks noChangeArrowheads="1"/>
          </p:cNvSpPr>
          <p:nvPr/>
        </p:nvSpPr>
        <p:spPr bwMode="auto">
          <a:xfrm>
            <a:off x="3505201" y="4038601"/>
            <a:ext cx="5362575" cy="2111347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if (n &lt; 2) </a:t>
            </a:r>
          </a:p>
          <a:p>
            <a:pPr eaLnBrk="0" hangingPunct="0">
              <a:buClr>
                <a:schemeClr val="accent2"/>
              </a:buClr>
              <a:buSzPct val="75000"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	return 1;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base case */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return (n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(n – 1));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2291" grpId="0" build="p" autoUpdateAnimBg="0"/>
      <p:bldP spid="321229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E899D-7AAA-43FE-AEC5-A9739E93E213}" type="slidenum">
              <a:rPr lang="en-US"/>
              <a:pPr/>
              <a:t>5</a:t>
            </a:fld>
            <a:endParaRPr lang="en-US"/>
          </a:p>
        </p:txBody>
      </p:sp>
      <p:sp>
        <p:nvSpPr>
          <p:cNvPr id="33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Fibonacci Numbers</a:t>
            </a:r>
          </a:p>
        </p:txBody>
      </p:sp>
      <p:sp>
        <p:nvSpPr>
          <p:cNvPr id="3307523" name="Text Box 3"/>
          <p:cNvSpPr txBox="1">
            <a:spLocks noChangeArrowheads="1"/>
          </p:cNvSpPr>
          <p:nvPr/>
        </p:nvSpPr>
        <p:spPr bwMode="auto">
          <a:xfrm>
            <a:off x="1994092" y="1295401"/>
            <a:ext cx="39228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f(n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= f(n-1) + f(n-2)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f(0) = 1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f(1) = 1</a:t>
            </a:r>
          </a:p>
        </p:txBody>
      </p:sp>
      <p:sp>
        <p:nvSpPr>
          <p:cNvPr id="3307524" name="Text Box 4"/>
          <p:cNvSpPr txBox="1">
            <a:spLocks noChangeArrowheads="1"/>
          </p:cNvSpPr>
          <p:nvPr/>
        </p:nvSpPr>
        <p:spPr bwMode="auto">
          <a:xfrm>
            <a:off x="1990150" y="2718880"/>
            <a:ext cx="82894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1, 1, 2, 3, 5, 8, 13, 21, 34, 55, 89, 144, 233, 377, 610, 987, …</a:t>
            </a:r>
          </a:p>
        </p:txBody>
      </p:sp>
      <p:sp>
        <p:nvSpPr>
          <p:cNvPr id="3307531" name="Text Box 11"/>
          <p:cNvSpPr txBox="1">
            <a:spLocks noChangeArrowheads="1"/>
          </p:cNvSpPr>
          <p:nvPr/>
        </p:nvSpPr>
        <p:spPr bwMode="auto">
          <a:xfrm>
            <a:off x="2860676" y="3581400"/>
            <a:ext cx="6112571" cy="2308324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/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b="1" dirty="0">
                <a:latin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n) {</a:t>
            </a: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eaLnBrk="0" hangingPunct="0"/>
            <a:r>
              <a:rPr lang="en-US" b="1" dirty="0">
                <a:latin typeface="Courier New" pitchFamily="49" charset="0"/>
              </a:rPr>
              <a:t>  if (n &lt;= 1) </a:t>
            </a:r>
          </a:p>
          <a:p>
            <a:pPr eaLnBrk="0" hangingPunct="0"/>
            <a:r>
              <a:rPr lang="en-US" b="1" dirty="0">
                <a:latin typeface="Courier New" pitchFamily="49" charset="0"/>
              </a:rPr>
              <a:t>    return 1;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/* base case */</a:t>
            </a: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eaLnBrk="0" hangingPunct="0"/>
            <a:r>
              <a:rPr lang="en-US" b="1" dirty="0">
                <a:latin typeface="Courier New" pitchFamily="49" charset="0"/>
              </a:rPr>
              <a:t>  return 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b="1" dirty="0">
                <a:latin typeface="Courier New" pitchFamily="49" charset="0"/>
              </a:rPr>
              <a:t>(n-1) +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b="1" dirty="0">
                <a:latin typeface="Courier New" pitchFamily="49" charset="0"/>
              </a:rPr>
              <a:t>(n-2));</a:t>
            </a: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eaLnBrk="0" hangingPunct="0"/>
            <a:r>
              <a:rPr lang="en-US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23" grpId="0"/>
      <p:bldP spid="3307524" grpId="0"/>
      <p:bldP spid="33075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Analysis of fib(5)</a:t>
            </a:r>
          </a:p>
        </p:txBody>
      </p:sp>
      <p:sp>
        <p:nvSpPr>
          <p:cNvPr id="17411" name="Rectangle 81"/>
          <p:cNvSpPr>
            <a:spLocks noGrp="1" noChangeArrowheads="1"/>
          </p:cNvSpPr>
          <p:nvPr>
            <p:ph idx="1"/>
          </p:nvPr>
        </p:nvSpPr>
        <p:spPr>
          <a:xfrm>
            <a:off x="648493" y="1412876"/>
            <a:ext cx="3727450" cy="1139824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fib(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n)	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</a:rPr>
              <a:t>(n == 0 || n == 1)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n;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solidFill>
                  <a:srgbClr val="A50021"/>
                </a:solidFill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fib(n-1) + fib(n-2);</a:t>
            </a:r>
          </a:p>
        </p:txBody>
      </p:sp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EB8D96-4B06-48D3-B8C3-4DE55D93EFF0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6527800" y="2133600"/>
            <a:ext cx="865188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fib(5)</a:t>
            </a:r>
          </a:p>
        </p:txBody>
      </p:sp>
      <p:sp>
        <p:nvSpPr>
          <p:cNvPr id="216068" name="Line 4"/>
          <p:cNvSpPr>
            <a:spLocks noChangeShapeType="1"/>
          </p:cNvSpPr>
          <p:nvPr/>
        </p:nvSpPr>
        <p:spPr bwMode="auto">
          <a:xfrm>
            <a:off x="6816725" y="1701800"/>
            <a:ext cx="0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4440238" y="299720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fib(4)</a:t>
            </a:r>
          </a:p>
        </p:txBody>
      </p:sp>
      <p:sp>
        <p:nvSpPr>
          <p:cNvPr id="216070" name="Text Box 6"/>
          <p:cNvSpPr txBox="1">
            <a:spLocks noChangeArrowheads="1"/>
          </p:cNvSpPr>
          <p:nvPr/>
        </p:nvSpPr>
        <p:spPr bwMode="auto">
          <a:xfrm>
            <a:off x="8688388" y="2925763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321627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566420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3" name="Text Box 9"/>
          <p:cNvSpPr txBox="1">
            <a:spLocks noChangeArrowheads="1"/>
          </p:cNvSpPr>
          <p:nvPr/>
        </p:nvSpPr>
        <p:spPr bwMode="auto">
          <a:xfrm>
            <a:off x="5089525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624046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5" name="Line 11"/>
          <p:cNvSpPr>
            <a:spLocks noChangeShapeType="1"/>
          </p:cNvSpPr>
          <p:nvPr/>
        </p:nvSpPr>
        <p:spPr bwMode="auto">
          <a:xfrm flipH="1">
            <a:off x="5448301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76" name="Text Box 12"/>
          <p:cNvSpPr txBox="1">
            <a:spLocks noChangeArrowheads="1"/>
          </p:cNvSpPr>
          <p:nvPr/>
        </p:nvSpPr>
        <p:spPr bwMode="auto">
          <a:xfrm>
            <a:off x="264001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7" name="Text Box 13"/>
          <p:cNvSpPr txBox="1">
            <a:spLocks noChangeArrowheads="1"/>
          </p:cNvSpPr>
          <p:nvPr/>
        </p:nvSpPr>
        <p:spPr bwMode="auto">
          <a:xfrm>
            <a:off x="2065338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3216275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9" name="Line 15"/>
          <p:cNvSpPr>
            <a:spLocks noChangeShapeType="1"/>
          </p:cNvSpPr>
          <p:nvPr/>
        </p:nvSpPr>
        <p:spPr bwMode="auto">
          <a:xfrm flipH="1">
            <a:off x="2424113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0" name="Text Box 16"/>
          <p:cNvSpPr txBox="1">
            <a:spLocks noChangeArrowheads="1"/>
          </p:cNvSpPr>
          <p:nvPr/>
        </p:nvSpPr>
        <p:spPr bwMode="auto">
          <a:xfrm>
            <a:off x="379253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1" name="Line 17"/>
          <p:cNvSpPr>
            <a:spLocks noChangeShapeType="1"/>
          </p:cNvSpPr>
          <p:nvPr/>
        </p:nvSpPr>
        <p:spPr bwMode="auto">
          <a:xfrm flipH="1">
            <a:off x="3000376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2" name="Line 18"/>
          <p:cNvSpPr>
            <a:spLocks noChangeShapeType="1"/>
          </p:cNvSpPr>
          <p:nvPr/>
        </p:nvSpPr>
        <p:spPr bwMode="auto">
          <a:xfrm>
            <a:off x="5160963" y="3429001"/>
            <a:ext cx="1079500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3" name="Text Box 19"/>
          <p:cNvSpPr txBox="1">
            <a:spLocks noChangeArrowheads="1"/>
          </p:cNvSpPr>
          <p:nvPr/>
        </p:nvSpPr>
        <p:spPr bwMode="auto">
          <a:xfrm>
            <a:off x="811212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84" name="Text Box 20"/>
          <p:cNvSpPr txBox="1">
            <a:spLocks noChangeArrowheads="1"/>
          </p:cNvSpPr>
          <p:nvPr/>
        </p:nvSpPr>
        <p:spPr bwMode="auto">
          <a:xfrm>
            <a:off x="7537450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5" name="Text Box 21"/>
          <p:cNvSpPr txBox="1">
            <a:spLocks noChangeArrowheads="1"/>
          </p:cNvSpPr>
          <p:nvPr/>
        </p:nvSpPr>
        <p:spPr bwMode="auto">
          <a:xfrm>
            <a:off x="868838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86" name="Line 22"/>
          <p:cNvSpPr>
            <a:spLocks noChangeShapeType="1"/>
          </p:cNvSpPr>
          <p:nvPr/>
        </p:nvSpPr>
        <p:spPr bwMode="auto">
          <a:xfrm flipH="1">
            <a:off x="7896226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7" name="Text Box 23"/>
          <p:cNvSpPr txBox="1">
            <a:spLocks noChangeArrowheads="1"/>
          </p:cNvSpPr>
          <p:nvPr/>
        </p:nvSpPr>
        <p:spPr bwMode="auto">
          <a:xfrm>
            <a:off x="926465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8" name="Line 24"/>
          <p:cNvSpPr>
            <a:spLocks noChangeShapeType="1"/>
          </p:cNvSpPr>
          <p:nvPr/>
        </p:nvSpPr>
        <p:spPr bwMode="auto">
          <a:xfrm flipH="1">
            <a:off x="8472488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568576" y="5373688"/>
            <a:ext cx="360363" cy="576262"/>
            <a:chOff x="658" y="3385"/>
            <a:chExt cx="227" cy="363"/>
          </a:xfrm>
        </p:grpSpPr>
        <p:sp>
          <p:nvSpPr>
            <p:cNvPr id="216090" name="Line 26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8" name="Text Box 27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143251" y="4365626"/>
            <a:ext cx="360363" cy="576263"/>
            <a:chOff x="658" y="3385"/>
            <a:chExt cx="227" cy="363"/>
          </a:xfrm>
        </p:grpSpPr>
        <p:sp>
          <p:nvSpPr>
            <p:cNvPr id="216093" name="Line 29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6" name="Text Box 30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5591176" y="4365626"/>
            <a:ext cx="360363" cy="576263"/>
            <a:chOff x="658" y="3385"/>
            <a:chExt cx="227" cy="363"/>
          </a:xfrm>
        </p:grpSpPr>
        <p:sp>
          <p:nvSpPr>
            <p:cNvPr id="216096" name="Line 32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4" name="Text Box 33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8040688" y="4365626"/>
            <a:ext cx="360362" cy="576263"/>
            <a:chOff x="658" y="3385"/>
            <a:chExt cx="227" cy="363"/>
          </a:xfrm>
        </p:grpSpPr>
        <p:sp>
          <p:nvSpPr>
            <p:cNvPr id="216099" name="Line 35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2" name="Text Box 36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9264651" y="3357563"/>
            <a:ext cx="360363" cy="576262"/>
            <a:chOff x="658" y="3385"/>
            <a:chExt cx="227" cy="363"/>
          </a:xfrm>
        </p:grpSpPr>
        <p:sp>
          <p:nvSpPr>
            <p:cNvPr id="216102" name="Line 38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0" name="Text Box 39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6240463" y="4365626"/>
            <a:ext cx="360362" cy="576263"/>
            <a:chOff x="658" y="3385"/>
            <a:chExt cx="227" cy="363"/>
          </a:xfrm>
        </p:grpSpPr>
        <p:sp>
          <p:nvSpPr>
            <p:cNvPr id="216105" name="Line 41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8" name="Text Box 42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8688388" y="4365626"/>
            <a:ext cx="360362" cy="576263"/>
            <a:chOff x="658" y="3385"/>
            <a:chExt cx="227" cy="363"/>
          </a:xfrm>
        </p:grpSpPr>
        <p:sp>
          <p:nvSpPr>
            <p:cNvPr id="216108" name="Line 44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6" name="Text Box 45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3216276" y="5373688"/>
            <a:ext cx="360363" cy="576262"/>
            <a:chOff x="658" y="3385"/>
            <a:chExt cx="227" cy="363"/>
          </a:xfrm>
        </p:grpSpPr>
        <p:sp>
          <p:nvSpPr>
            <p:cNvPr id="216111" name="Line 47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4" name="Text Box 48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3792538" y="4365626"/>
            <a:ext cx="360362" cy="576263"/>
            <a:chOff x="658" y="3385"/>
            <a:chExt cx="227" cy="363"/>
          </a:xfrm>
        </p:grpSpPr>
        <p:sp>
          <p:nvSpPr>
            <p:cNvPr id="216114" name="Line 50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2" name="Text Box 51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1" name="Group 52"/>
          <p:cNvGrpSpPr>
            <a:grpSpLocks/>
          </p:cNvGrpSpPr>
          <p:nvPr/>
        </p:nvGrpSpPr>
        <p:grpSpPr bwMode="auto">
          <a:xfrm>
            <a:off x="8616951" y="3357563"/>
            <a:ext cx="360363" cy="576262"/>
            <a:chOff x="658" y="3385"/>
            <a:chExt cx="227" cy="363"/>
          </a:xfrm>
        </p:grpSpPr>
        <p:sp>
          <p:nvSpPr>
            <p:cNvPr id="216117" name="Line 53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0" name="Text Box 54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19" name="Line 55"/>
          <p:cNvSpPr>
            <a:spLocks noChangeShapeType="1"/>
          </p:cNvSpPr>
          <p:nvPr/>
        </p:nvSpPr>
        <p:spPr bwMode="auto">
          <a:xfrm>
            <a:off x="3360738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0" name="Line 56"/>
          <p:cNvSpPr>
            <a:spLocks noChangeShapeType="1"/>
          </p:cNvSpPr>
          <p:nvPr/>
        </p:nvSpPr>
        <p:spPr bwMode="auto">
          <a:xfrm>
            <a:off x="3937001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1" name="Line 57"/>
          <p:cNvSpPr>
            <a:spLocks noChangeShapeType="1"/>
          </p:cNvSpPr>
          <p:nvPr/>
        </p:nvSpPr>
        <p:spPr bwMode="auto">
          <a:xfrm>
            <a:off x="8832851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2" name="Line 58"/>
          <p:cNvSpPr>
            <a:spLocks noChangeShapeType="1"/>
          </p:cNvSpPr>
          <p:nvPr/>
        </p:nvSpPr>
        <p:spPr bwMode="auto">
          <a:xfrm>
            <a:off x="9409113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3886200" y="3429001"/>
            <a:ext cx="985838" cy="504825"/>
            <a:chOff x="1611" y="2160"/>
            <a:chExt cx="408" cy="318"/>
          </a:xfrm>
        </p:grpSpPr>
        <p:sp>
          <p:nvSpPr>
            <p:cNvPr id="216124" name="Line 60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8" name="Text Box 61"/>
            <p:cNvSpPr txBox="1">
              <a:spLocks noChangeArrowheads="1"/>
            </p:cNvSpPr>
            <p:nvPr/>
          </p:nvSpPr>
          <p:spPr bwMode="auto">
            <a:xfrm>
              <a:off x="1790" y="2245"/>
              <a:ext cx="68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26" name="Line 62"/>
          <p:cNvSpPr>
            <a:spLocks noChangeShapeType="1"/>
          </p:cNvSpPr>
          <p:nvPr/>
        </p:nvSpPr>
        <p:spPr bwMode="auto">
          <a:xfrm flipH="1">
            <a:off x="3576638" y="3429001"/>
            <a:ext cx="1008062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3" name="Group 63"/>
          <p:cNvGrpSpPr>
            <a:grpSpLocks/>
          </p:cNvGrpSpPr>
          <p:nvPr/>
        </p:nvGrpSpPr>
        <p:grpSpPr bwMode="auto">
          <a:xfrm flipH="1">
            <a:off x="4953000" y="3429001"/>
            <a:ext cx="1000125" cy="504825"/>
            <a:chOff x="1611" y="2160"/>
            <a:chExt cx="408" cy="318"/>
          </a:xfrm>
        </p:grpSpPr>
        <p:sp>
          <p:nvSpPr>
            <p:cNvPr id="216128" name="Line 64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6" name="Text Box 65"/>
            <p:cNvSpPr txBox="1">
              <a:spLocks noChangeArrowheads="1"/>
            </p:cNvSpPr>
            <p:nvPr/>
          </p:nvSpPr>
          <p:spPr bwMode="auto">
            <a:xfrm>
              <a:off x="1823" y="2251"/>
              <a:ext cx="67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30" name="Line 66"/>
          <p:cNvSpPr>
            <a:spLocks noChangeShapeType="1"/>
          </p:cNvSpPr>
          <p:nvPr/>
        </p:nvSpPr>
        <p:spPr bwMode="auto">
          <a:xfrm>
            <a:off x="6384926" y="4365626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Group 67"/>
          <p:cNvGrpSpPr>
            <a:grpSpLocks/>
          </p:cNvGrpSpPr>
          <p:nvPr/>
        </p:nvGrpSpPr>
        <p:grpSpPr bwMode="auto">
          <a:xfrm>
            <a:off x="5375275" y="2565400"/>
            <a:ext cx="1441450" cy="503238"/>
            <a:chOff x="2426" y="1616"/>
            <a:chExt cx="908" cy="317"/>
          </a:xfrm>
        </p:grpSpPr>
        <p:sp>
          <p:nvSpPr>
            <p:cNvPr id="216132" name="Line 68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4" name="Text Box 69"/>
            <p:cNvSpPr txBox="1">
              <a:spLocks noChangeArrowheads="1"/>
            </p:cNvSpPr>
            <p:nvPr/>
          </p:nvSpPr>
          <p:spPr bwMode="auto">
            <a:xfrm>
              <a:off x="2835" y="1706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216134" name="Line 70"/>
          <p:cNvSpPr>
            <a:spLocks noChangeShapeType="1"/>
          </p:cNvSpPr>
          <p:nvPr/>
        </p:nvSpPr>
        <p:spPr bwMode="auto">
          <a:xfrm flipH="1">
            <a:off x="5303838" y="2565400"/>
            <a:ext cx="1223962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5" name="Group 71"/>
          <p:cNvGrpSpPr>
            <a:grpSpLocks/>
          </p:cNvGrpSpPr>
          <p:nvPr/>
        </p:nvGrpSpPr>
        <p:grpSpPr bwMode="auto">
          <a:xfrm flipH="1">
            <a:off x="7104064" y="2565400"/>
            <a:ext cx="1512887" cy="431800"/>
            <a:chOff x="2426" y="1616"/>
            <a:chExt cx="908" cy="317"/>
          </a:xfrm>
        </p:grpSpPr>
        <p:sp>
          <p:nvSpPr>
            <p:cNvPr id="216136" name="Line 72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2" name="Text Box 73"/>
            <p:cNvSpPr txBox="1">
              <a:spLocks noChangeArrowheads="1"/>
            </p:cNvSpPr>
            <p:nvPr/>
          </p:nvSpPr>
          <p:spPr bwMode="auto">
            <a:xfrm>
              <a:off x="2834" y="1706"/>
              <a:ext cx="91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38" name="Line 74"/>
          <p:cNvSpPr>
            <a:spLocks noChangeShapeType="1"/>
          </p:cNvSpPr>
          <p:nvPr/>
        </p:nvSpPr>
        <p:spPr bwMode="auto">
          <a:xfrm>
            <a:off x="7391400" y="2565401"/>
            <a:ext cx="1296988" cy="35877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6" name="Group 75"/>
          <p:cNvGrpSpPr>
            <a:grpSpLocks/>
          </p:cNvGrpSpPr>
          <p:nvPr/>
        </p:nvGrpSpPr>
        <p:grpSpPr bwMode="auto">
          <a:xfrm>
            <a:off x="7032626" y="1412876"/>
            <a:ext cx="142875" cy="720725"/>
            <a:chOff x="3470" y="890"/>
            <a:chExt cx="90" cy="454"/>
          </a:xfrm>
        </p:grpSpPr>
        <p:sp>
          <p:nvSpPr>
            <p:cNvPr id="216140" name="Line 76"/>
            <p:cNvSpPr>
              <a:spLocks noChangeShapeType="1"/>
            </p:cNvSpPr>
            <p:nvPr/>
          </p:nvSpPr>
          <p:spPr bwMode="auto">
            <a:xfrm flipH="1" flipV="1">
              <a:off x="3515" y="890"/>
              <a:ext cx="1" cy="454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0" name="Text Box 77"/>
            <p:cNvSpPr txBox="1">
              <a:spLocks noChangeArrowheads="1"/>
            </p:cNvSpPr>
            <p:nvPr/>
          </p:nvSpPr>
          <p:spPr bwMode="auto">
            <a:xfrm>
              <a:off x="3470" y="1026"/>
              <a:ext cx="90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en-US" sz="20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1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1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0"/>
                                        <p:tgtEl>
                                          <p:spTgt spid="21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0"/>
                                        <p:tgtEl>
                                          <p:spTgt spid="21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animBg="1"/>
      <p:bldP spid="216070" grpId="0" animBg="1"/>
      <p:bldP spid="216071" grpId="0" animBg="1"/>
      <p:bldP spid="216072" grpId="0" animBg="1"/>
      <p:bldP spid="216073" grpId="0" animBg="1"/>
      <p:bldP spid="216074" grpId="0" animBg="1"/>
      <p:bldP spid="216076" grpId="0" animBg="1"/>
      <p:bldP spid="216077" grpId="0" animBg="1"/>
      <p:bldP spid="216078" grpId="0" animBg="1"/>
      <p:bldP spid="216080" grpId="0" animBg="1"/>
      <p:bldP spid="216083" grpId="0" animBg="1"/>
      <p:bldP spid="216084" grpId="0" animBg="1"/>
      <p:bldP spid="216085" grpId="0" animBg="1"/>
      <p:bldP spid="2160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Recursive Function:</a:t>
            </a:r>
            <a:br>
              <a:rPr lang="en-US" dirty="0"/>
            </a:br>
            <a:r>
              <a:rPr lang="en-US" dirty="0"/>
              <a:t>Testing Palindrome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828800" y="2057400"/>
            <a:ext cx="85344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(char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if(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2)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s[0] == s[len-1] &amp;&amp;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(&amp;s[1], len-2);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6525"/>
            <a:ext cx="8153400" cy="990600"/>
          </a:xfrm>
        </p:spPr>
        <p:txBody>
          <a:bodyPr/>
          <a:lstStyle/>
          <a:p>
            <a:r>
              <a:rPr lang="en-US" dirty="0"/>
              <a:t>Recursion </a:t>
            </a:r>
            <a:r>
              <a:rPr lang="en-US" dirty="0" err="1"/>
              <a:t>vs</a:t>
            </a:r>
            <a:r>
              <a:rPr lang="en-US" dirty="0"/>
              <a:t> Iteration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30620" y="1447800"/>
            <a:ext cx="10951779" cy="44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Any problem that can be solved </a:t>
            </a:r>
            <a:r>
              <a:rPr lang="en-US" dirty="0">
                <a:solidFill>
                  <a:srgbClr val="800000"/>
                </a:solidFill>
              </a:rPr>
              <a:t>recursively </a:t>
            </a:r>
            <a:r>
              <a:rPr lang="en-US" dirty="0"/>
              <a:t>can also be solved </a:t>
            </a:r>
            <a:r>
              <a:rPr lang="en-US" dirty="0">
                <a:solidFill>
                  <a:srgbClr val="800000"/>
                </a:solidFill>
              </a:rPr>
              <a:t>iteratively </a:t>
            </a:r>
            <a:r>
              <a:rPr lang="en-US" dirty="0"/>
              <a:t>(using loop).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i="1" dirty="0">
                <a:solidFill>
                  <a:srgbClr val="800000"/>
                </a:solidFill>
              </a:rPr>
              <a:t>Recursive functions </a:t>
            </a:r>
            <a:r>
              <a:rPr lang="en-US" i="1" dirty="0" err="1">
                <a:solidFill>
                  <a:srgbClr val="800000"/>
                </a:solidFill>
              </a:rPr>
              <a:t>vs</a:t>
            </a:r>
            <a:r>
              <a:rPr lang="en-US" i="1" dirty="0">
                <a:solidFill>
                  <a:srgbClr val="800000"/>
                </a:solidFill>
              </a:rPr>
              <a:t> Iterative functions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Recursive functions are slow </a:t>
            </a:r>
          </a:p>
          <a:p>
            <a:pPr lvl="1"/>
            <a:r>
              <a:rPr lang="en-US" dirty="0"/>
              <a:t>Recursive function take more memory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sz="2400" dirty="0"/>
              <a:t>Recursive functions resembles the problem more naturally </a:t>
            </a:r>
          </a:p>
          <a:p>
            <a:pPr lvl="1"/>
            <a:r>
              <a:rPr lang="en-US" sz="2400" dirty="0"/>
              <a:t>Recursive function are easier to program, and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1460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222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65480" y="2995872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68652" y="3797341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4577485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6591300" y="1841710"/>
            <a:ext cx="457200" cy="3810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7048500" y="2603710"/>
            <a:ext cx="393280" cy="3921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>
            <a:off x="7441780" y="3376873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7944952" y="4178341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8757188" y="4958485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8321453" y="4157470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7772400" y="3376873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7376286" y="2579403"/>
            <a:ext cx="386038" cy="40631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6928848" y="1834800"/>
            <a:ext cx="462553" cy="3820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0" y="515041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5701" y="4193247"/>
            <a:ext cx="9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5344" y="3402062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93366" y="2615125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5339" y="1847544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2600" y="1460710"/>
            <a:ext cx="3581400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factorial(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factorial(5);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 {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if(n==1)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 = n *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(n-1);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324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LR </a:t>
            </a:r>
            <a:r>
              <a:rPr lang="en-GB" dirty="0"/>
              <a:t>(&amp; working registers) onto stack before nested call</a:t>
            </a: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LR </a:t>
            </a:r>
            <a:r>
              <a:rPr lang="en-GB" dirty="0"/>
              <a:t>(&amp; working registers) off stack after nested return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076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20264" y="2856404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95412" y="3636548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factorial(1)</a:t>
            </a:r>
          </a:p>
        </p:txBody>
      </p:sp>
      <p:cxnSp>
        <p:nvCxnSpPr>
          <p:cNvPr id="14" name="Straight Arrow Connector 13"/>
          <p:cNvCxnSpPr>
            <a:endCxn id="8" idx="0"/>
          </p:cNvCxnSpPr>
          <p:nvPr/>
        </p:nvCxnSpPr>
        <p:spPr>
          <a:xfrm>
            <a:off x="7493392" y="2435936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7996564" y="3237404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8808800" y="4017548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8373065" y="3216533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7824012" y="2435936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95612" y="42094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7312" y="3252310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0484" y="2297647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11</a:t>
            </a:fld>
            <a:endParaRPr kumimoji="0"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35" name="TextBox 34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08F81396-0FB7-8F4B-8E05-8903C44A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4086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17" name="Elbow Connector 16"/>
          <p:cNvCxnSpPr>
            <a:stCxn id="30" idx="1"/>
          </p:cNvCxnSpPr>
          <p:nvPr/>
        </p:nvCxnSpPr>
        <p:spPr>
          <a:xfrm rot="10800000" flipV="1">
            <a:off x="4343400" y="1515481"/>
            <a:ext cx="2057400" cy="1303919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1526" y="151548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7325" y="586740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50" name="TextBox 49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7981741" y="2125081"/>
            <a:ext cx="340436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83" name="TextBox 82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100" name="Title 1">
            <a:extLst>
              <a:ext uri="{FF2B5EF4-FFF2-40B4-BE49-F238E27FC236}">
                <a16:creationId xmlns:a16="http://schemas.microsoft.com/office/drawing/2014/main" id="{C2EB808E-67E8-E14D-8524-7C4B8BC5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413813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390128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200" y="1515481"/>
            <a:ext cx="990600" cy="237382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3401" y="3889302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40" name="Elbow Connector 39"/>
          <p:cNvCxnSpPr>
            <a:stCxn id="32" idx="1"/>
          </p:cNvCxnSpPr>
          <p:nvPr/>
        </p:nvCxnSpPr>
        <p:spPr>
          <a:xfrm rot="10800000" flipV="1">
            <a:off x="3886202" y="1820281"/>
            <a:ext cx="2514601" cy="1226623"/>
          </a:xfrm>
          <a:prstGeom prst="bentConnector3">
            <a:avLst/>
          </a:prstGeom>
          <a:ln w="1905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101" name="TextBox 100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12" name="TextBox 111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9" name="TextBox 128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771CFCE9-8122-5241-BC59-32A55D27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811122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14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  <a:endParaRPr lang="en-US" sz="13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2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8" y="1515481"/>
            <a:ext cx="990602" cy="259618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191000" y="4082534"/>
            <a:ext cx="1219198" cy="2913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34000" y="4724401"/>
            <a:ext cx="2514600" cy="1323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Order in which registers are specified is not important:  the lowest register is always stored at the lowest address</a:t>
            </a:r>
          </a:p>
        </p:txBody>
      </p:sp>
      <p:cxnSp>
        <p:nvCxnSpPr>
          <p:cNvPr id="94" name="Straight Connector 93"/>
          <p:cNvCxnSpPr/>
          <p:nvPr/>
        </p:nvCxnSpPr>
        <p:spPr>
          <a:xfrm flipH="1" flipV="1">
            <a:off x="4343400" y="3889302"/>
            <a:ext cx="990600" cy="835098"/>
          </a:xfrm>
          <a:prstGeom prst="line">
            <a:avLst/>
          </a:prstGeom>
          <a:ln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F48874FC-961B-BC48-B4EB-BE35774D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34168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7932049" y="2125082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38585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72001" y="5374070"/>
            <a:ext cx="838197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71" name="TextBox 70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6C672702-5A9E-C64E-9A6C-B5DB9563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45517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2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6" y="1515481"/>
            <a:ext cx="990604" cy="236939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3400" y="3884874"/>
            <a:ext cx="1066796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4214749" y="3396733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648200" y="5582789"/>
            <a:ext cx="11430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7791B68B-D63F-D04C-A88A-B13DE863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3129471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50" y="2125082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7" y="1515481"/>
            <a:ext cx="990605" cy="256795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229097" y="4082534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5007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518B5678-8408-F648-B568-B3BC2F3F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991653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50" y="2125082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4" y="1515481"/>
            <a:ext cx="990606" cy="38603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495800" y="5375870"/>
            <a:ext cx="914394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5007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46C94C31-9214-5449-B5F9-551C1773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26737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50" y="2133601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5" y="1515481"/>
            <a:ext cx="990607" cy="23850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419601" y="3900550"/>
            <a:ext cx="990593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5007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4214749" y="3396733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V="1">
            <a:off x="4572000" y="5582789"/>
            <a:ext cx="12192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AA2A87C7-F5E3-FB4C-A7C2-C49D7A17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759391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20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50" y="2125082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5" y="1515481"/>
            <a:ext cx="990607" cy="25941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229094" y="4108750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5006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7786BD7C-78A5-A544-A5BA-18474A4F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22989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21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50" y="2125082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201" y="1515481"/>
            <a:ext cx="990601" cy="323440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495801" y="4749883"/>
            <a:ext cx="914399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5006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0AE1AE6-55CA-9141-8015-1481C12A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4268513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33600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201" y="1515481"/>
            <a:ext cx="990601" cy="344814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3402" y="49627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8A6DC3A4-F235-2D4E-8967-375E8230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253898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23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8" y="1515481"/>
            <a:ext cx="990602" cy="406820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648200" y="5583688"/>
            <a:ext cx="761998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D4CD38DA-1F4C-F242-939B-A74C1FA5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721911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4749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7114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34000" y="5142925"/>
            <a:ext cx="2514600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Order in which registers are specified is not important.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33E503B6-CBA8-CD4F-BE52-5827631A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4280027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4749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8607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E9320EAE-CC4A-2D4F-8E5F-0F07E0F5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4200229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407911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72001" y="5594592"/>
            <a:ext cx="838197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8607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EA1E9421-BE75-3144-9A91-15181647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2940893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3399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28607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5D3CC7B9-21B8-5146-B5DD-FA708995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3275057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3399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08D05E57-F1EC-9246-A928-31CA02FF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2112906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438401" y="1171686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400801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2180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2178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4285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2181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322181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22181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23672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24285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2496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323671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323266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3143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324285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24284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22179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582" y="151548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0381" y="5867401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7932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5410199" y="1515481"/>
            <a:ext cx="990603" cy="153052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25192" y="3046004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10326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10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2855" y="2585241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5086" y="3716677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72551" y="266712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2550" y="2908406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455386" y="3761602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9455654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7543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3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543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553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53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4E7BDA67-D965-D043-837F-2A5DDE6F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601393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4.6|1.7|1.7|2|6.4|2|2|11|0.6|0.4|0.5|0.6|0.4|0.4|0.7|2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5515</TotalTime>
  <Words>3511</Words>
  <Application>Microsoft Office PowerPoint</Application>
  <PresentationFormat>Widescreen</PresentationFormat>
  <Paragraphs>1505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Bookman Old Style (Headings)</vt:lpstr>
      <vt:lpstr>Monotype Sorts</vt:lpstr>
      <vt:lpstr>Bookman Old Style</vt:lpstr>
      <vt:lpstr>Calibri</vt:lpstr>
      <vt:lpstr>Consolas</vt:lpstr>
      <vt:lpstr>Courier New</vt:lpstr>
      <vt:lpstr>Gill Sans MT</vt:lpstr>
      <vt:lpstr>Symbol</vt:lpstr>
      <vt:lpstr>Wingdings</vt:lpstr>
      <vt:lpstr>Wingdings 3</vt:lpstr>
      <vt:lpstr>Origin</vt:lpstr>
      <vt:lpstr>Dr. Yifeng Zhu Electrical and Computer Engineering University of Maine</vt:lpstr>
      <vt:lpstr>Recursive Functions</vt:lpstr>
      <vt:lpstr>Defining Factorial(n)</vt:lpstr>
      <vt:lpstr>Classic Example: Factorial</vt:lpstr>
      <vt:lpstr>Classic Example: Fibonacci Numbers</vt:lpstr>
      <vt:lpstr>Analysis of fib(5)</vt:lpstr>
      <vt:lpstr>Example of Recursive Function: Testing Palindrome</vt:lpstr>
      <vt:lpstr>Recursion vs Iteration</vt:lpstr>
      <vt:lpstr>Recursive Factorial in C</vt:lpstr>
      <vt:lpstr>Recursive Functions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125</cp:revision>
  <dcterms:created xsi:type="dcterms:W3CDTF">2013-03-17T17:42:26Z</dcterms:created>
  <dcterms:modified xsi:type="dcterms:W3CDTF">2025-09-25T00:31:39Z</dcterms:modified>
</cp:coreProperties>
</file>