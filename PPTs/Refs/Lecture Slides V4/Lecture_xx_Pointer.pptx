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4.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5.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handoutMasterIdLst>
    <p:handoutMasterId r:id="rId24"/>
  </p:handoutMasterIdLst>
  <p:sldIdLst>
    <p:sldId id="256" r:id="rId2"/>
    <p:sldId id="404" r:id="rId3"/>
    <p:sldId id="396" r:id="rId4"/>
    <p:sldId id="409" r:id="rId5"/>
    <p:sldId id="406" r:id="rId6"/>
    <p:sldId id="407" r:id="rId7"/>
    <p:sldId id="408" r:id="rId8"/>
    <p:sldId id="419" r:id="rId9"/>
    <p:sldId id="410" r:id="rId10"/>
    <p:sldId id="400" r:id="rId11"/>
    <p:sldId id="411" r:id="rId12"/>
    <p:sldId id="412" r:id="rId13"/>
    <p:sldId id="413" r:id="rId14"/>
    <p:sldId id="415" r:id="rId15"/>
    <p:sldId id="414" r:id="rId16"/>
    <p:sldId id="403" r:id="rId17"/>
    <p:sldId id="416" r:id="rId18"/>
    <p:sldId id="420" r:id="rId19"/>
    <p:sldId id="417" r:id="rId20"/>
    <p:sldId id="418" r:id="rId21"/>
    <p:sldId id="39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00FF"/>
    <a:srgbClr val="0066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63" autoAdjust="0"/>
    <p:restoredTop sz="84394" autoAdjust="0"/>
  </p:normalViewPr>
  <p:slideViewPr>
    <p:cSldViewPr>
      <p:cViewPr varScale="1">
        <p:scale>
          <a:sx n="110" d="100"/>
          <a:sy n="110" d="100"/>
        </p:scale>
        <p:origin x="31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4F56A7-3CDE-194F-B9AF-D598FBBF1989}" type="datetimeFigureOut">
              <a:rPr lang="en-US" smtClean="0"/>
              <a:pPr/>
              <a:t>5/23/2023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1097CB-F954-3545-B5D0-357D0C1748E3}" type="slidenum">
              <a:rPr lang="en-US" smtClean="0"/>
              <a:pPr/>
              <a:t>‹#›</a:t>
            </a:fld>
            <a:endParaRPr lang="en-US"/>
          </a:p>
        </p:txBody>
      </p:sp>
    </p:spTree>
    <p:extLst>
      <p:ext uri="{BB962C8B-B14F-4D97-AF65-F5344CB8AC3E}">
        <p14:creationId xmlns:p14="http://schemas.microsoft.com/office/powerpoint/2010/main" val="31766406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52AD58-60CE-E948-9CBA-0BD7030FC28E}" type="datetimeFigureOut">
              <a:rPr lang="en-US" smtClean="0"/>
              <a:pPr/>
              <a:t>5/23/2023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24DF53-3DD3-9F45-9E7E-472B96F1AB81}" type="slidenum">
              <a:rPr lang="en-US" smtClean="0"/>
              <a:pPr/>
              <a:t>‹#›</a:t>
            </a:fld>
            <a:endParaRPr lang="en-US"/>
          </a:p>
        </p:txBody>
      </p:sp>
    </p:spTree>
    <p:extLst>
      <p:ext uri="{BB962C8B-B14F-4D97-AF65-F5344CB8AC3E}">
        <p14:creationId xmlns:p14="http://schemas.microsoft.com/office/powerpoint/2010/main" val="168176388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{{Pause=3}} This short video will explain, what is a pointer, in the C programming language.</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a:t>
            </a:fld>
            <a:endParaRPr lang="en-US"/>
          </a:p>
        </p:txBody>
      </p:sp>
    </p:spTree>
    <p:extLst>
      <p:ext uri="{BB962C8B-B14F-4D97-AF65-F5344CB8AC3E}">
        <p14:creationId xmlns:p14="http://schemas.microsoft.com/office/powerpoint/2010/main" val="500825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{{Pause=2}} First, let’s review what is a memory address. We can view computer memory as an array of bytes, and each byte has an unique address.  That is why we call computer memory is byte addressable. In other word, the smallest data object that can be addressed is a byte. For ARM Cortex-M microprocessors, each memory address has 32 bits, which can address a total of 4 GB.</a:t>
            </a:r>
          </a:p>
          <a:p>
            <a:endParaRPr lang="en-US" baseline="0" dirty="0"/>
          </a:p>
          <a:p>
            <a:r>
              <a:rPr lang="en-US" baseline="0" dirty="0"/>
              <a:t>{{Pause=1}} A data object may take multiple bytes in memory. For example, a word occupies four bytes in memory. There are two different formats to store a word. When storing a word in little endian format, the most significant byte, is stored at, a high address, and the least significant bye, is stored at, a low address. On the other hand, when storing a word in big endian format, the most significant byte, is stored at, a low address, and the least significant bye, is stored at, a high address.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a:t>
            </a:fld>
            <a:endParaRPr lang="en-US"/>
          </a:p>
        </p:txBody>
      </p:sp>
    </p:spTree>
    <p:extLst>
      <p:ext uri="{BB962C8B-B14F-4D97-AF65-F5344CB8AC3E}">
        <p14:creationId xmlns:p14="http://schemas.microsoft.com/office/powerpoint/2010/main" val="347500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What is a pointer? {{Pause=1}} The value of a pointer is simply, the memory address of some variable stored in computer memory.  If a variable occupies multiple bytes in memory, the address of this variable is defined as, the lowest address of all bytes it occupies. {{Pause=1}} Let me give you an example. Suppose a 32-bit integer takes these four bytes in memory, starting from 20000004 to 20000007, in hex.  Then, the address of this integer is 20000004, regardless of the endian. No matter what endian format is used, little endian, or big endian, the memory address of this 32-bit integer does not change.</a:t>
            </a:r>
          </a:p>
          <a:p>
            <a:endParaRPr lang="en-US" dirty="0"/>
          </a:p>
          <a:p>
            <a:r>
              <a:rPr lang="en-US" dirty="0"/>
              <a:t>{{Pause=2}}  What is the basic syntax to define pointers in C? {{Pause=1}}  The basic syntax is:  type, asterisk (*), pointer name. Here are four examples. These examples define a pointer, which can hold the address of the memory location, that contains an integer, {{Pause=0.5}} a float, {{Pause=0.5}}  a double, {{Pause=0.5}} and a character, respectively.</a:t>
            </a:r>
          </a:p>
        </p:txBody>
      </p:sp>
      <p:sp>
        <p:nvSpPr>
          <p:cNvPr id="4" name="Slide Number Placeholder 3"/>
          <p:cNvSpPr>
            <a:spLocks noGrp="1"/>
          </p:cNvSpPr>
          <p:nvPr>
            <p:ph type="sldNum" sz="quarter" idx="10"/>
          </p:nvPr>
        </p:nvSpPr>
        <p:spPr/>
        <p:txBody>
          <a:bodyPr/>
          <a:lstStyle/>
          <a:p>
            <a:fld id="{D624DF53-3DD3-9F45-9E7E-472B96F1AB81}" type="slidenum">
              <a:rPr lang="en-US" smtClean="0"/>
              <a:pPr/>
              <a:t>3</a:t>
            </a:fld>
            <a:endParaRPr lang="en-US"/>
          </a:p>
        </p:txBody>
      </p:sp>
    </p:spTree>
    <p:extLst>
      <p:ext uri="{BB962C8B-B14F-4D97-AF65-F5344CB8AC3E}">
        <p14:creationId xmlns:p14="http://schemas.microsoft.com/office/powerpoint/2010/main" val="1447962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For C pointers, there are two important operators, including {{Pause=0.5}}  reference operator, and {{Pause=0.5}} dereference operator. Let's look at reference operator first.  The expression, ampersand x, returns the memory address of variable x. The ampersand is called, reference operator, or, address-of operator.  {{Pause=1}} The expression, asterisk p, returns the value of, the variable to which the pointer p points. The asterisk (*) is called, dereference operator. The symbol, asterisk, has different meaning, in a declaration statement, and in an expression.</a:t>
            </a:r>
          </a:p>
          <a:p>
            <a:endParaRPr lang="en-US" dirty="0"/>
          </a:p>
          <a:p>
            <a:r>
              <a:rPr lang="en-US" dirty="0"/>
              <a:t>{{Pause=1}} Let me show you how the reference and dereference operators are used. Suppose we declare an integer variable x. Assume this integer variable is stored in memory address 20000004, in hex. The variable x has an initial value of 1.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a:t>
            </a:fld>
            <a:endParaRPr lang="en-US"/>
          </a:p>
        </p:txBody>
      </p:sp>
    </p:spTree>
    <p:extLst>
      <p:ext uri="{BB962C8B-B14F-4D97-AF65-F5344CB8AC3E}">
        <p14:creationId xmlns:p14="http://schemas.microsoft.com/office/powerpoint/2010/main" val="3309160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Then, we define a pointer variable, named p t r. The pointer p t r can point to a memory location, at which an integer is stored. {{Pause=1}}  Suppose the pointer p t r is stored at the memory address 20000008, in hex. When we declare a pointer variable, its content is not initialized. In other words, the content of the pointer variable is not an valid memory location.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a:t>
            </a:fld>
            <a:endParaRPr lang="en-US"/>
          </a:p>
        </p:txBody>
      </p:sp>
    </p:spTree>
    <p:extLst>
      <p:ext uri="{BB962C8B-B14F-4D97-AF65-F5344CB8AC3E}">
        <p14:creationId xmlns:p14="http://schemas.microsoft.com/office/powerpoint/2010/main" val="5690768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We can initialize a pointer variable by using the reference operator. Specifically, we can use the reference operator to obtain the memory address of a variable, and assign the address to a pointer variable. This statement assigns the memory address of variable x to the pointer variable p t r. {{Pause=0.5}} Let’s take a look at the memory content. As you can see, the 32-bit value 20000004, in hex, is stored at the memory location 20000008.  In fact, this value is the memory address of variable x. As result, p t r points to x.  As illustrated in this statement,  the reference operator generates a pointer that points to a variable.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6</a:t>
            </a:fld>
            <a:endParaRPr lang="en-US"/>
          </a:p>
        </p:txBody>
      </p:sp>
    </p:spTree>
    <p:extLst>
      <p:ext uri="{BB962C8B-B14F-4D97-AF65-F5344CB8AC3E}">
        <p14:creationId xmlns:p14="http://schemas.microsoft.com/office/powerpoint/2010/main" val="19180023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This expression, asterisk, p t r, represents the value pointed by p t r.  This C statement stores 5 to the memory location pointed by p t r. As result, we indirectly set the value of variable x to 5.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7</a:t>
            </a:fld>
            <a:endParaRPr lang="en-US"/>
          </a:p>
        </p:txBody>
      </p:sp>
    </p:spTree>
    <p:extLst>
      <p:ext uri="{BB962C8B-B14F-4D97-AF65-F5344CB8AC3E}">
        <p14:creationId xmlns:p14="http://schemas.microsoft.com/office/powerpoint/2010/main" val="4171836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Here is the summary.  The reference operator works on variables, and it can be read as, “address {{Pause=0.1}} of”.  Therefore, Ampersand v a r, can be read as, address of v a r. At the same time, the dereference operator works on pointers, and it can be read as, “value pointed by”.  Therefore, asterisk p t r, can be read as, value pointed by p t r.</a:t>
            </a:r>
          </a:p>
        </p:txBody>
      </p:sp>
      <p:sp>
        <p:nvSpPr>
          <p:cNvPr id="4" name="Slide Number Placeholder 3"/>
          <p:cNvSpPr>
            <a:spLocks noGrp="1"/>
          </p:cNvSpPr>
          <p:nvPr>
            <p:ph type="sldNum" sz="quarter" idx="10"/>
          </p:nvPr>
        </p:nvSpPr>
        <p:spPr/>
        <p:txBody>
          <a:bodyPr/>
          <a:lstStyle/>
          <a:p>
            <a:fld id="{D624DF53-3DD3-9F45-9E7E-472B96F1AB81}" type="slidenum">
              <a:rPr lang="en-US" smtClean="0"/>
              <a:pPr/>
              <a:t>8</a:t>
            </a:fld>
            <a:endParaRPr lang="en-US"/>
          </a:p>
        </p:txBody>
      </p:sp>
    </p:spTree>
    <p:extLst>
      <p:ext uri="{BB962C8B-B14F-4D97-AF65-F5344CB8AC3E}">
        <p14:creationId xmlns:p14="http://schemas.microsoft.com/office/powerpoint/2010/main" val="2510196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What will happen if we increase the pointer by 1? {{Pause=1}} Suppose the pointer p t r is stored at the memory address 20000000, in hex. The content of this pointer is 20000004, in hex. Here, we assume each word is stored in memory,  in little endian format. {{Pause=1}} If we execute p t r plus </a:t>
            </a:r>
            <a:r>
              <a:rPr lang="en-US" dirty="0" err="1"/>
              <a:t>plus</a:t>
            </a:r>
            <a:r>
              <a:rPr lang="en-US" dirty="0"/>
              <a:t>, what is the content of p t r?  Is it 20000005, in hex? {{Pause=1}} The answer is: it depends.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9</a:t>
            </a:fld>
            <a:endParaRPr lang="en-US"/>
          </a:p>
        </p:txBody>
      </p:sp>
    </p:spTree>
    <p:extLst>
      <p:ext uri="{BB962C8B-B14F-4D97-AF65-F5344CB8AC3E}">
        <p14:creationId xmlns:p14="http://schemas.microsoft.com/office/powerpoint/2010/main" val="535335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Suppose p t r points to an array of characters. {{Pause=0.5}} Each character takes one bye in memory. The pointer p t r points the beginning of the array. In other words, p t r points to, A 0. Let's see what will happen if we run p t r plus </a:t>
            </a:r>
            <a:r>
              <a:rPr lang="en-US" dirty="0" err="1"/>
              <a:t>plus</a:t>
            </a:r>
            <a:r>
              <a:rPr lang="en-US" dirty="0"/>
              <a:t>.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10</a:t>
            </a:fld>
            <a:endParaRPr lang="en-US"/>
          </a:p>
        </p:txBody>
      </p:sp>
    </p:spTree>
    <p:extLst>
      <p:ext uri="{BB962C8B-B14F-4D97-AF65-F5344CB8AC3E}">
        <p14:creationId xmlns:p14="http://schemas.microsoft.com/office/powerpoint/2010/main" val="18131834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If we run p t r plus </a:t>
            </a:r>
            <a:r>
              <a:rPr lang="en-US" dirty="0" err="1"/>
              <a:t>plus</a:t>
            </a:r>
            <a:r>
              <a:rPr lang="en-US" dirty="0"/>
              <a:t>,  the pointer points to the next element in this array. the content of p t r is incremented by the size of a character. Because each character takes one byte, the value of p t r is incremented by 1. Therefore, in this case, the value of p t r is 20000005, in hex.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11</a:t>
            </a:fld>
            <a:endParaRPr lang="en-US"/>
          </a:p>
        </p:txBody>
      </p:sp>
    </p:spTree>
    <p:extLst>
      <p:ext uri="{BB962C8B-B14F-4D97-AF65-F5344CB8AC3E}">
        <p14:creationId xmlns:p14="http://schemas.microsoft.com/office/powerpoint/2010/main" val="3301581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Now, let's look at a different example. Suppose p t r points to the beginning of an integer array. If we increment the value of p t r by 1, will the value of p t r be 20000005? {{Pause=1.5}} The answer is no.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12</a:t>
            </a:fld>
            <a:endParaRPr lang="en-US"/>
          </a:p>
        </p:txBody>
      </p:sp>
    </p:spTree>
    <p:extLst>
      <p:ext uri="{BB962C8B-B14F-4D97-AF65-F5344CB8AC3E}">
        <p14:creationId xmlns:p14="http://schemas.microsoft.com/office/powerpoint/2010/main" val="2381345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{{Pause=2}} The value of p t r will be 20000008, which is the memory address of the array element, A 1. When we run p t r plus </a:t>
            </a:r>
            <a:r>
              <a:rPr lang="en-US" dirty="0" err="1"/>
              <a:t>plus</a:t>
            </a:r>
            <a:r>
              <a:rPr lang="en-US" dirty="0"/>
              <a:t>, the value of </a:t>
            </a:r>
            <a:r>
              <a:rPr lang="en-US" dirty="0" err="1"/>
              <a:t>ptr</a:t>
            </a:r>
            <a:r>
              <a:rPr lang="en-US" dirty="0"/>
              <a:t> will be incremented by 4, because each integer takes 4 bytes in memory.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13</a:t>
            </a:fld>
            <a:endParaRPr lang="en-US"/>
          </a:p>
        </p:txBody>
      </p:sp>
    </p:spTree>
    <p:extLst>
      <p:ext uri="{BB962C8B-B14F-4D97-AF65-F5344CB8AC3E}">
        <p14:creationId xmlns:p14="http://schemas.microsoft.com/office/powerpoint/2010/main" val="405030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Let's take a closer look at pointer and array.  Suppose we declare a pointer p t r, {{Pause=1}} and it is stored at memory address 20000000. {{Pause=1}} We then define an integer array, A 5. {{Pause=1}} The array is stored in memory location starting at 20000004.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14</a:t>
            </a:fld>
            <a:endParaRPr lang="en-US"/>
          </a:p>
        </p:txBody>
      </p:sp>
    </p:spTree>
    <p:extLst>
      <p:ext uri="{BB962C8B-B14F-4D97-AF65-F5344CB8AC3E}">
        <p14:creationId xmlns:p14="http://schemas.microsoft.com/office/powerpoint/2010/main" val="42300390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This C statement sets the first element to 7. This example is to show that, in C language, the array name, is a pointer, to the first element in the array.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15</a:t>
            </a:fld>
            <a:endParaRPr lang="en-US"/>
          </a:p>
        </p:txBody>
      </p:sp>
    </p:spTree>
    <p:extLst>
      <p:ext uri="{BB962C8B-B14F-4D97-AF65-F5344CB8AC3E}">
        <p14:creationId xmlns:p14="http://schemas.microsoft.com/office/powerpoint/2010/main" val="37444671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Here, we set p t r to the memory address of A 0. {{Pause=1}} As you can see from the memory content, the 32-bit value stored at the memory address 20000000 is {{Pause=1}} 20000004, which is the memory address of A 0.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16</a:t>
            </a:fld>
            <a:endParaRPr lang="en-US"/>
          </a:p>
        </p:txBody>
      </p:sp>
    </p:spTree>
    <p:extLst>
      <p:ext uri="{BB962C8B-B14F-4D97-AF65-F5344CB8AC3E}">
        <p14:creationId xmlns:p14="http://schemas.microsoft.com/office/powerpoint/2010/main" val="35483812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What does this statement do? {{Pause=1}} Pay attention. p t r plus 2 is not to add the value of p t r by 2. In fact, it adds  p t r by 2 times, size of  integer. Each integer takes four bytes, Therefore, it adds p t r by 8, pointing to the third element in this integer array.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17</a:t>
            </a:fld>
            <a:endParaRPr lang="en-US"/>
          </a:p>
        </p:txBody>
      </p:sp>
    </p:spTree>
    <p:extLst>
      <p:ext uri="{BB962C8B-B14F-4D97-AF65-F5344CB8AC3E}">
        <p14:creationId xmlns:p14="http://schemas.microsoft.com/office/powerpoint/2010/main" val="2336019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The increment operator, plus </a:t>
            </a:r>
            <a:r>
              <a:rPr lang="en-US" dirty="0" err="1"/>
              <a:t>plus</a:t>
            </a:r>
            <a:r>
              <a:rPr lang="en-US" dirty="0"/>
              <a:t>, and the decrement operator, minus </a:t>
            </a:r>
            <a:r>
              <a:rPr lang="en-US" dirty="0" err="1"/>
              <a:t>minus</a:t>
            </a:r>
            <a:r>
              <a:rPr lang="en-US" dirty="0"/>
              <a:t>, have greater </a:t>
            </a:r>
            <a:r>
              <a:rPr lang="en-US" dirty="0" err="1"/>
              <a:t>precedance</a:t>
            </a:r>
            <a:r>
              <a:rPr lang="en-US" dirty="0"/>
              <a:t> than the dereference operator, asterisk. Therefore, the following two expressions are different. In the first expression, read or write the value pointed by the pointer. Then, increment the pointer, pointing to the next element in an array. For example, this C statement {{Pause=0.5}} is equivalent to the following two C statements. </a:t>
            </a:r>
          </a:p>
          <a:p>
            <a:endParaRPr lang="en-US" dirty="0"/>
          </a:p>
          <a:p>
            <a:r>
              <a:rPr lang="en-US" dirty="0"/>
              <a:t>{{Pause=2}} In the second expression, the value pointed by the pointer p t r is incremented by 1. The content of the pointer does not change. For example, this C statement {{Pause=0.5}} is equivalent to the following two C statements.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18</a:t>
            </a:fld>
            <a:endParaRPr lang="en-US"/>
          </a:p>
        </p:txBody>
      </p:sp>
    </p:spTree>
    <p:extLst>
      <p:ext uri="{BB962C8B-B14F-4D97-AF65-F5344CB8AC3E}">
        <p14:creationId xmlns:p14="http://schemas.microsoft.com/office/powerpoint/2010/main" val="31617611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So far, we have discussed pointers that point to variables, whose memory addresses are not directly determined by software code. How to build a pointer, which points to a given specific memory address? For example, the memory address of the output data register (ODR) for G P I O Port A is determined by its designer. How to build a pointer to it so that software can easily access the value of the output data register.  {{Pause=1}} Here, I give three examples, which sets G P I O pin PA 5 to high. In the first example, we define a macro, which actually is the memory address of the output data register for port A.  First, we cast this constant memory address to a pointer, which can point to an unsigned 32-bit integer. Then, we use dereference operator to access the value pointed.  {{Pause=1}} In the second example, we define a pointer by using this macro. This macro casts the memory address to a pointer. Therefore, in the code, we can directly use dereference operator.  {{Pause=1}} In the third example, we incorporate the dereference operator into the macro. As result, software can directly use the de-referenced pointer to access the memory. The last approach has been used widely.</a:t>
            </a:r>
          </a:p>
        </p:txBody>
      </p:sp>
      <p:sp>
        <p:nvSpPr>
          <p:cNvPr id="4" name="Slide Number Placeholder 3"/>
          <p:cNvSpPr>
            <a:spLocks noGrp="1"/>
          </p:cNvSpPr>
          <p:nvPr>
            <p:ph type="sldNum" sz="quarter" idx="10"/>
          </p:nvPr>
        </p:nvSpPr>
        <p:spPr/>
        <p:txBody>
          <a:bodyPr/>
          <a:lstStyle/>
          <a:p>
            <a:fld id="{D624DF53-3DD3-9F45-9E7E-472B96F1AB81}" type="slidenum">
              <a:rPr lang="en-US" smtClean="0"/>
              <a:pPr/>
              <a:t>19</a:t>
            </a:fld>
            <a:endParaRPr lang="en-US"/>
          </a:p>
        </p:txBody>
      </p:sp>
    </p:spTree>
    <p:extLst>
      <p:ext uri="{BB962C8B-B14F-4D97-AF65-F5344CB8AC3E}">
        <p14:creationId xmlns:p14="http://schemas.microsoft.com/office/powerpoint/2010/main" val="39729196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Make sure to add the keyword, volatile, if we want to force compiler to read a new value each time. The keyword, volatile, has been discussed in details in the textbook. It prevents compiler from making false optimization during the compiling process.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20</a:t>
            </a:fld>
            <a:endParaRPr lang="en-US"/>
          </a:p>
        </p:txBody>
      </p:sp>
    </p:spTree>
    <p:extLst>
      <p:ext uri="{BB962C8B-B14F-4D97-AF65-F5344CB8AC3E}">
        <p14:creationId xmlns:p14="http://schemas.microsoft.com/office/powerpoint/2010/main" val="20319191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In the device header file of STM32 Cortex-M processors, the memory addresses of peripherals are cast to a </a:t>
            </a:r>
            <a:r>
              <a:rPr lang="en-US" dirty="0" err="1"/>
              <a:t>struct</a:t>
            </a:r>
            <a:r>
              <a:rPr lang="en-US" dirty="0"/>
              <a:t>.  For example, the base memory address of G P I O port A is 48000000, in hex. {{Pause=1}} Here, we use this macro to cast this memory address to a pointer, which can points to a </a:t>
            </a:r>
            <a:r>
              <a:rPr lang="en-US" dirty="0" err="1"/>
              <a:t>struct</a:t>
            </a:r>
            <a:r>
              <a:rPr lang="en-US" dirty="0"/>
              <a:t> of G P I O Type.  As result, we can modify the output data register (ODR) in this way. {{Pause=1}} By using a </a:t>
            </a:r>
            <a:r>
              <a:rPr lang="en-US" dirty="0" err="1"/>
              <a:t>struct</a:t>
            </a:r>
            <a:r>
              <a:rPr lang="en-US" dirty="0"/>
              <a:t>, software can access all registers of a peripheral more easily.</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21</a:t>
            </a:fld>
            <a:endParaRPr lang="en-US"/>
          </a:p>
        </p:txBody>
      </p:sp>
    </p:spTree>
    <p:extLst>
      <p:ext uri="{BB962C8B-B14F-4D97-AF65-F5344CB8AC3E}">
        <p14:creationId xmlns:p14="http://schemas.microsoft.com/office/powerpoint/2010/main" val="2097216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8E8B2B42-CBC2-7D4E-BA50-0E7F29B4DAAB}" type="datetime1">
              <a:rPr lang="en-US" smtClean="0"/>
              <a:t>5/23/2023</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A9E6F060-20EB-3246-9088-08BF5F1271DE}" type="datetime1">
              <a:rPr lang="en-US" smtClean="0"/>
              <a:t>5/23/2023</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34C82E41-DA7E-CA4C-823B-C759BEA16CE8}" type="datetime1">
              <a:rPr lang="en-US" smtClean="0"/>
              <a:t>5/23/2023</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2500C8B0-EB1A-0A41-B839-C4B99CD2225A}" type="datetime1">
              <a:rPr lang="en-US" smtClean="0"/>
              <a:t>5/23/2023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4F16605B-D952-1149-A111-28A5633BAE48}" type="datetime1">
              <a:rPr lang="en-US" smtClean="0"/>
              <a:t>5/23/2023</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1109A1C-29B2-B04E-8365-C9D22C4AE842}" type="datetime1">
              <a:rPr lang="en-US" smtClean="0"/>
              <a:t>5/23/2023</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2CE417B6-A42B-064A-8677-46C55C4F613A}" type="datetime1">
              <a:rPr lang="en-US" smtClean="0"/>
              <a:t>5/23/2023</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DE76F5AD-3F1F-7141-BC8A-012C5728BE2D}" type="datetime1">
              <a:rPr lang="en-US" smtClean="0"/>
              <a:t>5/23/2023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09FA12B8-739E-4D47-A14C-180C3BC10865}" type="datetime1">
              <a:rPr lang="en-US" smtClean="0"/>
              <a:t>5/23/2023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597D1259-3A46-254C-ADDB-B5DA4F1DF3DA}" type="datetime1">
              <a:rPr lang="en-US" smtClean="0"/>
              <a:t>5/23/2023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CCA104EC-54AA-E04F-BDC0-22B4E8892699}" type="datetime1">
              <a:rPr lang="en-US" smtClean="0"/>
              <a:t>5/23/2023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CDD18CD8-E404-844E-A4BD-DF69B8E5881E}" type="datetime1">
              <a:rPr lang="en-US" smtClean="0"/>
              <a:t>5/23/2023</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19400" y="5181600"/>
            <a:ext cx="6858000" cy="381000"/>
          </a:xfrm>
        </p:spPr>
        <p:txBody>
          <a:bodyPr>
            <a:noAutofit/>
          </a:bodyPr>
          <a:lstStyle/>
          <a:p>
            <a:r>
              <a:rPr lang="en-US" sz="2400" dirty="0"/>
              <a:t>Dr. Yifeng Zhu</a:t>
            </a:r>
          </a:p>
        </p:txBody>
      </p:sp>
      <p:sp>
        <p:nvSpPr>
          <p:cNvPr id="6" name="TextBox 5"/>
          <p:cNvSpPr txBox="1"/>
          <p:nvPr/>
        </p:nvSpPr>
        <p:spPr>
          <a:xfrm>
            <a:off x="1290007" y="293425"/>
            <a:ext cx="9753600" cy="3216265"/>
          </a:xfrm>
          <a:prstGeom prst="rect">
            <a:avLst/>
          </a:prstGeom>
          <a:noFill/>
        </p:spPr>
        <p:txBody>
          <a:bodyPr wrap="square" rtlCol="0">
            <a:spAutoFit/>
          </a:bodyPr>
          <a:lstStyle/>
          <a:p>
            <a:pPr algn="r"/>
            <a:r>
              <a:rPr lang="en-US" sz="8800" b="1" dirty="0">
                <a:solidFill>
                  <a:srgbClr val="C00000"/>
                </a:solidFill>
              </a:rPr>
              <a:t>ARM Cortex-M </a:t>
            </a:r>
          </a:p>
          <a:p>
            <a:pPr algn="r"/>
            <a:r>
              <a:rPr lang="en-US" sz="11500" b="1" dirty="0">
                <a:solidFill>
                  <a:srgbClr val="0000FF"/>
                </a:solidFill>
              </a:rPr>
              <a:t>Pointer</a:t>
            </a:r>
            <a:endParaRPr lang="en-US" sz="7600" b="1" dirty="0">
              <a:solidFill>
                <a:srgbClr val="0000FF"/>
              </a:solidFill>
            </a:endParaRPr>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1</a:t>
            </a:fld>
            <a:endParaRPr kumimoji="0" lang="en-US" dirty="0"/>
          </a:p>
        </p:txBody>
      </p:sp>
      <p:sp>
        <p:nvSpPr>
          <p:cNvPr id="4" name="Subtitle 3"/>
          <p:cNvSpPr>
            <a:spLocks noGrp="1"/>
          </p:cNvSpPr>
          <p:nvPr>
            <p:ph type="subTitle" idx="1"/>
          </p:nvPr>
        </p:nvSpPr>
        <p:spPr>
          <a:xfrm>
            <a:off x="2438400" y="3657600"/>
            <a:ext cx="7315200" cy="1295400"/>
          </a:xfrm>
        </p:spPr>
        <p:txBody>
          <a:bodyPr>
            <a:noAutofit/>
          </a:bodyPr>
          <a:lstStyle/>
          <a:p>
            <a:r>
              <a:rPr lang="en-US" sz="2400" dirty="0"/>
              <a:t>Embedded Systems with ARM Cortex-M </a:t>
            </a:r>
          </a:p>
          <a:p>
            <a:r>
              <a:rPr lang="en-US" sz="2400" dirty="0"/>
              <a:t>Microcontrollers in Assembly Language and C</a:t>
            </a:r>
          </a:p>
          <a:p>
            <a:r>
              <a:rPr lang="en-US" sz="2400" dirty="0"/>
              <a:t>(Second Edition)</a:t>
            </a:r>
          </a:p>
        </p:txBody>
      </p:sp>
      <p:sp>
        <p:nvSpPr>
          <p:cNvPr id="3" name="TextBox 2"/>
          <p:cNvSpPr txBox="1"/>
          <p:nvPr/>
        </p:nvSpPr>
        <p:spPr>
          <a:xfrm>
            <a:off x="2810023" y="5892244"/>
            <a:ext cx="6713569" cy="461665"/>
          </a:xfrm>
          <a:prstGeom prst="rect">
            <a:avLst/>
          </a:prstGeom>
          <a:noFill/>
        </p:spPr>
        <p:txBody>
          <a:bodyPr wrap="none" rtlCol="0">
            <a:spAutoFit/>
          </a:bodyPr>
          <a:lstStyle/>
          <a:p>
            <a:r>
              <a:rPr lang="en-US" sz="2400" dirty="0"/>
              <a:t>Visit book website:  web.eece.maine.edu/~zhu/book/</a:t>
            </a:r>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Address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a:t>
            </a:fld>
            <a:endParaRPr kumimoji="0" lang="en-US" dirty="0"/>
          </a:p>
        </p:txBody>
      </p:sp>
      <p:sp>
        <p:nvSpPr>
          <p:cNvPr id="4" name="Content Placeholder 3"/>
          <p:cNvSpPr>
            <a:spLocks noGrp="1"/>
          </p:cNvSpPr>
          <p:nvPr>
            <p:ph sz="quarter" idx="1"/>
          </p:nvPr>
        </p:nvSpPr>
        <p:spPr>
          <a:xfrm>
            <a:off x="609600" y="1219199"/>
            <a:ext cx="6324600" cy="3023825"/>
          </a:xfrm>
        </p:spPr>
        <p:txBody>
          <a:bodyPr>
            <a:normAutofit/>
          </a:bodyPr>
          <a:lstStyle/>
          <a:p>
            <a:r>
              <a:rPr lang="en-US" sz="2000" dirty="0"/>
              <a:t>Memory is </a:t>
            </a:r>
            <a:r>
              <a:rPr lang="en-US" sz="2000" dirty="0">
                <a:solidFill>
                  <a:srgbClr val="C00000"/>
                </a:solidFill>
              </a:rPr>
              <a:t>byte addressable</a:t>
            </a:r>
          </a:p>
          <a:p>
            <a:pPr lvl="1"/>
            <a:r>
              <a:rPr lang="en-US" sz="1800" dirty="0"/>
              <a:t>Memory is an array of bytes</a:t>
            </a:r>
          </a:p>
          <a:p>
            <a:pPr lvl="1"/>
            <a:r>
              <a:rPr lang="en-US" sz="1800" dirty="0"/>
              <a:t>Each byte has a memory address</a:t>
            </a:r>
          </a:p>
          <a:p>
            <a:pPr lvl="1"/>
            <a:r>
              <a:rPr lang="en-US" sz="1800" dirty="0"/>
              <a:t>Smallest data that can be addressed is a byte</a:t>
            </a:r>
          </a:p>
          <a:p>
            <a:pPr lvl="1"/>
            <a:r>
              <a:rPr lang="en-US" sz="1800" dirty="0"/>
              <a:t>Each address has 32 bits (ARM Cortex-M)</a:t>
            </a:r>
          </a:p>
          <a:p>
            <a:r>
              <a:rPr lang="en-US" sz="2000" dirty="0"/>
              <a:t>An object may occupy multiple bytes</a:t>
            </a:r>
          </a:p>
          <a:p>
            <a:pPr lvl="1"/>
            <a:r>
              <a:rPr lang="en-US" sz="1800" dirty="0"/>
              <a:t>A word has four bytes</a:t>
            </a:r>
          </a:p>
          <a:p>
            <a:pPr lvl="1"/>
            <a:r>
              <a:rPr lang="en-US" sz="1800" dirty="0"/>
              <a:t>Word: Little endian </a:t>
            </a:r>
            <a:r>
              <a:rPr lang="en-US" sz="1800" i="1" dirty="0"/>
              <a:t>vs</a:t>
            </a:r>
            <a:r>
              <a:rPr lang="en-US" sz="1800" dirty="0"/>
              <a:t> Big endian</a:t>
            </a:r>
          </a:p>
        </p:txBody>
      </p:sp>
      <p:grpSp>
        <p:nvGrpSpPr>
          <p:cNvPr id="7" name="Group 6"/>
          <p:cNvGrpSpPr/>
          <p:nvPr/>
        </p:nvGrpSpPr>
        <p:grpSpPr>
          <a:xfrm>
            <a:off x="7520513" y="1295400"/>
            <a:ext cx="3147487" cy="4803577"/>
            <a:chOff x="5806709" y="1307068"/>
            <a:chExt cx="2827177" cy="4803577"/>
          </a:xfrm>
        </p:grpSpPr>
        <p:sp>
          <p:nvSpPr>
            <p:cNvPr id="8" name="Rectangle 7"/>
            <p:cNvSpPr/>
            <p:nvPr/>
          </p:nvSpPr>
          <p:spPr>
            <a:xfrm>
              <a:off x="7342456" y="26903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01110010</a:t>
              </a:r>
              <a:endParaRPr lang="pl-PL" dirty="0">
                <a:latin typeface="Consolas" panose="020B0609020204030204" pitchFamily="49" charset="0"/>
                <a:cs typeface="Consolas" panose="020B0609020204030204" pitchFamily="49" charset="0"/>
              </a:endParaRPr>
            </a:p>
          </p:txBody>
        </p:sp>
        <p:sp>
          <p:nvSpPr>
            <p:cNvPr id="9" name="Rectangle 8"/>
            <p:cNvSpPr/>
            <p:nvPr/>
          </p:nvSpPr>
          <p:spPr>
            <a:xfrm>
              <a:off x="7344136" y="30592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00100101</a:t>
              </a:r>
              <a:endParaRPr lang="pl-PL" dirty="0">
                <a:latin typeface="Consolas" panose="020B0609020204030204" pitchFamily="49" charset="0"/>
                <a:cs typeface="Consolas" panose="020B0609020204030204" pitchFamily="49" charset="0"/>
              </a:endParaRPr>
            </a:p>
          </p:txBody>
        </p:sp>
        <p:sp>
          <p:nvSpPr>
            <p:cNvPr id="10" name="Rectangle 9"/>
            <p:cNvSpPr/>
            <p:nvPr/>
          </p:nvSpPr>
          <p:spPr>
            <a:xfrm>
              <a:off x="7343951" y="34269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11100010</a:t>
              </a:r>
              <a:endParaRPr lang="pl-PL" dirty="0">
                <a:latin typeface="Consolas" panose="020B0609020204030204" pitchFamily="49" charset="0"/>
                <a:cs typeface="Consolas" panose="020B0609020204030204" pitchFamily="49" charset="0"/>
              </a:endParaRPr>
            </a:p>
          </p:txBody>
        </p:sp>
        <p:sp>
          <p:nvSpPr>
            <p:cNvPr id="11" name="Rectangle 10"/>
            <p:cNvSpPr/>
            <p:nvPr/>
          </p:nvSpPr>
          <p:spPr>
            <a:xfrm>
              <a:off x="7342456" y="3795822"/>
              <a:ext cx="1289400" cy="369332"/>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chemeClr val="tx1"/>
                  </a:solidFill>
                  <a:latin typeface="Consolas" panose="020B0609020204030204" pitchFamily="49" charset="0"/>
                  <a:cs typeface="Consolas" panose="020B0609020204030204" pitchFamily="49" charset="0"/>
                </a:rPr>
                <a:t>10000100</a:t>
              </a:r>
              <a:endParaRPr lang="pl-PL" dirty="0">
                <a:solidFill>
                  <a:schemeClr val="tx1"/>
                </a:solidFill>
                <a:latin typeface="Consolas" panose="020B0609020204030204" pitchFamily="49" charset="0"/>
                <a:cs typeface="Consolas" panose="020B0609020204030204" pitchFamily="49" charset="0"/>
              </a:endParaRPr>
            </a:p>
          </p:txBody>
        </p:sp>
        <p:sp>
          <p:nvSpPr>
            <p:cNvPr id="12" name="Rectangle 11"/>
            <p:cNvSpPr/>
            <p:nvPr/>
          </p:nvSpPr>
          <p:spPr>
            <a:xfrm>
              <a:off x="7342806" y="41635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01100001</a:t>
              </a:r>
              <a:endParaRPr lang="pl-PL" dirty="0">
                <a:latin typeface="Consolas" panose="020B0609020204030204" pitchFamily="49" charset="0"/>
                <a:cs typeface="Consolas" panose="020B0609020204030204" pitchFamily="49" charset="0"/>
              </a:endParaRPr>
            </a:p>
          </p:txBody>
        </p:sp>
        <p:sp>
          <p:nvSpPr>
            <p:cNvPr id="13" name="Rectangle 12"/>
            <p:cNvSpPr/>
            <p:nvPr/>
          </p:nvSpPr>
          <p:spPr>
            <a:xfrm>
              <a:off x="7344486" y="45324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10001111</a:t>
              </a:r>
              <a:endParaRPr lang="pl-PL" dirty="0">
                <a:latin typeface="Consolas" panose="020B0609020204030204" pitchFamily="49" charset="0"/>
                <a:cs typeface="Consolas" panose="020B0609020204030204" pitchFamily="49" charset="0"/>
              </a:endParaRPr>
            </a:p>
          </p:txBody>
        </p:sp>
        <p:sp>
          <p:nvSpPr>
            <p:cNvPr id="14" name="Rectangle 13"/>
            <p:cNvSpPr/>
            <p:nvPr/>
          </p:nvSpPr>
          <p:spPr>
            <a:xfrm>
              <a:off x="7344301" y="49001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00010010</a:t>
              </a:r>
              <a:endParaRPr lang="pl-PL" dirty="0">
                <a:latin typeface="Consolas" panose="020B0609020204030204" pitchFamily="49" charset="0"/>
                <a:cs typeface="Consolas" panose="020B0609020204030204" pitchFamily="49" charset="0"/>
              </a:endParaRPr>
            </a:p>
          </p:txBody>
        </p:sp>
        <p:sp>
          <p:nvSpPr>
            <p:cNvPr id="15" name="Rectangle 14"/>
            <p:cNvSpPr/>
            <p:nvPr/>
          </p:nvSpPr>
          <p:spPr>
            <a:xfrm>
              <a:off x="7342806" y="52690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10010100</a:t>
              </a:r>
              <a:endParaRPr lang="pl-PL" dirty="0">
                <a:latin typeface="Consolas" panose="020B0609020204030204" pitchFamily="49" charset="0"/>
                <a:cs typeface="Consolas" panose="020B0609020204030204" pitchFamily="49" charset="0"/>
              </a:endParaRPr>
            </a:p>
          </p:txBody>
        </p:sp>
        <p:cxnSp>
          <p:nvCxnSpPr>
            <p:cNvPr id="16" name="Straight Connector 15"/>
            <p:cNvCxnSpPr>
              <a:stCxn id="20" idx="0"/>
              <a:endCxn id="8" idx="1"/>
            </p:cNvCxnSpPr>
            <p:nvPr/>
          </p:nvCxnSpPr>
          <p:spPr>
            <a:xfrm>
              <a:off x="7342456" y="2434633"/>
              <a:ext cx="0" cy="40959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20" idx="3"/>
              <a:endCxn id="8" idx="3"/>
            </p:cNvCxnSpPr>
            <p:nvPr/>
          </p:nvCxnSpPr>
          <p:spPr>
            <a:xfrm>
              <a:off x="8628331" y="2225175"/>
              <a:ext cx="3525" cy="61905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a:stCxn id="15" idx="1"/>
              <a:endCxn id="21" idx="0"/>
            </p:cNvCxnSpPr>
            <p:nvPr/>
          </p:nvCxnSpPr>
          <p:spPr>
            <a:xfrm flipH="1">
              <a:off x="7342456" y="5422911"/>
              <a:ext cx="350" cy="60479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a:stCxn id="15" idx="3"/>
              <a:endCxn id="21" idx="3"/>
            </p:cNvCxnSpPr>
            <p:nvPr/>
          </p:nvCxnSpPr>
          <p:spPr>
            <a:xfrm flipH="1">
              <a:off x="8628331" y="5422911"/>
              <a:ext cx="3875" cy="39533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7342456" y="22214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21" name="Freeform 20"/>
            <p:cNvSpPr/>
            <p:nvPr/>
          </p:nvSpPr>
          <p:spPr>
            <a:xfrm>
              <a:off x="7342456" y="5814536"/>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22" name="TextBox 21"/>
            <p:cNvSpPr txBox="1"/>
            <p:nvPr/>
          </p:nvSpPr>
          <p:spPr>
            <a:xfrm>
              <a:off x="5943600" y="5802868"/>
              <a:ext cx="1277914"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Low Address</a:t>
              </a:r>
            </a:p>
          </p:txBody>
        </p:sp>
        <p:sp>
          <p:nvSpPr>
            <p:cNvPr id="23" name="TextBox 22"/>
            <p:cNvSpPr txBox="1"/>
            <p:nvPr/>
          </p:nvSpPr>
          <p:spPr>
            <a:xfrm>
              <a:off x="5806709" y="2145268"/>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High Address</a:t>
              </a:r>
            </a:p>
          </p:txBody>
        </p:sp>
        <p:sp>
          <p:nvSpPr>
            <p:cNvPr id="24" name="Rectangle 23"/>
            <p:cNvSpPr/>
            <p:nvPr/>
          </p:nvSpPr>
          <p:spPr>
            <a:xfrm>
              <a:off x="5943600" y="26903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0x20000007</a:t>
              </a:r>
              <a:endParaRPr lang="pl-PL" dirty="0">
                <a:latin typeface="Consolas" panose="020B0609020204030204" pitchFamily="49" charset="0"/>
                <a:cs typeface="Consolas" panose="020B0609020204030204" pitchFamily="49" charset="0"/>
              </a:endParaRPr>
            </a:p>
          </p:txBody>
        </p:sp>
        <p:sp>
          <p:nvSpPr>
            <p:cNvPr id="25" name="Rectangle 24"/>
            <p:cNvSpPr/>
            <p:nvPr/>
          </p:nvSpPr>
          <p:spPr>
            <a:xfrm>
              <a:off x="5945280" y="30592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0x20000006</a:t>
              </a:r>
              <a:endParaRPr lang="pl-PL" dirty="0">
                <a:latin typeface="Consolas" panose="020B0609020204030204" pitchFamily="49" charset="0"/>
                <a:cs typeface="Consolas" panose="020B0609020204030204" pitchFamily="49" charset="0"/>
              </a:endParaRPr>
            </a:p>
          </p:txBody>
        </p:sp>
        <p:sp>
          <p:nvSpPr>
            <p:cNvPr id="26" name="Rectangle 25"/>
            <p:cNvSpPr/>
            <p:nvPr/>
          </p:nvSpPr>
          <p:spPr>
            <a:xfrm>
              <a:off x="5945095" y="34269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0x20000005</a:t>
              </a:r>
              <a:endParaRPr lang="pl-PL" dirty="0">
                <a:latin typeface="Consolas" panose="020B0609020204030204" pitchFamily="49" charset="0"/>
                <a:cs typeface="Consolas" panose="020B0609020204030204" pitchFamily="49" charset="0"/>
              </a:endParaRPr>
            </a:p>
          </p:txBody>
        </p:sp>
        <p:sp>
          <p:nvSpPr>
            <p:cNvPr id="27" name="Rectangle 26"/>
            <p:cNvSpPr/>
            <p:nvPr/>
          </p:nvSpPr>
          <p:spPr>
            <a:xfrm>
              <a:off x="5943600" y="3795822"/>
              <a:ext cx="1365600"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tx1"/>
                  </a:solidFill>
                  <a:latin typeface="Consolas" panose="020B0609020204030204" pitchFamily="49" charset="0"/>
                  <a:cs typeface="Consolas" panose="020B0609020204030204" pitchFamily="49" charset="0"/>
                </a:rPr>
                <a:t>0x20000004</a:t>
              </a:r>
              <a:endParaRPr lang="pl-PL" dirty="0">
                <a:solidFill>
                  <a:schemeClr val="tx1"/>
                </a:solidFill>
                <a:latin typeface="Consolas" panose="020B0609020204030204" pitchFamily="49" charset="0"/>
                <a:cs typeface="Consolas" panose="020B0609020204030204" pitchFamily="49" charset="0"/>
              </a:endParaRPr>
            </a:p>
          </p:txBody>
        </p:sp>
        <p:sp>
          <p:nvSpPr>
            <p:cNvPr id="28" name="Rectangle 27"/>
            <p:cNvSpPr/>
            <p:nvPr/>
          </p:nvSpPr>
          <p:spPr>
            <a:xfrm>
              <a:off x="5943950" y="41635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0x20000003</a:t>
              </a:r>
              <a:endParaRPr lang="pl-PL" dirty="0">
                <a:latin typeface="Consolas" panose="020B0609020204030204" pitchFamily="49" charset="0"/>
                <a:cs typeface="Consolas" panose="020B0609020204030204" pitchFamily="49" charset="0"/>
              </a:endParaRPr>
            </a:p>
          </p:txBody>
        </p:sp>
        <p:sp>
          <p:nvSpPr>
            <p:cNvPr id="29" name="Rectangle 28"/>
            <p:cNvSpPr/>
            <p:nvPr/>
          </p:nvSpPr>
          <p:spPr>
            <a:xfrm>
              <a:off x="5945630" y="45324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0x20000002</a:t>
              </a:r>
              <a:endParaRPr lang="pl-PL" dirty="0">
                <a:latin typeface="Consolas" panose="020B0609020204030204" pitchFamily="49" charset="0"/>
                <a:cs typeface="Consolas" panose="020B0609020204030204" pitchFamily="49" charset="0"/>
              </a:endParaRPr>
            </a:p>
          </p:txBody>
        </p:sp>
        <p:sp>
          <p:nvSpPr>
            <p:cNvPr id="30" name="Rectangle 29"/>
            <p:cNvSpPr/>
            <p:nvPr/>
          </p:nvSpPr>
          <p:spPr>
            <a:xfrm>
              <a:off x="5945445" y="49001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0x20000001</a:t>
              </a:r>
              <a:endParaRPr lang="pl-PL" dirty="0">
                <a:latin typeface="Consolas" panose="020B0609020204030204" pitchFamily="49" charset="0"/>
                <a:cs typeface="Consolas" panose="020B0609020204030204" pitchFamily="49" charset="0"/>
              </a:endParaRPr>
            </a:p>
          </p:txBody>
        </p:sp>
        <p:sp>
          <p:nvSpPr>
            <p:cNvPr id="31" name="Rectangle 30"/>
            <p:cNvSpPr/>
            <p:nvPr/>
          </p:nvSpPr>
          <p:spPr>
            <a:xfrm>
              <a:off x="5943950" y="52690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0x20000000</a:t>
              </a:r>
              <a:endParaRPr lang="pl-PL" dirty="0">
                <a:latin typeface="Consolas" panose="020B0609020204030204" pitchFamily="49" charset="0"/>
                <a:cs typeface="Consolas" panose="020B0609020204030204" pitchFamily="49" charset="0"/>
              </a:endParaRPr>
            </a:p>
          </p:txBody>
        </p:sp>
        <p:grpSp>
          <p:nvGrpSpPr>
            <p:cNvPr id="32" name="Group 31"/>
            <p:cNvGrpSpPr/>
            <p:nvPr/>
          </p:nvGrpSpPr>
          <p:grpSpPr>
            <a:xfrm>
              <a:off x="7327900" y="1307068"/>
              <a:ext cx="1295400" cy="794266"/>
              <a:chOff x="3124200" y="4191000"/>
              <a:chExt cx="1295400" cy="794266"/>
            </a:xfrm>
          </p:grpSpPr>
          <p:sp>
            <p:nvSpPr>
              <p:cNvPr id="33" name="Rectangle 32"/>
              <p:cNvSpPr/>
              <p:nvPr/>
            </p:nvSpPr>
            <p:spPr>
              <a:xfrm>
                <a:off x="3124200" y="4191000"/>
                <a:ext cx="1289400" cy="36933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One </a:t>
                </a:r>
                <a:r>
                  <a:rPr lang="en-US" b="1" dirty="0">
                    <a:solidFill>
                      <a:srgbClr val="C00000"/>
                    </a:solidFill>
                    <a:latin typeface="Consolas" panose="020B0609020204030204" pitchFamily="49" charset="0"/>
                    <a:cs typeface="Consolas" panose="020B0609020204030204" pitchFamily="49" charset="0"/>
                  </a:rPr>
                  <a:t>Byte</a:t>
                </a:r>
                <a:endParaRPr lang="pl-PL" b="1" dirty="0">
                  <a:solidFill>
                    <a:srgbClr val="C00000"/>
                  </a:solidFill>
                  <a:latin typeface="Consolas" panose="020B0609020204030204" pitchFamily="49" charset="0"/>
                  <a:cs typeface="Consolas" panose="020B0609020204030204" pitchFamily="49" charset="0"/>
                </a:endParaRPr>
              </a:p>
            </p:txBody>
          </p:sp>
          <p:cxnSp>
            <p:nvCxnSpPr>
              <p:cNvPr id="34" name="Straight Connector 33"/>
              <p:cNvCxnSpPr>
                <a:stCxn id="33" idx="1"/>
              </p:cNvCxnSpPr>
              <p:nvPr/>
            </p:nvCxnSpPr>
            <p:spPr>
              <a:xfrm>
                <a:off x="3124200" y="4375666"/>
                <a:ext cx="0" cy="60960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a:stCxn id="33" idx="3"/>
              </p:cNvCxnSpPr>
              <p:nvPr/>
            </p:nvCxnSpPr>
            <p:spPr>
              <a:xfrm>
                <a:off x="4413600" y="4375666"/>
                <a:ext cx="1588" cy="60960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grpSp>
        <p:nvGrpSpPr>
          <p:cNvPr id="48" name="Group 47"/>
          <p:cNvGrpSpPr/>
          <p:nvPr/>
        </p:nvGrpSpPr>
        <p:grpSpPr>
          <a:xfrm>
            <a:off x="1325693" y="4061936"/>
            <a:ext cx="3579152" cy="2262664"/>
            <a:chOff x="1325693" y="3897868"/>
            <a:chExt cx="3579152" cy="2262664"/>
          </a:xfrm>
        </p:grpSpPr>
        <p:cxnSp>
          <p:nvCxnSpPr>
            <p:cNvPr id="6" name="Straight Arrow Connector 5"/>
            <p:cNvCxnSpPr/>
            <p:nvPr/>
          </p:nvCxnSpPr>
          <p:spPr>
            <a:xfrm flipV="1">
              <a:off x="2057400" y="4243024"/>
              <a:ext cx="0" cy="1559844"/>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1325693" y="3897868"/>
              <a:ext cx="1384866" cy="369332"/>
            </a:xfrm>
            <a:prstGeom prst="rect">
              <a:avLst/>
            </a:prstGeom>
            <a:noFill/>
          </p:spPr>
          <p:txBody>
            <a:bodyPr wrap="none" rtlCol="0">
              <a:spAutoFit/>
            </a:bodyPr>
            <a:lstStyle/>
            <a:p>
              <a:pPr algn="ctr"/>
              <a:r>
                <a:rPr lang="en-US" dirty="0"/>
                <a:t>High address</a:t>
              </a:r>
            </a:p>
          </p:txBody>
        </p:sp>
        <p:sp>
          <p:nvSpPr>
            <p:cNvPr id="39" name="TextBox 38"/>
            <p:cNvSpPr txBox="1"/>
            <p:nvPr/>
          </p:nvSpPr>
          <p:spPr>
            <a:xfrm>
              <a:off x="1386225" y="5791200"/>
              <a:ext cx="1356975" cy="369332"/>
            </a:xfrm>
            <a:prstGeom prst="rect">
              <a:avLst/>
            </a:prstGeom>
            <a:noFill/>
          </p:spPr>
          <p:txBody>
            <a:bodyPr wrap="none" rtlCol="0">
              <a:spAutoFit/>
            </a:bodyPr>
            <a:lstStyle/>
            <a:p>
              <a:pPr algn="ctr"/>
              <a:r>
                <a:rPr lang="en-US" dirty="0"/>
                <a:t>Low address</a:t>
              </a:r>
            </a:p>
          </p:txBody>
        </p:sp>
        <p:grpSp>
          <p:nvGrpSpPr>
            <p:cNvPr id="47" name="Group 46"/>
            <p:cNvGrpSpPr/>
            <p:nvPr/>
          </p:nvGrpSpPr>
          <p:grpSpPr>
            <a:xfrm>
              <a:off x="2368072" y="4330763"/>
              <a:ext cx="1113536" cy="1472105"/>
              <a:chOff x="2042699" y="4330762"/>
              <a:chExt cx="1113536" cy="1472105"/>
            </a:xfrm>
          </p:grpSpPr>
          <p:pic>
            <p:nvPicPr>
              <p:cNvPr id="37" name="Picture 2" descr="http://pngimg.com/upload/egg_PNG1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5400000" flipH="1">
                <a:off x="1863414" y="4510047"/>
                <a:ext cx="1472105" cy="1113536"/>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p:cNvSpPr txBox="1"/>
              <p:nvPr/>
            </p:nvSpPr>
            <p:spPr>
              <a:xfrm>
                <a:off x="2115894" y="4743425"/>
                <a:ext cx="914400" cy="584775"/>
              </a:xfrm>
              <a:prstGeom prst="rect">
                <a:avLst/>
              </a:prstGeom>
              <a:noFill/>
            </p:spPr>
            <p:txBody>
              <a:bodyPr wrap="square" rtlCol="0">
                <a:spAutoFit/>
              </a:bodyPr>
              <a:lstStyle/>
              <a:p>
                <a:pPr algn="ctr"/>
                <a:r>
                  <a:rPr lang="en-US" sz="1600" b="1" dirty="0">
                    <a:solidFill>
                      <a:schemeClr val="bg1"/>
                    </a:solidFill>
                  </a:rPr>
                  <a:t>Little Endian</a:t>
                </a:r>
              </a:p>
            </p:txBody>
          </p:sp>
          <p:sp>
            <p:nvSpPr>
              <p:cNvPr id="41" name="TextBox 40"/>
              <p:cNvSpPr txBox="1"/>
              <p:nvPr/>
            </p:nvSpPr>
            <p:spPr>
              <a:xfrm>
                <a:off x="2325789" y="4367817"/>
                <a:ext cx="554960" cy="338554"/>
              </a:xfrm>
              <a:prstGeom prst="rect">
                <a:avLst/>
              </a:prstGeom>
              <a:noFill/>
            </p:spPr>
            <p:txBody>
              <a:bodyPr wrap="none" rtlCol="0">
                <a:spAutoFit/>
              </a:bodyPr>
              <a:lstStyle/>
              <a:p>
                <a:r>
                  <a:rPr lang="en-US" sz="1600" dirty="0"/>
                  <a:t>MSB</a:t>
                </a:r>
              </a:p>
            </p:txBody>
          </p:sp>
          <p:sp>
            <p:nvSpPr>
              <p:cNvPr id="44" name="TextBox 43"/>
              <p:cNvSpPr txBox="1"/>
              <p:nvPr/>
            </p:nvSpPr>
            <p:spPr>
              <a:xfrm>
                <a:off x="2348129" y="5421460"/>
                <a:ext cx="495649" cy="338554"/>
              </a:xfrm>
              <a:prstGeom prst="rect">
                <a:avLst/>
              </a:prstGeom>
              <a:noFill/>
            </p:spPr>
            <p:txBody>
              <a:bodyPr wrap="none" rtlCol="0">
                <a:spAutoFit/>
              </a:bodyPr>
              <a:lstStyle/>
              <a:p>
                <a:r>
                  <a:rPr lang="en-US" sz="1600" dirty="0"/>
                  <a:t>LSB</a:t>
                </a:r>
              </a:p>
            </p:txBody>
          </p:sp>
        </p:grpSp>
        <p:grpSp>
          <p:nvGrpSpPr>
            <p:cNvPr id="43" name="Group 42"/>
            <p:cNvGrpSpPr/>
            <p:nvPr/>
          </p:nvGrpSpPr>
          <p:grpSpPr>
            <a:xfrm>
              <a:off x="3818752" y="4334996"/>
              <a:ext cx="1086093" cy="1435824"/>
              <a:chOff x="3818752" y="4334996"/>
              <a:chExt cx="1086093" cy="1435824"/>
            </a:xfrm>
          </p:grpSpPr>
          <p:pic>
            <p:nvPicPr>
              <p:cNvPr id="1026" name="Picture 2" descr="http://pngimg.com/upload/egg_PNG1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6200000" flipH="1">
                <a:off x="3643887" y="4509861"/>
                <a:ext cx="1435824" cy="1086093"/>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p:cNvSpPr txBox="1"/>
              <p:nvPr/>
            </p:nvSpPr>
            <p:spPr>
              <a:xfrm>
                <a:off x="3904599" y="4774427"/>
                <a:ext cx="914400" cy="584775"/>
              </a:xfrm>
              <a:prstGeom prst="rect">
                <a:avLst/>
              </a:prstGeom>
              <a:noFill/>
            </p:spPr>
            <p:txBody>
              <a:bodyPr wrap="square" rtlCol="0">
                <a:spAutoFit/>
              </a:bodyPr>
              <a:lstStyle/>
              <a:p>
                <a:pPr algn="ctr"/>
                <a:r>
                  <a:rPr lang="en-US" sz="1600" b="1" dirty="0">
                    <a:solidFill>
                      <a:schemeClr val="bg1"/>
                    </a:solidFill>
                  </a:rPr>
                  <a:t>Big Endian</a:t>
                </a:r>
              </a:p>
            </p:txBody>
          </p:sp>
          <p:sp>
            <p:nvSpPr>
              <p:cNvPr id="45" name="TextBox 44"/>
              <p:cNvSpPr txBox="1"/>
              <p:nvPr/>
            </p:nvSpPr>
            <p:spPr>
              <a:xfrm>
                <a:off x="4159281" y="4404871"/>
                <a:ext cx="495649" cy="338554"/>
              </a:xfrm>
              <a:prstGeom prst="rect">
                <a:avLst/>
              </a:prstGeom>
              <a:noFill/>
            </p:spPr>
            <p:txBody>
              <a:bodyPr wrap="none" rtlCol="0">
                <a:spAutoFit/>
              </a:bodyPr>
              <a:lstStyle/>
              <a:p>
                <a:r>
                  <a:rPr lang="en-US" sz="1600" dirty="0"/>
                  <a:t>LSB</a:t>
                </a:r>
              </a:p>
            </p:txBody>
          </p:sp>
          <p:sp>
            <p:nvSpPr>
              <p:cNvPr id="46" name="TextBox 45"/>
              <p:cNvSpPr txBox="1"/>
              <p:nvPr/>
            </p:nvSpPr>
            <p:spPr>
              <a:xfrm>
                <a:off x="4081333" y="5390907"/>
                <a:ext cx="554960" cy="338554"/>
              </a:xfrm>
              <a:prstGeom prst="rect">
                <a:avLst/>
              </a:prstGeom>
              <a:noFill/>
            </p:spPr>
            <p:txBody>
              <a:bodyPr wrap="none" rtlCol="0">
                <a:spAutoFit/>
              </a:bodyPr>
              <a:lstStyle/>
              <a:p>
                <a:r>
                  <a:rPr lang="en-US" sz="1600" dirty="0"/>
                  <a:t>MSB</a:t>
                </a:r>
              </a:p>
            </p:txBody>
          </p:sp>
        </p:grpSp>
      </p:grpSp>
    </p:spTree>
    <p:custDataLst>
      <p:tags r:id="rId1"/>
    </p:custDataLst>
    <p:extLst>
      <p:ext uri="{BB962C8B-B14F-4D97-AF65-F5344CB8AC3E}">
        <p14:creationId xmlns:p14="http://schemas.microsoft.com/office/powerpoint/2010/main" val="1610169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Pointer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a:t>
            </a:fld>
            <a:endParaRPr kumimoji="0" lang="en-US" dirty="0"/>
          </a:p>
        </p:txBody>
      </p:sp>
      <p:sp>
        <p:nvSpPr>
          <p:cNvPr id="4" name="Content Placeholder 3"/>
          <p:cNvSpPr>
            <a:spLocks noGrp="1"/>
          </p:cNvSpPr>
          <p:nvPr>
            <p:ph sz="quarter" idx="1"/>
          </p:nvPr>
        </p:nvSpPr>
        <p:spPr>
          <a:xfrm>
            <a:off x="457200" y="1219200"/>
            <a:ext cx="7058401" cy="3429000"/>
          </a:xfrm>
        </p:spPr>
        <p:txBody>
          <a:bodyPr>
            <a:normAutofit/>
          </a:bodyPr>
          <a:lstStyle/>
          <a:p>
            <a:r>
              <a:rPr lang="en-US" dirty="0"/>
              <a:t>The value of a </a:t>
            </a:r>
            <a:r>
              <a:rPr lang="en-US" i="1" dirty="0">
                <a:solidFill>
                  <a:srgbClr val="C00000"/>
                </a:solidFill>
              </a:rPr>
              <a:t>pointer</a:t>
            </a:r>
            <a:r>
              <a:rPr lang="en-US" dirty="0"/>
              <a:t> is simply the memory address of some variable</a:t>
            </a:r>
          </a:p>
          <a:p>
            <a:pPr lvl="1"/>
            <a:r>
              <a:rPr lang="en-US" dirty="0"/>
              <a:t>If a variable occupies multiple bytes in memory, its address is the lowest address of all bytes it occupies.</a:t>
            </a:r>
          </a:p>
          <a:p>
            <a:pPr lvl="1"/>
            <a:r>
              <a:rPr lang="en-US" dirty="0"/>
              <a:t>Address of the integer = </a:t>
            </a:r>
            <a:r>
              <a:rPr lang="en-US" dirty="0">
                <a:solidFill>
                  <a:srgbClr val="FF00FF"/>
                </a:solidFill>
                <a:latin typeface="Consolas" panose="020B0609020204030204" pitchFamily="49" charset="0"/>
              </a:rPr>
              <a:t>0x20000004</a:t>
            </a:r>
            <a:r>
              <a:rPr lang="en-US" dirty="0"/>
              <a:t>, regardless of the endian</a:t>
            </a:r>
          </a:p>
          <a:p>
            <a:pPr lvl="1"/>
            <a:endParaRPr lang="en-US" dirty="0"/>
          </a:p>
          <a:p>
            <a:r>
              <a:rPr lang="en-US" dirty="0"/>
              <a:t>Define pointers</a:t>
            </a:r>
          </a:p>
        </p:txBody>
      </p:sp>
      <p:sp>
        <p:nvSpPr>
          <p:cNvPr id="5" name="TextBox 4"/>
          <p:cNvSpPr txBox="1"/>
          <p:nvPr/>
        </p:nvSpPr>
        <p:spPr>
          <a:xfrm>
            <a:off x="420176" y="4643865"/>
            <a:ext cx="7008839"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a:solidFill>
                  <a:srgbClr val="C00000"/>
                </a:solidFill>
                <a:latin typeface="Consolas" panose="020B0609020204030204" pitchFamily="49" charset="0"/>
              </a:rPr>
              <a:t>int * </a:t>
            </a:r>
            <a:r>
              <a:rPr lang="en-US" dirty="0" err="1">
                <a:solidFill>
                  <a:srgbClr val="C00000"/>
                </a:solidFill>
                <a:latin typeface="Consolas" panose="020B0609020204030204" pitchFamily="49" charset="0"/>
              </a:rPr>
              <a:t>ip</a:t>
            </a:r>
            <a:r>
              <a:rPr lang="en-US" dirty="0">
                <a:solidFill>
                  <a:srgbClr val="C00000"/>
                </a:solidFill>
                <a:latin typeface="Consolas" panose="020B0609020204030204" pitchFamily="49" charset="0"/>
              </a:rPr>
              <a:t>;    </a:t>
            </a:r>
            <a:r>
              <a:rPr lang="en-US" dirty="0">
                <a:latin typeface="Consolas" panose="020B0609020204030204" pitchFamily="49" charset="0"/>
              </a:rPr>
              <a:t>// </a:t>
            </a:r>
            <a:r>
              <a:rPr lang="en-US" dirty="0" err="1">
                <a:latin typeface="Consolas" panose="020B0609020204030204" pitchFamily="49" charset="0"/>
              </a:rPr>
              <a:t>ip</a:t>
            </a:r>
            <a:r>
              <a:rPr lang="en-US" dirty="0">
                <a:latin typeface="Consolas" panose="020B0609020204030204" pitchFamily="49" charset="0"/>
              </a:rPr>
              <a:t> can hold the address of an integer</a:t>
            </a:r>
          </a:p>
          <a:p>
            <a:r>
              <a:rPr lang="en-US" dirty="0">
                <a:solidFill>
                  <a:srgbClr val="C00000"/>
                </a:solidFill>
                <a:latin typeface="Consolas" panose="020B0609020204030204" pitchFamily="49" charset="0"/>
              </a:rPr>
              <a:t>float * </a:t>
            </a:r>
            <a:r>
              <a:rPr lang="en-US" dirty="0" err="1">
                <a:solidFill>
                  <a:srgbClr val="C00000"/>
                </a:solidFill>
                <a:latin typeface="Consolas" panose="020B0609020204030204" pitchFamily="49" charset="0"/>
              </a:rPr>
              <a:t>fp</a:t>
            </a:r>
            <a:r>
              <a:rPr lang="en-US" dirty="0">
                <a:solidFill>
                  <a:srgbClr val="C00000"/>
                </a:solidFill>
                <a:latin typeface="Consolas" panose="020B0609020204030204" pitchFamily="49" charset="0"/>
              </a:rPr>
              <a:t>;  </a:t>
            </a:r>
            <a:r>
              <a:rPr lang="en-US" dirty="0">
                <a:latin typeface="Consolas" panose="020B0609020204030204" pitchFamily="49" charset="0"/>
              </a:rPr>
              <a:t>// </a:t>
            </a:r>
            <a:r>
              <a:rPr lang="en-US" dirty="0" err="1">
                <a:latin typeface="Consolas" panose="020B0609020204030204" pitchFamily="49" charset="0"/>
              </a:rPr>
              <a:t>fp</a:t>
            </a:r>
            <a:r>
              <a:rPr lang="en-US" dirty="0">
                <a:latin typeface="Consolas" panose="020B0609020204030204" pitchFamily="49" charset="0"/>
              </a:rPr>
              <a:t> can hold the address of a float</a:t>
            </a:r>
          </a:p>
          <a:p>
            <a:r>
              <a:rPr lang="en-US" dirty="0">
                <a:solidFill>
                  <a:srgbClr val="C00000"/>
                </a:solidFill>
                <a:latin typeface="Consolas" panose="020B0609020204030204" pitchFamily="49" charset="0"/>
              </a:rPr>
              <a:t>double * </a:t>
            </a:r>
            <a:r>
              <a:rPr lang="en-US" dirty="0" err="1">
                <a:solidFill>
                  <a:srgbClr val="C00000"/>
                </a:solidFill>
                <a:latin typeface="Consolas" panose="020B0609020204030204" pitchFamily="49" charset="0"/>
              </a:rPr>
              <a:t>dp</a:t>
            </a:r>
            <a:r>
              <a:rPr lang="en-US" dirty="0">
                <a:solidFill>
                  <a:srgbClr val="C00000"/>
                </a:solidFill>
                <a:latin typeface="Consolas" panose="020B0609020204030204" pitchFamily="49" charset="0"/>
              </a:rPr>
              <a:t>; </a:t>
            </a:r>
            <a:r>
              <a:rPr lang="en-US" dirty="0">
                <a:latin typeface="Consolas" panose="020B0609020204030204" pitchFamily="49" charset="0"/>
              </a:rPr>
              <a:t>// </a:t>
            </a:r>
            <a:r>
              <a:rPr lang="en-US" dirty="0" err="1">
                <a:latin typeface="Consolas" panose="020B0609020204030204" pitchFamily="49" charset="0"/>
              </a:rPr>
              <a:t>dp</a:t>
            </a:r>
            <a:r>
              <a:rPr lang="en-US" dirty="0">
                <a:latin typeface="Consolas" panose="020B0609020204030204" pitchFamily="49" charset="0"/>
              </a:rPr>
              <a:t> can hold the address of a double</a:t>
            </a:r>
          </a:p>
          <a:p>
            <a:r>
              <a:rPr lang="en-US" dirty="0">
                <a:solidFill>
                  <a:srgbClr val="C00000"/>
                </a:solidFill>
                <a:latin typeface="Consolas" panose="020B0609020204030204" pitchFamily="49" charset="0"/>
              </a:rPr>
              <a:t>char * </a:t>
            </a:r>
            <a:r>
              <a:rPr lang="en-US" dirty="0" err="1">
                <a:solidFill>
                  <a:srgbClr val="C00000"/>
                </a:solidFill>
                <a:latin typeface="Consolas" panose="020B0609020204030204" pitchFamily="49" charset="0"/>
              </a:rPr>
              <a:t>cp</a:t>
            </a:r>
            <a:r>
              <a:rPr lang="en-US" dirty="0">
                <a:solidFill>
                  <a:srgbClr val="C00000"/>
                </a:solidFill>
                <a:latin typeface="Consolas" panose="020B0609020204030204" pitchFamily="49" charset="0"/>
              </a:rPr>
              <a:t>;   </a:t>
            </a:r>
            <a:r>
              <a:rPr lang="en-US" dirty="0">
                <a:latin typeface="Consolas" panose="020B0609020204030204" pitchFamily="49" charset="0"/>
              </a:rPr>
              <a:t>// </a:t>
            </a:r>
            <a:r>
              <a:rPr lang="en-US" dirty="0" err="1">
                <a:latin typeface="Consolas" panose="020B0609020204030204" pitchFamily="49" charset="0"/>
              </a:rPr>
              <a:t>cp</a:t>
            </a:r>
            <a:r>
              <a:rPr lang="en-US" dirty="0">
                <a:latin typeface="Consolas" panose="020B0609020204030204" pitchFamily="49" charset="0"/>
              </a:rPr>
              <a:t> can hold the address of a character</a:t>
            </a:r>
          </a:p>
        </p:txBody>
      </p:sp>
      <p:grpSp>
        <p:nvGrpSpPr>
          <p:cNvPr id="38" name="Group 37"/>
          <p:cNvGrpSpPr/>
          <p:nvPr/>
        </p:nvGrpSpPr>
        <p:grpSpPr>
          <a:xfrm>
            <a:off x="7520513" y="1295400"/>
            <a:ext cx="4634316" cy="4803577"/>
            <a:chOff x="7520513" y="1295400"/>
            <a:chExt cx="4634316" cy="4803577"/>
          </a:xfrm>
        </p:grpSpPr>
        <p:grpSp>
          <p:nvGrpSpPr>
            <p:cNvPr id="6" name="Group 5"/>
            <p:cNvGrpSpPr/>
            <p:nvPr/>
          </p:nvGrpSpPr>
          <p:grpSpPr>
            <a:xfrm>
              <a:off x="7520513" y="1295400"/>
              <a:ext cx="3147487" cy="4803577"/>
              <a:chOff x="5806709" y="1307068"/>
              <a:chExt cx="2827177" cy="4803577"/>
            </a:xfrm>
          </p:grpSpPr>
          <p:sp>
            <p:nvSpPr>
              <p:cNvPr id="7" name="Rectangle 6"/>
              <p:cNvSpPr/>
              <p:nvPr/>
            </p:nvSpPr>
            <p:spPr>
              <a:xfrm>
                <a:off x="7342456" y="2690336"/>
                <a:ext cx="1289400" cy="369332"/>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rgbClr val="C00000"/>
                    </a:solidFill>
                    <a:latin typeface="Consolas" panose="020B0609020204030204" pitchFamily="49" charset="0"/>
                    <a:cs typeface="Consolas" panose="020B0609020204030204" pitchFamily="49" charset="0"/>
                  </a:rPr>
                  <a:t>01110010</a:t>
                </a:r>
                <a:endParaRPr lang="pl-PL" dirty="0">
                  <a:solidFill>
                    <a:srgbClr val="C00000"/>
                  </a:solidFill>
                  <a:latin typeface="Consolas" panose="020B0609020204030204" pitchFamily="49" charset="0"/>
                  <a:cs typeface="Consolas" panose="020B0609020204030204" pitchFamily="49" charset="0"/>
                </a:endParaRPr>
              </a:p>
            </p:txBody>
          </p:sp>
          <p:sp>
            <p:nvSpPr>
              <p:cNvPr id="8" name="Rectangle 7"/>
              <p:cNvSpPr/>
              <p:nvPr/>
            </p:nvSpPr>
            <p:spPr>
              <a:xfrm>
                <a:off x="7344136" y="3059222"/>
                <a:ext cx="1289400" cy="369332"/>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rgbClr val="C00000"/>
                    </a:solidFill>
                    <a:latin typeface="Consolas" panose="020B0609020204030204" pitchFamily="49" charset="0"/>
                    <a:cs typeface="Consolas" panose="020B0609020204030204" pitchFamily="49" charset="0"/>
                  </a:rPr>
                  <a:t>00100101</a:t>
                </a:r>
                <a:endParaRPr lang="pl-PL" dirty="0">
                  <a:solidFill>
                    <a:srgbClr val="C00000"/>
                  </a:solidFill>
                  <a:latin typeface="Consolas" panose="020B0609020204030204" pitchFamily="49" charset="0"/>
                  <a:cs typeface="Consolas" panose="020B0609020204030204" pitchFamily="49" charset="0"/>
                </a:endParaRPr>
              </a:p>
            </p:txBody>
          </p:sp>
          <p:sp>
            <p:nvSpPr>
              <p:cNvPr id="9" name="Rectangle 8"/>
              <p:cNvSpPr/>
              <p:nvPr/>
            </p:nvSpPr>
            <p:spPr>
              <a:xfrm>
                <a:off x="7343951" y="3426936"/>
                <a:ext cx="1289400" cy="369332"/>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rgbClr val="C00000"/>
                    </a:solidFill>
                    <a:latin typeface="Consolas" panose="020B0609020204030204" pitchFamily="49" charset="0"/>
                    <a:cs typeface="Consolas" panose="020B0609020204030204" pitchFamily="49" charset="0"/>
                  </a:rPr>
                  <a:t>11100010</a:t>
                </a:r>
                <a:endParaRPr lang="pl-PL" dirty="0">
                  <a:solidFill>
                    <a:srgbClr val="C00000"/>
                  </a:solidFill>
                  <a:latin typeface="Consolas" panose="020B0609020204030204" pitchFamily="49" charset="0"/>
                  <a:cs typeface="Consolas" panose="020B0609020204030204" pitchFamily="49" charset="0"/>
                </a:endParaRPr>
              </a:p>
            </p:txBody>
          </p:sp>
          <p:sp>
            <p:nvSpPr>
              <p:cNvPr id="10" name="Rectangle 9"/>
              <p:cNvSpPr/>
              <p:nvPr/>
            </p:nvSpPr>
            <p:spPr>
              <a:xfrm>
                <a:off x="7342456" y="3795822"/>
                <a:ext cx="1289400" cy="369332"/>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rgbClr val="C00000"/>
                    </a:solidFill>
                    <a:latin typeface="Consolas" panose="020B0609020204030204" pitchFamily="49" charset="0"/>
                    <a:cs typeface="Consolas" panose="020B0609020204030204" pitchFamily="49" charset="0"/>
                  </a:rPr>
                  <a:t>10000100</a:t>
                </a:r>
                <a:endParaRPr lang="pl-PL" dirty="0">
                  <a:solidFill>
                    <a:srgbClr val="C00000"/>
                  </a:solidFill>
                  <a:latin typeface="Consolas" panose="020B0609020204030204" pitchFamily="49" charset="0"/>
                  <a:cs typeface="Consolas" panose="020B0609020204030204" pitchFamily="49" charset="0"/>
                </a:endParaRPr>
              </a:p>
            </p:txBody>
          </p:sp>
          <p:sp>
            <p:nvSpPr>
              <p:cNvPr id="11" name="Rectangle 10"/>
              <p:cNvSpPr/>
              <p:nvPr/>
            </p:nvSpPr>
            <p:spPr>
              <a:xfrm>
                <a:off x="7342806" y="41635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01100001</a:t>
                </a:r>
                <a:endParaRPr lang="pl-PL" dirty="0">
                  <a:latin typeface="Consolas" panose="020B0609020204030204" pitchFamily="49" charset="0"/>
                  <a:cs typeface="Consolas" panose="020B0609020204030204" pitchFamily="49" charset="0"/>
                </a:endParaRPr>
              </a:p>
            </p:txBody>
          </p:sp>
          <p:sp>
            <p:nvSpPr>
              <p:cNvPr id="12" name="Rectangle 11"/>
              <p:cNvSpPr/>
              <p:nvPr/>
            </p:nvSpPr>
            <p:spPr>
              <a:xfrm>
                <a:off x="7344486" y="45324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10001111</a:t>
                </a:r>
                <a:endParaRPr lang="pl-PL" dirty="0">
                  <a:latin typeface="Consolas" panose="020B0609020204030204" pitchFamily="49" charset="0"/>
                  <a:cs typeface="Consolas" panose="020B0609020204030204" pitchFamily="49" charset="0"/>
                </a:endParaRPr>
              </a:p>
            </p:txBody>
          </p:sp>
          <p:sp>
            <p:nvSpPr>
              <p:cNvPr id="13" name="Rectangle 12"/>
              <p:cNvSpPr/>
              <p:nvPr/>
            </p:nvSpPr>
            <p:spPr>
              <a:xfrm>
                <a:off x="7344301" y="49001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00010010</a:t>
                </a:r>
                <a:endParaRPr lang="pl-PL" dirty="0">
                  <a:latin typeface="Consolas" panose="020B0609020204030204" pitchFamily="49" charset="0"/>
                  <a:cs typeface="Consolas" panose="020B0609020204030204" pitchFamily="49" charset="0"/>
                </a:endParaRPr>
              </a:p>
            </p:txBody>
          </p:sp>
          <p:sp>
            <p:nvSpPr>
              <p:cNvPr id="14" name="Rectangle 13"/>
              <p:cNvSpPr/>
              <p:nvPr/>
            </p:nvSpPr>
            <p:spPr>
              <a:xfrm>
                <a:off x="7342806" y="52690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10010100</a:t>
                </a:r>
                <a:endParaRPr lang="pl-PL" dirty="0">
                  <a:latin typeface="Consolas" panose="020B0609020204030204" pitchFamily="49" charset="0"/>
                  <a:cs typeface="Consolas" panose="020B0609020204030204" pitchFamily="49" charset="0"/>
                </a:endParaRPr>
              </a:p>
            </p:txBody>
          </p:sp>
          <p:cxnSp>
            <p:nvCxnSpPr>
              <p:cNvPr id="15" name="Straight Connector 14"/>
              <p:cNvCxnSpPr>
                <a:stCxn id="19" idx="0"/>
                <a:endCxn id="7" idx="1"/>
              </p:cNvCxnSpPr>
              <p:nvPr/>
            </p:nvCxnSpPr>
            <p:spPr>
              <a:xfrm>
                <a:off x="7342456" y="2434633"/>
                <a:ext cx="0" cy="440369"/>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19" idx="3"/>
                <a:endCxn id="7" idx="3"/>
              </p:cNvCxnSpPr>
              <p:nvPr/>
            </p:nvCxnSpPr>
            <p:spPr>
              <a:xfrm>
                <a:off x="8628330" y="2225175"/>
                <a:ext cx="3526" cy="64982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4" idx="1"/>
                <a:endCxn id="20" idx="0"/>
              </p:cNvCxnSpPr>
              <p:nvPr/>
            </p:nvCxnSpPr>
            <p:spPr>
              <a:xfrm flipH="1">
                <a:off x="7342456" y="5422911"/>
                <a:ext cx="350" cy="60479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a:stCxn id="14" idx="3"/>
                <a:endCxn id="20" idx="3"/>
              </p:cNvCxnSpPr>
              <p:nvPr/>
            </p:nvCxnSpPr>
            <p:spPr>
              <a:xfrm flipH="1">
                <a:off x="8628331" y="5422911"/>
                <a:ext cx="3875" cy="39533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7342456" y="22214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20" name="Freeform 19"/>
              <p:cNvSpPr/>
              <p:nvPr/>
            </p:nvSpPr>
            <p:spPr>
              <a:xfrm>
                <a:off x="7342456" y="5814536"/>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21" name="TextBox 20"/>
              <p:cNvSpPr txBox="1"/>
              <p:nvPr/>
            </p:nvSpPr>
            <p:spPr>
              <a:xfrm>
                <a:off x="5943600" y="5802868"/>
                <a:ext cx="1277914"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Low Address</a:t>
                </a:r>
              </a:p>
            </p:txBody>
          </p:sp>
          <p:sp>
            <p:nvSpPr>
              <p:cNvPr id="22" name="TextBox 21"/>
              <p:cNvSpPr txBox="1"/>
              <p:nvPr/>
            </p:nvSpPr>
            <p:spPr>
              <a:xfrm>
                <a:off x="5806709" y="2145268"/>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High Address</a:t>
                </a:r>
              </a:p>
            </p:txBody>
          </p:sp>
          <p:sp>
            <p:nvSpPr>
              <p:cNvPr id="23" name="Rectangle 22"/>
              <p:cNvSpPr/>
              <p:nvPr/>
            </p:nvSpPr>
            <p:spPr>
              <a:xfrm>
                <a:off x="5943600" y="2690336"/>
                <a:ext cx="1365600"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rgbClr val="0000FF"/>
                    </a:solidFill>
                    <a:latin typeface="Consolas" panose="020B0609020204030204" pitchFamily="49" charset="0"/>
                    <a:cs typeface="Consolas" panose="020B0609020204030204" pitchFamily="49" charset="0"/>
                  </a:rPr>
                  <a:t>0x20000007</a:t>
                </a:r>
                <a:endParaRPr lang="pl-PL" dirty="0">
                  <a:solidFill>
                    <a:srgbClr val="0000FF"/>
                  </a:solidFill>
                  <a:latin typeface="Consolas" panose="020B0609020204030204" pitchFamily="49" charset="0"/>
                  <a:cs typeface="Consolas" panose="020B0609020204030204" pitchFamily="49" charset="0"/>
                </a:endParaRPr>
              </a:p>
            </p:txBody>
          </p:sp>
          <p:sp>
            <p:nvSpPr>
              <p:cNvPr id="24" name="Rectangle 23"/>
              <p:cNvSpPr/>
              <p:nvPr/>
            </p:nvSpPr>
            <p:spPr>
              <a:xfrm>
                <a:off x="5945280" y="3059222"/>
                <a:ext cx="1365600"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rgbClr val="0000FF"/>
                    </a:solidFill>
                    <a:latin typeface="Consolas" panose="020B0609020204030204" pitchFamily="49" charset="0"/>
                    <a:cs typeface="Consolas" panose="020B0609020204030204" pitchFamily="49" charset="0"/>
                  </a:rPr>
                  <a:t>0x20000006</a:t>
                </a:r>
                <a:endParaRPr lang="pl-PL" dirty="0">
                  <a:solidFill>
                    <a:srgbClr val="0000FF"/>
                  </a:solidFill>
                  <a:latin typeface="Consolas" panose="020B0609020204030204" pitchFamily="49" charset="0"/>
                  <a:cs typeface="Consolas" panose="020B0609020204030204" pitchFamily="49" charset="0"/>
                </a:endParaRPr>
              </a:p>
            </p:txBody>
          </p:sp>
          <p:sp>
            <p:nvSpPr>
              <p:cNvPr id="25" name="Rectangle 24"/>
              <p:cNvSpPr/>
              <p:nvPr/>
            </p:nvSpPr>
            <p:spPr>
              <a:xfrm>
                <a:off x="5945095" y="3426936"/>
                <a:ext cx="1365600"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rgbClr val="0000FF"/>
                    </a:solidFill>
                    <a:latin typeface="Consolas" panose="020B0609020204030204" pitchFamily="49" charset="0"/>
                    <a:cs typeface="Consolas" panose="020B0609020204030204" pitchFamily="49" charset="0"/>
                  </a:rPr>
                  <a:t>0x20000005</a:t>
                </a:r>
                <a:endParaRPr lang="pl-PL" dirty="0">
                  <a:solidFill>
                    <a:srgbClr val="0000FF"/>
                  </a:solidFill>
                  <a:latin typeface="Consolas" panose="020B0609020204030204" pitchFamily="49" charset="0"/>
                  <a:cs typeface="Consolas" panose="020B0609020204030204" pitchFamily="49" charset="0"/>
                </a:endParaRPr>
              </a:p>
            </p:txBody>
          </p:sp>
          <p:sp>
            <p:nvSpPr>
              <p:cNvPr id="26" name="Rectangle 25"/>
              <p:cNvSpPr/>
              <p:nvPr/>
            </p:nvSpPr>
            <p:spPr>
              <a:xfrm>
                <a:off x="5943600" y="3795822"/>
                <a:ext cx="1365600" cy="369332"/>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rgbClr val="FF00FF"/>
                    </a:solidFill>
                    <a:latin typeface="Consolas" panose="020B0609020204030204" pitchFamily="49" charset="0"/>
                    <a:cs typeface="Consolas" panose="020B0609020204030204" pitchFamily="49" charset="0"/>
                  </a:rPr>
                  <a:t>0x20000004</a:t>
                </a:r>
                <a:endParaRPr lang="pl-PL" dirty="0">
                  <a:solidFill>
                    <a:srgbClr val="FF00FF"/>
                  </a:solidFill>
                  <a:latin typeface="Consolas" panose="020B0609020204030204" pitchFamily="49" charset="0"/>
                  <a:cs typeface="Consolas" panose="020B0609020204030204" pitchFamily="49" charset="0"/>
                </a:endParaRPr>
              </a:p>
            </p:txBody>
          </p:sp>
          <p:sp>
            <p:nvSpPr>
              <p:cNvPr id="27" name="Rectangle 26"/>
              <p:cNvSpPr/>
              <p:nvPr/>
            </p:nvSpPr>
            <p:spPr>
              <a:xfrm>
                <a:off x="5943950" y="41635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0x20000003</a:t>
                </a:r>
                <a:endParaRPr lang="pl-PL" dirty="0">
                  <a:latin typeface="Consolas" panose="020B0609020204030204" pitchFamily="49" charset="0"/>
                  <a:cs typeface="Consolas" panose="020B0609020204030204" pitchFamily="49" charset="0"/>
                </a:endParaRPr>
              </a:p>
            </p:txBody>
          </p:sp>
          <p:sp>
            <p:nvSpPr>
              <p:cNvPr id="28" name="Rectangle 27"/>
              <p:cNvSpPr/>
              <p:nvPr/>
            </p:nvSpPr>
            <p:spPr>
              <a:xfrm>
                <a:off x="5945630" y="45324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0x20000002</a:t>
                </a:r>
                <a:endParaRPr lang="pl-PL" dirty="0">
                  <a:latin typeface="Consolas" panose="020B0609020204030204" pitchFamily="49" charset="0"/>
                  <a:cs typeface="Consolas" panose="020B0609020204030204" pitchFamily="49" charset="0"/>
                </a:endParaRPr>
              </a:p>
            </p:txBody>
          </p:sp>
          <p:sp>
            <p:nvSpPr>
              <p:cNvPr id="29" name="Rectangle 28"/>
              <p:cNvSpPr/>
              <p:nvPr/>
            </p:nvSpPr>
            <p:spPr>
              <a:xfrm>
                <a:off x="5945445" y="49001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0x20000001</a:t>
                </a:r>
                <a:endParaRPr lang="pl-PL" dirty="0">
                  <a:latin typeface="Consolas" panose="020B0609020204030204" pitchFamily="49" charset="0"/>
                  <a:cs typeface="Consolas" panose="020B0609020204030204" pitchFamily="49" charset="0"/>
                </a:endParaRPr>
              </a:p>
            </p:txBody>
          </p:sp>
          <p:sp>
            <p:nvSpPr>
              <p:cNvPr id="30" name="Rectangle 29"/>
              <p:cNvSpPr/>
              <p:nvPr/>
            </p:nvSpPr>
            <p:spPr>
              <a:xfrm>
                <a:off x="5943950" y="52690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0x20000000</a:t>
                </a:r>
                <a:endParaRPr lang="pl-PL" dirty="0">
                  <a:latin typeface="Consolas" panose="020B0609020204030204" pitchFamily="49" charset="0"/>
                  <a:cs typeface="Consolas" panose="020B0609020204030204" pitchFamily="49" charset="0"/>
                </a:endParaRPr>
              </a:p>
            </p:txBody>
          </p:sp>
          <p:grpSp>
            <p:nvGrpSpPr>
              <p:cNvPr id="31" name="Group 30"/>
              <p:cNvGrpSpPr/>
              <p:nvPr/>
            </p:nvGrpSpPr>
            <p:grpSpPr>
              <a:xfrm>
                <a:off x="7327900" y="1307068"/>
                <a:ext cx="1295400" cy="794266"/>
                <a:chOff x="3124200" y="4191000"/>
                <a:chExt cx="1295400" cy="794266"/>
              </a:xfrm>
            </p:grpSpPr>
            <p:sp>
              <p:nvSpPr>
                <p:cNvPr id="32" name="Rectangle 31"/>
                <p:cNvSpPr/>
                <p:nvPr/>
              </p:nvSpPr>
              <p:spPr>
                <a:xfrm>
                  <a:off x="3124200" y="4191000"/>
                  <a:ext cx="1289400" cy="36933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One </a:t>
                  </a:r>
                  <a:r>
                    <a:rPr lang="en-US" b="1" dirty="0">
                      <a:solidFill>
                        <a:srgbClr val="C00000"/>
                      </a:solidFill>
                      <a:latin typeface="Consolas" panose="020B0609020204030204" pitchFamily="49" charset="0"/>
                      <a:cs typeface="Consolas" panose="020B0609020204030204" pitchFamily="49" charset="0"/>
                    </a:rPr>
                    <a:t>Byte</a:t>
                  </a:r>
                  <a:endParaRPr lang="pl-PL" b="1" dirty="0">
                    <a:solidFill>
                      <a:srgbClr val="C00000"/>
                    </a:solidFill>
                    <a:latin typeface="Consolas" panose="020B0609020204030204" pitchFamily="49" charset="0"/>
                    <a:cs typeface="Consolas" panose="020B0609020204030204" pitchFamily="49" charset="0"/>
                  </a:endParaRPr>
                </a:p>
              </p:txBody>
            </p:sp>
            <p:cxnSp>
              <p:nvCxnSpPr>
                <p:cNvPr id="33" name="Straight Connector 32"/>
                <p:cNvCxnSpPr>
                  <a:stCxn id="32" idx="1"/>
                </p:cNvCxnSpPr>
                <p:nvPr/>
              </p:nvCxnSpPr>
              <p:spPr>
                <a:xfrm>
                  <a:off x="3124200" y="4375666"/>
                  <a:ext cx="0" cy="60960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a:stCxn id="32" idx="3"/>
                </p:cNvCxnSpPr>
                <p:nvPr/>
              </p:nvCxnSpPr>
              <p:spPr>
                <a:xfrm>
                  <a:off x="4413600" y="4375666"/>
                  <a:ext cx="1588" cy="60960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sp>
          <p:nvSpPr>
            <p:cNvPr id="36" name="Right Brace 35"/>
            <p:cNvSpPr/>
            <p:nvPr/>
          </p:nvSpPr>
          <p:spPr>
            <a:xfrm>
              <a:off x="10744200" y="2678668"/>
              <a:ext cx="304800" cy="1473200"/>
            </a:xfrm>
            <a:prstGeom prst="rightBrace">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TextBox 36"/>
            <p:cNvSpPr txBox="1"/>
            <p:nvPr/>
          </p:nvSpPr>
          <p:spPr>
            <a:xfrm>
              <a:off x="10982713" y="3092102"/>
              <a:ext cx="1172116" cy="646331"/>
            </a:xfrm>
            <a:prstGeom prst="rect">
              <a:avLst/>
            </a:prstGeom>
            <a:noFill/>
          </p:spPr>
          <p:txBody>
            <a:bodyPr wrap="none" rtlCol="0">
              <a:spAutoFit/>
            </a:bodyPr>
            <a:lstStyle/>
            <a:p>
              <a:pPr algn="ctr"/>
              <a:r>
                <a:rPr lang="en-US" dirty="0">
                  <a:solidFill>
                    <a:srgbClr val="C00000"/>
                  </a:solidFill>
                </a:rPr>
                <a:t>An integer</a:t>
              </a:r>
            </a:p>
            <a:p>
              <a:pPr algn="ctr"/>
              <a:r>
                <a:rPr lang="en-US" dirty="0">
                  <a:solidFill>
                    <a:srgbClr val="C00000"/>
                  </a:solidFill>
                </a:rPr>
                <a:t>(4 bytes)</a:t>
              </a:r>
            </a:p>
          </p:txBody>
        </p:sp>
      </p:grpSp>
      <p:cxnSp>
        <p:nvCxnSpPr>
          <p:cNvPr id="41" name="Straight Connector 40"/>
          <p:cNvCxnSpPr/>
          <p:nvPr/>
        </p:nvCxnSpPr>
        <p:spPr>
          <a:xfrm>
            <a:off x="7357240" y="3979818"/>
            <a:ext cx="403811" cy="0"/>
          </a:xfrm>
          <a:prstGeom prst="line">
            <a:avLst/>
          </a:prstGeom>
          <a:ln w="28575">
            <a:solidFill>
              <a:srgbClr val="FF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4876242" y="3784154"/>
            <a:ext cx="2480166" cy="369332"/>
          </a:xfrm>
          <a:prstGeom prst="rect">
            <a:avLst/>
          </a:prstGeom>
          <a:noFill/>
        </p:spPr>
        <p:txBody>
          <a:bodyPr wrap="none" rtlCol="0">
            <a:spAutoFit/>
          </a:bodyPr>
          <a:lstStyle/>
          <a:p>
            <a:r>
              <a:rPr lang="en-US" dirty="0">
                <a:solidFill>
                  <a:srgbClr val="FF00FF"/>
                </a:solidFill>
                <a:latin typeface="Arial" panose="020B0604020202020204" pitchFamily="34" charset="0"/>
                <a:cs typeface="Arial" panose="020B0604020202020204" pitchFamily="34" charset="0"/>
              </a:rPr>
              <a:t>Address of this integer</a:t>
            </a:r>
          </a:p>
        </p:txBody>
      </p:sp>
    </p:spTree>
    <p:custDataLst>
      <p:tags r:id="rId1"/>
    </p:custDataLst>
    <p:extLst>
      <p:ext uri="{BB962C8B-B14F-4D97-AF65-F5344CB8AC3E}">
        <p14:creationId xmlns:p14="http://schemas.microsoft.com/office/powerpoint/2010/main" val="1026297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22" presetClass="entr" presetSubtype="8" repeatCount="300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wipe(left)">
                                      <p:cBhvr>
                                        <p:cTn id="15" dur="1000"/>
                                        <p:tgtEl>
                                          <p:spTgt spid="41"/>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
                                            <p:txEl>
                                              <p:pRg st="4" end="4"/>
                                            </p:tx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and Dereference Operators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5" name="Content Placeholder 3"/>
          <p:cNvSpPr>
            <a:spLocks noGrp="1"/>
          </p:cNvSpPr>
          <p:nvPr>
            <p:ph sz="quarter" idx="1"/>
          </p:nvPr>
        </p:nvSpPr>
        <p:spPr>
          <a:xfrm>
            <a:off x="609600" y="1387475"/>
            <a:ext cx="3886200" cy="2362200"/>
          </a:xfrm>
          <a:gradFill flip="none" rotWithShape="1">
            <a:gsLst>
              <a:gs pos="0">
                <a:schemeClr val="accent5">
                  <a:tint val="45000"/>
                  <a:satMod val="200000"/>
                </a:schemeClr>
              </a:gs>
              <a:gs pos="30000">
                <a:schemeClr val="accent5">
                  <a:tint val="61000"/>
                  <a:satMod val="200000"/>
                </a:schemeClr>
              </a:gs>
              <a:gs pos="45000">
                <a:schemeClr val="accent5">
                  <a:tint val="66000"/>
                  <a:satMod val="200000"/>
                </a:schemeClr>
              </a:gs>
              <a:gs pos="55000">
                <a:schemeClr val="accent5">
                  <a:tint val="66000"/>
                  <a:satMod val="200000"/>
                </a:schemeClr>
              </a:gs>
              <a:gs pos="73000">
                <a:schemeClr val="accent5">
                  <a:tint val="61000"/>
                  <a:satMod val="200000"/>
                </a:schemeClr>
              </a:gs>
              <a:gs pos="100000">
                <a:schemeClr val="accent5">
                  <a:tint val="45000"/>
                  <a:satMod val="200000"/>
                </a:schemeClr>
              </a:gs>
            </a:gsLst>
            <a:lin ang="16200000" scaled="1"/>
            <a:tileRect/>
          </a:gradFill>
        </p:spPr>
        <p:style>
          <a:lnRef idx="1">
            <a:schemeClr val="accent5"/>
          </a:lnRef>
          <a:fillRef idx="2">
            <a:schemeClr val="accent5"/>
          </a:fillRef>
          <a:effectRef idx="1">
            <a:schemeClr val="accent5"/>
          </a:effectRef>
          <a:fontRef idx="minor">
            <a:schemeClr val="dk1"/>
          </a:fontRef>
        </p:style>
        <p:txBody>
          <a:bodyPr>
            <a:normAutofit lnSpcReduction="10000"/>
          </a:bodyPr>
          <a:lstStyle/>
          <a:p>
            <a:pPr marL="0" indent="0">
              <a:buNone/>
            </a:pPr>
            <a:r>
              <a:rPr lang="en-US" sz="2400" dirty="0">
                <a:solidFill>
                  <a:srgbClr val="C00000"/>
                </a:solidFill>
              </a:rPr>
              <a:t>Reference Operator (&amp;)</a:t>
            </a:r>
          </a:p>
          <a:p>
            <a:r>
              <a:rPr lang="en-US" sz="2400" dirty="0"/>
              <a:t>Expression </a:t>
            </a:r>
            <a:r>
              <a:rPr lang="en-US" sz="2400" dirty="0">
                <a:solidFill>
                  <a:srgbClr val="C00000"/>
                </a:solidFill>
                <a:latin typeface="Consolas" panose="020B0609020204030204" pitchFamily="49" charset="0"/>
              </a:rPr>
              <a:t>&amp;x</a:t>
            </a:r>
            <a:r>
              <a:rPr lang="en-US" sz="2400" dirty="0">
                <a:solidFill>
                  <a:srgbClr val="C00000"/>
                </a:solidFill>
              </a:rPr>
              <a:t> </a:t>
            </a:r>
            <a:r>
              <a:rPr lang="en-US" sz="2400" dirty="0"/>
              <a:t>returns the address of variable x</a:t>
            </a:r>
          </a:p>
          <a:p>
            <a:r>
              <a:rPr lang="en-US" sz="2400" dirty="0"/>
              <a:t>Ampersand (</a:t>
            </a:r>
            <a:r>
              <a:rPr lang="en-US" sz="2400" dirty="0">
                <a:solidFill>
                  <a:srgbClr val="C00000"/>
                </a:solidFill>
                <a:latin typeface="Consolas" panose="020B0609020204030204" pitchFamily="49" charset="0"/>
              </a:rPr>
              <a:t>&amp;</a:t>
            </a:r>
            <a:r>
              <a:rPr lang="en-US" sz="2400" dirty="0"/>
              <a:t>) is called </a:t>
            </a:r>
            <a:r>
              <a:rPr lang="en-US" sz="2400" i="1" dirty="0">
                <a:solidFill>
                  <a:srgbClr val="0000FF"/>
                </a:solidFill>
              </a:rPr>
              <a:t>reference operator </a:t>
            </a:r>
            <a:r>
              <a:rPr lang="en-US" sz="2400" i="1" dirty="0">
                <a:solidFill>
                  <a:schemeClr val="tx1"/>
                </a:solidFill>
              </a:rPr>
              <a:t>or</a:t>
            </a:r>
            <a:r>
              <a:rPr lang="en-US" sz="2400" i="1" dirty="0">
                <a:solidFill>
                  <a:srgbClr val="0000FF"/>
                </a:solidFill>
              </a:rPr>
              <a:t> address-of operator</a:t>
            </a:r>
          </a:p>
        </p:txBody>
      </p:sp>
      <p:sp>
        <p:nvSpPr>
          <p:cNvPr id="7" name="Content Placeholder 3"/>
          <p:cNvSpPr txBox="1">
            <a:spLocks/>
          </p:cNvSpPr>
          <p:nvPr/>
        </p:nvSpPr>
        <p:spPr>
          <a:xfrm>
            <a:off x="4800600" y="1387475"/>
            <a:ext cx="3886200" cy="2362200"/>
          </a:xfrm>
          <a:prstGeom prst="rect">
            <a:avLst/>
          </a:prstGeom>
          <a:gradFill flip="none" rotWithShape="1">
            <a:gsLst>
              <a:gs pos="0">
                <a:schemeClr val="accent6">
                  <a:tint val="45000"/>
                  <a:satMod val="200000"/>
                </a:schemeClr>
              </a:gs>
              <a:gs pos="30000">
                <a:schemeClr val="accent6">
                  <a:tint val="61000"/>
                  <a:satMod val="200000"/>
                </a:schemeClr>
              </a:gs>
              <a:gs pos="45000">
                <a:schemeClr val="accent6">
                  <a:tint val="66000"/>
                  <a:satMod val="200000"/>
                </a:schemeClr>
              </a:gs>
              <a:gs pos="55000">
                <a:schemeClr val="accent6">
                  <a:tint val="66000"/>
                  <a:satMod val="200000"/>
                </a:schemeClr>
              </a:gs>
              <a:gs pos="73000">
                <a:schemeClr val="accent6">
                  <a:tint val="61000"/>
                  <a:satMod val="200000"/>
                </a:schemeClr>
              </a:gs>
              <a:gs pos="100000">
                <a:schemeClr val="accent6">
                  <a:tint val="45000"/>
                  <a:satMod val="200000"/>
                </a:schemeClr>
              </a:gs>
            </a:gsLst>
            <a:lin ang="16200000" scaled="1"/>
            <a:tileRect/>
          </a:gradFill>
        </p:spPr>
        <p:style>
          <a:lnRef idx="1">
            <a:schemeClr val="accent6"/>
          </a:lnRef>
          <a:fillRef idx="2">
            <a:schemeClr val="accent6"/>
          </a:fillRef>
          <a:effectRef idx="1">
            <a:schemeClr val="accent6"/>
          </a:effectRef>
          <a:fontRef idx="minor">
            <a:schemeClr val="dk1"/>
          </a:fontRef>
        </p:style>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dirty="0">
                <a:solidFill>
                  <a:srgbClr val="C00000"/>
                </a:solidFill>
              </a:rPr>
              <a:t>Dereference Operator</a:t>
            </a:r>
            <a:r>
              <a:rPr lang="en-US" sz="2800" dirty="0">
                <a:solidFill>
                  <a:srgbClr val="C00000"/>
                </a:solidFill>
              </a:rPr>
              <a:t> </a:t>
            </a:r>
            <a:r>
              <a:rPr lang="en-US" dirty="0">
                <a:solidFill>
                  <a:srgbClr val="C00000"/>
                </a:solidFill>
              </a:rPr>
              <a:t>(*)</a:t>
            </a:r>
          </a:p>
          <a:p>
            <a:r>
              <a:rPr lang="en-US" dirty="0"/>
              <a:t>Expression </a:t>
            </a:r>
            <a:r>
              <a:rPr lang="en-US" dirty="0">
                <a:solidFill>
                  <a:srgbClr val="C00000"/>
                </a:solidFill>
                <a:latin typeface="Consolas" panose="020B0609020204030204" pitchFamily="49" charset="0"/>
              </a:rPr>
              <a:t>*p</a:t>
            </a:r>
            <a:r>
              <a:rPr lang="en-US" dirty="0"/>
              <a:t> returns the value of the variable to which p points</a:t>
            </a:r>
          </a:p>
          <a:p>
            <a:r>
              <a:rPr lang="en-US" dirty="0"/>
              <a:t>The asterisk (</a:t>
            </a:r>
            <a:r>
              <a:rPr lang="en-US" dirty="0">
                <a:solidFill>
                  <a:srgbClr val="C00000"/>
                </a:solidFill>
                <a:latin typeface="Consolas" panose="020B0609020204030204" pitchFamily="49" charset="0"/>
              </a:rPr>
              <a:t>*</a:t>
            </a:r>
            <a:r>
              <a:rPr lang="en-US" dirty="0"/>
              <a:t>) is called </a:t>
            </a:r>
            <a:r>
              <a:rPr lang="en-US" i="1" dirty="0">
                <a:solidFill>
                  <a:srgbClr val="0000FF"/>
                </a:solidFill>
              </a:rPr>
              <a:t>dereference operator</a:t>
            </a:r>
          </a:p>
        </p:txBody>
      </p:sp>
      <p:grpSp>
        <p:nvGrpSpPr>
          <p:cNvPr id="4" name="Group 3"/>
          <p:cNvGrpSpPr/>
          <p:nvPr/>
        </p:nvGrpSpPr>
        <p:grpSpPr>
          <a:xfrm>
            <a:off x="597243" y="3962400"/>
            <a:ext cx="11137557" cy="2426043"/>
            <a:chOff x="597243" y="3962400"/>
            <a:chExt cx="11137557" cy="2426043"/>
          </a:xfrm>
        </p:grpSpPr>
        <p:sp>
          <p:nvSpPr>
            <p:cNvPr id="15" name="Rectangle 14"/>
            <p:cNvSpPr/>
            <p:nvPr/>
          </p:nvSpPr>
          <p:spPr>
            <a:xfrm>
              <a:off x="7543800" y="3962400"/>
              <a:ext cx="4191000" cy="20886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97243" y="4083516"/>
              <a:ext cx="6049785" cy="40011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latin typeface="Consolas" panose="020B0609020204030204" pitchFamily="49" charset="0"/>
                </a:rPr>
                <a:t>int x = 1;</a:t>
              </a:r>
            </a:p>
          </p:txBody>
        </p:sp>
        <p:sp>
          <p:nvSpPr>
            <p:cNvPr id="11" name="Rectangle 10"/>
            <p:cNvSpPr/>
            <p:nvPr/>
          </p:nvSpPr>
          <p:spPr>
            <a:xfrm>
              <a:off x="9258080" y="5236798"/>
              <a:ext cx="1752600" cy="4572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rPr>
                <a:t>0x0000.0001</a:t>
              </a:r>
            </a:p>
          </p:txBody>
        </p:sp>
        <p:sp>
          <p:nvSpPr>
            <p:cNvPr id="12" name="TextBox 11"/>
            <p:cNvSpPr txBox="1"/>
            <p:nvPr/>
          </p:nvSpPr>
          <p:spPr>
            <a:xfrm>
              <a:off x="11029100" y="5286323"/>
              <a:ext cx="55330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x</a:t>
              </a:r>
            </a:p>
          </p:txBody>
        </p:sp>
        <p:sp>
          <p:nvSpPr>
            <p:cNvPr id="14" name="TextBox 13"/>
            <p:cNvSpPr txBox="1"/>
            <p:nvPr/>
          </p:nvSpPr>
          <p:spPr>
            <a:xfrm>
              <a:off x="7730002" y="5279412"/>
              <a:ext cx="1577676" cy="369332"/>
            </a:xfrm>
            <a:prstGeom prst="rect">
              <a:avLst/>
            </a:prstGeom>
            <a:noFill/>
          </p:spPr>
          <p:txBody>
            <a:bodyPr wrap="none" rtlCol="0">
              <a:spAutoFit/>
            </a:bodyPr>
            <a:lstStyle/>
            <a:p>
              <a:r>
                <a:rPr lang="en-US" dirty="0">
                  <a:latin typeface="Consolas" panose="020B0609020204030204" pitchFamily="49" charset="0"/>
                </a:rPr>
                <a:t>0x2000.0004</a:t>
              </a:r>
            </a:p>
          </p:txBody>
        </p:sp>
        <p:sp>
          <p:nvSpPr>
            <p:cNvPr id="16" name="TextBox 15"/>
            <p:cNvSpPr txBox="1"/>
            <p:nvPr/>
          </p:nvSpPr>
          <p:spPr>
            <a:xfrm>
              <a:off x="9276786" y="6019111"/>
              <a:ext cx="976999" cy="369332"/>
            </a:xfrm>
            <a:prstGeom prst="rect">
              <a:avLst/>
            </a:prstGeom>
            <a:noFill/>
          </p:spPr>
          <p:txBody>
            <a:bodyPr wrap="none" rtlCol="0">
              <a:spAutoFit/>
            </a:bodyPr>
            <a:lstStyle/>
            <a:p>
              <a:r>
                <a:rPr lang="en-US" dirty="0"/>
                <a:t>memory</a:t>
              </a:r>
            </a:p>
          </p:txBody>
        </p:sp>
      </p:grpSp>
    </p:spTree>
    <p:custDataLst>
      <p:tags r:id="rId1"/>
    </p:custDataLst>
    <p:extLst>
      <p:ext uri="{BB962C8B-B14F-4D97-AF65-F5344CB8AC3E}">
        <p14:creationId xmlns:p14="http://schemas.microsoft.com/office/powerpoint/2010/main" val="3561334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P spid="7" grpId="0" uiExpan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7543800" y="3962400"/>
            <a:ext cx="4191000" cy="20886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Reference and Dereference Operators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5" name="Content Placeholder 3"/>
          <p:cNvSpPr>
            <a:spLocks noGrp="1"/>
          </p:cNvSpPr>
          <p:nvPr>
            <p:ph sz="quarter" idx="1"/>
          </p:nvPr>
        </p:nvSpPr>
        <p:spPr>
          <a:xfrm>
            <a:off x="609600" y="1387475"/>
            <a:ext cx="3886200" cy="2362200"/>
          </a:xfrm>
          <a:gradFill flip="none" rotWithShape="1">
            <a:gsLst>
              <a:gs pos="0">
                <a:schemeClr val="accent5">
                  <a:tint val="45000"/>
                  <a:satMod val="200000"/>
                </a:schemeClr>
              </a:gs>
              <a:gs pos="30000">
                <a:schemeClr val="accent5">
                  <a:tint val="61000"/>
                  <a:satMod val="200000"/>
                </a:schemeClr>
              </a:gs>
              <a:gs pos="45000">
                <a:schemeClr val="accent5">
                  <a:tint val="66000"/>
                  <a:satMod val="200000"/>
                </a:schemeClr>
              </a:gs>
              <a:gs pos="55000">
                <a:schemeClr val="accent5">
                  <a:tint val="66000"/>
                  <a:satMod val="200000"/>
                </a:schemeClr>
              </a:gs>
              <a:gs pos="73000">
                <a:schemeClr val="accent5">
                  <a:tint val="61000"/>
                  <a:satMod val="200000"/>
                </a:schemeClr>
              </a:gs>
              <a:gs pos="100000">
                <a:schemeClr val="accent5">
                  <a:tint val="45000"/>
                  <a:satMod val="200000"/>
                </a:schemeClr>
              </a:gs>
            </a:gsLst>
            <a:lin ang="16200000" scaled="1"/>
            <a:tileRect/>
          </a:gradFill>
        </p:spPr>
        <p:style>
          <a:lnRef idx="1">
            <a:schemeClr val="accent5"/>
          </a:lnRef>
          <a:fillRef idx="2">
            <a:schemeClr val="accent5"/>
          </a:fillRef>
          <a:effectRef idx="1">
            <a:schemeClr val="accent5"/>
          </a:effectRef>
          <a:fontRef idx="minor">
            <a:schemeClr val="dk1"/>
          </a:fontRef>
        </p:style>
        <p:txBody>
          <a:bodyPr>
            <a:normAutofit lnSpcReduction="10000"/>
          </a:bodyPr>
          <a:lstStyle/>
          <a:p>
            <a:pPr marL="0" indent="0">
              <a:buNone/>
            </a:pPr>
            <a:r>
              <a:rPr lang="en-US" sz="2400" dirty="0">
                <a:solidFill>
                  <a:srgbClr val="C00000"/>
                </a:solidFill>
              </a:rPr>
              <a:t>Reference Operator (&amp;)</a:t>
            </a:r>
          </a:p>
          <a:p>
            <a:r>
              <a:rPr lang="en-US" sz="2400" dirty="0"/>
              <a:t>Expression </a:t>
            </a:r>
            <a:r>
              <a:rPr lang="en-US" sz="2400" dirty="0">
                <a:solidFill>
                  <a:srgbClr val="C00000"/>
                </a:solidFill>
                <a:latin typeface="Consolas" panose="020B0609020204030204" pitchFamily="49" charset="0"/>
              </a:rPr>
              <a:t>&amp;x</a:t>
            </a:r>
            <a:r>
              <a:rPr lang="en-US" sz="2400" dirty="0">
                <a:solidFill>
                  <a:srgbClr val="C00000"/>
                </a:solidFill>
              </a:rPr>
              <a:t> </a:t>
            </a:r>
            <a:r>
              <a:rPr lang="en-US" sz="2400" dirty="0"/>
              <a:t>returns the address of variable x</a:t>
            </a:r>
          </a:p>
          <a:p>
            <a:r>
              <a:rPr lang="en-US" sz="2400" dirty="0"/>
              <a:t>Ampersand (</a:t>
            </a:r>
            <a:r>
              <a:rPr lang="en-US" sz="2400" dirty="0">
                <a:solidFill>
                  <a:srgbClr val="C00000"/>
                </a:solidFill>
                <a:latin typeface="Consolas" panose="020B0609020204030204" pitchFamily="49" charset="0"/>
              </a:rPr>
              <a:t>&amp;</a:t>
            </a:r>
            <a:r>
              <a:rPr lang="en-US" sz="2400" dirty="0"/>
              <a:t>) is called </a:t>
            </a:r>
            <a:r>
              <a:rPr lang="en-US" sz="2400" i="1" dirty="0">
                <a:solidFill>
                  <a:srgbClr val="0000FF"/>
                </a:solidFill>
              </a:rPr>
              <a:t>reference operator </a:t>
            </a:r>
            <a:r>
              <a:rPr lang="en-US" sz="2400" i="1" dirty="0">
                <a:solidFill>
                  <a:schemeClr val="tx1"/>
                </a:solidFill>
              </a:rPr>
              <a:t>or</a:t>
            </a:r>
            <a:r>
              <a:rPr lang="en-US" sz="2400" i="1" dirty="0">
                <a:solidFill>
                  <a:srgbClr val="0000FF"/>
                </a:solidFill>
              </a:rPr>
              <a:t> address-of operator</a:t>
            </a:r>
          </a:p>
        </p:txBody>
      </p:sp>
      <p:sp>
        <p:nvSpPr>
          <p:cNvPr id="7" name="Content Placeholder 3"/>
          <p:cNvSpPr txBox="1">
            <a:spLocks/>
          </p:cNvSpPr>
          <p:nvPr/>
        </p:nvSpPr>
        <p:spPr>
          <a:xfrm>
            <a:off x="4800600" y="1387475"/>
            <a:ext cx="3886200" cy="2362200"/>
          </a:xfrm>
          <a:prstGeom prst="rect">
            <a:avLst/>
          </a:prstGeom>
          <a:gradFill flip="none" rotWithShape="1">
            <a:gsLst>
              <a:gs pos="0">
                <a:schemeClr val="accent6">
                  <a:tint val="45000"/>
                  <a:satMod val="200000"/>
                </a:schemeClr>
              </a:gs>
              <a:gs pos="30000">
                <a:schemeClr val="accent6">
                  <a:tint val="61000"/>
                  <a:satMod val="200000"/>
                </a:schemeClr>
              </a:gs>
              <a:gs pos="45000">
                <a:schemeClr val="accent6">
                  <a:tint val="66000"/>
                  <a:satMod val="200000"/>
                </a:schemeClr>
              </a:gs>
              <a:gs pos="55000">
                <a:schemeClr val="accent6">
                  <a:tint val="66000"/>
                  <a:satMod val="200000"/>
                </a:schemeClr>
              </a:gs>
              <a:gs pos="73000">
                <a:schemeClr val="accent6">
                  <a:tint val="61000"/>
                  <a:satMod val="200000"/>
                </a:schemeClr>
              </a:gs>
              <a:gs pos="100000">
                <a:schemeClr val="accent6">
                  <a:tint val="45000"/>
                  <a:satMod val="200000"/>
                </a:schemeClr>
              </a:gs>
            </a:gsLst>
            <a:lin ang="16200000" scaled="1"/>
            <a:tileRect/>
          </a:gradFill>
        </p:spPr>
        <p:style>
          <a:lnRef idx="1">
            <a:schemeClr val="accent6"/>
          </a:lnRef>
          <a:fillRef idx="2">
            <a:schemeClr val="accent6"/>
          </a:fillRef>
          <a:effectRef idx="1">
            <a:schemeClr val="accent6"/>
          </a:effectRef>
          <a:fontRef idx="minor">
            <a:schemeClr val="dk1"/>
          </a:fontRef>
        </p:style>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dirty="0">
                <a:solidFill>
                  <a:srgbClr val="C00000"/>
                </a:solidFill>
              </a:rPr>
              <a:t>Dereference Operator (*)</a:t>
            </a:r>
          </a:p>
          <a:p>
            <a:r>
              <a:rPr lang="en-US" dirty="0"/>
              <a:t>Expression </a:t>
            </a:r>
            <a:r>
              <a:rPr lang="en-US" dirty="0">
                <a:solidFill>
                  <a:srgbClr val="C00000"/>
                </a:solidFill>
                <a:latin typeface="Consolas" panose="020B0609020204030204" pitchFamily="49" charset="0"/>
              </a:rPr>
              <a:t>*p</a:t>
            </a:r>
            <a:r>
              <a:rPr lang="en-US" dirty="0"/>
              <a:t> returns the value of the variable to which p points</a:t>
            </a:r>
          </a:p>
          <a:p>
            <a:r>
              <a:rPr lang="en-US" dirty="0"/>
              <a:t>The asterisk (</a:t>
            </a:r>
            <a:r>
              <a:rPr lang="en-US" dirty="0">
                <a:solidFill>
                  <a:srgbClr val="C00000"/>
                </a:solidFill>
                <a:latin typeface="Consolas" panose="020B0609020204030204" pitchFamily="49" charset="0"/>
              </a:rPr>
              <a:t>*</a:t>
            </a:r>
            <a:r>
              <a:rPr lang="en-US" dirty="0"/>
              <a:t>) is called </a:t>
            </a:r>
            <a:r>
              <a:rPr lang="en-US" i="1" dirty="0">
                <a:solidFill>
                  <a:srgbClr val="0000FF"/>
                </a:solidFill>
              </a:rPr>
              <a:t>dereference operator</a:t>
            </a:r>
          </a:p>
        </p:txBody>
      </p:sp>
      <p:sp>
        <p:nvSpPr>
          <p:cNvPr id="8" name="Rectangle 7"/>
          <p:cNvSpPr/>
          <p:nvPr/>
        </p:nvSpPr>
        <p:spPr>
          <a:xfrm>
            <a:off x="597243" y="4083516"/>
            <a:ext cx="6049785" cy="1015663"/>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err="1">
                <a:latin typeface="Consolas" panose="020B0609020204030204" pitchFamily="49" charset="0"/>
              </a:rPr>
              <a:t>int</a:t>
            </a:r>
            <a:r>
              <a:rPr lang="en-US" sz="2000" dirty="0">
                <a:latin typeface="Consolas" panose="020B0609020204030204" pitchFamily="49" charset="0"/>
              </a:rPr>
              <a:t> x = 1;</a:t>
            </a:r>
          </a:p>
          <a:p>
            <a:r>
              <a:rPr lang="en-US" sz="2000" dirty="0">
                <a:solidFill>
                  <a:srgbClr val="C00000"/>
                </a:solidFill>
                <a:latin typeface="Consolas" panose="020B0609020204030204" pitchFamily="49" charset="0"/>
              </a:rPr>
              <a:t>int * </a:t>
            </a:r>
            <a:r>
              <a:rPr lang="en-US" sz="2000" dirty="0" err="1">
                <a:solidFill>
                  <a:srgbClr val="C00000"/>
                </a:solidFill>
                <a:latin typeface="Consolas" panose="020B0609020204030204" pitchFamily="49" charset="0"/>
              </a:rPr>
              <a:t>ptr</a:t>
            </a:r>
            <a:r>
              <a:rPr lang="en-US" sz="2000" dirty="0">
                <a:solidFill>
                  <a:srgbClr val="C00000"/>
                </a:solidFill>
                <a:latin typeface="Consolas" panose="020B0609020204030204" pitchFamily="49" charset="0"/>
              </a:rPr>
              <a:t>;  </a:t>
            </a:r>
            <a:r>
              <a:rPr lang="en-US" sz="2000" dirty="0">
                <a:latin typeface="Consolas" panose="020B0609020204030204" pitchFamily="49" charset="0"/>
              </a:rPr>
              <a:t>// Define a pointer that </a:t>
            </a:r>
          </a:p>
          <a:p>
            <a:r>
              <a:rPr lang="en-US" sz="2000" dirty="0">
                <a:latin typeface="Consolas" panose="020B0609020204030204" pitchFamily="49" charset="0"/>
              </a:rPr>
              <a:t>            // can point to an integer</a:t>
            </a:r>
          </a:p>
        </p:txBody>
      </p:sp>
      <p:sp>
        <p:nvSpPr>
          <p:cNvPr id="9" name="TextBox 8"/>
          <p:cNvSpPr txBox="1"/>
          <p:nvPr/>
        </p:nvSpPr>
        <p:spPr>
          <a:xfrm>
            <a:off x="11049000" y="4251334"/>
            <a:ext cx="564578" cy="369332"/>
          </a:xfrm>
          <a:prstGeom prst="rect">
            <a:avLst/>
          </a:prstGeom>
          <a:noFill/>
        </p:spPr>
        <p:txBody>
          <a:bodyPr wrap="none" rtlCol="0">
            <a:spAutoFit/>
          </a:bodyPr>
          <a:lstStyle/>
          <a:p>
            <a:r>
              <a:rPr lang="en-US" dirty="0" err="1">
                <a:solidFill>
                  <a:srgbClr val="C00000"/>
                </a:solidFill>
                <a:latin typeface="Consolas" panose="020B0609020204030204" pitchFamily="49" charset="0"/>
              </a:rPr>
              <a:t>ptr</a:t>
            </a:r>
            <a:endParaRPr lang="en-US" dirty="0">
              <a:solidFill>
                <a:srgbClr val="C00000"/>
              </a:solidFill>
              <a:latin typeface="Consolas" panose="020B0609020204030204" pitchFamily="49" charset="0"/>
            </a:endParaRPr>
          </a:p>
        </p:txBody>
      </p:sp>
      <p:sp>
        <p:nvSpPr>
          <p:cNvPr id="10" name="TextBox 9"/>
          <p:cNvSpPr txBox="1"/>
          <p:nvPr/>
        </p:nvSpPr>
        <p:spPr>
          <a:xfrm>
            <a:off x="7706498" y="4266218"/>
            <a:ext cx="1577676" cy="369332"/>
          </a:xfrm>
          <a:prstGeom prst="rect">
            <a:avLst/>
          </a:prstGeom>
          <a:noFill/>
        </p:spPr>
        <p:txBody>
          <a:bodyPr wrap="none" rtlCol="0">
            <a:spAutoFit/>
          </a:bodyPr>
          <a:lstStyle/>
          <a:p>
            <a:r>
              <a:rPr lang="en-US" dirty="0">
                <a:latin typeface="Consolas" panose="020B0609020204030204" pitchFamily="49" charset="0"/>
              </a:rPr>
              <a:t>0x2000.0008</a:t>
            </a:r>
          </a:p>
        </p:txBody>
      </p:sp>
      <p:sp>
        <p:nvSpPr>
          <p:cNvPr id="11" name="Rectangle 10"/>
          <p:cNvSpPr/>
          <p:nvPr/>
        </p:nvSpPr>
        <p:spPr>
          <a:xfrm>
            <a:off x="9258080" y="5236798"/>
            <a:ext cx="1752600" cy="4572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rPr>
              <a:t>0x0000.0001</a:t>
            </a:r>
          </a:p>
        </p:txBody>
      </p:sp>
      <p:sp>
        <p:nvSpPr>
          <p:cNvPr id="12" name="TextBox 11"/>
          <p:cNvSpPr txBox="1"/>
          <p:nvPr/>
        </p:nvSpPr>
        <p:spPr>
          <a:xfrm>
            <a:off x="11029100" y="5286323"/>
            <a:ext cx="55330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x</a:t>
            </a:r>
          </a:p>
        </p:txBody>
      </p:sp>
      <p:sp>
        <p:nvSpPr>
          <p:cNvPr id="13" name="Rectangle 12"/>
          <p:cNvSpPr/>
          <p:nvPr/>
        </p:nvSpPr>
        <p:spPr>
          <a:xfrm>
            <a:off x="9258080" y="4222284"/>
            <a:ext cx="1752600" cy="4572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err="1">
                <a:latin typeface="Consolas" panose="020B0609020204030204" pitchFamily="49" charset="0"/>
              </a:rPr>
              <a:t>xxxx.xxxx</a:t>
            </a:r>
            <a:endParaRPr lang="en-US" sz="2000" b="1" dirty="0">
              <a:latin typeface="Consolas" panose="020B0609020204030204" pitchFamily="49" charset="0"/>
            </a:endParaRPr>
          </a:p>
        </p:txBody>
      </p:sp>
      <p:sp>
        <p:nvSpPr>
          <p:cNvPr id="14" name="TextBox 13"/>
          <p:cNvSpPr txBox="1"/>
          <p:nvPr/>
        </p:nvSpPr>
        <p:spPr>
          <a:xfrm>
            <a:off x="7730002" y="5279412"/>
            <a:ext cx="1577676" cy="369332"/>
          </a:xfrm>
          <a:prstGeom prst="rect">
            <a:avLst/>
          </a:prstGeom>
          <a:noFill/>
        </p:spPr>
        <p:txBody>
          <a:bodyPr wrap="none" rtlCol="0">
            <a:spAutoFit/>
          </a:bodyPr>
          <a:lstStyle/>
          <a:p>
            <a:r>
              <a:rPr lang="en-US" dirty="0">
                <a:latin typeface="Consolas" panose="020B0609020204030204" pitchFamily="49" charset="0"/>
              </a:rPr>
              <a:t>0x2000.0004</a:t>
            </a:r>
          </a:p>
        </p:txBody>
      </p:sp>
      <p:sp>
        <p:nvSpPr>
          <p:cNvPr id="16" name="TextBox 15"/>
          <p:cNvSpPr txBox="1"/>
          <p:nvPr/>
        </p:nvSpPr>
        <p:spPr>
          <a:xfrm>
            <a:off x="9276786" y="6019111"/>
            <a:ext cx="976999" cy="369332"/>
          </a:xfrm>
          <a:prstGeom prst="rect">
            <a:avLst/>
          </a:prstGeom>
          <a:noFill/>
        </p:spPr>
        <p:txBody>
          <a:bodyPr wrap="none" rtlCol="0">
            <a:spAutoFit/>
          </a:bodyPr>
          <a:lstStyle/>
          <a:p>
            <a:r>
              <a:rPr lang="en-US" dirty="0"/>
              <a:t>memory</a:t>
            </a:r>
          </a:p>
        </p:txBody>
      </p:sp>
    </p:spTree>
    <p:extLst>
      <p:ext uri="{BB962C8B-B14F-4D97-AF65-F5344CB8AC3E}">
        <p14:creationId xmlns:p14="http://schemas.microsoft.com/office/powerpoint/2010/main" val="208212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and Dereference Operators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5" name="Content Placeholder 3"/>
          <p:cNvSpPr>
            <a:spLocks noGrp="1"/>
          </p:cNvSpPr>
          <p:nvPr>
            <p:ph sz="quarter" idx="1"/>
          </p:nvPr>
        </p:nvSpPr>
        <p:spPr>
          <a:xfrm>
            <a:off x="609600" y="1387475"/>
            <a:ext cx="3886200" cy="2362200"/>
          </a:xfrm>
          <a:gradFill flip="none" rotWithShape="1">
            <a:gsLst>
              <a:gs pos="0">
                <a:schemeClr val="accent5">
                  <a:tint val="45000"/>
                  <a:satMod val="200000"/>
                </a:schemeClr>
              </a:gs>
              <a:gs pos="30000">
                <a:schemeClr val="accent5">
                  <a:tint val="61000"/>
                  <a:satMod val="200000"/>
                </a:schemeClr>
              </a:gs>
              <a:gs pos="45000">
                <a:schemeClr val="accent5">
                  <a:tint val="66000"/>
                  <a:satMod val="200000"/>
                </a:schemeClr>
              </a:gs>
              <a:gs pos="55000">
                <a:schemeClr val="accent5">
                  <a:tint val="66000"/>
                  <a:satMod val="200000"/>
                </a:schemeClr>
              </a:gs>
              <a:gs pos="73000">
                <a:schemeClr val="accent5">
                  <a:tint val="61000"/>
                  <a:satMod val="200000"/>
                </a:schemeClr>
              </a:gs>
              <a:gs pos="100000">
                <a:schemeClr val="accent5">
                  <a:tint val="45000"/>
                  <a:satMod val="200000"/>
                </a:schemeClr>
              </a:gs>
            </a:gsLst>
            <a:lin ang="16200000" scaled="1"/>
            <a:tileRect/>
          </a:gradFill>
        </p:spPr>
        <p:style>
          <a:lnRef idx="1">
            <a:schemeClr val="accent5"/>
          </a:lnRef>
          <a:fillRef idx="2">
            <a:schemeClr val="accent5"/>
          </a:fillRef>
          <a:effectRef idx="1">
            <a:schemeClr val="accent5"/>
          </a:effectRef>
          <a:fontRef idx="minor">
            <a:schemeClr val="dk1"/>
          </a:fontRef>
        </p:style>
        <p:txBody>
          <a:bodyPr>
            <a:normAutofit lnSpcReduction="10000"/>
          </a:bodyPr>
          <a:lstStyle/>
          <a:p>
            <a:pPr marL="0" indent="0">
              <a:buNone/>
            </a:pPr>
            <a:r>
              <a:rPr lang="en-US" sz="2400" dirty="0">
                <a:solidFill>
                  <a:srgbClr val="C00000"/>
                </a:solidFill>
              </a:rPr>
              <a:t>Reference Operator (&amp;)</a:t>
            </a:r>
          </a:p>
          <a:p>
            <a:r>
              <a:rPr lang="en-US" sz="2400" dirty="0"/>
              <a:t>Expression </a:t>
            </a:r>
            <a:r>
              <a:rPr lang="en-US" sz="2400" dirty="0">
                <a:solidFill>
                  <a:srgbClr val="C00000"/>
                </a:solidFill>
                <a:latin typeface="Consolas" panose="020B0609020204030204" pitchFamily="49" charset="0"/>
              </a:rPr>
              <a:t>&amp;x</a:t>
            </a:r>
            <a:r>
              <a:rPr lang="en-US" sz="2400" dirty="0">
                <a:solidFill>
                  <a:srgbClr val="C00000"/>
                </a:solidFill>
              </a:rPr>
              <a:t> </a:t>
            </a:r>
            <a:r>
              <a:rPr lang="en-US" sz="2400" dirty="0"/>
              <a:t>returns the address of variable x</a:t>
            </a:r>
          </a:p>
          <a:p>
            <a:r>
              <a:rPr lang="en-US" sz="2400" dirty="0"/>
              <a:t>Ampersand (</a:t>
            </a:r>
            <a:r>
              <a:rPr lang="en-US" sz="2400" dirty="0">
                <a:solidFill>
                  <a:srgbClr val="C00000"/>
                </a:solidFill>
                <a:latin typeface="Consolas" panose="020B0609020204030204" pitchFamily="49" charset="0"/>
              </a:rPr>
              <a:t>&amp;</a:t>
            </a:r>
            <a:r>
              <a:rPr lang="en-US" sz="2400" dirty="0"/>
              <a:t>) is called </a:t>
            </a:r>
            <a:r>
              <a:rPr lang="en-US" sz="2400" i="1" dirty="0">
                <a:solidFill>
                  <a:srgbClr val="0000FF"/>
                </a:solidFill>
              </a:rPr>
              <a:t>reference operator </a:t>
            </a:r>
            <a:r>
              <a:rPr lang="en-US" sz="2400" i="1" dirty="0">
                <a:solidFill>
                  <a:schemeClr val="tx1"/>
                </a:solidFill>
              </a:rPr>
              <a:t>or</a:t>
            </a:r>
            <a:r>
              <a:rPr lang="en-US" sz="2400" i="1" dirty="0">
                <a:solidFill>
                  <a:srgbClr val="0000FF"/>
                </a:solidFill>
              </a:rPr>
              <a:t> address-of operator</a:t>
            </a:r>
          </a:p>
        </p:txBody>
      </p:sp>
      <p:sp>
        <p:nvSpPr>
          <p:cNvPr id="7" name="Content Placeholder 3"/>
          <p:cNvSpPr txBox="1">
            <a:spLocks/>
          </p:cNvSpPr>
          <p:nvPr/>
        </p:nvSpPr>
        <p:spPr>
          <a:xfrm>
            <a:off x="4800600" y="1387475"/>
            <a:ext cx="3886200" cy="2362200"/>
          </a:xfrm>
          <a:prstGeom prst="rect">
            <a:avLst/>
          </a:prstGeom>
          <a:gradFill flip="none" rotWithShape="1">
            <a:gsLst>
              <a:gs pos="0">
                <a:schemeClr val="accent6">
                  <a:tint val="45000"/>
                  <a:satMod val="200000"/>
                </a:schemeClr>
              </a:gs>
              <a:gs pos="30000">
                <a:schemeClr val="accent6">
                  <a:tint val="61000"/>
                  <a:satMod val="200000"/>
                </a:schemeClr>
              </a:gs>
              <a:gs pos="45000">
                <a:schemeClr val="accent6">
                  <a:tint val="66000"/>
                  <a:satMod val="200000"/>
                </a:schemeClr>
              </a:gs>
              <a:gs pos="55000">
                <a:schemeClr val="accent6">
                  <a:tint val="66000"/>
                  <a:satMod val="200000"/>
                </a:schemeClr>
              </a:gs>
              <a:gs pos="73000">
                <a:schemeClr val="accent6">
                  <a:tint val="61000"/>
                  <a:satMod val="200000"/>
                </a:schemeClr>
              </a:gs>
              <a:gs pos="100000">
                <a:schemeClr val="accent6">
                  <a:tint val="45000"/>
                  <a:satMod val="200000"/>
                </a:schemeClr>
              </a:gs>
            </a:gsLst>
            <a:lin ang="16200000" scaled="1"/>
            <a:tileRect/>
          </a:gradFill>
        </p:spPr>
        <p:style>
          <a:lnRef idx="1">
            <a:schemeClr val="accent6"/>
          </a:lnRef>
          <a:fillRef idx="2">
            <a:schemeClr val="accent6"/>
          </a:fillRef>
          <a:effectRef idx="1">
            <a:schemeClr val="accent6"/>
          </a:effectRef>
          <a:fontRef idx="minor">
            <a:schemeClr val="dk1"/>
          </a:fontRef>
        </p:style>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dirty="0">
                <a:solidFill>
                  <a:srgbClr val="C00000"/>
                </a:solidFill>
              </a:rPr>
              <a:t>Dereference Operator (*)</a:t>
            </a:r>
          </a:p>
          <a:p>
            <a:r>
              <a:rPr lang="en-US" dirty="0"/>
              <a:t>Expression </a:t>
            </a:r>
            <a:r>
              <a:rPr lang="en-US" dirty="0">
                <a:solidFill>
                  <a:srgbClr val="C00000"/>
                </a:solidFill>
                <a:latin typeface="Consolas" panose="020B0609020204030204" pitchFamily="49" charset="0"/>
              </a:rPr>
              <a:t>*p</a:t>
            </a:r>
            <a:r>
              <a:rPr lang="en-US" dirty="0"/>
              <a:t> returns the value of the variable to which p points</a:t>
            </a:r>
          </a:p>
          <a:p>
            <a:r>
              <a:rPr lang="en-US" dirty="0"/>
              <a:t>The asterisk (</a:t>
            </a:r>
            <a:r>
              <a:rPr lang="en-US" dirty="0">
                <a:solidFill>
                  <a:srgbClr val="C00000"/>
                </a:solidFill>
                <a:latin typeface="Consolas" panose="020B0609020204030204" pitchFamily="49" charset="0"/>
              </a:rPr>
              <a:t>*</a:t>
            </a:r>
            <a:r>
              <a:rPr lang="en-US" dirty="0"/>
              <a:t>) is called </a:t>
            </a:r>
            <a:r>
              <a:rPr lang="en-US" i="1" dirty="0">
                <a:solidFill>
                  <a:srgbClr val="0000FF"/>
                </a:solidFill>
              </a:rPr>
              <a:t>dereference operator</a:t>
            </a:r>
          </a:p>
        </p:txBody>
      </p:sp>
      <p:sp>
        <p:nvSpPr>
          <p:cNvPr id="8" name="Rectangle 7"/>
          <p:cNvSpPr/>
          <p:nvPr/>
        </p:nvSpPr>
        <p:spPr>
          <a:xfrm>
            <a:off x="597243" y="4083516"/>
            <a:ext cx="6049785" cy="1938992"/>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latin typeface="Consolas" panose="020B0609020204030204" pitchFamily="49" charset="0"/>
              </a:rPr>
              <a:t>int x = 1;</a:t>
            </a:r>
          </a:p>
          <a:p>
            <a:r>
              <a:rPr lang="en-US" sz="2000" dirty="0">
                <a:latin typeface="Consolas" panose="020B0609020204030204" pitchFamily="49" charset="0"/>
              </a:rPr>
              <a:t>int * </a:t>
            </a:r>
            <a:r>
              <a:rPr lang="en-US" sz="2000" dirty="0" err="1">
                <a:latin typeface="Consolas" panose="020B0609020204030204" pitchFamily="49" charset="0"/>
              </a:rPr>
              <a:t>ptr</a:t>
            </a:r>
            <a:r>
              <a:rPr lang="en-US" sz="2000" dirty="0">
                <a:latin typeface="Consolas" panose="020B0609020204030204" pitchFamily="49" charset="0"/>
              </a:rPr>
              <a:t>;  // Define a pointer that </a:t>
            </a:r>
          </a:p>
          <a:p>
            <a:r>
              <a:rPr lang="en-US" sz="2000" dirty="0">
                <a:latin typeface="Consolas" panose="020B0609020204030204" pitchFamily="49" charset="0"/>
              </a:rPr>
              <a:t>            // can point to an integer</a:t>
            </a:r>
          </a:p>
          <a:p>
            <a:r>
              <a:rPr lang="en-US" sz="2000" dirty="0" err="1">
                <a:solidFill>
                  <a:srgbClr val="C00000"/>
                </a:solidFill>
                <a:latin typeface="Consolas" panose="020B0609020204030204" pitchFamily="49" charset="0"/>
              </a:rPr>
              <a:t>ptr</a:t>
            </a:r>
            <a:r>
              <a:rPr lang="en-US" sz="2000" dirty="0">
                <a:solidFill>
                  <a:srgbClr val="C00000"/>
                </a:solidFill>
                <a:latin typeface="Consolas" panose="020B0609020204030204" pitchFamily="49" charset="0"/>
              </a:rPr>
              <a:t> = &amp; x;  </a:t>
            </a:r>
            <a:r>
              <a:rPr lang="en-US" sz="2000" dirty="0">
                <a:latin typeface="Consolas" panose="020B0609020204030204" pitchFamily="49" charset="0"/>
              </a:rPr>
              <a:t>// Make the pointer points </a:t>
            </a:r>
          </a:p>
          <a:p>
            <a:r>
              <a:rPr lang="en-US" sz="2000" dirty="0">
                <a:latin typeface="Consolas" panose="020B0609020204030204" pitchFamily="49" charset="0"/>
              </a:rPr>
              <a:t>            // to variable x</a:t>
            </a:r>
          </a:p>
          <a:p>
            <a:endParaRPr lang="en-US" sz="2000" b="1" dirty="0">
              <a:solidFill>
                <a:srgbClr val="C00000"/>
              </a:solidFill>
              <a:latin typeface="Consolas" panose="020B0609020204030204" pitchFamily="49" charset="0"/>
            </a:endParaRPr>
          </a:p>
        </p:txBody>
      </p:sp>
      <p:sp>
        <p:nvSpPr>
          <p:cNvPr id="17" name="Rectangle 16"/>
          <p:cNvSpPr/>
          <p:nvPr/>
        </p:nvSpPr>
        <p:spPr>
          <a:xfrm>
            <a:off x="7543800" y="3962400"/>
            <a:ext cx="4191000" cy="20886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1049000" y="4251334"/>
            <a:ext cx="564578" cy="369332"/>
          </a:xfrm>
          <a:prstGeom prst="rect">
            <a:avLst/>
          </a:prstGeom>
          <a:noFill/>
        </p:spPr>
        <p:txBody>
          <a:bodyPr wrap="none" rtlCol="0">
            <a:spAutoFit/>
          </a:bodyPr>
          <a:lstStyle/>
          <a:p>
            <a:r>
              <a:rPr lang="en-US" dirty="0" err="1">
                <a:solidFill>
                  <a:srgbClr val="C00000"/>
                </a:solidFill>
                <a:latin typeface="Consolas" panose="020B0609020204030204" pitchFamily="49" charset="0"/>
              </a:rPr>
              <a:t>ptr</a:t>
            </a:r>
            <a:endParaRPr lang="en-US" dirty="0">
              <a:solidFill>
                <a:srgbClr val="C00000"/>
              </a:solidFill>
              <a:latin typeface="Consolas" panose="020B0609020204030204" pitchFamily="49" charset="0"/>
            </a:endParaRPr>
          </a:p>
        </p:txBody>
      </p:sp>
      <p:sp>
        <p:nvSpPr>
          <p:cNvPr id="19" name="TextBox 18"/>
          <p:cNvSpPr txBox="1"/>
          <p:nvPr/>
        </p:nvSpPr>
        <p:spPr>
          <a:xfrm>
            <a:off x="7706498" y="4266218"/>
            <a:ext cx="1577676" cy="369332"/>
          </a:xfrm>
          <a:prstGeom prst="rect">
            <a:avLst/>
          </a:prstGeom>
          <a:noFill/>
        </p:spPr>
        <p:txBody>
          <a:bodyPr wrap="none" rtlCol="0">
            <a:spAutoFit/>
          </a:bodyPr>
          <a:lstStyle/>
          <a:p>
            <a:r>
              <a:rPr lang="en-US" dirty="0">
                <a:latin typeface="Consolas" panose="020B0609020204030204" pitchFamily="49" charset="0"/>
              </a:rPr>
              <a:t>0x2000.0008</a:t>
            </a:r>
          </a:p>
        </p:txBody>
      </p:sp>
      <p:sp>
        <p:nvSpPr>
          <p:cNvPr id="20" name="Rectangle 19"/>
          <p:cNvSpPr/>
          <p:nvPr/>
        </p:nvSpPr>
        <p:spPr>
          <a:xfrm>
            <a:off x="9258080" y="5236798"/>
            <a:ext cx="1752600" cy="4572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rPr>
              <a:t>0x0000.0001</a:t>
            </a:r>
          </a:p>
        </p:txBody>
      </p:sp>
      <p:sp>
        <p:nvSpPr>
          <p:cNvPr id="21" name="TextBox 20"/>
          <p:cNvSpPr txBox="1"/>
          <p:nvPr/>
        </p:nvSpPr>
        <p:spPr>
          <a:xfrm>
            <a:off x="11029100" y="5286323"/>
            <a:ext cx="55330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x</a:t>
            </a:r>
          </a:p>
        </p:txBody>
      </p:sp>
      <p:sp>
        <p:nvSpPr>
          <p:cNvPr id="22" name="Rectangle 21"/>
          <p:cNvSpPr/>
          <p:nvPr/>
        </p:nvSpPr>
        <p:spPr>
          <a:xfrm>
            <a:off x="9258080" y="4222284"/>
            <a:ext cx="1752600" cy="4572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FF00"/>
                </a:solidFill>
                <a:latin typeface="Consolas" panose="020B0609020204030204" pitchFamily="49" charset="0"/>
              </a:rPr>
              <a:t>0x2000.0004</a:t>
            </a:r>
          </a:p>
        </p:txBody>
      </p:sp>
      <p:sp>
        <p:nvSpPr>
          <p:cNvPr id="23" name="TextBox 22"/>
          <p:cNvSpPr txBox="1"/>
          <p:nvPr/>
        </p:nvSpPr>
        <p:spPr>
          <a:xfrm>
            <a:off x="7730002" y="5279412"/>
            <a:ext cx="1577676" cy="369332"/>
          </a:xfrm>
          <a:prstGeom prst="rect">
            <a:avLst/>
          </a:prstGeom>
          <a:noFill/>
        </p:spPr>
        <p:txBody>
          <a:bodyPr wrap="none" rtlCol="0">
            <a:spAutoFit/>
          </a:bodyPr>
          <a:lstStyle/>
          <a:p>
            <a:r>
              <a:rPr lang="en-US" dirty="0">
                <a:latin typeface="Consolas" panose="020B0609020204030204" pitchFamily="49" charset="0"/>
              </a:rPr>
              <a:t>0x2000.0004</a:t>
            </a:r>
          </a:p>
        </p:txBody>
      </p:sp>
      <p:sp>
        <p:nvSpPr>
          <p:cNvPr id="24" name="TextBox 23"/>
          <p:cNvSpPr txBox="1"/>
          <p:nvPr/>
        </p:nvSpPr>
        <p:spPr>
          <a:xfrm>
            <a:off x="9276786" y="6019111"/>
            <a:ext cx="976999" cy="369332"/>
          </a:xfrm>
          <a:prstGeom prst="rect">
            <a:avLst/>
          </a:prstGeom>
          <a:noFill/>
        </p:spPr>
        <p:txBody>
          <a:bodyPr wrap="none" rtlCol="0">
            <a:spAutoFit/>
          </a:bodyPr>
          <a:lstStyle/>
          <a:p>
            <a:r>
              <a:rPr lang="en-US" dirty="0"/>
              <a:t>memory</a:t>
            </a:r>
          </a:p>
        </p:txBody>
      </p:sp>
      <p:cxnSp>
        <p:nvCxnSpPr>
          <p:cNvPr id="6" name="Straight Arrow Connector 5"/>
          <p:cNvCxnSpPr>
            <a:stCxn id="22" idx="2"/>
            <a:endCxn id="20" idx="0"/>
          </p:cNvCxnSpPr>
          <p:nvPr/>
        </p:nvCxnSpPr>
        <p:spPr>
          <a:xfrm>
            <a:off x="10134380" y="4679484"/>
            <a:ext cx="0" cy="557314"/>
          </a:xfrm>
          <a:prstGeom prst="straightConnector1">
            <a:avLst/>
          </a:prstGeom>
          <a:ln w="28575">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43901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and Dereference Operators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a:t>
            </a:fld>
            <a:endParaRPr kumimoji="0" lang="en-US" dirty="0"/>
          </a:p>
        </p:txBody>
      </p:sp>
      <p:sp>
        <p:nvSpPr>
          <p:cNvPr id="5" name="Content Placeholder 3"/>
          <p:cNvSpPr>
            <a:spLocks noGrp="1"/>
          </p:cNvSpPr>
          <p:nvPr>
            <p:ph sz="quarter" idx="1"/>
          </p:nvPr>
        </p:nvSpPr>
        <p:spPr>
          <a:xfrm>
            <a:off x="609600" y="1387475"/>
            <a:ext cx="3886200" cy="2362200"/>
          </a:xfrm>
          <a:gradFill flip="none" rotWithShape="1">
            <a:gsLst>
              <a:gs pos="0">
                <a:schemeClr val="accent5">
                  <a:tint val="45000"/>
                  <a:satMod val="200000"/>
                </a:schemeClr>
              </a:gs>
              <a:gs pos="30000">
                <a:schemeClr val="accent5">
                  <a:tint val="61000"/>
                  <a:satMod val="200000"/>
                </a:schemeClr>
              </a:gs>
              <a:gs pos="45000">
                <a:schemeClr val="accent5">
                  <a:tint val="66000"/>
                  <a:satMod val="200000"/>
                </a:schemeClr>
              </a:gs>
              <a:gs pos="55000">
                <a:schemeClr val="accent5">
                  <a:tint val="66000"/>
                  <a:satMod val="200000"/>
                </a:schemeClr>
              </a:gs>
              <a:gs pos="73000">
                <a:schemeClr val="accent5">
                  <a:tint val="61000"/>
                  <a:satMod val="200000"/>
                </a:schemeClr>
              </a:gs>
              <a:gs pos="100000">
                <a:schemeClr val="accent5">
                  <a:tint val="45000"/>
                  <a:satMod val="200000"/>
                </a:schemeClr>
              </a:gs>
            </a:gsLst>
            <a:lin ang="16200000" scaled="1"/>
            <a:tileRect/>
          </a:gradFill>
        </p:spPr>
        <p:style>
          <a:lnRef idx="1">
            <a:schemeClr val="accent5"/>
          </a:lnRef>
          <a:fillRef idx="2">
            <a:schemeClr val="accent5"/>
          </a:fillRef>
          <a:effectRef idx="1">
            <a:schemeClr val="accent5"/>
          </a:effectRef>
          <a:fontRef idx="minor">
            <a:schemeClr val="dk1"/>
          </a:fontRef>
        </p:style>
        <p:txBody>
          <a:bodyPr>
            <a:normAutofit lnSpcReduction="10000"/>
          </a:bodyPr>
          <a:lstStyle/>
          <a:p>
            <a:pPr marL="0" indent="0">
              <a:buNone/>
            </a:pPr>
            <a:r>
              <a:rPr lang="en-US" sz="2400" dirty="0">
                <a:solidFill>
                  <a:srgbClr val="C00000"/>
                </a:solidFill>
              </a:rPr>
              <a:t>Reference Operator (&amp;)</a:t>
            </a:r>
          </a:p>
          <a:p>
            <a:r>
              <a:rPr lang="en-US" sz="2400" dirty="0"/>
              <a:t>Expression </a:t>
            </a:r>
            <a:r>
              <a:rPr lang="en-US" sz="2400" dirty="0">
                <a:solidFill>
                  <a:srgbClr val="C00000"/>
                </a:solidFill>
                <a:latin typeface="Consolas" panose="020B0609020204030204" pitchFamily="49" charset="0"/>
              </a:rPr>
              <a:t>&amp;x</a:t>
            </a:r>
            <a:r>
              <a:rPr lang="en-US" sz="2400" dirty="0">
                <a:solidFill>
                  <a:srgbClr val="C00000"/>
                </a:solidFill>
              </a:rPr>
              <a:t> </a:t>
            </a:r>
            <a:r>
              <a:rPr lang="en-US" sz="2400" dirty="0"/>
              <a:t>returns the address of variable x</a:t>
            </a:r>
          </a:p>
          <a:p>
            <a:r>
              <a:rPr lang="en-US" sz="2400" dirty="0"/>
              <a:t>Ampersand (</a:t>
            </a:r>
            <a:r>
              <a:rPr lang="en-US" sz="2400" dirty="0">
                <a:solidFill>
                  <a:srgbClr val="C00000"/>
                </a:solidFill>
                <a:latin typeface="Consolas" panose="020B0609020204030204" pitchFamily="49" charset="0"/>
              </a:rPr>
              <a:t>&amp;</a:t>
            </a:r>
            <a:r>
              <a:rPr lang="en-US" sz="2400" dirty="0"/>
              <a:t>) is called </a:t>
            </a:r>
            <a:r>
              <a:rPr lang="en-US" sz="2400" i="1" dirty="0">
                <a:solidFill>
                  <a:srgbClr val="0000FF"/>
                </a:solidFill>
              </a:rPr>
              <a:t>reference operator </a:t>
            </a:r>
            <a:r>
              <a:rPr lang="en-US" sz="2400" i="1" dirty="0">
                <a:solidFill>
                  <a:schemeClr val="tx1"/>
                </a:solidFill>
              </a:rPr>
              <a:t>or</a:t>
            </a:r>
            <a:r>
              <a:rPr lang="en-US" sz="2400" i="1" dirty="0">
                <a:solidFill>
                  <a:srgbClr val="0000FF"/>
                </a:solidFill>
              </a:rPr>
              <a:t> address-of operator</a:t>
            </a:r>
          </a:p>
        </p:txBody>
      </p:sp>
      <p:sp>
        <p:nvSpPr>
          <p:cNvPr id="7" name="Content Placeholder 3"/>
          <p:cNvSpPr txBox="1">
            <a:spLocks/>
          </p:cNvSpPr>
          <p:nvPr/>
        </p:nvSpPr>
        <p:spPr>
          <a:xfrm>
            <a:off x="4800600" y="1387475"/>
            <a:ext cx="3886200" cy="2362200"/>
          </a:xfrm>
          <a:prstGeom prst="rect">
            <a:avLst/>
          </a:prstGeom>
          <a:gradFill flip="none" rotWithShape="1">
            <a:gsLst>
              <a:gs pos="0">
                <a:schemeClr val="accent6">
                  <a:tint val="45000"/>
                  <a:satMod val="200000"/>
                </a:schemeClr>
              </a:gs>
              <a:gs pos="30000">
                <a:schemeClr val="accent6">
                  <a:tint val="61000"/>
                  <a:satMod val="200000"/>
                </a:schemeClr>
              </a:gs>
              <a:gs pos="45000">
                <a:schemeClr val="accent6">
                  <a:tint val="66000"/>
                  <a:satMod val="200000"/>
                </a:schemeClr>
              </a:gs>
              <a:gs pos="55000">
                <a:schemeClr val="accent6">
                  <a:tint val="66000"/>
                  <a:satMod val="200000"/>
                </a:schemeClr>
              </a:gs>
              <a:gs pos="73000">
                <a:schemeClr val="accent6">
                  <a:tint val="61000"/>
                  <a:satMod val="200000"/>
                </a:schemeClr>
              </a:gs>
              <a:gs pos="100000">
                <a:schemeClr val="accent6">
                  <a:tint val="45000"/>
                  <a:satMod val="200000"/>
                </a:schemeClr>
              </a:gs>
            </a:gsLst>
            <a:lin ang="16200000" scaled="1"/>
            <a:tileRect/>
          </a:gradFill>
        </p:spPr>
        <p:style>
          <a:lnRef idx="1">
            <a:schemeClr val="accent6"/>
          </a:lnRef>
          <a:fillRef idx="2">
            <a:schemeClr val="accent6"/>
          </a:fillRef>
          <a:effectRef idx="1">
            <a:schemeClr val="accent6"/>
          </a:effectRef>
          <a:fontRef idx="minor">
            <a:schemeClr val="dk1"/>
          </a:fontRef>
        </p:style>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dirty="0">
                <a:solidFill>
                  <a:srgbClr val="C00000"/>
                </a:solidFill>
              </a:rPr>
              <a:t>Dereference Operator (*)</a:t>
            </a:r>
          </a:p>
          <a:p>
            <a:r>
              <a:rPr lang="en-US" dirty="0"/>
              <a:t>Expression </a:t>
            </a:r>
            <a:r>
              <a:rPr lang="en-US" dirty="0">
                <a:solidFill>
                  <a:srgbClr val="C00000"/>
                </a:solidFill>
                <a:latin typeface="Consolas" panose="020B0609020204030204" pitchFamily="49" charset="0"/>
              </a:rPr>
              <a:t>*p</a:t>
            </a:r>
            <a:r>
              <a:rPr lang="en-US" dirty="0"/>
              <a:t> returns the value of the variable to which p points</a:t>
            </a:r>
          </a:p>
          <a:p>
            <a:r>
              <a:rPr lang="en-US" dirty="0"/>
              <a:t>The asterisk (</a:t>
            </a:r>
            <a:r>
              <a:rPr lang="en-US" dirty="0">
                <a:solidFill>
                  <a:srgbClr val="C00000"/>
                </a:solidFill>
                <a:latin typeface="Consolas" panose="020B0609020204030204" pitchFamily="49" charset="0"/>
              </a:rPr>
              <a:t>*</a:t>
            </a:r>
            <a:r>
              <a:rPr lang="en-US" dirty="0"/>
              <a:t>) is called </a:t>
            </a:r>
            <a:r>
              <a:rPr lang="en-US" i="1" dirty="0">
                <a:solidFill>
                  <a:srgbClr val="0000FF"/>
                </a:solidFill>
              </a:rPr>
              <a:t>dereference operator</a:t>
            </a:r>
          </a:p>
        </p:txBody>
      </p:sp>
      <p:sp>
        <p:nvSpPr>
          <p:cNvPr id="8" name="Rectangle 7"/>
          <p:cNvSpPr/>
          <p:nvPr/>
        </p:nvSpPr>
        <p:spPr>
          <a:xfrm>
            <a:off x="597243" y="4083516"/>
            <a:ext cx="6049785" cy="1938992"/>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err="1">
                <a:latin typeface="Consolas" panose="020B0609020204030204" pitchFamily="49" charset="0"/>
              </a:rPr>
              <a:t>int</a:t>
            </a:r>
            <a:r>
              <a:rPr lang="en-US" sz="2000" dirty="0">
                <a:latin typeface="Consolas" panose="020B0609020204030204" pitchFamily="49" charset="0"/>
              </a:rPr>
              <a:t> x = 1;</a:t>
            </a:r>
          </a:p>
          <a:p>
            <a:r>
              <a:rPr lang="en-US" sz="2000" dirty="0">
                <a:latin typeface="Consolas" panose="020B0609020204030204" pitchFamily="49" charset="0"/>
              </a:rPr>
              <a:t>int * </a:t>
            </a:r>
            <a:r>
              <a:rPr lang="en-US" sz="2000" dirty="0" err="1">
                <a:latin typeface="Consolas" panose="020B0609020204030204" pitchFamily="49" charset="0"/>
              </a:rPr>
              <a:t>ptr</a:t>
            </a:r>
            <a:r>
              <a:rPr lang="en-US" sz="2000" dirty="0">
                <a:latin typeface="Consolas" panose="020B0609020204030204" pitchFamily="49" charset="0"/>
              </a:rPr>
              <a:t>;  // Define a pointer that </a:t>
            </a:r>
          </a:p>
          <a:p>
            <a:r>
              <a:rPr lang="en-US" sz="2000" dirty="0">
                <a:latin typeface="Consolas" panose="020B0609020204030204" pitchFamily="49" charset="0"/>
              </a:rPr>
              <a:t>            // can point to an integer</a:t>
            </a:r>
          </a:p>
          <a:p>
            <a:r>
              <a:rPr lang="en-US" sz="2000" dirty="0" err="1">
                <a:latin typeface="Consolas" panose="020B0609020204030204" pitchFamily="49" charset="0"/>
              </a:rPr>
              <a:t>ptr</a:t>
            </a:r>
            <a:r>
              <a:rPr lang="en-US" sz="2000" dirty="0">
                <a:latin typeface="Consolas" panose="020B0609020204030204" pitchFamily="49" charset="0"/>
              </a:rPr>
              <a:t> = &amp; x;  // Make the pointer points </a:t>
            </a:r>
          </a:p>
          <a:p>
            <a:r>
              <a:rPr lang="en-US" sz="2000" dirty="0">
                <a:latin typeface="Consolas" panose="020B0609020204030204" pitchFamily="49" charset="0"/>
              </a:rPr>
              <a:t>            // to variable x</a:t>
            </a:r>
          </a:p>
          <a:p>
            <a:r>
              <a:rPr lang="en-US" sz="2000" b="1" dirty="0">
                <a:solidFill>
                  <a:srgbClr val="C00000"/>
                </a:solidFill>
                <a:latin typeface="Consolas" panose="020B0609020204030204" pitchFamily="49" charset="0"/>
              </a:rPr>
              <a:t>*</a:t>
            </a:r>
            <a:r>
              <a:rPr lang="en-US" sz="2000" b="1" dirty="0" err="1">
                <a:solidFill>
                  <a:srgbClr val="C00000"/>
                </a:solidFill>
                <a:latin typeface="Consolas" panose="020B0609020204030204" pitchFamily="49" charset="0"/>
              </a:rPr>
              <a:t>ptr</a:t>
            </a:r>
            <a:r>
              <a:rPr lang="en-US" sz="2000" b="1" dirty="0">
                <a:solidFill>
                  <a:srgbClr val="C00000"/>
                </a:solidFill>
                <a:latin typeface="Consolas" panose="020B0609020204030204" pitchFamily="49" charset="0"/>
              </a:rPr>
              <a:t> = 5;</a:t>
            </a:r>
            <a:r>
              <a:rPr lang="en-US" sz="2000" dirty="0">
                <a:solidFill>
                  <a:schemeClr val="tx1"/>
                </a:solidFill>
                <a:latin typeface="Consolas" panose="020B0609020204030204" pitchFamily="49" charset="0"/>
              </a:rPr>
              <a:t>   // Dereferencing</a:t>
            </a:r>
            <a:endParaRPr lang="en-US" sz="2000" b="1" dirty="0">
              <a:solidFill>
                <a:srgbClr val="C00000"/>
              </a:solidFill>
              <a:latin typeface="Consolas" panose="020B0609020204030204" pitchFamily="49" charset="0"/>
            </a:endParaRPr>
          </a:p>
        </p:txBody>
      </p:sp>
      <p:sp>
        <p:nvSpPr>
          <p:cNvPr id="19" name="Rectangle 18"/>
          <p:cNvSpPr/>
          <p:nvPr/>
        </p:nvSpPr>
        <p:spPr>
          <a:xfrm>
            <a:off x="7543800" y="3962400"/>
            <a:ext cx="4191000" cy="208868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11049000" y="4251334"/>
            <a:ext cx="564578" cy="369332"/>
          </a:xfrm>
          <a:prstGeom prst="rect">
            <a:avLst/>
          </a:prstGeom>
          <a:noFill/>
        </p:spPr>
        <p:txBody>
          <a:bodyPr wrap="none" rtlCol="0">
            <a:spAutoFit/>
          </a:bodyPr>
          <a:lstStyle/>
          <a:p>
            <a:r>
              <a:rPr lang="en-US" dirty="0" err="1">
                <a:solidFill>
                  <a:srgbClr val="C00000"/>
                </a:solidFill>
                <a:latin typeface="Consolas" panose="020B0609020204030204" pitchFamily="49" charset="0"/>
              </a:rPr>
              <a:t>ptr</a:t>
            </a:r>
            <a:endParaRPr lang="en-US" dirty="0">
              <a:solidFill>
                <a:srgbClr val="C00000"/>
              </a:solidFill>
              <a:latin typeface="Consolas" panose="020B0609020204030204" pitchFamily="49" charset="0"/>
            </a:endParaRPr>
          </a:p>
        </p:txBody>
      </p:sp>
      <p:sp>
        <p:nvSpPr>
          <p:cNvPr id="21" name="TextBox 20"/>
          <p:cNvSpPr txBox="1"/>
          <p:nvPr/>
        </p:nvSpPr>
        <p:spPr>
          <a:xfrm>
            <a:off x="7706498" y="4266218"/>
            <a:ext cx="1577676" cy="369332"/>
          </a:xfrm>
          <a:prstGeom prst="rect">
            <a:avLst/>
          </a:prstGeom>
          <a:noFill/>
        </p:spPr>
        <p:txBody>
          <a:bodyPr wrap="none" rtlCol="0">
            <a:spAutoFit/>
          </a:bodyPr>
          <a:lstStyle/>
          <a:p>
            <a:r>
              <a:rPr lang="en-US" dirty="0">
                <a:latin typeface="Consolas" panose="020B0609020204030204" pitchFamily="49" charset="0"/>
              </a:rPr>
              <a:t>0x2000.0008</a:t>
            </a:r>
          </a:p>
        </p:txBody>
      </p:sp>
      <p:sp>
        <p:nvSpPr>
          <p:cNvPr id="22" name="Rectangle 21"/>
          <p:cNvSpPr/>
          <p:nvPr/>
        </p:nvSpPr>
        <p:spPr>
          <a:xfrm>
            <a:off x="9258080" y="5236798"/>
            <a:ext cx="1752600" cy="4572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FF00"/>
                </a:solidFill>
                <a:latin typeface="Consolas" panose="020B0609020204030204" pitchFamily="49" charset="0"/>
              </a:rPr>
              <a:t>0x0000.0005</a:t>
            </a:r>
          </a:p>
        </p:txBody>
      </p:sp>
      <p:sp>
        <p:nvSpPr>
          <p:cNvPr id="23" name="TextBox 22"/>
          <p:cNvSpPr txBox="1"/>
          <p:nvPr/>
        </p:nvSpPr>
        <p:spPr>
          <a:xfrm>
            <a:off x="11029100" y="5286323"/>
            <a:ext cx="553300" cy="369332"/>
          </a:xfrm>
          <a:prstGeom prst="rect">
            <a:avLst/>
          </a:prstGeom>
          <a:noFill/>
        </p:spPr>
        <p:txBody>
          <a:bodyPr wrap="square" rtlCol="0">
            <a:spAutoFit/>
          </a:bodyPr>
          <a:lstStyle/>
          <a:p>
            <a:pPr algn="ctr"/>
            <a:r>
              <a:rPr lang="en-US" dirty="0">
                <a:solidFill>
                  <a:srgbClr val="C00000"/>
                </a:solidFill>
                <a:latin typeface="Consolas" panose="020B0609020204030204" pitchFamily="49" charset="0"/>
              </a:rPr>
              <a:t>x</a:t>
            </a:r>
          </a:p>
        </p:txBody>
      </p:sp>
      <p:sp>
        <p:nvSpPr>
          <p:cNvPr id="24" name="Rectangle 23"/>
          <p:cNvSpPr/>
          <p:nvPr/>
        </p:nvSpPr>
        <p:spPr>
          <a:xfrm>
            <a:off x="9258080" y="4222284"/>
            <a:ext cx="1752600" cy="4572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FF00"/>
                </a:solidFill>
                <a:latin typeface="Consolas" panose="020B0609020204030204" pitchFamily="49" charset="0"/>
              </a:rPr>
              <a:t>0x2000.0004</a:t>
            </a:r>
          </a:p>
        </p:txBody>
      </p:sp>
      <p:sp>
        <p:nvSpPr>
          <p:cNvPr id="25" name="TextBox 24"/>
          <p:cNvSpPr txBox="1"/>
          <p:nvPr/>
        </p:nvSpPr>
        <p:spPr>
          <a:xfrm>
            <a:off x="7730002" y="5279412"/>
            <a:ext cx="1577676" cy="369332"/>
          </a:xfrm>
          <a:prstGeom prst="rect">
            <a:avLst/>
          </a:prstGeom>
          <a:noFill/>
        </p:spPr>
        <p:txBody>
          <a:bodyPr wrap="none" rtlCol="0">
            <a:spAutoFit/>
          </a:bodyPr>
          <a:lstStyle/>
          <a:p>
            <a:r>
              <a:rPr lang="en-US" dirty="0">
                <a:latin typeface="Consolas" panose="020B0609020204030204" pitchFamily="49" charset="0"/>
              </a:rPr>
              <a:t>0x2000.0004</a:t>
            </a:r>
          </a:p>
        </p:txBody>
      </p:sp>
      <p:sp>
        <p:nvSpPr>
          <p:cNvPr id="26" name="TextBox 25"/>
          <p:cNvSpPr txBox="1"/>
          <p:nvPr/>
        </p:nvSpPr>
        <p:spPr>
          <a:xfrm>
            <a:off x="9276786" y="6019111"/>
            <a:ext cx="976999" cy="369332"/>
          </a:xfrm>
          <a:prstGeom prst="rect">
            <a:avLst/>
          </a:prstGeom>
          <a:noFill/>
        </p:spPr>
        <p:txBody>
          <a:bodyPr wrap="none" rtlCol="0">
            <a:spAutoFit/>
          </a:bodyPr>
          <a:lstStyle/>
          <a:p>
            <a:r>
              <a:rPr lang="en-US" dirty="0"/>
              <a:t>memory</a:t>
            </a:r>
          </a:p>
        </p:txBody>
      </p:sp>
      <p:cxnSp>
        <p:nvCxnSpPr>
          <p:cNvPr id="27" name="Straight Arrow Connector 26"/>
          <p:cNvCxnSpPr>
            <a:stCxn id="24" idx="2"/>
            <a:endCxn id="22" idx="0"/>
          </p:cNvCxnSpPr>
          <p:nvPr/>
        </p:nvCxnSpPr>
        <p:spPr>
          <a:xfrm>
            <a:off x="10134380" y="4679484"/>
            <a:ext cx="0" cy="557314"/>
          </a:xfrm>
          <a:prstGeom prst="straightConnector1">
            <a:avLst/>
          </a:prstGeom>
          <a:ln w="28575">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5082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and Dereference Operators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8</a:t>
            </a:fld>
            <a:endParaRPr kumimoji="0" lang="en-US" dirty="0"/>
          </a:p>
        </p:txBody>
      </p:sp>
      <p:sp>
        <p:nvSpPr>
          <p:cNvPr id="5" name="Content Placeholder 3"/>
          <p:cNvSpPr>
            <a:spLocks noGrp="1"/>
          </p:cNvSpPr>
          <p:nvPr>
            <p:ph sz="quarter" idx="1"/>
          </p:nvPr>
        </p:nvSpPr>
        <p:spPr>
          <a:xfrm>
            <a:off x="609600" y="1387475"/>
            <a:ext cx="3886200" cy="2362200"/>
          </a:xfrm>
          <a:gradFill flip="none" rotWithShape="1">
            <a:gsLst>
              <a:gs pos="0">
                <a:schemeClr val="accent5">
                  <a:tint val="45000"/>
                  <a:satMod val="200000"/>
                </a:schemeClr>
              </a:gs>
              <a:gs pos="30000">
                <a:schemeClr val="accent5">
                  <a:tint val="61000"/>
                  <a:satMod val="200000"/>
                </a:schemeClr>
              </a:gs>
              <a:gs pos="45000">
                <a:schemeClr val="accent5">
                  <a:tint val="66000"/>
                  <a:satMod val="200000"/>
                </a:schemeClr>
              </a:gs>
              <a:gs pos="55000">
                <a:schemeClr val="accent5">
                  <a:tint val="66000"/>
                  <a:satMod val="200000"/>
                </a:schemeClr>
              </a:gs>
              <a:gs pos="73000">
                <a:schemeClr val="accent5">
                  <a:tint val="61000"/>
                  <a:satMod val="200000"/>
                </a:schemeClr>
              </a:gs>
              <a:gs pos="100000">
                <a:schemeClr val="accent5">
                  <a:tint val="45000"/>
                  <a:satMod val="200000"/>
                </a:schemeClr>
              </a:gs>
            </a:gsLst>
            <a:lin ang="16200000" scaled="1"/>
            <a:tileRect/>
          </a:gradFill>
        </p:spPr>
        <p:style>
          <a:lnRef idx="1">
            <a:schemeClr val="accent5"/>
          </a:lnRef>
          <a:fillRef idx="2">
            <a:schemeClr val="accent5"/>
          </a:fillRef>
          <a:effectRef idx="1">
            <a:schemeClr val="accent5"/>
          </a:effectRef>
          <a:fontRef idx="minor">
            <a:schemeClr val="dk1"/>
          </a:fontRef>
        </p:style>
        <p:txBody>
          <a:bodyPr>
            <a:normAutofit lnSpcReduction="10000"/>
          </a:bodyPr>
          <a:lstStyle/>
          <a:p>
            <a:pPr marL="0" indent="0">
              <a:buNone/>
            </a:pPr>
            <a:r>
              <a:rPr lang="en-US" sz="2400" dirty="0">
                <a:solidFill>
                  <a:srgbClr val="C00000"/>
                </a:solidFill>
              </a:rPr>
              <a:t>Reference Operator (&amp;)</a:t>
            </a:r>
          </a:p>
          <a:p>
            <a:r>
              <a:rPr lang="en-US" sz="2400" dirty="0"/>
              <a:t>Expression </a:t>
            </a:r>
            <a:r>
              <a:rPr lang="en-US" sz="2400" dirty="0">
                <a:solidFill>
                  <a:srgbClr val="C00000"/>
                </a:solidFill>
                <a:latin typeface="Consolas" panose="020B0609020204030204" pitchFamily="49" charset="0"/>
              </a:rPr>
              <a:t>&amp;x</a:t>
            </a:r>
            <a:r>
              <a:rPr lang="en-US" sz="2400" dirty="0">
                <a:solidFill>
                  <a:srgbClr val="C00000"/>
                </a:solidFill>
              </a:rPr>
              <a:t> </a:t>
            </a:r>
            <a:r>
              <a:rPr lang="en-US" sz="2400" dirty="0"/>
              <a:t>returns the address of variable x</a:t>
            </a:r>
          </a:p>
          <a:p>
            <a:r>
              <a:rPr lang="en-US" sz="2400" dirty="0"/>
              <a:t>Ampersand (</a:t>
            </a:r>
            <a:r>
              <a:rPr lang="en-US" sz="2400" dirty="0">
                <a:solidFill>
                  <a:srgbClr val="C00000"/>
                </a:solidFill>
                <a:latin typeface="Consolas" panose="020B0609020204030204" pitchFamily="49" charset="0"/>
              </a:rPr>
              <a:t>&amp;</a:t>
            </a:r>
            <a:r>
              <a:rPr lang="en-US" sz="2400" dirty="0"/>
              <a:t>) is called </a:t>
            </a:r>
            <a:r>
              <a:rPr lang="en-US" sz="2400" i="1" dirty="0">
                <a:solidFill>
                  <a:srgbClr val="0000FF"/>
                </a:solidFill>
              </a:rPr>
              <a:t>reference operator </a:t>
            </a:r>
            <a:r>
              <a:rPr lang="en-US" sz="2400" i="1" dirty="0">
                <a:solidFill>
                  <a:schemeClr val="tx1"/>
                </a:solidFill>
              </a:rPr>
              <a:t>or</a:t>
            </a:r>
            <a:r>
              <a:rPr lang="en-US" sz="2400" i="1" dirty="0">
                <a:solidFill>
                  <a:srgbClr val="0000FF"/>
                </a:solidFill>
              </a:rPr>
              <a:t> address-of operator</a:t>
            </a:r>
          </a:p>
        </p:txBody>
      </p:sp>
      <p:sp>
        <p:nvSpPr>
          <p:cNvPr id="7" name="Content Placeholder 3"/>
          <p:cNvSpPr txBox="1">
            <a:spLocks/>
          </p:cNvSpPr>
          <p:nvPr/>
        </p:nvSpPr>
        <p:spPr>
          <a:xfrm>
            <a:off x="4800600" y="1387475"/>
            <a:ext cx="3886200" cy="2362200"/>
          </a:xfrm>
          <a:prstGeom prst="rect">
            <a:avLst/>
          </a:prstGeom>
          <a:gradFill flip="none" rotWithShape="1">
            <a:gsLst>
              <a:gs pos="0">
                <a:schemeClr val="accent6">
                  <a:tint val="45000"/>
                  <a:satMod val="200000"/>
                </a:schemeClr>
              </a:gs>
              <a:gs pos="30000">
                <a:schemeClr val="accent6">
                  <a:tint val="61000"/>
                  <a:satMod val="200000"/>
                </a:schemeClr>
              </a:gs>
              <a:gs pos="45000">
                <a:schemeClr val="accent6">
                  <a:tint val="66000"/>
                  <a:satMod val="200000"/>
                </a:schemeClr>
              </a:gs>
              <a:gs pos="55000">
                <a:schemeClr val="accent6">
                  <a:tint val="66000"/>
                  <a:satMod val="200000"/>
                </a:schemeClr>
              </a:gs>
              <a:gs pos="73000">
                <a:schemeClr val="accent6">
                  <a:tint val="61000"/>
                  <a:satMod val="200000"/>
                </a:schemeClr>
              </a:gs>
              <a:gs pos="100000">
                <a:schemeClr val="accent6">
                  <a:tint val="45000"/>
                  <a:satMod val="200000"/>
                </a:schemeClr>
              </a:gs>
            </a:gsLst>
            <a:lin ang="16200000" scaled="1"/>
            <a:tileRect/>
          </a:gradFill>
        </p:spPr>
        <p:style>
          <a:lnRef idx="1">
            <a:schemeClr val="accent6"/>
          </a:lnRef>
          <a:fillRef idx="2">
            <a:schemeClr val="accent6"/>
          </a:fillRef>
          <a:effectRef idx="1">
            <a:schemeClr val="accent6"/>
          </a:effectRef>
          <a:fontRef idx="minor">
            <a:schemeClr val="dk1"/>
          </a:fontRef>
        </p:style>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US" dirty="0">
                <a:solidFill>
                  <a:srgbClr val="C00000"/>
                </a:solidFill>
              </a:rPr>
              <a:t>Dereference Operator (*)</a:t>
            </a:r>
          </a:p>
          <a:p>
            <a:r>
              <a:rPr lang="en-US" dirty="0"/>
              <a:t>Expression </a:t>
            </a:r>
            <a:r>
              <a:rPr lang="en-US" dirty="0">
                <a:solidFill>
                  <a:srgbClr val="C00000"/>
                </a:solidFill>
                <a:latin typeface="Consolas" panose="020B0609020204030204" pitchFamily="49" charset="0"/>
              </a:rPr>
              <a:t>*p</a:t>
            </a:r>
            <a:r>
              <a:rPr lang="en-US" dirty="0"/>
              <a:t> returns the value of the variable to which p points</a:t>
            </a:r>
          </a:p>
          <a:p>
            <a:r>
              <a:rPr lang="en-US" dirty="0"/>
              <a:t>The asterisk (</a:t>
            </a:r>
            <a:r>
              <a:rPr lang="en-US" dirty="0">
                <a:solidFill>
                  <a:srgbClr val="C00000"/>
                </a:solidFill>
                <a:latin typeface="Consolas" panose="020B0609020204030204" pitchFamily="49" charset="0"/>
              </a:rPr>
              <a:t>*</a:t>
            </a:r>
            <a:r>
              <a:rPr lang="en-US" dirty="0"/>
              <a:t>) is called </a:t>
            </a:r>
            <a:r>
              <a:rPr lang="en-US" i="1" dirty="0">
                <a:solidFill>
                  <a:srgbClr val="0000FF"/>
                </a:solidFill>
              </a:rPr>
              <a:t>dereference operator</a:t>
            </a:r>
          </a:p>
        </p:txBody>
      </p:sp>
      <p:sp>
        <p:nvSpPr>
          <p:cNvPr id="4" name="TextBox 3"/>
          <p:cNvSpPr txBox="1"/>
          <p:nvPr/>
        </p:nvSpPr>
        <p:spPr>
          <a:xfrm>
            <a:off x="2667000" y="4724400"/>
            <a:ext cx="6513322" cy="1077218"/>
          </a:xfrm>
          <a:prstGeom prst="rect">
            <a:avLst/>
          </a:prstGeom>
          <a:noFill/>
        </p:spPr>
        <p:txBody>
          <a:bodyPr wrap="none" rtlCol="0">
            <a:spAutoFit/>
          </a:bodyPr>
          <a:lstStyle/>
          <a:p>
            <a:r>
              <a:rPr lang="en-US" sz="3200" dirty="0">
                <a:solidFill>
                  <a:srgbClr val="C00000"/>
                </a:solidFill>
                <a:latin typeface="Consolas" panose="020B0609020204030204" pitchFamily="49" charset="0"/>
              </a:rPr>
              <a:t>&amp; </a:t>
            </a:r>
            <a:r>
              <a:rPr lang="en-US" sz="3200" dirty="0" err="1">
                <a:solidFill>
                  <a:srgbClr val="C00000"/>
                </a:solidFill>
                <a:latin typeface="Consolas" panose="020B0609020204030204" pitchFamily="49" charset="0"/>
              </a:rPr>
              <a:t>var</a:t>
            </a:r>
            <a:r>
              <a:rPr lang="en-US" sz="3200" dirty="0">
                <a:solidFill>
                  <a:srgbClr val="C00000"/>
                </a:solidFill>
                <a:latin typeface="Consolas" panose="020B0609020204030204" pitchFamily="49" charset="0"/>
              </a:rPr>
              <a:t>:  address of </a:t>
            </a:r>
            <a:r>
              <a:rPr lang="en-US" sz="3200" dirty="0" err="1">
                <a:solidFill>
                  <a:srgbClr val="C00000"/>
                </a:solidFill>
                <a:latin typeface="Consolas" panose="020B0609020204030204" pitchFamily="49" charset="0"/>
              </a:rPr>
              <a:t>var</a:t>
            </a:r>
            <a:endParaRPr lang="en-US" sz="3200" dirty="0">
              <a:solidFill>
                <a:srgbClr val="C00000"/>
              </a:solidFill>
              <a:latin typeface="Consolas" panose="020B0609020204030204" pitchFamily="49" charset="0"/>
            </a:endParaRPr>
          </a:p>
          <a:p>
            <a:r>
              <a:rPr lang="en-US" sz="3200" dirty="0">
                <a:solidFill>
                  <a:srgbClr val="C00000"/>
                </a:solidFill>
                <a:latin typeface="Consolas" panose="020B0609020204030204" pitchFamily="49" charset="0"/>
              </a:rPr>
              <a:t>* </a:t>
            </a:r>
            <a:r>
              <a:rPr lang="en-US" sz="3200" dirty="0" err="1">
                <a:solidFill>
                  <a:srgbClr val="C00000"/>
                </a:solidFill>
                <a:latin typeface="Consolas" panose="020B0609020204030204" pitchFamily="49" charset="0"/>
              </a:rPr>
              <a:t>ptr</a:t>
            </a:r>
            <a:r>
              <a:rPr lang="en-US" sz="3200" dirty="0">
                <a:solidFill>
                  <a:srgbClr val="C00000"/>
                </a:solidFill>
                <a:latin typeface="Consolas" panose="020B0609020204030204" pitchFamily="49" charset="0"/>
              </a:rPr>
              <a:t>:  value pointed by </a:t>
            </a:r>
            <a:r>
              <a:rPr lang="en-US" sz="3200" dirty="0" err="1">
                <a:solidFill>
                  <a:srgbClr val="C00000"/>
                </a:solidFill>
                <a:latin typeface="Consolas" panose="020B0609020204030204" pitchFamily="49" charset="0"/>
              </a:rPr>
              <a:t>ptr</a:t>
            </a:r>
            <a:endParaRPr lang="en-US" sz="3200" dirty="0">
              <a:solidFill>
                <a:srgbClr val="C00000"/>
              </a:solidFill>
              <a:latin typeface="Consolas" panose="020B0609020204030204" pitchFamily="49" charset="0"/>
            </a:endParaRPr>
          </a:p>
        </p:txBody>
      </p:sp>
      <p:sp>
        <p:nvSpPr>
          <p:cNvPr id="6" name="TextBox 5"/>
          <p:cNvSpPr txBox="1"/>
          <p:nvPr/>
        </p:nvSpPr>
        <p:spPr>
          <a:xfrm>
            <a:off x="1447800" y="4169668"/>
            <a:ext cx="1690271" cy="523220"/>
          </a:xfrm>
          <a:prstGeom prst="rect">
            <a:avLst/>
          </a:prstGeom>
          <a:noFill/>
        </p:spPr>
        <p:txBody>
          <a:bodyPr wrap="none" rtlCol="0">
            <a:spAutoFit/>
          </a:bodyPr>
          <a:lstStyle/>
          <a:p>
            <a:r>
              <a:rPr lang="en-US" sz="2800" dirty="0"/>
              <a:t>Summary: </a:t>
            </a:r>
          </a:p>
        </p:txBody>
      </p:sp>
    </p:spTree>
    <p:extLst>
      <p:ext uri="{BB962C8B-B14F-4D97-AF65-F5344CB8AC3E}">
        <p14:creationId xmlns:p14="http://schemas.microsoft.com/office/powerpoint/2010/main" val="2642961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Pointer Arithmetic</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6" name="Content Placeholder 3"/>
          <p:cNvSpPr txBox="1">
            <a:spLocks/>
          </p:cNvSpPr>
          <p:nvPr/>
        </p:nvSpPr>
        <p:spPr>
          <a:xfrm>
            <a:off x="609600" y="1219199"/>
            <a:ext cx="6096000" cy="2458143"/>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400" dirty="0" err="1"/>
              <a:t>ptr</a:t>
            </a:r>
            <a:r>
              <a:rPr lang="en-US" sz="2400" dirty="0"/>
              <a:t> is pointer, and stored at </a:t>
            </a:r>
            <a:r>
              <a:rPr lang="en-US" sz="2400" dirty="0">
                <a:latin typeface="Consolas" panose="020B0609020204030204" pitchFamily="49" charset="0"/>
                <a:cs typeface="Consolas" panose="020B0609020204030204" pitchFamily="49" charset="0"/>
              </a:rPr>
              <a:t>0x20000000</a:t>
            </a:r>
            <a:r>
              <a:rPr lang="en-US" sz="2400" dirty="0"/>
              <a:t> </a:t>
            </a:r>
          </a:p>
          <a:p>
            <a:r>
              <a:rPr lang="en-US" sz="2400" dirty="0" err="1">
                <a:latin typeface="Consolas" panose="020B0609020204030204" pitchFamily="49" charset="0"/>
                <a:cs typeface="Consolas" panose="020B0609020204030204" pitchFamily="49" charset="0"/>
              </a:rPr>
              <a:t>ptr</a:t>
            </a:r>
            <a:r>
              <a:rPr lang="en-US" sz="2400" dirty="0">
                <a:latin typeface="Consolas" panose="020B0609020204030204" pitchFamily="49" charset="0"/>
                <a:cs typeface="Consolas" panose="020B0609020204030204" pitchFamily="49" charset="0"/>
              </a:rPr>
              <a:t> =</a:t>
            </a:r>
            <a:r>
              <a:rPr lang="en-US" sz="2400" dirty="0"/>
              <a:t> </a:t>
            </a:r>
            <a:r>
              <a:rPr lang="en-US" sz="2400" dirty="0">
                <a:latin typeface="Consolas" panose="020B0609020204030204" pitchFamily="49" charset="0"/>
              </a:rPr>
              <a:t>0x20000004</a:t>
            </a:r>
            <a:endParaRPr lang="en-US" sz="2400" dirty="0"/>
          </a:p>
          <a:p>
            <a:r>
              <a:rPr lang="en-US" sz="2400" dirty="0"/>
              <a:t>What happens if: </a:t>
            </a:r>
          </a:p>
          <a:p>
            <a:pPr marL="0" indent="0">
              <a:buNone/>
            </a:pPr>
            <a:r>
              <a:rPr lang="en-US" sz="2400" dirty="0">
                <a:solidFill>
                  <a:srgbClr val="C00000"/>
                </a:solidFill>
                <a:latin typeface="Consolas" panose="020B0609020204030204" pitchFamily="49" charset="0"/>
                <a:cs typeface="Consolas" panose="020B0609020204030204" pitchFamily="49" charset="0"/>
              </a:rPr>
              <a:t>     </a:t>
            </a:r>
            <a:r>
              <a:rPr lang="en-US" sz="2400" dirty="0" err="1">
                <a:solidFill>
                  <a:srgbClr val="C00000"/>
                </a:solidFill>
                <a:latin typeface="Consolas" panose="020B0609020204030204" pitchFamily="49" charset="0"/>
                <a:cs typeface="Consolas" panose="020B0609020204030204" pitchFamily="49" charset="0"/>
              </a:rPr>
              <a:t>ptr</a:t>
            </a:r>
            <a:r>
              <a:rPr lang="en-US" sz="2400" dirty="0">
                <a:solidFill>
                  <a:srgbClr val="C00000"/>
                </a:solidFill>
                <a:latin typeface="Consolas" panose="020B0609020204030204" pitchFamily="49" charset="0"/>
                <a:cs typeface="Consolas" panose="020B0609020204030204" pitchFamily="49" charset="0"/>
              </a:rPr>
              <a:t>++;</a:t>
            </a:r>
            <a:endParaRPr lang="en-US" sz="2400" dirty="0">
              <a:latin typeface="Consolas" panose="020B0609020204030204" pitchFamily="49" charset="0"/>
              <a:cs typeface="Consolas" panose="020B0609020204030204" pitchFamily="49" charset="0"/>
            </a:endParaRPr>
          </a:p>
          <a:p>
            <a:r>
              <a:rPr lang="en-US" sz="2400" dirty="0"/>
              <a:t>Is it true? </a:t>
            </a:r>
            <a:r>
              <a:rPr lang="en-US" sz="2400" dirty="0" err="1">
                <a:solidFill>
                  <a:srgbClr val="C00000"/>
                </a:solidFill>
                <a:latin typeface="Consolas" panose="020B0609020204030204" pitchFamily="49" charset="0"/>
                <a:cs typeface="Consolas" panose="020B0609020204030204" pitchFamily="49" charset="0"/>
              </a:rPr>
              <a:t>ptr</a:t>
            </a:r>
            <a:r>
              <a:rPr lang="en-US" sz="2400" dirty="0">
                <a:solidFill>
                  <a:srgbClr val="C00000"/>
                </a:solidFill>
                <a:latin typeface="Consolas" panose="020B0609020204030204" pitchFamily="49" charset="0"/>
                <a:cs typeface="Consolas" panose="020B0609020204030204" pitchFamily="49" charset="0"/>
              </a:rPr>
              <a:t> =</a:t>
            </a:r>
            <a:r>
              <a:rPr lang="en-US" sz="2400" dirty="0"/>
              <a:t> </a:t>
            </a:r>
            <a:r>
              <a:rPr lang="en-US" sz="2400" dirty="0">
                <a:solidFill>
                  <a:srgbClr val="C00000"/>
                </a:solidFill>
                <a:latin typeface="Consolas" panose="020B0609020204030204" pitchFamily="49" charset="0"/>
              </a:rPr>
              <a:t>0x20000005</a:t>
            </a:r>
          </a:p>
        </p:txBody>
      </p:sp>
      <p:sp>
        <p:nvSpPr>
          <p:cNvPr id="8" name="TextBox 7"/>
          <p:cNvSpPr txBox="1"/>
          <p:nvPr/>
        </p:nvSpPr>
        <p:spPr>
          <a:xfrm>
            <a:off x="8269539" y="4058869"/>
            <a:ext cx="1368152" cy="338554"/>
          </a:xfrm>
          <a:prstGeom prst="rect">
            <a:avLst/>
          </a:prstGeom>
          <a:noFill/>
        </p:spPr>
        <p:txBody>
          <a:bodyPr wrap="square" rtlCol="0">
            <a:spAutoFit/>
          </a:bodyPr>
          <a:lstStyle/>
          <a:p>
            <a:pPr algn="ctr"/>
            <a:r>
              <a:rPr lang="en-GB" sz="1600" dirty="0">
                <a:latin typeface="Consolas"/>
                <a:cs typeface="Consolas"/>
              </a:rPr>
              <a:t>0x20000005</a:t>
            </a:r>
          </a:p>
        </p:txBody>
      </p:sp>
      <p:sp>
        <p:nvSpPr>
          <p:cNvPr id="9" name="TextBox 8"/>
          <p:cNvSpPr txBox="1"/>
          <p:nvPr/>
        </p:nvSpPr>
        <p:spPr>
          <a:xfrm>
            <a:off x="8269539" y="4418909"/>
            <a:ext cx="1368152" cy="338554"/>
          </a:xfrm>
          <a:prstGeom prst="rect">
            <a:avLst/>
          </a:prstGeom>
          <a:noFill/>
        </p:spPr>
        <p:txBody>
          <a:bodyPr wrap="square" rtlCol="0">
            <a:spAutoFit/>
          </a:bodyPr>
          <a:lstStyle/>
          <a:p>
            <a:pPr algn="ctr"/>
            <a:r>
              <a:rPr lang="en-GB" sz="1600" dirty="0">
                <a:solidFill>
                  <a:srgbClr val="C00000"/>
                </a:solidFill>
                <a:latin typeface="Consolas"/>
                <a:cs typeface="Consolas"/>
              </a:rPr>
              <a:t>0x20000004</a:t>
            </a:r>
          </a:p>
        </p:txBody>
      </p:sp>
      <p:sp>
        <p:nvSpPr>
          <p:cNvPr id="10" name="TextBox 9"/>
          <p:cNvSpPr txBox="1"/>
          <p:nvPr/>
        </p:nvSpPr>
        <p:spPr>
          <a:xfrm>
            <a:off x="8269539" y="2978749"/>
            <a:ext cx="1368152" cy="338554"/>
          </a:xfrm>
          <a:prstGeom prst="rect">
            <a:avLst/>
          </a:prstGeom>
          <a:noFill/>
        </p:spPr>
        <p:txBody>
          <a:bodyPr wrap="square" rtlCol="0">
            <a:spAutoFit/>
          </a:bodyPr>
          <a:lstStyle/>
          <a:p>
            <a:pPr algn="ctr"/>
            <a:r>
              <a:rPr lang="en-GB" sz="1600" dirty="0">
                <a:latin typeface="Consolas"/>
                <a:cs typeface="Consolas"/>
              </a:rPr>
              <a:t>0x20000008</a:t>
            </a:r>
          </a:p>
        </p:txBody>
      </p:sp>
      <p:sp>
        <p:nvSpPr>
          <p:cNvPr id="15" name="TextBox 14"/>
          <p:cNvSpPr txBox="1"/>
          <p:nvPr/>
        </p:nvSpPr>
        <p:spPr>
          <a:xfrm>
            <a:off x="8269539" y="3698829"/>
            <a:ext cx="1368152" cy="338554"/>
          </a:xfrm>
          <a:prstGeom prst="rect">
            <a:avLst/>
          </a:prstGeom>
          <a:noFill/>
        </p:spPr>
        <p:txBody>
          <a:bodyPr wrap="square" rtlCol="0">
            <a:spAutoFit/>
          </a:bodyPr>
          <a:lstStyle/>
          <a:p>
            <a:pPr algn="ctr"/>
            <a:r>
              <a:rPr lang="en-GB" sz="1600" dirty="0">
                <a:latin typeface="Consolas"/>
                <a:cs typeface="Consolas"/>
              </a:rPr>
              <a:t>0x20000006</a:t>
            </a:r>
          </a:p>
        </p:txBody>
      </p:sp>
      <p:sp>
        <p:nvSpPr>
          <p:cNvPr id="16" name="TextBox 15"/>
          <p:cNvSpPr txBox="1"/>
          <p:nvPr/>
        </p:nvSpPr>
        <p:spPr>
          <a:xfrm>
            <a:off x="8269539" y="4778949"/>
            <a:ext cx="1368152" cy="338554"/>
          </a:xfrm>
          <a:prstGeom prst="rect">
            <a:avLst/>
          </a:prstGeom>
          <a:noFill/>
        </p:spPr>
        <p:txBody>
          <a:bodyPr wrap="square" rtlCol="0">
            <a:spAutoFit/>
          </a:bodyPr>
          <a:lstStyle/>
          <a:p>
            <a:pPr algn="ctr"/>
            <a:r>
              <a:rPr lang="en-GB" sz="1600" dirty="0">
                <a:latin typeface="Consolas"/>
                <a:cs typeface="Consolas"/>
              </a:rPr>
              <a:t>0x20000003</a:t>
            </a:r>
          </a:p>
        </p:txBody>
      </p:sp>
      <p:sp>
        <p:nvSpPr>
          <p:cNvPr id="17" name="TextBox 16"/>
          <p:cNvSpPr txBox="1"/>
          <p:nvPr/>
        </p:nvSpPr>
        <p:spPr>
          <a:xfrm>
            <a:off x="8269539" y="5138989"/>
            <a:ext cx="1368152" cy="338554"/>
          </a:xfrm>
          <a:prstGeom prst="rect">
            <a:avLst/>
          </a:prstGeom>
          <a:noFill/>
        </p:spPr>
        <p:txBody>
          <a:bodyPr wrap="square" rtlCol="0">
            <a:spAutoFit/>
          </a:bodyPr>
          <a:lstStyle/>
          <a:p>
            <a:pPr algn="ctr"/>
            <a:r>
              <a:rPr lang="en-GB" sz="1600" dirty="0">
                <a:latin typeface="Consolas"/>
                <a:cs typeface="Consolas"/>
              </a:rPr>
              <a:t>0x20000002</a:t>
            </a:r>
          </a:p>
        </p:txBody>
      </p:sp>
      <p:sp>
        <p:nvSpPr>
          <p:cNvPr id="19" name="TextBox 18"/>
          <p:cNvSpPr txBox="1"/>
          <p:nvPr/>
        </p:nvSpPr>
        <p:spPr>
          <a:xfrm>
            <a:off x="8269539" y="1195153"/>
            <a:ext cx="1368152" cy="338554"/>
          </a:xfrm>
          <a:prstGeom prst="rect">
            <a:avLst/>
          </a:prstGeom>
          <a:noFill/>
        </p:spPr>
        <p:txBody>
          <a:bodyPr wrap="square" rtlCol="0">
            <a:spAutoFit/>
          </a:bodyPr>
          <a:lstStyle/>
          <a:p>
            <a:pPr algn="ctr"/>
            <a:r>
              <a:rPr lang="en-GB" sz="1600" dirty="0">
                <a:latin typeface="Consolas"/>
                <a:cs typeface="Consolas"/>
              </a:rPr>
              <a:t>0x2000000D</a:t>
            </a:r>
          </a:p>
        </p:txBody>
      </p:sp>
      <p:sp>
        <p:nvSpPr>
          <p:cNvPr id="22" name="TextBox 21"/>
          <p:cNvSpPr txBox="1"/>
          <p:nvPr/>
        </p:nvSpPr>
        <p:spPr>
          <a:xfrm>
            <a:off x="8269539" y="1555193"/>
            <a:ext cx="1368152" cy="338554"/>
          </a:xfrm>
          <a:prstGeom prst="rect">
            <a:avLst/>
          </a:prstGeom>
          <a:noFill/>
        </p:spPr>
        <p:txBody>
          <a:bodyPr wrap="square" rtlCol="0">
            <a:spAutoFit/>
          </a:bodyPr>
          <a:lstStyle/>
          <a:p>
            <a:pPr algn="ctr"/>
            <a:r>
              <a:rPr lang="en-GB" sz="1600" dirty="0">
                <a:latin typeface="Consolas"/>
                <a:cs typeface="Consolas"/>
              </a:rPr>
              <a:t>0x2000000C</a:t>
            </a:r>
          </a:p>
        </p:txBody>
      </p:sp>
      <p:sp>
        <p:nvSpPr>
          <p:cNvPr id="23" name="TextBox 22"/>
          <p:cNvSpPr txBox="1"/>
          <p:nvPr/>
        </p:nvSpPr>
        <p:spPr>
          <a:xfrm>
            <a:off x="8269539" y="1915233"/>
            <a:ext cx="1368152" cy="338554"/>
          </a:xfrm>
          <a:prstGeom prst="rect">
            <a:avLst/>
          </a:prstGeom>
          <a:noFill/>
        </p:spPr>
        <p:txBody>
          <a:bodyPr wrap="square" rtlCol="0">
            <a:spAutoFit/>
          </a:bodyPr>
          <a:lstStyle/>
          <a:p>
            <a:pPr algn="ctr"/>
            <a:r>
              <a:rPr lang="en-GB" sz="1600" dirty="0">
                <a:latin typeface="Consolas"/>
                <a:cs typeface="Consolas"/>
              </a:rPr>
              <a:t>0x2000000B</a:t>
            </a:r>
          </a:p>
        </p:txBody>
      </p:sp>
      <p:sp>
        <p:nvSpPr>
          <p:cNvPr id="25" name="TextBox 24"/>
          <p:cNvSpPr txBox="1"/>
          <p:nvPr/>
        </p:nvSpPr>
        <p:spPr>
          <a:xfrm>
            <a:off x="8269539" y="2258669"/>
            <a:ext cx="1368152" cy="338554"/>
          </a:xfrm>
          <a:prstGeom prst="rect">
            <a:avLst/>
          </a:prstGeom>
          <a:noFill/>
        </p:spPr>
        <p:txBody>
          <a:bodyPr wrap="square" rtlCol="0">
            <a:spAutoFit/>
          </a:bodyPr>
          <a:lstStyle/>
          <a:p>
            <a:pPr algn="ctr"/>
            <a:r>
              <a:rPr lang="en-GB" sz="1600" dirty="0">
                <a:latin typeface="Consolas"/>
                <a:cs typeface="Consolas"/>
              </a:rPr>
              <a:t>0x2000000A</a:t>
            </a:r>
          </a:p>
        </p:txBody>
      </p:sp>
      <p:sp>
        <p:nvSpPr>
          <p:cNvPr id="26" name="TextBox 25"/>
          <p:cNvSpPr txBox="1"/>
          <p:nvPr/>
        </p:nvSpPr>
        <p:spPr>
          <a:xfrm>
            <a:off x="8269539" y="2618709"/>
            <a:ext cx="1368152" cy="338554"/>
          </a:xfrm>
          <a:prstGeom prst="rect">
            <a:avLst/>
          </a:prstGeom>
          <a:noFill/>
        </p:spPr>
        <p:txBody>
          <a:bodyPr wrap="square" rtlCol="0">
            <a:spAutoFit/>
          </a:bodyPr>
          <a:lstStyle/>
          <a:p>
            <a:pPr algn="ctr"/>
            <a:r>
              <a:rPr lang="en-GB" sz="1600" dirty="0">
                <a:latin typeface="Consolas"/>
                <a:cs typeface="Consolas"/>
              </a:rPr>
              <a:t>0x20000009</a:t>
            </a:r>
          </a:p>
        </p:txBody>
      </p:sp>
      <p:sp>
        <p:nvSpPr>
          <p:cNvPr id="30" name="TextBox 29"/>
          <p:cNvSpPr txBox="1"/>
          <p:nvPr/>
        </p:nvSpPr>
        <p:spPr>
          <a:xfrm>
            <a:off x="8269539" y="3338789"/>
            <a:ext cx="1368152" cy="338554"/>
          </a:xfrm>
          <a:prstGeom prst="rect">
            <a:avLst/>
          </a:prstGeom>
          <a:noFill/>
        </p:spPr>
        <p:txBody>
          <a:bodyPr wrap="square" rtlCol="0">
            <a:spAutoFit/>
          </a:bodyPr>
          <a:lstStyle/>
          <a:p>
            <a:pPr algn="ctr"/>
            <a:r>
              <a:rPr lang="en-GB" sz="1600" dirty="0">
                <a:latin typeface="Consolas"/>
                <a:cs typeface="Consolas"/>
              </a:rPr>
              <a:t>0x20000007</a:t>
            </a:r>
          </a:p>
        </p:txBody>
      </p:sp>
      <p:sp>
        <p:nvSpPr>
          <p:cNvPr id="31" name="TextBox 30"/>
          <p:cNvSpPr txBox="1"/>
          <p:nvPr/>
        </p:nvSpPr>
        <p:spPr>
          <a:xfrm>
            <a:off x="8269539" y="5499029"/>
            <a:ext cx="1368152" cy="338554"/>
          </a:xfrm>
          <a:prstGeom prst="rect">
            <a:avLst/>
          </a:prstGeom>
          <a:noFill/>
        </p:spPr>
        <p:txBody>
          <a:bodyPr wrap="square" rtlCol="0">
            <a:spAutoFit/>
          </a:bodyPr>
          <a:lstStyle/>
          <a:p>
            <a:pPr algn="ctr"/>
            <a:r>
              <a:rPr lang="en-GB" sz="1600" dirty="0">
                <a:latin typeface="Consolas"/>
                <a:cs typeface="Consolas"/>
              </a:rPr>
              <a:t>0x20000001</a:t>
            </a:r>
          </a:p>
        </p:txBody>
      </p:sp>
      <p:sp>
        <p:nvSpPr>
          <p:cNvPr id="33" name="TextBox 32"/>
          <p:cNvSpPr txBox="1"/>
          <p:nvPr/>
        </p:nvSpPr>
        <p:spPr>
          <a:xfrm>
            <a:off x="8267530" y="5860979"/>
            <a:ext cx="1368152" cy="338554"/>
          </a:xfrm>
          <a:prstGeom prst="rect">
            <a:avLst/>
          </a:prstGeom>
          <a:noFill/>
        </p:spPr>
        <p:txBody>
          <a:bodyPr wrap="square" rtlCol="0">
            <a:spAutoFit/>
          </a:bodyPr>
          <a:lstStyle/>
          <a:p>
            <a:pPr algn="ctr"/>
            <a:r>
              <a:rPr lang="en-GB" sz="1600" dirty="0">
                <a:solidFill>
                  <a:srgbClr val="0000FF"/>
                </a:solidFill>
                <a:latin typeface="Consolas"/>
                <a:cs typeface="Consolas"/>
              </a:rPr>
              <a:t>0x20000000</a:t>
            </a:r>
          </a:p>
        </p:txBody>
      </p:sp>
      <p:grpSp>
        <p:nvGrpSpPr>
          <p:cNvPr id="4" name="Group 3"/>
          <p:cNvGrpSpPr/>
          <p:nvPr/>
        </p:nvGrpSpPr>
        <p:grpSpPr>
          <a:xfrm>
            <a:off x="9563674" y="1195461"/>
            <a:ext cx="1300882" cy="5025866"/>
            <a:chOff x="8686800" y="1232170"/>
            <a:chExt cx="1300882" cy="5025866"/>
          </a:xfrm>
        </p:grpSpPr>
        <p:sp>
          <p:nvSpPr>
            <p:cNvPr id="7" name="Rectangle 6"/>
            <p:cNvSpPr/>
            <p:nvPr/>
          </p:nvSpPr>
          <p:spPr>
            <a:xfrm>
              <a:off x="8686800" y="40958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11" name="Rectangle 10"/>
            <p:cNvSpPr/>
            <p:nvPr/>
          </p:nvSpPr>
          <p:spPr>
            <a:xfrm>
              <a:off x="8686800" y="44559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12" name="Rectangle 11"/>
            <p:cNvSpPr/>
            <p:nvPr/>
          </p:nvSpPr>
          <p:spPr>
            <a:xfrm>
              <a:off x="8686800" y="30157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13" name="Rectangle 12"/>
            <p:cNvSpPr/>
            <p:nvPr/>
          </p:nvSpPr>
          <p:spPr>
            <a:xfrm>
              <a:off x="8686800" y="48159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0x20</a:t>
              </a:r>
            </a:p>
          </p:txBody>
        </p:sp>
        <p:sp>
          <p:nvSpPr>
            <p:cNvPr id="14" name="Rectangle 13"/>
            <p:cNvSpPr/>
            <p:nvPr/>
          </p:nvSpPr>
          <p:spPr>
            <a:xfrm>
              <a:off x="8686800" y="37358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18" name="Rectangle 17"/>
            <p:cNvSpPr/>
            <p:nvPr/>
          </p:nvSpPr>
          <p:spPr>
            <a:xfrm>
              <a:off x="8686800" y="123217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20" name="Rectangle 19"/>
            <p:cNvSpPr/>
            <p:nvPr/>
          </p:nvSpPr>
          <p:spPr>
            <a:xfrm>
              <a:off x="8686800" y="15922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anose="020B0609020204030204" pitchFamily="49" charset="0"/>
              </a:endParaRPr>
            </a:p>
          </p:txBody>
        </p:sp>
        <p:sp>
          <p:nvSpPr>
            <p:cNvPr id="21" name="Rectangle 20"/>
            <p:cNvSpPr/>
            <p:nvPr/>
          </p:nvSpPr>
          <p:spPr>
            <a:xfrm>
              <a:off x="8686800" y="195225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latin typeface="Consolas" panose="020B0609020204030204" pitchFamily="49" charset="0"/>
                <a:cs typeface="Consolas" panose="020B0609020204030204" pitchFamily="49" charset="0"/>
              </a:endParaRPr>
            </a:p>
          </p:txBody>
        </p:sp>
        <p:sp>
          <p:nvSpPr>
            <p:cNvPr id="24" name="Rectangle 23"/>
            <p:cNvSpPr/>
            <p:nvPr/>
          </p:nvSpPr>
          <p:spPr>
            <a:xfrm>
              <a:off x="8686800" y="22956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rgbClr val="000000"/>
                </a:solidFill>
                <a:latin typeface="Consolas" panose="020B0609020204030204" pitchFamily="49" charset="0"/>
                <a:cs typeface="Consolas" pitchFamily="49" charset="0"/>
              </a:endParaRPr>
            </a:p>
          </p:txBody>
        </p:sp>
        <p:sp>
          <p:nvSpPr>
            <p:cNvPr id="27" name="Rectangle 26"/>
            <p:cNvSpPr/>
            <p:nvPr/>
          </p:nvSpPr>
          <p:spPr>
            <a:xfrm>
              <a:off x="8686800" y="26557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itchFamily="49" charset="0"/>
              </a:endParaRPr>
            </a:p>
          </p:txBody>
        </p:sp>
        <p:sp>
          <p:nvSpPr>
            <p:cNvPr id="28" name="Rectangle 27"/>
            <p:cNvSpPr/>
            <p:nvPr/>
          </p:nvSpPr>
          <p:spPr>
            <a:xfrm>
              <a:off x="8686800" y="55360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sp>
          <p:nvSpPr>
            <p:cNvPr id="29" name="Rectangle 28"/>
            <p:cNvSpPr/>
            <p:nvPr/>
          </p:nvSpPr>
          <p:spPr>
            <a:xfrm>
              <a:off x="8686800" y="337580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32" name="Rectangle 31"/>
            <p:cNvSpPr/>
            <p:nvPr/>
          </p:nvSpPr>
          <p:spPr>
            <a:xfrm>
              <a:off x="8691538" y="589799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0x04</a:t>
              </a:r>
            </a:p>
          </p:txBody>
        </p:sp>
        <p:sp>
          <p:nvSpPr>
            <p:cNvPr id="34" name="Rectangle 33"/>
            <p:cNvSpPr/>
            <p:nvPr/>
          </p:nvSpPr>
          <p:spPr>
            <a:xfrm>
              <a:off x="8687966" y="51721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grpSp>
      <p:sp>
        <p:nvSpPr>
          <p:cNvPr id="35" name="TextBox 34"/>
          <p:cNvSpPr txBox="1"/>
          <p:nvPr/>
        </p:nvSpPr>
        <p:spPr>
          <a:xfrm>
            <a:off x="9561665" y="838200"/>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Content</a:t>
            </a:r>
          </a:p>
        </p:txBody>
      </p:sp>
      <p:sp>
        <p:nvSpPr>
          <p:cNvPr id="36" name="TextBox 35"/>
          <p:cNvSpPr txBox="1"/>
          <p:nvPr/>
        </p:nvSpPr>
        <p:spPr>
          <a:xfrm>
            <a:off x="8355435" y="871945"/>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Address</a:t>
            </a:r>
          </a:p>
        </p:txBody>
      </p:sp>
      <p:sp>
        <p:nvSpPr>
          <p:cNvPr id="47" name="Rectangle 46"/>
          <p:cNvSpPr/>
          <p:nvPr/>
        </p:nvSpPr>
        <p:spPr>
          <a:xfrm>
            <a:off x="7696200" y="5836622"/>
            <a:ext cx="564578" cy="369332"/>
          </a:xfrm>
          <a:prstGeom prst="rect">
            <a:avLst/>
          </a:prstGeom>
        </p:spPr>
        <p:txBody>
          <a:bodyPr wrap="none">
            <a:spAutoFit/>
          </a:bodyPr>
          <a:lstStyle/>
          <a:p>
            <a:r>
              <a:rPr lang="en-GB" dirty="0" err="1">
                <a:solidFill>
                  <a:srgbClr val="0000FF"/>
                </a:solidFill>
                <a:latin typeface="Consolas" panose="020B0609020204030204" pitchFamily="49" charset="0"/>
                <a:cs typeface="Consolas" panose="020B0609020204030204" pitchFamily="49" charset="0"/>
              </a:rPr>
              <a:t>ptr</a:t>
            </a:r>
            <a:endParaRPr lang="en-US" dirty="0">
              <a:solidFill>
                <a:srgbClr val="0000FF"/>
              </a:solidFill>
            </a:endParaRPr>
          </a:p>
        </p:txBody>
      </p:sp>
      <p:cxnSp>
        <p:nvCxnSpPr>
          <p:cNvPr id="51" name="Straight Connector 50"/>
          <p:cNvCxnSpPr/>
          <p:nvPr/>
        </p:nvCxnSpPr>
        <p:spPr>
          <a:xfrm flipV="1">
            <a:off x="7987326" y="4604176"/>
            <a:ext cx="0" cy="129808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7974134" y="4609780"/>
            <a:ext cx="403811" cy="0"/>
          </a:xfrm>
          <a:prstGeom prst="line">
            <a:avLst/>
          </a:prstGeom>
          <a:ln w="28575">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0212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Pointer Arithmetic</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72" name="Rectangle 71"/>
          <p:cNvSpPr/>
          <p:nvPr/>
        </p:nvSpPr>
        <p:spPr>
          <a:xfrm>
            <a:off x="1295400" y="3823227"/>
            <a:ext cx="3170132" cy="179126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ct val="115000"/>
              </a:lnSpc>
            </a:pPr>
            <a:r>
              <a:rPr lang="en-US" sz="2400" dirty="0">
                <a:solidFill>
                  <a:srgbClr val="C00000"/>
                </a:solidFill>
                <a:latin typeface="Consolas" panose="020B0609020204030204" pitchFamily="49" charset="0"/>
              </a:rPr>
              <a:t>char</a:t>
            </a:r>
            <a:r>
              <a:rPr lang="en-US" sz="2400" dirty="0">
                <a:latin typeface="Consolas" panose="020B0609020204030204" pitchFamily="49" charset="0"/>
              </a:rPr>
              <a:t> * </a:t>
            </a:r>
            <a:r>
              <a:rPr lang="en-US" sz="2400" dirty="0" err="1">
                <a:latin typeface="Consolas" panose="020B0609020204030204" pitchFamily="49" charset="0"/>
              </a:rPr>
              <a:t>ptr</a:t>
            </a:r>
            <a:r>
              <a:rPr lang="en-US" sz="2400" dirty="0">
                <a:latin typeface="Consolas" panose="020B0609020204030204" pitchFamily="49" charset="0"/>
              </a:rPr>
              <a:t>; </a:t>
            </a:r>
          </a:p>
          <a:p>
            <a:pPr>
              <a:lnSpc>
                <a:spcPct val="115000"/>
              </a:lnSpc>
            </a:pPr>
            <a:r>
              <a:rPr lang="en-US" sz="2400" dirty="0">
                <a:latin typeface="Consolas" panose="020B0609020204030204" pitchFamily="49" charset="0"/>
              </a:rPr>
              <a:t>char a[5];</a:t>
            </a:r>
          </a:p>
          <a:p>
            <a:pPr>
              <a:lnSpc>
                <a:spcPct val="115000"/>
              </a:lnSpc>
            </a:pPr>
            <a:r>
              <a:rPr lang="en-US" sz="2400" dirty="0" err="1">
                <a:latin typeface="Consolas" panose="020B0609020204030204" pitchFamily="49" charset="0"/>
              </a:rPr>
              <a:t>ptr</a:t>
            </a:r>
            <a:r>
              <a:rPr lang="en-US" sz="2400" dirty="0">
                <a:latin typeface="Consolas" panose="020B0609020204030204" pitchFamily="49" charset="0"/>
              </a:rPr>
              <a:t> = &amp; a[0];</a:t>
            </a:r>
          </a:p>
          <a:p>
            <a:pPr>
              <a:lnSpc>
                <a:spcPct val="115000"/>
              </a:lnSpc>
            </a:pPr>
            <a:r>
              <a:rPr lang="en-US" sz="2400" dirty="0" err="1">
                <a:solidFill>
                  <a:srgbClr val="C00000"/>
                </a:solidFill>
                <a:latin typeface="Consolas" panose="020B0609020204030204" pitchFamily="49" charset="0"/>
              </a:rPr>
              <a:t>ptr</a:t>
            </a:r>
            <a:r>
              <a:rPr lang="en-US" sz="2400" dirty="0">
                <a:solidFill>
                  <a:srgbClr val="C00000"/>
                </a:solidFill>
                <a:latin typeface="Consolas" panose="020B0609020204030204" pitchFamily="49" charset="0"/>
              </a:rPr>
              <a:t> ++;   </a:t>
            </a:r>
            <a:endParaRPr lang="en-US" sz="2400" dirty="0">
              <a:solidFill>
                <a:srgbClr val="C00000"/>
              </a:solidFill>
              <a:latin typeface="Consolas" panose="020B0609020204030204" pitchFamily="49" charset="0"/>
              <a:ea typeface="宋体" panose="02010600030101010101" pitchFamily="2" charset="-122"/>
              <a:cs typeface="Times New Roman" panose="02020603050405020304" pitchFamily="18" charset="0"/>
            </a:endParaRPr>
          </a:p>
        </p:txBody>
      </p:sp>
      <p:sp>
        <p:nvSpPr>
          <p:cNvPr id="73" name="TextBox 72"/>
          <p:cNvSpPr txBox="1"/>
          <p:nvPr/>
        </p:nvSpPr>
        <p:spPr>
          <a:xfrm>
            <a:off x="8269539" y="4058869"/>
            <a:ext cx="1368152" cy="338554"/>
          </a:xfrm>
          <a:prstGeom prst="rect">
            <a:avLst/>
          </a:prstGeom>
          <a:noFill/>
        </p:spPr>
        <p:txBody>
          <a:bodyPr wrap="square" rtlCol="0">
            <a:spAutoFit/>
          </a:bodyPr>
          <a:lstStyle/>
          <a:p>
            <a:pPr algn="ctr"/>
            <a:r>
              <a:rPr lang="en-GB" sz="1600" dirty="0">
                <a:latin typeface="Consolas"/>
                <a:cs typeface="Consolas"/>
              </a:rPr>
              <a:t>0x20000005</a:t>
            </a:r>
          </a:p>
        </p:txBody>
      </p:sp>
      <p:sp>
        <p:nvSpPr>
          <p:cNvPr id="74" name="TextBox 73"/>
          <p:cNvSpPr txBox="1"/>
          <p:nvPr/>
        </p:nvSpPr>
        <p:spPr>
          <a:xfrm>
            <a:off x="8269539" y="4418909"/>
            <a:ext cx="1368152" cy="338554"/>
          </a:xfrm>
          <a:prstGeom prst="rect">
            <a:avLst/>
          </a:prstGeom>
          <a:noFill/>
        </p:spPr>
        <p:txBody>
          <a:bodyPr wrap="square" rtlCol="0">
            <a:spAutoFit/>
          </a:bodyPr>
          <a:lstStyle/>
          <a:p>
            <a:pPr algn="ctr"/>
            <a:r>
              <a:rPr lang="en-GB" sz="1600" dirty="0">
                <a:solidFill>
                  <a:srgbClr val="C00000"/>
                </a:solidFill>
                <a:latin typeface="Consolas"/>
                <a:cs typeface="Consolas"/>
              </a:rPr>
              <a:t>0x20000004</a:t>
            </a:r>
          </a:p>
        </p:txBody>
      </p:sp>
      <p:sp>
        <p:nvSpPr>
          <p:cNvPr id="75" name="TextBox 74"/>
          <p:cNvSpPr txBox="1"/>
          <p:nvPr/>
        </p:nvSpPr>
        <p:spPr>
          <a:xfrm>
            <a:off x="8269539" y="2978749"/>
            <a:ext cx="1368152" cy="338554"/>
          </a:xfrm>
          <a:prstGeom prst="rect">
            <a:avLst/>
          </a:prstGeom>
          <a:noFill/>
        </p:spPr>
        <p:txBody>
          <a:bodyPr wrap="square" rtlCol="0">
            <a:spAutoFit/>
          </a:bodyPr>
          <a:lstStyle/>
          <a:p>
            <a:pPr algn="ctr"/>
            <a:r>
              <a:rPr lang="en-GB" sz="1600" dirty="0">
                <a:latin typeface="Consolas"/>
                <a:cs typeface="Consolas"/>
              </a:rPr>
              <a:t>0x20000008</a:t>
            </a:r>
          </a:p>
        </p:txBody>
      </p:sp>
      <p:sp>
        <p:nvSpPr>
          <p:cNvPr id="76" name="TextBox 75"/>
          <p:cNvSpPr txBox="1"/>
          <p:nvPr/>
        </p:nvSpPr>
        <p:spPr>
          <a:xfrm>
            <a:off x="8269539" y="3698829"/>
            <a:ext cx="1368152" cy="338554"/>
          </a:xfrm>
          <a:prstGeom prst="rect">
            <a:avLst/>
          </a:prstGeom>
          <a:noFill/>
        </p:spPr>
        <p:txBody>
          <a:bodyPr wrap="square" rtlCol="0">
            <a:spAutoFit/>
          </a:bodyPr>
          <a:lstStyle/>
          <a:p>
            <a:pPr algn="ctr"/>
            <a:r>
              <a:rPr lang="en-GB" sz="1600" dirty="0">
                <a:latin typeface="Consolas"/>
                <a:cs typeface="Consolas"/>
              </a:rPr>
              <a:t>0x20000006</a:t>
            </a:r>
          </a:p>
        </p:txBody>
      </p:sp>
      <p:sp>
        <p:nvSpPr>
          <p:cNvPr id="77" name="TextBox 76"/>
          <p:cNvSpPr txBox="1"/>
          <p:nvPr/>
        </p:nvSpPr>
        <p:spPr>
          <a:xfrm>
            <a:off x="8269539" y="4778949"/>
            <a:ext cx="1368152" cy="338554"/>
          </a:xfrm>
          <a:prstGeom prst="rect">
            <a:avLst/>
          </a:prstGeom>
          <a:noFill/>
        </p:spPr>
        <p:txBody>
          <a:bodyPr wrap="square" rtlCol="0">
            <a:spAutoFit/>
          </a:bodyPr>
          <a:lstStyle/>
          <a:p>
            <a:pPr algn="ctr"/>
            <a:r>
              <a:rPr lang="en-GB" sz="1600" dirty="0">
                <a:latin typeface="Consolas"/>
                <a:cs typeface="Consolas"/>
              </a:rPr>
              <a:t>0x20000003</a:t>
            </a:r>
          </a:p>
        </p:txBody>
      </p:sp>
      <p:sp>
        <p:nvSpPr>
          <p:cNvPr id="78" name="TextBox 77"/>
          <p:cNvSpPr txBox="1"/>
          <p:nvPr/>
        </p:nvSpPr>
        <p:spPr>
          <a:xfrm>
            <a:off x="8269539" y="5138989"/>
            <a:ext cx="1368152" cy="338554"/>
          </a:xfrm>
          <a:prstGeom prst="rect">
            <a:avLst/>
          </a:prstGeom>
          <a:noFill/>
        </p:spPr>
        <p:txBody>
          <a:bodyPr wrap="square" rtlCol="0">
            <a:spAutoFit/>
          </a:bodyPr>
          <a:lstStyle/>
          <a:p>
            <a:pPr algn="ctr"/>
            <a:r>
              <a:rPr lang="en-GB" sz="1600" dirty="0">
                <a:latin typeface="Consolas"/>
                <a:cs typeface="Consolas"/>
              </a:rPr>
              <a:t>0x20000002</a:t>
            </a:r>
          </a:p>
        </p:txBody>
      </p:sp>
      <p:sp>
        <p:nvSpPr>
          <p:cNvPr id="79" name="TextBox 78"/>
          <p:cNvSpPr txBox="1"/>
          <p:nvPr/>
        </p:nvSpPr>
        <p:spPr>
          <a:xfrm>
            <a:off x="8269539" y="1195153"/>
            <a:ext cx="1368152" cy="338554"/>
          </a:xfrm>
          <a:prstGeom prst="rect">
            <a:avLst/>
          </a:prstGeom>
          <a:noFill/>
        </p:spPr>
        <p:txBody>
          <a:bodyPr wrap="square" rtlCol="0">
            <a:spAutoFit/>
          </a:bodyPr>
          <a:lstStyle/>
          <a:p>
            <a:pPr algn="ctr"/>
            <a:r>
              <a:rPr lang="en-GB" sz="1600" dirty="0">
                <a:latin typeface="Consolas"/>
                <a:cs typeface="Consolas"/>
              </a:rPr>
              <a:t>0x2000000D</a:t>
            </a:r>
          </a:p>
        </p:txBody>
      </p:sp>
      <p:sp>
        <p:nvSpPr>
          <p:cNvPr id="80" name="TextBox 79"/>
          <p:cNvSpPr txBox="1"/>
          <p:nvPr/>
        </p:nvSpPr>
        <p:spPr>
          <a:xfrm>
            <a:off x="8269539" y="1555193"/>
            <a:ext cx="1368152" cy="338554"/>
          </a:xfrm>
          <a:prstGeom prst="rect">
            <a:avLst/>
          </a:prstGeom>
          <a:noFill/>
        </p:spPr>
        <p:txBody>
          <a:bodyPr wrap="square" rtlCol="0">
            <a:spAutoFit/>
          </a:bodyPr>
          <a:lstStyle/>
          <a:p>
            <a:pPr algn="ctr"/>
            <a:r>
              <a:rPr lang="en-GB" sz="1600" dirty="0">
                <a:latin typeface="Consolas"/>
                <a:cs typeface="Consolas"/>
              </a:rPr>
              <a:t>0x2000000C</a:t>
            </a:r>
          </a:p>
        </p:txBody>
      </p:sp>
      <p:sp>
        <p:nvSpPr>
          <p:cNvPr id="81" name="TextBox 80"/>
          <p:cNvSpPr txBox="1"/>
          <p:nvPr/>
        </p:nvSpPr>
        <p:spPr>
          <a:xfrm>
            <a:off x="8269539" y="1915233"/>
            <a:ext cx="1368152" cy="338554"/>
          </a:xfrm>
          <a:prstGeom prst="rect">
            <a:avLst/>
          </a:prstGeom>
          <a:noFill/>
        </p:spPr>
        <p:txBody>
          <a:bodyPr wrap="square" rtlCol="0">
            <a:spAutoFit/>
          </a:bodyPr>
          <a:lstStyle/>
          <a:p>
            <a:pPr algn="ctr"/>
            <a:r>
              <a:rPr lang="en-GB" sz="1600" dirty="0">
                <a:latin typeface="Consolas"/>
                <a:cs typeface="Consolas"/>
              </a:rPr>
              <a:t>0x2000000B</a:t>
            </a:r>
          </a:p>
        </p:txBody>
      </p:sp>
      <p:sp>
        <p:nvSpPr>
          <p:cNvPr id="82" name="TextBox 81"/>
          <p:cNvSpPr txBox="1"/>
          <p:nvPr/>
        </p:nvSpPr>
        <p:spPr>
          <a:xfrm>
            <a:off x="8269539" y="2258669"/>
            <a:ext cx="1368152" cy="338554"/>
          </a:xfrm>
          <a:prstGeom prst="rect">
            <a:avLst/>
          </a:prstGeom>
          <a:noFill/>
        </p:spPr>
        <p:txBody>
          <a:bodyPr wrap="square" rtlCol="0">
            <a:spAutoFit/>
          </a:bodyPr>
          <a:lstStyle/>
          <a:p>
            <a:pPr algn="ctr"/>
            <a:r>
              <a:rPr lang="en-GB" sz="1600" dirty="0">
                <a:latin typeface="Consolas"/>
                <a:cs typeface="Consolas"/>
              </a:rPr>
              <a:t>0x2000000A</a:t>
            </a:r>
          </a:p>
        </p:txBody>
      </p:sp>
      <p:sp>
        <p:nvSpPr>
          <p:cNvPr id="83" name="TextBox 82"/>
          <p:cNvSpPr txBox="1"/>
          <p:nvPr/>
        </p:nvSpPr>
        <p:spPr>
          <a:xfrm>
            <a:off x="8269539" y="2618709"/>
            <a:ext cx="1368152" cy="338554"/>
          </a:xfrm>
          <a:prstGeom prst="rect">
            <a:avLst/>
          </a:prstGeom>
          <a:noFill/>
        </p:spPr>
        <p:txBody>
          <a:bodyPr wrap="square" rtlCol="0">
            <a:spAutoFit/>
          </a:bodyPr>
          <a:lstStyle/>
          <a:p>
            <a:pPr algn="ctr"/>
            <a:r>
              <a:rPr lang="en-GB" sz="1600" dirty="0">
                <a:latin typeface="Consolas"/>
                <a:cs typeface="Consolas"/>
              </a:rPr>
              <a:t>0x20000009</a:t>
            </a:r>
          </a:p>
        </p:txBody>
      </p:sp>
      <p:sp>
        <p:nvSpPr>
          <p:cNvPr id="84" name="TextBox 83"/>
          <p:cNvSpPr txBox="1"/>
          <p:nvPr/>
        </p:nvSpPr>
        <p:spPr>
          <a:xfrm>
            <a:off x="8269539" y="3338789"/>
            <a:ext cx="1368152" cy="338554"/>
          </a:xfrm>
          <a:prstGeom prst="rect">
            <a:avLst/>
          </a:prstGeom>
          <a:noFill/>
        </p:spPr>
        <p:txBody>
          <a:bodyPr wrap="square" rtlCol="0">
            <a:spAutoFit/>
          </a:bodyPr>
          <a:lstStyle/>
          <a:p>
            <a:pPr algn="ctr"/>
            <a:r>
              <a:rPr lang="en-GB" sz="1600" dirty="0">
                <a:latin typeface="Consolas"/>
                <a:cs typeface="Consolas"/>
              </a:rPr>
              <a:t>0x20000007</a:t>
            </a:r>
          </a:p>
        </p:txBody>
      </p:sp>
      <p:sp>
        <p:nvSpPr>
          <p:cNvPr id="85" name="TextBox 84"/>
          <p:cNvSpPr txBox="1"/>
          <p:nvPr/>
        </p:nvSpPr>
        <p:spPr>
          <a:xfrm>
            <a:off x="8269539" y="5499029"/>
            <a:ext cx="1368152" cy="338554"/>
          </a:xfrm>
          <a:prstGeom prst="rect">
            <a:avLst/>
          </a:prstGeom>
          <a:noFill/>
        </p:spPr>
        <p:txBody>
          <a:bodyPr wrap="square" rtlCol="0">
            <a:spAutoFit/>
          </a:bodyPr>
          <a:lstStyle/>
          <a:p>
            <a:pPr algn="ctr"/>
            <a:r>
              <a:rPr lang="en-GB" sz="1600" dirty="0">
                <a:latin typeface="Consolas"/>
                <a:cs typeface="Consolas"/>
              </a:rPr>
              <a:t>0x20000001</a:t>
            </a:r>
          </a:p>
        </p:txBody>
      </p:sp>
      <p:sp>
        <p:nvSpPr>
          <p:cNvPr id="86" name="TextBox 85"/>
          <p:cNvSpPr txBox="1"/>
          <p:nvPr/>
        </p:nvSpPr>
        <p:spPr>
          <a:xfrm>
            <a:off x="8267530" y="5860979"/>
            <a:ext cx="1368152" cy="338554"/>
          </a:xfrm>
          <a:prstGeom prst="rect">
            <a:avLst/>
          </a:prstGeom>
          <a:noFill/>
        </p:spPr>
        <p:txBody>
          <a:bodyPr wrap="square" rtlCol="0">
            <a:spAutoFit/>
          </a:bodyPr>
          <a:lstStyle/>
          <a:p>
            <a:pPr algn="ctr"/>
            <a:r>
              <a:rPr lang="en-GB" sz="1600" dirty="0">
                <a:solidFill>
                  <a:srgbClr val="0000FF"/>
                </a:solidFill>
                <a:latin typeface="Consolas"/>
                <a:cs typeface="Consolas"/>
              </a:rPr>
              <a:t>0x20000000</a:t>
            </a:r>
          </a:p>
        </p:txBody>
      </p:sp>
      <p:grpSp>
        <p:nvGrpSpPr>
          <p:cNvPr id="87" name="Group 86"/>
          <p:cNvGrpSpPr/>
          <p:nvPr/>
        </p:nvGrpSpPr>
        <p:grpSpPr>
          <a:xfrm>
            <a:off x="9563674" y="1195461"/>
            <a:ext cx="1300882" cy="5025866"/>
            <a:chOff x="8686800" y="1232170"/>
            <a:chExt cx="1300882" cy="5025866"/>
          </a:xfrm>
        </p:grpSpPr>
        <p:sp>
          <p:nvSpPr>
            <p:cNvPr id="88" name="Rectangle 87"/>
            <p:cNvSpPr/>
            <p:nvPr/>
          </p:nvSpPr>
          <p:spPr>
            <a:xfrm>
              <a:off x="8686800" y="40958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89" name="Rectangle 88"/>
            <p:cNvSpPr/>
            <p:nvPr/>
          </p:nvSpPr>
          <p:spPr>
            <a:xfrm>
              <a:off x="8686800" y="44559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90" name="Rectangle 89"/>
            <p:cNvSpPr/>
            <p:nvPr/>
          </p:nvSpPr>
          <p:spPr>
            <a:xfrm>
              <a:off x="8686800" y="30157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91" name="Rectangle 90"/>
            <p:cNvSpPr/>
            <p:nvPr/>
          </p:nvSpPr>
          <p:spPr>
            <a:xfrm>
              <a:off x="8686800" y="48159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0x20</a:t>
              </a:r>
            </a:p>
          </p:txBody>
        </p:sp>
        <p:sp>
          <p:nvSpPr>
            <p:cNvPr id="92" name="Rectangle 91"/>
            <p:cNvSpPr/>
            <p:nvPr/>
          </p:nvSpPr>
          <p:spPr>
            <a:xfrm>
              <a:off x="8686800" y="37358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93" name="Rectangle 92"/>
            <p:cNvSpPr/>
            <p:nvPr/>
          </p:nvSpPr>
          <p:spPr>
            <a:xfrm>
              <a:off x="8686800" y="123217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94" name="Rectangle 93"/>
            <p:cNvSpPr/>
            <p:nvPr/>
          </p:nvSpPr>
          <p:spPr>
            <a:xfrm>
              <a:off x="8686800" y="15922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anose="020B0609020204030204" pitchFamily="49" charset="0"/>
              </a:endParaRPr>
            </a:p>
          </p:txBody>
        </p:sp>
        <p:sp>
          <p:nvSpPr>
            <p:cNvPr id="95" name="Rectangle 94"/>
            <p:cNvSpPr/>
            <p:nvPr/>
          </p:nvSpPr>
          <p:spPr>
            <a:xfrm>
              <a:off x="8686800" y="195225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latin typeface="Consolas" panose="020B0609020204030204" pitchFamily="49" charset="0"/>
                <a:cs typeface="Consolas" panose="020B0609020204030204" pitchFamily="49" charset="0"/>
              </a:endParaRPr>
            </a:p>
          </p:txBody>
        </p:sp>
        <p:sp>
          <p:nvSpPr>
            <p:cNvPr id="96" name="Rectangle 95"/>
            <p:cNvSpPr/>
            <p:nvPr/>
          </p:nvSpPr>
          <p:spPr>
            <a:xfrm>
              <a:off x="8686800" y="22956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rgbClr val="000000"/>
                </a:solidFill>
                <a:latin typeface="Consolas" panose="020B0609020204030204" pitchFamily="49" charset="0"/>
                <a:cs typeface="Consolas" pitchFamily="49" charset="0"/>
              </a:endParaRPr>
            </a:p>
          </p:txBody>
        </p:sp>
        <p:sp>
          <p:nvSpPr>
            <p:cNvPr id="97" name="Rectangle 96"/>
            <p:cNvSpPr/>
            <p:nvPr/>
          </p:nvSpPr>
          <p:spPr>
            <a:xfrm>
              <a:off x="8686800" y="26557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itchFamily="49" charset="0"/>
              </a:endParaRPr>
            </a:p>
          </p:txBody>
        </p:sp>
        <p:sp>
          <p:nvSpPr>
            <p:cNvPr id="98" name="Rectangle 97"/>
            <p:cNvSpPr/>
            <p:nvPr/>
          </p:nvSpPr>
          <p:spPr>
            <a:xfrm>
              <a:off x="8686800" y="55360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sp>
          <p:nvSpPr>
            <p:cNvPr id="99" name="Rectangle 98"/>
            <p:cNvSpPr/>
            <p:nvPr/>
          </p:nvSpPr>
          <p:spPr>
            <a:xfrm>
              <a:off x="8686800" y="337580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100" name="Rectangle 99"/>
            <p:cNvSpPr/>
            <p:nvPr/>
          </p:nvSpPr>
          <p:spPr>
            <a:xfrm>
              <a:off x="8691538" y="589799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0x04</a:t>
              </a:r>
            </a:p>
          </p:txBody>
        </p:sp>
        <p:sp>
          <p:nvSpPr>
            <p:cNvPr id="101" name="Rectangle 100"/>
            <p:cNvSpPr/>
            <p:nvPr/>
          </p:nvSpPr>
          <p:spPr>
            <a:xfrm>
              <a:off x="8687966" y="51721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grpSp>
      <p:sp>
        <p:nvSpPr>
          <p:cNvPr id="102" name="TextBox 101"/>
          <p:cNvSpPr txBox="1"/>
          <p:nvPr/>
        </p:nvSpPr>
        <p:spPr>
          <a:xfrm>
            <a:off x="9561665" y="838200"/>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Content</a:t>
            </a:r>
          </a:p>
        </p:txBody>
      </p:sp>
      <p:sp>
        <p:nvSpPr>
          <p:cNvPr id="103" name="TextBox 102"/>
          <p:cNvSpPr txBox="1"/>
          <p:nvPr/>
        </p:nvSpPr>
        <p:spPr>
          <a:xfrm>
            <a:off x="8355435" y="871945"/>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Address</a:t>
            </a:r>
          </a:p>
        </p:txBody>
      </p:sp>
      <p:sp>
        <p:nvSpPr>
          <p:cNvPr id="104" name="Rectangle 103"/>
          <p:cNvSpPr/>
          <p:nvPr/>
        </p:nvSpPr>
        <p:spPr>
          <a:xfrm>
            <a:off x="7696200" y="5836622"/>
            <a:ext cx="564578" cy="369332"/>
          </a:xfrm>
          <a:prstGeom prst="rect">
            <a:avLst/>
          </a:prstGeom>
        </p:spPr>
        <p:txBody>
          <a:bodyPr wrap="none">
            <a:spAutoFit/>
          </a:bodyPr>
          <a:lstStyle/>
          <a:p>
            <a:r>
              <a:rPr lang="en-GB" dirty="0" err="1">
                <a:solidFill>
                  <a:srgbClr val="0000FF"/>
                </a:solidFill>
                <a:latin typeface="Consolas" panose="020B0609020204030204" pitchFamily="49" charset="0"/>
                <a:cs typeface="Consolas" panose="020B0609020204030204" pitchFamily="49" charset="0"/>
              </a:rPr>
              <a:t>ptr</a:t>
            </a:r>
            <a:endParaRPr lang="en-US" dirty="0">
              <a:solidFill>
                <a:srgbClr val="0000FF"/>
              </a:solidFill>
            </a:endParaRPr>
          </a:p>
        </p:txBody>
      </p:sp>
      <p:cxnSp>
        <p:nvCxnSpPr>
          <p:cNvPr id="105" name="Straight Connector 104"/>
          <p:cNvCxnSpPr/>
          <p:nvPr/>
        </p:nvCxnSpPr>
        <p:spPr>
          <a:xfrm flipV="1">
            <a:off x="7987326" y="4604176"/>
            <a:ext cx="0" cy="129808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a:off x="7974134" y="4609780"/>
            <a:ext cx="403811" cy="0"/>
          </a:xfrm>
          <a:prstGeom prst="line">
            <a:avLst/>
          </a:prstGeom>
          <a:ln w="28575">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7" name="TextBox 106"/>
          <p:cNvSpPr txBox="1"/>
          <p:nvPr/>
        </p:nvSpPr>
        <p:spPr>
          <a:xfrm>
            <a:off x="10858500" y="4067125"/>
            <a:ext cx="802974" cy="369332"/>
          </a:xfrm>
          <a:prstGeom prst="rect">
            <a:avLst/>
          </a:prstGeom>
          <a:noFill/>
        </p:spPr>
        <p:txBody>
          <a:bodyPr wrap="square" rtlCol="0">
            <a:spAutoFit/>
          </a:bodyPr>
          <a:lstStyle/>
          <a:p>
            <a:r>
              <a:rPr lang="en-GB" dirty="0">
                <a:solidFill>
                  <a:srgbClr val="FF00FF"/>
                </a:solidFill>
                <a:latin typeface="Consolas"/>
                <a:cs typeface="Consolas"/>
              </a:rPr>
              <a:t>a[1]</a:t>
            </a:r>
          </a:p>
        </p:txBody>
      </p:sp>
      <p:sp>
        <p:nvSpPr>
          <p:cNvPr id="108" name="TextBox 107"/>
          <p:cNvSpPr txBox="1"/>
          <p:nvPr/>
        </p:nvSpPr>
        <p:spPr>
          <a:xfrm>
            <a:off x="10858500" y="4427165"/>
            <a:ext cx="802974" cy="369332"/>
          </a:xfrm>
          <a:prstGeom prst="rect">
            <a:avLst/>
          </a:prstGeom>
          <a:noFill/>
        </p:spPr>
        <p:txBody>
          <a:bodyPr wrap="square" rtlCol="0">
            <a:spAutoFit/>
          </a:bodyPr>
          <a:lstStyle/>
          <a:p>
            <a:r>
              <a:rPr lang="en-GB" dirty="0">
                <a:solidFill>
                  <a:srgbClr val="FF00FF"/>
                </a:solidFill>
                <a:latin typeface="Consolas"/>
                <a:cs typeface="Consolas"/>
              </a:rPr>
              <a:t>a[0]</a:t>
            </a:r>
          </a:p>
        </p:txBody>
      </p:sp>
      <p:sp>
        <p:nvSpPr>
          <p:cNvPr id="109" name="TextBox 108"/>
          <p:cNvSpPr txBox="1"/>
          <p:nvPr/>
        </p:nvSpPr>
        <p:spPr>
          <a:xfrm>
            <a:off x="10858500" y="2987005"/>
            <a:ext cx="802974" cy="369332"/>
          </a:xfrm>
          <a:prstGeom prst="rect">
            <a:avLst/>
          </a:prstGeom>
          <a:noFill/>
        </p:spPr>
        <p:txBody>
          <a:bodyPr wrap="square" rtlCol="0">
            <a:spAutoFit/>
          </a:bodyPr>
          <a:lstStyle/>
          <a:p>
            <a:r>
              <a:rPr lang="en-GB" dirty="0">
                <a:solidFill>
                  <a:srgbClr val="FF00FF"/>
                </a:solidFill>
                <a:latin typeface="Consolas"/>
                <a:cs typeface="Consolas"/>
              </a:rPr>
              <a:t>a[4]</a:t>
            </a:r>
          </a:p>
        </p:txBody>
      </p:sp>
      <p:sp>
        <p:nvSpPr>
          <p:cNvPr id="110" name="TextBox 109"/>
          <p:cNvSpPr txBox="1"/>
          <p:nvPr/>
        </p:nvSpPr>
        <p:spPr>
          <a:xfrm>
            <a:off x="10858500" y="3707085"/>
            <a:ext cx="802974" cy="369332"/>
          </a:xfrm>
          <a:prstGeom prst="rect">
            <a:avLst/>
          </a:prstGeom>
          <a:noFill/>
        </p:spPr>
        <p:txBody>
          <a:bodyPr wrap="square" rtlCol="0">
            <a:spAutoFit/>
          </a:bodyPr>
          <a:lstStyle/>
          <a:p>
            <a:r>
              <a:rPr lang="en-GB" dirty="0">
                <a:solidFill>
                  <a:srgbClr val="FF00FF"/>
                </a:solidFill>
                <a:latin typeface="Consolas"/>
                <a:cs typeface="Consolas"/>
              </a:rPr>
              <a:t>a[2]</a:t>
            </a:r>
          </a:p>
        </p:txBody>
      </p:sp>
      <p:sp>
        <p:nvSpPr>
          <p:cNvPr id="111" name="TextBox 110"/>
          <p:cNvSpPr txBox="1"/>
          <p:nvPr/>
        </p:nvSpPr>
        <p:spPr>
          <a:xfrm>
            <a:off x="10858500" y="3347045"/>
            <a:ext cx="802974" cy="369332"/>
          </a:xfrm>
          <a:prstGeom prst="rect">
            <a:avLst/>
          </a:prstGeom>
          <a:noFill/>
        </p:spPr>
        <p:txBody>
          <a:bodyPr wrap="square" rtlCol="0">
            <a:spAutoFit/>
          </a:bodyPr>
          <a:lstStyle/>
          <a:p>
            <a:r>
              <a:rPr lang="en-GB" dirty="0">
                <a:solidFill>
                  <a:srgbClr val="FF00FF"/>
                </a:solidFill>
                <a:latin typeface="Consolas"/>
                <a:cs typeface="Consolas"/>
              </a:rPr>
              <a:t>a[3]</a:t>
            </a:r>
          </a:p>
        </p:txBody>
      </p:sp>
      <p:sp>
        <p:nvSpPr>
          <p:cNvPr id="45" name="Content Placeholder 3"/>
          <p:cNvSpPr txBox="1">
            <a:spLocks/>
          </p:cNvSpPr>
          <p:nvPr/>
        </p:nvSpPr>
        <p:spPr>
          <a:xfrm>
            <a:off x="609600" y="1219199"/>
            <a:ext cx="6096000" cy="2458143"/>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400" dirty="0" err="1"/>
              <a:t>ptr</a:t>
            </a:r>
            <a:r>
              <a:rPr lang="en-US" sz="2400" dirty="0"/>
              <a:t> is pointer, and stored at </a:t>
            </a:r>
            <a:r>
              <a:rPr lang="en-US" sz="2400" dirty="0">
                <a:latin typeface="Consolas" panose="020B0609020204030204" pitchFamily="49" charset="0"/>
                <a:cs typeface="Consolas" panose="020B0609020204030204" pitchFamily="49" charset="0"/>
              </a:rPr>
              <a:t>0x20000000</a:t>
            </a:r>
            <a:r>
              <a:rPr lang="en-US" sz="2400" dirty="0"/>
              <a:t> </a:t>
            </a:r>
          </a:p>
          <a:p>
            <a:r>
              <a:rPr lang="en-US" sz="2400" dirty="0" err="1">
                <a:latin typeface="Consolas" panose="020B0609020204030204" pitchFamily="49" charset="0"/>
                <a:cs typeface="Consolas" panose="020B0609020204030204" pitchFamily="49" charset="0"/>
              </a:rPr>
              <a:t>ptr</a:t>
            </a:r>
            <a:r>
              <a:rPr lang="en-US" sz="2400" dirty="0">
                <a:latin typeface="Consolas" panose="020B0609020204030204" pitchFamily="49" charset="0"/>
                <a:cs typeface="Consolas" panose="020B0609020204030204" pitchFamily="49" charset="0"/>
              </a:rPr>
              <a:t> =</a:t>
            </a:r>
            <a:r>
              <a:rPr lang="en-US" sz="2400" dirty="0"/>
              <a:t> </a:t>
            </a:r>
            <a:r>
              <a:rPr lang="en-US" sz="2400" dirty="0">
                <a:latin typeface="Consolas" panose="020B0609020204030204" pitchFamily="49" charset="0"/>
              </a:rPr>
              <a:t>0x20000004</a:t>
            </a:r>
            <a:endParaRPr lang="en-US" sz="2400" dirty="0"/>
          </a:p>
          <a:p>
            <a:r>
              <a:rPr lang="en-US" sz="2400" dirty="0"/>
              <a:t>What happens if: </a:t>
            </a:r>
          </a:p>
          <a:p>
            <a:pPr marL="0" indent="0">
              <a:buNone/>
            </a:pPr>
            <a:r>
              <a:rPr lang="en-US" sz="2400" dirty="0">
                <a:solidFill>
                  <a:srgbClr val="C00000"/>
                </a:solidFill>
                <a:latin typeface="Consolas" panose="020B0609020204030204" pitchFamily="49" charset="0"/>
                <a:cs typeface="Consolas" panose="020B0609020204030204" pitchFamily="49" charset="0"/>
              </a:rPr>
              <a:t>     </a:t>
            </a:r>
            <a:r>
              <a:rPr lang="en-US" sz="2400" dirty="0" err="1">
                <a:solidFill>
                  <a:srgbClr val="C00000"/>
                </a:solidFill>
                <a:latin typeface="Consolas" panose="020B0609020204030204" pitchFamily="49" charset="0"/>
                <a:cs typeface="Consolas" panose="020B0609020204030204" pitchFamily="49" charset="0"/>
              </a:rPr>
              <a:t>ptr</a:t>
            </a:r>
            <a:r>
              <a:rPr lang="en-US" sz="2400" dirty="0">
                <a:solidFill>
                  <a:srgbClr val="C00000"/>
                </a:solidFill>
                <a:latin typeface="Consolas" panose="020B0609020204030204" pitchFamily="49" charset="0"/>
                <a:cs typeface="Consolas" panose="020B0609020204030204" pitchFamily="49" charset="0"/>
              </a:rPr>
              <a:t>++;</a:t>
            </a:r>
            <a:endParaRPr lang="en-US" sz="2400" dirty="0">
              <a:latin typeface="Consolas" panose="020B0609020204030204" pitchFamily="49" charset="0"/>
              <a:cs typeface="Consolas" panose="020B0609020204030204" pitchFamily="49" charset="0"/>
            </a:endParaRPr>
          </a:p>
          <a:p>
            <a:r>
              <a:rPr lang="en-US" sz="2400" dirty="0"/>
              <a:t>Is it true? </a:t>
            </a:r>
            <a:r>
              <a:rPr lang="en-US" sz="2400" dirty="0" err="1">
                <a:solidFill>
                  <a:srgbClr val="C00000"/>
                </a:solidFill>
                <a:latin typeface="Consolas" panose="020B0609020204030204" pitchFamily="49" charset="0"/>
                <a:cs typeface="Consolas" panose="020B0609020204030204" pitchFamily="49" charset="0"/>
              </a:rPr>
              <a:t>ptr</a:t>
            </a:r>
            <a:r>
              <a:rPr lang="en-US" sz="2400" dirty="0">
                <a:solidFill>
                  <a:srgbClr val="C00000"/>
                </a:solidFill>
                <a:latin typeface="Consolas" panose="020B0609020204030204" pitchFamily="49" charset="0"/>
                <a:cs typeface="Consolas" panose="020B0609020204030204" pitchFamily="49" charset="0"/>
              </a:rPr>
              <a:t> =</a:t>
            </a:r>
            <a:r>
              <a:rPr lang="en-US" sz="2400" dirty="0"/>
              <a:t> </a:t>
            </a:r>
            <a:r>
              <a:rPr lang="en-US" sz="2400" dirty="0">
                <a:solidFill>
                  <a:srgbClr val="C00000"/>
                </a:solidFill>
                <a:latin typeface="Consolas" panose="020B0609020204030204" pitchFamily="49" charset="0"/>
              </a:rPr>
              <a:t>0x20000005</a:t>
            </a:r>
          </a:p>
        </p:txBody>
      </p:sp>
    </p:spTree>
    <p:extLst>
      <p:ext uri="{BB962C8B-B14F-4D97-AF65-F5344CB8AC3E}">
        <p14:creationId xmlns:p14="http://schemas.microsoft.com/office/powerpoint/2010/main" val="3829949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Pointer Arithmetic</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72" name="Rectangle 71"/>
          <p:cNvSpPr/>
          <p:nvPr/>
        </p:nvSpPr>
        <p:spPr>
          <a:xfrm>
            <a:off x="1295400" y="3823227"/>
            <a:ext cx="3170132" cy="179126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ct val="115000"/>
              </a:lnSpc>
            </a:pPr>
            <a:r>
              <a:rPr lang="en-US" sz="2400" dirty="0">
                <a:solidFill>
                  <a:srgbClr val="C00000"/>
                </a:solidFill>
                <a:latin typeface="Consolas" panose="020B0609020204030204" pitchFamily="49" charset="0"/>
              </a:rPr>
              <a:t>char</a:t>
            </a:r>
            <a:r>
              <a:rPr lang="en-US" sz="2400" dirty="0">
                <a:latin typeface="Consolas" panose="020B0609020204030204" pitchFamily="49" charset="0"/>
              </a:rPr>
              <a:t> * </a:t>
            </a:r>
            <a:r>
              <a:rPr lang="en-US" sz="2400" dirty="0" err="1">
                <a:latin typeface="Consolas" panose="020B0609020204030204" pitchFamily="49" charset="0"/>
              </a:rPr>
              <a:t>ptr</a:t>
            </a:r>
            <a:r>
              <a:rPr lang="en-US" sz="2400" dirty="0">
                <a:latin typeface="Consolas" panose="020B0609020204030204" pitchFamily="49" charset="0"/>
              </a:rPr>
              <a:t>; </a:t>
            </a:r>
          </a:p>
          <a:p>
            <a:pPr>
              <a:lnSpc>
                <a:spcPct val="115000"/>
              </a:lnSpc>
            </a:pPr>
            <a:r>
              <a:rPr lang="en-US" sz="2400" dirty="0">
                <a:latin typeface="Consolas" panose="020B0609020204030204" pitchFamily="49" charset="0"/>
              </a:rPr>
              <a:t>char a[5];</a:t>
            </a:r>
          </a:p>
          <a:p>
            <a:pPr>
              <a:lnSpc>
                <a:spcPct val="115000"/>
              </a:lnSpc>
            </a:pPr>
            <a:r>
              <a:rPr lang="en-US" sz="2400" dirty="0" err="1">
                <a:latin typeface="Consolas" panose="020B0609020204030204" pitchFamily="49" charset="0"/>
              </a:rPr>
              <a:t>ptr</a:t>
            </a:r>
            <a:r>
              <a:rPr lang="en-US" sz="2400" dirty="0">
                <a:latin typeface="Consolas" panose="020B0609020204030204" pitchFamily="49" charset="0"/>
              </a:rPr>
              <a:t> = &amp; a[0];</a:t>
            </a:r>
          </a:p>
          <a:p>
            <a:pPr>
              <a:lnSpc>
                <a:spcPct val="115000"/>
              </a:lnSpc>
            </a:pPr>
            <a:r>
              <a:rPr lang="en-US" sz="2400" dirty="0" err="1">
                <a:solidFill>
                  <a:srgbClr val="C00000"/>
                </a:solidFill>
                <a:latin typeface="Consolas" panose="020B0609020204030204" pitchFamily="49" charset="0"/>
              </a:rPr>
              <a:t>ptr</a:t>
            </a:r>
            <a:r>
              <a:rPr lang="en-US" sz="2400" dirty="0">
                <a:solidFill>
                  <a:srgbClr val="C00000"/>
                </a:solidFill>
                <a:latin typeface="Consolas" panose="020B0609020204030204" pitchFamily="49" charset="0"/>
              </a:rPr>
              <a:t> ++;   </a:t>
            </a:r>
            <a:endParaRPr lang="en-US" sz="2400" dirty="0">
              <a:solidFill>
                <a:srgbClr val="C00000"/>
              </a:solidFill>
              <a:latin typeface="Consolas" panose="020B0609020204030204" pitchFamily="49" charset="0"/>
              <a:ea typeface="宋体" panose="02010600030101010101" pitchFamily="2" charset="-122"/>
              <a:cs typeface="Times New Roman" panose="02020603050405020304" pitchFamily="18" charset="0"/>
            </a:endParaRPr>
          </a:p>
        </p:txBody>
      </p:sp>
      <p:sp>
        <p:nvSpPr>
          <p:cNvPr id="73" name="TextBox 72"/>
          <p:cNvSpPr txBox="1"/>
          <p:nvPr/>
        </p:nvSpPr>
        <p:spPr>
          <a:xfrm>
            <a:off x="8269539" y="4058869"/>
            <a:ext cx="1368152" cy="338554"/>
          </a:xfrm>
          <a:prstGeom prst="rect">
            <a:avLst/>
          </a:prstGeom>
          <a:noFill/>
        </p:spPr>
        <p:txBody>
          <a:bodyPr wrap="square" rtlCol="0">
            <a:spAutoFit/>
          </a:bodyPr>
          <a:lstStyle/>
          <a:p>
            <a:pPr algn="ctr"/>
            <a:r>
              <a:rPr lang="en-GB" sz="1600" dirty="0">
                <a:solidFill>
                  <a:srgbClr val="C00000"/>
                </a:solidFill>
                <a:latin typeface="Consolas"/>
                <a:cs typeface="Consolas"/>
              </a:rPr>
              <a:t>0x20000005</a:t>
            </a:r>
          </a:p>
        </p:txBody>
      </p:sp>
      <p:sp>
        <p:nvSpPr>
          <p:cNvPr id="74" name="TextBox 73"/>
          <p:cNvSpPr txBox="1"/>
          <p:nvPr/>
        </p:nvSpPr>
        <p:spPr>
          <a:xfrm>
            <a:off x="8269539" y="4418909"/>
            <a:ext cx="1368152" cy="338554"/>
          </a:xfrm>
          <a:prstGeom prst="rect">
            <a:avLst/>
          </a:prstGeom>
          <a:noFill/>
        </p:spPr>
        <p:txBody>
          <a:bodyPr wrap="square" rtlCol="0">
            <a:spAutoFit/>
          </a:bodyPr>
          <a:lstStyle/>
          <a:p>
            <a:pPr algn="ctr"/>
            <a:r>
              <a:rPr lang="en-GB" sz="1600" dirty="0">
                <a:solidFill>
                  <a:srgbClr val="C00000"/>
                </a:solidFill>
                <a:latin typeface="Consolas"/>
                <a:cs typeface="Consolas"/>
              </a:rPr>
              <a:t>0x20000004</a:t>
            </a:r>
          </a:p>
        </p:txBody>
      </p:sp>
      <p:sp>
        <p:nvSpPr>
          <p:cNvPr id="75" name="TextBox 74"/>
          <p:cNvSpPr txBox="1"/>
          <p:nvPr/>
        </p:nvSpPr>
        <p:spPr>
          <a:xfrm>
            <a:off x="8269539" y="2978749"/>
            <a:ext cx="1368152" cy="338554"/>
          </a:xfrm>
          <a:prstGeom prst="rect">
            <a:avLst/>
          </a:prstGeom>
          <a:noFill/>
        </p:spPr>
        <p:txBody>
          <a:bodyPr wrap="square" rtlCol="0">
            <a:spAutoFit/>
          </a:bodyPr>
          <a:lstStyle/>
          <a:p>
            <a:pPr algn="ctr"/>
            <a:r>
              <a:rPr lang="en-GB" sz="1600" dirty="0">
                <a:latin typeface="Consolas"/>
                <a:cs typeface="Consolas"/>
              </a:rPr>
              <a:t>0x20000008</a:t>
            </a:r>
          </a:p>
        </p:txBody>
      </p:sp>
      <p:sp>
        <p:nvSpPr>
          <p:cNvPr id="76" name="TextBox 75"/>
          <p:cNvSpPr txBox="1"/>
          <p:nvPr/>
        </p:nvSpPr>
        <p:spPr>
          <a:xfrm>
            <a:off x="8269539" y="3698829"/>
            <a:ext cx="1368152" cy="338554"/>
          </a:xfrm>
          <a:prstGeom prst="rect">
            <a:avLst/>
          </a:prstGeom>
          <a:noFill/>
        </p:spPr>
        <p:txBody>
          <a:bodyPr wrap="square" rtlCol="0">
            <a:spAutoFit/>
          </a:bodyPr>
          <a:lstStyle/>
          <a:p>
            <a:pPr algn="ctr"/>
            <a:r>
              <a:rPr lang="en-GB" sz="1600" dirty="0">
                <a:latin typeface="Consolas"/>
                <a:cs typeface="Consolas"/>
              </a:rPr>
              <a:t>0x20000006</a:t>
            </a:r>
          </a:p>
        </p:txBody>
      </p:sp>
      <p:sp>
        <p:nvSpPr>
          <p:cNvPr id="77" name="TextBox 76"/>
          <p:cNvSpPr txBox="1"/>
          <p:nvPr/>
        </p:nvSpPr>
        <p:spPr>
          <a:xfrm>
            <a:off x="8269539" y="4778949"/>
            <a:ext cx="1368152" cy="338554"/>
          </a:xfrm>
          <a:prstGeom prst="rect">
            <a:avLst/>
          </a:prstGeom>
          <a:noFill/>
        </p:spPr>
        <p:txBody>
          <a:bodyPr wrap="square" rtlCol="0">
            <a:spAutoFit/>
          </a:bodyPr>
          <a:lstStyle/>
          <a:p>
            <a:pPr algn="ctr"/>
            <a:r>
              <a:rPr lang="en-GB" sz="1600" dirty="0">
                <a:latin typeface="Consolas"/>
                <a:cs typeface="Consolas"/>
              </a:rPr>
              <a:t>0x20000003</a:t>
            </a:r>
          </a:p>
        </p:txBody>
      </p:sp>
      <p:sp>
        <p:nvSpPr>
          <p:cNvPr id="78" name="TextBox 77"/>
          <p:cNvSpPr txBox="1"/>
          <p:nvPr/>
        </p:nvSpPr>
        <p:spPr>
          <a:xfrm>
            <a:off x="8269539" y="5138989"/>
            <a:ext cx="1368152" cy="338554"/>
          </a:xfrm>
          <a:prstGeom prst="rect">
            <a:avLst/>
          </a:prstGeom>
          <a:noFill/>
        </p:spPr>
        <p:txBody>
          <a:bodyPr wrap="square" rtlCol="0">
            <a:spAutoFit/>
          </a:bodyPr>
          <a:lstStyle/>
          <a:p>
            <a:pPr algn="ctr"/>
            <a:r>
              <a:rPr lang="en-GB" sz="1600" dirty="0">
                <a:latin typeface="Consolas"/>
                <a:cs typeface="Consolas"/>
              </a:rPr>
              <a:t>0x20000002</a:t>
            </a:r>
          </a:p>
        </p:txBody>
      </p:sp>
      <p:sp>
        <p:nvSpPr>
          <p:cNvPr id="79" name="TextBox 78"/>
          <p:cNvSpPr txBox="1"/>
          <p:nvPr/>
        </p:nvSpPr>
        <p:spPr>
          <a:xfrm>
            <a:off x="8269539" y="1195153"/>
            <a:ext cx="1368152" cy="338554"/>
          </a:xfrm>
          <a:prstGeom prst="rect">
            <a:avLst/>
          </a:prstGeom>
          <a:noFill/>
        </p:spPr>
        <p:txBody>
          <a:bodyPr wrap="square" rtlCol="0">
            <a:spAutoFit/>
          </a:bodyPr>
          <a:lstStyle/>
          <a:p>
            <a:pPr algn="ctr"/>
            <a:r>
              <a:rPr lang="en-GB" sz="1600" dirty="0">
                <a:latin typeface="Consolas"/>
                <a:cs typeface="Consolas"/>
              </a:rPr>
              <a:t>0x2000000D</a:t>
            </a:r>
          </a:p>
        </p:txBody>
      </p:sp>
      <p:sp>
        <p:nvSpPr>
          <p:cNvPr id="80" name="TextBox 79"/>
          <p:cNvSpPr txBox="1"/>
          <p:nvPr/>
        </p:nvSpPr>
        <p:spPr>
          <a:xfrm>
            <a:off x="8269539" y="1555193"/>
            <a:ext cx="1368152" cy="338554"/>
          </a:xfrm>
          <a:prstGeom prst="rect">
            <a:avLst/>
          </a:prstGeom>
          <a:noFill/>
        </p:spPr>
        <p:txBody>
          <a:bodyPr wrap="square" rtlCol="0">
            <a:spAutoFit/>
          </a:bodyPr>
          <a:lstStyle/>
          <a:p>
            <a:pPr algn="ctr"/>
            <a:r>
              <a:rPr lang="en-GB" sz="1600" dirty="0">
                <a:latin typeface="Consolas"/>
                <a:cs typeface="Consolas"/>
              </a:rPr>
              <a:t>0x2000000C</a:t>
            </a:r>
          </a:p>
        </p:txBody>
      </p:sp>
      <p:sp>
        <p:nvSpPr>
          <p:cNvPr id="81" name="TextBox 80"/>
          <p:cNvSpPr txBox="1"/>
          <p:nvPr/>
        </p:nvSpPr>
        <p:spPr>
          <a:xfrm>
            <a:off x="8269539" y="1915233"/>
            <a:ext cx="1368152" cy="338554"/>
          </a:xfrm>
          <a:prstGeom prst="rect">
            <a:avLst/>
          </a:prstGeom>
          <a:noFill/>
        </p:spPr>
        <p:txBody>
          <a:bodyPr wrap="square" rtlCol="0">
            <a:spAutoFit/>
          </a:bodyPr>
          <a:lstStyle/>
          <a:p>
            <a:pPr algn="ctr"/>
            <a:r>
              <a:rPr lang="en-GB" sz="1600" dirty="0">
                <a:latin typeface="Consolas"/>
                <a:cs typeface="Consolas"/>
              </a:rPr>
              <a:t>0x2000000B</a:t>
            </a:r>
          </a:p>
        </p:txBody>
      </p:sp>
      <p:sp>
        <p:nvSpPr>
          <p:cNvPr id="82" name="TextBox 81"/>
          <p:cNvSpPr txBox="1"/>
          <p:nvPr/>
        </p:nvSpPr>
        <p:spPr>
          <a:xfrm>
            <a:off x="8269539" y="2258669"/>
            <a:ext cx="1368152" cy="338554"/>
          </a:xfrm>
          <a:prstGeom prst="rect">
            <a:avLst/>
          </a:prstGeom>
          <a:noFill/>
        </p:spPr>
        <p:txBody>
          <a:bodyPr wrap="square" rtlCol="0">
            <a:spAutoFit/>
          </a:bodyPr>
          <a:lstStyle/>
          <a:p>
            <a:pPr algn="ctr"/>
            <a:r>
              <a:rPr lang="en-GB" sz="1600" dirty="0">
                <a:latin typeface="Consolas"/>
                <a:cs typeface="Consolas"/>
              </a:rPr>
              <a:t>0x2000000A</a:t>
            </a:r>
          </a:p>
        </p:txBody>
      </p:sp>
      <p:sp>
        <p:nvSpPr>
          <p:cNvPr id="83" name="TextBox 82"/>
          <p:cNvSpPr txBox="1"/>
          <p:nvPr/>
        </p:nvSpPr>
        <p:spPr>
          <a:xfrm>
            <a:off x="8269539" y="2618709"/>
            <a:ext cx="1368152" cy="338554"/>
          </a:xfrm>
          <a:prstGeom prst="rect">
            <a:avLst/>
          </a:prstGeom>
          <a:noFill/>
        </p:spPr>
        <p:txBody>
          <a:bodyPr wrap="square" rtlCol="0">
            <a:spAutoFit/>
          </a:bodyPr>
          <a:lstStyle/>
          <a:p>
            <a:pPr algn="ctr"/>
            <a:r>
              <a:rPr lang="en-GB" sz="1600" dirty="0">
                <a:latin typeface="Consolas"/>
                <a:cs typeface="Consolas"/>
              </a:rPr>
              <a:t>0x20000009</a:t>
            </a:r>
          </a:p>
        </p:txBody>
      </p:sp>
      <p:sp>
        <p:nvSpPr>
          <p:cNvPr id="84" name="TextBox 83"/>
          <p:cNvSpPr txBox="1"/>
          <p:nvPr/>
        </p:nvSpPr>
        <p:spPr>
          <a:xfrm>
            <a:off x="8269539" y="3338789"/>
            <a:ext cx="1368152" cy="338554"/>
          </a:xfrm>
          <a:prstGeom prst="rect">
            <a:avLst/>
          </a:prstGeom>
          <a:noFill/>
        </p:spPr>
        <p:txBody>
          <a:bodyPr wrap="square" rtlCol="0">
            <a:spAutoFit/>
          </a:bodyPr>
          <a:lstStyle/>
          <a:p>
            <a:pPr algn="ctr"/>
            <a:r>
              <a:rPr lang="en-GB" sz="1600" dirty="0">
                <a:latin typeface="Consolas"/>
                <a:cs typeface="Consolas"/>
              </a:rPr>
              <a:t>0x20000007</a:t>
            </a:r>
          </a:p>
        </p:txBody>
      </p:sp>
      <p:sp>
        <p:nvSpPr>
          <p:cNvPr id="85" name="TextBox 84"/>
          <p:cNvSpPr txBox="1"/>
          <p:nvPr/>
        </p:nvSpPr>
        <p:spPr>
          <a:xfrm>
            <a:off x="8269539" y="5499029"/>
            <a:ext cx="1368152" cy="338554"/>
          </a:xfrm>
          <a:prstGeom prst="rect">
            <a:avLst/>
          </a:prstGeom>
          <a:noFill/>
        </p:spPr>
        <p:txBody>
          <a:bodyPr wrap="square" rtlCol="0">
            <a:spAutoFit/>
          </a:bodyPr>
          <a:lstStyle/>
          <a:p>
            <a:pPr algn="ctr"/>
            <a:r>
              <a:rPr lang="en-GB" sz="1600" dirty="0">
                <a:latin typeface="Consolas"/>
                <a:cs typeface="Consolas"/>
              </a:rPr>
              <a:t>0x20000001</a:t>
            </a:r>
          </a:p>
        </p:txBody>
      </p:sp>
      <p:sp>
        <p:nvSpPr>
          <p:cNvPr id="86" name="TextBox 85"/>
          <p:cNvSpPr txBox="1"/>
          <p:nvPr/>
        </p:nvSpPr>
        <p:spPr>
          <a:xfrm>
            <a:off x="8267530" y="5860979"/>
            <a:ext cx="1368152" cy="338554"/>
          </a:xfrm>
          <a:prstGeom prst="rect">
            <a:avLst/>
          </a:prstGeom>
          <a:noFill/>
        </p:spPr>
        <p:txBody>
          <a:bodyPr wrap="square" rtlCol="0">
            <a:spAutoFit/>
          </a:bodyPr>
          <a:lstStyle/>
          <a:p>
            <a:pPr algn="ctr"/>
            <a:r>
              <a:rPr lang="en-GB" sz="1600" dirty="0">
                <a:solidFill>
                  <a:srgbClr val="0000FF"/>
                </a:solidFill>
                <a:latin typeface="Consolas"/>
                <a:cs typeface="Consolas"/>
              </a:rPr>
              <a:t>0x20000000</a:t>
            </a:r>
          </a:p>
        </p:txBody>
      </p:sp>
      <p:grpSp>
        <p:nvGrpSpPr>
          <p:cNvPr id="87" name="Group 86"/>
          <p:cNvGrpSpPr/>
          <p:nvPr/>
        </p:nvGrpSpPr>
        <p:grpSpPr>
          <a:xfrm>
            <a:off x="9563674" y="1195461"/>
            <a:ext cx="1300882" cy="5025866"/>
            <a:chOff x="8686800" y="1232170"/>
            <a:chExt cx="1300882" cy="5025866"/>
          </a:xfrm>
        </p:grpSpPr>
        <p:sp>
          <p:nvSpPr>
            <p:cNvPr id="88" name="Rectangle 87"/>
            <p:cNvSpPr/>
            <p:nvPr/>
          </p:nvSpPr>
          <p:spPr>
            <a:xfrm>
              <a:off x="8686800" y="40958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89" name="Rectangle 88"/>
            <p:cNvSpPr/>
            <p:nvPr/>
          </p:nvSpPr>
          <p:spPr>
            <a:xfrm>
              <a:off x="8686800" y="44559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90" name="Rectangle 89"/>
            <p:cNvSpPr/>
            <p:nvPr/>
          </p:nvSpPr>
          <p:spPr>
            <a:xfrm>
              <a:off x="8686800" y="30157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91" name="Rectangle 90"/>
            <p:cNvSpPr/>
            <p:nvPr/>
          </p:nvSpPr>
          <p:spPr>
            <a:xfrm>
              <a:off x="8686800" y="48159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0x20</a:t>
              </a:r>
            </a:p>
          </p:txBody>
        </p:sp>
        <p:sp>
          <p:nvSpPr>
            <p:cNvPr id="92" name="Rectangle 91"/>
            <p:cNvSpPr/>
            <p:nvPr/>
          </p:nvSpPr>
          <p:spPr>
            <a:xfrm>
              <a:off x="8686800" y="37358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93" name="Rectangle 92"/>
            <p:cNvSpPr/>
            <p:nvPr/>
          </p:nvSpPr>
          <p:spPr>
            <a:xfrm>
              <a:off x="8686800" y="123217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94" name="Rectangle 93"/>
            <p:cNvSpPr/>
            <p:nvPr/>
          </p:nvSpPr>
          <p:spPr>
            <a:xfrm>
              <a:off x="8686800" y="15922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anose="020B0609020204030204" pitchFamily="49" charset="0"/>
              </a:endParaRPr>
            </a:p>
          </p:txBody>
        </p:sp>
        <p:sp>
          <p:nvSpPr>
            <p:cNvPr id="95" name="Rectangle 94"/>
            <p:cNvSpPr/>
            <p:nvPr/>
          </p:nvSpPr>
          <p:spPr>
            <a:xfrm>
              <a:off x="8686800" y="195225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latin typeface="Consolas" panose="020B0609020204030204" pitchFamily="49" charset="0"/>
                <a:cs typeface="Consolas" panose="020B0609020204030204" pitchFamily="49" charset="0"/>
              </a:endParaRPr>
            </a:p>
          </p:txBody>
        </p:sp>
        <p:sp>
          <p:nvSpPr>
            <p:cNvPr id="96" name="Rectangle 95"/>
            <p:cNvSpPr/>
            <p:nvPr/>
          </p:nvSpPr>
          <p:spPr>
            <a:xfrm>
              <a:off x="8686800" y="22956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rgbClr val="000000"/>
                </a:solidFill>
                <a:latin typeface="Consolas" panose="020B0609020204030204" pitchFamily="49" charset="0"/>
                <a:cs typeface="Consolas" pitchFamily="49" charset="0"/>
              </a:endParaRPr>
            </a:p>
          </p:txBody>
        </p:sp>
        <p:sp>
          <p:nvSpPr>
            <p:cNvPr id="97" name="Rectangle 96"/>
            <p:cNvSpPr/>
            <p:nvPr/>
          </p:nvSpPr>
          <p:spPr>
            <a:xfrm>
              <a:off x="8686800" y="26557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itchFamily="49" charset="0"/>
              </a:endParaRPr>
            </a:p>
          </p:txBody>
        </p:sp>
        <p:sp>
          <p:nvSpPr>
            <p:cNvPr id="98" name="Rectangle 97"/>
            <p:cNvSpPr/>
            <p:nvPr/>
          </p:nvSpPr>
          <p:spPr>
            <a:xfrm>
              <a:off x="8686800" y="55360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sp>
          <p:nvSpPr>
            <p:cNvPr id="99" name="Rectangle 98"/>
            <p:cNvSpPr/>
            <p:nvPr/>
          </p:nvSpPr>
          <p:spPr>
            <a:xfrm>
              <a:off x="8686800" y="337580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100" name="Rectangle 99"/>
            <p:cNvSpPr/>
            <p:nvPr/>
          </p:nvSpPr>
          <p:spPr>
            <a:xfrm>
              <a:off x="8691538" y="589799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0x05</a:t>
              </a:r>
            </a:p>
          </p:txBody>
        </p:sp>
        <p:sp>
          <p:nvSpPr>
            <p:cNvPr id="101" name="Rectangle 100"/>
            <p:cNvSpPr/>
            <p:nvPr/>
          </p:nvSpPr>
          <p:spPr>
            <a:xfrm>
              <a:off x="8687966" y="51721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grpSp>
      <p:sp>
        <p:nvSpPr>
          <p:cNvPr id="102" name="TextBox 101"/>
          <p:cNvSpPr txBox="1"/>
          <p:nvPr/>
        </p:nvSpPr>
        <p:spPr>
          <a:xfrm>
            <a:off x="9561665" y="838200"/>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Content</a:t>
            </a:r>
          </a:p>
        </p:txBody>
      </p:sp>
      <p:sp>
        <p:nvSpPr>
          <p:cNvPr id="103" name="TextBox 102"/>
          <p:cNvSpPr txBox="1"/>
          <p:nvPr/>
        </p:nvSpPr>
        <p:spPr>
          <a:xfrm>
            <a:off x="8355435" y="871945"/>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Address</a:t>
            </a:r>
          </a:p>
        </p:txBody>
      </p:sp>
      <p:sp>
        <p:nvSpPr>
          <p:cNvPr id="104" name="Rectangle 103"/>
          <p:cNvSpPr/>
          <p:nvPr/>
        </p:nvSpPr>
        <p:spPr>
          <a:xfrm>
            <a:off x="7696200" y="5836622"/>
            <a:ext cx="564578" cy="369332"/>
          </a:xfrm>
          <a:prstGeom prst="rect">
            <a:avLst/>
          </a:prstGeom>
        </p:spPr>
        <p:txBody>
          <a:bodyPr wrap="none">
            <a:spAutoFit/>
          </a:bodyPr>
          <a:lstStyle/>
          <a:p>
            <a:r>
              <a:rPr lang="en-GB" dirty="0" err="1">
                <a:solidFill>
                  <a:srgbClr val="0000FF"/>
                </a:solidFill>
                <a:latin typeface="Consolas" panose="020B0609020204030204" pitchFamily="49" charset="0"/>
                <a:cs typeface="Consolas" panose="020B0609020204030204" pitchFamily="49" charset="0"/>
              </a:rPr>
              <a:t>ptr</a:t>
            </a:r>
            <a:endParaRPr lang="en-US" dirty="0">
              <a:solidFill>
                <a:srgbClr val="0000FF"/>
              </a:solidFill>
            </a:endParaRPr>
          </a:p>
        </p:txBody>
      </p:sp>
      <p:cxnSp>
        <p:nvCxnSpPr>
          <p:cNvPr id="105" name="Straight Connector 104"/>
          <p:cNvCxnSpPr/>
          <p:nvPr/>
        </p:nvCxnSpPr>
        <p:spPr>
          <a:xfrm flipH="1" flipV="1">
            <a:off x="7974134" y="4253658"/>
            <a:ext cx="13192" cy="164860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a:off x="7974134" y="4253658"/>
            <a:ext cx="403811" cy="0"/>
          </a:xfrm>
          <a:prstGeom prst="line">
            <a:avLst/>
          </a:prstGeom>
          <a:ln w="28575">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7" name="TextBox 106"/>
          <p:cNvSpPr txBox="1"/>
          <p:nvPr/>
        </p:nvSpPr>
        <p:spPr>
          <a:xfrm>
            <a:off x="10858500" y="4067125"/>
            <a:ext cx="802974" cy="369332"/>
          </a:xfrm>
          <a:prstGeom prst="rect">
            <a:avLst/>
          </a:prstGeom>
          <a:noFill/>
        </p:spPr>
        <p:txBody>
          <a:bodyPr wrap="square" rtlCol="0">
            <a:spAutoFit/>
          </a:bodyPr>
          <a:lstStyle/>
          <a:p>
            <a:r>
              <a:rPr lang="en-GB" dirty="0">
                <a:solidFill>
                  <a:srgbClr val="FF00FF"/>
                </a:solidFill>
                <a:latin typeface="Consolas"/>
                <a:cs typeface="Consolas"/>
              </a:rPr>
              <a:t>a[1]</a:t>
            </a:r>
          </a:p>
        </p:txBody>
      </p:sp>
      <p:sp>
        <p:nvSpPr>
          <p:cNvPr id="108" name="TextBox 107"/>
          <p:cNvSpPr txBox="1"/>
          <p:nvPr/>
        </p:nvSpPr>
        <p:spPr>
          <a:xfrm>
            <a:off x="10858500" y="4427165"/>
            <a:ext cx="802974" cy="369332"/>
          </a:xfrm>
          <a:prstGeom prst="rect">
            <a:avLst/>
          </a:prstGeom>
          <a:noFill/>
        </p:spPr>
        <p:txBody>
          <a:bodyPr wrap="square" rtlCol="0">
            <a:spAutoFit/>
          </a:bodyPr>
          <a:lstStyle/>
          <a:p>
            <a:r>
              <a:rPr lang="en-GB" dirty="0">
                <a:solidFill>
                  <a:srgbClr val="FF00FF"/>
                </a:solidFill>
                <a:latin typeface="Consolas"/>
                <a:cs typeface="Consolas"/>
              </a:rPr>
              <a:t>a[0]</a:t>
            </a:r>
          </a:p>
        </p:txBody>
      </p:sp>
      <p:sp>
        <p:nvSpPr>
          <p:cNvPr id="109" name="TextBox 108"/>
          <p:cNvSpPr txBox="1"/>
          <p:nvPr/>
        </p:nvSpPr>
        <p:spPr>
          <a:xfrm>
            <a:off x="10858500" y="2987005"/>
            <a:ext cx="802974" cy="369332"/>
          </a:xfrm>
          <a:prstGeom prst="rect">
            <a:avLst/>
          </a:prstGeom>
          <a:noFill/>
        </p:spPr>
        <p:txBody>
          <a:bodyPr wrap="square" rtlCol="0">
            <a:spAutoFit/>
          </a:bodyPr>
          <a:lstStyle/>
          <a:p>
            <a:r>
              <a:rPr lang="en-GB" dirty="0">
                <a:solidFill>
                  <a:srgbClr val="FF00FF"/>
                </a:solidFill>
                <a:latin typeface="Consolas"/>
                <a:cs typeface="Consolas"/>
              </a:rPr>
              <a:t>a[4]</a:t>
            </a:r>
          </a:p>
        </p:txBody>
      </p:sp>
      <p:sp>
        <p:nvSpPr>
          <p:cNvPr id="110" name="TextBox 109"/>
          <p:cNvSpPr txBox="1"/>
          <p:nvPr/>
        </p:nvSpPr>
        <p:spPr>
          <a:xfrm>
            <a:off x="10858500" y="3707085"/>
            <a:ext cx="802974" cy="369332"/>
          </a:xfrm>
          <a:prstGeom prst="rect">
            <a:avLst/>
          </a:prstGeom>
          <a:noFill/>
        </p:spPr>
        <p:txBody>
          <a:bodyPr wrap="square" rtlCol="0">
            <a:spAutoFit/>
          </a:bodyPr>
          <a:lstStyle/>
          <a:p>
            <a:r>
              <a:rPr lang="en-GB" dirty="0">
                <a:solidFill>
                  <a:srgbClr val="FF00FF"/>
                </a:solidFill>
                <a:latin typeface="Consolas"/>
                <a:cs typeface="Consolas"/>
              </a:rPr>
              <a:t>a[2]</a:t>
            </a:r>
          </a:p>
        </p:txBody>
      </p:sp>
      <p:sp>
        <p:nvSpPr>
          <p:cNvPr id="111" name="TextBox 110"/>
          <p:cNvSpPr txBox="1"/>
          <p:nvPr/>
        </p:nvSpPr>
        <p:spPr>
          <a:xfrm>
            <a:off x="10858500" y="3347045"/>
            <a:ext cx="802974" cy="369332"/>
          </a:xfrm>
          <a:prstGeom prst="rect">
            <a:avLst/>
          </a:prstGeom>
          <a:noFill/>
        </p:spPr>
        <p:txBody>
          <a:bodyPr wrap="square" rtlCol="0">
            <a:spAutoFit/>
          </a:bodyPr>
          <a:lstStyle/>
          <a:p>
            <a:r>
              <a:rPr lang="en-GB" dirty="0">
                <a:solidFill>
                  <a:srgbClr val="FF00FF"/>
                </a:solidFill>
                <a:latin typeface="Consolas"/>
                <a:cs typeface="Consolas"/>
              </a:rPr>
              <a:t>a[3]</a:t>
            </a:r>
          </a:p>
        </p:txBody>
      </p:sp>
      <p:cxnSp>
        <p:nvCxnSpPr>
          <p:cNvPr id="47" name="Straight Connector 46"/>
          <p:cNvCxnSpPr/>
          <p:nvPr/>
        </p:nvCxnSpPr>
        <p:spPr>
          <a:xfrm>
            <a:off x="7974134" y="4609780"/>
            <a:ext cx="403811" cy="0"/>
          </a:xfrm>
          <a:prstGeom prst="line">
            <a:avLst/>
          </a:prstGeom>
          <a:ln w="28575">
            <a:solidFill>
              <a:srgbClr val="0000FF"/>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763367" y="4397423"/>
            <a:ext cx="3223959" cy="369332"/>
          </a:xfrm>
          <a:prstGeom prst="rect">
            <a:avLst/>
          </a:prstGeom>
          <a:noFill/>
        </p:spPr>
        <p:txBody>
          <a:bodyPr wrap="none" rtlCol="0">
            <a:spAutoFit/>
          </a:bodyPr>
          <a:lstStyle/>
          <a:p>
            <a:r>
              <a:rPr lang="en-US" dirty="0" err="1">
                <a:solidFill>
                  <a:srgbClr val="FF00FF"/>
                </a:solidFill>
                <a:latin typeface="Consolas" panose="020B0609020204030204" pitchFamily="49" charset="0"/>
                <a:cs typeface="Consolas" panose="020B0609020204030204" pitchFamily="49" charset="0"/>
              </a:rPr>
              <a:t>ptr</a:t>
            </a:r>
            <a:r>
              <a:rPr lang="en-US" dirty="0">
                <a:solidFill>
                  <a:srgbClr val="FF00FF"/>
                </a:solidFill>
                <a:latin typeface="Consolas" panose="020B0609020204030204" pitchFamily="49" charset="0"/>
                <a:cs typeface="Consolas" panose="020B0609020204030204" pitchFamily="49" charset="0"/>
              </a:rPr>
              <a:t> = </a:t>
            </a:r>
            <a:r>
              <a:rPr lang="en-US" dirty="0" err="1">
                <a:solidFill>
                  <a:srgbClr val="FF00FF"/>
                </a:solidFill>
                <a:latin typeface="Consolas" panose="020B0609020204030204" pitchFamily="49" charset="0"/>
                <a:cs typeface="Consolas" panose="020B0609020204030204" pitchFamily="49" charset="0"/>
              </a:rPr>
              <a:t>ptr</a:t>
            </a:r>
            <a:r>
              <a:rPr lang="en-US" dirty="0">
                <a:solidFill>
                  <a:srgbClr val="FF00FF"/>
                </a:solidFill>
                <a:latin typeface="Consolas" panose="020B0609020204030204" pitchFamily="49" charset="0"/>
                <a:cs typeface="Consolas" panose="020B0609020204030204" pitchFamily="49" charset="0"/>
              </a:rPr>
              <a:t> + </a:t>
            </a:r>
            <a:r>
              <a:rPr lang="en-US" dirty="0" err="1">
                <a:solidFill>
                  <a:srgbClr val="FF00FF"/>
                </a:solidFill>
                <a:latin typeface="Consolas" panose="020B0609020204030204" pitchFamily="49" charset="0"/>
                <a:cs typeface="Consolas" panose="020B0609020204030204" pitchFamily="49" charset="0"/>
              </a:rPr>
              <a:t>sizeof</a:t>
            </a:r>
            <a:r>
              <a:rPr lang="en-US" dirty="0">
                <a:solidFill>
                  <a:srgbClr val="FF00FF"/>
                </a:solidFill>
                <a:latin typeface="Consolas" panose="020B0609020204030204" pitchFamily="49" charset="0"/>
                <a:cs typeface="Consolas" panose="020B0609020204030204" pitchFamily="49" charset="0"/>
              </a:rPr>
              <a:t>(char)</a:t>
            </a:r>
          </a:p>
        </p:txBody>
      </p:sp>
      <p:sp>
        <p:nvSpPr>
          <p:cNvPr id="48" name="Content Placeholder 3"/>
          <p:cNvSpPr txBox="1">
            <a:spLocks/>
          </p:cNvSpPr>
          <p:nvPr/>
        </p:nvSpPr>
        <p:spPr>
          <a:xfrm>
            <a:off x="609600" y="1219199"/>
            <a:ext cx="6096000" cy="2458143"/>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400" dirty="0" err="1"/>
              <a:t>ptr</a:t>
            </a:r>
            <a:r>
              <a:rPr lang="en-US" sz="2400" dirty="0"/>
              <a:t> is pointer, and stored at </a:t>
            </a:r>
            <a:r>
              <a:rPr lang="en-US" sz="2400" dirty="0">
                <a:latin typeface="Consolas" panose="020B0609020204030204" pitchFamily="49" charset="0"/>
                <a:cs typeface="Consolas" panose="020B0609020204030204" pitchFamily="49" charset="0"/>
              </a:rPr>
              <a:t>0x20000000</a:t>
            </a:r>
            <a:r>
              <a:rPr lang="en-US" sz="2400" dirty="0"/>
              <a:t> </a:t>
            </a:r>
          </a:p>
          <a:p>
            <a:r>
              <a:rPr lang="en-US" sz="2400" dirty="0" err="1">
                <a:latin typeface="Consolas" panose="020B0609020204030204" pitchFamily="49" charset="0"/>
                <a:cs typeface="Consolas" panose="020B0609020204030204" pitchFamily="49" charset="0"/>
              </a:rPr>
              <a:t>ptr</a:t>
            </a:r>
            <a:r>
              <a:rPr lang="en-US" sz="2400" dirty="0">
                <a:latin typeface="Consolas" panose="020B0609020204030204" pitchFamily="49" charset="0"/>
                <a:cs typeface="Consolas" panose="020B0609020204030204" pitchFamily="49" charset="0"/>
              </a:rPr>
              <a:t> =</a:t>
            </a:r>
            <a:r>
              <a:rPr lang="en-US" sz="2400" dirty="0"/>
              <a:t> </a:t>
            </a:r>
            <a:r>
              <a:rPr lang="en-US" sz="2400" dirty="0">
                <a:latin typeface="Consolas" panose="020B0609020204030204" pitchFamily="49" charset="0"/>
              </a:rPr>
              <a:t>0x20000004</a:t>
            </a:r>
            <a:endParaRPr lang="en-US" sz="2400" dirty="0"/>
          </a:p>
          <a:p>
            <a:r>
              <a:rPr lang="en-US" sz="2400" dirty="0"/>
              <a:t>What happens if: </a:t>
            </a:r>
          </a:p>
          <a:p>
            <a:pPr marL="0" indent="0">
              <a:buNone/>
            </a:pPr>
            <a:r>
              <a:rPr lang="en-US" sz="2400" dirty="0">
                <a:solidFill>
                  <a:srgbClr val="C00000"/>
                </a:solidFill>
                <a:latin typeface="Consolas" panose="020B0609020204030204" pitchFamily="49" charset="0"/>
                <a:cs typeface="Consolas" panose="020B0609020204030204" pitchFamily="49" charset="0"/>
              </a:rPr>
              <a:t>     </a:t>
            </a:r>
            <a:r>
              <a:rPr lang="en-US" sz="2400" dirty="0" err="1">
                <a:solidFill>
                  <a:srgbClr val="C00000"/>
                </a:solidFill>
                <a:latin typeface="Consolas" panose="020B0609020204030204" pitchFamily="49" charset="0"/>
                <a:cs typeface="Consolas" panose="020B0609020204030204" pitchFamily="49" charset="0"/>
              </a:rPr>
              <a:t>ptr</a:t>
            </a:r>
            <a:r>
              <a:rPr lang="en-US" sz="2400" dirty="0">
                <a:solidFill>
                  <a:srgbClr val="C00000"/>
                </a:solidFill>
                <a:latin typeface="Consolas" panose="020B0609020204030204" pitchFamily="49" charset="0"/>
                <a:cs typeface="Consolas" panose="020B0609020204030204" pitchFamily="49" charset="0"/>
              </a:rPr>
              <a:t>++;</a:t>
            </a:r>
            <a:endParaRPr lang="en-US" sz="2400" dirty="0">
              <a:latin typeface="Consolas" panose="020B0609020204030204" pitchFamily="49" charset="0"/>
              <a:cs typeface="Consolas" panose="020B0609020204030204" pitchFamily="49" charset="0"/>
            </a:endParaRPr>
          </a:p>
          <a:p>
            <a:r>
              <a:rPr lang="en-US" sz="2400" dirty="0"/>
              <a:t>Is it true? </a:t>
            </a:r>
            <a:r>
              <a:rPr lang="en-US" sz="2400" dirty="0" err="1">
                <a:solidFill>
                  <a:srgbClr val="C00000"/>
                </a:solidFill>
                <a:latin typeface="Consolas" panose="020B0609020204030204" pitchFamily="49" charset="0"/>
                <a:cs typeface="Consolas" panose="020B0609020204030204" pitchFamily="49" charset="0"/>
              </a:rPr>
              <a:t>ptr</a:t>
            </a:r>
            <a:r>
              <a:rPr lang="en-US" sz="2400" dirty="0">
                <a:solidFill>
                  <a:srgbClr val="C00000"/>
                </a:solidFill>
                <a:latin typeface="Consolas" panose="020B0609020204030204" pitchFamily="49" charset="0"/>
                <a:cs typeface="Consolas" panose="020B0609020204030204" pitchFamily="49" charset="0"/>
              </a:rPr>
              <a:t> =</a:t>
            </a:r>
            <a:r>
              <a:rPr lang="en-US" sz="2400" dirty="0"/>
              <a:t> </a:t>
            </a:r>
            <a:r>
              <a:rPr lang="en-US" sz="2400" dirty="0">
                <a:solidFill>
                  <a:srgbClr val="C00000"/>
                </a:solidFill>
                <a:latin typeface="Consolas" panose="020B0609020204030204" pitchFamily="49" charset="0"/>
              </a:rPr>
              <a:t>0x20000005</a:t>
            </a:r>
          </a:p>
        </p:txBody>
      </p:sp>
    </p:spTree>
    <p:extLst>
      <p:ext uri="{BB962C8B-B14F-4D97-AF65-F5344CB8AC3E}">
        <p14:creationId xmlns:p14="http://schemas.microsoft.com/office/powerpoint/2010/main" val="2575898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Pointer Arithmetic</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72" name="Rectangle 71"/>
          <p:cNvSpPr/>
          <p:nvPr/>
        </p:nvSpPr>
        <p:spPr>
          <a:xfrm>
            <a:off x="1295400" y="3823227"/>
            <a:ext cx="3170132" cy="1791260"/>
          </a:xfrm>
          <a:prstGeom prst="rect">
            <a:avLst/>
          </a:prstGeom>
          <a:gradFill flip="none" rotWithShape="1">
            <a:gsLst>
              <a:gs pos="0">
                <a:srgbClr val="99FF99">
                  <a:shade val="30000"/>
                  <a:satMod val="115000"/>
                </a:srgbClr>
              </a:gs>
              <a:gs pos="50000">
                <a:srgbClr val="99FF99">
                  <a:shade val="67500"/>
                  <a:satMod val="115000"/>
                </a:srgbClr>
              </a:gs>
              <a:gs pos="100000">
                <a:srgbClr val="99FF99">
                  <a:shade val="100000"/>
                  <a:satMod val="115000"/>
                </a:srgbClr>
              </a:gs>
            </a:gsLst>
            <a:lin ang="10800000" scaled="1"/>
            <a:tileRect/>
          </a:gradFill>
        </p:spPr>
        <p:style>
          <a:lnRef idx="1">
            <a:schemeClr val="accent5"/>
          </a:lnRef>
          <a:fillRef idx="2">
            <a:schemeClr val="accent5"/>
          </a:fillRef>
          <a:effectRef idx="1">
            <a:schemeClr val="accent5"/>
          </a:effectRef>
          <a:fontRef idx="minor">
            <a:schemeClr val="dk1"/>
          </a:fontRef>
        </p:style>
        <p:txBody>
          <a:bodyPr wrap="square">
            <a:spAutoFit/>
          </a:bodyPr>
          <a:lstStyle/>
          <a:p>
            <a:pPr>
              <a:lnSpc>
                <a:spcPct val="115000"/>
              </a:lnSpc>
            </a:pPr>
            <a:r>
              <a:rPr lang="en-US" sz="2400" dirty="0">
                <a:solidFill>
                  <a:srgbClr val="C00000"/>
                </a:solidFill>
                <a:latin typeface="Consolas" panose="020B0609020204030204" pitchFamily="49" charset="0"/>
              </a:rPr>
              <a:t>int</a:t>
            </a:r>
            <a:r>
              <a:rPr lang="en-US" sz="2400" dirty="0">
                <a:latin typeface="Consolas" panose="020B0609020204030204" pitchFamily="49" charset="0"/>
              </a:rPr>
              <a:t> * </a:t>
            </a:r>
            <a:r>
              <a:rPr lang="en-US" sz="2400" dirty="0" err="1">
                <a:latin typeface="Consolas" panose="020B0609020204030204" pitchFamily="49" charset="0"/>
              </a:rPr>
              <a:t>ptr</a:t>
            </a:r>
            <a:r>
              <a:rPr lang="en-US" sz="2400" dirty="0">
                <a:latin typeface="Consolas" panose="020B0609020204030204" pitchFamily="49" charset="0"/>
              </a:rPr>
              <a:t>; </a:t>
            </a:r>
          </a:p>
          <a:p>
            <a:pPr>
              <a:lnSpc>
                <a:spcPct val="115000"/>
              </a:lnSpc>
            </a:pPr>
            <a:r>
              <a:rPr lang="en-US" sz="2400" dirty="0">
                <a:latin typeface="Consolas" panose="020B0609020204030204" pitchFamily="49" charset="0"/>
              </a:rPr>
              <a:t>int a[5];</a:t>
            </a:r>
          </a:p>
          <a:p>
            <a:pPr>
              <a:lnSpc>
                <a:spcPct val="115000"/>
              </a:lnSpc>
            </a:pPr>
            <a:r>
              <a:rPr lang="en-US" sz="2400" dirty="0" err="1">
                <a:latin typeface="Consolas" panose="020B0609020204030204" pitchFamily="49" charset="0"/>
              </a:rPr>
              <a:t>ptr</a:t>
            </a:r>
            <a:r>
              <a:rPr lang="en-US" sz="2400" dirty="0">
                <a:latin typeface="Consolas" panose="020B0609020204030204" pitchFamily="49" charset="0"/>
              </a:rPr>
              <a:t> = &amp; a[0];</a:t>
            </a:r>
          </a:p>
          <a:p>
            <a:pPr>
              <a:lnSpc>
                <a:spcPct val="115000"/>
              </a:lnSpc>
            </a:pPr>
            <a:r>
              <a:rPr lang="en-US" sz="2400" dirty="0" err="1">
                <a:solidFill>
                  <a:srgbClr val="C00000"/>
                </a:solidFill>
                <a:latin typeface="Consolas" panose="020B0609020204030204" pitchFamily="49" charset="0"/>
              </a:rPr>
              <a:t>ptr</a:t>
            </a:r>
            <a:r>
              <a:rPr lang="en-US" sz="2400" dirty="0">
                <a:solidFill>
                  <a:srgbClr val="C00000"/>
                </a:solidFill>
                <a:latin typeface="Consolas" panose="020B0609020204030204" pitchFamily="49" charset="0"/>
              </a:rPr>
              <a:t> ++;   </a:t>
            </a:r>
            <a:endParaRPr lang="en-US" sz="2400" dirty="0">
              <a:solidFill>
                <a:srgbClr val="C00000"/>
              </a:solidFill>
              <a:latin typeface="Consolas" panose="020B0609020204030204" pitchFamily="49" charset="0"/>
              <a:ea typeface="宋体" panose="02010600030101010101" pitchFamily="2" charset="-122"/>
              <a:cs typeface="Times New Roman" panose="02020603050405020304" pitchFamily="18" charset="0"/>
            </a:endParaRPr>
          </a:p>
        </p:txBody>
      </p:sp>
      <p:sp>
        <p:nvSpPr>
          <p:cNvPr id="73" name="TextBox 72"/>
          <p:cNvSpPr txBox="1"/>
          <p:nvPr/>
        </p:nvSpPr>
        <p:spPr>
          <a:xfrm>
            <a:off x="8269539" y="4058869"/>
            <a:ext cx="1368152" cy="338554"/>
          </a:xfrm>
          <a:prstGeom prst="rect">
            <a:avLst/>
          </a:prstGeom>
          <a:noFill/>
        </p:spPr>
        <p:txBody>
          <a:bodyPr wrap="square" rtlCol="0">
            <a:spAutoFit/>
          </a:bodyPr>
          <a:lstStyle/>
          <a:p>
            <a:pPr algn="ctr"/>
            <a:r>
              <a:rPr lang="en-GB" sz="1600" dirty="0">
                <a:latin typeface="Consolas"/>
                <a:cs typeface="Consolas"/>
              </a:rPr>
              <a:t>0x20000005</a:t>
            </a:r>
          </a:p>
        </p:txBody>
      </p:sp>
      <p:sp>
        <p:nvSpPr>
          <p:cNvPr id="74" name="TextBox 73"/>
          <p:cNvSpPr txBox="1"/>
          <p:nvPr/>
        </p:nvSpPr>
        <p:spPr>
          <a:xfrm>
            <a:off x="8269539" y="4418909"/>
            <a:ext cx="1368152" cy="338554"/>
          </a:xfrm>
          <a:prstGeom prst="rect">
            <a:avLst/>
          </a:prstGeom>
          <a:noFill/>
        </p:spPr>
        <p:txBody>
          <a:bodyPr wrap="square" rtlCol="0">
            <a:spAutoFit/>
          </a:bodyPr>
          <a:lstStyle/>
          <a:p>
            <a:pPr algn="ctr"/>
            <a:r>
              <a:rPr lang="en-GB" sz="1600" dirty="0">
                <a:solidFill>
                  <a:srgbClr val="C00000"/>
                </a:solidFill>
                <a:latin typeface="Consolas"/>
                <a:cs typeface="Consolas"/>
              </a:rPr>
              <a:t>0x20000004</a:t>
            </a:r>
          </a:p>
        </p:txBody>
      </p:sp>
      <p:sp>
        <p:nvSpPr>
          <p:cNvPr id="75" name="TextBox 74"/>
          <p:cNvSpPr txBox="1"/>
          <p:nvPr/>
        </p:nvSpPr>
        <p:spPr>
          <a:xfrm>
            <a:off x="8269539" y="2978749"/>
            <a:ext cx="1368152" cy="338554"/>
          </a:xfrm>
          <a:prstGeom prst="rect">
            <a:avLst/>
          </a:prstGeom>
          <a:noFill/>
        </p:spPr>
        <p:txBody>
          <a:bodyPr wrap="square" rtlCol="0">
            <a:spAutoFit/>
          </a:bodyPr>
          <a:lstStyle/>
          <a:p>
            <a:pPr algn="ctr"/>
            <a:r>
              <a:rPr lang="en-GB" sz="1600" dirty="0">
                <a:latin typeface="Consolas"/>
                <a:cs typeface="Consolas"/>
              </a:rPr>
              <a:t>0x20000008</a:t>
            </a:r>
          </a:p>
        </p:txBody>
      </p:sp>
      <p:sp>
        <p:nvSpPr>
          <p:cNvPr id="76" name="TextBox 75"/>
          <p:cNvSpPr txBox="1"/>
          <p:nvPr/>
        </p:nvSpPr>
        <p:spPr>
          <a:xfrm>
            <a:off x="8269539" y="3698829"/>
            <a:ext cx="1368152" cy="338554"/>
          </a:xfrm>
          <a:prstGeom prst="rect">
            <a:avLst/>
          </a:prstGeom>
          <a:noFill/>
        </p:spPr>
        <p:txBody>
          <a:bodyPr wrap="square" rtlCol="0">
            <a:spAutoFit/>
          </a:bodyPr>
          <a:lstStyle/>
          <a:p>
            <a:pPr algn="ctr"/>
            <a:r>
              <a:rPr lang="en-GB" sz="1600" dirty="0">
                <a:latin typeface="Consolas"/>
                <a:cs typeface="Consolas"/>
              </a:rPr>
              <a:t>0x20000006</a:t>
            </a:r>
          </a:p>
        </p:txBody>
      </p:sp>
      <p:sp>
        <p:nvSpPr>
          <p:cNvPr id="77" name="TextBox 76"/>
          <p:cNvSpPr txBox="1"/>
          <p:nvPr/>
        </p:nvSpPr>
        <p:spPr>
          <a:xfrm>
            <a:off x="8269539" y="4778949"/>
            <a:ext cx="1368152" cy="338554"/>
          </a:xfrm>
          <a:prstGeom prst="rect">
            <a:avLst/>
          </a:prstGeom>
          <a:noFill/>
        </p:spPr>
        <p:txBody>
          <a:bodyPr wrap="square" rtlCol="0">
            <a:spAutoFit/>
          </a:bodyPr>
          <a:lstStyle/>
          <a:p>
            <a:pPr algn="ctr"/>
            <a:r>
              <a:rPr lang="en-GB" sz="1600" dirty="0">
                <a:latin typeface="Consolas"/>
                <a:cs typeface="Consolas"/>
              </a:rPr>
              <a:t>0x20000003</a:t>
            </a:r>
          </a:p>
        </p:txBody>
      </p:sp>
      <p:sp>
        <p:nvSpPr>
          <p:cNvPr id="78" name="TextBox 77"/>
          <p:cNvSpPr txBox="1"/>
          <p:nvPr/>
        </p:nvSpPr>
        <p:spPr>
          <a:xfrm>
            <a:off x="8269539" y="5138989"/>
            <a:ext cx="1368152" cy="338554"/>
          </a:xfrm>
          <a:prstGeom prst="rect">
            <a:avLst/>
          </a:prstGeom>
          <a:noFill/>
        </p:spPr>
        <p:txBody>
          <a:bodyPr wrap="square" rtlCol="0">
            <a:spAutoFit/>
          </a:bodyPr>
          <a:lstStyle/>
          <a:p>
            <a:pPr algn="ctr"/>
            <a:r>
              <a:rPr lang="en-GB" sz="1600" dirty="0">
                <a:latin typeface="Consolas"/>
                <a:cs typeface="Consolas"/>
              </a:rPr>
              <a:t>0x20000002</a:t>
            </a:r>
          </a:p>
        </p:txBody>
      </p:sp>
      <p:sp>
        <p:nvSpPr>
          <p:cNvPr id="79" name="TextBox 78"/>
          <p:cNvSpPr txBox="1"/>
          <p:nvPr/>
        </p:nvSpPr>
        <p:spPr>
          <a:xfrm>
            <a:off x="8269539" y="1195153"/>
            <a:ext cx="1368152" cy="338554"/>
          </a:xfrm>
          <a:prstGeom prst="rect">
            <a:avLst/>
          </a:prstGeom>
          <a:noFill/>
        </p:spPr>
        <p:txBody>
          <a:bodyPr wrap="square" rtlCol="0">
            <a:spAutoFit/>
          </a:bodyPr>
          <a:lstStyle/>
          <a:p>
            <a:pPr algn="ctr"/>
            <a:r>
              <a:rPr lang="en-GB" sz="1600" dirty="0">
                <a:latin typeface="Consolas"/>
                <a:cs typeface="Consolas"/>
              </a:rPr>
              <a:t>0x2000000D</a:t>
            </a:r>
          </a:p>
        </p:txBody>
      </p:sp>
      <p:sp>
        <p:nvSpPr>
          <p:cNvPr id="80" name="TextBox 79"/>
          <p:cNvSpPr txBox="1"/>
          <p:nvPr/>
        </p:nvSpPr>
        <p:spPr>
          <a:xfrm>
            <a:off x="8269539" y="1555193"/>
            <a:ext cx="1368152" cy="338554"/>
          </a:xfrm>
          <a:prstGeom prst="rect">
            <a:avLst/>
          </a:prstGeom>
          <a:noFill/>
        </p:spPr>
        <p:txBody>
          <a:bodyPr wrap="square" rtlCol="0">
            <a:spAutoFit/>
          </a:bodyPr>
          <a:lstStyle/>
          <a:p>
            <a:pPr algn="ctr"/>
            <a:r>
              <a:rPr lang="en-GB" sz="1600" dirty="0">
                <a:latin typeface="Consolas"/>
                <a:cs typeface="Consolas"/>
              </a:rPr>
              <a:t>0x2000000C</a:t>
            </a:r>
          </a:p>
        </p:txBody>
      </p:sp>
      <p:sp>
        <p:nvSpPr>
          <p:cNvPr id="81" name="TextBox 80"/>
          <p:cNvSpPr txBox="1"/>
          <p:nvPr/>
        </p:nvSpPr>
        <p:spPr>
          <a:xfrm>
            <a:off x="8269539" y="1915233"/>
            <a:ext cx="1368152" cy="338554"/>
          </a:xfrm>
          <a:prstGeom prst="rect">
            <a:avLst/>
          </a:prstGeom>
          <a:noFill/>
        </p:spPr>
        <p:txBody>
          <a:bodyPr wrap="square" rtlCol="0">
            <a:spAutoFit/>
          </a:bodyPr>
          <a:lstStyle/>
          <a:p>
            <a:pPr algn="ctr"/>
            <a:r>
              <a:rPr lang="en-GB" sz="1600" dirty="0">
                <a:latin typeface="Consolas"/>
                <a:cs typeface="Consolas"/>
              </a:rPr>
              <a:t>0x2000000B</a:t>
            </a:r>
          </a:p>
        </p:txBody>
      </p:sp>
      <p:sp>
        <p:nvSpPr>
          <p:cNvPr id="82" name="TextBox 81"/>
          <p:cNvSpPr txBox="1"/>
          <p:nvPr/>
        </p:nvSpPr>
        <p:spPr>
          <a:xfrm>
            <a:off x="8269539" y="2258669"/>
            <a:ext cx="1368152" cy="338554"/>
          </a:xfrm>
          <a:prstGeom prst="rect">
            <a:avLst/>
          </a:prstGeom>
          <a:noFill/>
        </p:spPr>
        <p:txBody>
          <a:bodyPr wrap="square" rtlCol="0">
            <a:spAutoFit/>
          </a:bodyPr>
          <a:lstStyle/>
          <a:p>
            <a:pPr algn="ctr"/>
            <a:r>
              <a:rPr lang="en-GB" sz="1600" dirty="0">
                <a:latin typeface="Consolas"/>
                <a:cs typeface="Consolas"/>
              </a:rPr>
              <a:t>0x2000000A</a:t>
            </a:r>
          </a:p>
        </p:txBody>
      </p:sp>
      <p:sp>
        <p:nvSpPr>
          <p:cNvPr id="83" name="TextBox 82"/>
          <p:cNvSpPr txBox="1"/>
          <p:nvPr/>
        </p:nvSpPr>
        <p:spPr>
          <a:xfrm>
            <a:off x="8269539" y="2618709"/>
            <a:ext cx="1368152" cy="338554"/>
          </a:xfrm>
          <a:prstGeom prst="rect">
            <a:avLst/>
          </a:prstGeom>
          <a:noFill/>
        </p:spPr>
        <p:txBody>
          <a:bodyPr wrap="square" rtlCol="0">
            <a:spAutoFit/>
          </a:bodyPr>
          <a:lstStyle/>
          <a:p>
            <a:pPr algn="ctr"/>
            <a:r>
              <a:rPr lang="en-GB" sz="1600" dirty="0">
                <a:latin typeface="Consolas"/>
                <a:cs typeface="Consolas"/>
              </a:rPr>
              <a:t>0x20000009</a:t>
            </a:r>
          </a:p>
        </p:txBody>
      </p:sp>
      <p:sp>
        <p:nvSpPr>
          <p:cNvPr id="84" name="TextBox 83"/>
          <p:cNvSpPr txBox="1"/>
          <p:nvPr/>
        </p:nvSpPr>
        <p:spPr>
          <a:xfrm>
            <a:off x="8269539" y="3338789"/>
            <a:ext cx="1368152" cy="338554"/>
          </a:xfrm>
          <a:prstGeom prst="rect">
            <a:avLst/>
          </a:prstGeom>
          <a:noFill/>
        </p:spPr>
        <p:txBody>
          <a:bodyPr wrap="square" rtlCol="0">
            <a:spAutoFit/>
          </a:bodyPr>
          <a:lstStyle/>
          <a:p>
            <a:pPr algn="ctr"/>
            <a:r>
              <a:rPr lang="en-GB" sz="1600" dirty="0">
                <a:latin typeface="Consolas"/>
                <a:cs typeface="Consolas"/>
              </a:rPr>
              <a:t>0x20000007</a:t>
            </a:r>
          </a:p>
        </p:txBody>
      </p:sp>
      <p:sp>
        <p:nvSpPr>
          <p:cNvPr id="85" name="TextBox 84"/>
          <p:cNvSpPr txBox="1"/>
          <p:nvPr/>
        </p:nvSpPr>
        <p:spPr>
          <a:xfrm>
            <a:off x="8269539" y="5499029"/>
            <a:ext cx="1368152" cy="338554"/>
          </a:xfrm>
          <a:prstGeom prst="rect">
            <a:avLst/>
          </a:prstGeom>
          <a:noFill/>
        </p:spPr>
        <p:txBody>
          <a:bodyPr wrap="square" rtlCol="0">
            <a:spAutoFit/>
          </a:bodyPr>
          <a:lstStyle/>
          <a:p>
            <a:pPr algn="ctr"/>
            <a:r>
              <a:rPr lang="en-GB" sz="1600" dirty="0">
                <a:latin typeface="Consolas"/>
                <a:cs typeface="Consolas"/>
              </a:rPr>
              <a:t>0x20000001</a:t>
            </a:r>
          </a:p>
        </p:txBody>
      </p:sp>
      <p:sp>
        <p:nvSpPr>
          <p:cNvPr id="86" name="TextBox 85"/>
          <p:cNvSpPr txBox="1"/>
          <p:nvPr/>
        </p:nvSpPr>
        <p:spPr>
          <a:xfrm>
            <a:off x="8267530" y="5860979"/>
            <a:ext cx="1368152" cy="338554"/>
          </a:xfrm>
          <a:prstGeom prst="rect">
            <a:avLst/>
          </a:prstGeom>
          <a:noFill/>
        </p:spPr>
        <p:txBody>
          <a:bodyPr wrap="square" rtlCol="0">
            <a:spAutoFit/>
          </a:bodyPr>
          <a:lstStyle/>
          <a:p>
            <a:pPr algn="ctr"/>
            <a:r>
              <a:rPr lang="en-GB" sz="1600" dirty="0">
                <a:solidFill>
                  <a:srgbClr val="0000FF"/>
                </a:solidFill>
                <a:latin typeface="Consolas"/>
                <a:cs typeface="Consolas"/>
              </a:rPr>
              <a:t>0x20000000</a:t>
            </a:r>
          </a:p>
        </p:txBody>
      </p:sp>
      <p:grpSp>
        <p:nvGrpSpPr>
          <p:cNvPr id="87" name="Group 86"/>
          <p:cNvGrpSpPr/>
          <p:nvPr/>
        </p:nvGrpSpPr>
        <p:grpSpPr>
          <a:xfrm>
            <a:off x="9563674" y="1195461"/>
            <a:ext cx="1300882" cy="5025866"/>
            <a:chOff x="8686800" y="1232170"/>
            <a:chExt cx="1300882" cy="5025866"/>
          </a:xfrm>
        </p:grpSpPr>
        <p:sp>
          <p:nvSpPr>
            <p:cNvPr id="88" name="Rectangle 87"/>
            <p:cNvSpPr/>
            <p:nvPr/>
          </p:nvSpPr>
          <p:spPr>
            <a:xfrm>
              <a:off x="8686800" y="40958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89" name="Rectangle 88"/>
            <p:cNvSpPr/>
            <p:nvPr/>
          </p:nvSpPr>
          <p:spPr>
            <a:xfrm>
              <a:off x="8686800" y="44559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90" name="Rectangle 89"/>
            <p:cNvSpPr/>
            <p:nvPr/>
          </p:nvSpPr>
          <p:spPr>
            <a:xfrm>
              <a:off x="8686800" y="30157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91" name="Rectangle 90"/>
            <p:cNvSpPr/>
            <p:nvPr/>
          </p:nvSpPr>
          <p:spPr>
            <a:xfrm>
              <a:off x="8686800" y="48159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0x20</a:t>
              </a:r>
            </a:p>
          </p:txBody>
        </p:sp>
        <p:sp>
          <p:nvSpPr>
            <p:cNvPr id="92" name="Rectangle 91"/>
            <p:cNvSpPr/>
            <p:nvPr/>
          </p:nvSpPr>
          <p:spPr>
            <a:xfrm>
              <a:off x="8686800" y="37358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93" name="Rectangle 92"/>
            <p:cNvSpPr/>
            <p:nvPr/>
          </p:nvSpPr>
          <p:spPr>
            <a:xfrm>
              <a:off x="8686800" y="123217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94" name="Rectangle 93"/>
            <p:cNvSpPr/>
            <p:nvPr/>
          </p:nvSpPr>
          <p:spPr>
            <a:xfrm>
              <a:off x="8686800" y="15922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anose="020B0609020204030204" pitchFamily="49" charset="0"/>
              </a:endParaRPr>
            </a:p>
          </p:txBody>
        </p:sp>
        <p:sp>
          <p:nvSpPr>
            <p:cNvPr id="95" name="Rectangle 94"/>
            <p:cNvSpPr/>
            <p:nvPr/>
          </p:nvSpPr>
          <p:spPr>
            <a:xfrm>
              <a:off x="8686800" y="195225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latin typeface="Consolas" panose="020B0609020204030204" pitchFamily="49" charset="0"/>
                <a:cs typeface="Consolas" panose="020B0609020204030204" pitchFamily="49" charset="0"/>
              </a:endParaRPr>
            </a:p>
          </p:txBody>
        </p:sp>
        <p:sp>
          <p:nvSpPr>
            <p:cNvPr id="96" name="Rectangle 95"/>
            <p:cNvSpPr/>
            <p:nvPr/>
          </p:nvSpPr>
          <p:spPr>
            <a:xfrm>
              <a:off x="8686800" y="22956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rgbClr val="000000"/>
                </a:solidFill>
                <a:latin typeface="Consolas" panose="020B0609020204030204" pitchFamily="49" charset="0"/>
                <a:cs typeface="Consolas" pitchFamily="49" charset="0"/>
              </a:endParaRPr>
            </a:p>
          </p:txBody>
        </p:sp>
        <p:sp>
          <p:nvSpPr>
            <p:cNvPr id="97" name="Rectangle 96"/>
            <p:cNvSpPr/>
            <p:nvPr/>
          </p:nvSpPr>
          <p:spPr>
            <a:xfrm>
              <a:off x="8686800" y="26557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itchFamily="49" charset="0"/>
              </a:endParaRPr>
            </a:p>
          </p:txBody>
        </p:sp>
        <p:sp>
          <p:nvSpPr>
            <p:cNvPr id="98" name="Rectangle 97"/>
            <p:cNvSpPr/>
            <p:nvPr/>
          </p:nvSpPr>
          <p:spPr>
            <a:xfrm>
              <a:off x="8686800" y="55360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sp>
          <p:nvSpPr>
            <p:cNvPr id="99" name="Rectangle 98"/>
            <p:cNvSpPr/>
            <p:nvPr/>
          </p:nvSpPr>
          <p:spPr>
            <a:xfrm>
              <a:off x="8686800" y="337580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100" name="Rectangle 99"/>
            <p:cNvSpPr/>
            <p:nvPr/>
          </p:nvSpPr>
          <p:spPr>
            <a:xfrm>
              <a:off x="8691538" y="589799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0x04</a:t>
              </a:r>
            </a:p>
          </p:txBody>
        </p:sp>
        <p:sp>
          <p:nvSpPr>
            <p:cNvPr id="101" name="Rectangle 100"/>
            <p:cNvSpPr/>
            <p:nvPr/>
          </p:nvSpPr>
          <p:spPr>
            <a:xfrm>
              <a:off x="8687966" y="51721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grpSp>
      <p:sp>
        <p:nvSpPr>
          <p:cNvPr id="102" name="TextBox 101"/>
          <p:cNvSpPr txBox="1"/>
          <p:nvPr/>
        </p:nvSpPr>
        <p:spPr>
          <a:xfrm>
            <a:off x="9561665" y="838200"/>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Content</a:t>
            </a:r>
          </a:p>
        </p:txBody>
      </p:sp>
      <p:sp>
        <p:nvSpPr>
          <p:cNvPr id="103" name="TextBox 102"/>
          <p:cNvSpPr txBox="1"/>
          <p:nvPr/>
        </p:nvSpPr>
        <p:spPr>
          <a:xfrm>
            <a:off x="8355435" y="871945"/>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Address</a:t>
            </a:r>
          </a:p>
        </p:txBody>
      </p:sp>
      <p:sp>
        <p:nvSpPr>
          <p:cNvPr id="104" name="Rectangle 103"/>
          <p:cNvSpPr/>
          <p:nvPr/>
        </p:nvSpPr>
        <p:spPr>
          <a:xfrm>
            <a:off x="7696200" y="5836622"/>
            <a:ext cx="564578" cy="369332"/>
          </a:xfrm>
          <a:prstGeom prst="rect">
            <a:avLst/>
          </a:prstGeom>
        </p:spPr>
        <p:txBody>
          <a:bodyPr wrap="none">
            <a:spAutoFit/>
          </a:bodyPr>
          <a:lstStyle/>
          <a:p>
            <a:r>
              <a:rPr lang="en-GB" dirty="0" err="1">
                <a:solidFill>
                  <a:srgbClr val="0000FF"/>
                </a:solidFill>
                <a:latin typeface="Consolas" panose="020B0609020204030204" pitchFamily="49" charset="0"/>
                <a:cs typeface="Consolas" panose="020B0609020204030204" pitchFamily="49" charset="0"/>
              </a:rPr>
              <a:t>ptr</a:t>
            </a:r>
            <a:endParaRPr lang="en-US" dirty="0">
              <a:solidFill>
                <a:srgbClr val="0000FF"/>
              </a:solidFill>
            </a:endParaRPr>
          </a:p>
        </p:txBody>
      </p:sp>
      <p:cxnSp>
        <p:nvCxnSpPr>
          <p:cNvPr id="105" name="Straight Connector 104"/>
          <p:cNvCxnSpPr/>
          <p:nvPr/>
        </p:nvCxnSpPr>
        <p:spPr>
          <a:xfrm flipV="1">
            <a:off x="7987326" y="4604176"/>
            <a:ext cx="0" cy="129808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a:off x="7974134" y="4609780"/>
            <a:ext cx="403811" cy="0"/>
          </a:xfrm>
          <a:prstGeom prst="line">
            <a:avLst/>
          </a:prstGeom>
          <a:ln w="28575">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a:xfrm>
            <a:off x="10858500" y="4427165"/>
            <a:ext cx="802974" cy="369332"/>
          </a:xfrm>
          <a:prstGeom prst="rect">
            <a:avLst/>
          </a:prstGeom>
          <a:noFill/>
        </p:spPr>
        <p:txBody>
          <a:bodyPr wrap="square" rtlCol="0">
            <a:spAutoFit/>
          </a:bodyPr>
          <a:lstStyle/>
          <a:p>
            <a:r>
              <a:rPr lang="en-GB" dirty="0">
                <a:solidFill>
                  <a:srgbClr val="FF00FF"/>
                </a:solidFill>
                <a:latin typeface="Consolas"/>
                <a:cs typeface="Consolas"/>
              </a:rPr>
              <a:t>a[0]</a:t>
            </a:r>
          </a:p>
        </p:txBody>
      </p:sp>
      <p:sp>
        <p:nvSpPr>
          <p:cNvPr id="109" name="TextBox 108"/>
          <p:cNvSpPr txBox="1"/>
          <p:nvPr/>
        </p:nvSpPr>
        <p:spPr>
          <a:xfrm>
            <a:off x="10858500" y="2987005"/>
            <a:ext cx="802974" cy="369332"/>
          </a:xfrm>
          <a:prstGeom prst="rect">
            <a:avLst/>
          </a:prstGeom>
          <a:noFill/>
        </p:spPr>
        <p:txBody>
          <a:bodyPr wrap="square" rtlCol="0">
            <a:spAutoFit/>
          </a:bodyPr>
          <a:lstStyle/>
          <a:p>
            <a:r>
              <a:rPr lang="en-GB" dirty="0">
                <a:solidFill>
                  <a:srgbClr val="FF00FF"/>
                </a:solidFill>
                <a:latin typeface="Consolas"/>
                <a:cs typeface="Consolas"/>
              </a:rPr>
              <a:t>a[1]</a:t>
            </a:r>
          </a:p>
        </p:txBody>
      </p:sp>
      <p:sp>
        <p:nvSpPr>
          <p:cNvPr id="46" name="TextBox 45"/>
          <p:cNvSpPr txBox="1"/>
          <p:nvPr/>
        </p:nvSpPr>
        <p:spPr>
          <a:xfrm>
            <a:off x="10858500" y="1522348"/>
            <a:ext cx="802974" cy="369332"/>
          </a:xfrm>
          <a:prstGeom prst="rect">
            <a:avLst/>
          </a:prstGeom>
          <a:noFill/>
        </p:spPr>
        <p:txBody>
          <a:bodyPr wrap="square" rtlCol="0">
            <a:spAutoFit/>
          </a:bodyPr>
          <a:lstStyle/>
          <a:p>
            <a:r>
              <a:rPr lang="en-GB" dirty="0">
                <a:solidFill>
                  <a:srgbClr val="FF00FF"/>
                </a:solidFill>
                <a:latin typeface="Consolas"/>
                <a:cs typeface="Consolas"/>
              </a:rPr>
              <a:t>a[2]</a:t>
            </a:r>
          </a:p>
        </p:txBody>
      </p:sp>
      <p:sp>
        <p:nvSpPr>
          <p:cNvPr id="43" name="Content Placeholder 3"/>
          <p:cNvSpPr txBox="1">
            <a:spLocks/>
          </p:cNvSpPr>
          <p:nvPr/>
        </p:nvSpPr>
        <p:spPr>
          <a:xfrm>
            <a:off x="609600" y="1219199"/>
            <a:ext cx="6096000" cy="2458143"/>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400" dirty="0" err="1"/>
              <a:t>ptr</a:t>
            </a:r>
            <a:r>
              <a:rPr lang="en-US" sz="2400" dirty="0"/>
              <a:t> is pointer, and stored at </a:t>
            </a:r>
            <a:r>
              <a:rPr lang="en-US" sz="2400" dirty="0">
                <a:latin typeface="Consolas" panose="020B0609020204030204" pitchFamily="49" charset="0"/>
                <a:cs typeface="Consolas" panose="020B0609020204030204" pitchFamily="49" charset="0"/>
              </a:rPr>
              <a:t>0x20000000</a:t>
            </a:r>
            <a:r>
              <a:rPr lang="en-US" sz="2400" dirty="0"/>
              <a:t> </a:t>
            </a:r>
          </a:p>
          <a:p>
            <a:r>
              <a:rPr lang="en-US" sz="2400" dirty="0" err="1">
                <a:latin typeface="Consolas" panose="020B0609020204030204" pitchFamily="49" charset="0"/>
                <a:cs typeface="Consolas" panose="020B0609020204030204" pitchFamily="49" charset="0"/>
              </a:rPr>
              <a:t>ptr</a:t>
            </a:r>
            <a:r>
              <a:rPr lang="en-US" sz="2400" dirty="0">
                <a:latin typeface="Consolas" panose="020B0609020204030204" pitchFamily="49" charset="0"/>
                <a:cs typeface="Consolas" panose="020B0609020204030204" pitchFamily="49" charset="0"/>
              </a:rPr>
              <a:t> =</a:t>
            </a:r>
            <a:r>
              <a:rPr lang="en-US" sz="2400" dirty="0"/>
              <a:t> </a:t>
            </a:r>
            <a:r>
              <a:rPr lang="en-US" sz="2400" dirty="0">
                <a:latin typeface="Consolas" panose="020B0609020204030204" pitchFamily="49" charset="0"/>
              </a:rPr>
              <a:t>0x20000004</a:t>
            </a:r>
            <a:endParaRPr lang="en-US" sz="2400" dirty="0"/>
          </a:p>
          <a:p>
            <a:r>
              <a:rPr lang="en-US" sz="2400" dirty="0"/>
              <a:t>What happens if: </a:t>
            </a:r>
          </a:p>
          <a:p>
            <a:pPr marL="0" indent="0">
              <a:buNone/>
            </a:pPr>
            <a:r>
              <a:rPr lang="en-US" sz="2400" dirty="0">
                <a:solidFill>
                  <a:srgbClr val="C00000"/>
                </a:solidFill>
                <a:latin typeface="Consolas" panose="020B0609020204030204" pitchFamily="49" charset="0"/>
                <a:cs typeface="Consolas" panose="020B0609020204030204" pitchFamily="49" charset="0"/>
              </a:rPr>
              <a:t>     </a:t>
            </a:r>
            <a:r>
              <a:rPr lang="en-US" sz="2400" dirty="0" err="1">
                <a:solidFill>
                  <a:srgbClr val="C00000"/>
                </a:solidFill>
                <a:latin typeface="Consolas" panose="020B0609020204030204" pitchFamily="49" charset="0"/>
                <a:cs typeface="Consolas" panose="020B0609020204030204" pitchFamily="49" charset="0"/>
              </a:rPr>
              <a:t>ptr</a:t>
            </a:r>
            <a:r>
              <a:rPr lang="en-US" sz="2400" dirty="0">
                <a:solidFill>
                  <a:srgbClr val="C00000"/>
                </a:solidFill>
                <a:latin typeface="Consolas" panose="020B0609020204030204" pitchFamily="49" charset="0"/>
                <a:cs typeface="Consolas" panose="020B0609020204030204" pitchFamily="49" charset="0"/>
              </a:rPr>
              <a:t>++;</a:t>
            </a:r>
            <a:endParaRPr lang="en-US" sz="2400" dirty="0">
              <a:latin typeface="Consolas" panose="020B0609020204030204" pitchFamily="49" charset="0"/>
              <a:cs typeface="Consolas" panose="020B0609020204030204" pitchFamily="49" charset="0"/>
            </a:endParaRPr>
          </a:p>
          <a:p>
            <a:r>
              <a:rPr lang="en-US" sz="2400" dirty="0"/>
              <a:t>Is it true? </a:t>
            </a:r>
            <a:r>
              <a:rPr lang="en-US" sz="2400" dirty="0" err="1">
                <a:solidFill>
                  <a:srgbClr val="C00000"/>
                </a:solidFill>
                <a:latin typeface="Consolas" panose="020B0609020204030204" pitchFamily="49" charset="0"/>
                <a:cs typeface="Consolas" panose="020B0609020204030204" pitchFamily="49" charset="0"/>
              </a:rPr>
              <a:t>ptr</a:t>
            </a:r>
            <a:r>
              <a:rPr lang="en-US" sz="2400" dirty="0">
                <a:solidFill>
                  <a:srgbClr val="C00000"/>
                </a:solidFill>
                <a:latin typeface="Consolas" panose="020B0609020204030204" pitchFamily="49" charset="0"/>
                <a:cs typeface="Consolas" panose="020B0609020204030204" pitchFamily="49" charset="0"/>
              </a:rPr>
              <a:t> =</a:t>
            </a:r>
            <a:r>
              <a:rPr lang="en-US" sz="2400" dirty="0"/>
              <a:t> </a:t>
            </a:r>
            <a:r>
              <a:rPr lang="en-US" sz="2400" dirty="0">
                <a:solidFill>
                  <a:srgbClr val="C00000"/>
                </a:solidFill>
                <a:latin typeface="Consolas" panose="020B0609020204030204" pitchFamily="49" charset="0"/>
              </a:rPr>
              <a:t>0x20000005</a:t>
            </a:r>
          </a:p>
        </p:txBody>
      </p:sp>
    </p:spTree>
    <p:extLst>
      <p:ext uri="{BB962C8B-B14F-4D97-AF65-F5344CB8AC3E}">
        <p14:creationId xmlns:p14="http://schemas.microsoft.com/office/powerpoint/2010/main" val="4096178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Pointer Arithmetic</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sp>
        <p:nvSpPr>
          <p:cNvPr id="73" name="TextBox 72"/>
          <p:cNvSpPr txBox="1"/>
          <p:nvPr/>
        </p:nvSpPr>
        <p:spPr>
          <a:xfrm>
            <a:off x="8269539" y="4058869"/>
            <a:ext cx="1368152" cy="338554"/>
          </a:xfrm>
          <a:prstGeom prst="rect">
            <a:avLst/>
          </a:prstGeom>
          <a:noFill/>
        </p:spPr>
        <p:txBody>
          <a:bodyPr wrap="square" rtlCol="0">
            <a:spAutoFit/>
          </a:bodyPr>
          <a:lstStyle/>
          <a:p>
            <a:pPr algn="ctr"/>
            <a:r>
              <a:rPr lang="en-GB" sz="1600" dirty="0">
                <a:latin typeface="Consolas"/>
                <a:cs typeface="Consolas"/>
              </a:rPr>
              <a:t>0x20000005</a:t>
            </a:r>
          </a:p>
        </p:txBody>
      </p:sp>
      <p:sp>
        <p:nvSpPr>
          <p:cNvPr id="74" name="TextBox 73"/>
          <p:cNvSpPr txBox="1"/>
          <p:nvPr/>
        </p:nvSpPr>
        <p:spPr>
          <a:xfrm>
            <a:off x="8269539" y="4418909"/>
            <a:ext cx="1368152" cy="338554"/>
          </a:xfrm>
          <a:prstGeom prst="rect">
            <a:avLst/>
          </a:prstGeom>
          <a:noFill/>
        </p:spPr>
        <p:txBody>
          <a:bodyPr wrap="square" rtlCol="0">
            <a:spAutoFit/>
          </a:bodyPr>
          <a:lstStyle/>
          <a:p>
            <a:pPr algn="ctr"/>
            <a:r>
              <a:rPr lang="en-GB" sz="1600" dirty="0">
                <a:solidFill>
                  <a:srgbClr val="C00000"/>
                </a:solidFill>
                <a:latin typeface="Consolas"/>
                <a:cs typeface="Consolas"/>
              </a:rPr>
              <a:t>0x20000004</a:t>
            </a:r>
          </a:p>
        </p:txBody>
      </p:sp>
      <p:sp>
        <p:nvSpPr>
          <p:cNvPr id="75" name="TextBox 74"/>
          <p:cNvSpPr txBox="1"/>
          <p:nvPr/>
        </p:nvSpPr>
        <p:spPr>
          <a:xfrm>
            <a:off x="8269539" y="2978749"/>
            <a:ext cx="1368152" cy="338554"/>
          </a:xfrm>
          <a:prstGeom prst="rect">
            <a:avLst/>
          </a:prstGeom>
          <a:noFill/>
        </p:spPr>
        <p:txBody>
          <a:bodyPr wrap="square" rtlCol="0">
            <a:spAutoFit/>
          </a:bodyPr>
          <a:lstStyle/>
          <a:p>
            <a:pPr algn="ctr"/>
            <a:r>
              <a:rPr lang="en-GB" sz="1600" dirty="0">
                <a:solidFill>
                  <a:srgbClr val="C00000"/>
                </a:solidFill>
                <a:latin typeface="Consolas"/>
                <a:cs typeface="Consolas"/>
              </a:rPr>
              <a:t>0x20000008</a:t>
            </a:r>
          </a:p>
        </p:txBody>
      </p:sp>
      <p:sp>
        <p:nvSpPr>
          <p:cNvPr id="76" name="TextBox 75"/>
          <p:cNvSpPr txBox="1"/>
          <p:nvPr/>
        </p:nvSpPr>
        <p:spPr>
          <a:xfrm>
            <a:off x="8269539" y="3698829"/>
            <a:ext cx="1368152" cy="338554"/>
          </a:xfrm>
          <a:prstGeom prst="rect">
            <a:avLst/>
          </a:prstGeom>
          <a:noFill/>
        </p:spPr>
        <p:txBody>
          <a:bodyPr wrap="square" rtlCol="0">
            <a:spAutoFit/>
          </a:bodyPr>
          <a:lstStyle/>
          <a:p>
            <a:pPr algn="ctr"/>
            <a:r>
              <a:rPr lang="en-GB" sz="1600" dirty="0">
                <a:latin typeface="Consolas"/>
                <a:cs typeface="Consolas"/>
              </a:rPr>
              <a:t>0x20000006</a:t>
            </a:r>
          </a:p>
        </p:txBody>
      </p:sp>
      <p:sp>
        <p:nvSpPr>
          <p:cNvPr id="77" name="TextBox 76"/>
          <p:cNvSpPr txBox="1"/>
          <p:nvPr/>
        </p:nvSpPr>
        <p:spPr>
          <a:xfrm>
            <a:off x="8269539" y="4778949"/>
            <a:ext cx="1368152" cy="338554"/>
          </a:xfrm>
          <a:prstGeom prst="rect">
            <a:avLst/>
          </a:prstGeom>
          <a:noFill/>
        </p:spPr>
        <p:txBody>
          <a:bodyPr wrap="square" rtlCol="0">
            <a:spAutoFit/>
          </a:bodyPr>
          <a:lstStyle/>
          <a:p>
            <a:pPr algn="ctr"/>
            <a:r>
              <a:rPr lang="en-GB" sz="1600" dirty="0">
                <a:latin typeface="Consolas"/>
                <a:cs typeface="Consolas"/>
              </a:rPr>
              <a:t>0x20000003</a:t>
            </a:r>
          </a:p>
        </p:txBody>
      </p:sp>
      <p:sp>
        <p:nvSpPr>
          <p:cNvPr id="78" name="TextBox 77"/>
          <p:cNvSpPr txBox="1"/>
          <p:nvPr/>
        </p:nvSpPr>
        <p:spPr>
          <a:xfrm>
            <a:off x="8269539" y="5138989"/>
            <a:ext cx="1368152" cy="338554"/>
          </a:xfrm>
          <a:prstGeom prst="rect">
            <a:avLst/>
          </a:prstGeom>
          <a:noFill/>
        </p:spPr>
        <p:txBody>
          <a:bodyPr wrap="square" rtlCol="0">
            <a:spAutoFit/>
          </a:bodyPr>
          <a:lstStyle/>
          <a:p>
            <a:pPr algn="ctr"/>
            <a:r>
              <a:rPr lang="en-GB" sz="1600" dirty="0">
                <a:latin typeface="Consolas"/>
                <a:cs typeface="Consolas"/>
              </a:rPr>
              <a:t>0x20000002</a:t>
            </a:r>
          </a:p>
        </p:txBody>
      </p:sp>
      <p:sp>
        <p:nvSpPr>
          <p:cNvPr id="79" name="TextBox 78"/>
          <p:cNvSpPr txBox="1"/>
          <p:nvPr/>
        </p:nvSpPr>
        <p:spPr>
          <a:xfrm>
            <a:off x="8269539" y="1195153"/>
            <a:ext cx="1368152" cy="338554"/>
          </a:xfrm>
          <a:prstGeom prst="rect">
            <a:avLst/>
          </a:prstGeom>
          <a:noFill/>
        </p:spPr>
        <p:txBody>
          <a:bodyPr wrap="square" rtlCol="0">
            <a:spAutoFit/>
          </a:bodyPr>
          <a:lstStyle/>
          <a:p>
            <a:pPr algn="ctr"/>
            <a:r>
              <a:rPr lang="en-GB" sz="1600" dirty="0">
                <a:latin typeface="Consolas"/>
                <a:cs typeface="Consolas"/>
              </a:rPr>
              <a:t>0x2000000D</a:t>
            </a:r>
          </a:p>
        </p:txBody>
      </p:sp>
      <p:sp>
        <p:nvSpPr>
          <p:cNvPr id="80" name="TextBox 79"/>
          <p:cNvSpPr txBox="1"/>
          <p:nvPr/>
        </p:nvSpPr>
        <p:spPr>
          <a:xfrm>
            <a:off x="8269539" y="1555193"/>
            <a:ext cx="1368152" cy="338554"/>
          </a:xfrm>
          <a:prstGeom prst="rect">
            <a:avLst/>
          </a:prstGeom>
          <a:noFill/>
        </p:spPr>
        <p:txBody>
          <a:bodyPr wrap="square" rtlCol="0">
            <a:spAutoFit/>
          </a:bodyPr>
          <a:lstStyle/>
          <a:p>
            <a:pPr algn="ctr"/>
            <a:r>
              <a:rPr lang="en-GB" sz="1600" dirty="0">
                <a:latin typeface="Consolas"/>
                <a:cs typeface="Consolas"/>
              </a:rPr>
              <a:t>0x2000000C</a:t>
            </a:r>
          </a:p>
        </p:txBody>
      </p:sp>
      <p:sp>
        <p:nvSpPr>
          <p:cNvPr id="81" name="TextBox 80"/>
          <p:cNvSpPr txBox="1"/>
          <p:nvPr/>
        </p:nvSpPr>
        <p:spPr>
          <a:xfrm>
            <a:off x="8269539" y="1915233"/>
            <a:ext cx="1368152" cy="338554"/>
          </a:xfrm>
          <a:prstGeom prst="rect">
            <a:avLst/>
          </a:prstGeom>
          <a:noFill/>
        </p:spPr>
        <p:txBody>
          <a:bodyPr wrap="square" rtlCol="0">
            <a:spAutoFit/>
          </a:bodyPr>
          <a:lstStyle/>
          <a:p>
            <a:pPr algn="ctr"/>
            <a:r>
              <a:rPr lang="en-GB" sz="1600" dirty="0">
                <a:latin typeface="Consolas"/>
                <a:cs typeface="Consolas"/>
              </a:rPr>
              <a:t>0x2000000B</a:t>
            </a:r>
          </a:p>
        </p:txBody>
      </p:sp>
      <p:sp>
        <p:nvSpPr>
          <p:cNvPr id="82" name="TextBox 81"/>
          <p:cNvSpPr txBox="1"/>
          <p:nvPr/>
        </p:nvSpPr>
        <p:spPr>
          <a:xfrm>
            <a:off x="8269539" y="2258669"/>
            <a:ext cx="1368152" cy="338554"/>
          </a:xfrm>
          <a:prstGeom prst="rect">
            <a:avLst/>
          </a:prstGeom>
          <a:noFill/>
        </p:spPr>
        <p:txBody>
          <a:bodyPr wrap="square" rtlCol="0">
            <a:spAutoFit/>
          </a:bodyPr>
          <a:lstStyle/>
          <a:p>
            <a:pPr algn="ctr"/>
            <a:r>
              <a:rPr lang="en-GB" sz="1600" dirty="0">
                <a:latin typeface="Consolas"/>
                <a:cs typeface="Consolas"/>
              </a:rPr>
              <a:t>0x2000000A</a:t>
            </a:r>
          </a:p>
        </p:txBody>
      </p:sp>
      <p:sp>
        <p:nvSpPr>
          <p:cNvPr id="83" name="TextBox 82"/>
          <p:cNvSpPr txBox="1"/>
          <p:nvPr/>
        </p:nvSpPr>
        <p:spPr>
          <a:xfrm>
            <a:off x="8269539" y="2618709"/>
            <a:ext cx="1368152" cy="338554"/>
          </a:xfrm>
          <a:prstGeom prst="rect">
            <a:avLst/>
          </a:prstGeom>
          <a:noFill/>
        </p:spPr>
        <p:txBody>
          <a:bodyPr wrap="square" rtlCol="0">
            <a:spAutoFit/>
          </a:bodyPr>
          <a:lstStyle/>
          <a:p>
            <a:pPr algn="ctr"/>
            <a:r>
              <a:rPr lang="en-GB" sz="1600" dirty="0">
                <a:latin typeface="Consolas"/>
                <a:cs typeface="Consolas"/>
              </a:rPr>
              <a:t>0x20000009</a:t>
            </a:r>
          </a:p>
        </p:txBody>
      </p:sp>
      <p:sp>
        <p:nvSpPr>
          <p:cNvPr id="84" name="TextBox 83"/>
          <p:cNvSpPr txBox="1"/>
          <p:nvPr/>
        </p:nvSpPr>
        <p:spPr>
          <a:xfrm>
            <a:off x="8269539" y="3338789"/>
            <a:ext cx="1368152" cy="338554"/>
          </a:xfrm>
          <a:prstGeom prst="rect">
            <a:avLst/>
          </a:prstGeom>
          <a:noFill/>
        </p:spPr>
        <p:txBody>
          <a:bodyPr wrap="square" rtlCol="0">
            <a:spAutoFit/>
          </a:bodyPr>
          <a:lstStyle/>
          <a:p>
            <a:pPr algn="ctr"/>
            <a:r>
              <a:rPr lang="en-GB" sz="1600" dirty="0">
                <a:latin typeface="Consolas"/>
                <a:cs typeface="Consolas"/>
              </a:rPr>
              <a:t>0x20000007</a:t>
            </a:r>
          </a:p>
        </p:txBody>
      </p:sp>
      <p:sp>
        <p:nvSpPr>
          <p:cNvPr id="85" name="TextBox 84"/>
          <p:cNvSpPr txBox="1"/>
          <p:nvPr/>
        </p:nvSpPr>
        <p:spPr>
          <a:xfrm>
            <a:off x="8269539" y="5499029"/>
            <a:ext cx="1368152" cy="338554"/>
          </a:xfrm>
          <a:prstGeom prst="rect">
            <a:avLst/>
          </a:prstGeom>
          <a:noFill/>
        </p:spPr>
        <p:txBody>
          <a:bodyPr wrap="square" rtlCol="0">
            <a:spAutoFit/>
          </a:bodyPr>
          <a:lstStyle/>
          <a:p>
            <a:pPr algn="ctr"/>
            <a:r>
              <a:rPr lang="en-GB" sz="1600" dirty="0">
                <a:latin typeface="Consolas"/>
                <a:cs typeface="Consolas"/>
              </a:rPr>
              <a:t>0x20000001</a:t>
            </a:r>
          </a:p>
        </p:txBody>
      </p:sp>
      <p:sp>
        <p:nvSpPr>
          <p:cNvPr id="86" name="TextBox 85"/>
          <p:cNvSpPr txBox="1"/>
          <p:nvPr/>
        </p:nvSpPr>
        <p:spPr>
          <a:xfrm>
            <a:off x="8267530" y="5860979"/>
            <a:ext cx="1368152" cy="338554"/>
          </a:xfrm>
          <a:prstGeom prst="rect">
            <a:avLst/>
          </a:prstGeom>
          <a:noFill/>
        </p:spPr>
        <p:txBody>
          <a:bodyPr wrap="square" rtlCol="0">
            <a:spAutoFit/>
          </a:bodyPr>
          <a:lstStyle/>
          <a:p>
            <a:pPr algn="ctr"/>
            <a:r>
              <a:rPr lang="en-GB" sz="1600" dirty="0">
                <a:solidFill>
                  <a:srgbClr val="0000FF"/>
                </a:solidFill>
                <a:latin typeface="Consolas"/>
                <a:cs typeface="Consolas"/>
              </a:rPr>
              <a:t>0x20000000</a:t>
            </a:r>
          </a:p>
        </p:txBody>
      </p:sp>
      <p:grpSp>
        <p:nvGrpSpPr>
          <p:cNvPr id="87" name="Group 86"/>
          <p:cNvGrpSpPr/>
          <p:nvPr/>
        </p:nvGrpSpPr>
        <p:grpSpPr>
          <a:xfrm>
            <a:off x="9563674" y="1195461"/>
            <a:ext cx="1300882" cy="5025866"/>
            <a:chOff x="8686800" y="1232170"/>
            <a:chExt cx="1300882" cy="5025866"/>
          </a:xfrm>
        </p:grpSpPr>
        <p:sp>
          <p:nvSpPr>
            <p:cNvPr id="88" name="Rectangle 87"/>
            <p:cNvSpPr/>
            <p:nvPr/>
          </p:nvSpPr>
          <p:spPr>
            <a:xfrm>
              <a:off x="8686800" y="40958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89" name="Rectangle 88"/>
            <p:cNvSpPr/>
            <p:nvPr/>
          </p:nvSpPr>
          <p:spPr>
            <a:xfrm>
              <a:off x="8686800" y="44559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90" name="Rectangle 89"/>
            <p:cNvSpPr/>
            <p:nvPr/>
          </p:nvSpPr>
          <p:spPr>
            <a:xfrm>
              <a:off x="8686800" y="30157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91" name="Rectangle 90"/>
            <p:cNvSpPr/>
            <p:nvPr/>
          </p:nvSpPr>
          <p:spPr>
            <a:xfrm>
              <a:off x="8686800" y="48159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0x20</a:t>
              </a:r>
            </a:p>
          </p:txBody>
        </p:sp>
        <p:sp>
          <p:nvSpPr>
            <p:cNvPr id="92" name="Rectangle 91"/>
            <p:cNvSpPr/>
            <p:nvPr/>
          </p:nvSpPr>
          <p:spPr>
            <a:xfrm>
              <a:off x="8686800" y="37358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93" name="Rectangle 92"/>
            <p:cNvSpPr/>
            <p:nvPr/>
          </p:nvSpPr>
          <p:spPr>
            <a:xfrm>
              <a:off x="8686800" y="123217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94" name="Rectangle 93"/>
            <p:cNvSpPr/>
            <p:nvPr/>
          </p:nvSpPr>
          <p:spPr>
            <a:xfrm>
              <a:off x="8686800" y="15922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anose="020B0609020204030204" pitchFamily="49" charset="0"/>
              </a:endParaRPr>
            </a:p>
          </p:txBody>
        </p:sp>
        <p:sp>
          <p:nvSpPr>
            <p:cNvPr id="95" name="Rectangle 94"/>
            <p:cNvSpPr/>
            <p:nvPr/>
          </p:nvSpPr>
          <p:spPr>
            <a:xfrm>
              <a:off x="8686800" y="195225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latin typeface="Consolas" panose="020B0609020204030204" pitchFamily="49" charset="0"/>
                <a:cs typeface="Consolas" panose="020B0609020204030204" pitchFamily="49" charset="0"/>
              </a:endParaRPr>
            </a:p>
          </p:txBody>
        </p:sp>
        <p:sp>
          <p:nvSpPr>
            <p:cNvPr id="96" name="Rectangle 95"/>
            <p:cNvSpPr/>
            <p:nvPr/>
          </p:nvSpPr>
          <p:spPr>
            <a:xfrm>
              <a:off x="8686800" y="22956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rgbClr val="000000"/>
                </a:solidFill>
                <a:latin typeface="Consolas" panose="020B0609020204030204" pitchFamily="49" charset="0"/>
                <a:cs typeface="Consolas" pitchFamily="49" charset="0"/>
              </a:endParaRPr>
            </a:p>
          </p:txBody>
        </p:sp>
        <p:sp>
          <p:nvSpPr>
            <p:cNvPr id="97" name="Rectangle 96"/>
            <p:cNvSpPr/>
            <p:nvPr/>
          </p:nvSpPr>
          <p:spPr>
            <a:xfrm>
              <a:off x="8686800" y="26557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itchFamily="49" charset="0"/>
              </a:endParaRPr>
            </a:p>
          </p:txBody>
        </p:sp>
        <p:sp>
          <p:nvSpPr>
            <p:cNvPr id="98" name="Rectangle 97"/>
            <p:cNvSpPr/>
            <p:nvPr/>
          </p:nvSpPr>
          <p:spPr>
            <a:xfrm>
              <a:off x="8686800" y="55360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sp>
          <p:nvSpPr>
            <p:cNvPr id="99" name="Rectangle 98"/>
            <p:cNvSpPr/>
            <p:nvPr/>
          </p:nvSpPr>
          <p:spPr>
            <a:xfrm>
              <a:off x="8686800" y="337580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100" name="Rectangle 99"/>
            <p:cNvSpPr/>
            <p:nvPr/>
          </p:nvSpPr>
          <p:spPr>
            <a:xfrm>
              <a:off x="8691538" y="589799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0x08</a:t>
              </a:r>
            </a:p>
          </p:txBody>
        </p:sp>
        <p:sp>
          <p:nvSpPr>
            <p:cNvPr id="101" name="Rectangle 100"/>
            <p:cNvSpPr/>
            <p:nvPr/>
          </p:nvSpPr>
          <p:spPr>
            <a:xfrm>
              <a:off x="8687966" y="51721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grpSp>
      <p:sp>
        <p:nvSpPr>
          <p:cNvPr id="102" name="TextBox 101"/>
          <p:cNvSpPr txBox="1"/>
          <p:nvPr/>
        </p:nvSpPr>
        <p:spPr>
          <a:xfrm>
            <a:off x="9561665" y="838200"/>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Content</a:t>
            </a:r>
          </a:p>
        </p:txBody>
      </p:sp>
      <p:sp>
        <p:nvSpPr>
          <p:cNvPr id="103" name="TextBox 102"/>
          <p:cNvSpPr txBox="1"/>
          <p:nvPr/>
        </p:nvSpPr>
        <p:spPr>
          <a:xfrm>
            <a:off x="8355435" y="871945"/>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Address</a:t>
            </a:r>
          </a:p>
        </p:txBody>
      </p:sp>
      <p:sp>
        <p:nvSpPr>
          <p:cNvPr id="104" name="Rectangle 103"/>
          <p:cNvSpPr/>
          <p:nvPr/>
        </p:nvSpPr>
        <p:spPr>
          <a:xfrm>
            <a:off x="7696200" y="5836622"/>
            <a:ext cx="564578" cy="369332"/>
          </a:xfrm>
          <a:prstGeom prst="rect">
            <a:avLst/>
          </a:prstGeom>
        </p:spPr>
        <p:txBody>
          <a:bodyPr wrap="none">
            <a:spAutoFit/>
          </a:bodyPr>
          <a:lstStyle/>
          <a:p>
            <a:r>
              <a:rPr lang="en-GB" dirty="0" err="1">
                <a:solidFill>
                  <a:srgbClr val="0000FF"/>
                </a:solidFill>
                <a:latin typeface="Consolas" panose="020B0609020204030204" pitchFamily="49" charset="0"/>
                <a:cs typeface="Consolas" panose="020B0609020204030204" pitchFamily="49" charset="0"/>
              </a:rPr>
              <a:t>ptr</a:t>
            </a:r>
            <a:endParaRPr lang="en-US" dirty="0">
              <a:solidFill>
                <a:srgbClr val="0000FF"/>
              </a:solidFill>
            </a:endParaRPr>
          </a:p>
        </p:txBody>
      </p:sp>
      <p:cxnSp>
        <p:nvCxnSpPr>
          <p:cNvPr id="105" name="Straight Connector 104"/>
          <p:cNvCxnSpPr/>
          <p:nvPr/>
        </p:nvCxnSpPr>
        <p:spPr>
          <a:xfrm flipH="1" flipV="1">
            <a:off x="7974134" y="3155495"/>
            <a:ext cx="13192" cy="2746764"/>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a:off x="7974134" y="4609780"/>
            <a:ext cx="403811" cy="0"/>
          </a:xfrm>
          <a:prstGeom prst="line">
            <a:avLst/>
          </a:prstGeom>
          <a:ln w="28575">
            <a:solidFill>
              <a:srgbClr val="0000FF"/>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a:xfrm>
            <a:off x="10858500" y="4427165"/>
            <a:ext cx="802974" cy="369332"/>
          </a:xfrm>
          <a:prstGeom prst="rect">
            <a:avLst/>
          </a:prstGeom>
          <a:noFill/>
        </p:spPr>
        <p:txBody>
          <a:bodyPr wrap="square" rtlCol="0">
            <a:spAutoFit/>
          </a:bodyPr>
          <a:lstStyle/>
          <a:p>
            <a:r>
              <a:rPr lang="en-GB" dirty="0">
                <a:solidFill>
                  <a:srgbClr val="FF00FF"/>
                </a:solidFill>
                <a:latin typeface="Consolas"/>
                <a:cs typeface="Consolas"/>
              </a:rPr>
              <a:t>a[0]</a:t>
            </a:r>
          </a:p>
        </p:txBody>
      </p:sp>
      <p:sp>
        <p:nvSpPr>
          <p:cNvPr id="109" name="TextBox 108"/>
          <p:cNvSpPr txBox="1"/>
          <p:nvPr/>
        </p:nvSpPr>
        <p:spPr>
          <a:xfrm>
            <a:off x="10858500" y="2987005"/>
            <a:ext cx="802974" cy="369332"/>
          </a:xfrm>
          <a:prstGeom prst="rect">
            <a:avLst/>
          </a:prstGeom>
          <a:noFill/>
        </p:spPr>
        <p:txBody>
          <a:bodyPr wrap="square" rtlCol="0">
            <a:spAutoFit/>
          </a:bodyPr>
          <a:lstStyle/>
          <a:p>
            <a:r>
              <a:rPr lang="en-GB" dirty="0">
                <a:solidFill>
                  <a:srgbClr val="FF00FF"/>
                </a:solidFill>
                <a:latin typeface="Consolas"/>
                <a:cs typeface="Consolas"/>
              </a:rPr>
              <a:t>a[1]</a:t>
            </a:r>
          </a:p>
        </p:txBody>
      </p:sp>
      <p:sp>
        <p:nvSpPr>
          <p:cNvPr id="46" name="TextBox 45"/>
          <p:cNvSpPr txBox="1"/>
          <p:nvPr/>
        </p:nvSpPr>
        <p:spPr>
          <a:xfrm>
            <a:off x="10858500" y="1522348"/>
            <a:ext cx="802974" cy="369332"/>
          </a:xfrm>
          <a:prstGeom prst="rect">
            <a:avLst/>
          </a:prstGeom>
          <a:noFill/>
        </p:spPr>
        <p:txBody>
          <a:bodyPr wrap="square" rtlCol="0">
            <a:spAutoFit/>
          </a:bodyPr>
          <a:lstStyle/>
          <a:p>
            <a:r>
              <a:rPr lang="en-GB" dirty="0">
                <a:solidFill>
                  <a:srgbClr val="FF00FF"/>
                </a:solidFill>
                <a:latin typeface="Consolas"/>
                <a:cs typeface="Consolas"/>
              </a:rPr>
              <a:t>a[2]</a:t>
            </a:r>
          </a:p>
        </p:txBody>
      </p:sp>
      <p:cxnSp>
        <p:nvCxnSpPr>
          <p:cNvPr id="43" name="Straight Connector 42"/>
          <p:cNvCxnSpPr/>
          <p:nvPr/>
        </p:nvCxnSpPr>
        <p:spPr>
          <a:xfrm>
            <a:off x="7975145" y="3155495"/>
            <a:ext cx="403811" cy="0"/>
          </a:xfrm>
          <a:prstGeom prst="line">
            <a:avLst/>
          </a:prstGeom>
          <a:ln w="28575">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4763367" y="4397423"/>
            <a:ext cx="3097323" cy="369332"/>
          </a:xfrm>
          <a:prstGeom prst="rect">
            <a:avLst/>
          </a:prstGeom>
          <a:noFill/>
        </p:spPr>
        <p:txBody>
          <a:bodyPr wrap="none" rtlCol="0">
            <a:spAutoFit/>
          </a:bodyPr>
          <a:lstStyle/>
          <a:p>
            <a:r>
              <a:rPr lang="en-US" dirty="0" err="1">
                <a:solidFill>
                  <a:srgbClr val="FF00FF"/>
                </a:solidFill>
                <a:latin typeface="Consolas" panose="020B0609020204030204" pitchFamily="49" charset="0"/>
                <a:cs typeface="Consolas" panose="020B0609020204030204" pitchFamily="49" charset="0"/>
              </a:rPr>
              <a:t>ptr</a:t>
            </a:r>
            <a:r>
              <a:rPr lang="en-US" dirty="0">
                <a:solidFill>
                  <a:srgbClr val="FF00FF"/>
                </a:solidFill>
                <a:latin typeface="Consolas" panose="020B0609020204030204" pitchFamily="49" charset="0"/>
                <a:cs typeface="Consolas" panose="020B0609020204030204" pitchFamily="49" charset="0"/>
              </a:rPr>
              <a:t> = </a:t>
            </a:r>
            <a:r>
              <a:rPr lang="en-US" dirty="0" err="1">
                <a:solidFill>
                  <a:srgbClr val="FF00FF"/>
                </a:solidFill>
                <a:latin typeface="Consolas" panose="020B0609020204030204" pitchFamily="49" charset="0"/>
                <a:cs typeface="Consolas" panose="020B0609020204030204" pitchFamily="49" charset="0"/>
              </a:rPr>
              <a:t>ptr</a:t>
            </a:r>
            <a:r>
              <a:rPr lang="en-US" dirty="0">
                <a:solidFill>
                  <a:srgbClr val="FF00FF"/>
                </a:solidFill>
                <a:latin typeface="Consolas" panose="020B0609020204030204" pitchFamily="49" charset="0"/>
                <a:cs typeface="Consolas" panose="020B0609020204030204" pitchFamily="49" charset="0"/>
              </a:rPr>
              <a:t> + </a:t>
            </a:r>
            <a:r>
              <a:rPr lang="en-US" dirty="0" err="1">
                <a:solidFill>
                  <a:srgbClr val="FF00FF"/>
                </a:solidFill>
                <a:latin typeface="Consolas" panose="020B0609020204030204" pitchFamily="49" charset="0"/>
                <a:cs typeface="Consolas" panose="020B0609020204030204" pitchFamily="49" charset="0"/>
              </a:rPr>
              <a:t>sizeof</a:t>
            </a:r>
            <a:r>
              <a:rPr lang="en-US" dirty="0">
                <a:solidFill>
                  <a:srgbClr val="FF00FF"/>
                </a:solidFill>
                <a:latin typeface="Consolas" panose="020B0609020204030204" pitchFamily="49" charset="0"/>
                <a:cs typeface="Consolas" panose="020B0609020204030204" pitchFamily="49" charset="0"/>
              </a:rPr>
              <a:t>(int)</a:t>
            </a:r>
          </a:p>
        </p:txBody>
      </p:sp>
      <p:sp>
        <p:nvSpPr>
          <p:cNvPr id="48" name="Rectangle 47"/>
          <p:cNvSpPr/>
          <p:nvPr/>
        </p:nvSpPr>
        <p:spPr>
          <a:xfrm>
            <a:off x="1295400" y="3823227"/>
            <a:ext cx="3170132" cy="1791260"/>
          </a:xfrm>
          <a:prstGeom prst="rect">
            <a:avLst/>
          </a:prstGeom>
          <a:gradFill flip="none" rotWithShape="1">
            <a:gsLst>
              <a:gs pos="0">
                <a:srgbClr val="99FF99">
                  <a:shade val="30000"/>
                  <a:satMod val="115000"/>
                </a:srgbClr>
              </a:gs>
              <a:gs pos="50000">
                <a:srgbClr val="99FF99">
                  <a:shade val="67500"/>
                  <a:satMod val="115000"/>
                </a:srgbClr>
              </a:gs>
              <a:gs pos="100000">
                <a:srgbClr val="99FF99">
                  <a:shade val="100000"/>
                  <a:satMod val="115000"/>
                </a:srgbClr>
              </a:gs>
            </a:gsLst>
            <a:lin ang="10800000" scaled="1"/>
            <a:tileRect/>
          </a:gradFill>
        </p:spPr>
        <p:style>
          <a:lnRef idx="1">
            <a:schemeClr val="accent5"/>
          </a:lnRef>
          <a:fillRef idx="2">
            <a:schemeClr val="accent5"/>
          </a:fillRef>
          <a:effectRef idx="1">
            <a:schemeClr val="accent5"/>
          </a:effectRef>
          <a:fontRef idx="minor">
            <a:schemeClr val="dk1"/>
          </a:fontRef>
        </p:style>
        <p:txBody>
          <a:bodyPr wrap="square">
            <a:spAutoFit/>
          </a:bodyPr>
          <a:lstStyle/>
          <a:p>
            <a:pPr>
              <a:lnSpc>
                <a:spcPct val="115000"/>
              </a:lnSpc>
            </a:pPr>
            <a:r>
              <a:rPr lang="en-US" sz="2400" dirty="0">
                <a:solidFill>
                  <a:srgbClr val="C00000"/>
                </a:solidFill>
                <a:latin typeface="Consolas" panose="020B0609020204030204" pitchFamily="49" charset="0"/>
              </a:rPr>
              <a:t>int</a:t>
            </a:r>
            <a:r>
              <a:rPr lang="en-US" sz="2400" dirty="0">
                <a:latin typeface="Consolas" panose="020B0609020204030204" pitchFamily="49" charset="0"/>
              </a:rPr>
              <a:t> * </a:t>
            </a:r>
            <a:r>
              <a:rPr lang="en-US" sz="2400" dirty="0" err="1">
                <a:latin typeface="Consolas" panose="020B0609020204030204" pitchFamily="49" charset="0"/>
              </a:rPr>
              <a:t>ptr</a:t>
            </a:r>
            <a:r>
              <a:rPr lang="en-US" sz="2400" dirty="0">
                <a:latin typeface="Consolas" panose="020B0609020204030204" pitchFamily="49" charset="0"/>
              </a:rPr>
              <a:t>; </a:t>
            </a:r>
          </a:p>
          <a:p>
            <a:pPr>
              <a:lnSpc>
                <a:spcPct val="115000"/>
              </a:lnSpc>
            </a:pPr>
            <a:r>
              <a:rPr lang="en-US" sz="2400" dirty="0">
                <a:latin typeface="Consolas" panose="020B0609020204030204" pitchFamily="49" charset="0"/>
              </a:rPr>
              <a:t>int a[5];</a:t>
            </a:r>
          </a:p>
          <a:p>
            <a:pPr>
              <a:lnSpc>
                <a:spcPct val="115000"/>
              </a:lnSpc>
            </a:pPr>
            <a:r>
              <a:rPr lang="en-US" sz="2400" dirty="0" err="1">
                <a:latin typeface="Consolas" panose="020B0609020204030204" pitchFamily="49" charset="0"/>
              </a:rPr>
              <a:t>ptr</a:t>
            </a:r>
            <a:r>
              <a:rPr lang="en-US" sz="2400" dirty="0">
                <a:latin typeface="Consolas" panose="020B0609020204030204" pitchFamily="49" charset="0"/>
              </a:rPr>
              <a:t> = &amp; a[0];</a:t>
            </a:r>
          </a:p>
          <a:p>
            <a:pPr>
              <a:lnSpc>
                <a:spcPct val="115000"/>
              </a:lnSpc>
            </a:pPr>
            <a:r>
              <a:rPr lang="en-US" sz="2400" dirty="0" err="1">
                <a:solidFill>
                  <a:srgbClr val="C00000"/>
                </a:solidFill>
                <a:latin typeface="Consolas" panose="020B0609020204030204" pitchFamily="49" charset="0"/>
              </a:rPr>
              <a:t>ptr</a:t>
            </a:r>
            <a:r>
              <a:rPr lang="en-US" sz="2400" dirty="0">
                <a:solidFill>
                  <a:srgbClr val="C00000"/>
                </a:solidFill>
                <a:latin typeface="Consolas" panose="020B0609020204030204" pitchFamily="49" charset="0"/>
              </a:rPr>
              <a:t> ++;   </a:t>
            </a:r>
            <a:endParaRPr lang="en-US" sz="2400" dirty="0">
              <a:solidFill>
                <a:srgbClr val="C00000"/>
              </a:solidFill>
              <a:latin typeface="Consolas" panose="020B0609020204030204" pitchFamily="49" charset="0"/>
              <a:ea typeface="宋体" panose="02010600030101010101" pitchFamily="2" charset="-122"/>
              <a:cs typeface="Times New Roman" panose="02020603050405020304" pitchFamily="18" charset="0"/>
            </a:endParaRPr>
          </a:p>
        </p:txBody>
      </p:sp>
      <p:sp>
        <p:nvSpPr>
          <p:cNvPr id="45" name="Content Placeholder 3"/>
          <p:cNvSpPr txBox="1">
            <a:spLocks/>
          </p:cNvSpPr>
          <p:nvPr/>
        </p:nvSpPr>
        <p:spPr>
          <a:xfrm>
            <a:off x="609600" y="1219199"/>
            <a:ext cx="6096000" cy="2458143"/>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400" dirty="0" err="1"/>
              <a:t>ptr</a:t>
            </a:r>
            <a:r>
              <a:rPr lang="en-US" sz="2400" dirty="0"/>
              <a:t> is pointer, and stored at </a:t>
            </a:r>
            <a:r>
              <a:rPr lang="en-US" sz="2400" dirty="0">
                <a:latin typeface="Consolas" panose="020B0609020204030204" pitchFamily="49" charset="0"/>
                <a:cs typeface="Consolas" panose="020B0609020204030204" pitchFamily="49" charset="0"/>
              </a:rPr>
              <a:t>0x20000000</a:t>
            </a:r>
            <a:r>
              <a:rPr lang="en-US" sz="2400" dirty="0"/>
              <a:t> </a:t>
            </a:r>
          </a:p>
          <a:p>
            <a:r>
              <a:rPr lang="en-US" sz="2400" dirty="0" err="1">
                <a:latin typeface="Consolas" panose="020B0609020204030204" pitchFamily="49" charset="0"/>
                <a:cs typeface="Consolas" panose="020B0609020204030204" pitchFamily="49" charset="0"/>
              </a:rPr>
              <a:t>ptr</a:t>
            </a:r>
            <a:r>
              <a:rPr lang="en-US" sz="2400" dirty="0">
                <a:latin typeface="Consolas" panose="020B0609020204030204" pitchFamily="49" charset="0"/>
                <a:cs typeface="Consolas" panose="020B0609020204030204" pitchFamily="49" charset="0"/>
              </a:rPr>
              <a:t> =</a:t>
            </a:r>
            <a:r>
              <a:rPr lang="en-US" sz="2400" dirty="0"/>
              <a:t> </a:t>
            </a:r>
            <a:r>
              <a:rPr lang="en-US" sz="2400" dirty="0">
                <a:latin typeface="Consolas" panose="020B0609020204030204" pitchFamily="49" charset="0"/>
              </a:rPr>
              <a:t>0x20000004</a:t>
            </a:r>
            <a:endParaRPr lang="en-US" sz="2400" dirty="0"/>
          </a:p>
          <a:p>
            <a:r>
              <a:rPr lang="en-US" sz="2400" dirty="0"/>
              <a:t>What happens if: </a:t>
            </a:r>
          </a:p>
          <a:p>
            <a:pPr marL="0" indent="0">
              <a:buNone/>
            </a:pPr>
            <a:r>
              <a:rPr lang="en-US" sz="2400" dirty="0">
                <a:solidFill>
                  <a:srgbClr val="C00000"/>
                </a:solidFill>
                <a:latin typeface="Consolas" panose="020B0609020204030204" pitchFamily="49" charset="0"/>
                <a:cs typeface="Consolas" panose="020B0609020204030204" pitchFamily="49" charset="0"/>
              </a:rPr>
              <a:t>     </a:t>
            </a:r>
            <a:r>
              <a:rPr lang="en-US" sz="2400" dirty="0" err="1">
                <a:solidFill>
                  <a:srgbClr val="C00000"/>
                </a:solidFill>
                <a:latin typeface="Consolas" panose="020B0609020204030204" pitchFamily="49" charset="0"/>
                <a:cs typeface="Consolas" panose="020B0609020204030204" pitchFamily="49" charset="0"/>
              </a:rPr>
              <a:t>ptr</a:t>
            </a:r>
            <a:r>
              <a:rPr lang="en-US" sz="2400" dirty="0">
                <a:solidFill>
                  <a:srgbClr val="C00000"/>
                </a:solidFill>
                <a:latin typeface="Consolas" panose="020B0609020204030204" pitchFamily="49" charset="0"/>
                <a:cs typeface="Consolas" panose="020B0609020204030204" pitchFamily="49" charset="0"/>
              </a:rPr>
              <a:t>++;</a:t>
            </a:r>
            <a:endParaRPr lang="en-US" sz="2400" dirty="0">
              <a:latin typeface="Consolas" panose="020B0609020204030204" pitchFamily="49" charset="0"/>
              <a:cs typeface="Consolas" panose="020B0609020204030204" pitchFamily="49" charset="0"/>
            </a:endParaRPr>
          </a:p>
          <a:p>
            <a:r>
              <a:rPr lang="en-US" sz="2400" dirty="0"/>
              <a:t>Is it true? </a:t>
            </a:r>
            <a:r>
              <a:rPr lang="en-US" sz="2400" dirty="0" err="1">
                <a:solidFill>
                  <a:srgbClr val="C00000"/>
                </a:solidFill>
                <a:latin typeface="Consolas" panose="020B0609020204030204" pitchFamily="49" charset="0"/>
                <a:cs typeface="Consolas" panose="020B0609020204030204" pitchFamily="49" charset="0"/>
              </a:rPr>
              <a:t>ptr</a:t>
            </a:r>
            <a:r>
              <a:rPr lang="en-US" sz="2400" dirty="0">
                <a:solidFill>
                  <a:srgbClr val="C00000"/>
                </a:solidFill>
                <a:latin typeface="Consolas" panose="020B0609020204030204" pitchFamily="49" charset="0"/>
                <a:cs typeface="Consolas" panose="020B0609020204030204" pitchFamily="49" charset="0"/>
              </a:rPr>
              <a:t> =</a:t>
            </a:r>
            <a:r>
              <a:rPr lang="en-US" sz="2400" dirty="0"/>
              <a:t> </a:t>
            </a:r>
            <a:r>
              <a:rPr lang="en-US" sz="2400" dirty="0">
                <a:solidFill>
                  <a:srgbClr val="C00000"/>
                </a:solidFill>
                <a:latin typeface="Consolas" panose="020B0609020204030204" pitchFamily="49" charset="0"/>
              </a:rPr>
              <a:t>0x20000005</a:t>
            </a:r>
          </a:p>
        </p:txBody>
      </p:sp>
    </p:spTree>
    <p:extLst>
      <p:ext uri="{BB962C8B-B14F-4D97-AF65-F5344CB8AC3E}">
        <p14:creationId xmlns:p14="http://schemas.microsoft.com/office/powerpoint/2010/main" val="4289455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Pointer and Array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14</a:t>
            </a:fld>
            <a:endParaRPr kumimoji="0" lang="en-US" dirty="0"/>
          </a:p>
        </p:txBody>
      </p:sp>
      <p:sp>
        <p:nvSpPr>
          <p:cNvPr id="6" name="Rectangle 5"/>
          <p:cNvSpPr/>
          <p:nvPr/>
        </p:nvSpPr>
        <p:spPr>
          <a:xfrm>
            <a:off x="609600" y="2438400"/>
            <a:ext cx="6172200" cy="163121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000" dirty="0">
                <a:latin typeface="Consolas" panose="020B0609020204030204" pitchFamily="49" charset="0"/>
              </a:rPr>
              <a:t>int *</a:t>
            </a:r>
            <a:r>
              <a:rPr lang="en-US" sz="2000" dirty="0" err="1">
                <a:latin typeface="Consolas" panose="020B0609020204030204" pitchFamily="49" charset="0"/>
              </a:rPr>
              <a:t>ptr</a:t>
            </a:r>
            <a:r>
              <a:rPr lang="en-US" sz="2000" dirty="0">
                <a:latin typeface="Consolas" panose="020B0609020204030204" pitchFamily="49" charset="0"/>
              </a:rPr>
              <a:t>;  // Assume stored at 0x20000000</a:t>
            </a:r>
          </a:p>
          <a:p>
            <a:r>
              <a:rPr lang="en-US" sz="2000" dirty="0">
                <a:latin typeface="Consolas" panose="020B0609020204030204" pitchFamily="49" charset="0"/>
              </a:rPr>
              <a:t>int a[5];  // Assume started at 0x20000004</a:t>
            </a:r>
          </a:p>
          <a:p>
            <a:endParaRPr lang="en-US" sz="2000" dirty="0">
              <a:latin typeface="Consolas" panose="020B0609020204030204" pitchFamily="49" charset="0"/>
            </a:endParaRPr>
          </a:p>
          <a:p>
            <a:endParaRPr lang="en-US" sz="2000" dirty="0">
              <a:latin typeface="Consolas" panose="020B0609020204030204" pitchFamily="49" charset="0"/>
            </a:endParaRPr>
          </a:p>
          <a:p>
            <a:endParaRPr lang="en-US" sz="2000" dirty="0">
              <a:latin typeface="Consolas" panose="020B0609020204030204" pitchFamily="49" charset="0"/>
            </a:endParaRPr>
          </a:p>
        </p:txBody>
      </p:sp>
      <p:sp>
        <p:nvSpPr>
          <p:cNvPr id="7" name="TextBox 6"/>
          <p:cNvSpPr txBox="1"/>
          <p:nvPr/>
        </p:nvSpPr>
        <p:spPr>
          <a:xfrm>
            <a:off x="8269539" y="4058869"/>
            <a:ext cx="1368152" cy="338554"/>
          </a:xfrm>
          <a:prstGeom prst="rect">
            <a:avLst/>
          </a:prstGeom>
          <a:noFill/>
        </p:spPr>
        <p:txBody>
          <a:bodyPr wrap="square" rtlCol="0">
            <a:spAutoFit/>
          </a:bodyPr>
          <a:lstStyle/>
          <a:p>
            <a:pPr algn="ctr"/>
            <a:r>
              <a:rPr lang="en-GB" sz="1600" dirty="0">
                <a:latin typeface="Consolas"/>
                <a:cs typeface="Consolas"/>
              </a:rPr>
              <a:t>0x20000005</a:t>
            </a:r>
          </a:p>
        </p:txBody>
      </p:sp>
      <p:sp>
        <p:nvSpPr>
          <p:cNvPr id="8" name="TextBox 7"/>
          <p:cNvSpPr txBox="1"/>
          <p:nvPr/>
        </p:nvSpPr>
        <p:spPr>
          <a:xfrm>
            <a:off x="8269539" y="4418909"/>
            <a:ext cx="1368152" cy="338554"/>
          </a:xfrm>
          <a:prstGeom prst="rect">
            <a:avLst/>
          </a:prstGeom>
          <a:noFill/>
        </p:spPr>
        <p:txBody>
          <a:bodyPr wrap="square" rtlCol="0">
            <a:spAutoFit/>
          </a:bodyPr>
          <a:lstStyle/>
          <a:p>
            <a:pPr algn="ctr"/>
            <a:r>
              <a:rPr lang="en-GB" sz="1600" dirty="0">
                <a:solidFill>
                  <a:srgbClr val="C00000"/>
                </a:solidFill>
                <a:latin typeface="Consolas"/>
                <a:cs typeface="Consolas"/>
              </a:rPr>
              <a:t>0x20000004</a:t>
            </a:r>
          </a:p>
        </p:txBody>
      </p:sp>
      <p:sp>
        <p:nvSpPr>
          <p:cNvPr id="9" name="TextBox 8"/>
          <p:cNvSpPr txBox="1"/>
          <p:nvPr/>
        </p:nvSpPr>
        <p:spPr>
          <a:xfrm>
            <a:off x="8269539" y="2978749"/>
            <a:ext cx="1368152" cy="338554"/>
          </a:xfrm>
          <a:prstGeom prst="rect">
            <a:avLst/>
          </a:prstGeom>
          <a:noFill/>
        </p:spPr>
        <p:txBody>
          <a:bodyPr wrap="square" rtlCol="0">
            <a:spAutoFit/>
          </a:bodyPr>
          <a:lstStyle/>
          <a:p>
            <a:pPr algn="ctr"/>
            <a:r>
              <a:rPr lang="en-GB" sz="1600" dirty="0">
                <a:latin typeface="Consolas"/>
                <a:cs typeface="Consolas"/>
              </a:rPr>
              <a:t>0x20000008</a:t>
            </a:r>
          </a:p>
        </p:txBody>
      </p:sp>
      <p:sp>
        <p:nvSpPr>
          <p:cNvPr id="10" name="TextBox 9"/>
          <p:cNvSpPr txBox="1"/>
          <p:nvPr/>
        </p:nvSpPr>
        <p:spPr>
          <a:xfrm>
            <a:off x="8269539" y="3698829"/>
            <a:ext cx="1368152" cy="338554"/>
          </a:xfrm>
          <a:prstGeom prst="rect">
            <a:avLst/>
          </a:prstGeom>
          <a:noFill/>
        </p:spPr>
        <p:txBody>
          <a:bodyPr wrap="square" rtlCol="0">
            <a:spAutoFit/>
          </a:bodyPr>
          <a:lstStyle/>
          <a:p>
            <a:pPr algn="ctr"/>
            <a:r>
              <a:rPr lang="en-GB" sz="1600" dirty="0">
                <a:latin typeface="Consolas"/>
                <a:cs typeface="Consolas"/>
              </a:rPr>
              <a:t>0x20000006</a:t>
            </a:r>
          </a:p>
        </p:txBody>
      </p:sp>
      <p:sp>
        <p:nvSpPr>
          <p:cNvPr id="11" name="TextBox 10"/>
          <p:cNvSpPr txBox="1"/>
          <p:nvPr/>
        </p:nvSpPr>
        <p:spPr>
          <a:xfrm>
            <a:off x="8269539" y="4778949"/>
            <a:ext cx="1368152" cy="338554"/>
          </a:xfrm>
          <a:prstGeom prst="rect">
            <a:avLst/>
          </a:prstGeom>
          <a:noFill/>
        </p:spPr>
        <p:txBody>
          <a:bodyPr wrap="square" rtlCol="0">
            <a:spAutoFit/>
          </a:bodyPr>
          <a:lstStyle/>
          <a:p>
            <a:pPr algn="ctr"/>
            <a:r>
              <a:rPr lang="en-GB" sz="1600" dirty="0">
                <a:latin typeface="Consolas"/>
                <a:cs typeface="Consolas"/>
              </a:rPr>
              <a:t>0x20000003</a:t>
            </a:r>
          </a:p>
        </p:txBody>
      </p:sp>
      <p:sp>
        <p:nvSpPr>
          <p:cNvPr id="12" name="TextBox 11"/>
          <p:cNvSpPr txBox="1"/>
          <p:nvPr/>
        </p:nvSpPr>
        <p:spPr>
          <a:xfrm>
            <a:off x="8269539" y="5138989"/>
            <a:ext cx="1368152" cy="338554"/>
          </a:xfrm>
          <a:prstGeom prst="rect">
            <a:avLst/>
          </a:prstGeom>
          <a:noFill/>
        </p:spPr>
        <p:txBody>
          <a:bodyPr wrap="square" rtlCol="0">
            <a:spAutoFit/>
          </a:bodyPr>
          <a:lstStyle/>
          <a:p>
            <a:pPr algn="ctr"/>
            <a:r>
              <a:rPr lang="en-GB" sz="1600" dirty="0">
                <a:latin typeface="Consolas"/>
                <a:cs typeface="Consolas"/>
              </a:rPr>
              <a:t>0x20000002</a:t>
            </a:r>
          </a:p>
        </p:txBody>
      </p:sp>
      <p:sp>
        <p:nvSpPr>
          <p:cNvPr id="13" name="TextBox 12"/>
          <p:cNvSpPr txBox="1"/>
          <p:nvPr/>
        </p:nvSpPr>
        <p:spPr>
          <a:xfrm>
            <a:off x="8269539" y="1195153"/>
            <a:ext cx="1368152" cy="338554"/>
          </a:xfrm>
          <a:prstGeom prst="rect">
            <a:avLst/>
          </a:prstGeom>
          <a:noFill/>
        </p:spPr>
        <p:txBody>
          <a:bodyPr wrap="square" rtlCol="0">
            <a:spAutoFit/>
          </a:bodyPr>
          <a:lstStyle/>
          <a:p>
            <a:pPr algn="ctr"/>
            <a:r>
              <a:rPr lang="en-GB" sz="1600" dirty="0">
                <a:latin typeface="Consolas"/>
                <a:cs typeface="Consolas"/>
              </a:rPr>
              <a:t>0x2000000D</a:t>
            </a:r>
          </a:p>
        </p:txBody>
      </p:sp>
      <p:sp>
        <p:nvSpPr>
          <p:cNvPr id="14" name="TextBox 13"/>
          <p:cNvSpPr txBox="1"/>
          <p:nvPr/>
        </p:nvSpPr>
        <p:spPr>
          <a:xfrm>
            <a:off x="8269539" y="1555193"/>
            <a:ext cx="1368152" cy="338554"/>
          </a:xfrm>
          <a:prstGeom prst="rect">
            <a:avLst/>
          </a:prstGeom>
          <a:noFill/>
        </p:spPr>
        <p:txBody>
          <a:bodyPr wrap="square" rtlCol="0">
            <a:spAutoFit/>
          </a:bodyPr>
          <a:lstStyle/>
          <a:p>
            <a:pPr algn="ctr"/>
            <a:r>
              <a:rPr lang="en-GB" sz="1600" dirty="0">
                <a:latin typeface="Consolas"/>
                <a:cs typeface="Consolas"/>
              </a:rPr>
              <a:t>0x2000000C</a:t>
            </a:r>
          </a:p>
        </p:txBody>
      </p:sp>
      <p:sp>
        <p:nvSpPr>
          <p:cNvPr id="15" name="TextBox 14"/>
          <p:cNvSpPr txBox="1"/>
          <p:nvPr/>
        </p:nvSpPr>
        <p:spPr>
          <a:xfrm>
            <a:off x="8269539" y="1915233"/>
            <a:ext cx="1368152" cy="338554"/>
          </a:xfrm>
          <a:prstGeom prst="rect">
            <a:avLst/>
          </a:prstGeom>
          <a:noFill/>
        </p:spPr>
        <p:txBody>
          <a:bodyPr wrap="square" rtlCol="0">
            <a:spAutoFit/>
          </a:bodyPr>
          <a:lstStyle/>
          <a:p>
            <a:pPr algn="ctr"/>
            <a:r>
              <a:rPr lang="en-GB" sz="1600" dirty="0">
                <a:latin typeface="Consolas"/>
                <a:cs typeface="Consolas"/>
              </a:rPr>
              <a:t>0x2000000B</a:t>
            </a:r>
          </a:p>
        </p:txBody>
      </p:sp>
      <p:sp>
        <p:nvSpPr>
          <p:cNvPr id="16" name="TextBox 15"/>
          <p:cNvSpPr txBox="1"/>
          <p:nvPr/>
        </p:nvSpPr>
        <p:spPr>
          <a:xfrm>
            <a:off x="8269539" y="2258669"/>
            <a:ext cx="1368152" cy="338554"/>
          </a:xfrm>
          <a:prstGeom prst="rect">
            <a:avLst/>
          </a:prstGeom>
          <a:noFill/>
        </p:spPr>
        <p:txBody>
          <a:bodyPr wrap="square" rtlCol="0">
            <a:spAutoFit/>
          </a:bodyPr>
          <a:lstStyle/>
          <a:p>
            <a:pPr algn="ctr"/>
            <a:r>
              <a:rPr lang="en-GB" sz="1600" dirty="0">
                <a:latin typeface="Consolas"/>
                <a:cs typeface="Consolas"/>
              </a:rPr>
              <a:t>0x2000000A</a:t>
            </a:r>
          </a:p>
        </p:txBody>
      </p:sp>
      <p:sp>
        <p:nvSpPr>
          <p:cNvPr id="17" name="TextBox 16"/>
          <p:cNvSpPr txBox="1"/>
          <p:nvPr/>
        </p:nvSpPr>
        <p:spPr>
          <a:xfrm>
            <a:off x="8269539" y="2618709"/>
            <a:ext cx="1368152" cy="338554"/>
          </a:xfrm>
          <a:prstGeom prst="rect">
            <a:avLst/>
          </a:prstGeom>
          <a:noFill/>
        </p:spPr>
        <p:txBody>
          <a:bodyPr wrap="square" rtlCol="0">
            <a:spAutoFit/>
          </a:bodyPr>
          <a:lstStyle/>
          <a:p>
            <a:pPr algn="ctr"/>
            <a:r>
              <a:rPr lang="en-GB" sz="1600" dirty="0">
                <a:latin typeface="Consolas"/>
                <a:cs typeface="Consolas"/>
              </a:rPr>
              <a:t>0x20000009</a:t>
            </a:r>
          </a:p>
        </p:txBody>
      </p:sp>
      <p:sp>
        <p:nvSpPr>
          <p:cNvPr id="18" name="TextBox 17"/>
          <p:cNvSpPr txBox="1"/>
          <p:nvPr/>
        </p:nvSpPr>
        <p:spPr>
          <a:xfrm>
            <a:off x="8269539" y="3338789"/>
            <a:ext cx="1368152" cy="338554"/>
          </a:xfrm>
          <a:prstGeom prst="rect">
            <a:avLst/>
          </a:prstGeom>
          <a:noFill/>
        </p:spPr>
        <p:txBody>
          <a:bodyPr wrap="square" rtlCol="0">
            <a:spAutoFit/>
          </a:bodyPr>
          <a:lstStyle/>
          <a:p>
            <a:pPr algn="ctr"/>
            <a:r>
              <a:rPr lang="en-GB" sz="1600" dirty="0">
                <a:latin typeface="Consolas"/>
                <a:cs typeface="Consolas"/>
              </a:rPr>
              <a:t>0x20000007</a:t>
            </a:r>
          </a:p>
        </p:txBody>
      </p:sp>
      <p:sp>
        <p:nvSpPr>
          <p:cNvPr id="19" name="TextBox 18"/>
          <p:cNvSpPr txBox="1"/>
          <p:nvPr/>
        </p:nvSpPr>
        <p:spPr>
          <a:xfrm>
            <a:off x="8269539" y="5499029"/>
            <a:ext cx="1368152" cy="338554"/>
          </a:xfrm>
          <a:prstGeom prst="rect">
            <a:avLst/>
          </a:prstGeom>
          <a:noFill/>
        </p:spPr>
        <p:txBody>
          <a:bodyPr wrap="square" rtlCol="0">
            <a:spAutoFit/>
          </a:bodyPr>
          <a:lstStyle/>
          <a:p>
            <a:pPr algn="ctr"/>
            <a:r>
              <a:rPr lang="en-GB" sz="1600" dirty="0">
                <a:latin typeface="Consolas"/>
                <a:cs typeface="Consolas"/>
              </a:rPr>
              <a:t>0x20000001</a:t>
            </a:r>
          </a:p>
        </p:txBody>
      </p:sp>
      <p:sp>
        <p:nvSpPr>
          <p:cNvPr id="20" name="TextBox 19"/>
          <p:cNvSpPr txBox="1"/>
          <p:nvPr/>
        </p:nvSpPr>
        <p:spPr>
          <a:xfrm>
            <a:off x="8267530" y="5860979"/>
            <a:ext cx="1368152" cy="338554"/>
          </a:xfrm>
          <a:prstGeom prst="rect">
            <a:avLst/>
          </a:prstGeom>
          <a:noFill/>
        </p:spPr>
        <p:txBody>
          <a:bodyPr wrap="square" rtlCol="0">
            <a:spAutoFit/>
          </a:bodyPr>
          <a:lstStyle/>
          <a:p>
            <a:pPr algn="ctr"/>
            <a:r>
              <a:rPr lang="en-GB" sz="1600" dirty="0">
                <a:solidFill>
                  <a:srgbClr val="0000FF"/>
                </a:solidFill>
                <a:latin typeface="Consolas"/>
                <a:cs typeface="Consolas"/>
              </a:rPr>
              <a:t>0x20000000</a:t>
            </a:r>
          </a:p>
        </p:txBody>
      </p:sp>
      <p:grpSp>
        <p:nvGrpSpPr>
          <p:cNvPr id="21" name="Group 20"/>
          <p:cNvGrpSpPr/>
          <p:nvPr/>
        </p:nvGrpSpPr>
        <p:grpSpPr>
          <a:xfrm>
            <a:off x="9563674" y="1195461"/>
            <a:ext cx="1300882" cy="5025866"/>
            <a:chOff x="8686800" y="1232170"/>
            <a:chExt cx="1300882" cy="5025866"/>
          </a:xfrm>
        </p:grpSpPr>
        <p:sp>
          <p:nvSpPr>
            <p:cNvPr id="22" name="Rectangle 21"/>
            <p:cNvSpPr/>
            <p:nvPr/>
          </p:nvSpPr>
          <p:spPr>
            <a:xfrm>
              <a:off x="8686800" y="40958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23" name="Rectangle 22"/>
            <p:cNvSpPr/>
            <p:nvPr/>
          </p:nvSpPr>
          <p:spPr>
            <a:xfrm>
              <a:off x="8686800" y="44559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24" name="Rectangle 23"/>
            <p:cNvSpPr/>
            <p:nvPr/>
          </p:nvSpPr>
          <p:spPr>
            <a:xfrm>
              <a:off x="8686800" y="30157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25" name="Rectangle 24"/>
            <p:cNvSpPr/>
            <p:nvPr/>
          </p:nvSpPr>
          <p:spPr>
            <a:xfrm>
              <a:off x="8686800" y="48159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rgbClr val="C00000"/>
                </a:solidFill>
                <a:latin typeface="Consolas" panose="020B0609020204030204" pitchFamily="49" charset="0"/>
                <a:cs typeface="Consolas" panose="020B0609020204030204" pitchFamily="49" charset="0"/>
              </a:endParaRPr>
            </a:p>
          </p:txBody>
        </p:sp>
        <p:sp>
          <p:nvSpPr>
            <p:cNvPr id="26" name="Rectangle 25"/>
            <p:cNvSpPr/>
            <p:nvPr/>
          </p:nvSpPr>
          <p:spPr>
            <a:xfrm>
              <a:off x="8686800" y="37358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27" name="Rectangle 26"/>
            <p:cNvSpPr/>
            <p:nvPr/>
          </p:nvSpPr>
          <p:spPr>
            <a:xfrm>
              <a:off x="8686800" y="123217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28" name="Rectangle 27"/>
            <p:cNvSpPr/>
            <p:nvPr/>
          </p:nvSpPr>
          <p:spPr>
            <a:xfrm>
              <a:off x="8686800" y="15922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anose="020B0609020204030204" pitchFamily="49" charset="0"/>
              </a:endParaRPr>
            </a:p>
          </p:txBody>
        </p:sp>
        <p:sp>
          <p:nvSpPr>
            <p:cNvPr id="29" name="Rectangle 28"/>
            <p:cNvSpPr/>
            <p:nvPr/>
          </p:nvSpPr>
          <p:spPr>
            <a:xfrm>
              <a:off x="8686800" y="195225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latin typeface="Consolas" panose="020B0609020204030204" pitchFamily="49" charset="0"/>
                <a:cs typeface="Consolas" panose="020B0609020204030204" pitchFamily="49" charset="0"/>
              </a:endParaRPr>
            </a:p>
          </p:txBody>
        </p:sp>
        <p:sp>
          <p:nvSpPr>
            <p:cNvPr id="30" name="Rectangle 29"/>
            <p:cNvSpPr/>
            <p:nvPr/>
          </p:nvSpPr>
          <p:spPr>
            <a:xfrm>
              <a:off x="8686800" y="22956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rgbClr val="000000"/>
                </a:solidFill>
                <a:latin typeface="Consolas" panose="020B0609020204030204" pitchFamily="49" charset="0"/>
                <a:cs typeface="Consolas" pitchFamily="49" charset="0"/>
              </a:endParaRPr>
            </a:p>
          </p:txBody>
        </p:sp>
        <p:sp>
          <p:nvSpPr>
            <p:cNvPr id="31" name="Rectangle 30"/>
            <p:cNvSpPr/>
            <p:nvPr/>
          </p:nvSpPr>
          <p:spPr>
            <a:xfrm>
              <a:off x="8686800" y="26557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itchFamily="49" charset="0"/>
              </a:endParaRPr>
            </a:p>
          </p:txBody>
        </p:sp>
        <p:sp>
          <p:nvSpPr>
            <p:cNvPr id="32" name="Rectangle 31"/>
            <p:cNvSpPr/>
            <p:nvPr/>
          </p:nvSpPr>
          <p:spPr>
            <a:xfrm>
              <a:off x="8686800" y="55360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rgbClr val="C00000"/>
                </a:solidFill>
                <a:latin typeface="Consolas" panose="020B0609020204030204" pitchFamily="49" charset="0"/>
                <a:cs typeface="Consolas" panose="020B0609020204030204" pitchFamily="49" charset="0"/>
              </a:endParaRPr>
            </a:p>
          </p:txBody>
        </p:sp>
        <p:sp>
          <p:nvSpPr>
            <p:cNvPr id="33" name="Rectangle 32"/>
            <p:cNvSpPr/>
            <p:nvPr/>
          </p:nvSpPr>
          <p:spPr>
            <a:xfrm>
              <a:off x="8686800" y="337580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34" name="Rectangle 33"/>
            <p:cNvSpPr/>
            <p:nvPr/>
          </p:nvSpPr>
          <p:spPr>
            <a:xfrm>
              <a:off x="8691538" y="589799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rgbClr val="C00000"/>
                </a:solidFill>
                <a:latin typeface="Consolas" panose="020B0609020204030204" pitchFamily="49" charset="0"/>
                <a:cs typeface="Consolas" panose="020B0609020204030204" pitchFamily="49" charset="0"/>
              </a:endParaRPr>
            </a:p>
          </p:txBody>
        </p:sp>
        <p:sp>
          <p:nvSpPr>
            <p:cNvPr id="35" name="Rectangle 34"/>
            <p:cNvSpPr/>
            <p:nvPr/>
          </p:nvSpPr>
          <p:spPr>
            <a:xfrm>
              <a:off x="8687966" y="51721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rgbClr val="C00000"/>
                </a:solidFill>
                <a:latin typeface="Consolas" panose="020B0609020204030204" pitchFamily="49" charset="0"/>
                <a:cs typeface="Consolas" panose="020B0609020204030204" pitchFamily="49" charset="0"/>
              </a:endParaRPr>
            </a:p>
          </p:txBody>
        </p:sp>
      </p:grpSp>
      <p:sp>
        <p:nvSpPr>
          <p:cNvPr id="38" name="Rectangle 37"/>
          <p:cNvSpPr/>
          <p:nvPr/>
        </p:nvSpPr>
        <p:spPr>
          <a:xfrm>
            <a:off x="7696200" y="5836622"/>
            <a:ext cx="564578" cy="369332"/>
          </a:xfrm>
          <a:prstGeom prst="rect">
            <a:avLst/>
          </a:prstGeom>
        </p:spPr>
        <p:txBody>
          <a:bodyPr wrap="none">
            <a:spAutoFit/>
          </a:bodyPr>
          <a:lstStyle/>
          <a:p>
            <a:r>
              <a:rPr lang="en-GB" dirty="0" err="1">
                <a:solidFill>
                  <a:srgbClr val="0000FF"/>
                </a:solidFill>
                <a:latin typeface="Consolas" panose="020B0609020204030204" pitchFamily="49" charset="0"/>
                <a:cs typeface="Consolas" panose="020B0609020204030204" pitchFamily="49" charset="0"/>
              </a:rPr>
              <a:t>ptr</a:t>
            </a:r>
            <a:endParaRPr lang="en-US" dirty="0">
              <a:solidFill>
                <a:srgbClr val="0000FF"/>
              </a:solidFill>
            </a:endParaRPr>
          </a:p>
        </p:txBody>
      </p:sp>
      <p:sp>
        <p:nvSpPr>
          <p:cNvPr id="41" name="TextBox 40"/>
          <p:cNvSpPr txBox="1"/>
          <p:nvPr/>
        </p:nvSpPr>
        <p:spPr>
          <a:xfrm>
            <a:off x="10858500" y="4427165"/>
            <a:ext cx="802974" cy="369332"/>
          </a:xfrm>
          <a:prstGeom prst="rect">
            <a:avLst/>
          </a:prstGeom>
          <a:noFill/>
        </p:spPr>
        <p:txBody>
          <a:bodyPr wrap="square" rtlCol="0">
            <a:spAutoFit/>
          </a:bodyPr>
          <a:lstStyle/>
          <a:p>
            <a:r>
              <a:rPr lang="en-GB" dirty="0">
                <a:solidFill>
                  <a:srgbClr val="FF00FF"/>
                </a:solidFill>
                <a:latin typeface="Consolas"/>
                <a:cs typeface="Consolas"/>
              </a:rPr>
              <a:t>a[0]</a:t>
            </a:r>
          </a:p>
        </p:txBody>
      </p:sp>
      <p:sp>
        <p:nvSpPr>
          <p:cNvPr id="42" name="TextBox 41"/>
          <p:cNvSpPr txBox="1"/>
          <p:nvPr/>
        </p:nvSpPr>
        <p:spPr>
          <a:xfrm>
            <a:off x="10858500" y="2987005"/>
            <a:ext cx="802974" cy="369332"/>
          </a:xfrm>
          <a:prstGeom prst="rect">
            <a:avLst/>
          </a:prstGeom>
          <a:noFill/>
        </p:spPr>
        <p:txBody>
          <a:bodyPr wrap="square" rtlCol="0">
            <a:spAutoFit/>
          </a:bodyPr>
          <a:lstStyle/>
          <a:p>
            <a:r>
              <a:rPr lang="en-GB" dirty="0">
                <a:solidFill>
                  <a:srgbClr val="FF00FF"/>
                </a:solidFill>
                <a:latin typeface="Consolas"/>
                <a:cs typeface="Consolas"/>
              </a:rPr>
              <a:t>a[1]</a:t>
            </a:r>
          </a:p>
        </p:txBody>
      </p:sp>
      <p:sp>
        <p:nvSpPr>
          <p:cNvPr id="43" name="TextBox 42"/>
          <p:cNvSpPr txBox="1"/>
          <p:nvPr/>
        </p:nvSpPr>
        <p:spPr>
          <a:xfrm>
            <a:off x="10858500" y="1522348"/>
            <a:ext cx="802974" cy="369332"/>
          </a:xfrm>
          <a:prstGeom prst="rect">
            <a:avLst/>
          </a:prstGeom>
          <a:noFill/>
        </p:spPr>
        <p:txBody>
          <a:bodyPr wrap="square" rtlCol="0">
            <a:spAutoFit/>
          </a:bodyPr>
          <a:lstStyle/>
          <a:p>
            <a:r>
              <a:rPr lang="en-GB" dirty="0">
                <a:solidFill>
                  <a:srgbClr val="FF00FF"/>
                </a:solidFill>
                <a:latin typeface="Consolas"/>
                <a:cs typeface="Consolas"/>
              </a:rPr>
              <a:t>a[2]</a:t>
            </a:r>
          </a:p>
        </p:txBody>
      </p:sp>
      <p:grpSp>
        <p:nvGrpSpPr>
          <p:cNvPr id="44" name="Group 43"/>
          <p:cNvGrpSpPr/>
          <p:nvPr/>
        </p:nvGrpSpPr>
        <p:grpSpPr>
          <a:xfrm>
            <a:off x="8267530" y="476362"/>
            <a:ext cx="2590970" cy="731769"/>
            <a:chOff x="8267530" y="476362"/>
            <a:chExt cx="2590970" cy="731769"/>
          </a:xfrm>
        </p:grpSpPr>
        <p:sp>
          <p:nvSpPr>
            <p:cNvPr id="45" name="TextBox 44"/>
            <p:cNvSpPr txBox="1"/>
            <p:nvPr/>
          </p:nvSpPr>
          <p:spPr>
            <a:xfrm>
              <a:off x="8267530" y="509537"/>
              <a:ext cx="1368152" cy="338554"/>
            </a:xfrm>
            <a:prstGeom prst="rect">
              <a:avLst/>
            </a:prstGeom>
            <a:noFill/>
          </p:spPr>
          <p:txBody>
            <a:bodyPr wrap="square" rtlCol="0">
              <a:spAutoFit/>
            </a:bodyPr>
            <a:lstStyle/>
            <a:p>
              <a:pPr algn="ctr"/>
              <a:r>
                <a:rPr lang="en-GB" sz="1600" dirty="0">
                  <a:latin typeface="Consolas"/>
                  <a:cs typeface="Consolas"/>
                </a:rPr>
                <a:t>0x2000000F</a:t>
              </a:r>
            </a:p>
          </p:txBody>
        </p:sp>
        <p:sp>
          <p:nvSpPr>
            <p:cNvPr id="46" name="TextBox 45"/>
            <p:cNvSpPr txBox="1"/>
            <p:nvPr/>
          </p:nvSpPr>
          <p:spPr>
            <a:xfrm>
              <a:off x="8267530" y="869577"/>
              <a:ext cx="1368152" cy="338554"/>
            </a:xfrm>
            <a:prstGeom prst="rect">
              <a:avLst/>
            </a:prstGeom>
            <a:noFill/>
          </p:spPr>
          <p:txBody>
            <a:bodyPr wrap="square" rtlCol="0">
              <a:spAutoFit/>
            </a:bodyPr>
            <a:lstStyle/>
            <a:p>
              <a:pPr algn="ctr"/>
              <a:r>
                <a:rPr lang="en-GB" sz="1600" dirty="0">
                  <a:latin typeface="Consolas"/>
                  <a:cs typeface="Consolas"/>
                </a:rPr>
                <a:t>0x2000000E</a:t>
              </a:r>
            </a:p>
          </p:txBody>
        </p:sp>
        <p:sp>
          <p:nvSpPr>
            <p:cNvPr id="47" name="Rectangle 46"/>
            <p:cNvSpPr/>
            <p:nvPr/>
          </p:nvSpPr>
          <p:spPr>
            <a:xfrm>
              <a:off x="9562356" y="476362"/>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48" name="Rectangle 47"/>
            <p:cNvSpPr/>
            <p:nvPr/>
          </p:nvSpPr>
          <p:spPr>
            <a:xfrm>
              <a:off x="9562356" y="836402"/>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3384297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Pointer and Array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4" name="Content Placeholder 3"/>
          <p:cNvSpPr>
            <a:spLocks noGrp="1"/>
          </p:cNvSpPr>
          <p:nvPr>
            <p:ph sz="quarter" idx="1"/>
          </p:nvPr>
        </p:nvSpPr>
        <p:spPr>
          <a:xfrm>
            <a:off x="533400" y="4361918"/>
            <a:ext cx="6705807" cy="457200"/>
          </a:xfrm>
        </p:spPr>
        <p:txBody>
          <a:bodyPr>
            <a:normAutofit/>
          </a:bodyPr>
          <a:lstStyle/>
          <a:p>
            <a:pPr marL="0" indent="0">
              <a:buNone/>
            </a:pPr>
            <a:r>
              <a:rPr lang="en-US" sz="2400" i="1" dirty="0">
                <a:solidFill>
                  <a:srgbClr val="C00000"/>
                </a:solidFill>
              </a:rPr>
              <a:t>Array name is a pointer to the first element in the array</a:t>
            </a:r>
          </a:p>
        </p:txBody>
      </p:sp>
      <p:sp>
        <p:nvSpPr>
          <p:cNvPr id="6" name="Rectangle 5"/>
          <p:cNvSpPr/>
          <p:nvPr/>
        </p:nvSpPr>
        <p:spPr>
          <a:xfrm>
            <a:off x="609600" y="2438400"/>
            <a:ext cx="6172200" cy="163121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000" dirty="0">
                <a:latin typeface="Consolas" panose="020B0609020204030204" pitchFamily="49" charset="0"/>
              </a:rPr>
              <a:t>int *</a:t>
            </a:r>
            <a:r>
              <a:rPr lang="en-US" sz="2000" dirty="0" err="1">
                <a:latin typeface="Consolas" panose="020B0609020204030204" pitchFamily="49" charset="0"/>
              </a:rPr>
              <a:t>ptr</a:t>
            </a:r>
            <a:r>
              <a:rPr lang="en-US" sz="2000" dirty="0">
                <a:latin typeface="Consolas" panose="020B0609020204030204" pitchFamily="49" charset="0"/>
              </a:rPr>
              <a:t>;  // Assume stored at 0x20000000</a:t>
            </a:r>
          </a:p>
          <a:p>
            <a:r>
              <a:rPr lang="en-US" sz="2000" dirty="0">
                <a:latin typeface="Consolas" panose="020B0609020204030204" pitchFamily="49" charset="0"/>
              </a:rPr>
              <a:t>int a[5];  // Assume started at 0x20000004</a:t>
            </a:r>
          </a:p>
          <a:p>
            <a:r>
              <a:rPr lang="en-US" sz="2000" dirty="0">
                <a:solidFill>
                  <a:srgbClr val="C00000"/>
                </a:solidFill>
                <a:latin typeface="Consolas" panose="020B0609020204030204" pitchFamily="49" charset="0"/>
              </a:rPr>
              <a:t>*a = 7;    </a:t>
            </a:r>
            <a:r>
              <a:rPr lang="en-US" sz="2000" dirty="0">
                <a:latin typeface="Consolas" panose="020B0609020204030204" pitchFamily="49" charset="0"/>
              </a:rPr>
              <a:t>// array[0] = 7;</a:t>
            </a:r>
          </a:p>
          <a:p>
            <a:endParaRPr lang="en-US" sz="2000" dirty="0">
              <a:latin typeface="Consolas" panose="020B0609020204030204" pitchFamily="49" charset="0"/>
            </a:endParaRPr>
          </a:p>
          <a:p>
            <a:endParaRPr lang="en-US" sz="2000" dirty="0">
              <a:latin typeface="Consolas" panose="020B0609020204030204" pitchFamily="49" charset="0"/>
            </a:endParaRPr>
          </a:p>
        </p:txBody>
      </p:sp>
      <p:sp>
        <p:nvSpPr>
          <p:cNvPr id="7" name="TextBox 6"/>
          <p:cNvSpPr txBox="1"/>
          <p:nvPr/>
        </p:nvSpPr>
        <p:spPr>
          <a:xfrm>
            <a:off x="8269539" y="4058869"/>
            <a:ext cx="1368152" cy="338554"/>
          </a:xfrm>
          <a:prstGeom prst="rect">
            <a:avLst/>
          </a:prstGeom>
          <a:noFill/>
        </p:spPr>
        <p:txBody>
          <a:bodyPr wrap="square" rtlCol="0">
            <a:spAutoFit/>
          </a:bodyPr>
          <a:lstStyle/>
          <a:p>
            <a:pPr algn="ctr"/>
            <a:r>
              <a:rPr lang="en-GB" sz="1600" dirty="0">
                <a:latin typeface="Consolas"/>
                <a:cs typeface="Consolas"/>
              </a:rPr>
              <a:t>0x20000005</a:t>
            </a:r>
          </a:p>
        </p:txBody>
      </p:sp>
      <p:sp>
        <p:nvSpPr>
          <p:cNvPr id="8" name="TextBox 7"/>
          <p:cNvSpPr txBox="1"/>
          <p:nvPr/>
        </p:nvSpPr>
        <p:spPr>
          <a:xfrm>
            <a:off x="8269539" y="4418909"/>
            <a:ext cx="1368152" cy="338554"/>
          </a:xfrm>
          <a:prstGeom prst="rect">
            <a:avLst/>
          </a:prstGeom>
          <a:noFill/>
        </p:spPr>
        <p:txBody>
          <a:bodyPr wrap="square" rtlCol="0">
            <a:spAutoFit/>
          </a:bodyPr>
          <a:lstStyle/>
          <a:p>
            <a:pPr algn="ctr"/>
            <a:r>
              <a:rPr lang="en-GB" sz="1600" dirty="0">
                <a:solidFill>
                  <a:srgbClr val="C00000"/>
                </a:solidFill>
                <a:latin typeface="Consolas"/>
                <a:cs typeface="Consolas"/>
              </a:rPr>
              <a:t>0x20000004</a:t>
            </a:r>
          </a:p>
        </p:txBody>
      </p:sp>
      <p:sp>
        <p:nvSpPr>
          <p:cNvPr id="9" name="TextBox 8"/>
          <p:cNvSpPr txBox="1"/>
          <p:nvPr/>
        </p:nvSpPr>
        <p:spPr>
          <a:xfrm>
            <a:off x="8269539" y="2978749"/>
            <a:ext cx="1368152" cy="338554"/>
          </a:xfrm>
          <a:prstGeom prst="rect">
            <a:avLst/>
          </a:prstGeom>
          <a:noFill/>
        </p:spPr>
        <p:txBody>
          <a:bodyPr wrap="square" rtlCol="0">
            <a:spAutoFit/>
          </a:bodyPr>
          <a:lstStyle/>
          <a:p>
            <a:pPr algn="ctr"/>
            <a:r>
              <a:rPr lang="en-GB" sz="1600" dirty="0">
                <a:latin typeface="Consolas"/>
                <a:cs typeface="Consolas"/>
              </a:rPr>
              <a:t>0x20000008</a:t>
            </a:r>
          </a:p>
        </p:txBody>
      </p:sp>
      <p:sp>
        <p:nvSpPr>
          <p:cNvPr id="10" name="TextBox 9"/>
          <p:cNvSpPr txBox="1"/>
          <p:nvPr/>
        </p:nvSpPr>
        <p:spPr>
          <a:xfrm>
            <a:off x="8269539" y="3698829"/>
            <a:ext cx="1368152" cy="338554"/>
          </a:xfrm>
          <a:prstGeom prst="rect">
            <a:avLst/>
          </a:prstGeom>
          <a:noFill/>
        </p:spPr>
        <p:txBody>
          <a:bodyPr wrap="square" rtlCol="0">
            <a:spAutoFit/>
          </a:bodyPr>
          <a:lstStyle/>
          <a:p>
            <a:pPr algn="ctr"/>
            <a:r>
              <a:rPr lang="en-GB" sz="1600" dirty="0">
                <a:latin typeface="Consolas"/>
                <a:cs typeface="Consolas"/>
              </a:rPr>
              <a:t>0x20000006</a:t>
            </a:r>
          </a:p>
        </p:txBody>
      </p:sp>
      <p:sp>
        <p:nvSpPr>
          <p:cNvPr id="11" name="TextBox 10"/>
          <p:cNvSpPr txBox="1"/>
          <p:nvPr/>
        </p:nvSpPr>
        <p:spPr>
          <a:xfrm>
            <a:off x="8269539" y="4778949"/>
            <a:ext cx="1368152" cy="338554"/>
          </a:xfrm>
          <a:prstGeom prst="rect">
            <a:avLst/>
          </a:prstGeom>
          <a:noFill/>
        </p:spPr>
        <p:txBody>
          <a:bodyPr wrap="square" rtlCol="0">
            <a:spAutoFit/>
          </a:bodyPr>
          <a:lstStyle/>
          <a:p>
            <a:pPr algn="ctr"/>
            <a:r>
              <a:rPr lang="en-GB" sz="1600" dirty="0">
                <a:latin typeface="Consolas"/>
                <a:cs typeface="Consolas"/>
              </a:rPr>
              <a:t>0x20000003</a:t>
            </a:r>
          </a:p>
        </p:txBody>
      </p:sp>
      <p:sp>
        <p:nvSpPr>
          <p:cNvPr id="12" name="TextBox 11"/>
          <p:cNvSpPr txBox="1"/>
          <p:nvPr/>
        </p:nvSpPr>
        <p:spPr>
          <a:xfrm>
            <a:off x="8269539" y="5138989"/>
            <a:ext cx="1368152" cy="338554"/>
          </a:xfrm>
          <a:prstGeom prst="rect">
            <a:avLst/>
          </a:prstGeom>
          <a:noFill/>
        </p:spPr>
        <p:txBody>
          <a:bodyPr wrap="square" rtlCol="0">
            <a:spAutoFit/>
          </a:bodyPr>
          <a:lstStyle/>
          <a:p>
            <a:pPr algn="ctr"/>
            <a:r>
              <a:rPr lang="en-GB" sz="1600" dirty="0">
                <a:latin typeface="Consolas"/>
                <a:cs typeface="Consolas"/>
              </a:rPr>
              <a:t>0x20000002</a:t>
            </a:r>
          </a:p>
        </p:txBody>
      </p:sp>
      <p:sp>
        <p:nvSpPr>
          <p:cNvPr id="13" name="TextBox 12"/>
          <p:cNvSpPr txBox="1"/>
          <p:nvPr/>
        </p:nvSpPr>
        <p:spPr>
          <a:xfrm>
            <a:off x="8269539" y="1195153"/>
            <a:ext cx="1368152" cy="338554"/>
          </a:xfrm>
          <a:prstGeom prst="rect">
            <a:avLst/>
          </a:prstGeom>
          <a:noFill/>
        </p:spPr>
        <p:txBody>
          <a:bodyPr wrap="square" rtlCol="0">
            <a:spAutoFit/>
          </a:bodyPr>
          <a:lstStyle/>
          <a:p>
            <a:pPr algn="ctr"/>
            <a:r>
              <a:rPr lang="en-GB" sz="1600" dirty="0">
                <a:latin typeface="Consolas"/>
                <a:cs typeface="Consolas"/>
              </a:rPr>
              <a:t>0x2000000D</a:t>
            </a:r>
          </a:p>
        </p:txBody>
      </p:sp>
      <p:sp>
        <p:nvSpPr>
          <p:cNvPr id="14" name="TextBox 13"/>
          <p:cNvSpPr txBox="1"/>
          <p:nvPr/>
        </p:nvSpPr>
        <p:spPr>
          <a:xfrm>
            <a:off x="8269539" y="1555193"/>
            <a:ext cx="1368152" cy="338554"/>
          </a:xfrm>
          <a:prstGeom prst="rect">
            <a:avLst/>
          </a:prstGeom>
          <a:noFill/>
        </p:spPr>
        <p:txBody>
          <a:bodyPr wrap="square" rtlCol="0">
            <a:spAutoFit/>
          </a:bodyPr>
          <a:lstStyle/>
          <a:p>
            <a:pPr algn="ctr"/>
            <a:r>
              <a:rPr lang="en-GB" sz="1600" dirty="0">
                <a:latin typeface="Consolas"/>
                <a:cs typeface="Consolas"/>
              </a:rPr>
              <a:t>0x2000000C</a:t>
            </a:r>
          </a:p>
        </p:txBody>
      </p:sp>
      <p:sp>
        <p:nvSpPr>
          <p:cNvPr id="15" name="TextBox 14"/>
          <p:cNvSpPr txBox="1"/>
          <p:nvPr/>
        </p:nvSpPr>
        <p:spPr>
          <a:xfrm>
            <a:off x="8269539" y="1915233"/>
            <a:ext cx="1368152" cy="338554"/>
          </a:xfrm>
          <a:prstGeom prst="rect">
            <a:avLst/>
          </a:prstGeom>
          <a:noFill/>
        </p:spPr>
        <p:txBody>
          <a:bodyPr wrap="square" rtlCol="0">
            <a:spAutoFit/>
          </a:bodyPr>
          <a:lstStyle/>
          <a:p>
            <a:pPr algn="ctr"/>
            <a:r>
              <a:rPr lang="en-GB" sz="1600" dirty="0">
                <a:latin typeface="Consolas"/>
                <a:cs typeface="Consolas"/>
              </a:rPr>
              <a:t>0x2000000B</a:t>
            </a:r>
          </a:p>
        </p:txBody>
      </p:sp>
      <p:sp>
        <p:nvSpPr>
          <p:cNvPr id="16" name="TextBox 15"/>
          <p:cNvSpPr txBox="1"/>
          <p:nvPr/>
        </p:nvSpPr>
        <p:spPr>
          <a:xfrm>
            <a:off x="8269539" y="2258669"/>
            <a:ext cx="1368152" cy="338554"/>
          </a:xfrm>
          <a:prstGeom prst="rect">
            <a:avLst/>
          </a:prstGeom>
          <a:noFill/>
        </p:spPr>
        <p:txBody>
          <a:bodyPr wrap="square" rtlCol="0">
            <a:spAutoFit/>
          </a:bodyPr>
          <a:lstStyle/>
          <a:p>
            <a:pPr algn="ctr"/>
            <a:r>
              <a:rPr lang="en-GB" sz="1600" dirty="0">
                <a:latin typeface="Consolas"/>
                <a:cs typeface="Consolas"/>
              </a:rPr>
              <a:t>0x2000000A</a:t>
            </a:r>
          </a:p>
        </p:txBody>
      </p:sp>
      <p:sp>
        <p:nvSpPr>
          <p:cNvPr id="17" name="TextBox 16"/>
          <p:cNvSpPr txBox="1"/>
          <p:nvPr/>
        </p:nvSpPr>
        <p:spPr>
          <a:xfrm>
            <a:off x="8269539" y="2618709"/>
            <a:ext cx="1368152" cy="338554"/>
          </a:xfrm>
          <a:prstGeom prst="rect">
            <a:avLst/>
          </a:prstGeom>
          <a:noFill/>
        </p:spPr>
        <p:txBody>
          <a:bodyPr wrap="square" rtlCol="0">
            <a:spAutoFit/>
          </a:bodyPr>
          <a:lstStyle/>
          <a:p>
            <a:pPr algn="ctr"/>
            <a:r>
              <a:rPr lang="en-GB" sz="1600" dirty="0">
                <a:latin typeface="Consolas"/>
                <a:cs typeface="Consolas"/>
              </a:rPr>
              <a:t>0x20000009</a:t>
            </a:r>
          </a:p>
        </p:txBody>
      </p:sp>
      <p:sp>
        <p:nvSpPr>
          <p:cNvPr id="18" name="TextBox 17"/>
          <p:cNvSpPr txBox="1"/>
          <p:nvPr/>
        </p:nvSpPr>
        <p:spPr>
          <a:xfrm>
            <a:off x="8269539" y="3338789"/>
            <a:ext cx="1368152" cy="338554"/>
          </a:xfrm>
          <a:prstGeom prst="rect">
            <a:avLst/>
          </a:prstGeom>
          <a:noFill/>
        </p:spPr>
        <p:txBody>
          <a:bodyPr wrap="square" rtlCol="0">
            <a:spAutoFit/>
          </a:bodyPr>
          <a:lstStyle/>
          <a:p>
            <a:pPr algn="ctr"/>
            <a:r>
              <a:rPr lang="en-GB" sz="1600" dirty="0">
                <a:latin typeface="Consolas"/>
                <a:cs typeface="Consolas"/>
              </a:rPr>
              <a:t>0x20000007</a:t>
            </a:r>
          </a:p>
        </p:txBody>
      </p:sp>
      <p:sp>
        <p:nvSpPr>
          <p:cNvPr id="19" name="TextBox 18"/>
          <p:cNvSpPr txBox="1"/>
          <p:nvPr/>
        </p:nvSpPr>
        <p:spPr>
          <a:xfrm>
            <a:off x="8269539" y="5499029"/>
            <a:ext cx="1368152" cy="338554"/>
          </a:xfrm>
          <a:prstGeom prst="rect">
            <a:avLst/>
          </a:prstGeom>
          <a:noFill/>
        </p:spPr>
        <p:txBody>
          <a:bodyPr wrap="square" rtlCol="0">
            <a:spAutoFit/>
          </a:bodyPr>
          <a:lstStyle/>
          <a:p>
            <a:pPr algn="ctr"/>
            <a:r>
              <a:rPr lang="en-GB" sz="1600" dirty="0">
                <a:latin typeface="Consolas"/>
                <a:cs typeface="Consolas"/>
              </a:rPr>
              <a:t>0x20000001</a:t>
            </a:r>
          </a:p>
        </p:txBody>
      </p:sp>
      <p:sp>
        <p:nvSpPr>
          <p:cNvPr id="20" name="TextBox 19"/>
          <p:cNvSpPr txBox="1"/>
          <p:nvPr/>
        </p:nvSpPr>
        <p:spPr>
          <a:xfrm>
            <a:off x="8267530" y="5860979"/>
            <a:ext cx="1368152" cy="338554"/>
          </a:xfrm>
          <a:prstGeom prst="rect">
            <a:avLst/>
          </a:prstGeom>
          <a:noFill/>
        </p:spPr>
        <p:txBody>
          <a:bodyPr wrap="square" rtlCol="0">
            <a:spAutoFit/>
          </a:bodyPr>
          <a:lstStyle/>
          <a:p>
            <a:pPr algn="ctr"/>
            <a:r>
              <a:rPr lang="en-GB" sz="1600" dirty="0">
                <a:solidFill>
                  <a:srgbClr val="0000FF"/>
                </a:solidFill>
                <a:latin typeface="Consolas"/>
                <a:cs typeface="Consolas"/>
              </a:rPr>
              <a:t>0x20000000</a:t>
            </a:r>
          </a:p>
        </p:txBody>
      </p:sp>
      <p:grpSp>
        <p:nvGrpSpPr>
          <p:cNvPr id="21" name="Group 20"/>
          <p:cNvGrpSpPr/>
          <p:nvPr/>
        </p:nvGrpSpPr>
        <p:grpSpPr>
          <a:xfrm>
            <a:off x="9563674" y="1195461"/>
            <a:ext cx="1300882" cy="5025866"/>
            <a:chOff x="8686800" y="1232170"/>
            <a:chExt cx="1300882" cy="5025866"/>
          </a:xfrm>
        </p:grpSpPr>
        <p:sp>
          <p:nvSpPr>
            <p:cNvPr id="22" name="Rectangle 21"/>
            <p:cNvSpPr/>
            <p:nvPr/>
          </p:nvSpPr>
          <p:spPr>
            <a:xfrm>
              <a:off x="8686800" y="40958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sp>
          <p:nvSpPr>
            <p:cNvPr id="23" name="Rectangle 22"/>
            <p:cNvSpPr/>
            <p:nvPr/>
          </p:nvSpPr>
          <p:spPr>
            <a:xfrm>
              <a:off x="8686800" y="44559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0x07</a:t>
              </a:r>
            </a:p>
          </p:txBody>
        </p:sp>
        <p:sp>
          <p:nvSpPr>
            <p:cNvPr id="24" name="Rectangle 23"/>
            <p:cNvSpPr/>
            <p:nvPr/>
          </p:nvSpPr>
          <p:spPr>
            <a:xfrm>
              <a:off x="8686800" y="30157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25" name="Rectangle 24"/>
            <p:cNvSpPr/>
            <p:nvPr/>
          </p:nvSpPr>
          <p:spPr>
            <a:xfrm>
              <a:off x="8686800" y="48159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rgbClr val="C00000"/>
                </a:solidFill>
                <a:latin typeface="Consolas" panose="020B0609020204030204" pitchFamily="49" charset="0"/>
                <a:cs typeface="Consolas" panose="020B0609020204030204" pitchFamily="49" charset="0"/>
              </a:endParaRPr>
            </a:p>
          </p:txBody>
        </p:sp>
        <p:sp>
          <p:nvSpPr>
            <p:cNvPr id="26" name="Rectangle 25"/>
            <p:cNvSpPr/>
            <p:nvPr/>
          </p:nvSpPr>
          <p:spPr>
            <a:xfrm>
              <a:off x="8686800" y="37358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sp>
          <p:nvSpPr>
            <p:cNvPr id="27" name="Rectangle 26"/>
            <p:cNvSpPr/>
            <p:nvPr/>
          </p:nvSpPr>
          <p:spPr>
            <a:xfrm>
              <a:off x="8686800" y="123217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28" name="Rectangle 27"/>
            <p:cNvSpPr/>
            <p:nvPr/>
          </p:nvSpPr>
          <p:spPr>
            <a:xfrm>
              <a:off x="8686800" y="15922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anose="020B0609020204030204" pitchFamily="49" charset="0"/>
              </a:endParaRPr>
            </a:p>
          </p:txBody>
        </p:sp>
        <p:sp>
          <p:nvSpPr>
            <p:cNvPr id="29" name="Rectangle 28"/>
            <p:cNvSpPr/>
            <p:nvPr/>
          </p:nvSpPr>
          <p:spPr>
            <a:xfrm>
              <a:off x="8686800" y="195225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latin typeface="Consolas" panose="020B0609020204030204" pitchFamily="49" charset="0"/>
                <a:cs typeface="Consolas" panose="020B0609020204030204" pitchFamily="49" charset="0"/>
              </a:endParaRPr>
            </a:p>
          </p:txBody>
        </p:sp>
        <p:sp>
          <p:nvSpPr>
            <p:cNvPr id="30" name="Rectangle 29"/>
            <p:cNvSpPr/>
            <p:nvPr/>
          </p:nvSpPr>
          <p:spPr>
            <a:xfrm>
              <a:off x="8686800" y="22956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rgbClr val="000000"/>
                </a:solidFill>
                <a:latin typeface="Consolas" panose="020B0609020204030204" pitchFamily="49" charset="0"/>
                <a:cs typeface="Consolas" pitchFamily="49" charset="0"/>
              </a:endParaRPr>
            </a:p>
          </p:txBody>
        </p:sp>
        <p:sp>
          <p:nvSpPr>
            <p:cNvPr id="31" name="Rectangle 30"/>
            <p:cNvSpPr/>
            <p:nvPr/>
          </p:nvSpPr>
          <p:spPr>
            <a:xfrm>
              <a:off x="8686800" y="26557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itchFamily="49" charset="0"/>
              </a:endParaRPr>
            </a:p>
          </p:txBody>
        </p:sp>
        <p:sp>
          <p:nvSpPr>
            <p:cNvPr id="32" name="Rectangle 31"/>
            <p:cNvSpPr/>
            <p:nvPr/>
          </p:nvSpPr>
          <p:spPr>
            <a:xfrm>
              <a:off x="8686800" y="55360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rgbClr val="C00000"/>
                </a:solidFill>
                <a:latin typeface="Consolas" panose="020B0609020204030204" pitchFamily="49" charset="0"/>
                <a:cs typeface="Consolas" panose="020B0609020204030204" pitchFamily="49" charset="0"/>
              </a:endParaRPr>
            </a:p>
          </p:txBody>
        </p:sp>
        <p:sp>
          <p:nvSpPr>
            <p:cNvPr id="33" name="Rectangle 32"/>
            <p:cNvSpPr/>
            <p:nvPr/>
          </p:nvSpPr>
          <p:spPr>
            <a:xfrm>
              <a:off x="8686800" y="337580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sp>
          <p:nvSpPr>
            <p:cNvPr id="34" name="Rectangle 33"/>
            <p:cNvSpPr/>
            <p:nvPr/>
          </p:nvSpPr>
          <p:spPr>
            <a:xfrm>
              <a:off x="8691538" y="589799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rgbClr val="C00000"/>
                </a:solidFill>
                <a:latin typeface="Consolas" panose="020B0609020204030204" pitchFamily="49" charset="0"/>
                <a:cs typeface="Consolas" panose="020B0609020204030204" pitchFamily="49" charset="0"/>
              </a:endParaRPr>
            </a:p>
          </p:txBody>
        </p:sp>
        <p:sp>
          <p:nvSpPr>
            <p:cNvPr id="35" name="Rectangle 34"/>
            <p:cNvSpPr/>
            <p:nvPr/>
          </p:nvSpPr>
          <p:spPr>
            <a:xfrm>
              <a:off x="8687966" y="51721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rgbClr val="C00000"/>
                </a:solidFill>
                <a:latin typeface="Consolas" panose="020B0609020204030204" pitchFamily="49" charset="0"/>
                <a:cs typeface="Consolas" panose="020B0609020204030204" pitchFamily="49" charset="0"/>
              </a:endParaRPr>
            </a:p>
          </p:txBody>
        </p:sp>
      </p:grpSp>
      <p:sp>
        <p:nvSpPr>
          <p:cNvPr id="38" name="Rectangle 37"/>
          <p:cNvSpPr/>
          <p:nvPr/>
        </p:nvSpPr>
        <p:spPr>
          <a:xfrm>
            <a:off x="7696200" y="5836622"/>
            <a:ext cx="564578" cy="369332"/>
          </a:xfrm>
          <a:prstGeom prst="rect">
            <a:avLst/>
          </a:prstGeom>
        </p:spPr>
        <p:txBody>
          <a:bodyPr wrap="none">
            <a:spAutoFit/>
          </a:bodyPr>
          <a:lstStyle/>
          <a:p>
            <a:r>
              <a:rPr lang="en-GB" dirty="0" err="1">
                <a:solidFill>
                  <a:srgbClr val="0000FF"/>
                </a:solidFill>
                <a:latin typeface="Consolas" panose="020B0609020204030204" pitchFamily="49" charset="0"/>
                <a:cs typeface="Consolas" panose="020B0609020204030204" pitchFamily="49" charset="0"/>
              </a:rPr>
              <a:t>ptr</a:t>
            </a:r>
            <a:endParaRPr lang="en-US" dirty="0">
              <a:solidFill>
                <a:srgbClr val="0000FF"/>
              </a:solidFill>
            </a:endParaRPr>
          </a:p>
        </p:txBody>
      </p:sp>
      <p:sp>
        <p:nvSpPr>
          <p:cNvPr id="41" name="TextBox 40"/>
          <p:cNvSpPr txBox="1"/>
          <p:nvPr/>
        </p:nvSpPr>
        <p:spPr>
          <a:xfrm>
            <a:off x="10858500" y="4427165"/>
            <a:ext cx="802974" cy="369332"/>
          </a:xfrm>
          <a:prstGeom prst="rect">
            <a:avLst/>
          </a:prstGeom>
          <a:noFill/>
        </p:spPr>
        <p:txBody>
          <a:bodyPr wrap="square" rtlCol="0">
            <a:spAutoFit/>
          </a:bodyPr>
          <a:lstStyle/>
          <a:p>
            <a:r>
              <a:rPr lang="en-GB" dirty="0">
                <a:solidFill>
                  <a:srgbClr val="FF00FF"/>
                </a:solidFill>
                <a:latin typeface="Consolas"/>
                <a:cs typeface="Consolas"/>
              </a:rPr>
              <a:t>a[0]</a:t>
            </a:r>
          </a:p>
        </p:txBody>
      </p:sp>
      <p:sp>
        <p:nvSpPr>
          <p:cNvPr id="42" name="TextBox 41"/>
          <p:cNvSpPr txBox="1"/>
          <p:nvPr/>
        </p:nvSpPr>
        <p:spPr>
          <a:xfrm>
            <a:off x="10858500" y="2987005"/>
            <a:ext cx="802974" cy="369332"/>
          </a:xfrm>
          <a:prstGeom prst="rect">
            <a:avLst/>
          </a:prstGeom>
          <a:noFill/>
        </p:spPr>
        <p:txBody>
          <a:bodyPr wrap="square" rtlCol="0">
            <a:spAutoFit/>
          </a:bodyPr>
          <a:lstStyle/>
          <a:p>
            <a:r>
              <a:rPr lang="en-GB" dirty="0">
                <a:solidFill>
                  <a:srgbClr val="FF00FF"/>
                </a:solidFill>
                <a:latin typeface="Consolas"/>
                <a:cs typeface="Consolas"/>
              </a:rPr>
              <a:t>a[1]</a:t>
            </a:r>
          </a:p>
        </p:txBody>
      </p:sp>
      <p:sp>
        <p:nvSpPr>
          <p:cNvPr id="43" name="TextBox 42"/>
          <p:cNvSpPr txBox="1"/>
          <p:nvPr/>
        </p:nvSpPr>
        <p:spPr>
          <a:xfrm>
            <a:off x="10858500" y="1522348"/>
            <a:ext cx="802974" cy="369332"/>
          </a:xfrm>
          <a:prstGeom prst="rect">
            <a:avLst/>
          </a:prstGeom>
          <a:noFill/>
        </p:spPr>
        <p:txBody>
          <a:bodyPr wrap="square" rtlCol="0">
            <a:spAutoFit/>
          </a:bodyPr>
          <a:lstStyle/>
          <a:p>
            <a:r>
              <a:rPr lang="en-GB" dirty="0">
                <a:solidFill>
                  <a:srgbClr val="FF00FF"/>
                </a:solidFill>
                <a:latin typeface="Consolas"/>
                <a:cs typeface="Consolas"/>
              </a:rPr>
              <a:t>a[2]</a:t>
            </a:r>
          </a:p>
        </p:txBody>
      </p:sp>
      <p:grpSp>
        <p:nvGrpSpPr>
          <p:cNvPr id="44" name="Group 43"/>
          <p:cNvGrpSpPr/>
          <p:nvPr/>
        </p:nvGrpSpPr>
        <p:grpSpPr>
          <a:xfrm>
            <a:off x="8267530" y="476362"/>
            <a:ext cx="2590970" cy="731769"/>
            <a:chOff x="8267530" y="476362"/>
            <a:chExt cx="2590970" cy="731769"/>
          </a:xfrm>
        </p:grpSpPr>
        <p:sp>
          <p:nvSpPr>
            <p:cNvPr id="45" name="TextBox 44"/>
            <p:cNvSpPr txBox="1"/>
            <p:nvPr/>
          </p:nvSpPr>
          <p:spPr>
            <a:xfrm>
              <a:off x="8267530" y="509537"/>
              <a:ext cx="1368152" cy="338554"/>
            </a:xfrm>
            <a:prstGeom prst="rect">
              <a:avLst/>
            </a:prstGeom>
            <a:noFill/>
          </p:spPr>
          <p:txBody>
            <a:bodyPr wrap="square" rtlCol="0">
              <a:spAutoFit/>
            </a:bodyPr>
            <a:lstStyle/>
            <a:p>
              <a:pPr algn="ctr"/>
              <a:r>
                <a:rPr lang="en-GB" sz="1600" dirty="0">
                  <a:latin typeface="Consolas"/>
                  <a:cs typeface="Consolas"/>
                </a:rPr>
                <a:t>0x2000000F</a:t>
              </a:r>
            </a:p>
          </p:txBody>
        </p:sp>
        <p:sp>
          <p:nvSpPr>
            <p:cNvPr id="46" name="TextBox 45"/>
            <p:cNvSpPr txBox="1"/>
            <p:nvPr/>
          </p:nvSpPr>
          <p:spPr>
            <a:xfrm>
              <a:off x="8267530" y="869577"/>
              <a:ext cx="1368152" cy="338554"/>
            </a:xfrm>
            <a:prstGeom prst="rect">
              <a:avLst/>
            </a:prstGeom>
            <a:noFill/>
          </p:spPr>
          <p:txBody>
            <a:bodyPr wrap="square" rtlCol="0">
              <a:spAutoFit/>
            </a:bodyPr>
            <a:lstStyle/>
            <a:p>
              <a:pPr algn="ctr"/>
              <a:r>
                <a:rPr lang="en-GB" sz="1600" dirty="0">
                  <a:latin typeface="Consolas"/>
                  <a:cs typeface="Consolas"/>
                </a:rPr>
                <a:t>0x2000000E</a:t>
              </a:r>
            </a:p>
          </p:txBody>
        </p:sp>
        <p:sp>
          <p:nvSpPr>
            <p:cNvPr id="47" name="Rectangle 46"/>
            <p:cNvSpPr/>
            <p:nvPr/>
          </p:nvSpPr>
          <p:spPr>
            <a:xfrm>
              <a:off x="9562356" y="476362"/>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48" name="Rectangle 47"/>
            <p:cNvSpPr/>
            <p:nvPr/>
          </p:nvSpPr>
          <p:spPr>
            <a:xfrm>
              <a:off x="9562356" y="836402"/>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1922468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Pointer and Array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sp>
        <p:nvSpPr>
          <p:cNvPr id="6" name="Rectangle 5"/>
          <p:cNvSpPr/>
          <p:nvPr/>
        </p:nvSpPr>
        <p:spPr>
          <a:xfrm>
            <a:off x="609600" y="2438400"/>
            <a:ext cx="6172200" cy="163121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000" dirty="0">
                <a:latin typeface="Consolas" panose="020B0609020204030204" pitchFamily="49" charset="0"/>
              </a:rPr>
              <a:t>int *</a:t>
            </a:r>
            <a:r>
              <a:rPr lang="en-US" sz="2000" dirty="0" err="1">
                <a:latin typeface="Consolas" panose="020B0609020204030204" pitchFamily="49" charset="0"/>
              </a:rPr>
              <a:t>ptr</a:t>
            </a:r>
            <a:r>
              <a:rPr lang="en-US" sz="2000" dirty="0">
                <a:latin typeface="Consolas" panose="020B0609020204030204" pitchFamily="49" charset="0"/>
              </a:rPr>
              <a:t>;  // Assume stored at 0x20000000</a:t>
            </a:r>
          </a:p>
          <a:p>
            <a:r>
              <a:rPr lang="en-US" sz="2000" dirty="0">
                <a:latin typeface="Consolas" panose="020B0609020204030204" pitchFamily="49" charset="0"/>
              </a:rPr>
              <a:t>int a[5];  // Assume started at 0x20000004</a:t>
            </a:r>
          </a:p>
          <a:p>
            <a:r>
              <a:rPr lang="en-US" sz="2000" dirty="0">
                <a:latin typeface="Consolas" panose="020B0609020204030204" pitchFamily="49" charset="0"/>
              </a:rPr>
              <a:t>*a = 7;    // array[0] = 7;</a:t>
            </a:r>
          </a:p>
          <a:p>
            <a:r>
              <a:rPr lang="en-US" sz="2000" dirty="0" err="1">
                <a:solidFill>
                  <a:srgbClr val="C00000"/>
                </a:solidFill>
                <a:latin typeface="Consolas" panose="020B0609020204030204" pitchFamily="49" charset="0"/>
              </a:rPr>
              <a:t>ptr</a:t>
            </a:r>
            <a:r>
              <a:rPr lang="en-US" sz="2000" dirty="0">
                <a:solidFill>
                  <a:srgbClr val="C00000"/>
                </a:solidFill>
                <a:latin typeface="Consolas" panose="020B0609020204030204" pitchFamily="49" charset="0"/>
              </a:rPr>
              <a:t> = a;   </a:t>
            </a:r>
            <a:r>
              <a:rPr lang="en-US" sz="2000" dirty="0">
                <a:latin typeface="Consolas" panose="020B0609020204030204" pitchFamily="49" charset="0"/>
              </a:rPr>
              <a:t>// </a:t>
            </a:r>
            <a:r>
              <a:rPr lang="en-US" sz="2000" dirty="0" err="1">
                <a:latin typeface="Consolas" panose="020B0609020204030204" pitchFamily="49" charset="0"/>
              </a:rPr>
              <a:t>ptr</a:t>
            </a:r>
            <a:r>
              <a:rPr lang="en-US" sz="2000" dirty="0">
                <a:latin typeface="Consolas" panose="020B0609020204030204" pitchFamily="49" charset="0"/>
              </a:rPr>
              <a:t> points to array[0]</a:t>
            </a:r>
          </a:p>
          <a:p>
            <a:endParaRPr lang="en-US" sz="2000" dirty="0">
              <a:latin typeface="Consolas" panose="020B0609020204030204" pitchFamily="49" charset="0"/>
            </a:endParaRPr>
          </a:p>
        </p:txBody>
      </p:sp>
      <p:sp>
        <p:nvSpPr>
          <p:cNvPr id="7" name="TextBox 6"/>
          <p:cNvSpPr txBox="1"/>
          <p:nvPr/>
        </p:nvSpPr>
        <p:spPr>
          <a:xfrm>
            <a:off x="8269539" y="4058869"/>
            <a:ext cx="1368152" cy="338554"/>
          </a:xfrm>
          <a:prstGeom prst="rect">
            <a:avLst/>
          </a:prstGeom>
          <a:noFill/>
        </p:spPr>
        <p:txBody>
          <a:bodyPr wrap="square" rtlCol="0">
            <a:spAutoFit/>
          </a:bodyPr>
          <a:lstStyle/>
          <a:p>
            <a:pPr algn="ctr"/>
            <a:r>
              <a:rPr lang="en-GB" sz="1600" dirty="0">
                <a:latin typeface="Consolas"/>
                <a:cs typeface="Consolas"/>
              </a:rPr>
              <a:t>0x20000005</a:t>
            </a:r>
          </a:p>
        </p:txBody>
      </p:sp>
      <p:sp>
        <p:nvSpPr>
          <p:cNvPr id="8" name="TextBox 7"/>
          <p:cNvSpPr txBox="1"/>
          <p:nvPr/>
        </p:nvSpPr>
        <p:spPr>
          <a:xfrm>
            <a:off x="8269539" y="4418909"/>
            <a:ext cx="1368152" cy="338554"/>
          </a:xfrm>
          <a:prstGeom prst="rect">
            <a:avLst/>
          </a:prstGeom>
          <a:noFill/>
        </p:spPr>
        <p:txBody>
          <a:bodyPr wrap="square" rtlCol="0">
            <a:spAutoFit/>
          </a:bodyPr>
          <a:lstStyle/>
          <a:p>
            <a:pPr algn="ctr"/>
            <a:r>
              <a:rPr lang="en-GB" sz="1600" dirty="0">
                <a:solidFill>
                  <a:srgbClr val="C00000"/>
                </a:solidFill>
                <a:latin typeface="Consolas"/>
                <a:cs typeface="Consolas"/>
              </a:rPr>
              <a:t>0x20000004</a:t>
            </a:r>
          </a:p>
        </p:txBody>
      </p:sp>
      <p:sp>
        <p:nvSpPr>
          <p:cNvPr id="9" name="TextBox 8"/>
          <p:cNvSpPr txBox="1"/>
          <p:nvPr/>
        </p:nvSpPr>
        <p:spPr>
          <a:xfrm>
            <a:off x="8269539" y="2978749"/>
            <a:ext cx="1368152" cy="338554"/>
          </a:xfrm>
          <a:prstGeom prst="rect">
            <a:avLst/>
          </a:prstGeom>
          <a:noFill/>
        </p:spPr>
        <p:txBody>
          <a:bodyPr wrap="square" rtlCol="0">
            <a:spAutoFit/>
          </a:bodyPr>
          <a:lstStyle/>
          <a:p>
            <a:pPr algn="ctr"/>
            <a:r>
              <a:rPr lang="en-GB" sz="1600" dirty="0">
                <a:latin typeface="Consolas"/>
                <a:cs typeface="Consolas"/>
              </a:rPr>
              <a:t>0x20000008</a:t>
            </a:r>
          </a:p>
        </p:txBody>
      </p:sp>
      <p:sp>
        <p:nvSpPr>
          <p:cNvPr id="10" name="TextBox 9"/>
          <p:cNvSpPr txBox="1"/>
          <p:nvPr/>
        </p:nvSpPr>
        <p:spPr>
          <a:xfrm>
            <a:off x="8269539" y="3698829"/>
            <a:ext cx="1368152" cy="338554"/>
          </a:xfrm>
          <a:prstGeom prst="rect">
            <a:avLst/>
          </a:prstGeom>
          <a:noFill/>
        </p:spPr>
        <p:txBody>
          <a:bodyPr wrap="square" rtlCol="0">
            <a:spAutoFit/>
          </a:bodyPr>
          <a:lstStyle/>
          <a:p>
            <a:pPr algn="ctr"/>
            <a:r>
              <a:rPr lang="en-GB" sz="1600" dirty="0">
                <a:latin typeface="Consolas"/>
                <a:cs typeface="Consolas"/>
              </a:rPr>
              <a:t>0x20000006</a:t>
            </a:r>
          </a:p>
        </p:txBody>
      </p:sp>
      <p:sp>
        <p:nvSpPr>
          <p:cNvPr id="11" name="TextBox 10"/>
          <p:cNvSpPr txBox="1"/>
          <p:nvPr/>
        </p:nvSpPr>
        <p:spPr>
          <a:xfrm>
            <a:off x="8269539" y="4778949"/>
            <a:ext cx="1368152" cy="338554"/>
          </a:xfrm>
          <a:prstGeom prst="rect">
            <a:avLst/>
          </a:prstGeom>
          <a:noFill/>
        </p:spPr>
        <p:txBody>
          <a:bodyPr wrap="square" rtlCol="0">
            <a:spAutoFit/>
          </a:bodyPr>
          <a:lstStyle/>
          <a:p>
            <a:pPr algn="ctr"/>
            <a:r>
              <a:rPr lang="en-GB" sz="1600" dirty="0">
                <a:latin typeface="Consolas"/>
                <a:cs typeface="Consolas"/>
              </a:rPr>
              <a:t>0x20000003</a:t>
            </a:r>
          </a:p>
        </p:txBody>
      </p:sp>
      <p:sp>
        <p:nvSpPr>
          <p:cNvPr id="12" name="TextBox 11"/>
          <p:cNvSpPr txBox="1"/>
          <p:nvPr/>
        </p:nvSpPr>
        <p:spPr>
          <a:xfrm>
            <a:off x="8269539" y="5138989"/>
            <a:ext cx="1368152" cy="338554"/>
          </a:xfrm>
          <a:prstGeom prst="rect">
            <a:avLst/>
          </a:prstGeom>
          <a:noFill/>
        </p:spPr>
        <p:txBody>
          <a:bodyPr wrap="square" rtlCol="0">
            <a:spAutoFit/>
          </a:bodyPr>
          <a:lstStyle/>
          <a:p>
            <a:pPr algn="ctr"/>
            <a:r>
              <a:rPr lang="en-GB" sz="1600" dirty="0">
                <a:latin typeface="Consolas"/>
                <a:cs typeface="Consolas"/>
              </a:rPr>
              <a:t>0x20000002</a:t>
            </a:r>
          </a:p>
        </p:txBody>
      </p:sp>
      <p:sp>
        <p:nvSpPr>
          <p:cNvPr id="13" name="TextBox 12"/>
          <p:cNvSpPr txBox="1"/>
          <p:nvPr/>
        </p:nvSpPr>
        <p:spPr>
          <a:xfrm>
            <a:off x="8269539" y="1195153"/>
            <a:ext cx="1368152" cy="338554"/>
          </a:xfrm>
          <a:prstGeom prst="rect">
            <a:avLst/>
          </a:prstGeom>
          <a:noFill/>
        </p:spPr>
        <p:txBody>
          <a:bodyPr wrap="square" rtlCol="0">
            <a:spAutoFit/>
          </a:bodyPr>
          <a:lstStyle/>
          <a:p>
            <a:pPr algn="ctr"/>
            <a:r>
              <a:rPr lang="en-GB" sz="1600" dirty="0">
                <a:latin typeface="Consolas"/>
                <a:cs typeface="Consolas"/>
              </a:rPr>
              <a:t>0x2000000D</a:t>
            </a:r>
          </a:p>
        </p:txBody>
      </p:sp>
      <p:sp>
        <p:nvSpPr>
          <p:cNvPr id="14" name="TextBox 13"/>
          <p:cNvSpPr txBox="1"/>
          <p:nvPr/>
        </p:nvSpPr>
        <p:spPr>
          <a:xfrm>
            <a:off x="8269539" y="1555193"/>
            <a:ext cx="1368152" cy="338554"/>
          </a:xfrm>
          <a:prstGeom prst="rect">
            <a:avLst/>
          </a:prstGeom>
          <a:noFill/>
        </p:spPr>
        <p:txBody>
          <a:bodyPr wrap="square" rtlCol="0">
            <a:spAutoFit/>
          </a:bodyPr>
          <a:lstStyle/>
          <a:p>
            <a:pPr algn="ctr"/>
            <a:r>
              <a:rPr lang="en-GB" sz="1600" dirty="0">
                <a:latin typeface="Consolas"/>
                <a:cs typeface="Consolas"/>
              </a:rPr>
              <a:t>0x2000000C</a:t>
            </a:r>
          </a:p>
        </p:txBody>
      </p:sp>
      <p:sp>
        <p:nvSpPr>
          <p:cNvPr id="15" name="TextBox 14"/>
          <p:cNvSpPr txBox="1"/>
          <p:nvPr/>
        </p:nvSpPr>
        <p:spPr>
          <a:xfrm>
            <a:off x="8269539" y="1915233"/>
            <a:ext cx="1368152" cy="338554"/>
          </a:xfrm>
          <a:prstGeom prst="rect">
            <a:avLst/>
          </a:prstGeom>
          <a:noFill/>
        </p:spPr>
        <p:txBody>
          <a:bodyPr wrap="square" rtlCol="0">
            <a:spAutoFit/>
          </a:bodyPr>
          <a:lstStyle/>
          <a:p>
            <a:pPr algn="ctr"/>
            <a:r>
              <a:rPr lang="en-GB" sz="1600" dirty="0">
                <a:latin typeface="Consolas"/>
                <a:cs typeface="Consolas"/>
              </a:rPr>
              <a:t>0x2000000B</a:t>
            </a:r>
          </a:p>
        </p:txBody>
      </p:sp>
      <p:sp>
        <p:nvSpPr>
          <p:cNvPr id="16" name="TextBox 15"/>
          <p:cNvSpPr txBox="1"/>
          <p:nvPr/>
        </p:nvSpPr>
        <p:spPr>
          <a:xfrm>
            <a:off x="8269539" y="2258669"/>
            <a:ext cx="1368152" cy="338554"/>
          </a:xfrm>
          <a:prstGeom prst="rect">
            <a:avLst/>
          </a:prstGeom>
          <a:noFill/>
        </p:spPr>
        <p:txBody>
          <a:bodyPr wrap="square" rtlCol="0">
            <a:spAutoFit/>
          </a:bodyPr>
          <a:lstStyle/>
          <a:p>
            <a:pPr algn="ctr"/>
            <a:r>
              <a:rPr lang="en-GB" sz="1600" dirty="0">
                <a:latin typeface="Consolas"/>
                <a:cs typeface="Consolas"/>
              </a:rPr>
              <a:t>0x2000000A</a:t>
            </a:r>
          </a:p>
        </p:txBody>
      </p:sp>
      <p:sp>
        <p:nvSpPr>
          <p:cNvPr id="17" name="TextBox 16"/>
          <p:cNvSpPr txBox="1"/>
          <p:nvPr/>
        </p:nvSpPr>
        <p:spPr>
          <a:xfrm>
            <a:off x="8269539" y="2618709"/>
            <a:ext cx="1368152" cy="338554"/>
          </a:xfrm>
          <a:prstGeom prst="rect">
            <a:avLst/>
          </a:prstGeom>
          <a:noFill/>
        </p:spPr>
        <p:txBody>
          <a:bodyPr wrap="square" rtlCol="0">
            <a:spAutoFit/>
          </a:bodyPr>
          <a:lstStyle/>
          <a:p>
            <a:pPr algn="ctr"/>
            <a:r>
              <a:rPr lang="en-GB" sz="1600" dirty="0">
                <a:latin typeface="Consolas"/>
                <a:cs typeface="Consolas"/>
              </a:rPr>
              <a:t>0x20000009</a:t>
            </a:r>
          </a:p>
        </p:txBody>
      </p:sp>
      <p:sp>
        <p:nvSpPr>
          <p:cNvPr id="18" name="TextBox 17"/>
          <p:cNvSpPr txBox="1"/>
          <p:nvPr/>
        </p:nvSpPr>
        <p:spPr>
          <a:xfrm>
            <a:off x="8269539" y="3338789"/>
            <a:ext cx="1368152" cy="338554"/>
          </a:xfrm>
          <a:prstGeom prst="rect">
            <a:avLst/>
          </a:prstGeom>
          <a:noFill/>
        </p:spPr>
        <p:txBody>
          <a:bodyPr wrap="square" rtlCol="0">
            <a:spAutoFit/>
          </a:bodyPr>
          <a:lstStyle/>
          <a:p>
            <a:pPr algn="ctr"/>
            <a:r>
              <a:rPr lang="en-GB" sz="1600" dirty="0">
                <a:latin typeface="Consolas"/>
                <a:cs typeface="Consolas"/>
              </a:rPr>
              <a:t>0x20000007</a:t>
            </a:r>
          </a:p>
        </p:txBody>
      </p:sp>
      <p:sp>
        <p:nvSpPr>
          <p:cNvPr id="19" name="TextBox 18"/>
          <p:cNvSpPr txBox="1"/>
          <p:nvPr/>
        </p:nvSpPr>
        <p:spPr>
          <a:xfrm>
            <a:off x="8269539" y="5499029"/>
            <a:ext cx="1368152" cy="338554"/>
          </a:xfrm>
          <a:prstGeom prst="rect">
            <a:avLst/>
          </a:prstGeom>
          <a:noFill/>
        </p:spPr>
        <p:txBody>
          <a:bodyPr wrap="square" rtlCol="0">
            <a:spAutoFit/>
          </a:bodyPr>
          <a:lstStyle/>
          <a:p>
            <a:pPr algn="ctr"/>
            <a:r>
              <a:rPr lang="en-GB" sz="1600" dirty="0">
                <a:latin typeface="Consolas"/>
                <a:cs typeface="Consolas"/>
              </a:rPr>
              <a:t>0x20000001</a:t>
            </a:r>
          </a:p>
        </p:txBody>
      </p:sp>
      <p:sp>
        <p:nvSpPr>
          <p:cNvPr id="20" name="TextBox 19"/>
          <p:cNvSpPr txBox="1"/>
          <p:nvPr/>
        </p:nvSpPr>
        <p:spPr>
          <a:xfrm>
            <a:off x="8267530" y="5860979"/>
            <a:ext cx="1368152" cy="338554"/>
          </a:xfrm>
          <a:prstGeom prst="rect">
            <a:avLst/>
          </a:prstGeom>
          <a:noFill/>
        </p:spPr>
        <p:txBody>
          <a:bodyPr wrap="square" rtlCol="0">
            <a:spAutoFit/>
          </a:bodyPr>
          <a:lstStyle/>
          <a:p>
            <a:pPr algn="ctr"/>
            <a:r>
              <a:rPr lang="en-GB" sz="1600" dirty="0">
                <a:solidFill>
                  <a:srgbClr val="0000FF"/>
                </a:solidFill>
                <a:latin typeface="Consolas"/>
                <a:cs typeface="Consolas"/>
              </a:rPr>
              <a:t>0x20000000</a:t>
            </a:r>
          </a:p>
        </p:txBody>
      </p:sp>
      <p:grpSp>
        <p:nvGrpSpPr>
          <p:cNvPr id="21" name="Group 20"/>
          <p:cNvGrpSpPr/>
          <p:nvPr/>
        </p:nvGrpSpPr>
        <p:grpSpPr>
          <a:xfrm>
            <a:off x="9563674" y="1195461"/>
            <a:ext cx="1300882" cy="5025866"/>
            <a:chOff x="8686800" y="1232170"/>
            <a:chExt cx="1300882" cy="5025866"/>
          </a:xfrm>
        </p:grpSpPr>
        <p:sp>
          <p:nvSpPr>
            <p:cNvPr id="22" name="Rectangle 21"/>
            <p:cNvSpPr/>
            <p:nvPr/>
          </p:nvSpPr>
          <p:spPr>
            <a:xfrm>
              <a:off x="8686800" y="40958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Consolas" panose="020B0609020204030204" pitchFamily="49" charset="0"/>
                  <a:cs typeface="Consolas" panose="020B0609020204030204" pitchFamily="49" charset="0"/>
                </a:rPr>
                <a:t>0x00</a:t>
              </a:r>
            </a:p>
          </p:txBody>
        </p:sp>
        <p:sp>
          <p:nvSpPr>
            <p:cNvPr id="23" name="Rectangle 22"/>
            <p:cNvSpPr/>
            <p:nvPr/>
          </p:nvSpPr>
          <p:spPr>
            <a:xfrm>
              <a:off x="8686800" y="44559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Consolas" panose="020B0609020204030204" pitchFamily="49" charset="0"/>
                  <a:cs typeface="Consolas" panose="020B0609020204030204" pitchFamily="49" charset="0"/>
                </a:rPr>
                <a:t>0x07</a:t>
              </a:r>
            </a:p>
          </p:txBody>
        </p:sp>
        <p:sp>
          <p:nvSpPr>
            <p:cNvPr id="24" name="Rectangle 23"/>
            <p:cNvSpPr/>
            <p:nvPr/>
          </p:nvSpPr>
          <p:spPr>
            <a:xfrm>
              <a:off x="8686800" y="30157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25" name="Rectangle 24"/>
            <p:cNvSpPr/>
            <p:nvPr/>
          </p:nvSpPr>
          <p:spPr>
            <a:xfrm>
              <a:off x="8686800" y="48159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0x20</a:t>
              </a:r>
            </a:p>
          </p:txBody>
        </p:sp>
        <p:sp>
          <p:nvSpPr>
            <p:cNvPr id="26" name="Rectangle 25"/>
            <p:cNvSpPr/>
            <p:nvPr/>
          </p:nvSpPr>
          <p:spPr>
            <a:xfrm>
              <a:off x="8686800" y="37358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Consolas" panose="020B0609020204030204" pitchFamily="49" charset="0"/>
                  <a:cs typeface="Consolas" panose="020B0609020204030204" pitchFamily="49" charset="0"/>
                </a:rPr>
                <a:t>0x00</a:t>
              </a:r>
            </a:p>
          </p:txBody>
        </p:sp>
        <p:sp>
          <p:nvSpPr>
            <p:cNvPr id="27" name="Rectangle 26"/>
            <p:cNvSpPr/>
            <p:nvPr/>
          </p:nvSpPr>
          <p:spPr>
            <a:xfrm>
              <a:off x="8686800" y="123217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28" name="Rectangle 27"/>
            <p:cNvSpPr/>
            <p:nvPr/>
          </p:nvSpPr>
          <p:spPr>
            <a:xfrm>
              <a:off x="8686800" y="15922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anose="020B0609020204030204" pitchFamily="49" charset="0"/>
              </a:endParaRPr>
            </a:p>
          </p:txBody>
        </p:sp>
        <p:sp>
          <p:nvSpPr>
            <p:cNvPr id="29" name="Rectangle 28"/>
            <p:cNvSpPr/>
            <p:nvPr/>
          </p:nvSpPr>
          <p:spPr>
            <a:xfrm>
              <a:off x="8686800" y="195225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latin typeface="Consolas" panose="020B0609020204030204" pitchFamily="49" charset="0"/>
                <a:cs typeface="Consolas" panose="020B0609020204030204" pitchFamily="49" charset="0"/>
              </a:endParaRPr>
            </a:p>
          </p:txBody>
        </p:sp>
        <p:sp>
          <p:nvSpPr>
            <p:cNvPr id="30" name="Rectangle 29"/>
            <p:cNvSpPr/>
            <p:nvPr/>
          </p:nvSpPr>
          <p:spPr>
            <a:xfrm>
              <a:off x="8686800" y="22956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rgbClr val="000000"/>
                </a:solidFill>
                <a:latin typeface="Consolas" panose="020B0609020204030204" pitchFamily="49" charset="0"/>
                <a:cs typeface="Consolas" pitchFamily="49" charset="0"/>
              </a:endParaRPr>
            </a:p>
          </p:txBody>
        </p:sp>
        <p:sp>
          <p:nvSpPr>
            <p:cNvPr id="31" name="Rectangle 30"/>
            <p:cNvSpPr/>
            <p:nvPr/>
          </p:nvSpPr>
          <p:spPr>
            <a:xfrm>
              <a:off x="8686800" y="26557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itchFamily="49" charset="0"/>
              </a:endParaRPr>
            </a:p>
          </p:txBody>
        </p:sp>
        <p:sp>
          <p:nvSpPr>
            <p:cNvPr id="32" name="Rectangle 31"/>
            <p:cNvSpPr/>
            <p:nvPr/>
          </p:nvSpPr>
          <p:spPr>
            <a:xfrm>
              <a:off x="8686800" y="55360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sp>
          <p:nvSpPr>
            <p:cNvPr id="33" name="Rectangle 32"/>
            <p:cNvSpPr/>
            <p:nvPr/>
          </p:nvSpPr>
          <p:spPr>
            <a:xfrm>
              <a:off x="8686800" y="337580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Consolas" panose="020B0609020204030204" pitchFamily="49" charset="0"/>
                  <a:cs typeface="Consolas" panose="020B0609020204030204" pitchFamily="49" charset="0"/>
                </a:rPr>
                <a:t>0x00</a:t>
              </a:r>
            </a:p>
          </p:txBody>
        </p:sp>
        <p:sp>
          <p:nvSpPr>
            <p:cNvPr id="34" name="Rectangle 33"/>
            <p:cNvSpPr/>
            <p:nvPr/>
          </p:nvSpPr>
          <p:spPr>
            <a:xfrm>
              <a:off x="8691538" y="589799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0x04</a:t>
              </a:r>
            </a:p>
          </p:txBody>
        </p:sp>
        <p:sp>
          <p:nvSpPr>
            <p:cNvPr id="35" name="Rectangle 34"/>
            <p:cNvSpPr/>
            <p:nvPr/>
          </p:nvSpPr>
          <p:spPr>
            <a:xfrm>
              <a:off x="8687966" y="51721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grpSp>
      <p:sp>
        <p:nvSpPr>
          <p:cNvPr id="38" name="Rectangle 37"/>
          <p:cNvSpPr/>
          <p:nvPr/>
        </p:nvSpPr>
        <p:spPr>
          <a:xfrm>
            <a:off x="7696200" y="5836622"/>
            <a:ext cx="564578" cy="369332"/>
          </a:xfrm>
          <a:prstGeom prst="rect">
            <a:avLst/>
          </a:prstGeom>
        </p:spPr>
        <p:txBody>
          <a:bodyPr wrap="none">
            <a:spAutoFit/>
          </a:bodyPr>
          <a:lstStyle/>
          <a:p>
            <a:r>
              <a:rPr lang="en-GB" dirty="0" err="1">
                <a:solidFill>
                  <a:srgbClr val="0000FF"/>
                </a:solidFill>
                <a:latin typeface="Consolas" panose="020B0609020204030204" pitchFamily="49" charset="0"/>
                <a:cs typeface="Consolas" panose="020B0609020204030204" pitchFamily="49" charset="0"/>
              </a:rPr>
              <a:t>ptr</a:t>
            </a:r>
            <a:endParaRPr lang="en-US" dirty="0">
              <a:solidFill>
                <a:srgbClr val="0000FF"/>
              </a:solidFill>
            </a:endParaRPr>
          </a:p>
        </p:txBody>
      </p:sp>
      <p:cxnSp>
        <p:nvCxnSpPr>
          <p:cNvPr id="39" name="Straight Connector 38"/>
          <p:cNvCxnSpPr/>
          <p:nvPr/>
        </p:nvCxnSpPr>
        <p:spPr>
          <a:xfrm flipV="1">
            <a:off x="7987326" y="4604176"/>
            <a:ext cx="0" cy="129808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7974134" y="4609780"/>
            <a:ext cx="403811" cy="0"/>
          </a:xfrm>
          <a:prstGeom prst="line">
            <a:avLst/>
          </a:prstGeom>
          <a:ln w="28575">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10858500" y="4427165"/>
            <a:ext cx="802974" cy="369332"/>
          </a:xfrm>
          <a:prstGeom prst="rect">
            <a:avLst/>
          </a:prstGeom>
          <a:noFill/>
        </p:spPr>
        <p:txBody>
          <a:bodyPr wrap="square" rtlCol="0">
            <a:spAutoFit/>
          </a:bodyPr>
          <a:lstStyle/>
          <a:p>
            <a:r>
              <a:rPr lang="en-GB" dirty="0">
                <a:solidFill>
                  <a:srgbClr val="FF00FF"/>
                </a:solidFill>
                <a:latin typeface="Consolas"/>
                <a:cs typeface="Consolas"/>
              </a:rPr>
              <a:t>a[0]</a:t>
            </a:r>
          </a:p>
        </p:txBody>
      </p:sp>
      <p:sp>
        <p:nvSpPr>
          <p:cNvPr id="42" name="TextBox 41"/>
          <p:cNvSpPr txBox="1"/>
          <p:nvPr/>
        </p:nvSpPr>
        <p:spPr>
          <a:xfrm>
            <a:off x="10858500" y="2987005"/>
            <a:ext cx="802974" cy="369332"/>
          </a:xfrm>
          <a:prstGeom prst="rect">
            <a:avLst/>
          </a:prstGeom>
          <a:noFill/>
        </p:spPr>
        <p:txBody>
          <a:bodyPr wrap="square" rtlCol="0">
            <a:spAutoFit/>
          </a:bodyPr>
          <a:lstStyle/>
          <a:p>
            <a:r>
              <a:rPr lang="en-GB" dirty="0">
                <a:solidFill>
                  <a:srgbClr val="FF00FF"/>
                </a:solidFill>
                <a:latin typeface="Consolas"/>
                <a:cs typeface="Consolas"/>
              </a:rPr>
              <a:t>a[1]</a:t>
            </a:r>
          </a:p>
        </p:txBody>
      </p:sp>
      <p:sp>
        <p:nvSpPr>
          <p:cNvPr id="43" name="TextBox 42"/>
          <p:cNvSpPr txBox="1"/>
          <p:nvPr/>
        </p:nvSpPr>
        <p:spPr>
          <a:xfrm>
            <a:off x="10858500" y="1522348"/>
            <a:ext cx="802974" cy="369332"/>
          </a:xfrm>
          <a:prstGeom prst="rect">
            <a:avLst/>
          </a:prstGeom>
          <a:noFill/>
        </p:spPr>
        <p:txBody>
          <a:bodyPr wrap="square" rtlCol="0">
            <a:spAutoFit/>
          </a:bodyPr>
          <a:lstStyle/>
          <a:p>
            <a:r>
              <a:rPr lang="en-GB" dirty="0">
                <a:solidFill>
                  <a:srgbClr val="FF00FF"/>
                </a:solidFill>
                <a:latin typeface="Consolas"/>
                <a:cs typeface="Consolas"/>
              </a:rPr>
              <a:t>a[2]</a:t>
            </a:r>
          </a:p>
        </p:txBody>
      </p:sp>
      <p:grpSp>
        <p:nvGrpSpPr>
          <p:cNvPr id="44" name="Group 43"/>
          <p:cNvGrpSpPr/>
          <p:nvPr/>
        </p:nvGrpSpPr>
        <p:grpSpPr>
          <a:xfrm>
            <a:off x="8267530" y="476362"/>
            <a:ext cx="2590970" cy="731769"/>
            <a:chOff x="8267530" y="476362"/>
            <a:chExt cx="2590970" cy="731769"/>
          </a:xfrm>
        </p:grpSpPr>
        <p:sp>
          <p:nvSpPr>
            <p:cNvPr id="45" name="TextBox 44"/>
            <p:cNvSpPr txBox="1"/>
            <p:nvPr/>
          </p:nvSpPr>
          <p:spPr>
            <a:xfrm>
              <a:off x="8267530" y="509537"/>
              <a:ext cx="1368152" cy="338554"/>
            </a:xfrm>
            <a:prstGeom prst="rect">
              <a:avLst/>
            </a:prstGeom>
            <a:noFill/>
          </p:spPr>
          <p:txBody>
            <a:bodyPr wrap="square" rtlCol="0">
              <a:spAutoFit/>
            </a:bodyPr>
            <a:lstStyle/>
            <a:p>
              <a:pPr algn="ctr"/>
              <a:r>
                <a:rPr lang="en-GB" sz="1600" dirty="0">
                  <a:latin typeface="Consolas"/>
                  <a:cs typeface="Consolas"/>
                </a:rPr>
                <a:t>0x2000000F</a:t>
              </a:r>
            </a:p>
          </p:txBody>
        </p:sp>
        <p:sp>
          <p:nvSpPr>
            <p:cNvPr id="46" name="TextBox 45"/>
            <p:cNvSpPr txBox="1"/>
            <p:nvPr/>
          </p:nvSpPr>
          <p:spPr>
            <a:xfrm>
              <a:off x="8267530" y="869577"/>
              <a:ext cx="1368152" cy="338554"/>
            </a:xfrm>
            <a:prstGeom prst="rect">
              <a:avLst/>
            </a:prstGeom>
            <a:noFill/>
          </p:spPr>
          <p:txBody>
            <a:bodyPr wrap="square" rtlCol="0">
              <a:spAutoFit/>
            </a:bodyPr>
            <a:lstStyle/>
            <a:p>
              <a:pPr algn="ctr"/>
              <a:r>
                <a:rPr lang="en-GB" sz="1600" dirty="0">
                  <a:latin typeface="Consolas"/>
                  <a:cs typeface="Consolas"/>
                </a:rPr>
                <a:t>0x2000000E</a:t>
              </a:r>
            </a:p>
          </p:txBody>
        </p:sp>
        <p:sp>
          <p:nvSpPr>
            <p:cNvPr id="47" name="Rectangle 46"/>
            <p:cNvSpPr/>
            <p:nvPr/>
          </p:nvSpPr>
          <p:spPr>
            <a:xfrm>
              <a:off x="9562356" y="476362"/>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48" name="Rectangle 47"/>
            <p:cNvSpPr/>
            <p:nvPr/>
          </p:nvSpPr>
          <p:spPr>
            <a:xfrm>
              <a:off x="9562356" y="836402"/>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anose="020B0609020204030204" pitchFamily="49" charset="0"/>
              </a:endParaRPr>
            </a:p>
          </p:txBody>
        </p:sp>
      </p:grpSp>
      <p:sp>
        <p:nvSpPr>
          <p:cNvPr id="49" name="Content Placeholder 3"/>
          <p:cNvSpPr>
            <a:spLocks noGrp="1"/>
          </p:cNvSpPr>
          <p:nvPr>
            <p:ph sz="quarter" idx="1"/>
          </p:nvPr>
        </p:nvSpPr>
        <p:spPr>
          <a:xfrm>
            <a:off x="533400" y="4361918"/>
            <a:ext cx="6705807" cy="457200"/>
          </a:xfrm>
        </p:spPr>
        <p:txBody>
          <a:bodyPr>
            <a:normAutofit/>
          </a:bodyPr>
          <a:lstStyle/>
          <a:p>
            <a:pPr marL="0" indent="0">
              <a:buNone/>
            </a:pPr>
            <a:r>
              <a:rPr lang="en-US" sz="2400" i="1" dirty="0">
                <a:solidFill>
                  <a:srgbClr val="C00000"/>
                </a:solidFill>
              </a:rPr>
              <a:t>Array name is a pointer to the first element in the array</a:t>
            </a:r>
          </a:p>
        </p:txBody>
      </p:sp>
    </p:spTree>
    <p:extLst>
      <p:ext uri="{BB962C8B-B14F-4D97-AF65-F5344CB8AC3E}">
        <p14:creationId xmlns:p14="http://schemas.microsoft.com/office/powerpoint/2010/main" val="1737003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Pointer and Array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6" name="Rectangle 5"/>
          <p:cNvSpPr/>
          <p:nvPr/>
        </p:nvSpPr>
        <p:spPr>
          <a:xfrm>
            <a:off x="609600" y="2438400"/>
            <a:ext cx="6172200" cy="163121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000" dirty="0">
                <a:latin typeface="Consolas" panose="020B0609020204030204" pitchFamily="49" charset="0"/>
              </a:rPr>
              <a:t>int *</a:t>
            </a:r>
            <a:r>
              <a:rPr lang="en-US" sz="2000" dirty="0" err="1">
                <a:latin typeface="Consolas" panose="020B0609020204030204" pitchFamily="49" charset="0"/>
              </a:rPr>
              <a:t>ptr</a:t>
            </a:r>
            <a:r>
              <a:rPr lang="en-US" sz="2000" dirty="0">
                <a:latin typeface="Consolas" panose="020B0609020204030204" pitchFamily="49" charset="0"/>
              </a:rPr>
              <a:t>;  // Assume stored at 0x20000000</a:t>
            </a:r>
          </a:p>
          <a:p>
            <a:r>
              <a:rPr lang="en-US" sz="2000" dirty="0">
                <a:latin typeface="Consolas" panose="020B0609020204030204" pitchFamily="49" charset="0"/>
              </a:rPr>
              <a:t>int a[5];  // Assume started at 0x20000004</a:t>
            </a:r>
          </a:p>
          <a:p>
            <a:r>
              <a:rPr lang="en-US" sz="2000" dirty="0">
                <a:latin typeface="Consolas" panose="020B0609020204030204" pitchFamily="49" charset="0"/>
              </a:rPr>
              <a:t>*a = 7;    // array[0] = 7;</a:t>
            </a:r>
          </a:p>
          <a:p>
            <a:r>
              <a:rPr lang="en-US" sz="2000" dirty="0" err="1">
                <a:latin typeface="Consolas" panose="020B0609020204030204" pitchFamily="49" charset="0"/>
              </a:rPr>
              <a:t>ptr</a:t>
            </a:r>
            <a:r>
              <a:rPr lang="en-US" sz="2000" dirty="0">
                <a:latin typeface="Consolas" panose="020B0609020204030204" pitchFamily="49" charset="0"/>
              </a:rPr>
              <a:t> = a;   // </a:t>
            </a:r>
            <a:r>
              <a:rPr lang="en-US" sz="2000" dirty="0" err="1">
                <a:latin typeface="Consolas" panose="020B0609020204030204" pitchFamily="49" charset="0"/>
              </a:rPr>
              <a:t>ptr</a:t>
            </a:r>
            <a:r>
              <a:rPr lang="en-US" sz="2000" dirty="0">
                <a:latin typeface="Consolas" panose="020B0609020204030204" pitchFamily="49" charset="0"/>
              </a:rPr>
              <a:t> points to array[0]</a:t>
            </a:r>
          </a:p>
          <a:p>
            <a:r>
              <a:rPr lang="en-US" sz="2000" dirty="0">
                <a:solidFill>
                  <a:srgbClr val="C00000"/>
                </a:solidFill>
                <a:latin typeface="Consolas" panose="020B0609020204030204" pitchFamily="49" charset="0"/>
              </a:rPr>
              <a:t>*(</a:t>
            </a:r>
            <a:r>
              <a:rPr lang="en-US" sz="2000" dirty="0" err="1">
                <a:solidFill>
                  <a:srgbClr val="C00000"/>
                </a:solidFill>
                <a:latin typeface="Consolas" panose="020B0609020204030204" pitchFamily="49" charset="0"/>
              </a:rPr>
              <a:t>ptr</a:t>
            </a:r>
            <a:r>
              <a:rPr lang="en-US" sz="2000" dirty="0">
                <a:solidFill>
                  <a:srgbClr val="C00000"/>
                </a:solidFill>
                <a:latin typeface="Consolas" panose="020B0609020204030204" pitchFamily="49" charset="0"/>
              </a:rPr>
              <a:t> + 2) = 15; </a:t>
            </a:r>
            <a:r>
              <a:rPr lang="en-US" sz="2000" dirty="0">
                <a:latin typeface="Consolas" panose="020B0609020204030204" pitchFamily="49" charset="0"/>
              </a:rPr>
              <a:t>// array[2] = 15</a:t>
            </a:r>
          </a:p>
        </p:txBody>
      </p:sp>
      <p:sp>
        <p:nvSpPr>
          <p:cNvPr id="7" name="TextBox 6"/>
          <p:cNvSpPr txBox="1"/>
          <p:nvPr/>
        </p:nvSpPr>
        <p:spPr>
          <a:xfrm>
            <a:off x="8269539" y="4058869"/>
            <a:ext cx="1368152" cy="338554"/>
          </a:xfrm>
          <a:prstGeom prst="rect">
            <a:avLst/>
          </a:prstGeom>
          <a:noFill/>
        </p:spPr>
        <p:txBody>
          <a:bodyPr wrap="square" rtlCol="0">
            <a:spAutoFit/>
          </a:bodyPr>
          <a:lstStyle/>
          <a:p>
            <a:pPr algn="ctr"/>
            <a:r>
              <a:rPr lang="en-GB" sz="1600" dirty="0">
                <a:latin typeface="Consolas"/>
                <a:cs typeface="Consolas"/>
              </a:rPr>
              <a:t>0x20000005</a:t>
            </a:r>
          </a:p>
        </p:txBody>
      </p:sp>
      <p:sp>
        <p:nvSpPr>
          <p:cNvPr id="8" name="TextBox 7"/>
          <p:cNvSpPr txBox="1"/>
          <p:nvPr/>
        </p:nvSpPr>
        <p:spPr>
          <a:xfrm>
            <a:off x="8269539" y="4418909"/>
            <a:ext cx="1368152" cy="338554"/>
          </a:xfrm>
          <a:prstGeom prst="rect">
            <a:avLst/>
          </a:prstGeom>
          <a:noFill/>
        </p:spPr>
        <p:txBody>
          <a:bodyPr wrap="square" rtlCol="0">
            <a:spAutoFit/>
          </a:bodyPr>
          <a:lstStyle/>
          <a:p>
            <a:pPr algn="ctr"/>
            <a:r>
              <a:rPr lang="en-GB" sz="1600" dirty="0">
                <a:solidFill>
                  <a:srgbClr val="C00000"/>
                </a:solidFill>
                <a:latin typeface="Consolas"/>
                <a:cs typeface="Consolas"/>
              </a:rPr>
              <a:t>0x20000004</a:t>
            </a:r>
          </a:p>
        </p:txBody>
      </p:sp>
      <p:sp>
        <p:nvSpPr>
          <p:cNvPr id="9" name="TextBox 8"/>
          <p:cNvSpPr txBox="1"/>
          <p:nvPr/>
        </p:nvSpPr>
        <p:spPr>
          <a:xfrm>
            <a:off x="8269539" y="2978749"/>
            <a:ext cx="1368152" cy="338554"/>
          </a:xfrm>
          <a:prstGeom prst="rect">
            <a:avLst/>
          </a:prstGeom>
          <a:noFill/>
        </p:spPr>
        <p:txBody>
          <a:bodyPr wrap="square" rtlCol="0">
            <a:spAutoFit/>
          </a:bodyPr>
          <a:lstStyle/>
          <a:p>
            <a:pPr algn="ctr"/>
            <a:r>
              <a:rPr lang="en-GB" sz="1600" dirty="0">
                <a:latin typeface="Consolas"/>
                <a:cs typeface="Consolas"/>
              </a:rPr>
              <a:t>0x20000008</a:t>
            </a:r>
          </a:p>
        </p:txBody>
      </p:sp>
      <p:sp>
        <p:nvSpPr>
          <p:cNvPr id="10" name="TextBox 9"/>
          <p:cNvSpPr txBox="1"/>
          <p:nvPr/>
        </p:nvSpPr>
        <p:spPr>
          <a:xfrm>
            <a:off x="8269539" y="3698829"/>
            <a:ext cx="1368152" cy="338554"/>
          </a:xfrm>
          <a:prstGeom prst="rect">
            <a:avLst/>
          </a:prstGeom>
          <a:noFill/>
        </p:spPr>
        <p:txBody>
          <a:bodyPr wrap="square" rtlCol="0">
            <a:spAutoFit/>
          </a:bodyPr>
          <a:lstStyle/>
          <a:p>
            <a:pPr algn="ctr"/>
            <a:r>
              <a:rPr lang="en-GB" sz="1600" dirty="0">
                <a:latin typeface="Consolas"/>
                <a:cs typeface="Consolas"/>
              </a:rPr>
              <a:t>0x20000006</a:t>
            </a:r>
          </a:p>
        </p:txBody>
      </p:sp>
      <p:sp>
        <p:nvSpPr>
          <p:cNvPr id="11" name="TextBox 10"/>
          <p:cNvSpPr txBox="1"/>
          <p:nvPr/>
        </p:nvSpPr>
        <p:spPr>
          <a:xfrm>
            <a:off x="8269539" y="4778949"/>
            <a:ext cx="1368152" cy="338554"/>
          </a:xfrm>
          <a:prstGeom prst="rect">
            <a:avLst/>
          </a:prstGeom>
          <a:noFill/>
        </p:spPr>
        <p:txBody>
          <a:bodyPr wrap="square" rtlCol="0">
            <a:spAutoFit/>
          </a:bodyPr>
          <a:lstStyle/>
          <a:p>
            <a:pPr algn="ctr"/>
            <a:r>
              <a:rPr lang="en-GB" sz="1600" dirty="0">
                <a:latin typeface="Consolas"/>
                <a:cs typeface="Consolas"/>
              </a:rPr>
              <a:t>0x20000003</a:t>
            </a:r>
          </a:p>
        </p:txBody>
      </p:sp>
      <p:sp>
        <p:nvSpPr>
          <p:cNvPr id="12" name="TextBox 11"/>
          <p:cNvSpPr txBox="1"/>
          <p:nvPr/>
        </p:nvSpPr>
        <p:spPr>
          <a:xfrm>
            <a:off x="8269539" y="5138989"/>
            <a:ext cx="1368152" cy="338554"/>
          </a:xfrm>
          <a:prstGeom prst="rect">
            <a:avLst/>
          </a:prstGeom>
          <a:noFill/>
        </p:spPr>
        <p:txBody>
          <a:bodyPr wrap="square" rtlCol="0">
            <a:spAutoFit/>
          </a:bodyPr>
          <a:lstStyle/>
          <a:p>
            <a:pPr algn="ctr"/>
            <a:r>
              <a:rPr lang="en-GB" sz="1600" dirty="0">
                <a:latin typeface="Consolas"/>
                <a:cs typeface="Consolas"/>
              </a:rPr>
              <a:t>0x20000002</a:t>
            </a:r>
          </a:p>
        </p:txBody>
      </p:sp>
      <p:sp>
        <p:nvSpPr>
          <p:cNvPr id="13" name="TextBox 12"/>
          <p:cNvSpPr txBox="1"/>
          <p:nvPr/>
        </p:nvSpPr>
        <p:spPr>
          <a:xfrm>
            <a:off x="8269539" y="1195153"/>
            <a:ext cx="1368152" cy="338554"/>
          </a:xfrm>
          <a:prstGeom prst="rect">
            <a:avLst/>
          </a:prstGeom>
          <a:noFill/>
        </p:spPr>
        <p:txBody>
          <a:bodyPr wrap="square" rtlCol="0">
            <a:spAutoFit/>
          </a:bodyPr>
          <a:lstStyle/>
          <a:p>
            <a:pPr algn="ctr"/>
            <a:r>
              <a:rPr lang="en-GB" sz="1600" dirty="0">
                <a:latin typeface="Consolas"/>
                <a:cs typeface="Consolas"/>
              </a:rPr>
              <a:t>0x2000000D</a:t>
            </a:r>
          </a:p>
        </p:txBody>
      </p:sp>
      <p:sp>
        <p:nvSpPr>
          <p:cNvPr id="14" name="TextBox 13"/>
          <p:cNvSpPr txBox="1"/>
          <p:nvPr/>
        </p:nvSpPr>
        <p:spPr>
          <a:xfrm>
            <a:off x="8269539" y="1555193"/>
            <a:ext cx="1368152" cy="338554"/>
          </a:xfrm>
          <a:prstGeom prst="rect">
            <a:avLst/>
          </a:prstGeom>
          <a:noFill/>
        </p:spPr>
        <p:txBody>
          <a:bodyPr wrap="square" rtlCol="0">
            <a:spAutoFit/>
          </a:bodyPr>
          <a:lstStyle/>
          <a:p>
            <a:pPr algn="ctr"/>
            <a:r>
              <a:rPr lang="en-GB" sz="1600" dirty="0">
                <a:latin typeface="Consolas"/>
                <a:cs typeface="Consolas"/>
              </a:rPr>
              <a:t>0x2000000C</a:t>
            </a:r>
          </a:p>
        </p:txBody>
      </p:sp>
      <p:sp>
        <p:nvSpPr>
          <p:cNvPr id="15" name="TextBox 14"/>
          <p:cNvSpPr txBox="1"/>
          <p:nvPr/>
        </p:nvSpPr>
        <p:spPr>
          <a:xfrm>
            <a:off x="8269539" y="1915233"/>
            <a:ext cx="1368152" cy="338554"/>
          </a:xfrm>
          <a:prstGeom prst="rect">
            <a:avLst/>
          </a:prstGeom>
          <a:noFill/>
        </p:spPr>
        <p:txBody>
          <a:bodyPr wrap="square" rtlCol="0">
            <a:spAutoFit/>
          </a:bodyPr>
          <a:lstStyle/>
          <a:p>
            <a:pPr algn="ctr"/>
            <a:r>
              <a:rPr lang="en-GB" sz="1600" dirty="0">
                <a:latin typeface="Consolas"/>
                <a:cs typeface="Consolas"/>
              </a:rPr>
              <a:t>0x2000000B</a:t>
            </a:r>
          </a:p>
        </p:txBody>
      </p:sp>
      <p:sp>
        <p:nvSpPr>
          <p:cNvPr id="16" name="TextBox 15"/>
          <p:cNvSpPr txBox="1"/>
          <p:nvPr/>
        </p:nvSpPr>
        <p:spPr>
          <a:xfrm>
            <a:off x="8269539" y="2258669"/>
            <a:ext cx="1368152" cy="338554"/>
          </a:xfrm>
          <a:prstGeom prst="rect">
            <a:avLst/>
          </a:prstGeom>
          <a:noFill/>
        </p:spPr>
        <p:txBody>
          <a:bodyPr wrap="square" rtlCol="0">
            <a:spAutoFit/>
          </a:bodyPr>
          <a:lstStyle/>
          <a:p>
            <a:pPr algn="ctr"/>
            <a:r>
              <a:rPr lang="en-GB" sz="1600" dirty="0">
                <a:latin typeface="Consolas"/>
                <a:cs typeface="Consolas"/>
              </a:rPr>
              <a:t>0x2000000A</a:t>
            </a:r>
          </a:p>
        </p:txBody>
      </p:sp>
      <p:sp>
        <p:nvSpPr>
          <p:cNvPr id="17" name="TextBox 16"/>
          <p:cNvSpPr txBox="1"/>
          <p:nvPr/>
        </p:nvSpPr>
        <p:spPr>
          <a:xfrm>
            <a:off x="8269539" y="2618709"/>
            <a:ext cx="1368152" cy="338554"/>
          </a:xfrm>
          <a:prstGeom prst="rect">
            <a:avLst/>
          </a:prstGeom>
          <a:noFill/>
        </p:spPr>
        <p:txBody>
          <a:bodyPr wrap="square" rtlCol="0">
            <a:spAutoFit/>
          </a:bodyPr>
          <a:lstStyle/>
          <a:p>
            <a:pPr algn="ctr"/>
            <a:r>
              <a:rPr lang="en-GB" sz="1600" dirty="0">
                <a:latin typeface="Consolas"/>
                <a:cs typeface="Consolas"/>
              </a:rPr>
              <a:t>0x20000009</a:t>
            </a:r>
          </a:p>
        </p:txBody>
      </p:sp>
      <p:sp>
        <p:nvSpPr>
          <p:cNvPr id="18" name="TextBox 17"/>
          <p:cNvSpPr txBox="1"/>
          <p:nvPr/>
        </p:nvSpPr>
        <p:spPr>
          <a:xfrm>
            <a:off x="8269539" y="3338789"/>
            <a:ext cx="1368152" cy="338554"/>
          </a:xfrm>
          <a:prstGeom prst="rect">
            <a:avLst/>
          </a:prstGeom>
          <a:noFill/>
        </p:spPr>
        <p:txBody>
          <a:bodyPr wrap="square" rtlCol="0">
            <a:spAutoFit/>
          </a:bodyPr>
          <a:lstStyle/>
          <a:p>
            <a:pPr algn="ctr"/>
            <a:r>
              <a:rPr lang="en-GB" sz="1600" dirty="0">
                <a:latin typeface="Consolas"/>
                <a:cs typeface="Consolas"/>
              </a:rPr>
              <a:t>0x20000007</a:t>
            </a:r>
          </a:p>
        </p:txBody>
      </p:sp>
      <p:sp>
        <p:nvSpPr>
          <p:cNvPr id="19" name="TextBox 18"/>
          <p:cNvSpPr txBox="1"/>
          <p:nvPr/>
        </p:nvSpPr>
        <p:spPr>
          <a:xfrm>
            <a:off x="8269539" y="5499029"/>
            <a:ext cx="1368152" cy="338554"/>
          </a:xfrm>
          <a:prstGeom prst="rect">
            <a:avLst/>
          </a:prstGeom>
          <a:noFill/>
        </p:spPr>
        <p:txBody>
          <a:bodyPr wrap="square" rtlCol="0">
            <a:spAutoFit/>
          </a:bodyPr>
          <a:lstStyle/>
          <a:p>
            <a:pPr algn="ctr"/>
            <a:r>
              <a:rPr lang="en-GB" sz="1600" dirty="0">
                <a:latin typeface="Consolas"/>
                <a:cs typeface="Consolas"/>
              </a:rPr>
              <a:t>0x20000001</a:t>
            </a:r>
          </a:p>
        </p:txBody>
      </p:sp>
      <p:sp>
        <p:nvSpPr>
          <p:cNvPr id="20" name="TextBox 19"/>
          <p:cNvSpPr txBox="1"/>
          <p:nvPr/>
        </p:nvSpPr>
        <p:spPr>
          <a:xfrm>
            <a:off x="8267530" y="5860979"/>
            <a:ext cx="1368152" cy="338554"/>
          </a:xfrm>
          <a:prstGeom prst="rect">
            <a:avLst/>
          </a:prstGeom>
          <a:noFill/>
        </p:spPr>
        <p:txBody>
          <a:bodyPr wrap="square" rtlCol="0">
            <a:spAutoFit/>
          </a:bodyPr>
          <a:lstStyle/>
          <a:p>
            <a:pPr algn="ctr"/>
            <a:r>
              <a:rPr lang="en-GB" sz="1600" dirty="0">
                <a:solidFill>
                  <a:srgbClr val="0000FF"/>
                </a:solidFill>
                <a:latin typeface="Consolas"/>
                <a:cs typeface="Consolas"/>
              </a:rPr>
              <a:t>0x20000000</a:t>
            </a:r>
          </a:p>
        </p:txBody>
      </p:sp>
      <p:grpSp>
        <p:nvGrpSpPr>
          <p:cNvPr id="21" name="Group 20"/>
          <p:cNvGrpSpPr/>
          <p:nvPr/>
        </p:nvGrpSpPr>
        <p:grpSpPr>
          <a:xfrm>
            <a:off x="9563674" y="1195461"/>
            <a:ext cx="1300882" cy="5025866"/>
            <a:chOff x="8686800" y="1232170"/>
            <a:chExt cx="1300882" cy="5025866"/>
          </a:xfrm>
        </p:grpSpPr>
        <p:sp>
          <p:nvSpPr>
            <p:cNvPr id="22" name="Rectangle 21"/>
            <p:cNvSpPr/>
            <p:nvPr/>
          </p:nvSpPr>
          <p:spPr>
            <a:xfrm>
              <a:off x="8686800" y="40958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Consolas" panose="020B0609020204030204" pitchFamily="49" charset="0"/>
                  <a:cs typeface="Consolas" panose="020B0609020204030204" pitchFamily="49" charset="0"/>
                </a:rPr>
                <a:t>0x00</a:t>
              </a:r>
            </a:p>
          </p:txBody>
        </p:sp>
        <p:sp>
          <p:nvSpPr>
            <p:cNvPr id="23" name="Rectangle 22"/>
            <p:cNvSpPr/>
            <p:nvPr/>
          </p:nvSpPr>
          <p:spPr>
            <a:xfrm>
              <a:off x="8686800" y="44559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Consolas" panose="020B0609020204030204" pitchFamily="49" charset="0"/>
                  <a:cs typeface="Consolas" panose="020B0609020204030204" pitchFamily="49" charset="0"/>
                </a:rPr>
                <a:t>0x07</a:t>
              </a:r>
            </a:p>
          </p:txBody>
        </p:sp>
        <p:sp>
          <p:nvSpPr>
            <p:cNvPr id="24" name="Rectangle 23"/>
            <p:cNvSpPr/>
            <p:nvPr/>
          </p:nvSpPr>
          <p:spPr>
            <a:xfrm>
              <a:off x="8686800" y="30157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solidFill>
                  <a:schemeClr val="tx1"/>
                </a:solidFill>
                <a:latin typeface="Consolas" panose="020B0609020204030204" pitchFamily="49" charset="0"/>
                <a:cs typeface="Consolas" panose="020B0609020204030204" pitchFamily="49" charset="0"/>
              </a:endParaRPr>
            </a:p>
          </p:txBody>
        </p:sp>
        <p:sp>
          <p:nvSpPr>
            <p:cNvPr id="25" name="Rectangle 24"/>
            <p:cNvSpPr/>
            <p:nvPr/>
          </p:nvSpPr>
          <p:spPr>
            <a:xfrm>
              <a:off x="8686800" y="481596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0x20</a:t>
              </a:r>
            </a:p>
          </p:txBody>
        </p:sp>
        <p:sp>
          <p:nvSpPr>
            <p:cNvPr id="26" name="Rectangle 25"/>
            <p:cNvSpPr/>
            <p:nvPr/>
          </p:nvSpPr>
          <p:spPr>
            <a:xfrm>
              <a:off x="8686800" y="37358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Consolas" panose="020B0609020204030204" pitchFamily="49" charset="0"/>
                  <a:cs typeface="Consolas" panose="020B0609020204030204" pitchFamily="49" charset="0"/>
                </a:rPr>
                <a:t>0x00</a:t>
              </a:r>
            </a:p>
          </p:txBody>
        </p:sp>
        <p:sp>
          <p:nvSpPr>
            <p:cNvPr id="27" name="Rectangle 26"/>
            <p:cNvSpPr/>
            <p:nvPr/>
          </p:nvSpPr>
          <p:spPr>
            <a:xfrm>
              <a:off x="8686800" y="123217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sp>
          <p:nvSpPr>
            <p:cNvPr id="28" name="Rectangle 27"/>
            <p:cNvSpPr/>
            <p:nvPr/>
          </p:nvSpPr>
          <p:spPr>
            <a:xfrm>
              <a:off x="8686800" y="15922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0x0F</a:t>
              </a:r>
              <a:endParaRPr lang="en-GB" sz="2000" dirty="0">
                <a:solidFill>
                  <a:srgbClr val="C00000"/>
                </a:solidFill>
                <a:latin typeface="Consolas" panose="020B0609020204030204" pitchFamily="49" charset="0"/>
                <a:cs typeface="Consolas" panose="020B0609020204030204" pitchFamily="49" charset="0"/>
              </a:endParaRPr>
            </a:p>
          </p:txBody>
        </p:sp>
        <p:sp>
          <p:nvSpPr>
            <p:cNvPr id="29" name="Rectangle 28"/>
            <p:cNvSpPr/>
            <p:nvPr/>
          </p:nvSpPr>
          <p:spPr>
            <a:xfrm>
              <a:off x="8686800" y="195225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latin typeface="Consolas" panose="020B0609020204030204" pitchFamily="49" charset="0"/>
                <a:cs typeface="Consolas" panose="020B0609020204030204" pitchFamily="49" charset="0"/>
              </a:endParaRPr>
            </a:p>
          </p:txBody>
        </p:sp>
        <p:sp>
          <p:nvSpPr>
            <p:cNvPr id="30" name="Rectangle 29"/>
            <p:cNvSpPr/>
            <p:nvPr/>
          </p:nvSpPr>
          <p:spPr>
            <a:xfrm>
              <a:off x="8686800" y="22956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rgbClr val="000000"/>
                </a:solidFill>
                <a:latin typeface="Consolas" panose="020B0609020204030204" pitchFamily="49" charset="0"/>
                <a:cs typeface="Consolas" pitchFamily="49" charset="0"/>
              </a:endParaRPr>
            </a:p>
          </p:txBody>
        </p:sp>
        <p:sp>
          <p:nvSpPr>
            <p:cNvPr id="31" name="Rectangle 30"/>
            <p:cNvSpPr/>
            <p:nvPr/>
          </p:nvSpPr>
          <p:spPr>
            <a:xfrm>
              <a:off x="8686800" y="265572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dirty="0">
                <a:solidFill>
                  <a:schemeClr val="tx1"/>
                </a:solidFill>
                <a:latin typeface="Consolas" panose="020B0609020204030204" pitchFamily="49" charset="0"/>
                <a:cs typeface="Consolas" pitchFamily="49" charset="0"/>
              </a:endParaRPr>
            </a:p>
          </p:txBody>
        </p:sp>
        <p:sp>
          <p:nvSpPr>
            <p:cNvPr id="32" name="Rectangle 31"/>
            <p:cNvSpPr/>
            <p:nvPr/>
          </p:nvSpPr>
          <p:spPr>
            <a:xfrm>
              <a:off x="8686800" y="553604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sp>
          <p:nvSpPr>
            <p:cNvPr id="33" name="Rectangle 32"/>
            <p:cNvSpPr/>
            <p:nvPr/>
          </p:nvSpPr>
          <p:spPr>
            <a:xfrm>
              <a:off x="8686800" y="337580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Consolas" panose="020B0609020204030204" pitchFamily="49" charset="0"/>
                  <a:cs typeface="Consolas" panose="020B0609020204030204" pitchFamily="49" charset="0"/>
                </a:rPr>
                <a:t>0x00</a:t>
              </a:r>
            </a:p>
          </p:txBody>
        </p:sp>
        <p:sp>
          <p:nvSpPr>
            <p:cNvPr id="34" name="Rectangle 33"/>
            <p:cNvSpPr/>
            <p:nvPr/>
          </p:nvSpPr>
          <p:spPr>
            <a:xfrm>
              <a:off x="8691538" y="589799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0x04</a:t>
              </a:r>
            </a:p>
          </p:txBody>
        </p:sp>
        <p:sp>
          <p:nvSpPr>
            <p:cNvPr id="35" name="Rectangle 34"/>
            <p:cNvSpPr/>
            <p:nvPr/>
          </p:nvSpPr>
          <p:spPr>
            <a:xfrm>
              <a:off x="8687966" y="5172186"/>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grpSp>
      <p:sp>
        <p:nvSpPr>
          <p:cNvPr id="38" name="Rectangle 37"/>
          <p:cNvSpPr/>
          <p:nvPr/>
        </p:nvSpPr>
        <p:spPr>
          <a:xfrm>
            <a:off x="7696200" y="5836622"/>
            <a:ext cx="564578" cy="369332"/>
          </a:xfrm>
          <a:prstGeom prst="rect">
            <a:avLst/>
          </a:prstGeom>
        </p:spPr>
        <p:txBody>
          <a:bodyPr wrap="none">
            <a:spAutoFit/>
          </a:bodyPr>
          <a:lstStyle/>
          <a:p>
            <a:r>
              <a:rPr lang="en-GB" dirty="0" err="1">
                <a:solidFill>
                  <a:srgbClr val="0000FF"/>
                </a:solidFill>
                <a:latin typeface="Consolas" panose="020B0609020204030204" pitchFamily="49" charset="0"/>
                <a:cs typeface="Consolas" panose="020B0609020204030204" pitchFamily="49" charset="0"/>
              </a:rPr>
              <a:t>ptr</a:t>
            </a:r>
            <a:endParaRPr lang="en-US" dirty="0">
              <a:solidFill>
                <a:srgbClr val="0000FF"/>
              </a:solidFill>
            </a:endParaRPr>
          </a:p>
        </p:txBody>
      </p:sp>
      <p:cxnSp>
        <p:nvCxnSpPr>
          <p:cNvPr id="39" name="Straight Connector 38"/>
          <p:cNvCxnSpPr/>
          <p:nvPr/>
        </p:nvCxnSpPr>
        <p:spPr>
          <a:xfrm flipV="1">
            <a:off x="7987326" y="4604176"/>
            <a:ext cx="0" cy="129808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7974134" y="4609780"/>
            <a:ext cx="403811" cy="0"/>
          </a:xfrm>
          <a:prstGeom prst="line">
            <a:avLst/>
          </a:prstGeom>
          <a:ln w="28575">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10858500" y="4427165"/>
            <a:ext cx="802974" cy="369332"/>
          </a:xfrm>
          <a:prstGeom prst="rect">
            <a:avLst/>
          </a:prstGeom>
          <a:noFill/>
        </p:spPr>
        <p:txBody>
          <a:bodyPr wrap="square" rtlCol="0">
            <a:spAutoFit/>
          </a:bodyPr>
          <a:lstStyle/>
          <a:p>
            <a:r>
              <a:rPr lang="en-GB" dirty="0">
                <a:solidFill>
                  <a:srgbClr val="FF00FF"/>
                </a:solidFill>
                <a:latin typeface="Consolas"/>
                <a:cs typeface="Consolas"/>
              </a:rPr>
              <a:t>a[0]</a:t>
            </a:r>
          </a:p>
        </p:txBody>
      </p:sp>
      <p:sp>
        <p:nvSpPr>
          <p:cNvPr id="42" name="TextBox 41"/>
          <p:cNvSpPr txBox="1"/>
          <p:nvPr/>
        </p:nvSpPr>
        <p:spPr>
          <a:xfrm>
            <a:off x="10858500" y="2987005"/>
            <a:ext cx="802974" cy="369332"/>
          </a:xfrm>
          <a:prstGeom prst="rect">
            <a:avLst/>
          </a:prstGeom>
          <a:noFill/>
        </p:spPr>
        <p:txBody>
          <a:bodyPr wrap="square" rtlCol="0">
            <a:spAutoFit/>
          </a:bodyPr>
          <a:lstStyle/>
          <a:p>
            <a:r>
              <a:rPr lang="en-GB" dirty="0">
                <a:solidFill>
                  <a:srgbClr val="FF00FF"/>
                </a:solidFill>
                <a:latin typeface="Consolas"/>
                <a:cs typeface="Consolas"/>
              </a:rPr>
              <a:t>a[1]</a:t>
            </a:r>
          </a:p>
        </p:txBody>
      </p:sp>
      <p:sp>
        <p:nvSpPr>
          <p:cNvPr id="43" name="TextBox 42"/>
          <p:cNvSpPr txBox="1"/>
          <p:nvPr/>
        </p:nvSpPr>
        <p:spPr>
          <a:xfrm>
            <a:off x="10858500" y="1522348"/>
            <a:ext cx="802974" cy="369332"/>
          </a:xfrm>
          <a:prstGeom prst="rect">
            <a:avLst/>
          </a:prstGeom>
          <a:noFill/>
        </p:spPr>
        <p:txBody>
          <a:bodyPr wrap="square" rtlCol="0">
            <a:spAutoFit/>
          </a:bodyPr>
          <a:lstStyle/>
          <a:p>
            <a:r>
              <a:rPr lang="en-GB" dirty="0">
                <a:solidFill>
                  <a:srgbClr val="FF00FF"/>
                </a:solidFill>
                <a:latin typeface="Consolas"/>
                <a:cs typeface="Consolas"/>
              </a:rPr>
              <a:t>a[2]</a:t>
            </a:r>
          </a:p>
        </p:txBody>
      </p:sp>
      <p:grpSp>
        <p:nvGrpSpPr>
          <p:cNvPr id="5" name="Group 4"/>
          <p:cNvGrpSpPr/>
          <p:nvPr/>
        </p:nvGrpSpPr>
        <p:grpSpPr>
          <a:xfrm>
            <a:off x="8267530" y="476362"/>
            <a:ext cx="2590970" cy="731769"/>
            <a:chOff x="8267530" y="476362"/>
            <a:chExt cx="2590970" cy="731769"/>
          </a:xfrm>
        </p:grpSpPr>
        <p:sp>
          <p:nvSpPr>
            <p:cNvPr id="61" name="TextBox 60"/>
            <p:cNvSpPr txBox="1"/>
            <p:nvPr/>
          </p:nvSpPr>
          <p:spPr>
            <a:xfrm>
              <a:off x="8267530" y="509537"/>
              <a:ext cx="1368152" cy="338554"/>
            </a:xfrm>
            <a:prstGeom prst="rect">
              <a:avLst/>
            </a:prstGeom>
            <a:noFill/>
          </p:spPr>
          <p:txBody>
            <a:bodyPr wrap="square" rtlCol="0">
              <a:spAutoFit/>
            </a:bodyPr>
            <a:lstStyle/>
            <a:p>
              <a:pPr algn="ctr"/>
              <a:r>
                <a:rPr lang="en-GB" sz="1600" dirty="0">
                  <a:latin typeface="Consolas"/>
                  <a:cs typeface="Consolas"/>
                </a:rPr>
                <a:t>0x2000000F</a:t>
              </a:r>
            </a:p>
          </p:txBody>
        </p:sp>
        <p:sp>
          <p:nvSpPr>
            <p:cNvPr id="62" name="TextBox 61"/>
            <p:cNvSpPr txBox="1"/>
            <p:nvPr/>
          </p:nvSpPr>
          <p:spPr>
            <a:xfrm>
              <a:off x="8267530" y="869577"/>
              <a:ext cx="1368152" cy="338554"/>
            </a:xfrm>
            <a:prstGeom prst="rect">
              <a:avLst/>
            </a:prstGeom>
            <a:noFill/>
          </p:spPr>
          <p:txBody>
            <a:bodyPr wrap="square" rtlCol="0">
              <a:spAutoFit/>
            </a:bodyPr>
            <a:lstStyle/>
            <a:p>
              <a:pPr algn="ctr"/>
              <a:r>
                <a:rPr lang="en-GB" sz="1600" dirty="0">
                  <a:latin typeface="Consolas"/>
                  <a:cs typeface="Consolas"/>
                </a:rPr>
                <a:t>0x2000000E</a:t>
              </a:r>
            </a:p>
          </p:txBody>
        </p:sp>
        <p:sp>
          <p:nvSpPr>
            <p:cNvPr id="63" name="Rectangle 62"/>
            <p:cNvSpPr/>
            <p:nvPr/>
          </p:nvSpPr>
          <p:spPr>
            <a:xfrm>
              <a:off x="9562356" y="476362"/>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p>
          </p:txBody>
        </p:sp>
        <p:sp>
          <p:nvSpPr>
            <p:cNvPr id="64" name="Rectangle 63"/>
            <p:cNvSpPr/>
            <p:nvPr/>
          </p:nvSpPr>
          <p:spPr>
            <a:xfrm>
              <a:off x="9562356" y="836402"/>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C00000"/>
                  </a:solidFill>
                  <a:latin typeface="Consolas" panose="020B0609020204030204" pitchFamily="49" charset="0"/>
                  <a:cs typeface="Consolas" panose="020B0609020204030204" pitchFamily="49" charset="0"/>
                </a:rPr>
                <a:t>0x00</a:t>
              </a:r>
              <a:endParaRPr lang="en-GB" sz="2000" dirty="0">
                <a:solidFill>
                  <a:srgbClr val="C00000"/>
                </a:solidFill>
                <a:latin typeface="Consolas" panose="020B0609020204030204" pitchFamily="49" charset="0"/>
                <a:cs typeface="Consolas" panose="020B0609020204030204" pitchFamily="49" charset="0"/>
              </a:endParaRPr>
            </a:p>
          </p:txBody>
        </p:sp>
      </p:grpSp>
      <p:cxnSp>
        <p:nvCxnSpPr>
          <p:cNvPr id="65" name="Straight Connector 64"/>
          <p:cNvCxnSpPr/>
          <p:nvPr/>
        </p:nvCxnSpPr>
        <p:spPr>
          <a:xfrm>
            <a:off x="7863719" y="1735508"/>
            <a:ext cx="403811" cy="0"/>
          </a:xfrm>
          <a:prstGeom prst="line">
            <a:avLst/>
          </a:prstGeom>
          <a:ln w="28575">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Rectangle 65"/>
          <p:cNvSpPr/>
          <p:nvPr/>
        </p:nvSpPr>
        <p:spPr>
          <a:xfrm>
            <a:off x="6821592" y="1555193"/>
            <a:ext cx="1071127" cy="369332"/>
          </a:xfrm>
          <a:prstGeom prst="rect">
            <a:avLst/>
          </a:prstGeom>
        </p:spPr>
        <p:txBody>
          <a:bodyPr wrap="none">
            <a:spAutoFit/>
          </a:bodyPr>
          <a:lstStyle/>
          <a:p>
            <a:r>
              <a:rPr lang="en-GB" dirty="0" err="1">
                <a:solidFill>
                  <a:srgbClr val="0000FF"/>
                </a:solidFill>
                <a:latin typeface="Consolas" panose="020B0609020204030204" pitchFamily="49" charset="0"/>
                <a:cs typeface="Consolas" panose="020B0609020204030204" pitchFamily="49" charset="0"/>
              </a:rPr>
              <a:t>ptr</a:t>
            </a:r>
            <a:r>
              <a:rPr lang="en-GB" dirty="0">
                <a:solidFill>
                  <a:srgbClr val="0000FF"/>
                </a:solidFill>
                <a:latin typeface="Consolas" panose="020B0609020204030204" pitchFamily="49" charset="0"/>
                <a:cs typeface="Consolas" panose="020B0609020204030204" pitchFamily="49" charset="0"/>
              </a:rPr>
              <a:t> + 2</a:t>
            </a:r>
            <a:endParaRPr lang="en-US" dirty="0">
              <a:solidFill>
                <a:srgbClr val="0000FF"/>
              </a:solidFill>
            </a:endParaRPr>
          </a:p>
        </p:txBody>
      </p:sp>
      <p:sp>
        <p:nvSpPr>
          <p:cNvPr id="37" name="TextBox 36"/>
          <p:cNvSpPr txBox="1"/>
          <p:nvPr/>
        </p:nvSpPr>
        <p:spPr>
          <a:xfrm>
            <a:off x="1184163" y="4520485"/>
            <a:ext cx="4942379" cy="461665"/>
          </a:xfrm>
          <a:prstGeom prst="rect">
            <a:avLst/>
          </a:prstGeom>
          <a:noFill/>
        </p:spPr>
        <p:txBody>
          <a:bodyPr wrap="none" rtlCol="0">
            <a:spAutoFit/>
          </a:bodyPr>
          <a:lstStyle/>
          <a:p>
            <a:r>
              <a:rPr lang="en-US" sz="2400" dirty="0" err="1">
                <a:solidFill>
                  <a:srgbClr val="C00000"/>
                </a:solidFill>
                <a:latin typeface="Consolas" panose="020B0609020204030204" pitchFamily="49" charset="0"/>
              </a:rPr>
              <a:t>ptr</a:t>
            </a:r>
            <a:r>
              <a:rPr lang="en-US" sz="2400" dirty="0">
                <a:solidFill>
                  <a:srgbClr val="C00000"/>
                </a:solidFill>
                <a:latin typeface="Consolas" panose="020B0609020204030204" pitchFamily="49" charset="0"/>
              </a:rPr>
              <a:t> = </a:t>
            </a:r>
            <a:r>
              <a:rPr lang="en-US" sz="2400" dirty="0" err="1">
                <a:solidFill>
                  <a:srgbClr val="C00000"/>
                </a:solidFill>
                <a:latin typeface="Consolas" panose="020B0609020204030204" pitchFamily="49" charset="0"/>
              </a:rPr>
              <a:t>ptr</a:t>
            </a:r>
            <a:r>
              <a:rPr lang="en-US" sz="2400" dirty="0">
                <a:solidFill>
                  <a:srgbClr val="C00000"/>
                </a:solidFill>
                <a:latin typeface="Consolas" panose="020B0609020204030204" pitchFamily="49" charset="0"/>
              </a:rPr>
              <a:t> + 2 * </a:t>
            </a:r>
            <a:r>
              <a:rPr lang="en-US" sz="2400" dirty="0" err="1">
                <a:solidFill>
                  <a:srgbClr val="C00000"/>
                </a:solidFill>
                <a:latin typeface="Consolas" panose="020B0609020204030204" pitchFamily="49" charset="0"/>
              </a:rPr>
              <a:t>sizeof</a:t>
            </a:r>
            <a:r>
              <a:rPr lang="en-US" sz="2400" dirty="0">
                <a:solidFill>
                  <a:srgbClr val="C00000"/>
                </a:solidFill>
                <a:latin typeface="Consolas" panose="020B0609020204030204" pitchFamily="49" charset="0"/>
              </a:rPr>
              <a:t> (</a:t>
            </a:r>
            <a:r>
              <a:rPr lang="en-US" sz="2400" dirty="0" err="1">
                <a:solidFill>
                  <a:srgbClr val="C00000"/>
                </a:solidFill>
                <a:latin typeface="Consolas" panose="020B0609020204030204" pitchFamily="49" charset="0"/>
              </a:rPr>
              <a:t>int</a:t>
            </a:r>
            <a:r>
              <a:rPr lang="en-US" sz="2400" dirty="0">
                <a:solidFill>
                  <a:srgbClr val="C00000"/>
                </a:solidFill>
                <a:latin typeface="Consolas" panose="020B0609020204030204" pitchFamily="49" charset="0"/>
              </a:rPr>
              <a:t>)</a:t>
            </a:r>
          </a:p>
        </p:txBody>
      </p:sp>
    </p:spTree>
    <p:custDataLst>
      <p:tags r:id="rId1"/>
    </p:custDataLst>
    <p:extLst>
      <p:ext uri="{BB962C8B-B14F-4D97-AF65-F5344CB8AC3E}">
        <p14:creationId xmlns:p14="http://schemas.microsoft.com/office/powerpoint/2010/main" val="133649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Operator Precedence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sp>
        <p:nvSpPr>
          <p:cNvPr id="4" name="Content Placeholder 3"/>
          <p:cNvSpPr>
            <a:spLocks noGrp="1"/>
          </p:cNvSpPr>
          <p:nvPr>
            <p:ph sz="quarter" idx="1"/>
          </p:nvPr>
        </p:nvSpPr>
        <p:spPr/>
        <p:txBody>
          <a:bodyPr/>
          <a:lstStyle/>
          <a:p>
            <a:r>
              <a:rPr lang="en-US" dirty="0"/>
              <a:t>++/-- have greater precedence than *</a:t>
            </a:r>
          </a:p>
          <a:p>
            <a:pPr lvl="1"/>
            <a:r>
              <a:rPr lang="en-US" dirty="0">
                <a:solidFill>
                  <a:srgbClr val="C00000"/>
                </a:solidFill>
                <a:latin typeface="Consolas" panose="020B0609020204030204" pitchFamily="49" charset="0"/>
              </a:rPr>
              <a:t>*</a:t>
            </a:r>
            <a:r>
              <a:rPr lang="en-US" dirty="0" err="1">
                <a:solidFill>
                  <a:srgbClr val="C00000"/>
                </a:solidFill>
                <a:latin typeface="Consolas" panose="020B0609020204030204" pitchFamily="49" charset="0"/>
              </a:rPr>
              <a:t>ptr</a:t>
            </a:r>
            <a:r>
              <a:rPr lang="en-US" dirty="0">
                <a:solidFill>
                  <a:srgbClr val="C00000"/>
                </a:solidFill>
                <a:latin typeface="Consolas" panose="020B0609020204030204" pitchFamily="49" charset="0"/>
              </a:rPr>
              <a:t>++</a:t>
            </a:r>
            <a:r>
              <a:rPr lang="en-US" dirty="0">
                <a:solidFill>
                  <a:srgbClr val="C00000"/>
                </a:solidFill>
              </a:rPr>
              <a:t> </a:t>
            </a:r>
          </a:p>
          <a:p>
            <a:pPr lvl="2"/>
            <a:r>
              <a:rPr lang="en-US" dirty="0">
                <a:latin typeface="Arial" panose="020B0604020202020204" pitchFamily="34" charset="0"/>
                <a:cs typeface="Arial" panose="020B0604020202020204" pitchFamily="34" charset="0"/>
              </a:rPr>
              <a:t>Equivalent to </a:t>
            </a:r>
            <a:r>
              <a:rPr lang="en-US" dirty="0">
                <a:solidFill>
                  <a:srgbClr val="C00000"/>
                </a:solidFill>
                <a:latin typeface="Consolas" panose="020B0609020204030204" pitchFamily="49" charset="0"/>
              </a:rPr>
              <a:t>*(</a:t>
            </a:r>
            <a:r>
              <a:rPr lang="en-US" dirty="0" err="1">
                <a:solidFill>
                  <a:srgbClr val="C00000"/>
                </a:solidFill>
                <a:latin typeface="Consolas" panose="020B0609020204030204" pitchFamily="49" charset="0"/>
              </a:rPr>
              <a:t>ptr</a:t>
            </a:r>
            <a:r>
              <a:rPr lang="en-US" dirty="0">
                <a:solidFill>
                  <a:srgbClr val="C00000"/>
                </a:solidFill>
                <a:latin typeface="Consolas" panose="020B0609020204030204" pitchFamily="49" charset="0"/>
              </a:rPr>
              <a:t>++)</a:t>
            </a:r>
          </a:p>
          <a:p>
            <a:pPr lvl="2"/>
            <a:r>
              <a:rPr lang="en-US" dirty="0">
                <a:latin typeface="Arial" panose="020B0604020202020204" pitchFamily="34" charset="0"/>
                <a:cs typeface="Arial" panose="020B0604020202020204" pitchFamily="34" charset="0"/>
              </a:rPr>
              <a:t>write/read the value pointed, and then increment the pointer</a:t>
            </a:r>
          </a:p>
          <a:p>
            <a:pPr lvl="2"/>
            <a:r>
              <a:rPr lang="en-US" dirty="0">
                <a:solidFill>
                  <a:srgbClr val="C00000"/>
                </a:solidFill>
                <a:latin typeface="Consolas" panose="020B0609020204030204" pitchFamily="49" charset="0"/>
                <a:cs typeface="Arial" panose="020B0604020202020204" pitchFamily="34" charset="0"/>
              </a:rPr>
              <a:t>x = *</a:t>
            </a:r>
            <a:r>
              <a:rPr lang="en-US" dirty="0" err="1">
                <a:solidFill>
                  <a:srgbClr val="C00000"/>
                </a:solidFill>
                <a:latin typeface="Consolas" panose="020B0609020204030204" pitchFamily="49" charset="0"/>
                <a:cs typeface="Arial" panose="020B0604020202020204" pitchFamily="34" charset="0"/>
              </a:rPr>
              <a:t>ptr</a:t>
            </a:r>
            <a:r>
              <a:rPr lang="en-US" dirty="0">
                <a:solidFill>
                  <a:srgbClr val="C00000"/>
                </a:solidFill>
                <a:latin typeface="Consolas" panose="020B0609020204030204" pitchFamily="49" charset="0"/>
                <a:cs typeface="Arial" panose="020B0604020202020204" pitchFamily="34" charset="0"/>
              </a:rPr>
              <a:t>++; </a:t>
            </a:r>
            <a:r>
              <a:rPr lang="en-US" dirty="0">
                <a:latin typeface="Arial" panose="020B0604020202020204" pitchFamily="34" charset="0"/>
                <a:cs typeface="Arial" panose="020B0604020202020204" pitchFamily="34" charset="0"/>
              </a:rPr>
              <a:t>is equivalent to:  </a:t>
            </a:r>
          </a:p>
          <a:p>
            <a:pPr marL="868680" lvl="3" indent="0">
              <a:buNone/>
            </a:pPr>
            <a:r>
              <a:rPr lang="en-US" dirty="0">
                <a:solidFill>
                  <a:srgbClr val="0000FF"/>
                </a:solidFill>
                <a:latin typeface="Arial" panose="020B0604020202020204" pitchFamily="34" charset="0"/>
                <a:cs typeface="Arial" panose="020B0604020202020204" pitchFamily="34" charset="0"/>
              </a:rPr>
              <a:t>  </a:t>
            </a:r>
            <a:r>
              <a:rPr lang="en-US" dirty="0">
                <a:solidFill>
                  <a:srgbClr val="0000FF"/>
                </a:solidFill>
                <a:latin typeface="Consolas" panose="020B0609020204030204" pitchFamily="49" charset="0"/>
                <a:cs typeface="Arial" panose="020B0604020202020204" pitchFamily="34" charset="0"/>
              </a:rPr>
              <a:t>x = *</a:t>
            </a:r>
            <a:r>
              <a:rPr lang="en-US" dirty="0" err="1">
                <a:solidFill>
                  <a:srgbClr val="0000FF"/>
                </a:solidFill>
                <a:latin typeface="Consolas" panose="020B0609020204030204" pitchFamily="49" charset="0"/>
                <a:cs typeface="Arial" panose="020B0604020202020204" pitchFamily="34" charset="0"/>
              </a:rPr>
              <a:t>ptr</a:t>
            </a:r>
            <a:r>
              <a:rPr lang="en-US" dirty="0">
                <a:solidFill>
                  <a:srgbClr val="0000FF"/>
                </a:solidFill>
                <a:latin typeface="Consolas" panose="020B0609020204030204" pitchFamily="49" charset="0"/>
                <a:cs typeface="Arial" panose="020B0604020202020204" pitchFamily="34" charset="0"/>
              </a:rPr>
              <a:t>; </a:t>
            </a:r>
          </a:p>
          <a:p>
            <a:pPr marL="868680" lvl="3" indent="0">
              <a:buNone/>
            </a:pPr>
            <a:r>
              <a:rPr lang="en-US" dirty="0">
                <a:solidFill>
                  <a:srgbClr val="0000FF"/>
                </a:solidFill>
                <a:latin typeface="Consolas" panose="020B0609020204030204" pitchFamily="49" charset="0"/>
                <a:cs typeface="Arial" panose="020B0604020202020204" pitchFamily="34" charset="0"/>
              </a:rPr>
              <a:t> </a:t>
            </a:r>
            <a:r>
              <a:rPr lang="en-US" dirty="0" err="1">
                <a:solidFill>
                  <a:srgbClr val="0000FF"/>
                </a:solidFill>
                <a:latin typeface="Consolas" panose="020B0609020204030204" pitchFamily="49" charset="0"/>
                <a:cs typeface="Arial" panose="020B0604020202020204" pitchFamily="34" charset="0"/>
              </a:rPr>
              <a:t>ptr</a:t>
            </a:r>
            <a:r>
              <a:rPr lang="en-US" dirty="0">
                <a:solidFill>
                  <a:srgbClr val="0000FF"/>
                </a:solidFill>
                <a:latin typeface="Consolas" panose="020B0609020204030204" pitchFamily="49" charset="0"/>
                <a:cs typeface="Arial" panose="020B0604020202020204" pitchFamily="34" charset="0"/>
              </a:rPr>
              <a:t>++;</a:t>
            </a:r>
          </a:p>
          <a:p>
            <a:pPr lvl="2"/>
            <a:endParaRPr lang="en-US" dirty="0">
              <a:latin typeface="Arial" panose="020B0604020202020204" pitchFamily="34" charset="0"/>
              <a:cs typeface="Arial" panose="020B0604020202020204" pitchFamily="34" charset="0"/>
            </a:endParaRPr>
          </a:p>
          <a:p>
            <a:pPr lvl="1"/>
            <a:r>
              <a:rPr lang="en-US" dirty="0">
                <a:solidFill>
                  <a:srgbClr val="C00000"/>
                </a:solidFill>
                <a:latin typeface="Consolas" panose="020B0609020204030204" pitchFamily="49" charset="0"/>
              </a:rPr>
              <a:t>(*</a:t>
            </a:r>
            <a:r>
              <a:rPr lang="en-US" dirty="0" err="1">
                <a:solidFill>
                  <a:srgbClr val="C00000"/>
                </a:solidFill>
                <a:latin typeface="Consolas" panose="020B0609020204030204" pitchFamily="49" charset="0"/>
              </a:rPr>
              <a:t>ptr</a:t>
            </a:r>
            <a:r>
              <a:rPr lang="en-US" dirty="0">
                <a:solidFill>
                  <a:srgbClr val="C00000"/>
                </a:solidFill>
                <a:latin typeface="Consolas" panose="020B0609020204030204" pitchFamily="49" charset="0"/>
              </a:rPr>
              <a:t>)++</a:t>
            </a:r>
          </a:p>
          <a:p>
            <a:pPr lvl="2"/>
            <a:r>
              <a:rPr lang="en-US" dirty="0">
                <a:latin typeface="Arial" panose="020B0604020202020204" pitchFamily="34" charset="0"/>
                <a:cs typeface="Arial" panose="020B0604020202020204" pitchFamily="34" charset="0"/>
              </a:rPr>
              <a:t>The value pointed by </a:t>
            </a:r>
            <a:r>
              <a:rPr lang="en-US" dirty="0" err="1">
                <a:latin typeface="Arial" panose="020B0604020202020204" pitchFamily="34" charset="0"/>
                <a:cs typeface="Arial" panose="020B0604020202020204" pitchFamily="34" charset="0"/>
              </a:rPr>
              <a:t>ptr</a:t>
            </a:r>
            <a:r>
              <a:rPr lang="en-US" dirty="0">
                <a:latin typeface="Arial" panose="020B0604020202020204" pitchFamily="34" charset="0"/>
                <a:cs typeface="Arial" panose="020B0604020202020204" pitchFamily="34" charset="0"/>
              </a:rPr>
              <a:t> is incremented by 1. </a:t>
            </a:r>
          </a:p>
          <a:p>
            <a:pPr lvl="2"/>
            <a:r>
              <a:rPr lang="en-US" dirty="0">
                <a:solidFill>
                  <a:srgbClr val="C00000"/>
                </a:solidFill>
                <a:latin typeface="Consolas" panose="020B0609020204030204" pitchFamily="49" charset="0"/>
                <a:cs typeface="Arial" panose="020B0604020202020204" pitchFamily="34" charset="0"/>
              </a:rPr>
              <a:t>x = (*</a:t>
            </a:r>
            <a:r>
              <a:rPr lang="en-US" dirty="0" err="1">
                <a:solidFill>
                  <a:srgbClr val="C00000"/>
                </a:solidFill>
                <a:latin typeface="Consolas" panose="020B0609020204030204" pitchFamily="49" charset="0"/>
                <a:cs typeface="Arial" panose="020B0604020202020204" pitchFamily="34" charset="0"/>
              </a:rPr>
              <a:t>ptr</a:t>
            </a:r>
            <a:r>
              <a:rPr lang="en-US" dirty="0">
                <a:solidFill>
                  <a:srgbClr val="C00000"/>
                </a:solidFill>
                <a:latin typeface="Consolas" panose="020B0609020204030204" pitchFamily="49" charset="0"/>
                <a:cs typeface="Arial" panose="020B0604020202020204" pitchFamily="34" charset="0"/>
              </a:rPr>
              <a:t>)++; </a:t>
            </a:r>
            <a:r>
              <a:rPr lang="en-US" dirty="0">
                <a:latin typeface="Arial" panose="020B0604020202020204" pitchFamily="34" charset="0"/>
                <a:cs typeface="Arial" panose="020B0604020202020204" pitchFamily="34" charset="0"/>
              </a:rPr>
              <a:t>is equivalent to</a:t>
            </a:r>
          </a:p>
          <a:p>
            <a:pPr marL="868680" lvl="3" indent="0">
              <a:buNone/>
            </a:pPr>
            <a:r>
              <a:rPr lang="en-US" dirty="0">
                <a:solidFill>
                  <a:srgbClr val="0000FF"/>
                </a:solidFill>
                <a:latin typeface="Consolas" panose="020B0609020204030204" pitchFamily="49" charset="0"/>
                <a:cs typeface="Arial" panose="020B0604020202020204" pitchFamily="34" charset="0"/>
              </a:rPr>
              <a:t> x = *</a:t>
            </a:r>
            <a:r>
              <a:rPr lang="en-US" dirty="0" err="1">
                <a:solidFill>
                  <a:srgbClr val="0000FF"/>
                </a:solidFill>
                <a:latin typeface="Consolas" panose="020B0609020204030204" pitchFamily="49" charset="0"/>
                <a:cs typeface="Arial" panose="020B0604020202020204" pitchFamily="34" charset="0"/>
              </a:rPr>
              <a:t>ptr</a:t>
            </a:r>
            <a:endParaRPr lang="en-US" dirty="0">
              <a:solidFill>
                <a:srgbClr val="0000FF"/>
              </a:solidFill>
              <a:latin typeface="Consolas" panose="020B0609020204030204" pitchFamily="49" charset="0"/>
              <a:cs typeface="Arial" panose="020B0604020202020204" pitchFamily="34" charset="0"/>
            </a:endParaRPr>
          </a:p>
          <a:p>
            <a:pPr marL="868680" lvl="3" indent="0">
              <a:buNone/>
            </a:pPr>
            <a:r>
              <a:rPr lang="en-US" dirty="0">
                <a:solidFill>
                  <a:srgbClr val="0000FF"/>
                </a:solidFill>
                <a:latin typeface="Consolas" panose="020B0609020204030204" pitchFamily="49" charset="0"/>
                <a:cs typeface="Arial" panose="020B0604020202020204" pitchFamily="34" charset="0"/>
              </a:rPr>
              <a:t> *</a:t>
            </a:r>
            <a:r>
              <a:rPr lang="en-US" dirty="0" err="1">
                <a:solidFill>
                  <a:srgbClr val="0000FF"/>
                </a:solidFill>
                <a:latin typeface="Consolas" panose="020B0609020204030204" pitchFamily="49" charset="0"/>
                <a:cs typeface="Arial" panose="020B0604020202020204" pitchFamily="34" charset="0"/>
              </a:rPr>
              <a:t>ptr</a:t>
            </a:r>
            <a:r>
              <a:rPr lang="en-US" dirty="0">
                <a:solidFill>
                  <a:srgbClr val="0000FF"/>
                </a:solidFill>
                <a:latin typeface="Consolas" panose="020B0609020204030204" pitchFamily="49" charset="0"/>
                <a:cs typeface="Arial" panose="020B0604020202020204" pitchFamily="34" charset="0"/>
              </a:rPr>
              <a:t> = * </a:t>
            </a:r>
            <a:r>
              <a:rPr lang="en-US" dirty="0" err="1">
                <a:solidFill>
                  <a:srgbClr val="0000FF"/>
                </a:solidFill>
                <a:latin typeface="Consolas" panose="020B0609020204030204" pitchFamily="49" charset="0"/>
                <a:cs typeface="Arial" panose="020B0604020202020204" pitchFamily="34" charset="0"/>
              </a:rPr>
              <a:t>ptr</a:t>
            </a:r>
            <a:r>
              <a:rPr lang="en-US" dirty="0">
                <a:solidFill>
                  <a:srgbClr val="0000FF"/>
                </a:solidFill>
                <a:latin typeface="Consolas" panose="020B0609020204030204" pitchFamily="49" charset="0"/>
                <a:cs typeface="Arial" panose="020B0604020202020204" pitchFamily="34" charset="0"/>
              </a:rPr>
              <a:t> + 1;</a:t>
            </a:r>
          </a:p>
        </p:txBody>
      </p:sp>
    </p:spTree>
    <p:extLst>
      <p:ext uri="{BB962C8B-B14F-4D97-AF65-F5344CB8AC3E}">
        <p14:creationId xmlns:p14="http://schemas.microsoft.com/office/powerpoint/2010/main" val="696646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Hard-coded Pointer: Set pin PA.5 to high</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19</a:t>
            </a:fld>
            <a:endParaRPr kumimoji="0" lang="en-US" dirty="0"/>
          </a:p>
        </p:txBody>
      </p:sp>
      <p:sp>
        <p:nvSpPr>
          <p:cNvPr id="4" name="Content Placeholder 3"/>
          <p:cNvSpPr>
            <a:spLocks noGrp="1"/>
          </p:cNvSpPr>
          <p:nvPr>
            <p:ph sz="quarter" idx="1"/>
          </p:nvPr>
        </p:nvSpPr>
        <p:spPr>
          <a:xfrm>
            <a:off x="609600" y="1486039"/>
            <a:ext cx="4343400" cy="381000"/>
          </a:xfrm>
        </p:spPr>
        <p:txBody>
          <a:bodyPr>
            <a:normAutofit lnSpcReduction="10000"/>
          </a:bodyPr>
          <a:lstStyle/>
          <a:p>
            <a:r>
              <a:rPr lang="en-US" sz="2000" dirty="0"/>
              <a:t>Example 1: Define an address</a:t>
            </a:r>
          </a:p>
        </p:txBody>
      </p:sp>
      <p:sp>
        <p:nvSpPr>
          <p:cNvPr id="5" name="Rectangle 4"/>
          <p:cNvSpPr/>
          <p:nvPr/>
        </p:nvSpPr>
        <p:spPr>
          <a:xfrm>
            <a:off x="1600200" y="1922617"/>
            <a:ext cx="5262979" cy="707886"/>
          </a:xfrm>
          <a:prstGeom prst="rect">
            <a:avLst/>
          </a:prstGeom>
        </p:spPr>
        <p:txBody>
          <a:bodyPr wrap="none">
            <a:spAutoFit/>
          </a:bodyPr>
          <a:lstStyle/>
          <a:p>
            <a:r>
              <a:rPr lang="en-US" sz="2000" dirty="0">
                <a:solidFill>
                  <a:srgbClr val="C00000"/>
                </a:solidFill>
                <a:latin typeface="Consolas" panose="020B0609020204030204" pitchFamily="49" charset="0"/>
                <a:cs typeface="Consolas" panose="020B0609020204030204" pitchFamily="49" charset="0"/>
              </a:rPr>
              <a:t>#define GPIOA_ODR   0x48000014</a:t>
            </a:r>
          </a:p>
          <a:p>
            <a:r>
              <a:rPr lang="en-US" sz="2000" dirty="0">
                <a:solidFill>
                  <a:srgbClr val="C00000"/>
                </a:solidFill>
                <a:latin typeface="Consolas" panose="020B0609020204030204" pitchFamily="49" charset="0"/>
                <a:cs typeface="Consolas" panose="020B0609020204030204" pitchFamily="49" charset="0"/>
              </a:rPr>
              <a:t>*((uint32_t *) GPIOA_ODR) |= 1&lt;&lt;5;  </a:t>
            </a:r>
          </a:p>
        </p:txBody>
      </p:sp>
      <p:sp>
        <p:nvSpPr>
          <p:cNvPr id="6" name="Content Placeholder 3"/>
          <p:cNvSpPr txBox="1">
            <a:spLocks/>
          </p:cNvSpPr>
          <p:nvPr/>
        </p:nvSpPr>
        <p:spPr>
          <a:xfrm>
            <a:off x="609600" y="3010039"/>
            <a:ext cx="4343400" cy="381000"/>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000" dirty="0"/>
              <a:t>Example 2: Define a pointer</a:t>
            </a:r>
          </a:p>
        </p:txBody>
      </p:sp>
      <p:sp>
        <p:nvSpPr>
          <p:cNvPr id="7" name="Rectangle 6"/>
          <p:cNvSpPr/>
          <p:nvPr/>
        </p:nvSpPr>
        <p:spPr>
          <a:xfrm>
            <a:off x="1583821" y="3391039"/>
            <a:ext cx="6532558" cy="707886"/>
          </a:xfrm>
          <a:prstGeom prst="rect">
            <a:avLst/>
          </a:prstGeom>
        </p:spPr>
        <p:txBody>
          <a:bodyPr wrap="none">
            <a:spAutoFit/>
          </a:bodyPr>
          <a:lstStyle/>
          <a:p>
            <a:r>
              <a:rPr lang="en-US" sz="2000" dirty="0">
                <a:solidFill>
                  <a:srgbClr val="C00000"/>
                </a:solidFill>
                <a:latin typeface="Consolas" panose="020B0609020204030204" pitchFamily="49" charset="0"/>
                <a:cs typeface="Consolas" panose="020B0609020204030204" pitchFamily="49" charset="0"/>
              </a:rPr>
              <a:t>#define GPIOA_ODR   ((uint32_t *) 0x48000014)</a:t>
            </a:r>
          </a:p>
          <a:p>
            <a:r>
              <a:rPr lang="en-US" sz="2000" dirty="0">
                <a:solidFill>
                  <a:srgbClr val="C00000"/>
                </a:solidFill>
                <a:latin typeface="Consolas" panose="020B0609020204030204" pitchFamily="49" charset="0"/>
                <a:cs typeface="Consolas" panose="020B0609020204030204" pitchFamily="49" charset="0"/>
              </a:rPr>
              <a:t>*GPIOA_ODR |= 1&lt;&lt;5;  </a:t>
            </a:r>
          </a:p>
        </p:txBody>
      </p:sp>
      <p:sp>
        <p:nvSpPr>
          <p:cNvPr id="8" name="Content Placeholder 3"/>
          <p:cNvSpPr txBox="1">
            <a:spLocks/>
          </p:cNvSpPr>
          <p:nvPr/>
        </p:nvSpPr>
        <p:spPr>
          <a:xfrm>
            <a:off x="680628" y="4626114"/>
            <a:ext cx="5110571" cy="381000"/>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000" dirty="0"/>
              <a:t>Example 3: Define a de-referenced pointer</a:t>
            </a:r>
          </a:p>
        </p:txBody>
      </p:sp>
      <p:sp>
        <p:nvSpPr>
          <p:cNvPr id="9" name="Rectangle 8"/>
          <p:cNvSpPr/>
          <p:nvPr/>
        </p:nvSpPr>
        <p:spPr>
          <a:xfrm>
            <a:off x="1654850" y="5007114"/>
            <a:ext cx="6955750" cy="707886"/>
          </a:xfrm>
          <a:prstGeom prst="rect">
            <a:avLst/>
          </a:prstGeom>
        </p:spPr>
        <p:txBody>
          <a:bodyPr wrap="none">
            <a:spAutoFit/>
          </a:bodyPr>
          <a:lstStyle/>
          <a:p>
            <a:r>
              <a:rPr lang="en-US" sz="2000" dirty="0">
                <a:solidFill>
                  <a:srgbClr val="C00000"/>
                </a:solidFill>
                <a:latin typeface="Consolas" panose="020B0609020204030204" pitchFamily="49" charset="0"/>
                <a:cs typeface="Consolas" panose="020B0609020204030204" pitchFamily="49" charset="0"/>
              </a:rPr>
              <a:t>#define GPIOA_ODR   (*((uint32_t *) 0x48000014))</a:t>
            </a:r>
          </a:p>
          <a:p>
            <a:r>
              <a:rPr lang="en-US" sz="2000" dirty="0">
                <a:solidFill>
                  <a:srgbClr val="C00000"/>
                </a:solidFill>
                <a:latin typeface="Consolas" panose="020B0609020204030204" pitchFamily="49" charset="0"/>
                <a:cs typeface="Consolas" panose="020B0609020204030204" pitchFamily="49" charset="0"/>
              </a:rPr>
              <a:t>GPIOA_ODR |= 1&lt;&lt;5;  </a:t>
            </a:r>
          </a:p>
        </p:txBody>
      </p:sp>
    </p:spTree>
    <p:custDataLst>
      <p:tags r:id="rId1"/>
    </p:custDataLst>
    <p:extLst>
      <p:ext uri="{BB962C8B-B14F-4D97-AF65-F5344CB8AC3E}">
        <p14:creationId xmlns:p14="http://schemas.microsoft.com/office/powerpoint/2010/main" val="1171210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Hard-coded Pointer: Read GPIO pins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sp>
        <p:nvSpPr>
          <p:cNvPr id="4" name="Content Placeholder 3"/>
          <p:cNvSpPr>
            <a:spLocks noGrp="1"/>
          </p:cNvSpPr>
          <p:nvPr>
            <p:ph sz="quarter" idx="1"/>
          </p:nvPr>
        </p:nvSpPr>
        <p:spPr>
          <a:xfrm>
            <a:off x="609600" y="1486039"/>
            <a:ext cx="4343400" cy="381000"/>
          </a:xfrm>
        </p:spPr>
        <p:txBody>
          <a:bodyPr>
            <a:normAutofit lnSpcReduction="10000"/>
          </a:bodyPr>
          <a:lstStyle/>
          <a:p>
            <a:r>
              <a:rPr lang="en-US" sz="2000" dirty="0"/>
              <a:t>Example 1: Define an address</a:t>
            </a:r>
          </a:p>
        </p:txBody>
      </p:sp>
      <p:sp>
        <p:nvSpPr>
          <p:cNvPr id="5" name="Rectangle 4"/>
          <p:cNvSpPr/>
          <p:nvPr/>
        </p:nvSpPr>
        <p:spPr>
          <a:xfrm>
            <a:off x="1600200" y="1922617"/>
            <a:ext cx="6532558" cy="707886"/>
          </a:xfrm>
          <a:prstGeom prst="rect">
            <a:avLst/>
          </a:prstGeom>
        </p:spPr>
        <p:txBody>
          <a:bodyPr wrap="none">
            <a:spAutoFit/>
          </a:bodyPr>
          <a:lstStyle/>
          <a:p>
            <a:r>
              <a:rPr lang="en-US" sz="2000" dirty="0">
                <a:latin typeface="Consolas" panose="020B0609020204030204" pitchFamily="49" charset="0"/>
                <a:cs typeface="Consolas" panose="020B0609020204030204" pitchFamily="49" charset="0"/>
              </a:rPr>
              <a:t>#define GPIOA_IDR   0x48000010</a:t>
            </a:r>
          </a:p>
          <a:p>
            <a:r>
              <a:rPr lang="en-US" sz="2000" dirty="0">
                <a:latin typeface="Consolas" panose="020B0609020204030204" pitchFamily="49" charset="0"/>
                <a:cs typeface="Consolas" panose="020B0609020204030204" pitchFamily="49" charset="0"/>
              </a:rPr>
              <a:t>data = *((</a:t>
            </a:r>
            <a:r>
              <a:rPr lang="en-US" sz="2000" dirty="0">
                <a:solidFill>
                  <a:srgbClr val="C00000"/>
                </a:solidFill>
                <a:latin typeface="Consolas" panose="020B0609020204030204" pitchFamily="49" charset="0"/>
                <a:cs typeface="Consolas" panose="020B0609020204030204" pitchFamily="49" charset="0"/>
              </a:rPr>
              <a:t>volatile</a:t>
            </a:r>
            <a:r>
              <a:rPr lang="en-US" sz="2000" dirty="0">
                <a:latin typeface="Consolas" panose="020B0609020204030204" pitchFamily="49" charset="0"/>
                <a:cs typeface="Consolas" panose="020B0609020204030204" pitchFamily="49" charset="0"/>
              </a:rPr>
              <a:t> uint32_t *) GPIOA_IDR);  </a:t>
            </a:r>
          </a:p>
        </p:txBody>
      </p:sp>
      <p:sp>
        <p:nvSpPr>
          <p:cNvPr id="6" name="Content Placeholder 3"/>
          <p:cNvSpPr txBox="1">
            <a:spLocks/>
          </p:cNvSpPr>
          <p:nvPr/>
        </p:nvSpPr>
        <p:spPr>
          <a:xfrm>
            <a:off x="609600" y="3010039"/>
            <a:ext cx="4343400" cy="381000"/>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000" dirty="0"/>
              <a:t>Example 2: Define a pointer</a:t>
            </a:r>
          </a:p>
        </p:txBody>
      </p:sp>
      <p:sp>
        <p:nvSpPr>
          <p:cNvPr id="7" name="Rectangle 6"/>
          <p:cNvSpPr/>
          <p:nvPr/>
        </p:nvSpPr>
        <p:spPr>
          <a:xfrm>
            <a:off x="1583821" y="3391039"/>
            <a:ext cx="7802136" cy="707886"/>
          </a:xfrm>
          <a:prstGeom prst="rect">
            <a:avLst/>
          </a:prstGeom>
        </p:spPr>
        <p:txBody>
          <a:bodyPr wrap="none">
            <a:spAutoFit/>
          </a:bodyPr>
          <a:lstStyle/>
          <a:p>
            <a:r>
              <a:rPr lang="en-US" sz="2000" dirty="0">
                <a:latin typeface="Consolas" panose="020B0609020204030204" pitchFamily="49" charset="0"/>
                <a:cs typeface="Consolas" panose="020B0609020204030204" pitchFamily="49" charset="0"/>
              </a:rPr>
              <a:t>#define GPIOA_IDR   ((</a:t>
            </a:r>
            <a:r>
              <a:rPr lang="en-US" sz="2000" dirty="0">
                <a:solidFill>
                  <a:srgbClr val="C00000"/>
                </a:solidFill>
                <a:latin typeface="Consolas" panose="020B0609020204030204" pitchFamily="49" charset="0"/>
                <a:cs typeface="Consolas" panose="020B0609020204030204" pitchFamily="49" charset="0"/>
              </a:rPr>
              <a:t>volatile </a:t>
            </a:r>
            <a:r>
              <a:rPr lang="en-US" sz="2000" dirty="0">
                <a:latin typeface="Consolas" panose="020B0609020204030204" pitchFamily="49" charset="0"/>
                <a:cs typeface="Consolas" panose="020B0609020204030204" pitchFamily="49" charset="0"/>
              </a:rPr>
              <a:t>uint32_t *) 0x48000010)</a:t>
            </a:r>
          </a:p>
          <a:p>
            <a:r>
              <a:rPr lang="en-US" sz="2000" dirty="0">
                <a:latin typeface="Consolas" panose="020B0609020204030204" pitchFamily="49" charset="0"/>
                <a:cs typeface="Consolas" panose="020B0609020204030204" pitchFamily="49" charset="0"/>
              </a:rPr>
              <a:t>data = * GPIOA_IDR;  </a:t>
            </a:r>
          </a:p>
        </p:txBody>
      </p:sp>
      <p:sp>
        <p:nvSpPr>
          <p:cNvPr id="8" name="Content Placeholder 3"/>
          <p:cNvSpPr txBox="1">
            <a:spLocks/>
          </p:cNvSpPr>
          <p:nvPr/>
        </p:nvSpPr>
        <p:spPr>
          <a:xfrm>
            <a:off x="680628" y="4626114"/>
            <a:ext cx="5110571" cy="381000"/>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000" dirty="0"/>
              <a:t>Example 3: Define a de-referenced pointer</a:t>
            </a:r>
          </a:p>
        </p:txBody>
      </p:sp>
      <p:sp>
        <p:nvSpPr>
          <p:cNvPr id="9" name="Rectangle 8"/>
          <p:cNvSpPr/>
          <p:nvPr/>
        </p:nvSpPr>
        <p:spPr>
          <a:xfrm>
            <a:off x="1654850" y="5007114"/>
            <a:ext cx="8225329" cy="707886"/>
          </a:xfrm>
          <a:prstGeom prst="rect">
            <a:avLst/>
          </a:prstGeom>
        </p:spPr>
        <p:txBody>
          <a:bodyPr wrap="none">
            <a:spAutoFit/>
          </a:bodyPr>
          <a:lstStyle/>
          <a:p>
            <a:r>
              <a:rPr lang="en-US" sz="2000" dirty="0">
                <a:latin typeface="Consolas" panose="020B0609020204030204" pitchFamily="49" charset="0"/>
                <a:cs typeface="Consolas" panose="020B0609020204030204" pitchFamily="49" charset="0"/>
              </a:rPr>
              <a:t>#define GPIOA_IDR   (*((</a:t>
            </a:r>
            <a:r>
              <a:rPr lang="en-US" sz="2000" dirty="0">
                <a:solidFill>
                  <a:srgbClr val="C00000"/>
                </a:solidFill>
                <a:latin typeface="Consolas" panose="020B0609020204030204" pitchFamily="49" charset="0"/>
                <a:cs typeface="Consolas" panose="020B0609020204030204" pitchFamily="49" charset="0"/>
              </a:rPr>
              <a:t>volatile </a:t>
            </a:r>
            <a:r>
              <a:rPr lang="en-US" sz="2000" dirty="0">
                <a:latin typeface="Consolas" panose="020B0609020204030204" pitchFamily="49" charset="0"/>
                <a:cs typeface="Consolas" panose="020B0609020204030204" pitchFamily="49" charset="0"/>
              </a:rPr>
              <a:t>uint32_t *) 0x48000010))</a:t>
            </a:r>
          </a:p>
          <a:p>
            <a:r>
              <a:rPr lang="en-US" sz="2000" dirty="0">
                <a:latin typeface="Consolas" panose="020B0609020204030204" pitchFamily="49" charset="0"/>
                <a:cs typeface="Consolas" panose="020B0609020204030204" pitchFamily="49" charset="0"/>
              </a:rPr>
              <a:t>data = GPIOA_IDR;  </a:t>
            </a:r>
          </a:p>
        </p:txBody>
      </p:sp>
      <p:sp>
        <p:nvSpPr>
          <p:cNvPr id="10" name="TextBox 9"/>
          <p:cNvSpPr txBox="1"/>
          <p:nvPr/>
        </p:nvSpPr>
        <p:spPr>
          <a:xfrm>
            <a:off x="7926758" y="1486039"/>
            <a:ext cx="3906842"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a:t>Add </a:t>
            </a:r>
            <a:r>
              <a:rPr lang="en-US" dirty="0">
                <a:solidFill>
                  <a:srgbClr val="FF0000"/>
                </a:solidFill>
                <a:latin typeface="Consolas" panose="020B0609020204030204" pitchFamily="49" charset="0"/>
                <a:cs typeface="Consolas" panose="020B0609020204030204" pitchFamily="49" charset="0"/>
              </a:rPr>
              <a:t>volatile</a:t>
            </a:r>
            <a:r>
              <a:rPr lang="en-US" dirty="0">
                <a:latin typeface="Consolas" panose="020B0609020204030204" pitchFamily="49" charset="0"/>
                <a:cs typeface="Consolas" panose="020B0609020204030204" pitchFamily="49" charset="0"/>
              </a:rPr>
              <a:t> to force compiler to read a new value each time</a:t>
            </a:r>
            <a:endParaRPr lang="en-US" dirty="0"/>
          </a:p>
        </p:txBody>
      </p:sp>
    </p:spTree>
    <p:extLst>
      <p:ext uri="{BB962C8B-B14F-4D97-AF65-F5344CB8AC3E}">
        <p14:creationId xmlns:p14="http://schemas.microsoft.com/office/powerpoint/2010/main" val="1424531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More Convenient Approach: </a:t>
            </a:r>
            <a:br>
              <a:rPr lang="en-US" dirty="0"/>
            </a:br>
            <a:r>
              <a:rPr lang="en-US" dirty="0"/>
              <a:t>Define a pointer pointing to a structure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sp>
        <p:nvSpPr>
          <p:cNvPr id="5" name="Rectangle 4"/>
          <p:cNvSpPr/>
          <p:nvPr/>
        </p:nvSpPr>
        <p:spPr>
          <a:xfrm>
            <a:off x="4876800" y="1507606"/>
            <a:ext cx="6934200" cy="375487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b="1" dirty="0" err="1">
                <a:latin typeface="Consolas" panose="020B0609020204030204" pitchFamily="49" charset="0"/>
              </a:rPr>
              <a:t>typedef</a:t>
            </a:r>
            <a:r>
              <a:rPr lang="en-US" sz="1400" b="1" dirty="0">
                <a:latin typeface="Consolas" panose="020B0609020204030204" pitchFamily="49" charset="0"/>
              </a:rPr>
              <a:t> </a:t>
            </a:r>
            <a:r>
              <a:rPr lang="en-US" sz="1400" b="1" dirty="0" err="1">
                <a:latin typeface="Consolas" panose="020B0609020204030204" pitchFamily="49" charset="0"/>
              </a:rPr>
              <a:t>struct</a:t>
            </a:r>
            <a:r>
              <a:rPr lang="en-US" sz="1400" b="1" dirty="0">
                <a:latin typeface="Consolas" panose="020B0609020204030204" pitchFamily="49" charset="0"/>
              </a:rPr>
              <a:t> {</a:t>
            </a:r>
          </a:p>
          <a:p>
            <a:r>
              <a:rPr lang="en-US" sz="1400" b="1" dirty="0">
                <a:latin typeface="Consolas" panose="020B0609020204030204" pitchFamily="49" charset="0"/>
              </a:rPr>
              <a:t>  volatile uint32_t MODER;    </a:t>
            </a:r>
            <a:r>
              <a:rPr lang="en-US" sz="1400" b="1" dirty="0">
                <a:solidFill>
                  <a:schemeClr val="bg1">
                    <a:lumMod val="50000"/>
                  </a:schemeClr>
                </a:solidFill>
                <a:latin typeface="Consolas" panose="020B0609020204030204" pitchFamily="49" charset="0"/>
              </a:rPr>
              <a:t>// Mode register</a:t>
            </a:r>
          </a:p>
          <a:p>
            <a:r>
              <a:rPr lang="en-US" sz="1400" b="1" dirty="0">
                <a:latin typeface="Consolas" panose="020B0609020204030204" pitchFamily="49" charset="0"/>
              </a:rPr>
              <a:t>  volatile uint32_t OTYPER;   </a:t>
            </a:r>
            <a:r>
              <a:rPr lang="en-US" sz="1400" b="1" dirty="0">
                <a:solidFill>
                  <a:schemeClr val="bg1">
                    <a:lumMod val="50000"/>
                  </a:schemeClr>
                </a:solidFill>
                <a:latin typeface="Consolas" panose="020B0609020204030204" pitchFamily="49" charset="0"/>
              </a:rPr>
              <a:t>// Output type register</a:t>
            </a:r>
          </a:p>
          <a:p>
            <a:r>
              <a:rPr lang="en-US" sz="1400" b="1" dirty="0">
                <a:latin typeface="Consolas" panose="020B0609020204030204" pitchFamily="49" charset="0"/>
              </a:rPr>
              <a:t>  volatile uint32_t OSPEEDR;  </a:t>
            </a:r>
            <a:r>
              <a:rPr lang="en-US" sz="1400" b="1" dirty="0">
                <a:solidFill>
                  <a:schemeClr val="bg1">
                    <a:lumMod val="50000"/>
                  </a:schemeClr>
                </a:solidFill>
                <a:latin typeface="Consolas" panose="020B0609020204030204" pitchFamily="49" charset="0"/>
              </a:rPr>
              <a:t>// Output speed register</a:t>
            </a:r>
          </a:p>
          <a:p>
            <a:r>
              <a:rPr lang="en-US" sz="1400" b="1" dirty="0">
                <a:latin typeface="Consolas" panose="020B0609020204030204" pitchFamily="49" charset="0"/>
              </a:rPr>
              <a:t>  volatile uint32_t PUPDR;    </a:t>
            </a:r>
            <a:r>
              <a:rPr lang="en-US" sz="1400" b="1" dirty="0">
                <a:solidFill>
                  <a:schemeClr val="bg1">
                    <a:lumMod val="50000"/>
                  </a:schemeClr>
                </a:solidFill>
                <a:latin typeface="Consolas" panose="020B0609020204030204" pitchFamily="49" charset="0"/>
              </a:rPr>
              <a:t>// Pull-up/pull-down register</a:t>
            </a:r>
          </a:p>
          <a:p>
            <a:r>
              <a:rPr lang="en-US" sz="1400" b="1" dirty="0">
                <a:latin typeface="Consolas" panose="020B0609020204030204" pitchFamily="49" charset="0"/>
              </a:rPr>
              <a:t>  volatile uint32_t IDR;     </a:t>
            </a:r>
            <a:r>
              <a:rPr lang="en-US" sz="1400" b="1" dirty="0">
                <a:solidFill>
                  <a:schemeClr val="bg1">
                    <a:lumMod val="50000"/>
                  </a:schemeClr>
                </a:solidFill>
                <a:latin typeface="Consolas" panose="020B0609020204030204" pitchFamily="49" charset="0"/>
              </a:rPr>
              <a:t> // Input data register</a:t>
            </a:r>
          </a:p>
          <a:p>
            <a:r>
              <a:rPr lang="en-US" sz="1400" b="1" dirty="0">
                <a:latin typeface="Consolas" panose="020B0609020204030204" pitchFamily="49" charset="0"/>
              </a:rPr>
              <a:t>  </a:t>
            </a:r>
            <a:r>
              <a:rPr lang="en-US" sz="1400" b="1" dirty="0">
                <a:solidFill>
                  <a:srgbClr val="FF0000"/>
                </a:solidFill>
                <a:latin typeface="Consolas" panose="020B0609020204030204" pitchFamily="49" charset="0"/>
              </a:rPr>
              <a:t>volatile</a:t>
            </a:r>
            <a:r>
              <a:rPr lang="en-US" sz="1400" b="1" dirty="0">
                <a:latin typeface="Consolas" panose="020B0609020204030204" pitchFamily="49" charset="0"/>
              </a:rPr>
              <a:t> </a:t>
            </a:r>
            <a:r>
              <a:rPr lang="en-US" sz="1400" b="1" dirty="0">
                <a:solidFill>
                  <a:srgbClr val="FF0000"/>
                </a:solidFill>
                <a:latin typeface="Consolas" panose="020B0609020204030204" pitchFamily="49" charset="0"/>
              </a:rPr>
              <a:t>uint32_t</a:t>
            </a:r>
            <a:r>
              <a:rPr lang="en-US" sz="1400" b="1" dirty="0">
                <a:latin typeface="Consolas" panose="020B0609020204030204" pitchFamily="49" charset="0"/>
              </a:rPr>
              <a:t> </a:t>
            </a:r>
            <a:r>
              <a:rPr lang="en-US" sz="1400" b="1" dirty="0">
                <a:solidFill>
                  <a:srgbClr val="C00000"/>
                </a:solidFill>
                <a:latin typeface="Consolas" panose="020B0609020204030204" pitchFamily="49" charset="0"/>
              </a:rPr>
              <a:t>ODR</a:t>
            </a:r>
            <a:r>
              <a:rPr lang="en-US" sz="1400" b="1" dirty="0">
                <a:latin typeface="Consolas" panose="020B0609020204030204" pitchFamily="49" charset="0"/>
              </a:rPr>
              <a:t>;      </a:t>
            </a:r>
            <a:r>
              <a:rPr lang="en-US" sz="1400" b="1" dirty="0">
                <a:solidFill>
                  <a:schemeClr val="bg1">
                    <a:lumMod val="50000"/>
                  </a:schemeClr>
                </a:solidFill>
                <a:latin typeface="Consolas" panose="020B0609020204030204" pitchFamily="49" charset="0"/>
              </a:rPr>
              <a:t>// Output data register</a:t>
            </a:r>
          </a:p>
          <a:p>
            <a:r>
              <a:rPr lang="en-US" sz="1400" b="1" dirty="0">
                <a:latin typeface="Consolas" panose="020B0609020204030204" pitchFamily="49" charset="0"/>
              </a:rPr>
              <a:t>  volatile uint32_t BSRR;     </a:t>
            </a:r>
            <a:r>
              <a:rPr lang="en-US" sz="1400" b="1" dirty="0">
                <a:solidFill>
                  <a:schemeClr val="bg1">
                    <a:lumMod val="50000"/>
                  </a:schemeClr>
                </a:solidFill>
                <a:latin typeface="Consolas" panose="020B0609020204030204" pitchFamily="49" charset="0"/>
              </a:rPr>
              <a:t>// Bit set/reset register</a:t>
            </a:r>
          </a:p>
          <a:p>
            <a:r>
              <a:rPr lang="en-US" sz="1400" b="1" dirty="0">
                <a:latin typeface="Consolas" panose="020B0609020204030204" pitchFamily="49" charset="0"/>
              </a:rPr>
              <a:t>  volatile uint32_t LCKR;     </a:t>
            </a:r>
            <a:r>
              <a:rPr lang="en-US" sz="1400" b="1" dirty="0">
                <a:solidFill>
                  <a:schemeClr val="bg1">
                    <a:lumMod val="50000"/>
                  </a:schemeClr>
                </a:solidFill>
                <a:latin typeface="Consolas" panose="020B0609020204030204" pitchFamily="49" charset="0"/>
              </a:rPr>
              <a:t>// Configuration lock register</a:t>
            </a:r>
          </a:p>
          <a:p>
            <a:r>
              <a:rPr lang="en-US" sz="1400" b="1" dirty="0">
                <a:latin typeface="Consolas" panose="020B0609020204030204" pitchFamily="49" charset="0"/>
              </a:rPr>
              <a:t>  volatile uint32_t AFR[2];   </a:t>
            </a:r>
            <a:r>
              <a:rPr lang="en-US" sz="1400" b="1" dirty="0">
                <a:solidFill>
                  <a:schemeClr val="bg1">
                    <a:lumMod val="50000"/>
                  </a:schemeClr>
                </a:solidFill>
                <a:latin typeface="Consolas" panose="020B0609020204030204" pitchFamily="49" charset="0"/>
              </a:rPr>
              <a:t>// Alternate function registers</a:t>
            </a:r>
          </a:p>
          <a:p>
            <a:r>
              <a:rPr lang="en-US" sz="1400" b="1" dirty="0">
                <a:latin typeface="Consolas" panose="020B0609020204030204" pitchFamily="49" charset="0"/>
              </a:rPr>
              <a:t>  volatile uint32_t BRR;      </a:t>
            </a:r>
            <a:r>
              <a:rPr lang="en-US" sz="1400" b="1" dirty="0">
                <a:solidFill>
                  <a:schemeClr val="bg1">
                    <a:lumMod val="50000"/>
                  </a:schemeClr>
                </a:solidFill>
                <a:latin typeface="Consolas" panose="020B0609020204030204" pitchFamily="49" charset="0"/>
              </a:rPr>
              <a:t>// Bit Reset register</a:t>
            </a:r>
          </a:p>
          <a:p>
            <a:r>
              <a:rPr lang="en-US" sz="1400" b="1" dirty="0">
                <a:latin typeface="Consolas" panose="020B0609020204030204" pitchFamily="49" charset="0"/>
              </a:rPr>
              <a:t>  volatile uint32_t ASCR;     </a:t>
            </a:r>
            <a:r>
              <a:rPr lang="en-US" sz="1400" b="1" dirty="0">
                <a:solidFill>
                  <a:schemeClr val="bg1">
                    <a:lumMod val="50000"/>
                  </a:schemeClr>
                </a:solidFill>
                <a:latin typeface="Consolas" panose="020B0609020204030204" pitchFamily="49" charset="0"/>
              </a:rPr>
              <a:t>// Analog switch control register</a:t>
            </a:r>
          </a:p>
          <a:p>
            <a:r>
              <a:rPr lang="en-US" sz="1400" b="1" dirty="0">
                <a:latin typeface="Consolas" panose="020B0609020204030204" pitchFamily="49" charset="0"/>
              </a:rPr>
              <a:t>} </a:t>
            </a:r>
            <a:r>
              <a:rPr lang="en-US" sz="1400" b="1" dirty="0" err="1">
                <a:latin typeface="Consolas" panose="020B0609020204030204" pitchFamily="49" charset="0"/>
              </a:rPr>
              <a:t>GPIO_TypeDef</a:t>
            </a:r>
            <a:r>
              <a:rPr lang="en-US" sz="1400" b="1" dirty="0">
                <a:latin typeface="Consolas" panose="020B0609020204030204" pitchFamily="49" charset="0"/>
              </a:rPr>
              <a:t>;</a:t>
            </a:r>
          </a:p>
          <a:p>
            <a:endParaRPr lang="en-US" sz="1400" b="1" dirty="0">
              <a:latin typeface="Consolas" panose="020B0609020204030204" pitchFamily="49" charset="0"/>
            </a:endParaRPr>
          </a:p>
          <a:p>
            <a:r>
              <a:rPr lang="en-US" sz="1400" b="1" dirty="0">
                <a:solidFill>
                  <a:srgbClr val="0000FF"/>
                </a:solidFill>
                <a:latin typeface="Consolas" panose="020B0609020204030204" pitchFamily="49" charset="0"/>
              </a:rPr>
              <a:t>// Casting memory address to a pointer</a:t>
            </a:r>
          </a:p>
          <a:p>
            <a:r>
              <a:rPr lang="en-US" sz="1400" b="1" dirty="0">
                <a:latin typeface="Consolas" panose="020B0609020204030204" pitchFamily="49" charset="0"/>
              </a:rPr>
              <a:t>#define </a:t>
            </a:r>
            <a:r>
              <a:rPr lang="en-US" sz="1400" b="1" dirty="0">
                <a:solidFill>
                  <a:srgbClr val="C00000"/>
                </a:solidFill>
                <a:latin typeface="Consolas" panose="020B0609020204030204" pitchFamily="49" charset="0"/>
              </a:rPr>
              <a:t>GPIOA </a:t>
            </a:r>
            <a:r>
              <a:rPr lang="en-US" sz="1400" b="1" dirty="0">
                <a:solidFill>
                  <a:schemeClr val="tx1"/>
                </a:solidFill>
                <a:latin typeface="Consolas" panose="020B0609020204030204" pitchFamily="49" charset="0"/>
              </a:rPr>
              <a:t>((</a:t>
            </a:r>
            <a:r>
              <a:rPr lang="en-US" sz="1400" b="1" dirty="0" err="1">
                <a:solidFill>
                  <a:schemeClr val="tx1"/>
                </a:solidFill>
                <a:latin typeface="Consolas" panose="020B0609020204030204" pitchFamily="49" charset="0"/>
              </a:rPr>
              <a:t>GPIO_TypeDef</a:t>
            </a:r>
            <a:r>
              <a:rPr lang="en-US" sz="1400" b="1" dirty="0">
                <a:solidFill>
                  <a:schemeClr val="tx1"/>
                </a:solidFill>
                <a:latin typeface="Consolas" panose="020B0609020204030204" pitchFamily="49" charset="0"/>
              </a:rPr>
              <a:t> *) </a:t>
            </a:r>
            <a:r>
              <a:rPr lang="en-US" sz="1400" b="1" dirty="0">
                <a:solidFill>
                  <a:srgbClr val="FF00FF"/>
                </a:solidFill>
                <a:latin typeface="Consolas" panose="020B0609020204030204" pitchFamily="49" charset="0"/>
              </a:rPr>
              <a:t>0x48000000</a:t>
            </a:r>
            <a:r>
              <a:rPr lang="en-US" sz="1400" b="1" dirty="0">
                <a:solidFill>
                  <a:schemeClr val="tx1"/>
                </a:solidFill>
                <a:latin typeface="Consolas" panose="020B0609020204030204" pitchFamily="49" charset="0"/>
              </a:rPr>
              <a:t>)</a:t>
            </a:r>
          </a:p>
          <a:p>
            <a:endParaRPr lang="en-US" sz="1400" b="1" dirty="0">
              <a:latin typeface="Consolas" panose="020B0609020204030204" pitchFamily="49" charset="0"/>
            </a:endParaRPr>
          </a:p>
        </p:txBody>
      </p:sp>
      <p:sp>
        <p:nvSpPr>
          <p:cNvPr id="6" name="TextBox 5"/>
          <p:cNvSpPr txBox="1"/>
          <p:nvPr/>
        </p:nvSpPr>
        <p:spPr>
          <a:xfrm>
            <a:off x="4800600" y="5627086"/>
            <a:ext cx="4522392" cy="523220"/>
          </a:xfrm>
          <a:prstGeom prst="rect">
            <a:avLst/>
          </a:prstGeom>
          <a:noFill/>
        </p:spPr>
        <p:txBody>
          <a:bodyPr wrap="none" rtlCol="0">
            <a:spAutoFit/>
          </a:bodyPr>
          <a:lstStyle/>
          <a:p>
            <a:r>
              <a:rPr lang="en-US" sz="2800" b="1" dirty="0">
                <a:solidFill>
                  <a:srgbClr val="C00000"/>
                </a:solidFill>
                <a:latin typeface="Consolas" panose="020B0609020204030204" pitchFamily="49" charset="0"/>
              </a:rPr>
              <a:t>GPIOA-&gt;ODR |= 1UL&lt;&lt;5; </a:t>
            </a:r>
          </a:p>
        </p:txBody>
      </p:sp>
      <p:grpSp>
        <p:nvGrpSpPr>
          <p:cNvPr id="33" name="Group 32"/>
          <p:cNvGrpSpPr/>
          <p:nvPr/>
        </p:nvGrpSpPr>
        <p:grpSpPr>
          <a:xfrm>
            <a:off x="2211596" y="1507606"/>
            <a:ext cx="2138095" cy="3737517"/>
            <a:chOff x="2738706" y="1524000"/>
            <a:chExt cx="2138095" cy="3737517"/>
          </a:xfrm>
          <a:solidFill>
            <a:srgbClr val="0066FF"/>
          </a:solidFill>
        </p:grpSpPr>
        <p:sp>
          <p:nvSpPr>
            <p:cNvPr id="7" name="Rectangle 6"/>
            <p:cNvSpPr/>
            <p:nvPr/>
          </p:nvSpPr>
          <p:spPr>
            <a:xfrm>
              <a:off x="2740153" y="3724880"/>
              <a:ext cx="2136648" cy="307065"/>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IDR</a:t>
              </a:r>
            </a:p>
          </p:txBody>
        </p:sp>
        <p:sp>
          <p:nvSpPr>
            <p:cNvPr id="8" name="Rectangle 7"/>
            <p:cNvSpPr/>
            <p:nvPr/>
          </p:nvSpPr>
          <p:spPr>
            <a:xfrm>
              <a:off x="2741029" y="3417814"/>
              <a:ext cx="2135027" cy="307065"/>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C00000"/>
                  </a:solidFill>
                  <a:latin typeface="Consolas" panose="020B0609020204030204" pitchFamily="49" charset="0"/>
                  <a:cs typeface="Consolas" panose="020B0609020204030204" pitchFamily="49" charset="0"/>
                </a:rPr>
                <a:t>ODR</a:t>
              </a:r>
            </a:p>
          </p:txBody>
        </p:sp>
        <p:sp>
          <p:nvSpPr>
            <p:cNvPr id="9" name="Rectangle 8"/>
            <p:cNvSpPr/>
            <p:nvPr/>
          </p:nvSpPr>
          <p:spPr>
            <a:xfrm>
              <a:off x="2740153" y="3112848"/>
              <a:ext cx="2136648" cy="307065"/>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BSRR</a:t>
              </a:r>
            </a:p>
          </p:txBody>
        </p:sp>
        <p:sp>
          <p:nvSpPr>
            <p:cNvPr id="10" name="Rectangle 9"/>
            <p:cNvSpPr/>
            <p:nvPr/>
          </p:nvSpPr>
          <p:spPr>
            <a:xfrm>
              <a:off x="2740153" y="2811199"/>
              <a:ext cx="2136648" cy="29597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LCKR</a:t>
              </a:r>
            </a:p>
          </p:txBody>
        </p:sp>
        <p:sp>
          <p:nvSpPr>
            <p:cNvPr id="11" name="Rectangle 10"/>
            <p:cNvSpPr/>
            <p:nvPr/>
          </p:nvSpPr>
          <p:spPr>
            <a:xfrm>
              <a:off x="2740153" y="4954452"/>
              <a:ext cx="2136648" cy="307065"/>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MODER</a:t>
              </a:r>
            </a:p>
          </p:txBody>
        </p:sp>
        <p:sp>
          <p:nvSpPr>
            <p:cNvPr id="12" name="Rectangle 11"/>
            <p:cNvSpPr/>
            <p:nvPr/>
          </p:nvSpPr>
          <p:spPr>
            <a:xfrm>
              <a:off x="2740153" y="4647387"/>
              <a:ext cx="2136648" cy="307065"/>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OTYPER</a:t>
              </a:r>
            </a:p>
          </p:txBody>
        </p:sp>
        <p:sp>
          <p:nvSpPr>
            <p:cNvPr id="13" name="Rectangle 12"/>
            <p:cNvSpPr/>
            <p:nvPr/>
          </p:nvSpPr>
          <p:spPr>
            <a:xfrm>
              <a:off x="2740153" y="4339666"/>
              <a:ext cx="2136648" cy="307065"/>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OSPEEDR</a:t>
              </a:r>
            </a:p>
          </p:txBody>
        </p:sp>
        <p:sp>
          <p:nvSpPr>
            <p:cNvPr id="14" name="Rectangle 13"/>
            <p:cNvSpPr/>
            <p:nvPr/>
          </p:nvSpPr>
          <p:spPr>
            <a:xfrm>
              <a:off x="2740153" y="4029845"/>
              <a:ext cx="2136648" cy="307065"/>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PUPDR</a:t>
              </a:r>
            </a:p>
          </p:txBody>
        </p:sp>
        <p:sp>
          <p:nvSpPr>
            <p:cNvPr id="15" name="Rectangle 14"/>
            <p:cNvSpPr/>
            <p:nvPr/>
          </p:nvSpPr>
          <p:spPr>
            <a:xfrm>
              <a:off x="2740153" y="2485266"/>
              <a:ext cx="2136648" cy="320257"/>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AFR[0]</a:t>
              </a:r>
            </a:p>
          </p:txBody>
        </p:sp>
        <p:sp>
          <p:nvSpPr>
            <p:cNvPr id="16" name="Rectangle 15"/>
            <p:cNvSpPr/>
            <p:nvPr/>
          </p:nvSpPr>
          <p:spPr>
            <a:xfrm>
              <a:off x="2740153" y="2179168"/>
              <a:ext cx="2136648" cy="325886"/>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AFR[1]</a:t>
              </a:r>
            </a:p>
          </p:txBody>
        </p:sp>
        <p:sp>
          <p:nvSpPr>
            <p:cNvPr id="17" name="Rectangle 16"/>
            <p:cNvSpPr/>
            <p:nvPr/>
          </p:nvSpPr>
          <p:spPr>
            <a:xfrm>
              <a:off x="2738706" y="1847770"/>
              <a:ext cx="2136648" cy="332529"/>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BRR</a:t>
              </a:r>
            </a:p>
          </p:txBody>
        </p:sp>
        <p:sp>
          <p:nvSpPr>
            <p:cNvPr id="18" name="Rectangle 17"/>
            <p:cNvSpPr/>
            <p:nvPr/>
          </p:nvSpPr>
          <p:spPr>
            <a:xfrm>
              <a:off x="2738706" y="1524000"/>
              <a:ext cx="2136648" cy="32282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onsolas" panose="020B0609020204030204" pitchFamily="49" charset="0"/>
                  <a:cs typeface="Consolas" panose="020B0609020204030204" pitchFamily="49" charset="0"/>
                </a:rPr>
                <a:t>ASCR</a:t>
              </a:r>
            </a:p>
          </p:txBody>
        </p:sp>
      </p:grpSp>
      <p:grpSp>
        <p:nvGrpSpPr>
          <p:cNvPr id="31" name="Group 30"/>
          <p:cNvGrpSpPr/>
          <p:nvPr/>
        </p:nvGrpSpPr>
        <p:grpSpPr>
          <a:xfrm>
            <a:off x="1066800" y="1691611"/>
            <a:ext cx="1188019" cy="3693275"/>
            <a:chOff x="1593910" y="1708005"/>
            <a:chExt cx="1188019" cy="3693275"/>
          </a:xfrm>
        </p:grpSpPr>
        <p:sp>
          <p:nvSpPr>
            <p:cNvPr id="19" name="TextBox 18"/>
            <p:cNvSpPr txBox="1"/>
            <p:nvPr/>
          </p:nvSpPr>
          <p:spPr>
            <a:xfrm>
              <a:off x="1594898" y="5093503"/>
              <a:ext cx="1178528" cy="307777"/>
            </a:xfrm>
            <a:prstGeom prst="rect">
              <a:avLst/>
            </a:prstGeom>
            <a:noFill/>
          </p:spPr>
          <p:txBody>
            <a:bodyPr wrap="none" rtlCol="0">
              <a:spAutoFit/>
            </a:bodyPr>
            <a:lstStyle/>
            <a:p>
              <a:r>
                <a:rPr lang="en-US" sz="1400" dirty="0">
                  <a:solidFill>
                    <a:srgbClr val="FF00FF"/>
                  </a:solidFill>
                  <a:latin typeface="Consolas" panose="020B0609020204030204" pitchFamily="49" charset="0"/>
                  <a:cs typeface="Consolas" panose="020B0609020204030204" pitchFamily="49" charset="0"/>
                </a:rPr>
                <a:t>0x48000000</a:t>
              </a:r>
            </a:p>
          </p:txBody>
        </p:sp>
        <p:sp>
          <p:nvSpPr>
            <p:cNvPr id="20" name="TextBox 19"/>
            <p:cNvSpPr txBox="1"/>
            <p:nvPr/>
          </p:nvSpPr>
          <p:spPr>
            <a:xfrm>
              <a:off x="1593910" y="4777128"/>
              <a:ext cx="1178528"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0x48000004</a:t>
              </a:r>
            </a:p>
          </p:txBody>
        </p:sp>
        <p:sp>
          <p:nvSpPr>
            <p:cNvPr id="21" name="TextBox 20"/>
            <p:cNvSpPr txBox="1"/>
            <p:nvPr/>
          </p:nvSpPr>
          <p:spPr>
            <a:xfrm>
              <a:off x="1603384" y="4488027"/>
              <a:ext cx="1178528"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0x48000008</a:t>
              </a:r>
            </a:p>
          </p:txBody>
        </p:sp>
        <p:sp>
          <p:nvSpPr>
            <p:cNvPr id="22" name="TextBox 21"/>
            <p:cNvSpPr txBox="1"/>
            <p:nvPr/>
          </p:nvSpPr>
          <p:spPr>
            <a:xfrm>
              <a:off x="1602396" y="4171652"/>
              <a:ext cx="1178528"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0x4800000C</a:t>
              </a:r>
            </a:p>
          </p:txBody>
        </p:sp>
        <p:sp>
          <p:nvSpPr>
            <p:cNvPr id="23" name="TextBox 22"/>
            <p:cNvSpPr txBox="1"/>
            <p:nvPr/>
          </p:nvSpPr>
          <p:spPr>
            <a:xfrm>
              <a:off x="1594915" y="3869607"/>
              <a:ext cx="1178528"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0x48000010</a:t>
              </a:r>
            </a:p>
          </p:txBody>
        </p:sp>
        <p:sp>
          <p:nvSpPr>
            <p:cNvPr id="24" name="TextBox 23"/>
            <p:cNvSpPr txBox="1"/>
            <p:nvPr/>
          </p:nvSpPr>
          <p:spPr>
            <a:xfrm>
              <a:off x="1593927" y="3553232"/>
              <a:ext cx="1178528" cy="307777"/>
            </a:xfrm>
            <a:prstGeom prst="rect">
              <a:avLst/>
            </a:prstGeom>
            <a:noFill/>
          </p:spPr>
          <p:txBody>
            <a:bodyPr wrap="none" rtlCol="0">
              <a:spAutoFit/>
            </a:bodyPr>
            <a:lstStyle/>
            <a:p>
              <a:r>
                <a:rPr lang="en-US" sz="1400" dirty="0">
                  <a:solidFill>
                    <a:srgbClr val="FF0000"/>
                  </a:solidFill>
                  <a:latin typeface="Consolas" panose="020B0609020204030204" pitchFamily="49" charset="0"/>
                  <a:cs typeface="Consolas" panose="020B0609020204030204" pitchFamily="49" charset="0"/>
                </a:rPr>
                <a:t>0x48000014</a:t>
              </a:r>
            </a:p>
          </p:txBody>
        </p:sp>
        <p:sp>
          <p:nvSpPr>
            <p:cNvPr id="25" name="TextBox 24"/>
            <p:cNvSpPr txBox="1"/>
            <p:nvPr/>
          </p:nvSpPr>
          <p:spPr>
            <a:xfrm>
              <a:off x="1603401" y="3264131"/>
              <a:ext cx="1178528"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0x48000018</a:t>
              </a:r>
            </a:p>
          </p:txBody>
        </p:sp>
        <p:sp>
          <p:nvSpPr>
            <p:cNvPr id="26" name="TextBox 25"/>
            <p:cNvSpPr txBox="1"/>
            <p:nvPr/>
          </p:nvSpPr>
          <p:spPr>
            <a:xfrm>
              <a:off x="1602413" y="2947756"/>
              <a:ext cx="1178528"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0x4800001C</a:t>
              </a:r>
            </a:p>
          </p:txBody>
        </p:sp>
        <p:sp>
          <p:nvSpPr>
            <p:cNvPr id="27" name="TextBox 26"/>
            <p:cNvSpPr txBox="1"/>
            <p:nvPr/>
          </p:nvSpPr>
          <p:spPr>
            <a:xfrm>
              <a:off x="1594898" y="2629856"/>
              <a:ext cx="1178528"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0x48000020</a:t>
              </a:r>
            </a:p>
          </p:txBody>
        </p:sp>
        <p:sp>
          <p:nvSpPr>
            <p:cNvPr id="28" name="TextBox 27"/>
            <p:cNvSpPr txBox="1"/>
            <p:nvPr/>
          </p:nvSpPr>
          <p:spPr>
            <a:xfrm>
              <a:off x="1593910" y="2313481"/>
              <a:ext cx="1178528"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0x48000024</a:t>
              </a:r>
            </a:p>
          </p:txBody>
        </p:sp>
        <p:sp>
          <p:nvSpPr>
            <p:cNvPr id="29" name="TextBox 28"/>
            <p:cNvSpPr txBox="1"/>
            <p:nvPr/>
          </p:nvSpPr>
          <p:spPr>
            <a:xfrm>
              <a:off x="1603384" y="2024380"/>
              <a:ext cx="1178528"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0x48000028</a:t>
              </a:r>
            </a:p>
          </p:txBody>
        </p:sp>
        <p:sp>
          <p:nvSpPr>
            <p:cNvPr id="30" name="TextBox 29"/>
            <p:cNvSpPr txBox="1"/>
            <p:nvPr/>
          </p:nvSpPr>
          <p:spPr>
            <a:xfrm>
              <a:off x="1602396" y="1708005"/>
              <a:ext cx="1178528" cy="307777"/>
            </a:xfrm>
            <a:prstGeom prst="rect">
              <a:avLst/>
            </a:prstGeom>
            <a:noFill/>
          </p:spPr>
          <p:txBody>
            <a:bodyPr wrap="none" rtlCol="0">
              <a:spAutoFit/>
            </a:bodyPr>
            <a:lstStyle/>
            <a:p>
              <a:r>
                <a:rPr lang="en-US" sz="1400" dirty="0">
                  <a:latin typeface="Consolas" panose="020B0609020204030204" pitchFamily="49" charset="0"/>
                  <a:cs typeface="Consolas" panose="020B0609020204030204" pitchFamily="49" charset="0"/>
                </a:rPr>
                <a:t>0x4800002C</a:t>
              </a:r>
            </a:p>
          </p:txBody>
        </p:sp>
      </p:grpSp>
    </p:spTree>
    <p:extLst>
      <p:ext uri="{BB962C8B-B14F-4D97-AF65-F5344CB8AC3E}">
        <p14:creationId xmlns:p14="http://schemas.microsoft.com/office/powerpoint/2010/main" val="36135659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8|4.9|7.8"/>
</p:tagLst>
</file>

<file path=ppt/tags/tag2.xml><?xml version="1.0" encoding="utf-8"?>
<p:tagLst xmlns:a="http://schemas.openxmlformats.org/drawingml/2006/main" xmlns:r="http://schemas.openxmlformats.org/officeDocument/2006/relationships" xmlns:p="http://schemas.openxmlformats.org/presentationml/2006/main">
  <p:tag name="TIMING" val="|19.9|11.5|14.6"/>
</p:tagLst>
</file>

<file path=ppt/tags/tag3.xml><?xml version="1.0" encoding="utf-8"?>
<p:tagLst xmlns:a="http://schemas.openxmlformats.org/drawingml/2006/main" xmlns:r="http://schemas.openxmlformats.org/officeDocument/2006/relationships" xmlns:p="http://schemas.openxmlformats.org/presentationml/2006/main">
  <p:tag name="TIMING" val="|6.6|2.4|5.1|5.2|6.2|7.5|10.1"/>
</p:tagLst>
</file>

<file path=ppt/tags/tag4.xml><?xml version="1.0" encoding="utf-8"?>
<p:tagLst xmlns:a="http://schemas.openxmlformats.org/drawingml/2006/main" xmlns:r="http://schemas.openxmlformats.org/officeDocument/2006/relationships" xmlns:p="http://schemas.openxmlformats.org/presentationml/2006/main">
  <p:tag name="TIMING" val="|12.3"/>
</p:tagLst>
</file>

<file path=ppt/tags/tag5.xml><?xml version="1.0" encoding="utf-8"?>
<p:tagLst xmlns:a="http://schemas.openxmlformats.org/drawingml/2006/main" xmlns:r="http://schemas.openxmlformats.org/officeDocument/2006/relationships" xmlns:p="http://schemas.openxmlformats.org/presentationml/2006/main">
  <p:tag name="TIMING" val="|57.9|13.4"/>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19384</TotalTime>
  <Words>4058</Words>
  <Application>Microsoft Office PowerPoint</Application>
  <PresentationFormat>Widescreen</PresentationFormat>
  <Paragraphs>598</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Bookman Old Style</vt:lpstr>
      <vt:lpstr>Calibri</vt:lpstr>
      <vt:lpstr>Consolas</vt:lpstr>
      <vt:lpstr>Gill Sans MT</vt:lpstr>
      <vt:lpstr>Wingdings</vt:lpstr>
      <vt:lpstr>Wingdings 3</vt:lpstr>
      <vt:lpstr>Origin</vt:lpstr>
      <vt:lpstr>Dr. Yifeng Zhu</vt:lpstr>
      <vt:lpstr>Memory Address</vt:lpstr>
      <vt:lpstr>Pointer</vt:lpstr>
      <vt:lpstr>Reference and Dereference Operators</vt:lpstr>
      <vt:lpstr>Reference and Dereference Operators</vt:lpstr>
      <vt:lpstr>Reference and Dereference Operators</vt:lpstr>
      <vt:lpstr>Reference and Dereference Operators</vt:lpstr>
      <vt:lpstr>Reference and Dereference Operators</vt:lpstr>
      <vt:lpstr> Pointer Arithmetic</vt:lpstr>
      <vt:lpstr> Pointer Arithmetic</vt:lpstr>
      <vt:lpstr> Pointer Arithmetic</vt:lpstr>
      <vt:lpstr> Pointer Arithmetic</vt:lpstr>
      <vt:lpstr> Pointer Arithmetic</vt:lpstr>
      <vt:lpstr>Pointer and Array</vt:lpstr>
      <vt:lpstr>Pointer and Array</vt:lpstr>
      <vt:lpstr>Pointer and Array</vt:lpstr>
      <vt:lpstr>Pointer and Array</vt:lpstr>
      <vt:lpstr>Operator Precedence</vt:lpstr>
      <vt:lpstr>Hard-coded Pointer: Set pin PA.5 to high</vt:lpstr>
      <vt:lpstr>Hard-coded Pointer: Read GPIO pins</vt:lpstr>
      <vt:lpstr>A More Convenient Approach:  Define a pointer pointing to a structure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Yifeng Zhu</cp:lastModifiedBy>
  <cp:revision>868</cp:revision>
  <dcterms:created xsi:type="dcterms:W3CDTF">2013-02-03T05:36:57Z</dcterms:created>
  <dcterms:modified xsi:type="dcterms:W3CDTF">2023-05-23T14:05:59Z</dcterms:modified>
</cp:coreProperties>
</file>