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0" r:id="rId3"/>
    <p:sldId id="274" r:id="rId4"/>
    <p:sldId id="275" r:id="rId5"/>
    <p:sldId id="276" r:id="rId6"/>
    <p:sldId id="277" r:id="rId7"/>
    <p:sldId id="278" r:id="rId8"/>
    <p:sldId id="259" r:id="rId9"/>
    <p:sldId id="257" r:id="rId10"/>
    <p:sldId id="258" r:id="rId11"/>
    <p:sldId id="260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9" r:id="rId20"/>
    <p:sldId id="262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6682" autoAdjust="0"/>
  </p:normalViewPr>
  <p:slideViewPr>
    <p:cSldViewPr>
      <p:cViewPr varScale="1">
        <p:scale>
          <a:sx n="138" d="100"/>
          <a:sy n="138" d="100"/>
        </p:scale>
        <p:origin x="39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92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7350" y="687388"/>
            <a:ext cx="6088063" cy="3425825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fr-FR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63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F1D01B3-F2C9-4344-A81F-D9E5E8F1B883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D98BD8F-7F21-4652-B23C-55679D2BC642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B0FBD55E-33EF-49FC-91DA-BE3C6C020A33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81EF37-A9CA-4F3A-8F24-BBEAADCCB142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AF79678-0BDB-4F81-90BD-B05455C4B4AB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5E77EA-059E-40B5-93CE-18C5540BB3F3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84681DE-5BF8-4983-9B3E-40B2AC536047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F1789A3-1038-4B16-B347-AAFFD1303F48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F6975AD-CF43-40E7-96A9-07BA333887E4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714ABE4-4F25-45D6-AED6-FA935138480D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DCD26A1-D179-4C55-97FA-C0C0E4A52033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667" y="152400"/>
            <a:ext cx="99568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5667" y="1143000"/>
            <a:ext cx="5435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4467" y="1143000"/>
            <a:ext cx="5435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30777-A65B-46AE-A0EE-7A4C98D298B3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126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BED147EE-EC8C-47A0-A5EF-4ED614873973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21879" y="717896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2034132"/>
            <a:ext cx="4521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17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Direct Memory Access (DMA)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need DMA?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962400" y="5257800"/>
            <a:ext cx="4343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114800" y="1981200"/>
            <a:ext cx="3048" cy="3429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34200" y="5334000"/>
            <a:ext cx="2168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Communication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1949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 Utilization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4114800" y="4876800"/>
            <a:ext cx="4114800" cy="381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114801" y="2338431"/>
            <a:ext cx="3632433" cy="2919369"/>
          </a:xfrm>
          <a:custGeom>
            <a:avLst/>
            <a:gdLst>
              <a:gd name="connsiteX0" fmla="*/ 0 w 3632433"/>
              <a:gd name="connsiteY0" fmla="*/ 2919369 h 2919369"/>
              <a:gd name="connsiteX1" fmla="*/ 2206305 w 3632433"/>
              <a:gd name="connsiteY1" fmla="*/ 2038525 h 2919369"/>
              <a:gd name="connsiteX2" fmla="*/ 3632433 w 3632433"/>
              <a:gd name="connsiteY2" fmla="*/ 0 h 2919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2433" h="2919369">
                <a:moveTo>
                  <a:pt x="0" y="2919369"/>
                </a:moveTo>
                <a:cubicBezTo>
                  <a:pt x="800450" y="2722227"/>
                  <a:pt x="1600900" y="2525086"/>
                  <a:pt x="2206305" y="2038525"/>
                </a:cubicBezTo>
                <a:cubicBezTo>
                  <a:pt x="2811710" y="1551964"/>
                  <a:pt x="3386356" y="349541"/>
                  <a:pt x="3632433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452178" y="320826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DMA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7600" y="4431269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DMA</a:t>
            </a:r>
          </a:p>
        </p:txBody>
      </p:sp>
    </p:spTree>
    <p:extLst>
      <p:ext uri="{BB962C8B-B14F-4D97-AF65-F5344CB8AC3E}">
        <p14:creationId xmlns:p14="http://schemas.microsoft.com/office/powerpoint/2010/main" val="306314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DEEA-2135-4A00-9CF0-03FBFB1A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Moving Data between Peripheral and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3BFE1-EB68-4036-B163-72220A15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A0EFC-EDB9-49FD-9071-E52B01CC44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601200" cy="1066800"/>
          </a:xfrm>
        </p:spPr>
        <p:txBody>
          <a:bodyPr/>
          <a:lstStyle/>
          <a:p>
            <a:r>
              <a:rPr lang="en-US" dirty="0"/>
              <a:t>Copy data from peripheral to buffer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094FF-4C8E-4ED4-A5EE-DB322D9E5BD2}"/>
              </a:ext>
            </a:extLst>
          </p:cNvPr>
          <p:cNvSpPr/>
          <p:nvPr/>
        </p:nvSpPr>
        <p:spPr>
          <a:xfrm>
            <a:off x="2746248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BA31D-D4AE-470C-BB46-E32BD12AC05E}"/>
              </a:ext>
            </a:extLst>
          </p:cNvPr>
          <p:cNvSpPr/>
          <p:nvPr/>
        </p:nvSpPr>
        <p:spPr>
          <a:xfrm>
            <a:off x="5715000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C3473-1129-442D-9ED1-86D7CA4B0120}"/>
              </a:ext>
            </a:extLst>
          </p:cNvPr>
          <p:cNvSpPr/>
          <p:nvPr/>
        </p:nvSpPr>
        <p:spPr>
          <a:xfrm>
            <a:off x="8458200" y="2743200"/>
            <a:ext cx="15240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C70AE-F169-48BB-8172-A777892FFD8D}"/>
              </a:ext>
            </a:extLst>
          </p:cNvPr>
          <p:cNvSpPr/>
          <p:nvPr/>
        </p:nvSpPr>
        <p:spPr>
          <a:xfrm>
            <a:off x="2746248" y="4175181"/>
            <a:ext cx="1371600" cy="228600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5F72E6-7407-4311-A9A7-E95076B2677E}"/>
              </a:ext>
            </a:extLst>
          </p:cNvPr>
          <p:cNvSpPr/>
          <p:nvPr/>
        </p:nvSpPr>
        <p:spPr>
          <a:xfrm>
            <a:off x="5715000" y="3996173"/>
            <a:ext cx="1371600" cy="575827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B5191-D600-4B68-8888-8EA3DA0F6F25}"/>
              </a:ext>
            </a:extLst>
          </p:cNvPr>
          <p:cNvSpPr/>
          <p:nvPr/>
        </p:nvSpPr>
        <p:spPr>
          <a:xfrm>
            <a:off x="8458200" y="4114800"/>
            <a:ext cx="1524000" cy="228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Register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08C5E0-4FEE-4534-AC24-D309DDC7293F}"/>
              </a:ext>
            </a:extLst>
          </p:cNvPr>
          <p:cNvCxnSpPr/>
          <p:nvPr/>
        </p:nvCxnSpPr>
        <p:spPr>
          <a:xfrm>
            <a:off x="2667000" y="5562600"/>
            <a:ext cx="75438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398196-986B-44A4-BE8A-336C5B61BB8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32048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C79D5E-302F-4ACE-A09D-8F27EE36421E}"/>
              </a:ext>
            </a:extLst>
          </p:cNvPr>
          <p:cNvCxnSpPr>
            <a:cxnSpLocks/>
          </p:cNvCxnSpPr>
          <p:nvPr/>
        </p:nvCxnSpPr>
        <p:spPr>
          <a:xfrm>
            <a:off x="64008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915056-0F60-4F38-882E-6E6C17241480}"/>
              </a:ext>
            </a:extLst>
          </p:cNvPr>
          <p:cNvCxnSpPr>
            <a:cxnSpLocks/>
          </p:cNvCxnSpPr>
          <p:nvPr/>
        </p:nvCxnSpPr>
        <p:spPr>
          <a:xfrm>
            <a:off x="92202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E1639A7-9F59-4D9A-9D32-B838940BE30C}"/>
              </a:ext>
            </a:extLst>
          </p:cNvPr>
          <p:cNvSpPr/>
          <p:nvPr/>
        </p:nvSpPr>
        <p:spPr>
          <a:xfrm>
            <a:off x="5715000" y="2756506"/>
            <a:ext cx="1371600" cy="977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F7FC8-7FDB-4BA7-A155-68B01584A89D}"/>
              </a:ext>
            </a:extLst>
          </p:cNvPr>
          <p:cNvSpPr/>
          <p:nvPr/>
        </p:nvSpPr>
        <p:spPr>
          <a:xfrm>
            <a:off x="8458200" y="2743199"/>
            <a:ext cx="1524000" cy="914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Peripheral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CAC6B-1A45-40D8-A7AA-221487FBEF20}"/>
              </a:ext>
            </a:extLst>
          </p:cNvPr>
          <p:cNvSpPr/>
          <p:nvPr/>
        </p:nvSpPr>
        <p:spPr>
          <a:xfrm>
            <a:off x="2743200" y="2735809"/>
            <a:ext cx="1374648" cy="111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Core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0C04CE-1807-4663-AF70-D3D7812567A4}"/>
              </a:ext>
            </a:extLst>
          </p:cNvPr>
          <p:cNvSpPr txBox="1"/>
          <p:nvPr/>
        </p:nvSpPr>
        <p:spPr>
          <a:xfrm>
            <a:off x="1600203" y="4784779"/>
            <a:ext cx="171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1: load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744193-A8FA-45CB-8C1F-40C9799D7FCF}"/>
              </a:ext>
            </a:extLst>
          </p:cNvPr>
          <p:cNvCxnSpPr>
            <a:cxnSpLocks/>
          </p:cNvCxnSpPr>
          <p:nvPr/>
        </p:nvCxnSpPr>
        <p:spPr>
          <a:xfrm>
            <a:off x="9296400" y="4367002"/>
            <a:ext cx="0" cy="12717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1E3B49-DBA9-4962-9BE1-83963421C239}"/>
              </a:ext>
            </a:extLst>
          </p:cNvPr>
          <p:cNvCxnSpPr>
            <a:cxnSpLocks/>
          </p:cNvCxnSpPr>
          <p:nvPr/>
        </p:nvCxnSpPr>
        <p:spPr>
          <a:xfrm flipH="1">
            <a:off x="3352800" y="5622981"/>
            <a:ext cx="5943600" cy="158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D39DD6-5FB4-4792-8B93-87813837157B}"/>
              </a:ext>
            </a:extLst>
          </p:cNvPr>
          <p:cNvCxnSpPr>
            <a:cxnSpLocks/>
          </p:cNvCxnSpPr>
          <p:nvPr/>
        </p:nvCxnSpPr>
        <p:spPr>
          <a:xfrm>
            <a:off x="3352800" y="4403781"/>
            <a:ext cx="0" cy="1235018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B97E36D-4966-4786-864D-D326A306BE3B}"/>
              </a:ext>
            </a:extLst>
          </p:cNvPr>
          <p:cNvCxnSpPr>
            <a:cxnSpLocks/>
          </p:cNvCxnSpPr>
          <p:nvPr/>
        </p:nvCxnSpPr>
        <p:spPr>
          <a:xfrm>
            <a:off x="3521384" y="4403782"/>
            <a:ext cx="0" cy="108261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FBE18BA-968B-4EC9-BCD3-517B9180C40A}"/>
              </a:ext>
            </a:extLst>
          </p:cNvPr>
          <p:cNvCxnSpPr>
            <a:cxnSpLocks/>
          </p:cNvCxnSpPr>
          <p:nvPr/>
        </p:nvCxnSpPr>
        <p:spPr>
          <a:xfrm>
            <a:off x="3521384" y="5486400"/>
            <a:ext cx="2803216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ED84FD8-B261-4CCD-89F9-4F67731D4AFF}"/>
              </a:ext>
            </a:extLst>
          </p:cNvPr>
          <p:cNvCxnSpPr>
            <a:cxnSpLocks/>
          </p:cNvCxnSpPr>
          <p:nvPr/>
        </p:nvCxnSpPr>
        <p:spPr>
          <a:xfrm flipV="1">
            <a:off x="6324600" y="4572000"/>
            <a:ext cx="0" cy="930221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A3F7AB0-341F-4B4B-A86C-047F1C7996AD}"/>
              </a:ext>
            </a:extLst>
          </p:cNvPr>
          <p:cNvSpPr txBox="1"/>
          <p:nvPr/>
        </p:nvSpPr>
        <p:spPr>
          <a:xfrm>
            <a:off x="3509095" y="4771053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2: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9963" y="5675552"/>
            <a:ext cx="480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Load/store instructions are needed to move data.</a:t>
            </a:r>
          </a:p>
        </p:txBody>
      </p:sp>
      <p:sp>
        <p:nvSpPr>
          <p:cNvPr id="14" name="Right Arrow 13"/>
          <p:cNvSpPr/>
          <p:nvPr/>
        </p:nvSpPr>
        <p:spPr>
          <a:xfrm rot="10800000">
            <a:off x="7415868" y="4182079"/>
            <a:ext cx="762000" cy="2375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9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DEEA-2135-4A00-9CF0-03FBFB1A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Moving Data between Peripheral and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3BFE1-EB68-4036-B163-72220A15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A0EFC-EDB9-49FD-9071-E52B01CC44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601200" cy="1066800"/>
          </a:xfrm>
        </p:spPr>
        <p:txBody>
          <a:bodyPr/>
          <a:lstStyle/>
          <a:p>
            <a:r>
              <a:rPr lang="en-US" dirty="0"/>
              <a:t>Copy data from buffer to peripheral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094FF-4C8E-4ED4-A5EE-DB322D9E5BD2}"/>
              </a:ext>
            </a:extLst>
          </p:cNvPr>
          <p:cNvSpPr/>
          <p:nvPr/>
        </p:nvSpPr>
        <p:spPr>
          <a:xfrm>
            <a:off x="2746248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BA31D-D4AE-470C-BB46-E32BD12AC05E}"/>
              </a:ext>
            </a:extLst>
          </p:cNvPr>
          <p:cNvSpPr/>
          <p:nvPr/>
        </p:nvSpPr>
        <p:spPr>
          <a:xfrm>
            <a:off x="5715000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C3473-1129-442D-9ED1-86D7CA4B0120}"/>
              </a:ext>
            </a:extLst>
          </p:cNvPr>
          <p:cNvSpPr/>
          <p:nvPr/>
        </p:nvSpPr>
        <p:spPr>
          <a:xfrm>
            <a:off x="8458200" y="2743200"/>
            <a:ext cx="15240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C70AE-F169-48BB-8172-A777892FFD8D}"/>
              </a:ext>
            </a:extLst>
          </p:cNvPr>
          <p:cNvSpPr/>
          <p:nvPr/>
        </p:nvSpPr>
        <p:spPr>
          <a:xfrm>
            <a:off x="2746248" y="4175181"/>
            <a:ext cx="1371600" cy="228600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5F72E6-7407-4311-A9A7-E95076B2677E}"/>
              </a:ext>
            </a:extLst>
          </p:cNvPr>
          <p:cNvSpPr/>
          <p:nvPr/>
        </p:nvSpPr>
        <p:spPr>
          <a:xfrm>
            <a:off x="5715000" y="3996173"/>
            <a:ext cx="1371600" cy="57582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B5191-D600-4B68-8888-8EA3DA0F6F25}"/>
              </a:ext>
            </a:extLst>
          </p:cNvPr>
          <p:cNvSpPr/>
          <p:nvPr/>
        </p:nvSpPr>
        <p:spPr>
          <a:xfrm>
            <a:off x="8458200" y="4114800"/>
            <a:ext cx="1524000" cy="2286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Register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08C5E0-4FEE-4534-AC24-D309DDC7293F}"/>
              </a:ext>
            </a:extLst>
          </p:cNvPr>
          <p:cNvCxnSpPr/>
          <p:nvPr/>
        </p:nvCxnSpPr>
        <p:spPr>
          <a:xfrm>
            <a:off x="2667000" y="5562600"/>
            <a:ext cx="75438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398196-986B-44A4-BE8A-336C5B61BB8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32048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C79D5E-302F-4ACE-A09D-8F27EE36421E}"/>
              </a:ext>
            </a:extLst>
          </p:cNvPr>
          <p:cNvCxnSpPr>
            <a:cxnSpLocks/>
          </p:cNvCxnSpPr>
          <p:nvPr/>
        </p:nvCxnSpPr>
        <p:spPr>
          <a:xfrm>
            <a:off x="64008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915056-0F60-4F38-882E-6E6C17241480}"/>
              </a:ext>
            </a:extLst>
          </p:cNvPr>
          <p:cNvCxnSpPr>
            <a:cxnSpLocks/>
          </p:cNvCxnSpPr>
          <p:nvPr/>
        </p:nvCxnSpPr>
        <p:spPr>
          <a:xfrm>
            <a:off x="92202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E1639A7-9F59-4D9A-9D32-B838940BE30C}"/>
              </a:ext>
            </a:extLst>
          </p:cNvPr>
          <p:cNvSpPr/>
          <p:nvPr/>
        </p:nvSpPr>
        <p:spPr>
          <a:xfrm>
            <a:off x="5715000" y="2756506"/>
            <a:ext cx="1371600" cy="977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F7FC8-7FDB-4BA7-A155-68B01584A89D}"/>
              </a:ext>
            </a:extLst>
          </p:cNvPr>
          <p:cNvSpPr/>
          <p:nvPr/>
        </p:nvSpPr>
        <p:spPr>
          <a:xfrm>
            <a:off x="8458200" y="2743199"/>
            <a:ext cx="1524000" cy="914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Peripheral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CAC6B-1A45-40D8-A7AA-221487FBEF20}"/>
              </a:ext>
            </a:extLst>
          </p:cNvPr>
          <p:cNvSpPr/>
          <p:nvPr/>
        </p:nvSpPr>
        <p:spPr>
          <a:xfrm>
            <a:off x="2743200" y="2735809"/>
            <a:ext cx="1374648" cy="111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Core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744193-A8FA-45CB-8C1F-40C9799D7FCF}"/>
              </a:ext>
            </a:extLst>
          </p:cNvPr>
          <p:cNvCxnSpPr>
            <a:cxnSpLocks/>
          </p:cNvCxnSpPr>
          <p:nvPr/>
        </p:nvCxnSpPr>
        <p:spPr>
          <a:xfrm>
            <a:off x="9296400" y="4367002"/>
            <a:ext cx="0" cy="1271798"/>
          </a:xfrm>
          <a:prstGeom prst="straightConnector1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1E3B49-DBA9-4962-9BE1-83963421C239}"/>
              </a:ext>
            </a:extLst>
          </p:cNvPr>
          <p:cNvCxnSpPr>
            <a:cxnSpLocks/>
          </p:cNvCxnSpPr>
          <p:nvPr/>
        </p:nvCxnSpPr>
        <p:spPr>
          <a:xfrm flipH="1">
            <a:off x="3352800" y="5622981"/>
            <a:ext cx="5943600" cy="15818"/>
          </a:xfrm>
          <a:prstGeom prst="straightConnector1">
            <a:avLst/>
          </a:prstGeom>
          <a:ln w="28575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D39DD6-5FB4-4792-8B93-87813837157B}"/>
              </a:ext>
            </a:extLst>
          </p:cNvPr>
          <p:cNvCxnSpPr>
            <a:cxnSpLocks/>
          </p:cNvCxnSpPr>
          <p:nvPr/>
        </p:nvCxnSpPr>
        <p:spPr>
          <a:xfrm>
            <a:off x="3352800" y="4403781"/>
            <a:ext cx="0" cy="1235018"/>
          </a:xfrm>
          <a:prstGeom prst="straightConnector1">
            <a:avLst/>
          </a:prstGeom>
          <a:ln w="28575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B97E36D-4966-4786-864D-D326A306BE3B}"/>
              </a:ext>
            </a:extLst>
          </p:cNvPr>
          <p:cNvCxnSpPr>
            <a:cxnSpLocks/>
          </p:cNvCxnSpPr>
          <p:nvPr/>
        </p:nvCxnSpPr>
        <p:spPr>
          <a:xfrm>
            <a:off x="3521384" y="4403782"/>
            <a:ext cx="0" cy="1082619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FBE18BA-968B-4EC9-BCD3-517B9180C40A}"/>
              </a:ext>
            </a:extLst>
          </p:cNvPr>
          <p:cNvCxnSpPr>
            <a:cxnSpLocks/>
          </p:cNvCxnSpPr>
          <p:nvPr/>
        </p:nvCxnSpPr>
        <p:spPr>
          <a:xfrm>
            <a:off x="3521384" y="5486400"/>
            <a:ext cx="2803216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ED84FD8-B261-4CCD-89F9-4F67731D4AFF}"/>
              </a:ext>
            </a:extLst>
          </p:cNvPr>
          <p:cNvCxnSpPr>
            <a:cxnSpLocks/>
          </p:cNvCxnSpPr>
          <p:nvPr/>
        </p:nvCxnSpPr>
        <p:spPr>
          <a:xfrm flipV="1">
            <a:off x="6324600" y="4572000"/>
            <a:ext cx="0" cy="93022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Arrow 25"/>
          <p:cNvSpPr/>
          <p:nvPr/>
        </p:nvSpPr>
        <p:spPr>
          <a:xfrm>
            <a:off x="7415868" y="4182079"/>
            <a:ext cx="762000" cy="2375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519963" y="5675552"/>
            <a:ext cx="480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Load/store instructions are needed to move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97DBA-958A-33D9-A805-803C6A70EB4C}"/>
              </a:ext>
            </a:extLst>
          </p:cNvPr>
          <p:cNvSpPr txBox="1"/>
          <p:nvPr/>
        </p:nvSpPr>
        <p:spPr>
          <a:xfrm>
            <a:off x="1451696" y="4784779"/>
            <a:ext cx="1862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2: store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1F57E-A6A4-7D06-A3A2-E6F52CDBFE61}"/>
              </a:ext>
            </a:extLst>
          </p:cNvPr>
          <p:cNvSpPr txBox="1"/>
          <p:nvPr/>
        </p:nvSpPr>
        <p:spPr>
          <a:xfrm>
            <a:off x="3509095" y="4771053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Step 1: load</a:t>
            </a:r>
          </a:p>
        </p:txBody>
      </p:sp>
    </p:spTree>
    <p:extLst>
      <p:ext uri="{BB962C8B-B14F-4D97-AF65-F5344CB8AC3E}">
        <p14:creationId xmlns:p14="http://schemas.microsoft.com/office/powerpoint/2010/main" val="234820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DEEA-2135-4A00-9CF0-03FBFB1A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DMA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3BFE1-EB68-4036-B163-72220A15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A0EFC-EDB9-49FD-9071-E52B01CC44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601200" cy="1066800"/>
          </a:xfrm>
        </p:spPr>
        <p:txBody>
          <a:bodyPr/>
          <a:lstStyle/>
          <a:p>
            <a:r>
              <a:rPr lang="en-US" dirty="0"/>
              <a:t>Copy data from peripheral to buffer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094FF-4C8E-4ED4-A5EE-DB322D9E5BD2}"/>
              </a:ext>
            </a:extLst>
          </p:cNvPr>
          <p:cNvSpPr/>
          <p:nvPr/>
        </p:nvSpPr>
        <p:spPr>
          <a:xfrm>
            <a:off x="2746248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BA31D-D4AE-470C-BB46-E32BD12AC05E}"/>
              </a:ext>
            </a:extLst>
          </p:cNvPr>
          <p:cNvSpPr/>
          <p:nvPr/>
        </p:nvSpPr>
        <p:spPr>
          <a:xfrm>
            <a:off x="5715000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C3473-1129-442D-9ED1-86D7CA4B0120}"/>
              </a:ext>
            </a:extLst>
          </p:cNvPr>
          <p:cNvSpPr/>
          <p:nvPr/>
        </p:nvSpPr>
        <p:spPr>
          <a:xfrm>
            <a:off x="8458200" y="2743200"/>
            <a:ext cx="15240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C70AE-F169-48BB-8172-A777892FFD8D}"/>
              </a:ext>
            </a:extLst>
          </p:cNvPr>
          <p:cNvSpPr/>
          <p:nvPr/>
        </p:nvSpPr>
        <p:spPr>
          <a:xfrm>
            <a:off x="2746248" y="4175181"/>
            <a:ext cx="1371600" cy="228600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5F72E6-7407-4311-A9A7-E95076B2677E}"/>
              </a:ext>
            </a:extLst>
          </p:cNvPr>
          <p:cNvSpPr/>
          <p:nvPr/>
        </p:nvSpPr>
        <p:spPr>
          <a:xfrm>
            <a:off x="5715000" y="3996173"/>
            <a:ext cx="1371600" cy="575827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B5191-D600-4B68-8888-8EA3DA0F6F25}"/>
              </a:ext>
            </a:extLst>
          </p:cNvPr>
          <p:cNvSpPr/>
          <p:nvPr/>
        </p:nvSpPr>
        <p:spPr>
          <a:xfrm>
            <a:off x="8458200" y="4114800"/>
            <a:ext cx="1524000" cy="228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Register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08C5E0-4FEE-4534-AC24-D309DDC7293F}"/>
              </a:ext>
            </a:extLst>
          </p:cNvPr>
          <p:cNvCxnSpPr/>
          <p:nvPr/>
        </p:nvCxnSpPr>
        <p:spPr>
          <a:xfrm>
            <a:off x="2667000" y="5562600"/>
            <a:ext cx="75438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398196-986B-44A4-BE8A-336C5B61BB8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32048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C79D5E-302F-4ACE-A09D-8F27EE36421E}"/>
              </a:ext>
            </a:extLst>
          </p:cNvPr>
          <p:cNvCxnSpPr>
            <a:cxnSpLocks/>
          </p:cNvCxnSpPr>
          <p:nvPr/>
        </p:nvCxnSpPr>
        <p:spPr>
          <a:xfrm>
            <a:off x="64008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915056-0F60-4F38-882E-6E6C17241480}"/>
              </a:ext>
            </a:extLst>
          </p:cNvPr>
          <p:cNvCxnSpPr>
            <a:cxnSpLocks/>
          </p:cNvCxnSpPr>
          <p:nvPr/>
        </p:nvCxnSpPr>
        <p:spPr>
          <a:xfrm>
            <a:off x="92202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E1639A7-9F59-4D9A-9D32-B838940BE30C}"/>
              </a:ext>
            </a:extLst>
          </p:cNvPr>
          <p:cNvSpPr/>
          <p:nvPr/>
        </p:nvSpPr>
        <p:spPr>
          <a:xfrm>
            <a:off x="5715000" y="2756506"/>
            <a:ext cx="1371600" cy="977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F7FC8-7FDB-4BA7-A155-68B01584A89D}"/>
              </a:ext>
            </a:extLst>
          </p:cNvPr>
          <p:cNvSpPr/>
          <p:nvPr/>
        </p:nvSpPr>
        <p:spPr>
          <a:xfrm>
            <a:off x="8458200" y="2743199"/>
            <a:ext cx="1524000" cy="914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Peripheral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CAC6B-1A45-40D8-A7AA-221487FBEF20}"/>
              </a:ext>
            </a:extLst>
          </p:cNvPr>
          <p:cNvSpPr/>
          <p:nvPr/>
        </p:nvSpPr>
        <p:spPr>
          <a:xfrm>
            <a:off x="2743200" y="2735809"/>
            <a:ext cx="1374648" cy="111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Core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744193-A8FA-45CB-8C1F-40C9799D7FCF}"/>
              </a:ext>
            </a:extLst>
          </p:cNvPr>
          <p:cNvCxnSpPr>
            <a:cxnSpLocks/>
          </p:cNvCxnSpPr>
          <p:nvPr/>
        </p:nvCxnSpPr>
        <p:spPr>
          <a:xfrm>
            <a:off x="9296400" y="4367002"/>
            <a:ext cx="0" cy="12717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1E3B49-DBA9-4962-9BE1-83963421C239}"/>
              </a:ext>
            </a:extLst>
          </p:cNvPr>
          <p:cNvCxnSpPr>
            <a:cxnSpLocks/>
          </p:cNvCxnSpPr>
          <p:nvPr/>
        </p:nvCxnSpPr>
        <p:spPr>
          <a:xfrm flipH="1">
            <a:off x="6493184" y="5622982"/>
            <a:ext cx="2803216" cy="158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D39DD6-5FB4-4792-8B93-87813837157B}"/>
              </a:ext>
            </a:extLst>
          </p:cNvPr>
          <p:cNvCxnSpPr>
            <a:cxnSpLocks/>
          </p:cNvCxnSpPr>
          <p:nvPr/>
        </p:nvCxnSpPr>
        <p:spPr>
          <a:xfrm>
            <a:off x="6493184" y="4495800"/>
            <a:ext cx="0" cy="1143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1764F17-9BF0-4F9E-93A6-614D29C83874}"/>
              </a:ext>
            </a:extLst>
          </p:cNvPr>
          <p:cNvSpPr/>
          <p:nvPr/>
        </p:nvSpPr>
        <p:spPr>
          <a:xfrm>
            <a:off x="4191000" y="1939388"/>
            <a:ext cx="4641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Transferring data without CPU intervention!</a:t>
            </a:r>
          </a:p>
        </p:txBody>
      </p:sp>
    </p:spTree>
    <p:extLst>
      <p:ext uri="{BB962C8B-B14F-4D97-AF65-F5344CB8AC3E}">
        <p14:creationId xmlns:p14="http://schemas.microsoft.com/office/powerpoint/2010/main" val="380516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DEEA-2135-4A00-9CF0-03FBFB1A6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DMA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3BFE1-EB68-4036-B163-72220A15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A0EFC-EDB9-49FD-9071-E52B01CC44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601200" cy="1066800"/>
          </a:xfrm>
        </p:spPr>
        <p:txBody>
          <a:bodyPr/>
          <a:lstStyle/>
          <a:p>
            <a:r>
              <a:rPr lang="en-US" dirty="0"/>
              <a:t>Copy data from buffer to peripheral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094FF-4C8E-4ED4-A5EE-DB322D9E5BD2}"/>
              </a:ext>
            </a:extLst>
          </p:cNvPr>
          <p:cNvSpPr/>
          <p:nvPr/>
        </p:nvSpPr>
        <p:spPr>
          <a:xfrm>
            <a:off x="2746248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BA31D-D4AE-470C-BB46-E32BD12AC05E}"/>
              </a:ext>
            </a:extLst>
          </p:cNvPr>
          <p:cNvSpPr/>
          <p:nvPr/>
        </p:nvSpPr>
        <p:spPr>
          <a:xfrm>
            <a:off x="5715000" y="2743200"/>
            <a:ext cx="1371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C3473-1129-442D-9ED1-86D7CA4B0120}"/>
              </a:ext>
            </a:extLst>
          </p:cNvPr>
          <p:cNvSpPr/>
          <p:nvPr/>
        </p:nvSpPr>
        <p:spPr>
          <a:xfrm>
            <a:off x="8458200" y="2743200"/>
            <a:ext cx="15240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C70AE-F169-48BB-8172-A777892FFD8D}"/>
              </a:ext>
            </a:extLst>
          </p:cNvPr>
          <p:cNvSpPr/>
          <p:nvPr/>
        </p:nvSpPr>
        <p:spPr>
          <a:xfrm>
            <a:off x="2746248" y="4175181"/>
            <a:ext cx="1371600" cy="228600"/>
          </a:xfrm>
          <a:prstGeom prst="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5F72E6-7407-4311-A9A7-E95076B2677E}"/>
              </a:ext>
            </a:extLst>
          </p:cNvPr>
          <p:cNvSpPr/>
          <p:nvPr/>
        </p:nvSpPr>
        <p:spPr>
          <a:xfrm>
            <a:off x="5715000" y="3996173"/>
            <a:ext cx="1371600" cy="575827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B5191-D600-4B68-8888-8EA3DA0F6F25}"/>
              </a:ext>
            </a:extLst>
          </p:cNvPr>
          <p:cNvSpPr/>
          <p:nvPr/>
        </p:nvSpPr>
        <p:spPr>
          <a:xfrm>
            <a:off x="8458200" y="4114800"/>
            <a:ext cx="1524000" cy="2286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Register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08C5E0-4FEE-4534-AC24-D309DDC7293F}"/>
              </a:ext>
            </a:extLst>
          </p:cNvPr>
          <p:cNvCxnSpPr/>
          <p:nvPr/>
        </p:nvCxnSpPr>
        <p:spPr>
          <a:xfrm>
            <a:off x="2667000" y="5562600"/>
            <a:ext cx="75438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398196-986B-44A4-BE8A-336C5B61BB8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432048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C79D5E-302F-4ACE-A09D-8F27EE36421E}"/>
              </a:ext>
            </a:extLst>
          </p:cNvPr>
          <p:cNvCxnSpPr>
            <a:cxnSpLocks/>
          </p:cNvCxnSpPr>
          <p:nvPr/>
        </p:nvCxnSpPr>
        <p:spPr>
          <a:xfrm>
            <a:off x="64008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915056-0F60-4F38-882E-6E6C17241480}"/>
              </a:ext>
            </a:extLst>
          </p:cNvPr>
          <p:cNvCxnSpPr>
            <a:cxnSpLocks/>
          </p:cNvCxnSpPr>
          <p:nvPr/>
        </p:nvCxnSpPr>
        <p:spPr>
          <a:xfrm>
            <a:off x="9220200" y="4724400"/>
            <a:ext cx="0" cy="8382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E1639A7-9F59-4D9A-9D32-B838940BE30C}"/>
              </a:ext>
            </a:extLst>
          </p:cNvPr>
          <p:cNvSpPr/>
          <p:nvPr/>
        </p:nvSpPr>
        <p:spPr>
          <a:xfrm>
            <a:off x="5715000" y="2756506"/>
            <a:ext cx="1371600" cy="9772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F7FC8-7FDB-4BA7-A155-68B01584A89D}"/>
              </a:ext>
            </a:extLst>
          </p:cNvPr>
          <p:cNvSpPr/>
          <p:nvPr/>
        </p:nvSpPr>
        <p:spPr>
          <a:xfrm>
            <a:off x="8458200" y="2743199"/>
            <a:ext cx="1524000" cy="914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Peripheral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CAC6B-1A45-40D8-A7AA-221487FBEF20}"/>
              </a:ext>
            </a:extLst>
          </p:cNvPr>
          <p:cNvSpPr/>
          <p:nvPr/>
        </p:nvSpPr>
        <p:spPr>
          <a:xfrm>
            <a:off x="2743200" y="2735809"/>
            <a:ext cx="1374648" cy="11187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Processor Core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B97E36D-4966-4786-864D-D326A306BE3B}"/>
              </a:ext>
            </a:extLst>
          </p:cNvPr>
          <p:cNvCxnSpPr>
            <a:cxnSpLocks/>
          </p:cNvCxnSpPr>
          <p:nvPr/>
        </p:nvCxnSpPr>
        <p:spPr>
          <a:xfrm>
            <a:off x="9144000" y="4343400"/>
            <a:ext cx="0" cy="115091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FBE18BA-968B-4EC9-BCD3-517B9180C40A}"/>
              </a:ext>
            </a:extLst>
          </p:cNvPr>
          <p:cNvCxnSpPr>
            <a:cxnSpLocks/>
          </p:cNvCxnSpPr>
          <p:nvPr/>
        </p:nvCxnSpPr>
        <p:spPr>
          <a:xfrm flipH="1" flipV="1">
            <a:off x="6324600" y="5486400"/>
            <a:ext cx="2819400" cy="1582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ED84FD8-B261-4CCD-89F9-4F67731D4AFF}"/>
              </a:ext>
            </a:extLst>
          </p:cNvPr>
          <p:cNvCxnSpPr>
            <a:cxnSpLocks/>
          </p:cNvCxnSpPr>
          <p:nvPr/>
        </p:nvCxnSpPr>
        <p:spPr>
          <a:xfrm flipV="1">
            <a:off x="6324600" y="4572000"/>
            <a:ext cx="0" cy="930221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F50D8-545E-4B98-9F49-39A21D76F2E7}"/>
              </a:ext>
            </a:extLst>
          </p:cNvPr>
          <p:cNvSpPr/>
          <p:nvPr/>
        </p:nvSpPr>
        <p:spPr>
          <a:xfrm>
            <a:off x="4191000" y="1939388"/>
            <a:ext cx="4641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Transferring data without CPU intervention!</a:t>
            </a:r>
          </a:p>
        </p:txBody>
      </p:sp>
    </p:spTree>
    <p:extLst>
      <p:ext uri="{BB962C8B-B14F-4D97-AF65-F5344CB8AC3E}">
        <p14:creationId xmlns:p14="http://schemas.microsoft.com/office/powerpoint/2010/main" val="51926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42A-B0C5-460F-A8C3-A174D894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DMA: Flow-though </a:t>
            </a:r>
            <a:r>
              <a:rPr lang="en-US" i="1" dirty="0"/>
              <a:t>vs</a:t>
            </a:r>
            <a:r>
              <a:rPr lang="en-US" dirty="0"/>
              <a:t> Fly-by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83BB8-C3B0-43A6-9EE8-0F568AB0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1C29F-76CD-49DB-B66A-E8BD2E1C8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1" y="2464700"/>
            <a:ext cx="3743551" cy="1891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CDE868-01FA-4B3E-9C21-FC47AAF1B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1" y="2464699"/>
            <a:ext cx="3718171" cy="189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Channels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4937760"/>
          </a:xfrm>
        </p:spPr>
        <p:txBody>
          <a:bodyPr>
            <a:normAutofit/>
          </a:bodyPr>
          <a:lstStyle/>
          <a:p>
            <a:r>
              <a:rPr lang="en-US" sz="1800" dirty="0"/>
              <a:t>DMA releases CPU from moving data </a:t>
            </a:r>
          </a:p>
          <a:p>
            <a:pPr lvl="1"/>
            <a:r>
              <a:rPr lang="en-US" sz="1600" dirty="0"/>
              <a:t>between peripherals and memory, or </a:t>
            </a:r>
          </a:p>
          <a:p>
            <a:pPr lvl="1"/>
            <a:r>
              <a:rPr lang="en-US" sz="1600" dirty="0"/>
              <a:t>between one peripheral and another peripheral.</a:t>
            </a:r>
          </a:p>
          <a:p>
            <a:r>
              <a:rPr lang="en-US" sz="1800" dirty="0"/>
              <a:t>DMA uses bus matrix to allow concurrent transfers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946450"/>
              </p:ext>
            </p:extLst>
          </p:nvPr>
        </p:nvGraphicFramePr>
        <p:xfrm>
          <a:off x="1638300" y="2651110"/>
          <a:ext cx="8991600" cy="4071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Peripherals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1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5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6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Channel 7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ADC1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ADC1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SPI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SPI1_RX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SPI1_TX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SPI2_RX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SPI2_TX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USART3_TX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USART3_RX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USART1_TX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USART1_RX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USART2_RX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USART2_TX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I2C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I2C2_TX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I2C2_RX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I2C1_TX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I2C1_RX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8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TIM2_CH3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TIM2_UP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TIM2_CH1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TIM2_CH2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TIM2_CH4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8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TIM3_CH3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TIM3_CH4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TIM3_UP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TIM3_CH1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TIM3_TRIG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TIM4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TIM4_CH1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TIM4_CH2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TIM4_CH3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TIM4_UP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TIM6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DAC_Ch1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TIM6_UP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DAC_Ch1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3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TIM7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DAC_CH2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TIM7_UP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DAC_CH2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07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9601200" cy="990600"/>
          </a:xfrm>
        </p:spPr>
        <p:txBody>
          <a:bodyPr>
            <a:normAutofit/>
          </a:bodyPr>
          <a:lstStyle/>
          <a:p>
            <a:r>
              <a:rPr lang="en-US" dirty="0"/>
              <a:t>Programmed I/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Rectangle 3"/>
          <p:cNvSpPr/>
          <p:nvPr/>
        </p:nvSpPr>
        <p:spPr>
          <a:xfrm>
            <a:off x="2953821" y="5554357"/>
            <a:ext cx="64615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Receiving data from </a:t>
            </a:r>
            <a:r>
              <a:rPr lang="en-US" dirty="0" err="1"/>
              <a:t>USART</a:t>
            </a:r>
            <a:r>
              <a:rPr lang="en-US" dirty="0"/>
              <a:t> serial port without using DMA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524143" cy="7620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Processor executes a lot Loads/Stores to move data</a:t>
            </a:r>
          </a:p>
          <a:p>
            <a:r>
              <a:rPr lang="en-US" sz="2000" dirty="0"/>
              <a:t>High overhead and slow</a:t>
            </a:r>
          </a:p>
          <a:p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2027322"/>
            <a:ext cx="8970107" cy="341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96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9601200" cy="990600"/>
          </a:xfrm>
        </p:spPr>
        <p:txBody>
          <a:bodyPr/>
          <a:lstStyle/>
          <a:p>
            <a:r>
              <a:rPr lang="en-US" dirty="0"/>
              <a:t>DMA Sets Core Free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Rectangle 3"/>
          <p:cNvSpPr/>
          <p:nvPr/>
        </p:nvSpPr>
        <p:spPr>
          <a:xfrm>
            <a:off x="3352800" y="5540279"/>
            <a:ext cx="5638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Receiving data from </a:t>
            </a:r>
            <a:r>
              <a:rPr lang="en-US" dirty="0" err="1"/>
              <a:t>USART</a:t>
            </a:r>
            <a:r>
              <a:rPr lang="en-US" dirty="0"/>
              <a:t> serial port using DMA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524143" cy="7620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CPU delegates reads/writes to DMA controller</a:t>
            </a:r>
          </a:p>
          <a:p>
            <a:r>
              <a:rPr lang="en-US" sz="2000" dirty="0"/>
              <a:t>Low overhead and fast</a:t>
            </a:r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72602"/>
            <a:ext cx="8915400" cy="339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3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Controller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Basic Procedures</a:t>
            </a:r>
          </a:p>
          <a:p>
            <a:pPr lvl="1"/>
            <a:r>
              <a:rPr lang="en-US" dirty="0"/>
              <a:t>DMA device requests bus </a:t>
            </a:r>
          </a:p>
          <a:p>
            <a:pPr lvl="1"/>
            <a:r>
              <a:rPr lang="en-US" dirty="0"/>
              <a:t>CPU grants bus request</a:t>
            </a:r>
          </a:p>
          <a:p>
            <a:pPr lvl="1"/>
            <a:r>
              <a:rPr lang="en-US" dirty="0"/>
              <a:t>CPU takes its signals to </a:t>
            </a:r>
            <a:r>
              <a:rPr lang="en-US" dirty="0" err="1"/>
              <a:t>HiZ</a:t>
            </a:r>
            <a:r>
              <a:rPr lang="en-US" dirty="0"/>
              <a:t> </a:t>
            </a:r>
          </a:p>
          <a:p>
            <a:r>
              <a:rPr lang="en-US" dirty="0"/>
              <a:t>Key DMA Controller Registers</a:t>
            </a:r>
          </a:p>
          <a:p>
            <a:pPr lvl="1"/>
            <a:r>
              <a:rPr lang="en-US" dirty="0"/>
              <a:t>DMA memory address register 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DMA peripheral address register 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CPAR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DMA number of data register 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DMA configuration register 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CCR</a:t>
            </a:r>
            <a:r>
              <a:rPr lang="en-US" dirty="0"/>
              <a:t>)</a:t>
            </a:r>
          </a:p>
          <a:p>
            <a:r>
              <a:rPr lang="en-US" dirty="0"/>
              <a:t>DMA are often used together with interrupts</a:t>
            </a:r>
          </a:p>
        </p:txBody>
      </p:sp>
    </p:spTree>
    <p:extLst>
      <p:ext uri="{BB962C8B-B14F-4D97-AF65-F5344CB8AC3E}">
        <p14:creationId xmlns:p14="http://schemas.microsoft.com/office/powerpoint/2010/main" val="253358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Incremental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20" idx="3"/>
          </p:cNvCxnSpPr>
          <p:nvPr/>
        </p:nvCxnSpPr>
        <p:spPr>
          <a:xfrm flipH="1">
            <a:off x="8458200" y="4305300"/>
            <a:ext cx="55908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5" y="4824657"/>
            <a:ext cx="1324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6" idx="3"/>
            <a:endCxn id="20" idx="1"/>
          </p:cNvCxnSpPr>
          <p:nvPr/>
        </p:nvCxnSpPr>
        <p:spPr>
          <a:xfrm>
            <a:off x="6629400" y="3848338"/>
            <a:ext cx="685800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  <a:endCxn id="36" idx="1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66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Incremental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19" idx="3"/>
          </p:cNvCxnSpPr>
          <p:nvPr/>
        </p:nvCxnSpPr>
        <p:spPr>
          <a:xfrm flipH="1" flipV="1">
            <a:off x="8458200" y="3924300"/>
            <a:ext cx="559084" cy="3810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5" y="4824657"/>
            <a:ext cx="1324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</p:txBody>
      </p:sp>
      <p:cxnSp>
        <p:nvCxnSpPr>
          <p:cNvPr id="48" name="Straight Arrow Connector 47"/>
          <p:cNvCxnSpPr>
            <a:endCxn id="20" idx="1"/>
          </p:cNvCxnSpPr>
          <p:nvPr/>
        </p:nvCxnSpPr>
        <p:spPr>
          <a:xfrm>
            <a:off x="6629400" y="3848338"/>
            <a:ext cx="685800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05401" y="579120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b="1" baseline="30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DMA Transfer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711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Incremental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18" idx="3"/>
          </p:cNvCxnSpPr>
          <p:nvPr/>
        </p:nvCxnSpPr>
        <p:spPr>
          <a:xfrm flipH="1" flipV="1">
            <a:off x="8458200" y="3543300"/>
            <a:ext cx="559084" cy="7620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5" y="4824657"/>
            <a:ext cx="13244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</p:txBody>
      </p:sp>
      <p:cxnSp>
        <p:nvCxnSpPr>
          <p:cNvPr id="48" name="Straight Arrow Connector 47"/>
          <p:cNvCxnSpPr>
            <a:endCxn id="19" idx="1"/>
          </p:cNvCxnSpPr>
          <p:nvPr/>
        </p:nvCxnSpPr>
        <p:spPr>
          <a:xfrm>
            <a:off x="6629400" y="3848338"/>
            <a:ext cx="685800" cy="75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05400" y="579120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b="1" baseline="30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nd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DMA Transfer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1" y="6324600"/>
            <a:ext cx="424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DMA stops since </a:t>
            </a:r>
            <a:r>
              <a:rPr lang="en-US" b="1" dirty="0" err="1">
                <a:solidFill>
                  <a:srgbClr val="C00000"/>
                </a:solidFill>
              </a:rPr>
              <a:t>CNDTR</a:t>
            </a:r>
            <a:r>
              <a:rPr lang="en-US" b="1" dirty="0">
                <a:solidFill>
                  <a:srgbClr val="C00000"/>
                </a:solidFill>
              </a:rPr>
              <a:t> is zero now.</a:t>
            </a:r>
          </a:p>
        </p:txBody>
      </p:sp>
    </p:spTree>
    <p:extLst>
      <p:ext uri="{BB962C8B-B14F-4D97-AF65-F5344CB8AC3E}">
        <p14:creationId xmlns:p14="http://schemas.microsoft.com/office/powerpoint/2010/main" val="3294076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Circular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981200" y="5362368"/>
            <a:ext cx="8534400" cy="1038432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Circular Mode</a:t>
            </a:r>
          </a:p>
          <a:p>
            <a:pPr lvl="1"/>
            <a:r>
              <a:rPr lang="en-US" sz="1600" dirty="0"/>
              <a:t>handle circular buffers and continuous data flows</a:t>
            </a:r>
          </a:p>
          <a:p>
            <a:pPr lvl="1"/>
            <a:r>
              <a:rPr lang="en-US" sz="1600" dirty="0"/>
              <a:t>The number of data to be transferred (</a:t>
            </a:r>
            <a:r>
              <a:rPr lang="en-US" sz="1600" dirty="0" err="1"/>
              <a:t>CNDTR</a:t>
            </a:r>
            <a:r>
              <a:rPr lang="en-US" sz="1600" dirty="0"/>
              <a:t>) is automatically reloaded and DMA requests continue to be served</a:t>
            </a:r>
          </a:p>
          <a:p>
            <a:pPr lvl="1"/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20" idx="3"/>
          </p:cNvCxnSpPr>
          <p:nvPr/>
        </p:nvCxnSpPr>
        <p:spPr>
          <a:xfrm flipH="1">
            <a:off x="8458200" y="4305300"/>
            <a:ext cx="55908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6" y="4824656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48" name="Straight Arrow Connector 47"/>
          <p:cNvCxnSpPr>
            <a:endCxn id="20" idx="1"/>
          </p:cNvCxnSpPr>
          <p:nvPr/>
        </p:nvCxnSpPr>
        <p:spPr>
          <a:xfrm>
            <a:off x="6629400" y="3848338"/>
            <a:ext cx="685800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62800" y="3657600"/>
            <a:ext cx="1447800" cy="9144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</p:spTree>
    <p:extLst>
      <p:ext uri="{BB962C8B-B14F-4D97-AF65-F5344CB8AC3E}">
        <p14:creationId xmlns:p14="http://schemas.microsoft.com/office/powerpoint/2010/main" val="2707096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Incremental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20" idx="3"/>
          </p:cNvCxnSpPr>
          <p:nvPr/>
        </p:nvCxnSpPr>
        <p:spPr>
          <a:xfrm flipH="1">
            <a:off x="8458200" y="4305300"/>
            <a:ext cx="55908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5" y="4824656"/>
            <a:ext cx="13244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2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 = 1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6" idx="3"/>
            <a:endCxn id="20" idx="1"/>
          </p:cNvCxnSpPr>
          <p:nvPr/>
        </p:nvCxnSpPr>
        <p:spPr>
          <a:xfrm>
            <a:off x="6629400" y="3848338"/>
            <a:ext cx="685800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  <a:endCxn id="36" idx="1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162800" y="3657600"/>
            <a:ext cx="1447800" cy="9144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62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Incremental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19" idx="3"/>
          </p:cNvCxnSpPr>
          <p:nvPr/>
        </p:nvCxnSpPr>
        <p:spPr>
          <a:xfrm flipH="1" flipV="1">
            <a:off x="8458200" y="3924300"/>
            <a:ext cx="559084" cy="3810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5" y="4824656"/>
            <a:ext cx="13244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 = 1</a:t>
            </a:r>
          </a:p>
        </p:txBody>
      </p:sp>
      <p:cxnSp>
        <p:nvCxnSpPr>
          <p:cNvPr id="48" name="Straight Arrow Connector 47"/>
          <p:cNvCxnSpPr>
            <a:endCxn id="20" idx="1"/>
          </p:cNvCxnSpPr>
          <p:nvPr/>
        </p:nvCxnSpPr>
        <p:spPr>
          <a:xfrm>
            <a:off x="6629400" y="3848338"/>
            <a:ext cx="685800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05401" y="579120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b="1" baseline="30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DMA Transfer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0" name="Straight Connector 29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162800" y="3657600"/>
            <a:ext cx="1447800" cy="9144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81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DMA Mode: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Incremental Mode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6600" y="232547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Peripheral registers/memory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7285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memory address register 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1" y="4038600"/>
            <a:ext cx="1578413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DMA peripheral address register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590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315200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315200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315200" y="3733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22" name="Straight Arrow Connector 21"/>
          <p:cNvCxnSpPr>
            <a:stCxn id="7" idx="3"/>
            <a:endCxn id="58" idx="1"/>
          </p:cNvCxnSpPr>
          <p:nvPr/>
        </p:nvCxnSpPr>
        <p:spPr>
          <a:xfrm>
            <a:off x="3254813" y="4305300"/>
            <a:ext cx="42314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62201" y="4993037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non-incremental mode</a:t>
            </a:r>
          </a:p>
        </p:txBody>
      </p:sp>
      <p:cxnSp>
        <p:nvCxnSpPr>
          <p:cNvPr id="25" name="Straight Arrow Connector 24"/>
          <p:cNvCxnSpPr>
            <a:stCxn id="6" idx="1"/>
            <a:endCxn id="20" idx="3"/>
          </p:cNvCxnSpPr>
          <p:nvPr/>
        </p:nvCxnSpPr>
        <p:spPr>
          <a:xfrm flipH="1">
            <a:off x="8458200" y="4305300"/>
            <a:ext cx="55908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676400" y="1219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DIR</a:t>
            </a:r>
            <a:r>
              <a:rPr lang="en-US" dirty="0"/>
              <a:t>: Data transfer direction: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= Read from peripheral;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= Read from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3165" y="4824656"/>
            <a:ext cx="13244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DIR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CNDTR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 = 1</a:t>
            </a:r>
          </a:p>
        </p:txBody>
      </p:sp>
      <p:cxnSp>
        <p:nvCxnSpPr>
          <p:cNvPr id="48" name="Straight Arrow Connector 47"/>
          <p:cNvCxnSpPr>
            <a:endCxn id="20" idx="1"/>
          </p:cNvCxnSpPr>
          <p:nvPr/>
        </p:nvCxnSpPr>
        <p:spPr>
          <a:xfrm>
            <a:off x="6629400" y="3848338"/>
            <a:ext cx="685800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796523" y="4991088"/>
            <a:ext cx="188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incremental mode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1" y="2221468"/>
            <a:ext cx="1160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57" y="2971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677957" y="3352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3677957" y="3733800"/>
            <a:ext cx="1143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3677957" y="4114800"/>
            <a:ext cx="1143000" cy="381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60" name="Straight Arrow Connector 59"/>
          <p:cNvCxnSpPr>
            <a:stCxn id="58" idx="3"/>
          </p:cNvCxnSpPr>
          <p:nvPr/>
        </p:nvCxnSpPr>
        <p:spPr>
          <a:xfrm flipV="1">
            <a:off x="4820958" y="3848338"/>
            <a:ext cx="589243" cy="4569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05400" y="579120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b="1" baseline="30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nd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DMA Transfer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0200" y="3447586"/>
            <a:ext cx="1219200" cy="80150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5591453" y="37910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05400" y="3049350"/>
            <a:ext cx="1866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DMA Bus Matrix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5591453" y="394346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591453" y="4076818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591453" y="3657600"/>
            <a:ext cx="914400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7912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60198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248400" y="3543300"/>
            <a:ext cx="0" cy="64770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72627" y="6290441"/>
            <a:ext cx="3807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DMA resets and continues to run!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62800" y="3657600"/>
            <a:ext cx="1447800" cy="91440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5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E2D3-C037-4192-B9CF-7D686A4EC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3452"/>
            <a:ext cx="10972800" cy="990600"/>
          </a:xfrm>
        </p:spPr>
        <p:txBody>
          <a:bodyPr/>
          <a:lstStyle/>
          <a:p>
            <a:r>
              <a:rPr lang="en-US" dirty="0"/>
              <a:t>DMA Request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927E95-55EF-4C8A-A29B-1CB1712C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8F28D-BF19-4DE3-B01D-732E7B2B9D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1"/>
            <a:ext cx="9601200" cy="1274933"/>
          </a:xfrm>
        </p:spPr>
        <p:txBody>
          <a:bodyPr>
            <a:normAutofit fontScale="92500"/>
          </a:bodyPr>
          <a:lstStyle/>
          <a:p>
            <a:r>
              <a:rPr lang="en-US" dirty="0"/>
              <a:t>When does the next DMA transfer start?</a:t>
            </a:r>
          </a:p>
          <a:p>
            <a:pPr lvl="1"/>
            <a:r>
              <a:rPr lang="en-US" dirty="0"/>
              <a:t>When the peripheral is ready to send or receive data, the peripheral will generate a DMA request signal to the DMA controller to request a data transfer.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EB13D-3FED-4B24-AECA-3D58AF820642}"/>
              </a:ext>
            </a:extLst>
          </p:cNvPr>
          <p:cNvSpPr/>
          <p:nvPr/>
        </p:nvSpPr>
        <p:spPr>
          <a:xfrm>
            <a:off x="2441448" y="2819400"/>
            <a:ext cx="1371600" cy="9772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ADA02C-E312-430A-B95A-18B52C29346B}"/>
              </a:ext>
            </a:extLst>
          </p:cNvPr>
          <p:cNvSpPr/>
          <p:nvPr/>
        </p:nvSpPr>
        <p:spPr>
          <a:xfrm>
            <a:off x="5410200" y="2819399"/>
            <a:ext cx="1371600" cy="9772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66868-4CED-45DB-B5E8-41A4F3CE30CA}"/>
              </a:ext>
            </a:extLst>
          </p:cNvPr>
          <p:cNvSpPr/>
          <p:nvPr/>
        </p:nvSpPr>
        <p:spPr>
          <a:xfrm>
            <a:off x="8153400" y="2819398"/>
            <a:ext cx="1524000" cy="9772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40807B-530A-47F1-81F9-BD3F44ABBBBD}"/>
              </a:ext>
            </a:extLst>
          </p:cNvPr>
          <p:cNvCxnSpPr/>
          <p:nvPr/>
        </p:nvCxnSpPr>
        <p:spPr>
          <a:xfrm>
            <a:off x="2362200" y="4634896"/>
            <a:ext cx="7543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1387A6-C651-4956-8971-2606DEC881E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27248" y="3796696"/>
            <a:ext cx="0" cy="838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B54159-D41E-4EF5-8860-72E4CA06A2C8}"/>
              </a:ext>
            </a:extLst>
          </p:cNvPr>
          <p:cNvCxnSpPr>
            <a:cxnSpLocks/>
          </p:cNvCxnSpPr>
          <p:nvPr/>
        </p:nvCxnSpPr>
        <p:spPr>
          <a:xfrm>
            <a:off x="6096000" y="3796696"/>
            <a:ext cx="0" cy="838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7D3C78-E613-4B9D-A460-75EEAB1EE929}"/>
              </a:ext>
            </a:extLst>
          </p:cNvPr>
          <p:cNvCxnSpPr>
            <a:cxnSpLocks/>
          </p:cNvCxnSpPr>
          <p:nvPr/>
        </p:nvCxnSpPr>
        <p:spPr>
          <a:xfrm>
            <a:off x="8915400" y="3796696"/>
            <a:ext cx="0" cy="838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100D7A2-7312-4F7C-8D53-18B678E160FA}"/>
              </a:ext>
            </a:extLst>
          </p:cNvPr>
          <p:cNvSpPr/>
          <p:nvPr/>
        </p:nvSpPr>
        <p:spPr>
          <a:xfrm>
            <a:off x="5410200" y="2819401"/>
            <a:ext cx="1371600" cy="977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9E7AE1-F939-421A-9ABA-CC0D67E9F6C0}"/>
              </a:ext>
            </a:extLst>
          </p:cNvPr>
          <p:cNvSpPr/>
          <p:nvPr/>
        </p:nvSpPr>
        <p:spPr>
          <a:xfrm>
            <a:off x="8153400" y="2819397"/>
            <a:ext cx="1524000" cy="9391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Peripheral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A3FE1D-D334-45A9-8524-11E4718ED314}"/>
              </a:ext>
            </a:extLst>
          </p:cNvPr>
          <p:cNvSpPr/>
          <p:nvPr/>
        </p:nvSpPr>
        <p:spPr>
          <a:xfrm>
            <a:off x="2438400" y="2848522"/>
            <a:ext cx="1374648" cy="9614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 Core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7498F1-206E-41A2-8148-DBC733E8455F}"/>
              </a:ext>
            </a:extLst>
          </p:cNvPr>
          <p:cNvSpPr txBox="1"/>
          <p:nvPr/>
        </p:nvSpPr>
        <p:spPr>
          <a:xfrm>
            <a:off x="6996286" y="472358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E98673-0C64-472F-87D9-087155775A95}"/>
              </a:ext>
            </a:extLst>
          </p:cNvPr>
          <p:cNvCxnSpPr>
            <a:cxnSpLocks/>
          </p:cNvCxnSpPr>
          <p:nvPr/>
        </p:nvCxnSpPr>
        <p:spPr>
          <a:xfrm>
            <a:off x="8991600" y="3796696"/>
            <a:ext cx="0" cy="9144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2094EF-E0F4-4881-A1DF-C0ADB33AA4BB}"/>
              </a:ext>
            </a:extLst>
          </p:cNvPr>
          <p:cNvCxnSpPr>
            <a:cxnSpLocks/>
          </p:cNvCxnSpPr>
          <p:nvPr/>
        </p:nvCxnSpPr>
        <p:spPr>
          <a:xfrm flipH="1">
            <a:off x="6172200" y="4695277"/>
            <a:ext cx="2819400" cy="158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A38EA8-A803-4DBB-863F-41F70810715F}"/>
              </a:ext>
            </a:extLst>
          </p:cNvPr>
          <p:cNvCxnSpPr>
            <a:cxnSpLocks/>
          </p:cNvCxnSpPr>
          <p:nvPr/>
        </p:nvCxnSpPr>
        <p:spPr>
          <a:xfrm flipV="1">
            <a:off x="6182989" y="4711096"/>
            <a:ext cx="0" cy="470505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D9A5BA-2FDB-4A3E-B59B-33B8058CFF29}"/>
              </a:ext>
            </a:extLst>
          </p:cNvPr>
          <p:cNvCxnSpPr>
            <a:cxnSpLocks/>
          </p:cNvCxnSpPr>
          <p:nvPr/>
        </p:nvCxnSpPr>
        <p:spPr>
          <a:xfrm>
            <a:off x="6019800" y="4558696"/>
            <a:ext cx="0" cy="622904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2ADC45-0A7C-4EE8-B967-A94D35DB3A31}"/>
              </a:ext>
            </a:extLst>
          </p:cNvPr>
          <p:cNvCxnSpPr>
            <a:cxnSpLocks/>
          </p:cNvCxnSpPr>
          <p:nvPr/>
        </p:nvCxnSpPr>
        <p:spPr>
          <a:xfrm>
            <a:off x="6019800" y="4558696"/>
            <a:ext cx="2819400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313314-29CE-4F39-9277-CFE7E73A7DB0}"/>
              </a:ext>
            </a:extLst>
          </p:cNvPr>
          <p:cNvCxnSpPr>
            <a:cxnSpLocks/>
          </p:cNvCxnSpPr>
          <p:nvPr/>
        </p:nvCxnSpPr>
        <p:spPr>
          <a:xfrm flipV="1">
            <a:off x="8839200" y="3780877"/>
            <a:ext cx="0" cy="77782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F0AD57-329A-4764-8087-535589B6B247}"/>
              </a:ext>
            </a:extLst>
          </p:cNvPr>
          <p:cNvSpPr txBox="1"/>
          <p:nvPr/>
        </p:nvSpPr>
        <p:spPr>
          <a:xfrm>
            <a:off x="6682743" y="4151263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Acknowledge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AEEE28-E934-444C-811D-60091CD51940}"/>
              </a:ext>
            </a:extLst>
          </p:cNvPr>
          <p:cNvSpPr/>
          <p:nvPr/>
        </p:nvSpPr>
        <p:spPr>
          <a:xfrm>
            <a:off x="5410200" y="5181600"/>
            <a:ext cx="1371600" cy="9772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DMA Controller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3ADD4C-3FF0-4C8E-AB59-7B9ACB41435E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096000" y="4634896"/>
            <a:ext cx="0" cy="5467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975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Interrupts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Programmable and Independent source and destination transfer data size: </a:t>
            </a:r>
          </a:p>
          <a:p>
            <a:pPr lvl="1"/>
            <a:r>
              <a:rPr lang="en-US" dirty="0"/>
              <a:t>Byte, Halfword or Word</a:t>
            </a:r>
          </a:p>
          <a:p>
            <a:r>
              <a:rPr lang="en-US" dirty="0"/>
              <a:t>Three event flags: </a:t>
            </a:r>
          </a:p>
          <a:p>
            <a:pPr lvl="1"/>
            <a:r>
              <a:rPr lang="en-US" dirty="0"/>
              <a:t>DMA Half Transfer</a:t>
            </a:r>
          </a:p>
          <a:p>
            <a:pPr lvl="1"/>
            <a:r>
              <a:rPr lang="en-US" dirty="0"/>
              <a:t>DMA Transfer complete</a:t>
            </a:r>
          </a:p>
          <a:p>
            <a:pPr lvl="1"/>
            <a:r>
              <a:rPr lang="en-US" dirty="0"/>
              <a:t>DMA Transfer Error</a:t>
            </a:r>
          </a:p>
          <a:p>
            <a:r>
              <a:rPr lang="en-US" dirty="0"/>
              <a:t>Software programmable priorities: </a:t>
            </a:r>
          </a:p>
          <a:p>
            <a:pPr lvl="1"/>
            <a:r>
              <a:rPr lang="en-US" dirty="0"/>
              <a:t>Very high, High, Medium, 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43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DMA Request Mapping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 rot="16200000" flipH="1">
            <a:off x="5671344" y="980282"/>
            <a:ext cx="966788" cy="8658225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fr-FR" altLang="en-US" sz="11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               </a:t>
            </a:r>
            <a:r>
              <a:rPr lang="fr-FR" altLang="en-US" sz="1100" b="1">
                <a:latin typeface="Verdana" pitchFamily="34" charset="0"/>
                <a:ea typeface="Osaka" charset="-128"/>
              </a:rPr>
              <a:t>DMA</a:t>
            </a:r>
            <a:endParaRPr lang="en-US" altLang="en-US" sz="1200" b="1">
              <a:latin typeface="Verdana" pitchFamily="34" charset="0"/>
              <a:ea typeface="Osaka" charset="-128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 rot="-5400000">
            <a:off x="6009482" y="1261270"/>
            <a:ext cx="349250" cy="81168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10800000"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endParaRPr lang="fr-FR" altLang="en-US" sz="11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365" name="AutoShape 5"/>
          <p:cNvSpPr>
            <a:spLocks noChangeArrowheads="1"/>
          </p:cNvSpPr>
          <p:nvPr/>
        </p:nvSpPr>
        <p:spPr bwMode="auto">
          <a:xfrm>
            <a:off x="2038351" y="4027489"/>
            <a:ext cx="646113" cy="217487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 rot="5400000">
            <a:off x="1910557" y="4695032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rot="5400000">
            <a:off x="2050256" y="3845719"/>
            <a:ext cx="36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827213" y="3479801"/>
            <a:ext cx="762000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369" name="Line 9"/>
          <p:cNvSpPr>
            <a:spLocks noChangeShapeType="1"/>
          </p:cNvSpPr>
          <p:nvPr/>
        </p:nvSpPr>
        <p:spPr bwMode="auto">
          <a:xfrm rot="5400000" flipV="1">
            <a:off x="6096000" y="5646738"/>
            <a:ext cx="292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 rot="5400000">
            <a:off x="2106613" y="3643313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6242051" y="5532439"/>
            <a:ext cx="1812925" cy="220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900" b="1">
                <a:latin typeface="Verdana" pitchFamily="34" charset="0"/>
              </a:rPr>
              <a:t>DMA REQUEST</a:t>
            </a:r>
            <a:endParaRPr lang="en-US" altLang="en-US" sz="900" b="1">
              <a:latin typeface="Verdana" pitchFamily="34" charset="0"/>
            </a:endParaRPr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2114550" y="2960689"/>
            <a:ext cx="750888" cy="2762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2235200" y="2428876"/>
            <a:ext cx="0" cy="5318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2255839" y="1724026"/>
            <a:ext cx="452437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ADC1</a:t>
            </a:r>
            <a:endParaRPr lang="en-US" altLang="en-US" sz="700" b="1"/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1773238" y="2195514"/>
            <a:ext cx="698500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TIM2_CC3</a:t>
            </a:r>
            <a:endParaRPr lang="en-US" altLang="en-US" sz="700" b="1"/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2449514" y="219551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TIM4_CC1</a:t>
            </a:r>
            <a:endParaRPr lang="en-US" altLang="en-US" sz="700" b="1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2468563" y="1952626"/>
            <a:ext cx="0" cy="100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>
            <a:off x="2732089" y="2416176"/>
            <a:ext cx="3175" cy="5445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79" name="AutoShape 19"/>
          <p:cNvSpPr>
            <a:spLocks noChangeArrowheads="1"/>
          </p:cNvSpPr>
          <p:nvPr/>
        </p:nvSpPr>
        <p:spPr bwMode="auto">
          <a:xfrm>
            <a:off x="3340101" y="4027489"/>
            <a:ext cx="644525" cy="217487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rot="5400000">
            <a:off x="3212307" y="4695032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81" name="Line 21"/>
          <p:cNvSpPr>
            <a:spLocks noChangeShapeType="1"/>
          </p:cNvSpPr>
          <p:nvPr/>
        </p:nvSpPr>
        <p:spPr bwMode="auto">
          <a:xfrm rot="5400000">
            <a:off x="3352006" y="3845719"/>
            <a:ext cx="36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3128963" y="3479801"/>
            <a:ext cx="760412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383" name="Line 23"/>
          <p:cNvSpPr>
            <a:spLocks noChangeShapeType="1"/>
          </p:cNvSpPr>
          <p:nvPr/>
        </p:nvSpPr>
        <p:spPr bwMode="auto">
          <a:xfrm rot="5400000">
            <a:off x="3406776" y="3643313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84" name="Rectangle 24"/>
          <p:cNvSpPr>
            <a:spLocks noChangeArrowheads="1"/>
          </p:cNvSpPr>
          <p:nvPr/>
        </p:nvSpPr>
        <p:spPr bwMode="auto">
          <a:xfrm>
            <a:off x="3414714" y="2960689"/>
            <a:ext cx="752475" cy="2762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385" name="Line 25"/>
          <p:cNvSpPr>
            <a:spLocks noChangeShapeType="1"/>
          </p:cNvSpPr>
          <p:nvPr/>
        </p:nvSpPr>
        <p:spPr bwMode="auto">
          <a:xfrm>
            <a:off x="3533775" y="2668588"/>
            <a:ext cx="1588" cy="292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3375026" y="1724026"/>
            <a:ext cx="804863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USART3_TX</a:t>
            </a:r>
            <a:endParaRPr lang="en-US" altLang="en-US" sz="700" b="1"/>
          </a:p>
        </p:txBody>
      </p:sp>
      <p:sp>
        <p:nvSpPr>
          <p:cNvPr id="15387" name="Line 27"/>
          <p:cNvSpPr>
            <a:spLocks noChangeShapeType="1"/>
          </p:cNvSpPr>
          <p:nvPr/>
        </p:nvSpPr>
        <p:spPr bwMode="auto">
          <a:xfrm>
            <a:off x="3641725" y="2252663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>
            <a:off x="3770313" y="1952626"/>
            <a:ext cx="0" cy="100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89" name="Line 29"/>
          <p:cNvSpPr>
            <a:spLocks noChangeShapeType="1"/>
          </p:cNvSpPr>
          <p:nvPr/>
        </p:nvSpPr>
        <p:spPr bwMode="auto">
          <a:xfrm>
            <a:off x="4033839" y="2668588"/>
            <a:ext cx="1587" cy="292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90" name="Line 30"/>
          <p:cNvSpPr>
            <a:spLocks noChangeShapeType="1"/>
          </p:cNvSpPr>
          <p:nvPr/>
        </p:nvSpPr>
        <p:spPr bwMode="auto">
          <a:xfrm>
            <a:off x="3930650" y="2255838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91" name="AutoShape 31"/>
          <p:cNvSpPr>
            <a:spLocks noChangeArrowheads="1"/>
          </p:cNvSpPr>
          <p:nvPr/>
        </p:nvSpPr>
        <p:spPr bwMode="auto">
          <a:xfrm>
            <a:off x="4630739" y="4025900"/>
            <a:ext cx="644525" cy="217488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 rot="5400000">
            <a:off x="4502944" y="4693444"/>
            <a:ext cx="900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93" name="Line 33"/>
          <p:cNvSpPr>
            <a:spLocks noChangeShapeType="1"/>
          </p:cNvSpPr>
          <p:nvPr/>
        </p:nvSpPr>
        <p:spPr bwMode="auto">
          <a:xfrm rot="5400000">
            <a:off x="4642645" y="3844132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94" name="Text Box 34"/>
          <p:cNvSpPr txBox="1">
            <a:spLocks noChangeArrowheads="1"/>
          </p:cNvSpPr>
          <p:nvPr/>
        </p:nvSpPr>
        <p:spPr bwMode="auto">
          <a:xfrm>
            <a:off x="4419601" y="3478214"/>
            <a:ext cx="760413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395" name="Line 35"/>
          <p:cNvSpPr>
            <a:spLocks noChangeShapeType="1"/>
          </p:cNvSpPr>
          <p:nvPr/>
        </p:nvSpPr>
        <p:spPr bwMode="auto">
          <a:xfrm rot="5400000">
            <a:off x="4697413" y="3641726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396" name="Rectangle 36"/>
          <p:cNvSpPr>
            <a:spLocks noChangeArrowheads="1"/>
          </p:cNvSpPr>
          <p:nvPr/>
        </p:nvSpPr>
        <p:spPr bwMode="auto">
          <a:xfrm>
            <a:off x="4705350" y="2959101"/>
            <a:ext cx="750888" cy="2762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397" name="Line 37"/>
          <p:cNvSpPr>
            <a:spLocks noChangeShapeType="1"/>
          </p:cNvSpPr>
          <p:nvPr/>
        </p:nvSpPr>
        <p:spPr bwMode="auto">
          <a:xfrm>
            <a:off x="4824414" y="2500314"/>
            <a:ext cx="1587" cy="4587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98" name="Line 38"/>
          <p:cNvSpPr>
            <a:spLocks noChangeShapeType="1"/>
          </p:cNvSpPr>
          <p:nvPr/>
        </p:nvSpPr>
        <p:spPr bwMode="auto">
          <a:xfrm>
            <a:off x="4930775" y="2251075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399" name="Line 39"/>
          <p:cNvSpPr>
            <a:spLocks noChangeShapeType="1"/>
          </p:cNvSpPr>
          <p:nvPr/>
        </p:nvSpPr>
        <p:spPr bwMode="auto">
          <a:xfrm>
            <a:off x="5060950" y="1951038"/>
            <a:ext cx="0" cy="1008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00" name="Line 40"/>
          <p:cNvSpPr>
            <a:spLocks noChangeShapeType="1"/>
          </p:cNvSpPr>
          <p:nvPr/>
        </p:nvSpPr>
        <p:spPr bwMode="auto">
          <a:xfrm>
            <a:off x="5324475" y="2489200"/>
            <a:ext cx="1588" cy="469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01" name="Line 41"/>
          <p:cNvSpPr>
            <a:spLocks noChangeShapeType="1"/>
          </p:cNvSpPr>
          <p:nvPr/>
        </p:nvSpPr>
        <p:spPr bwMode="auto">
          <a:xfrm>
            <a:off x="5219700" y="2254250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02" name="AutoShape 42"/>
          <p:cNvSpPr>
            <a:spLocks noChangeArrowheads="1"/>
          </p:cNvSpPr>
          <p:nvPr/>
        </p:nvSpPr>
        <p:spPr bwMode="auto">
          <a:xfrm>
            <a:off x="5897563" y="4013201"/>
            <a:ext cx="646112" cy="219075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403" name="Line 43"/>
          <p:cNvSpPr>
            <a:spLocks noChangeShapeType="1"/>
          </p:cNvSpPr>
          <p:nvPr/>
        </p:nvSpPr>
        <p:spPr bwMode="auto">
          <a:xfrm rot="5400000">
            <a:off x="5769769" y="4682332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04" name="Line 44"/>
          <p:cNvSpPr>
            <a:spLocks noChangeShapeType="1"/>
          </p:cNvSpPr>
          <p:nvPr/>
        </p:nvSpPr>
        <p:spPr bwMode="auto">
          <a:xfrm rot="5400000">
            <a:off x="5910263" y="3832225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05" name="Text Box 45"/>
          <p:cNvSpPr txBox="1">
            <a:spLocks noChangeArrowheads="1"/>
          </p:cNvSpPr>
          <p:nvPr/>
        </p:nvSpPr>
        <p:spPr bwMode="auto">
          <a:xfrm>
            <a:off x="5645151" y="3465514"/>
            <a:ext cx="760413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406" name="Line 46"/>
          <p:cNvSpPr>
            <a:spLocks noChangeShapeType="1"/>
          </p:cNvSpPr>
          <p:nvPr/>
        </p:nvSpPr>
        <p:spPr bwMode="auto">
          <a:xfrm rot="5400000">
            <a:off x="5965826" y="3629026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07" name="Rectangle 47"/>
          <p:cNvSpPr>
            <a:spLocks noChangeArrowheads="1"/>
          </p:cNvSpPr>
          <p:nvPr/>
        </p:nvSpPr>
        <p:spPr bwMode="auto">
          <a:xfrm>
            <a:off x="5973764" y="2946401"/>
            <a:ext cx="750887" cy="277813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408" name="Line 48"/>
          <p:cNvSpPr>
            <a:spLocks noChangeShapeType="1"/>
          </p:cNvSpPr>
          <p:nvPr/>
        </p:nvSpPr>
        <p:spPr bwMode="auto">
          <a:xfrm>
            <a:off x="6030914" y="2668588"/>
            <a:ext cx="3175" cy="2778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09" name="Line 49"/>
          <p:cNvSpPr>
            <a:spLocks noChangeShapeType="1"/>
          </p:cNvSpPr>
          <p:nvPr/>
        </p:nvSpPr>
        <p:spPr bwMode="auto">
          <a:xfrm>
            <a:off x="6126163" y="2238375"/>
            <a:ext cx="0" cy="7064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10" name="Line 50"/>
          <p:cNvSpPr>
            <a:spLocks noChangeShapeType="1"/>
          </p:cNvSpPr>
          <p:nvPr/>
        </p:nvSpPr>
        <p:spPr bwMode="auto">
          <a:xfrm>
            <a:off x="6243638" y="1939926"/>
            <a:ext cx="0" cy="1006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11" name="Line 51"/>
          <p:cNvSpPr>
            <a:spLocks noChangeShapeType="1"/>
          </p:cNvSpPr>
          <p:nvPr/>
        </p:nvSpPr>
        <p:spPr bwMode="auto">
          <a:xfrm>
            <a:off x="6548438" y="2241550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12" name="AutoShape 52"/>
          <p:cNvSpPr>
            <a:spLocks noChangeArrowheads="1"/>
          </p:cNvSpPr>
          <p:nvPr/>
        </p:nvSpPr>
        <p:spPr bwMode="auto">
          <a:xfrm>
            <a:off x="7116764" y="4021139"/>
            <a:ext cx="644525" cy="217487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413" name="Line 53"/>
          <p:cNvSpPr>
            <a:spLocks noChangeShapeType="1"/>
          </p:cNvSpPr>
          <p:nvPr/>
        </p:nvSpPr>
        <p:spPr bwMode="auto">
          <a:xfrm rot="5400000">
            <a:off x="6988969" y="4688682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14" name="Line 54"/>
          <p:cNvSpPr>
            <a:spLocks noChangeShapeType="1"/>
          </p:cNvSpPr>
          <p:nvPr/>
        </p:nvSpPr>
        <p:spPr bwMode="auto">
          <a:xfrm rot="5400000">
            <a:off x="7128669" y="3839369"/>
            <a:ext cx="3635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15" name="Text Box 55"/>
          <p:cNvSpPr txBox="1">
            <a:spLocks noChangeArrowheads="1"/>
          </p:cNvSpPr>
          <p:nvPr/>
        </p:nvSpPr>
        <p:spPr bwMode="auto">
          <a:xfrm>
            <a:off x="6881813" y="3473451"/>
            <a:ext cx="760412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416" name="Line 56"/>
          <p:cNvSpPr>
            <a:spLocks noChangeShapeType="1"/>
          </p:cNvSpPr>
          <p:nvPr/>
        </p:nvSpPr>
        <p:spPr bwMode="auto">
          <a:xfrm rot="5400000">
            <a:off x="7185026" y="3636963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17" name="Rectangle 57"/>
          <p:cNvSpPr>
            <a:spLocks noChangeArrowheads="1"/>
          </p:cNvSpPr>
          <p:nvPr/>
        </p:nvSpPr>
        <p:spPr bwMode="auto">
          <a:xfrm>
            <a:off x="7191376" y="2954338"/>
            <a:ext cx="752475" cy="277812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418" name="Line 58"/>
          <p:cNvSpPr>
            <a:spLocks noChangeShapeType="1"/>
          </p:cNvSpPr>
          <p:nvPr/>
        </p:nvSpPr>
        <p:spPr bwMode="auto">
          <a:xfrm>
            <a:off x="7288213" y="2559050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19" name="Line 59"/>
          <p:cNvSpPr>
            <a:spLocks noChangeShapeType="1"/>
          </p:cNvSpPr>
          <p:nvPr/>
        </p:nvSpPr>
        <p:spPr bwMode="auto">
          <a:xfrm>
            <a:off x="7392988" y="2259013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20" name="Line 60"/>
          <p:cNvSpPr>
            <a:spLocks noChangeShapeType="1"/>
          </p:cNvSpPr>
          <p:nvPr/>
        </p:nvSpPr>
        <p:spPr bwMode="auto">
          <a:xfrm>
            <a:off x="7523163" y="1947864"/>
            <a:ext cx="0" cy="1006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21" name="Line 61"/>
          <p:cNvSpPr>
            <a:spLocks noChangeShapeType="1"/>
          </p:cNvSpPr>
          <p:nvPr/>
        </p:nvSpPr>
        <p:spPr bwMode="auto">
          <a:xfrm>
            <a:off x="7837488" y="2554288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22" name="Line 62"/>
          <p:cNvSpPr>
            <a:spLocks noChangeShapeType="1"/>
          </p:cNvSpPr>
          <p:nvPr/>
        </p:nvSpPr>
        <p:spPr bwMode="auto">
          <a:xfrm>
            <a:off x="7731125" y="2249488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23" name="AutoShape 63"/>
          <p:cNvSpPr>
            <a:spLocks noChangeArrowheads="1"/>
          </p:cNvSpPr>
          <p:nvPr/>
        </p:nvSpPr>
        <p:spPr bwMode="auto">
          <a:xfrm>
            <a:off x="8289926" y="4025900"/>
            <a:ext cx="646113" cy="217488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424" name="Line 64"/>
          <p:cNvSpPr>
            <a:spLocks noChangeShapeType="1"/>
          </p:cNvSpPr>
          <p:nvPr/>
        </p:nvSpPr>
        <p:spPr bwMode="auto">
          <a:xfrm rot="5400000">
            <a:off x="8162132" y="4693444"/>
            <a:ext cx="900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25" name="Line 65"/>
          <p:cNvSpPr>
            <a:spLocks noChangeShapeType="1"/>
          </p:cNvSpPr>
          <p:nvPr/>
        </p:nvSpPr>
        <p:spPr bwMode="auto">
          <a:xfrm rot="5400000">
            <a:off x="8301832" y="3844132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26" name="Text Box 66"/>
          <p:cNvSpPr txBox="1">
            <a:spLocks noChangeArrowheads="1"/>
          </p:cNvSpPr>
          <p:nvPr/>
        </p:nvSpPr>
        <p:spPr bwMode="auto">
          <a:xfrm>
            <a:off x="8054976" y="3463926"/>
            <a:ext cx="760413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427" name="Line 67"/>
          <p:cNvSpPr>
            <a:spLocks noChangeShapeType="1"/>
          </p:cNvSpPr>
          <p:nvPr/>
        </p:nvSpPr>
        <p:spPr bwMode="auto">
          <a:xfrm rot="5400000">
            <a:off x="8358188" y="3641726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28" name="Rectangle 68"/>
          <p:cNvSpPr>
            <a:spLocks noChangeArrowheads="1"/>
          </p:cNvSpPr>
          <p:nvPr/>
        </p:nvSpPr>
        <p:spPr bwMode="auto">
          <a:xfrm>
            <a:off x="8366125" y="2946401"/>
            <a:ext cx="750888" cy="2762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429" name="Line 69"/>
          <p:cNvSpPr>
            <a:spLocks noChangeShapeType="1"/>
          </p:cNvSpPr>
          <p:nvPr/>
        </p:nvSpPr>
        <p:spPr bwMode="auto">
          <a:xfrm>
            <a:off x="8483601" y="2655888"/>
            <a:ext cx="3175" cy="2905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30" name="Line 70"/>
          <p:cNvSpPr>
            <a:spLocks noChangeShapeType="1"/>
          </p:cNvSpPr>
          <p:nvPr/>
        </p:nvSpPr>
        <p:spPr bwMode="auto">
          <a:xfrm>
            <a:off x="8591550" y="2389189"/>
            <a:ext cx="0" cy="555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31" name="Line 71"/>
          <p:cNvSpPr>
            <a:spLocks noChangeShapeType="1"/>
          </p:cNvSpPr>
          <p:nvPr/>
        </p:nvSpPr>
        <p:spPr bwMode="auto">
          <a:xfrm>
            <a:off x="8720138" y="1939926"/>
            <a:ext cx="0" cy="1006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32" name="Line 72"/>
          <p:cNvSpPr>
            <a:spLocks noChangeShapeType="1"/>
          </p:cNvSpPr>
          <p:nvPr/>
        </p:nvSpPr>
        <p:spPr bwMode="auto">
          <a:xfrm>
            <a:off x="8983664" y="2655888"/>
            <a:ext cx="3175" cy="2905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33" name="Line 73"/>
          <p:cNvSpPr>
            <a:spLocks noChangeShapeType="1"/>
          </p:cNvSpPr>
          <p:nvPr/>
        </p:nvSpPr>
        <p:spPr bwMode="auto">
          <a:xfrm>
            <a:off x="8880475" y="2395538"/>
            <a:ext cx="0" cy="550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34" name="AutoShape 74"/>
          <p:cNvSpPr>
            <a:spLocks noChangeArrowheads="1"/>
          </p:cNvSpPr>
          <p:nvPr/>
        </p:nvSpPr>
        <p:spPr bwMode="auto">
          <a:xfrm>
            <a:off x="9507538" y="4000500"/>
            <a:ext cx="646112" cy="217488"/>
          </a:xfrm>
          <a:prstGeom prst="flowChartManualOpe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endParaRPr lang="fr-FR" altLang="en-US" b="1"/>
          </a:p>
        </p:txBody>
      </p:sp>
      <p:sp>
        <p:nvSpPr>
          <p:cNvPr id="15435" name="Line 75"/>
          <p:cNvSpPr>
            <a:spLocks noChangeShapeType="1"/>
          </p:cNvSpPr>
          <p:nvPr/>
        </p:nvSpPr>
        <p:spPr bwMode="auto">
          <a:xfrm rot="5400000">
            <a:off x="9381332" y="4668044"/>
            <a:ext cx="9001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36" name="Line 76"/>
          <p:cNvSpPr>
            <a:spLocks noChangeShapeType="1"/>
          </p:cNvSpPr>
          <p:nvPr/>
        </p:nvSpPr>
        <p:spPr bwMode="auto">
          <a:xfrm rot="5400000">
            <a:off x="9519445" y="3818732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37" name="Text Box 77"/>
          <p:cNvSpPr txBox="1">
            <a:spLocks noChangeArrowheads="1"/>
          </p:cNvSpPr>
          <p:nvPr/>
        </p:nvSpPr>
        <p:spPr bwMode="auto">
          <a:xfrm>
            <a:off x="9272588" y="3465514"/>
            <a:ext cx="760412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SW TRIGGER</a:t>
            </a:r>
            <a:endParaRPr lang="en-US" altLang="en-US" sz="700" b="1"/>
          </a:p>
        </p:txBody>
      </p:sp>
      <p:sp>
        <p:nvSpPr>
          <p:cNvPr id="15438" name="Line 78"/>
          <p:cNvSpPr>
            <a:spLocks noChangeShapeType="1"/>
          </p:cNvSpPr>
          <p:nvPr/>
        </p:nvSpPr>
        <p:spPr bwMode="auto">
          <a:xfrm rot="5400000">
            <a:off x="9575801" y="3616326"/>
            <a:ext cx="784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5439" name="Rectangle 79"/>
          <p:cNvSpPr>
            <a:spLocks noChangeArrowheads="1"/>
          </p:cNvSpPr>
          <p:nvPr/>
        </p:nvSpPr>
        <p:spPr bwMode="auto">
          <a:xfrm>
            <a:off x="9583739" y="2933701"/>
            <a:ext cx="750887" cy="276225"/>
          </a:xfrm>
          <a:prstGeom prst="rect">
            <a:avLst/>
          </a:prstGeom>
          <a:solidFill>
            <a:srgbClr val="0000FF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81266" tIns="40634" rIns="81266" bIns="40634" anchor="ctr"/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fr-FR" altLang="en-US" sz="800" b="1">
                <a:solidFill>
                  <a:schemeClr val="bg1"/>
                </a:solidFill>
                <a:latin typeface="Helvetica" pitchFamily="34" charset="0"/>
                <a:ea typeface="Osaka" charset="-128"/>
              </a:rPr>
              <a:t>OR</a:t>
            </a:r>
            <a:endParaRPr lang="en-US" altLang="en-US" sz="800" b="1">
              <a:solidFill>
                <a:schemeClr val="bg1"/>
              </a:solidFill>
              <a:latin typeface="Helvetica" pitchFamily="34" charset="0"/>
              <a:ea typeface="Osaka" charset="-128"/>
            </a:endParaRPr>
          </a:p>
        </p:txBody>
      </p:sp>
      <p:sp>
        <p:nvSpPr>
          <p:cNvPr id="15440" name="Line 80"/>
          <p:cNvSpPr>
            <a:spLocks noChangeShapeType="1"/>
          </p:cNvSpPr>
          <p:nvPr/>
        </p:nvSpPr>
        <p:spPr bwMode="auto">
          <a:xfrm>
            <a:off x="9701214" y="2565400"/>
            <a:ext cx="3175" cy="368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41" name="Line 81"/>
          <p:cNvSpPr>
            <a:spLocks noChangeShapeType="1"/>
          </p:cNvSpPr>
          <p:nvPr/>
        </p:nvSpPr>
        <p:spPr bwMode="auto">
          <a:xfrm>
            <a:off x="9809163" y="2225675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42" name="Line 82"/>
          <p:cNvSpPr>
            <a:spLocks noChangeShapeType="1"/>
          </p:cNvSpPr>
          <p:nvPr/>
        </p:nvSpPr>
        <p:spPr bwMode="auto">
          <a:xfrm>
            <a:off x="9937750" y="1925638"/>
            <a:ext cx="0" cy="1008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43" name="Line 83"/>
          <p:cNvSpPr>
            <a:spLocks noChangeShapeType="1"/>
          </p:cNvSpPr>
          <p:nvPr/>
        </p:nvSpPr>
        <p:spPr bwMode="auto">
          <a:xfrm>
            <a:off x="10201276" y="2554288"/>
            <a:ext cx="3175" cy="379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44" name="Line 84"/>
          <p:cNvSpPr>
            <a:spLocks noChangeShapeType="1"/>
          </p:cNvSpPr>
          <p:nvPr/>
        </p:nvSpPr>
        <p:spPr bwMode="auto">
          <a:xfrm>
            <a:off x="10098088" y="2228850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45" name="Text Box 85"/>
          <p:cNvSpPr txBox="1">
            <a:spLocks noChangeArrowheads="1"/>
          </p:cNvSpPr>
          <p:nvPr/>
        </p:nvSpPr>
        <p:spPr bwMode="auto">
          <a:xfrm>
            <a:off x="2055813" y="5113338"/>
            <a:ext cx="2259012" cy="26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1200" b="1">
                <a:latin typeface="Verdana" pitchFamily="34" charset="0"/>
              </a:rPr>
              <a:t>High Priority Request</a:t>
            </a:r>
            <a:endParaRPr lang="en-US" altLang="en-US" sz="1200" b="1">
              <a:latin typeface="Verdana" pitchFamily="34" charset="0"/>
            </a:endParaRPr>
          </a:p>
        </p:txBody>
      </p:sp>
      <p:sp>
        <p:nvSpPr>
          <p:cNvPr id="15446" name="Text Box 86"/>
          <p:cNvSpPr txBox="1">
            <a:spLocks noChangeArrowheads="1"/>
          </p:cNvSpPr>
          <p:nvPr/>
        </p:nvSpPr>
        <p:spPr bwMode="auto">
          <a:xfrm>
            <a:off x="8202614" y="5135563"/>
            <a:ext cx="1989137" cy="26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1200" b="1">
                <a:latin typeface="Verdana" pitchFamily="34" charset="0"/>
              </a:rPr>
              <a:t>Low Priority Request</a:t>
            </a:r>
            <a:endParaRPr lang="en-US" altLang="en-US" sz="1200" b="1">
              <a:latin typeface="Verdana" pitchFamily="34" charset="0"/>
            </a:endParaRPr>
          </a:p>
        </p:txBody>
      </p:sp>
      <p:sp>
        <p:nvSpPr>
          <p:cNvPr id="15447" name="Line 87"/>
          <p:cNvSpPr>
            <a:spLocks noChangeShapeType="1"/>
          </p:cNvSpPr>
          <p:nvPr/>
        </p:nvSpPr>
        <p:spPr bwMode="auto">
          <a:xfrm>
            <a:off x="2295525" y="5391150"/>
            <a:ext cx="7715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eaVert" lIns="0" tIns="0" rIns="0" bIns="0"/>
          <a:lstStyle/>
          <a:p>
            <a:endParaRPr lang="en-US" b="1"/>
          </a:p>
        </p:txBody>
      </p:sp>
      <p:sp>
        <p:nvSpPr>
          <p:cNvPr id="15449" name="Text Box 89"/>
          <p:cNvSpPr txBox="1">
            <a:spLocks noChangeArrowheads="1"/>
          </p:cNvSpPr>
          <p:nvPr/>
        </p:nvSpPr>
        <p:spPr bwMode="auto">
          <a:xfrm>
            <a:off x="2359026" y="4473576"/>
            <a:ext cx="625475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Channel1</a:t>
            </a:r>
            <a:endParaRPr lang="en-US" altLang="en-US" sz="900" b="1"/>
          </a:p>
        </p:txBody>
      </p:sp>
      <p:sp>
        <p:nvSpPr>
          <p:cNvPr id="15450" name="Text Box 90"/>
          <p:cNvSpPr txBox="1">
            <a:spLocks noChangeArrowheads="1"/>
          </p:cNvSpPr>
          <p:nvPr/>
        </p:nvSpPr>
        <p:spPr bwMode="auto">
          <a:xfrm>
            <a:off x="3697289" y="4473576"/>
            <a:ext cx="625475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Channel2</a:t>
            </a:r>
            <a:endParaRPr lang="en-US" altLang="en-US" sz="900" b="1"/>
          </a:p>
        </p:txBody>
      </p:sp>
      <p:sp>
        <p:nvSpPr>
          <p:cNvPr id="15451" name="Text Box 91"/>
          <p:cNvSpPr txBox="1">
            <a:spLocks noChangeArrowheads="1"/>
          </p:cNvSpPr>
          <p:nvPr/>
        </p:nvSpPr>
        <p:spPr bwMode="auto">
          <a:xfrm>
            <a:off x="5000625" y="4489451"/>
            <a:ext cx="623888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Channel3</a:t>
            </a:r>
            <a:endParaRPr lang="en-US" altLang="en-US" sz="900" b="1"/>
          </a:p>
        </p:txBody>
      </p:sp>
      <p:sp>
        <p:nvSpPr>
          <p:cNvPr id="15452" name="Text Box 92"/>
          <p:cNvSpPr txBox="1">
            <a:spLocks noChangeArrowheads="1"/>
          </p:cNvSpPr>
          <p:nvPr/>
        </p:nvSpPr>
        <p:spPr bwMode="auto">
          <a:xfrm>
            <a:off x="6280151" y="4489451"/>
            <a:ext cx="625475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Channel4</a:t>
            </a:r>
            <a:endParaRPr lang="en-US" altLang="en-US" sz="900" b="1"/>
          </a:p>
        </p:txBody>
      </p:sp>
      <p:sp>
        <p:nvSpPr>
          <p:cNvPr id="15453" name="Text Box 93"/>
          <p:cNvSpPr txBox="1">
            <a:spLocks noChangeArrowheads="1"/>
          </p:cNvSpPr>
          <p:nvPr/>
        </p:nvSpPr>
        <p:spPr bwMode="auto">
          <a:xfrm>
            <a:off x="7546976" y="4489451"/>
            <a:ext cx="625475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Channel5</a:t>
            </a:r>
            <a:endParaRPr lang="en-US" altLang="en-US" sz="900" b="1"/>
          </a:p>
        </p:txBody>
      </p:sp>
      <p:sp>
        <p:nvSpPr>
          <p:cNvPr id="15454" name="Text Box 94"/>
          <p:cNvSpPr txBox="1">
            <a:spLocks noChangeArrowheads="1"/>
          </p:cNvSpPr>
          <p:nvPr/>
        </p:nvSpPr>
        <p:spPr bwMode="auto">
          <a:xfrm>
            <a:off x="8720139" y="4489451"/>
            <a:ext cx="625475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Channel6</a:t>
            </a:r>
            <a:endParaRPr lang="en-US" altLang="en-US" sz="900" b="1"/>
          </a:p>
        </p:txBody>
      </p:sp>
      <p:sp>
        <p:nvSpPr>
          <p:cNvPr id="15455" name="Text Box 95"/>
          <p:cNvSpPr txBox="1">
            <a:spLocks noChangeArrowheads="1"/>
          </p:cNvSpPr>
          <p:nvPr/>
        </p:nvSpPr>
        <p:spPr bwMode="auto">
          <a:xfrm>
            <a:off x="9879014" y="4489451"/>
            <a:ext cx="625475" cy="359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 altLang="en-US" sz="900" b="1"/>
              <a:t>Channel7</a:t>
            </a:r>
            <a:endParaRPr lang="en-US" altLang="en-US" sz="900" b="1"/>
          </a:p>
        </p:txBody>
      </p:sp>
      <p:sp>
        <p:nvSpPr>
          <p:cNvPr id="15456" name="Text Box 96"/>
          <p:cNvSpPr txBox="1">
            <a:spLocks noChangeArrowheads="1"/>
          </p:cNvSpPr>
          <p:nvPr/>
        </p:nvSpPr>
        <p:spPr bwMode="auto">
          <a:xfrm>
            <a:off x="3024189" y="2406651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TIM1_CC1</a:t>
            </a:r>
            <a:endParaRPr lang="en-US" altLang="en-US" sz="700" b="1"/>
          </a:p>
        </p:txBody>
      </p:sp>
      <p:sp>
        <p:nvSpPr>
          <p:cNvPr id="15457" name="Text Box 97"/>
          <p:cNvSpPr txBox="1">
            <a:spLocks noChangeArrowheads="1"/>
          </p:cNvSpPr>
          <p:nvPr/>
        </p:nvSpPr>
        <p:spPr bwMode="auto">
          <a:xfrm>
            <a:off x="3124201" y="200977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TIM2_UP</a:t>
            </a:r>
            <a:endParaRPr lang="en-US" altLang="en-US" sz="700" b="1"/>
          </a:p>
        </p:txBody>
      </p:sp>
      <p:sp>
        <p:nvSpPr>
          <p:cNvPr id="15458" name="Text Box 98"/>
          <p:cNvSpPr txBox="1">
            <a:spLocks noChangeArrowheads="1"/>
          </p:cNvSpPr>
          <p:nvPr/>
        </p:nvSpPr>
        <p:spPr bwMode="auto">
          <a:xfrm>
            <a:off x="3751264" y="20161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TIM3_CC3</a:t>
            </a:r>
            <a:endParaRPr lang="en-US" altLang="en-US" sz="700" b="1"/>
          </a:p>
        </p:txBody>
      </p:sp>
      <p:sp>
        <p:nvSpPr>
          <p:cNvPr id="15459" name="Text Box 99"/>
          <p:cNvSpPr txBox="1">
            <a:spLocks noChangeArrowheads="1"/>
          </p:cNvSpPr>
          <p:nvPr/>
        </p:nvSpPr>
        <p:spPr bwMode="auto">
          <a:xfrm>
            <a:off x="3905251" y="24479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SPI1_RX</a:t>
            </a:r>
            <a:endParaRPr lang="en-US" altLang="en-US" sz="700" b="1"/>
          </a:p>
        </p:txBody>
      </p:sp>
      <p:sp>
        <p:nvSpPr>
          <p:cNvPr id="15460" name="Text Box 100"/>
          <p:cNvSpPr txBox="1">
            <a:spLocks noChangeArrowheads="1"/>
          </p:cNvSpPr>
          <p:nvPr/>
        </p:nvSpPr>
        <p:spPr bwMode="auto">
          <a:xfrm>
            <a:off x="4686301" y="1704976"/>
            <a:ext cx="804863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USART3_RX</a:t>
            </a:r>
            <a:endParaRPr lang="en-US" altLang="en-US" sz="700" b="1"/>
          </a:p>
        </p:txBody>
      </p:sp>
      <p:sp>
        <p:nvSpPr>
          <p:cNvPr id="15461" name="Text Box 101"/>
          <p:cNvSpPr txBox="1">
            <a:spLocks noChangeArrowheads="1"/>
          </p:cNvSpPr>
          <p:nvPr/>
        </p:nvSpPr>
        <p:spPr bwMode="auto">
          <a:xfrm>
            <a:off x="5024439" y="2057401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TIM1_CC2</a:t>
            </a:r>
            <a:endParaRPr lang="en-US" altLang="en-US" sz="700" b="1"/>
          </a:p>
        </p:txBody>
      </p:sp>
      <p:sp>
        <p:nvSpPr>
          <p:cNvPr id="15462" name="Text Box 102"/>
          <p:cNvSpPr txBox="1">
            <a:spLocks noChangeArrowheads="1"/>
          </p:cNvSpPr>
          <p:nvPr/>
        </p:nvSpPr>
        <p:spPr bwMode="auto">
          <a:xfrm>
            <a:off x="4371976" y="2268539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SPI1_TX</a:t>
            </a:r>
            <a:endParaRPr lang="en-US" altLang="en-US" sz="700" b="1"/>
          </a:p>
        </p:txBody>
      </p:sp>
      <p:sp>
        <p:nvSpPr>
          <p:cNvPr id="15463" name="Text Box 103"/>
          <p:cNvSpPr txBox="1">
            <a:spLocks noChangeArrowheads="1"/>
          </p:cNvSpPr>
          <p:nvPr/>
        </p:nvSpPr>
        <p:spPr bwMode="auto">
          <a:xfrm>
            <a:off x="4419601" y="203676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TIM3_CC4</a:t>
            </a:r>
            <a:endParaRPr lang="en-US" altLang="en-US" sz="700" b="1"/>
          </a:p>
        </p:txBody>
      </p:sp>
      <p:sp>
        <p:nvSpPr>
          <p:cNvPr id="15464" name="Text Box 104"/>
          <p:cNvSpPr txBox="1">
            <a:spLocks noChangeArrowheads="1"/>
          </p:cNvSpPr>
          <p:nvPr/>
        </p:nvSpPr>
        <p:spPr bwMode="auto">
          <a:xfrm>
            <a:off x="5195889" y="22955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TIM3_UP</a:t>
            </a:r>
            <a:endParaRPr lang="en-US" altLang="en-US" sz="700" b="1"/>
          </a:p>
        </p:txBody>
      </p:sp>
      <p:sp>
        <p:nvSpPr>
          <p:cNvPr id="15465" name="Line 105"/>
          <p:cNvSpPr>
            <a:spLocks noChangeShapeType="1"/>
          </p:cNvSpPr>
          <p:nvPr/>
        </p:nvSpPr>
        <p:spPr bwMode="auto">
          <a:xfrm>
            <a:off x="6432550" y="1935163"/>
            <a:ext cx="0" cy="1008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66" name="Text Box 106"/>
          <p:cNvSpPr txBox="1">
            <a:spLocks noChangeArrowheads="1"/>
          </p:cNvSpPr>
          <p:nvPr/>
        </p:nvSpPr>
        <p:spPr bwMode="auto">
          <a:xfrm>
            <a:off x="5449889" y="244316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fr-FR" altLang="en-US" sz="700" b="1"/>
              <a:t>SPI2_RX</a:t>
            </a:r>
            <a:endParaRPr lang="en-US" altLang="en-US" sz="700" b="1"/>
          </a:p>
        </p:txBody>
      </p:sp>
      <p:sp>
        <p:nvSpPr>
          <p:cNvPr id="15467" name="Line 107"/>
          <p:cNvSpPr>
            <a:spLocks noChangeShapeType="1"/>
          </p:cNvSpPr>
          <p:nvPr/>
        </p:nvSpPr>
        <p:spPr bwMode="auto">
          <a:xfrm>
            <a:off x="6648451" y="2681288"/>
            <a:ext cx="3175" cy="265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68" name="Text Box 108"/>
          <p:cNvSpPr txBox="1">
            <a:spLocks noChangeArrowheads="1"/>
          </p:cNvSpPr>
          <p:nvPr/>
        </p:nvSpPr>
        <p:spPr bwMode="auto">
          <a:xfrm>
            <a:off x="6381751" y="2470151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fr-FR" altLang="en-US" sz="700" b="1"/>
              <a:t>I2C2_TX</a:t>
            </a:r>
            <a:endParaRPr lang="en-US" altLang="en-US" sz="700" b="1"/>
          </a:p>
        </p:txBody>
      </p:sp>
      <p:sp>
        <p:nvSpPr>
          <p:cNvPr id="15469" name="Text Box 109"/>
          <p:cNvSpPr txBox="1">
            <a:spLocks noChangeArrowheads="1"/>
          </p:cNvSpPr>
          <p:nvPr/>
        </p:nvSpPr>
        <p:spPr bwMode="auto">
          <a:xfrm>
            <a:off x="5614989" y="200977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TIM1_CC4</a:t>
            </a:r>
            <a:endParaRPr lang="en-US" altLang="en-US" sz="700" b="1"/>
          </a:p>
        </p:txBody>
      </p:sp>
      <p:sp>
        <p:nvSpPr>
          <p:cNvPr id="15470" name="Text Box 110"/>
          <p:cNvSpPr txBox="1">
            <a:spLocks noChangeArrowheads="1"/>
          </p:cNvSpPr>
          <p:nvPr/>
        </p:nvSpPr>
        <p:spPr bwMode="auto">
          <a:xfrm>
            <a:off x="6008688" y="1498601"/>
            <a:ext cx="804862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USART1_TX</a:t>
            </a:r>
            <a:endParaRPr lang="en-US" altLang="en-US" sz="700" b="1"/>
          </a:p>
        </p:txBody>
      </p:sp>
      <p:sp>
        <p:nvSpPr>
          <p:cNvPr id="15471" name="Text Box 111"/>
          <p:cNvSpPr txBox="1">
            <a:spLocks noChangeArrowheads="1"/>
          </p:cNvSpPr>
          <p:nvPr/>
        </p:nvSpPr>
        <p:spPr bwMode="auto">
          <a:xfrm>
            <a:off x="6316664" y="1741489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TIM1_CCU</a:t>
            </a:r>
            <a:endParaRPr lang="en-US" altLang="en-US" sz="700" b="1"/>
          </a:p>
        </p:txBody>
      </p:sp>
      <p:sp>
        <p:nvSpPr>
          <p:cNvPr id="15472" name="Text Box 112"/>
          <p:cNvSpPr txBox="1">
            <a:spLocks noChangeArrowheads="1"/>
          </p:cNvSpPr>
          <p:nvPr/>
        </p:nvSpPr>
        <p:spPr bwMode="auto">
          <a:xfrm>
            <a:off x="6386513" y="2017714"/>
            <a:ext cx="730250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TIM1_TRIG</a:t>
            </a:r>
            <a:endParaRPr lang="en-US" altLang="en-US" sz="700" b="1"/>
          </a:p>
        </p:txBody>
      </p:sp>
      <p:sp>
        <p:nvSpPr>
          <p:cNvPr id="15473" name="Line 113"/>
          <p:cNvSpPr>
            <a:spLocks noChangeShapeType="1"/>
          </p:cNvSpPr>
          <p:nvPr/>
        </p:nvSpPr>
        <p:spPr bwMode="auto">
          <a:xfrm>
            <a:off x="6332538" y="1704976"/>
            <a:ext cx="0" cy="1241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74" name="Text Box 114"/>
          <p:cNvSpPr txBox="1">
            <a:spLocks noChangeArrowheads="1"/>
          </p:cNvSpPr>
          <p:nvPr/>
        </p:nvSpPr>
        <p:spPr bwMode="auto">
          <a:xfrm>
            <a:off x="5614989" y="17621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TIM4_CC2</a:t>
            </a:r>
            <a:endParaRPr lang="en-US" altLang="en-US" sz="700" b="1"/>
          </a:p>
        </p:txBody>
      </p:sp>
      <p:sp>
        <p:nvSpPr>
          <p:cNvPr id="15475" name="Line 115"/>
          <p:cNvSpPr>
            <a:spLocks noChangeShapeType="1"/>
          </p:cNvSpPr>
          <p:nvPr/>
        </p:nvSpPr>
        <p:spPr bwMode="auto">
          <a:xfrm>
            <a:off x="7639050" y="1949451"/>
            <a:ext cx="0" cy="100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 b="1"/>
          </a:p>
        </p:txBody>
      </p:sp>
      <p:sp>
        <p:nvSpPr>
          <p:cNvPr id="15476" name="Text Box 116"/>
          <p:cNvSpPr txBox="1">
            <a:spLocks noChangeArrowheads="1"/>
          </p:cNvSpPr>
          <p:nvPr/>
        </p:nvSpPr>
        <p:spPr bwMode="auto">
          <a:xfrm>
            <a:off x="7516813" y="1746251"/>
            <a:ext cx="804862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USART1_RX</a:t>
            </a:r>
            <a:endParaRPr lang="en-US" altLang="en-US" sz="700" b="1"/>
          </a:p>
        </p:txBody>
      </p:sp>
      <p:sp>
        <p:nvSpPr>
          <p:cNvPr id="15477" name="Text Box 117"/>
          <p:cNvSpPr txBox="1">
            <a:spLocks noChangeArrowheads="1"/>
          </p:cNvSpPr>
          <p:nvPr/>
        </p:nvSpPr>
        <p:spPr bwMode="auto">
          <a:xfrm>
            <a:off x="7011989" y="174466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TIM1_UP</a:t>
            </a:r>
            <a:endParaRPr lang="en-US" altLang="en-US" sz="700" b="1"/>
          </a:p>
        </p:txBody>
      </p:sp>
      <p:sp>
        <p:nvSpPr>
          <p:cNvPr id="15478" name="Text Box 118"/>
          <p:cNvSpPr txBox="1">
            <a:spLocks noChangeArrowheads="1"/>
          </p:cNvSpPr>
          <p:nvPr/>
        </p:nvSpPr>
        <p:spPr bwMode="auto">
          <a:xfrm>
            <a:off x="6875464" y="204946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fr-FR" altLang="en-US" sz="700" b="1"/>
              <a:t>SPI2_TX</a:t>
            </a:r>
            <a:endParaRPr lang="en-US" altLang="en-US" sz="700" b="1"/>
          </a:p>
        </p:txBody>
      </p:sp>
      <p:sp>
        <p:nvSpPr>
          <p:cNvPr id="15479" name="Text Box 119"/>
          <p:cNvSpPr txBox="1">
            <a:spLocks noChangeArrowheads="1"/>
          </p:cNvSpPr>
          <p:nvPr/>
        </p:nvSpPr>
        <p:spPr bwMode="auto">
          <a:xfrm>
            <a:off x="6713539" y="23082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fr-FR" altLang="en-US" sz="700" b="1"/>
              <a:t>I2C2_RX</a:t>
            </a:r>
            <a:endParaRPr lang="en-US" altLang="en-US" sz="700" b="1"/>
          </a:p>
        </p:txBody>
      </p:sp>
      <p:sp>
        <p:nvSpPr>
          <p:cNvPr id="15480" name="Text Box 120"/>
          <p:cNvSpPr txBox="1">
            <a:spLocks noChangeArrowheads="1"/>
          </p:cNvSpPr>
          <p:nvPr/>
        </p:nvSpPr>
        <p:spPr bwMode="auto">
          <a:xfrm>
            <a:off x="7607301" y="204946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TIM2_CC1</a:t>
            </a:r>
            <a:endParaRPr lang="en-US" altLang="en-US" sz="700" b="1"/>
          </a:p>
        </p:txBody>
      </p:sp>
      <p:sp>
        <p:nvSpPr>
          <p:cNvPr id="15481" name="Text Box 121"/>
          <p:cNvSpPr txBox="1">
            <a:spLocks noChangeArrowheads="1"/>
          </p:cNvSpPr>
          <p:nvPr/>
        </p:nvSpPr>
        <p:spPr bwMode="auto">
          <a:xfrm>
            <a:off x="7700964" y="2362201"/>
            <a:ext cx="700087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TIM4_CC3</a:t>
            </a:r>
            <a:endParaRPr lang="en-US" altLang="en-US" sz="700" b="1"/>
          </a:p>
        </p:txBody>
      </p:sp>
      <p:sp>
        <p:nvSpPr>
          <p:cNvPr id="15482" name="Text Box 122"/>
          <p:cNvSpPr txBox="1">
            <a:spLocks noChangeArrowheads="1"/>
          </p:cNvSpPr>
          <p:nvPr/>
        </p:nvSpPr>
        <p:spPr bwMode="auto">
          <a:xfrm>
            <a:off x="8310563" y="1752601"/>
            <a:ext cx="804862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USART2_RX</a:t>
            </a:r>
            <a:endParaRPr lang="en-US" altLang="en-US" sz="700" b="1"/>
          </a:p>
        </p:txBody>
      </p:sp>
      <p:sp>
        <p:nvSpPr>
          <p:cNvPr id="15483" name="Text Box 123"/>
          <p:cNvSpPr txBox="1">
            <a:spLocks noChangeArrowheads="1"/>
          </p:cNvSpPr>
          <p:nvPr/>
        </p:nvSpPr>
        <p:spPr bwMode="auto">
          <a:xfrm>
            <a:off x="8720139" y="2203451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TIM1_CC3</a:t>
            </a:r>
            <a:endParaRPr lang="en-US" altLang="en-US" sz="700" b="1"/>
          </a:p>
        </p:txBody>
      </p:sp>
      <p:sp>
        <p:nvSpPr>
          <p:cNvPr id="15484" name="Text Box 124"/>
          <p:cNvSpPr txBox="1">
            <a:spLocks noChangeArrowheads="1"/>
          </p:cNvSpPr>
          <p:nvPr/>
        </p:nvSpPr>
        <p:spPr bwMode="auto">
          <a:xfrm>
            <a:off x="8091489" y="22066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TIM3_CC1</a:t>
            </a:r>
            <a:endParaRPr lang="en-US" altLang="en-US" sz="700" b="1"/>
          </a:p>
        </p:txBody>
      </p:sp>
      <p:sp>
        <p:nvSpPr>
          <p:cNvPr id="15485" name="Text Box 125"/>
          <p:cNvSpPr txBox="1">
            <a:spLocks noChangeArrowheads="1"/>
          </p:cNvSpPr>
          <p:nvPr/>
        </p:nvSpPr>
        <p:spPr bwMode="auto">
          <a:xfrm>
            <a:off x="7837489" y="2532064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fr-FR" altLang="en-US" sz="700" b="1"/>
              <a:t>I2C1_TX</a:t>
            </a:r>
            <a:endParaRPr lang="en-US" altLang="en-US" sz="700" b="1"/>
          </a:p>
        </p:txBody>
      </p:sp>
      <p:sp>
        <p:nvSpPr>
          <p:cNvPr id="15486" name="Text Box 126"/>
          <p:cNvSpPr txBox="1">
            <a:spLocks noChangeArrowheads="1"/>
          </p:cNvSpPr>
          <p:nvPr/>
        </p:nvSpPr>
        <p:spPr bwMode="auto">
          <a:xfrm>
            <a:off x="8840788" y="2473326"/>
            <a:ext cx="742950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TIM3_TRIG</a:t>
            </a:r>
            <a:endParaRPr lang="en-US" altLang="en-US" sz="700" b="1"/>
          </a:p>
        </p:txBody>
      </p:sp>
      <p:sp>
        <p:nvSpPr>
          <p:cNvPr id="15487" name="Text Box 127"/>
          <p:cNvSpPr txBox="1">
            <a:spLocks noChangeArrowheads="1"/>
          </p:cNvSpPr>
          <p:nvPr/>
        </p:nvSpPr>
        <p:spPr bwMode="auto">
          <a:xfrm>
            <a:off x="9534526" y="1704976"/>
            <a:ext cx="804863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USART2_TX</a:t>
            </a:r>
            <a:endParaRPr lang="en-US" altLang="en-US" sz="700" b="1"/>
          </a:p>
        </p:txBody>
      </p:sp>
      <p:sp>
        <p:nvSpPr>
          <p:cNvPr id="15488" name="Text Box 128"/>
          <p:cNvSpPr txBox="1">
            <a:spLocks noChangeArrowheads="1"/>
          </p:cNvSpPr>
          <p:nvPr/>
        </p:nvSpPr>
        <p:spPr bwMode="auto">
          <a:xfrm>
            <a:off x="9272589" y="2001839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TIM2_CC2</a:t>
            </a:r>
            <a:endParaRPr lang="en-US" altLang="en-US" sz="700" b="1"/>
          </a:p>
        </p:txBody>
      </p:sp>
      <p:sp>
        <p:nvSpPr>
          <p:cNvPr id="15489" name="Text Box 129"/>
          <p:cNvSpPr txBox="1">
            <a:spLocks noChangeArrowheads="1"/>
          </p:cNvSpPr>
          <p:nvPr/>
        </p:nvSpPr>
        <p:spPr bwMode="auto">
          <a:xfrm>
            <a:off x="9925051" y="1995489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TIM2_CC4</a:t>
            </a:r>
            <a:endParaRPr lang="en-US" altLang="en-US" sz="700" b="1"/>
          </a:p>
        </p:txBody>
      </p:sp>
      <p:sp>
        <p:nvSpPr>
          <p:cNvPr id="15490" name="Text Box 130"/>
          <p:cNvSpPr txBox="1">
            <a:spLocks noChangeArrowheads="1"/>
          </p:cNvSpPr>
          <p:nvPr/>
        </p:nvSpPr>
        <p:spPr bwMode="auto">
          <a:xfrm>
            <a:off x="9250364" y="232727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fr-FR" altLang="en-US" sz="700" b="1"/>
              <a:t>TIM4_UP</a:t>
            </a:r>
            <a:endParaRPr lang="en-US" altLang="en-US" sz="700" b="1"/>
          </a:p>
        </p:txBody>
      </p:sp>
      <p:sp>
        <p:nvSpPr>
          <p:cNvPr id="15491" name="Text Box 131"/>
          <p:cNvSpPr txBox="1">
            <a:spLocks noChangeArrowheads="1"/>
          </p:cNvSpPr>
          <p:nvPr/>
        </p:nvSpPr>
        <p:spPr bwMode="auto">
          <a:xfrm>
            <a:off x="9950451" y="2333626"/>
            <a:ext cx="701675" cy="18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266" tIns="40634" rIns="81266" bIns="40634">
            <a:spAutoFit/>
          </a:bodyPr>
          <a:lstStyle>
            <a:lvl1pPr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defTabSz="812800" eaLnBrk="0" hangingPunct="0"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812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fr-FR" altLang="en-US" sz="700" b="1"/>
              <a:t>I2C1_RX</a:t>
            </a:r>
            <a:endParaRPr lang="en-US" altLang="en-US" sz="700" b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692577" y="6400801"/>
            <a:ext cx="729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From </a:t>
            </a:r>
            <a:r>
              <a:rPr lang="en-US" sz="1200" i="1" dirty="0" err="1"/>
              <a:t>stm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23329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DMA, CPU must execute many load and store instructions, leading to slower performance.</a:t>
            </a:r>
          </a:p>
          <a:p>
            <a:r>
              <a:rPr lang="en-US" dirty="0"/>
              <a:t>DMA, which makes an automatic data transfer when received a DMA request without involving CPU, accelerates the overall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3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2543</TotalTime>
  <Words>1189</Words>
  <Application>Microsoft Office PowerPoint</Application>
  <PresentationFormat>Widescreen</PresentationFormat>
  <Paragraphs>370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Bookman Old Style (Headings)</vt:lpstr>
      <vt:lpstr>Arial</vt:lpstr>
      <vt:lpstr>Bookman Old Style</vt:lpstr>
      <vt:lpstr>Calibri</vt:lpstr>
      <vt:lpstr>Consolas</vt:lpstr>
      <vt:lpstr>Gill Sans MT</vt:lpstr>
      <vt:lpstr>Helvetica</vt:lpstr>
      <vt:lpstr>Verdana</vt:lpstr>
      <vt:lpstr>Wingdings</vt:lpstr>
      <vt:lpstr>Wingdings 3</vt:lpstr>
      <vt:lpstr>Origin</vt:lpstr>
      <vt:lpstr>Dr. Yifeng Zhu Electrical and Computer Engineering University of Maine</vt:lpstr>
      <vt:lpstr>Why need DMA?</vt:lpstr>
      <vt:lpstr>Moving Data between Peripheral and Memory</vt:lpstr>
      <vt:lpstr>Moving Data between Peripheral and Memory</vt:lpstr>
      <vt:lpstr>DMA</vt:lpstr>
      <vt:lpstr>DMA</vt:lpstr>
      <vt:lpstr>DMA: Flow-though vs Fly-by</vt:lpstr>
      <vt:lpstr>DMA Channels</vt:lpstr>
      <vt:lpstr>Programmed I/Os</vt:lpstr>
      <vt:lpstr>DMA Sets Core Free</vt:lpstr>
      <vt:lpstr>DMA Controller</vt:lpstr>
      <vt:lpstr>DMA Mode: Incremental Mode</vt:lpstr>
      <vt:lpstr>DMA Mode: Incremental Mode</vt:lpstr>
      <vt:lpstr>DMA Mode: Incremental Mode</vt:lpstr>
      <vt:lpstr>DMA Mode: Circular Mode</vt:lpstr>
      <vt:lpstr>DMA Mode: Incremental Mode</vt:lpstr>
      <vt:lpstr>DMA Mode: Incremental Mode</vt:lpstr>
      <vt:lpstr>DMA Mode: Incremental Mode</vt:lpstr>
      <vt:lpstr>DMA Request </vt:lpstr>
      <vt:lpstr>DMA Interrupts</vt:lpstr>
      <vt:lpstr>DMA Request Mapping</vt:lpstr>
      <vt:lpstr>DMA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277</cp:revision>
  <dcterms:created xsi:type="dcterms:W3CDTF">2013-02-03T05:36:57Z</dcterms:created>
  <dcterms:modified xsi:type="dcterms:W3CDTF">2025-09-25T00:33:53Z</dcterms:modified>
</cp:coreProperties>
</file>