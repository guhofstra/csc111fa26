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handoutMasterIdLst>
    <p:handoutMasterId r:id="rId47"/>
  </p:handoutMasterIdLst>
  <p:sldIdLst>
    <p:sldId id="256" r:id="rId2"/>
    <p:sldId id="370" r:id="rId3"/>
    <p:sldId id="343" r:id="rId4"/>
    <p:sldId id="733" r:id="rId5"/>
    <p:sldId id="732" r:id="rId6"/>
    <p:sldId id="742" r:id="rId7"/>
    <p:sldId id="735" r:id="rId8"/>
    <p:sldId id="741" r:id="rId9"/>
    <p:sldId id="743" r:id="rId10"/>
    <p:sldId id="744" r:id="rId11"/>
    <p:sldId id="745" r:id="rId12"/>
    <p:sldId id="736" r:id="rId13"/>
    <p:sldId id="746" r:id="rId14"/>
    <p:sldId id="747" r:id="rId15"/>
    <p:sldId id="737" r:id="rId16"/>
    <p:sldId id="738" r:id="rId17"/>
    <p:sldId id="748" r:id="rId18"/>
    <p:sldId id="740" r:id="rId19"/>
    <p:sldId id="749" r:id="rId20"/>
    <p:sldId id="372" r:id="rId21"/>
    <p:sldId id="750" r:id="rId22"/>
    <p:sldId id="342" r:id="rId23"/>
    <p:sldId id="345" r:id="rId24"/>
    <p:sldId id="363" r:id="rId25"/>
    <p:sldId id="347" r:id="rId26"/>
    <p:sldId id="348" r:id="rId27"/>
    <p:sldId id="349" r:id="rId28"/>
    <p:sldId id="350" r:id="rId29"/>
    <p:sldId id="351" r:id="rId30"/>
    <p:sldId id="352" r:id="rId31"/>
    <p:sldId id="353" r:id="rId32"/>
    <p:sldId id="354" r:id="rId33"/>
    <p:sldId id="355" r:id="rId34"/>
    <p:sldId id="356" r:id="rId35"/>
    <p:sldId id="357" r:id="rId36"/>
    <p:sldId id="358" r:id="rId37"/>
    <p:sldId id="359" r:id="rId38"/>
    <p:sldId id="360" r:id="rId39"/>
    <p:sldId id="362" r:id="rId40"/>
    <p:sldId id="361" r:id="rId41"/>
    <p:sldId id="373" r:id="rId42"/>
    <p:sldId id="751" r:id="rId43"/>
    <p:sldId id="752" r:id="rId44"/>
    <p:sldId id="753" r:id="rId45"/>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6AC30C-D518-4884-B1C5-B37995FA580C}" v="11" dt="2025-10-05T17:58:14.5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52"/>
    <p:restoredTop sz="94694"/>
  </p:normalViewPr>
  <p:slideViewPr>
    <p:cSldViewPr>
      <p:cViewPr varScale="1">
        <p:scale>
          <a:sx n="78" d="100"/>
          <a:sy n="78" d="100"/>
        </p:scale>
        <p:origin x="418" y="62"/>
      </p:cViewPr>
      <p:guideLst>
        <p:guide orient="horz" pos="2160"/>
        <p:guide pos="3840"/>
      </p:guideLst>
    </p:cSldViewPr>
  </p:slideViewPr>
  <p:notesTextViewPr>
    <p:cViewPr>
      <p:scale>
        <a:sx n="1" d="1"/>
        <a:sy n="1" d="1"/>
      </p:scale>
      <p:origin x="0" y="0"/>
    </p:cViewPr>
  </p:notesTextViewPr>
  <p:sorterViewPr>
    <p:cViewPr>
      <p:scale>
        <a:sx n="100" d="100"/>
        <a:sy n="100" d="100"/>
      </p:scale>
      <p:origin x="0" y="-15941"/>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modSld">
      <pc:chgData name="Zonghua Gu" userId="9a7e1853e1951ef5" providerId="LiveId" clId="{CF1FAA12-072C-4ED5-BA76-0FFFAEFDB88A}" dt="2025-10-05T17:58:31.149" v="41" actId="1076"/>
      <pc:docMkLst>
        <pc:docMk/>
      </pc:docMkLst>
      <pc:sldChg chg="addSp delSp modSp mod">
        <pc:chgData name="Zonghua Gu" userId="9a7e1853e1951ef5" providerId="LiveId" clId="{CF1FAA12-072C-4ED5-BA76-0FFFAEFDB88A}" dt="2025-10-05T17:58:31.149" v="41" actId="1076"/>
        <pc:sldMkLst>
          <pc:docMk/>
          <pc:sldMk cId="1849470404" sldId="732"/>
        </pc:sldMkLst>
        <pc:spChg chg="add del mod">
          <ac:chgData name="Zonghua Gu" userId="9a7e1853e1951ef5" providerId="LiveId" clId="{CF1FAA12-072C-4ED5-BA76-0FFFAEFDB88A}" dt="2025-10-05T17:57:22.965" v="3" actId="478"/>
          <ac:spMkLst>
            <pc:docMk/>
            <pc:sldMk cId="1849470404" sldId="732"/>
            <ac:spMk id="2" creationId="{4B5EA9F4-284E-0476-719E-5A5B618387B8}"/>
          </ac:spMkLst>
        </pc:spChg>
        <pc:spChg chg="add del mod">
          <ac:chgData name="Zonghua Gu" userId="9a7e1853e1951ef5" providerId="LiveId" clId="{CF1FAA12-072C-4ED5-BA76-0FFFAEFDB88A}" dt="2025-10-05T17:57:22.965" v="3" actId="478"/>
          <ac:spMkLst>
            <pc:docMk/>
            <pc:sldMk cId="1849470404" sldId="732"/>
            <ac:spMk id="4" creationId="{9C74267B-E5BC-8BCB-0B46-2E73415AB033}"/>
          </ac:spMkLst>
        </pc:spChg>
        <pc:spChg chg="add mod">
          <ac:chgData name="Zonghua Gu" userId="9a7e1853e1951ef5" providerId="LiveId" clId="{CF1FAA12-072C-4ED5-BA76-0FFFAEFDB88A}" dt="2025-10-05T17:58:31.149" v="41" actId="1076"/>
          <ac:spMkLst>
            <pc:docMk/>
            <pc:sldMk cId="1849470404" sldId="732"/>
            <ac:spMk id="6" creationId="{637D09CE-D9A0-429B-500F-971F0C35D198}"/>
          </ac:spMkLst>
        </pc:spChg>
        <pc:spChg chg="add">
          <ac:chgData name="Zonghua Gu" userId="9a7e1853e1951ef5" providerId="LiveId" clId="{CF1FAA12-072C-4ED5-BA76-0FFFAEFDB88A}" dt="2025-10-05T17:57:33.433" v="5"/>
          <ac:spMkLst>
            <pc:docMk/>
            <pc:sldMk cId="1849470404" sldId="732"/>
            <ac:spMk id="7" creationId="{EACC2C0D-7BCD-9065-0BA4-A34A38C022C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31B6B-01ED-4B91-B944-2A70B0C5B2D4}"/>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73369-F6FC-499D-A990-3E9060F01655}"/>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3B161579-C726-4AFD-89FC-66D961EAF8EA}" type="datetimeFigureOut">
              <a:rPr lang="en-US" smtClean="0"/>
              <a:t>10/5/2025</a:t>
            </a:fld>
            <a:endParaRPr lang="en-US"/>
          </a:p>
        </p:txBody>
      </p:sp>
      <p:sp>
        <p:nvSpPr>
          <p:cNvPr id="4" name="Footer Placeholder 3">
            <a:extLst>
              <a:ext uri="{FF2B5EF4-FFF2-40B4-BE49-F238E27FC236}">
                <a16:creationId xmlns:a16="http://schemas.microsoft.com/office/drawing/2014/main" id="{2CF68850-16A6-41CF-85AD-8061DE0667EE}"/>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78DEA-CE56-47ED-9B81-B4AC37030575}"/>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6842652-CBF3-40A7-8FE7-9A3810BFF4A2}" type="slidenum">
              <a:rPr lang="en-US" smtClean="0"/>
              <a:t>‹#›</a:t>
            </a:fld>
            <a:endParaRPr lang="en-US"/>
          </a:p>
        </p:txBody>
      </p:sp>
    </p:spTree>
    <p:extLst>
      <p:ext uri="{BB962C8B-B14F-4D97-AF65-F5344CB8AC3E}">
        <p14:creationId xmlns:p14="http://schemas.microsoft.com/office/powerpoint/2010/main" val="129405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C5DCA7A-C3FD-4606-A3AD-864BD96433D4}" type="datetimeFigureOut">
              <a:rPr lang="en-US" smtClean="0"/>
              <a:pPr/>
              <a:t>10/5/2025</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D46F4F04-2BB1-473A-9274-1B455085D21A}" type="slidenum">
              <a:rPr lang="en-US" smtClean="0"/>
              <a:pPr/>
              <a:t>‹#›</a:t>
            </a:fld>
            <a:endParaRPr lang="en-US"/>
          </a:p>
        </p:txBody>
      </p:sp>
    </p:spTree>
    <p:extLst>
      <p:ext uri="{BB962C8B-B14F-4D97-AF65-F5344CB8AC3E}">
        <p14:creationId xmlns:p14="http://schemas.microsoft.com/office/powerpoint/2010/main" val="241861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6</a:t>
            </a:fld>
            <a:endParaRPr lang="en-US"/>
          </a:p>
        </p:txBody>
      </p:sp>
    </p:spTree>
    <p:extLst>
      <p:ext uri="{BB962C8B-B14F-4D97-AF65-F5344CB8AC3E}">
        <p14:creationId xmlns:p14="http://schemas.microsoft.com/office/powerpoint/2010/main" val="1830953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7</a:t>
            </a:fld>
            <a:endParaRPr lang="en-US"/>
          </a:p>
        </p:txBody>
      </p:sp>
    </p:spTree>
    <p:extLst>
      <p:ext uri="{BB962C8B-B14F-4D97-AF65-F5344CB8AC3E}">
        <p14:creationId xmlns:p14="http://schemas.microsoft.com/office/powerpoint/2010/main" val="1828494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8</a:t>
            </a:fld>
            <a:endParaRPr lang="en-US"/>
          </a:p>
        </p:txBody>
      </p:sp>
    </p:spTree>
    <p:extLst>
      <p:ext uri="{BB962C8B-B14F-4D97-AF65-F5344CB8AC3E}">
        <p14:creationId xmlns:p14="http://schemas.microsoft.com/office/powerpoint/2010/main" val="1129218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The AAPCS defines how subroutines can be separately written, separately compiled, and separately</a:t>
            </a:r>
          </a:p>
          <a:p>
            <a:r>
              <a:rPr lang="en-US" sz="1200" kern="1200" dirty="0">
                <a:solidFill>
                  <a:schemeClr val="tx1"/>
                </a:solidFill>
                <a:effectLst/>
                <a:latin typeface="+mn-lt"/>
                <a:ea typeface="+mn-ea"/>
                <a:cs typeface="+mn-cs"/>
              </a:rPr>
              <a:t>assembled to work together.</a:t>
            </a:r>
          </a:p>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9</a:t>
            </a:fld>
            <a:endParaRPr lang="en-US"/>
          </a:p>
        </p:txBody>
      </p:sp>
    </p:spTree>
    <p:extLst>
      <p:ext uri="{BB962C8B-B14F-4D97-AF65-F5344CB8AC3E}">
        <p14:creationId xmlns:p14="http://schemas.microsoft.com/office/powerpoint/2010/main" val="1194078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7966D375-7FE4-4861-9EA3-8493E3E81506}" type="datetime1">
              <a:rPr lang="en-US" smtClean="0"/>
              <a:t>10/5/2025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00065D69-4622-413E-9E09-6A2509001B66}"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26D84756-85D3-4017-90AB-B482945A0CB0}" type="datetime1">
              <a:rPr lang="en-US" smtClean="0"/>
              <a:t>10/5/2025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1359E9A9-3822-4D57-8A64-831B26641011}"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96C45A0-00E6-4B4B-A1A7-CF1486D67AF4}"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B88C3861-EF45-4815-A76E-294671FAB405}"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0F0B8080-ED7A-45A9-A704-76D750342F93}"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1503A19-0780-4B28-9CCB-B5B1820188BD}"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2142A9E5-AE71-46A9-A65E-9BA279401128}"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A9C54BE0-D5FE-4C7B-88A7-8835FDA599B1}"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F132153C-039A-48A4-AC9F-CEC24D5C2B7A}"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13147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087DD3F-948A-46ED-B3EC-5D68A963D0B7}" type="datetime1">
              <a:rPr lang="en-US" smtClean="0"/>
              <a:t>10/5/2025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5181600" y="337547"/>
            <a:ext cx="57912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2895600" y="1828801"/>
            <a:ext cx="8077200" cy="830997"/>
          </a:xfrm>
          <a:prstGeom prst="rect">
            <a:avLst/>
          </a:prstGeom>
          <a:noFill/>
        </p:spPr>
        <p:txBody>
          <a:bodyPr wrap="square" rtlCol="0">
            <a:spAutoFit/>
          </a:bodyPr>
          <a:lstStyle/>
          <a:p>
            <a:pPr algn="r"/>
            <a:r>
              <a:rPr lang="en-US" sz="2400" b="1" dirty="0">
                <a:solidFill>
                  <a:srgbClr val="C00000"/>
                </a:solidFill>
              </a:rPr>
              <a:t>Chapter 8</a:t>
            </a:r>
          </a:p>
          <a:p>
            <a:pPr algn="r"/>
            <a:r>
              <a:rPr lang="en-US" sz="2400" b="1" dirty="0">
                <a:solidFill>
                  <a:srgbClr val="C00000"/>
                </a:solidFill>
              </a:rPr>
              <a:t>Passing Parameters to Subroutines via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682337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Register (</a:t>
            </a:r>
            <a:r>
              <a:rPr lang="en-US" dirty="0">
                <a:solidFill>
                  <a:srgbClr val="C00000"/>
                </a:solidFill>
                <a:latin typeface="Consolas" panose="020B0609020204030204" pitchFamily="49" charset="0"/>
                <a:cs typeface="Consolas" panose="020B0609020204030204" pitchFamily="49" charset="0"/>
              </a:rPr>
              <a:t>LR</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604892184"/>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 name="Straight Arrow Connector 6"/>
          <p:cNvCxnSpPr/>
          <p:nvPr/>
        </p:nvCxnSpPr>
        <p:spPr>
          <a:xfrm>
            <a:off x="2590800" y="5842590"/>
            <a:ext cx="522768"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113568" y="5696394"/>
            <a:ext cx="1066800" cy="2472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638800" y="1828800"/>
            <a:ext cx="4724400"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Link Register (LR) holds the return address of a subroutine</a:t>
            </a:r>
          </a:p>
          <a:p>
            <a:pPr marL="342900" indent="-342900">
              <a:buFont typeface="Arial" panose="020B0604020202020204" pitchFamily="34" charset="0"/>
              <a:buChar char="•"/>
            </a:pPr>
            <a:r>
              <a:rPr lang="en-US" sz="2000" dirty="0">
                <a:solidFill>
                  <a:srgbClr val="0000FF"/>
                </a:solidFill>
              </a:rPr>
              <a:t>The processor copies LR to PC after the program is finished.</a:t>
            </a:r>
          </a:p>
          <a:p>
            <a:endParaRPr lang="en-US" sz="2000" dirty="0">
              <a:solidFill>
                <a:srgbClr val="0000FF"/>
              </a:solidFill>
            </a:endParaRPr>
          </a:p>
        </p:txBody>
      </p:sp>
      <p:sp>
        <p:nvSpPr>
          <p:cNvPr id="4" name="Rectangle 3"/>
          <p:cNvSpPr/>
          <p:nvPr/>
        </p:nvSpPr>
        <p:spPr>
          <a:xfrm>
            <a:off x="1524001" y="5486401"/>
            <a:ext cx="1066800" cy="646331"/>
          </a:xfrm>
          <a:prstGeom prst="rect">
            <a:avLst/>
          </a:prstGeom>
        </p:spPr>
        <p:txBody>
          <a:bodyPr wrap="square">
            <a:spAutoFit/>
          </a:bodyPr>
          <a:lstStyle/>
          <a:p>
            <a:pPr algn="r"/>
            <a:r>
              <a:rPr lang="en-US" b="1" dirty="0">
                <a:solidFill>
                  <a:srgbClr val="FF0000"/>
                </a:solidFill>
              </a:rPr>
              <a:t>Link Register </a:t>
            </a:r>
          </a:p>
        </p:txBody>
      </p:sp>
      <p:sp>
        <p:nvSpPr>
          <p:cNvPr id="10" name="TextBox 9"/>
          <p:cNvSpPr txBox="1"/>
          <p:nvPr/>
        </p:nvSpPr>
        <p:spPr>
          <a:xfrm>
            <a:off x="2971800" y="6311384"/>
            <a:ext cx="1468672" cy="369332"/>
          </a:xfrm>
          <a:prstGeom prst="rect">
            <a:avLst/>
          </a:prstGeom>
          <a:noFill/>
        </p:spPr>
        <p:txBody>
          <a:bodyPr wrap="none" rtlCol="0">
            <a:spAutoFit/>
          </a:bodyPr>
          <a:lstStyle/>
          <a:p>
            <a:r>
              <a:rPr lang="en-US" dirty="0"/>
              <a:t>Register Bank</a:t>
            </a:r>
          </a:p>
        </p:txBody>
      </p:sp>
      <p:sp>
        <p:nvSpPr>
          <p:cNvPr id="11" name="TextBox 10"/>
          <p:cNvSpPr txBox="1"/>
          <p:nvPr/>
        </p:nvSpPr>
        <p:spPr>
          <a:xfrm>
            <a:off x="6858001" y="6307837"/>
            <a:ext cx="1736373" cy="369332"/>
          </a:xfrm>
          <a:prstGeom prst="rect">
            <a:avLst/>
          </a:prstGeom>
          <a:noFill/>
        </p:spPr>
        <p:txBody>
          <a:bodyPr wrap="none" rtlCol="0">
            <a:spAutoFit/>
          </a:bodyPr>
          <a:lstStyle/>
          <a:p>
            <a:r>
              <a:rPr lang="en-US" dirty="0"/>
              <a:t>Special Registers</a:t>
            </a:r>
          </a:p>
        </p:txBody>
      </p:sp>
    </p:spTree>
    <p:extLst>
      <p:ext uri="{BB962C8B-B14F-4D97-AF65-F5344CB8AC3E}">
        <p14:creationId xmlns:p14="http://schemas.microsoft.com/office/powerpoint/2010/main" val="214981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35" name="Rectangle 34">
            <a:extLst>
              <a:ext uri="{FF2B5EF4-FFF2-40B4-BE49-F238E27FC236}">
                <a16:creationId xmlns:a16="http://schemas.microsoft.com/office/drawing/2014/main" id="{C8C2789B-BC3A-F243-82C4-AAA0A2E67486}"/>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56388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55721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61969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61569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Tree>
    <p:extLst>
      <p:ext uri="{BB962C8B-B14F-4D97-AF65-F5344CB8AC3E}">
        <p14:creationId xmlns:p14="http://schemas.microsoft.com/office/powerpoint/2010/main" val="342555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right)">
                                      <p:cBhvr>
                                        <p:cTn id="15" dur="500"/>
                                        <p:tgtEl>
                                          <p:spTgt spid="4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cxnSp>
        <p:nvCxnSpPr>
          <p:cNvPr id="36" name="Straight Arrow Connector 35">
            <a:extLst>
              <a:ext uri="{FF2B5EF4-FFF2-40B4-BE49-F238E27FC236}">
                <a16:creationId xmlns:a16="http://schemas.microsoft.com/office/drawing/2014/main" id="{2CD34941-6E92-8142-BC04-63C0648E20D9}"/>
              </a:ext>
            </a:extLst>
          </p:cNvPr>
          <p:cNvCxnSpPr/>
          <p:nvPr/>
        </p:nvCxnSpPr>
        <p:spPr>
          <a:xfrm>
            <a:off x="64008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56388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55721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61969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61569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0" name="TextBox 49">
            <a:extLst>
              <a:ext uri="{FF2B5EF4-FFF2-40B4-BE49-F238E27FC236}">
                <a16:creationId xmlns:a16="http://schemas.microsoft.com/office/drawing/2014/main" id="{973E958C-3EC4-0E4A-B491-CD529163828C}"/>
              </a:ext>
            </a:extLst>
          </p:cNvPr>
          <p:cNvSpPr txBox="1"/>
          <p:nvPr/>
        </p:nvSpPr>
        <p:spPr>
          <a:xfrm>
            <a:off x="6774993" y="4463311"/>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1" name="Straight Arrow Connector 50">
            <a:extLst>
              <a:ext uri="{FF2B5EF4-FFF2-40B4-BE49-F238E27FC236}">
                <a16:creationId xmlns:a16="http://schemas.microsoft.com/office/drawing/2014/main" id="{BC3E6286-1076-7641-B669-979EBE4C1C73}"/>
              </a:ext>
            </a:extLst>
          </p:cNvPr>
          <p:cNvCxnSpPr>
            <a:cxnSpLocks/>
          </p:cNvCxnSpPr>
          <p:nvPr/>
        </p:nvCxnSpPr>
        <p:spPr>
          <a:xfrm flipH="1" flipV="1">
            <a:off x="6286500" y="4995717"/>
            <a:ext cx="3830004" cy="653543"/>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4AB6662-694B-3E4F-9824-37472FC67865}"/>
              </a:ext>
            </a:extLst>
          </p:cNvPr>
          <p:cNvSpPr txBox="1"/>
          <p:nvPr/>
        </p:nvSpPr>
        <p:spPr>
          <a:xfrm rot="594881">
            <a:off x="7148399" y="5040916"/>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6" name="TextBox 5">
            <a:extLst>
              <a:ext uri="{FF2B5EF4-FFF2-40B4-BE49-F238E27FC236}">
                <a16:creationId xmlns:a16="http://schemas.microsoft.com/office/drawing/2014/main" id="{637D09CE-D9A0-429B-500F-971F0C35D198}"/>
              </a:ext>
            </a:extLst>
          </p:cNvPr>
          <p:cNvSpPr txBox="1"/>
          <p:nvPr/>
        </p:nvSpPr>
        <p:spPr>
          <a:xfrm>
            <a:off x="453438" y="4756665"/>
            <a:ext cx="4112770" cy="1477328"/>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PROC and ENDP are assembler directives, not instructions.. </a:t>
            </a:r>
          </a:p>
          <a:p>
            <a:r>
              <a:rPr lang="en-US" dirty="0"/>
              <a:t>PROC declares a procedure (subroutine) symbol.</a:t>
            </a:r>
          </a:p>
          <a:p>
            <a:r>
              <a:rPr lang="en-US" dirty="0"/>
              <a:t>ENDP marks the end of that procedure.</a:t>
            </a:r>
          </a:p>
        </p:txBody>
      </p:sp>
    </p:spTree>
    <p:extLst>
      <p:ext uri="{BB962C8B-B14F-4D97-AF65-F5344CB8AC3E}">
        <p14:creationId xmlns:p14="http://schemas.microsoft.com/office/powerpoint/2010/main" val="184947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65327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6836356-AB05-9449-9C6A-A5CA50797946}"/>
              </a:ext>
            </a:extLst>
          </p:cNvPr>
          <p:cNvSpPr/>
          <p:nvPr/>
        </p:nvSpPr>
        <p:spPr>
          <a:xfrm>
            <a:off x="1436939" y="5194623"/>
            <a:ext cx="158565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0x08000280</a:t>
            </a:r>
            <a:endParaRPr lang="en-US" dirty="0">
              <a:solidFill>
                <a:srgbClr val="0432FF"/>
              </a:solidFill>
            </a:endParaRPr>
          </a:p>
        </p:txBody>
      </p: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cxnSp>
        <p:nvCxnSpPr>
          <p:cNvPr id="55" name="Straight Arrow Connector 54">
            <a:extLst>
              <a:ext uri="{FF2B5EF4-FFF2-40B4-BE49-F238E27FC236}">
                <a16:creationId xmlns:a16="http://schemas.microsoft.com/office/drawing/2014/main" id="{3ABF9859-610A-054F-9B32-579FA159E608}"/>
              </a:ext>
            </a:extLst>
          </p:cNvPr>
          <p:cNvCxnSpPr>
            <a:cxnSpLocks/>
          </p:cNvCxnSpPr>
          <p:nvPr/>
        </p:nvCxnSpPr>
        <p:spPr>
          <a:xfrm flipV="1">
            <a:off x="7922640" y="4791785"/>
            <a:ext cx="1754760" cy="61749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BBE9904-BC91-D340-B36C-57147FE8DD9F}"/>
              </a:ext>
            </a:extLst>
          </p:cNvPr>
          <p:cNvSpPr txBox="1"/>
          <p:nvPr/>
        </p:nvSpPr>
        <p:spPr>
          <a:xfrm>
            <a:off x="5262181" y="5440059"/>
            <a:ext cx="2641600" cy="307777"/>
          </a:xfrm>
          <a:prstGeom prst="rect">
            <a:avLst/>
          </a:prstGeom>
          <a:noFill/>
        </p:spPr>
        <p:txBody>
          <a:bodyPr wrap="square" rtlCol="0">
            <a:spAutoFit/>
          </a:bodyPr>
          <a:lstStyle/>
          <a:p>
            <a:pPr algn="ctr"/>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7" name="Straight Arrow Connector 56">
            <a:extLst>
              <a:ext uri="{FF2B5EF4-FFF2-40B4-BE49-F238E27FC236}">
                <a16:creationId xmlns:a16="http://schemas.microsoft.com/office/drawing/2014/main" id="{E3A9464B-984C-7A47-9AE7-7477AC0AED1F}"/>
              </a:ext>
            </a:extLst>
          </p:cNvPr>
          <p:cNvCxnSpPr>
            <a:cxnSpLocks/>
          </p:cNvCxnSpPr>
          <p:nvPr/>
        </p:nvCxnSpPr>
        <p:spPr>
          <a:xfrm>
            <a:off x="2995806" y="5393279"/>
            <a:ext cx="4926833" cy="13089"/>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4A67CA9-09B7-E344-8DB3-01368EFA3AE1}"/>
              </a:ext>
            </a:extLst>
          </p:cNvPr>
          <p:cNvSpPr txBox="1"/>
          <p:nvPr/>
        </p:nvSpPr>
        <p:spPr>
          <a:xfrm>
            <a:off x="3220938" y="5546898"/>
            <a:ext cx="217239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LR = </a:t>
            </a:r>
            <a:r>
              <a:rPr lang="en-US" b="1" dirty="0" err="1">
                <a:latin typeface="Consolas" panose="020B0609020204030204" pitchFamily="49" charset="0"/>
                <a:cs typeface="Consolas" panose="020B0609020204030204" pitchFamily="49" charset="0"/>
              </a:rPr>
              <a:t>PC</a:t>
            </a:r>
            <a:r>
              <a:rPr lang="en-US" b="1" baseline="-25000" dirty="0" err="1">
                <a:latin typeface="Consolas" panose="020B0609020204030204" pitchFamily="49" charset="0"/>
                <a:cs typeface="Consolas" panose="020B0609020204030204" pitchFamily="49" charset="0"/>
              </a:rPr>
              <a:t>current</a:t>
            </a:r>
            <a:r>
              <a:rPr lang="en-US" b="1" dirty="0">
                <a:latin typeface="Consolas" panose="020B0609020204030204" pitchFamily="49" charset="0"/>
                <a:cs typeface="Consolas" panose="020B0609020204030204" pitchFamily="49" charset="0"/>
              </a:rPr>
              <a:t> + 4</a:t>
            </a:r>
          </a:p>
        </p:txBody>
      </p:sp>
      <p:sp>
        <p:nvSpPr>
          <p:cNvPr id="45" name="TextBox 44">
            <a:extLst>
              <a:ext uri="{FF2B5EF4-FFF2-40B4-BE49-F238E27FC236}">
                <a16:creationId xmlns:a16="http://schemas.microsoft.com/office/drawing/2014/main" id="{81732F4E-D873-0E4D-BEB8-5B9C2667102C}"/>
              </a:ext>
            </a:extLst>
          </p:cNvPr>
          <p:cNvSpPr txBox="1"/>
          <p:nvPr/>
        </p:nvSpPr>
        <p:spPr>
          <a:xfrm>
            <a:off x="3213096" y="5951624"/>
            <a:ext cx="311150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Mem </a:t>
            </a:r>
            <a:r>
              <a:rPr lang="en-US" b="1" dirty="0" err="1">
                <a:latin typeface="Consolas" panose="020B0609020204030204" pitchFamily="49" charset="0"/>
                <a:cs typeface="Consolas" panose="020B0609020204030204" pitchFamily="49" charset="0"/>
              </a:rPr>
              <a:t>Addr</a:t>
            </a:r>
            <a:r>
              <a:rPr lang="en-US" b="1" dirty="0">
                <a:latin typeface="Consolas" panose="020B0609020204030204" pitchFamily="49" charset="0"/>
                <a:cs typeface="Consolas" panose="020B0609020204030204" pitchFamily="49" charset="0"/>
              </a:rPr>
              <a:t> of foo()</a:t>
            </a:r>
          </a:p>
        </p:txBody>
      </p:sp>
      <p:sp>
        <p:nvSpPr>
          <p:cNvPr id="12" name="Rectangle 11">
            <a:extLst>
              <a:ext uri="{FF2B5EF4-FFF2-40B4-BE49-F238E27FC236}">
                <a16:creationId xmlns:a16="http://schemas.microsoft.com/office/drawing/2014/main" id="{168EEDDE-F311-8B4F-88DF-5E5A143D590C}"/>
              </a:ext>
            </a:extLst>
          </p:cNvPr>
          <p:cNvSpPr/>
          <p:nvPr/>
        </p:nvSpPr>
        <p:spPr>
          <a:xfrm>
            <a:off x="3644361" y="4362546"/>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6" name="Straight Arrow Connector 45">
            <a:extLst>
              <a:ext uri="{FF2B5EF4-FFF2-40B4-BE49-F238E27FC236}">
                <a16:creationId xmlns:a16="http://schemas.microsoft.com/office/drawing/2014/main" id="{D3356ECE-46DE-864A-B633-4695ADF0F082}"/>
              </a:ext>
            </a:extLst>
          </p:cNvPr>
          <p:cNvCxnSpPr>
            <a:cxnSpLocks/>
          </p:cNvCxnSpPr>
          <p:nvPr/>
        </p:nvCxnSpPr>
        <p:spPr>
          <a:xfrm>
            <a:off x="4660894" y="4532373"/>
            <a:ext cx="368306" cy="0"/>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E958BE4-9D60-0849-94F6-B3ED3B4A7703}"/>
              </a:ext>
            </a:extLst>
          </p:cNvPr>
          <p:cNvCxnSpPr>
            <a:cxnSpLocks/>
          </p:cNvCxnSpPr>
          <p:nvPr/>
        </p:nvCxnSpPr>
        <p:spPr>
          <a:xfrm>
            <a:off x="5020559" y="4524921"/>
            <a:ext cx="463681" cy="2668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27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left)">
                                      <p:cBhvr>
                                        <p:cTn id="10" dur="500"/>
                                        <p:tgtEl>
                                          <p:spTgt spid="46"/>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wipe(up)">
                                      <p:cBhvr>
                                        <p:cTn id="14" dur="500"/>
                                        <p:tgtEl>
                                          <p:spTgt spid="4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200"/>
                                  </p:stCondLst>
                                  <p:childTnLst>
                                    <p:set>
                                      <p:cBhvr>
                                        <p:cTn id="28" dur="1" fill="hold">
                                          <p:stCondLst>
                                            <p:cond delay="0"/>
                                          </p:stCondLst>
                                        </p:cTn>
                                        <p:tgtEl>
                                          <p:spTgt spid="54"/>
                                        </p:tgtEl>
                                        <p:attrNameLst>
                                          <p:attrName>style.visibility</p:attrName>
                                        </p:attrNameLst>
                                      </p:cBhvr>
                                      <p:to>
                                        <p:strVal val="visible"/>
                                      </p:to>
                                    </p:set>
                                  </p:childTnLst>
                                </p:cTn>
                              </p:par>
                            </p:childTnLst>
                          </p:cTn>
                        </p:par>
                        <p:par>
                          <p:cTn id="29" fill="hold">
                            <p:stCondLst>
                              <p:cond delay="200"/>
                            </p:stCondLst>
                            <p:childTnLst>
                              <p:par>
                                <p:cTn id="30" presetID="1" presetClass="entr" presetSubtype="0" fill="hold" grpId="0" nodeType="afterEffect">
                                  <p:stCondLst>
                                    <p:cond delay="0"/>
                                  </p:stCondLst>
                                  <p:childTnLst>
                                    <p:set>
                                      <p:cBhvr>
                                        <p:cTn id="31" dur="1" fill="hold">
                                          <p:stCondLst>
                                            <p:cond delay="0"/>
                                          </p:stCondLst>
                                        </p:cTn>
                                        <p:tgtEl>
                                          <p:spTgt spid="56"/>
                                        </p:tgtEl>
                                        <p:attrNameLst>
                                          <p:attrName>style.visibility</p:attrName>
                                        </p:attrNameLst>
                                      </p:cBhvr>
                                      <p:to>
                                        <p:strVal val="visible"/>
                                      </p:to>
                                    </p:set>
                                  </p:childTnLst>
                                </p:cTn>
                              </p:par>
                            </p:childTnLst>
                          </p:cTn>
                        </p:par>
                        <p:par>
                          <p:cTn id="32" fill="hold">
                            <p:stCondLst>
                              <p:cond delay="200"/>
                            </p:stCondLst>
                            <p:childTnLst>
                              <p:par>
                                <p:cTn id="33" presetID="22" presetClass="entr" presetSubtype="8" fill="hold" nodeType="after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wipe(left)">
                                      <p:cBhvr>
                                        <p:cTn id="35" dur="500"/>
                                        <p:tgtEl>
                                          <p:spTgt spid="57"/>
                                        </p:tgtEl>
                                      </p:cBhvr>
                                    </p:animEffect>
                                  </p:childTnLst>
                                </p:cTn>
                              </p:par>
                            </p:childTnLst>
                          </p:cTn>
                        </p:par>
                        <p:par>
                          <p:cTn id="36" fill="hold">
                            <p:stCondLst>
                              <p:cond delay="700"/>
                            </p:stCondLst>
                            <p:childTnLst>
                              <p:par>
                                <p:cTn id="37" presetID="22" presetClass="entr" presetSubtype="4" fill="hold"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down)">
                                      <p:cBhvr>
                                        <p:cTn id="3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4" grpId="0"/>
      <p:bldP spid="56" grpId="0"/>
      <p:bldP spid="44" grpId="0" animBg="1"/>
      <p:bldP spid="45" grpId="0" animBg="1"/>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8</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sp>
        <p:nvSpPr>
          <p:cNvPr id="45" name="TextBox 44">
            <a:extLst>
              <a:ext uri="{FF2B5EF4-FFF2-40B4-BE49-F238E27FC236}">
                <a16:creationId xmlns:a16="http://schemas.microsoft.com/office/drawing/2014/main" id="{81732F4E-D873-0E4D-BEB8-5B9C2667102C}"/>
              </a:ext>
            </a:extLst>
          </p:cNvPr>
          <p:cNvSpPr txBox="1"/>
          <p:nvPr/>
        </p:nvSpPr>
        <p:spPr>
          <a:xfrm>
            <a:off x="3443032" y="5670278"/>
            <a:ext cx="116891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LR</a:t>
            </a:r>
          </a:p>
        </p:txBody>
      </p:sp>
      <p:sp>
        <p:nvSpPr>
          <p:cNvPr id="12" name="Rectangle 11">
            <a:extLst>
              <a:ext uri="{FF2B5EF4-FFF2-40B4-BE49-F238E27FC236}">
                <a16:creationId xmlns:a16="http://schemas.microsoft.com/office/drawing/2014/main" id="{168EEDDE-F311-8B4F-88DF-5E5A143D590C}"/>
              </a:ext>
            </a:extLst>
          </p:cNvPr>
          <p:cNvSpPr/>
          <p:nvPr/>
        </p:nvSpPr>
        <p:spPr>
          <a:xfrm>
            <a:off x="8206905" y="5450423"/>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7" name="Straight Arrow Connector 46">
            <a:extLst>
              <a:ext uri="{FF2B5EF4-FFF2-40B4-BE49-F238E27FC236}">
                <a16:creationId xmlns:a16="http://schemas.microsoft.com/office/drawing/2014/main" id="{4E958BE4-9D60-0849-94F6-B3ED3B4A7703}"/>
              </a:ext>
            </a:extLst>
          </p:cNvPr>
          <p:cNvCxnSpPr>
            <a:cxnSpLocks/>
            <a:stCxn id="12" idx="3"/>
          </p:cNvCxnSpPr>
          <p:nvPr/>
        </p:nvCxnSpPr>
        <p:spPr>
          <a:xfrm>
            <a:off x="9239560" y="5635089"/>
            <a:ext cx="921524" cy="371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36A039D-A44F-1B42-8928-D2629C2F764D}"/>
              </a:ext>
            </a:extLst>
          </p:cNvPr>
          <p:cNvCxnSpPr>
            <a:cxnSpLocks/>
          </p:cNvCxnSpPr>
          <p:nvPr/>
        </p:nvCxnSpPr>
        <p:spPr>
          <a:xfrm flipV="1">
            <a:off x="3022595" y="5087921"/>
            <a:ext cx="2438745" cy="2907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9047BF1-9ED8-8D40-B17D-721DEED164E4}"/>
              </a:ext>
            </a:extLst>
          </p:cNvPr>
          <p:cNvSpPr txBox="1"/>
          <p:nvPr/>
        </p:nvSpPr>
        <p:spPr>
          <a:xfrm>
            <a:off x="4064189" y="5253274"/>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2" name="Rectangle 51">
            <a:extLst>
              <a:ext uri="{FF2B5EF4-FFF2-40B4-BE49-F238E27FC236}">
                <a16:creationId xmlns:a16="http://schemas.microsoft.com/office/drawing/2014/main" id="{D184876B-F72F-2F47-A938-FE422F9FE79F}"/>
              </a:ext>
            </a:extLst>
          </p:cNvPr>
          <p:cNvSpPr/>
          <p:nvPr/>
        </p:nvSpPr>
        <p:spPr>
          <a:xfrm>
            <a:off x="1443088" y="5193995"/>
            <a:ext cx="155876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0x08000214</a:t>
            </a:r>
            <a:endParaRPr lang="en-US" dirty="0">
              <a:solidFill>
                <a:srgbClr val="0432FF"/>
              </a:solidFill>
            </a:endParaRPr>
          </a:p>
        </p:txBody>
      </p:sp>
    </p:spTree>
    <p:extLst>
      <p:ext uri="{BB962C8B-B14F-4D97-AF65-F5344CB8AC3E}">
        <p14:creationId xmlns:p14="http://schemas.microsoft.com/office/powerpoint/2010/main" val="173557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2"/>
                                        </p:tgtEl>
                                        <p:attrNameLst>
                                          <p:attrName>style.visibility</p:attrName>
                                        </p:attrNameLst>
                                      </p:cBhvr>
                                      <p:to>
                                        <p:strVal val="visible"/>
                                      </p:to>
                                    </p:set>
                                  </p:childTnLst>
                                </p:cTn>
                              </p:par>
                            </p:childTnLst>
                          </p:cTn>
                        </p:par>
                        <p:par>
                          <p:cTn id="10" fill="hold">
                            <p:stCondLst>
                              <p:cond delay="500"/>
                            </p:stCondLst>
                            <p:childTnLst>
                              <p:par>
                                <p:cTn id="11" presetID="22" presetClass="entr" presetSubtype="4" fill="hold" nodeType="afterEffect">
                                  <p:stCondLst>
                                    <p:cond delay="500"/>
                                  </p:stCondLst>
                                  <p:childTnLst>
                                    <p:set>
                                      <p:cBhvr>
                                        <p:cTn id="12" dur="1" fill="hold">
                                          <p:stCondLst>
                                            <p:cond delay="0"/>
                                          </p:stCondLst>
                                        </p:cTn>
                                        <p:tgtEl>
                                          <p:spTgt spid="50"/>
                                        </p:tgtEl>
                                        <p:attrNameLst>
                                          <p:attrName>style.visibility</p:attrName>
                                        </p:attrNameLst>
                                      </p:cBhvr>
                                      <p:to>
                                        <p:strVal val="visible"/>
                                      </p:to>
                                    </p:set>
                                    <p:animEffect transition="in" filter="wipe(down)">
                                      <p:cBhvr>
                                        <p:cTn id="13" dur="500"/>
                                        <p:tgtEl>
                                          <p:spTgt spid="50"/>
                                        </p:tgtEl>
                                      </p:cBhvr>
                                    </p:animEffec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1" grpId="0"/>
      <p:bldP spid="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E2A4-AB73-1442-917A-B175F1350DE6}"/>
              </a:ext>
            </a:extLst>
          </p:cNvPr>
          <p:cNvSpPr>
            <a:spLocks noGrp="1"/>
          </p:cNvSpPr>
          <p:nvPr>
            <p:ph type="title"/>
          </p:nvPr>
        </p:nvSpPr>
        <p:spPr/>
        <p:txBody>
          <a:bodyPr>
            <a:normAutofit/>
          </a:bodyPr>
          <a:lstStyle/>
          <a:p>
            <a:r>
              <a:rPr lang="en-US" dirty="0"/>
              <a:t>Procedure Call Standard</a:t>
            </a:r>
          </a:p>
        </p:txBody>
      </p:sp>
      <p:sp>
        <p:nvSpPr>
          <p:cNvPr id="3" name="Slide Number Placeholder 2">
            <a:extLst>
              <a:ext uri="{FF2B5EF4-FFF2-40B4-BE49-F238E27FC236}">
                <a16:creationId xmlns:a16="http://schemas.microsoft.com/office/drawing/2014/main" id="{7574F2B9-4DD5-5F45-9CCB-8545A42E18CF}"/>
              </a:ext>
            </a:extLst>
          </p:cNvPr>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a:extLst>
              <a:ext uri="{FF2B5EF4-FFF2-40B4-BE49-F238E27FC236}">
                <a16:creationId xmlns:a16="http://schemas.microsoft.com/office/drawing/2014/main" id="{10D11C05-E522-0542-9A76-E629C4768BFE}"/>
              </a:ext>
            </a:extLst>
          </p:cNvPr>
          <p:cNvSpPr>
            <a:spLocks noGrp="1"/>
          </p:cNvSpPr>
          <p:nvPr>
            <p:ph sz="quarter" idx="1"/>
          </p:nvPr>
        </p:nvSpPr>
        <p:spPr/>
        <p:txBody>
          <a:bodyPr/>
          <a:lstStyle/>
          <a:p>
            <a:r>
              <a:rPr lang="en-US" dirty="0"/>
              <a:t>What is it?</a:t>
            </a:r>
          </a:p>
          <a:p>
            <a:pPr lvl="1"/>
            <a:r>
              <a:rPr lang="en-US" dirty="0"/>
              <a:t>Contract between a calling subroutine (caller) and a called subroutine (callee) </a:t>
            </a:r>
          </a:p>
          <a:p>
            <a:r>
              <a:rPr lang="en-US" dirty="0"/>
              <a:t>Why need it? </a:t>
            </a:r>
          </a:p>
          <a:p>
            <a:pPr lvl="1"/>
            <a:r>
              <a:rPr lang="en-US" dirty="0"/>
              <a:t>Allows subroutines to be separately written, compiled, assembled but work together</a:t>
            </a:r>
          </a:p>
          <a:p>
            <a:pPr lvl="1"/>
            <a:r>
              <a:rPr lang="en-US" dirty="0"/>
              <a:t>Allows C program calls an assembly function, or vice versa</a:t>
            </a:r>
          </a:p>
          <a:p>
            <a:r>
              <a:rPr lang="en-US" dirty="0"/>
              <a:t>This talk focuses on</a:t>
            </a:r>
          </a:p>
          <a:p>
            <a:pPr lvl="1"/>
            <a:r>
              <a:rPr lang="en-US" dirty="0"/>
              <a:t>How to pass arguments to a subroutine? </a:t>
            </a:r>
          </a:p>
          <a:p>
            <a:pPr lvl="1"/>
            <a:r>
              <a:rPr lang="en-US" dirty="0"/>
              <a:t>How to return a result from a subroutine?</a:t>
            </a:r>
          </a:p>
        </p:txBody>
      </p:sp>
    </p:spTree>
    <p:extLst>
      <p:ext uri="{BB962C8B-B14F-4D97-AF65-F5344CB8AC3E}">
        <p14:creationId xmlns:p14="http://schemas.microsoft.com/office/powerpoint/2010/main" val="2001205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pic>
        <p:nvPicPr>
          <p:cNvPr id="5" name="Picture 4"/>
          <p:cNvPicPr>
            <a:picLocks noChangeAspect="1"/>
          </p:cNvPicPr>
          <p:nvPr/>
        </p:nvPicPr>
        <p:blipFill>
          <a:blip r:embed="rId2"/>
          <a:stretch>
            <a:fillRect/>
          </a:stretch>
        </p:blipFill>
        <p:spPr>
          <a:xfrm>
            <a:off x="2514600" y="1219201"/>
            <a:ext cx="6935158" cy="5105400"/>
          </a:xfrm>
          <a:prstGeom prst="rect">
            <a:avLst/>
          </a:prstGeom>
        </p:spPr>
      </p:pic>
    </p:spTree>
    <p:extLst>
      <p:ext uri="{BB962C8B-B14F-4D97-AF65-F5344CB8AC3E}">
        <p14:creationId xmlns:p14="http://schemas.microsoft.com/office/powerpoint/2010/main" val="2214257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a8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d16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11" name="Right Brace 10">
            <a:extLst>
              <a:ext uri="{FF2B5EF4-FFF2-40B4-BE49-F238E27FC236}">
                <a16:creationId xmlns:a16="http://schemas.microsoft.com/office/drawing/2014/main" id="{6444D57C-8A78-6543-9EFA-1D77E8B65E07}"/>
              </a:ext>
            </a:extLst>
          </p:cNvPr>
          <p:cNvSpPr/>
          <p:nvPr/>
        </p:nvSpPr>
        <p:spPr>
          <a:xfrm>
            <a:off x="3048000" y="3708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066D4654-A65A-564F-BB2B-6A237989685F}"/>
              </a:ext>
            </a:extLst>
          </p:cNvPr>
          <p:cNvSpPr txBox="1"/>
          <p:nvPr/>
        </p:nvSpPr>
        <p:spPr>
          <a:xfrm>
            <a:off x="3352800" y="8280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13" name="Rectangle 12">
            <a:extLst>
              <a:ext uri="{FF2B5EF4-FFF2-40B4-BE49-F238E27FC236}">
                <a16:creationId xmlns:a16="http://schemas.microsoft.com/office/drawing/2014/main" id="{1519B3CA-5CF2-5F4B-8843-6FE7D7C8E9B0}"/>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14" name="TextBox 13">
            <a:extLst>
              <a:ext uri="{FF2B5EF4-FFF2-40B4-BE49-F238E27FC236}">
                <a16:creationId xmlns:a16="http://schemas.microsoft.com/office/drawing/2014/main" id="{960AD2F8-0461-594B-8219-B125C5CDF9AE}"/>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4207592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sum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7" name="TextBox 6">
            <a:extLst>
              <a:ext uri="{FF2B5EF4-FFF2-40B4-BE49-F238E27FC236}">
                <a16:creationId xmlns:a16="http://schemas.microsoft.com/office/drawing/2014/main" id="{388D0069-12B0-FA40-B2EA-720C0BEABCC6}"/>
              </a:ext>
            </a:extLst>
          </p:cNvPr>
          <p:cNvSpPr txBox="1"/>
          <p:nvPr/>
        </p:nvSpPr>
        <p:spPr>
          <a:xfrm>
            <a:off x="3124200" y="370840"/>
            <a:ext cx="3733800" cy="369332"/>
          </a:xfrm>
          <a:prstGeom prst="rect">
            <a:avLst/>
          </a:prstGeom>
          <a:noFill/>
        </p:spPr>
        <p:txBody>
          <a:bodyPr wrap="square" rtlCol="0">
            <a:spAutoFit/>
          </a:bodyPr>
          <a:lstStyle/>
          <a:p>
            <a:r>
              <a:rPr lang="en-US" dirty="0">
                <a:solidFill>
                  <a:srgbClr val="C00000"/>
                </a:solidFill>
              </a:rPr>
              <a:t>Return the sum in register </a:t>
            </a:r>
            <a:r>
              <a:rPr lang="en-US" dirty="0">
                <a:solidFill>
                  <a:srgbClr val="C00000"/>
                </a:solidFill>
                <a:latin typeface="Consolas" panose="020B0609020204030204" pitchFamily="49" charset="0"/>
                <a:cs typeface="Consolas" panose="020B0609020204030204" pitchFamily="49" charset="0"/>
              </a:rPr>
              <a:t>r0</a:t>
            </a:r>
          </a:p>
        </p:txBody>
      </p:sp>
      <p:sp>
        <p:nvSpPr>
          <p:cNvPr id="8" name="Rectangle 7">
            <a:extLst>
              <a:ext uri="{FF2B5EF4-FFF2-40B4-BE49-F238E27FC236}">
                <a16:creationId xmlns:a16="http://schemas.microsoft.com/office/drawing/2014/main" id="{C7441378-6E1F-3646-836C-582ED066FE8A}"/>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2BFA4B21-5EA9-2C46-9612-0B62AD256E24}"/>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1144031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11" name="Rectangle 10"/>
          <p:cNvSpPr/>
          <p:nvPr/>
        </p:nvSpPr>
        <p:spPr>
          <a:xfrm>
            <a:off x="1864807" y="1669971"/>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4" name="TextBox 3"/>
          <p:cNvSpPr txBox="1"/>
          <p:nvPr/>
        </p:nvSpPr>
        <p:spPr>
          <a:xfrm>
            <a:off x="1871157"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871157" y="2364422"/>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099758" y="3657600"/>
            <a:ext cx="2717411"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p:txBody>
      </p:sp>
      <p:sp>
        <p:nvSpPr>
          <p:cNvPr id="27" name="TextBox 26"/>
          <p:cNvSpPr txBox="1"/>
          <p:nvPr/>
        </p:nvSpPr>
        <p:spPr>
          <a:xfrm>
            <a:off x="6742372"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6742371" y="3657600"/>
            <a:ext cx="3603872"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dirty="0">
                <a:latin typeface="Consolas" panose="020B0609020204030204" pitchFamily="49" charset="0"/>
              </a:rPr>
              <a:t>  BX  LR</a:t>
            </a:r>
          </a:p>
          <a:p>
            <a:r>
              <a:rPr lang="en-US" dirty="0">
                <a:latin typeface="Consolas" panose="020B0609020204030204" pitchFamily="49" charset="0"/>
              </a:rPr>
              <a:t>  ENDP</a:t>
            </a:r>
          </a:p>
        </p:txBody>
      </p:sp>
    </p:spTree>
    <p:extLst>
      <p:ext uri="{BB962C8B-B14F-4D97-AF65-F5344CB8AC3E}">
        <p14:creationId xmlns:p14="http://schemas.microsoft.com/office/powerpoint/2010/main" val="4052101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11" name="Rectangle 10"/>
          <p:cNvSpPr/>
          <p:nvPr/>
        </p:nvSpPr>
        <p:spPr>
          <a:xfrm>
            <a:off x="1981200" y="1279413"/>
            <a:ext cx="9163050" cy="923330"/>
          </a:xfrm>
          <a:prstGeom prst="rect">
            <a:avLst/>
          </a:prstGeom>
        </p:spPr>
        <p:txBody>
          <a:bodyPr wrap="square">
            <a:spAutoFit/>
          </a:bodyPr>
          <a:lstStyle/>
          <a:p>
            <a:r>
              <a:rPr lang="en-US" b="1" dirty="0">
                <a:latin typeface="Consolas" panose="020B0609020204030204" pitchFamily="49" charset="0"/>
              </a:rPr>
              <a:t>int32_t s32;</a:t>
            </a:r>
          </a:p>
          <a:p>
            <a:endParaRPr lang="en-US" b="1" dirty="0">
              <a:latin typeface="Consolas" panose="020B0609020204030204" pitchFamily="49" charset="0"/>
            </a:endParaRPr>
          </a:p>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23" name="Rectangle 22"/>
          <p:cNvSpPr/>
          <p:nvPr/>
        </p:nvSpPr>
        <p:spPr>
          <a:xfrm>
            <a:off x="2000250" y="2369671"/>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s32 = sum(1, 2, 3, 4) + 100;</a:t>
            </a:r>
          </a:p>
        </p:txBody>
      </p:sp>
      <p:sp>
        <p:nvSpPr>
          <p:cNvPr id="15" name="TextBox 14"/>
          <p:cNvSpPr txBox="1"/>
          <p:nvPr/>
        </p:nvSpPr>
        <p:spPr>
          <a:xfrm>
            <a:off x="2743201" y="3048000"/>
            <a:ext cx="5376793"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1</a:t>
            </a:r>
            <a:r>
              <a:rPr lang="en-US" baseline="30000" dirty="0">
                <a:solidFill>
                  <a:schemeClr val="bg1">
                    <a:lumMod val="50000"/>
                  </a:schemeClr>
                </a:solidFill>
                <a:latin typeface="Consolas" panose="020B0609020204030204" pitchFamily="49" charset="0"/>
              </a:rPr>
              <a:t>st</a:t>
            </a:r>
            <a:r>
              <a:rPr lang="en-US" dirty="0">
                <a:solidFill>
                  <a:schemeClr val="bg1">
                    <a:lumMod val="50000"/>
                  </a:schemeClr>
                </a:solidFill>
                <a:latin typeface="Consolas" panose="020B0609020204030204" pitchFamily="49" charset="0"/>
              </a:rPr>
              <a:t> argument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2</a:t>
            </a:r>
            <a:r>
              <a:rPr lang="en-US" baseline="30000" dirty="0">
                <a:solidFill>
                  <a:schemeClr val="bg1">
                    <a:lumMod val="50000"/>
                  </a:schemeClr>
                </a:solidFill>
                <a:latin typeface="Consolas" panose="020B0609020204030204" pitchFamily="49" charset="0"/>
              </a:rPr>
              <a:t>nd</a:t>
            </a:r>
            <a:r>
              <a:rPr lang="en-US" dirty="0">
                <a:solidFill>
                  <a:schemeClr val="bg1">
                    <a:lumMod val="50000"/>
                  </a:schemeClr>
                </a:solidFill>
                <a:latin typeface="Consolas" panose="020B0609020204030204" pitchFamily="49" charset="0"/>
              </a:rPr>
              <a:t> argument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3</a:t>
            </a:r>
            <a:r>
              <a:rPr lang="en-US" baseline="30000" dirty="0">
                <a:solidFill>
                  <a:schemeClr val="bg1">
                    <a:lumMod val="50000"/>
                  </a:schemeClr>
                </a:solidFill>
                <a:latin typeface="Consolas" panose="020B0609020204030204" pitchFamily="49" charset="0"/>
              </a:rPr>
              <a:t>rd</a:t>
            </a:r>
            <a:r>
              <a:rPr lang="en-US" dirty="0">
                <a:solidFill>
                  <a:schemeClr val="bg1">
                    <a:lumMod val="50000"/>
                  </a:schemeClr>
                </a:solidFill>
                <a:latin typeface="Consolas" panose="020B0609020204030204" pitchFamily="49" charset="0"/>
              </a:rPr>
              <a:t> argument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4</a:t>
            </a:r>
            <a:r>
              <a:rPr lang="en-US" baseline="30000" dirty="0">
                <a:solidFill>
                  <a:schemeClr val="bg1">
                    <a:lumMod val="50000"/>
                  </a:schemeClr>
                </a:solidFill>
                <a:latin typeface="Consolas" panose="020B0609020204030204" pitchFamily="49" charset="0"/>
              </a:rPr>
              <a:t>th</a:t>
            </a:r>
            <a:r>
              <a:rPr lang="en-US" dirty="0">
                <a:solidFill>
                  <a:schemeClr val="bg1">
                    <a:lumMod val="50000"/>
                  </a:schemeClr>
                </a:solidFill>
                <a:latin typeface="Consolas" panose="020B0609020204030204" pitchFamily="49" charset="0"/>
              </a:rPr>
              <a:t> argument d16</a:t>
            </a:r>
          </a:p>
          <a:p>
            <a:r>
              <a:rPr lang="en-US" dirty="0">
                <a:latin typeface="Consolas" panose="020B0609020204030204" pitchFamily="49" charset="0"/>
              </a:rPr>
              <a:t>  </a:t>
            </a:r>
            <a:r>
              <a:rPr lang="en-US" b="1" dirty="0">
                <a:solidFill>
                  <a:srgbClr val="0041FF"/>
                </a:solidFill>
                <a:latin typeface="Consolas" panose="020B0609020204030204" pitchFamily="49" charset="0"/>
              </a:rPr>
              <a:t>BL   sum     </a:t>
            </a:r>
            <a:r>
              <a:rPr lang="en-US" dirty="0">
                <a:solidFill>
                  <a:srgbClr val="FF0000"/>
                </a:solidFill>
                <a:latin typeface="Consolas" panose="020B0609020204030204" pitchFamily="49" charset="0"/>
              </a:rPr>
              <a:t>; result is returned in r0</a:t>
            </a:r>
          </a:p>
          <a:p>
            <a:r>
              <a:rPr lang="en-US" dirty="0">
                <a:latin typeface="Consolas" panose="020B0609020204030204" pitchFamily="49" charset="0"/>
              </a:rPr>
              <a:t>  ADDS </a:t>
            </a:r>
            <a:r>
              <a:rPr lang="en-US" b="1" dirty="0">
                <a:solidFill>
                  <a:srgbClr val="FF0000"/>
                </a:solidFill>
                <a:latin typeface="Consolas" panose="020B0609020204030204" pitchFamily="49" charset="0"/>
              </a:rPr>
              <a:t>r0</a:t>
            </a:r>
            <a:r>
              <a:rPr lang="en-US" dirty="0">
                <a:latin typeface="Consolas" panose="020B0609020204030204" pitchFamily="49" charset="0"/>
              </a:rPr>
              <a:t>, </a:t>
            </a:r>
            <a:r>
              <a:rPr lang="en-US" b="1" dirty="0">
                <a:solidFill>
                  <a:srgbClr val="FF0000"/>
                </a:solidFill>
                <a:latin typeface="Consolas" panose="020B0609020204030204" pitchFamily="49" charset="0"/>
              </a:rPr>
              <a:t>r0</a:t>
            </a:r>
            <a:r>
              <a:rPr lang="en-US" dirty="0">
                <a:latin typeface="Consolas" panose="020B0609020204030204" pitchFamily="49" charset="0"/>
              </a:rPr>
              <a:t>, #100</a:t>
            </a:r>
          </a:p>
        </p:txBody>
      </p:sp>
    </p:spTree>
    <p:extLst>
      <p:ext uri="{BB962C8B-B14F-4D97-AF65-F5344CB8AC3E}">
        <p14:creationId xmlns:p14="http://schemas.microsoft.com/office/powerpoint/2010/main" val="392251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9624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a[31:0]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b[31:0]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b[63:32]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962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52800" y="8534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8" name="Rectangle 7">
            <a:extLst>
              <a:ext uri="{FF2B5EF4-FFF2-40B4-BE49-F238E27FC236}">
                <a16:creationId xmlns:a16="http://schemas.microsoft.com/office/drawing/2014/main" id="{FDE727B4-C042-F646-BF3F-B4BCAD61B53E}"/>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66D4C8F7-6418-C140-96E8-99A2AB9EAF27}"/>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0" name="TextBox 9">
            <a:extLst>
              <a:ext uri="{FF2B5EF4-FFF2-40B4-BE49-F238E27FC236}">
                <a16:creationId xmlns:a16="http://schemas.microsoft.com/office/drawing/2014/main" id="{05F660CA-A120-AB4F-B76A-D3190A48EA58}"/>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r1:r0</a:t>
            </a:r>
          </a:p>
          <a:p>
            <a:r>
              <a:rPr lang="en-US" dirty="0">
                <a:latin typeface="Consolas" panose="020B0609020204030204" pitchFamily="49" charset="0"/>
              </a:rPr>
              <a:t>    ENDP</a:t>
            </a:r>
          </a:p>
        </p:txBody>
      </p:sp>
      <p:sp>
        <p:nvSpPr>
          <p:cNvPr id="11" name="TextBox 10">
            <a:extLst>
              <a:ext uri="{FF2B5EF4-FFF2-40B4-BE49-F238E27FC236}">
                <a16:creationId xmlns:a16="http://schemas.microsoft.com/office/drawing/2014/main" id="{141AAA30-E1C9-1E49-974A-B4D92D815526}"/>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2" name="TextBox 11">
            <a:extLst>
              <a:ext uri="{FF2B5EF4-FFF2-40B4-BE49-F238E27FC236}">
                <a16:creationId xmlns:a16="http://schemas.microsoft.com/office/drawing/2014/main" id="{DE8A0CD9-66E6-C74C-8EAB-EF643F5DC4C3}"/>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3" name="TextBox 12">
            <a:extLst>
              <a:ext uri="{FF2B5EF4-FFF2-40B4-BE49-F238E27FC236}">
                <a16:creationId xmlns:a16="http://schemas.microsoft.com/office/drawing/2014/main" id="{525F8BC0-91B9-8E4A-94E3-CE9ADB8961E0}"/>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4" name="TextBox 13">
            <a:extLst>
              <a:ext uri="{FF2B5EF4-FFF2-40B4-BE49-F238E27FC236}">
                <a16:creationId xmlns:a16="http://schemas.microsoft.com/office/drawing/2014/main" id="{1BD34393-69FD-684C-92AD-6521AA9AA529}"/>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5" name="TextBox 14">
            <a:extLst>
              <a:ext uri="{FF2B5EF4-FFF2-40B4-BE49-F238E27FC236}">
                <a16:creationId xmlns:a16="http://schemas.microsoft.com/office/drawing/2014/main" id="{274A7EAF-F3DC-584E-90EB-C87DAF4AC068}"/>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6" name="TextBox 15">
            <a:extLst>
              <a:ext uri="{FF2B5EF4-FFF2-40B4-BE49-F238E27FC236}">
                <a16:creationId xmlns:a16="http://schemas.microsoft.com/office/drawing/2014/main" id="{D70D6ECC-11E1-4248-9DE4-7A8D5CB8A29D}"/>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cxnSp>
        <p:nvCxnSpPr>
          <p:cNvPr id="17" name="Straight Connector 16">
            <a:extLst>
              <a:ext uri="{FF2B5EF4-FFF2-40B4-BE49-F238E27FC236}">
                <a16:creationId xmlns:a16="http://schemas.microsoft.com/office/drawing/2014/main" id="{691FCF8E-ECCB-D545-BDD2-F9B97B55EA7B}"/>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835B2563-9331-8145-8AF8-6EB1BD937771}"/>
              </a:ext>
            </a:extLst>
          </p:cNvPr>
          <p:cNvGrpSpPr/>
          <p:nvPr/>
        </p:nvGrpSpPr>
        <p:grpSpPr>
          <a:xfrm>
            <a:off x="6388684" y="4785928"/>
            <a:ext cx="162732" cy="152399"/>
            <a:chOff x="6619068" y="533400"/>
            <a:chExt cx="162732" cy="152399"/>
          </a:xfrm>
        </p:grpSpPr>
        <p:cxnSp>
          <p:nvCxnSpPr>
            <p:cNvPr id="19" name="Straight Connector 18">
              <a:extLst>
                <a:ext uri="{FF2B5EF4-FFF2-40B4-BE49-F238E27FC236}">
                  <a16:creationId xmlns:a16="http://schemas.microsoft.com/office/drawing/2014/main" id="{E279ACFE-7110-C041-929D-01862FDDEE77}"/>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61C607C-48AF-F34F-AEB1-AB6BAEB10B7D}"/>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381D5371-373B-514B-A5EA-827963D10E29}"/>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2" name="TextBox 21">
            <a:extLst>
              <a:ext uri="{FF2B5EF4-FFF2-40B4-BE49-F238E27FC236}">
                <a16:creationId xmlns:a16="http://schemas.microsoft.com/office/drawing/2014/main" id="{EE911824-3DA7-7C40-8CAF-481D2638D1E8}"/>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3" name="TextBox 22">
            <a:extLst>
              <a:ext uri="{FF2B5EF4-FFF2-40B4-BE49-F238E27FC236}">
                <a16:creationId xmlns:a16="http://schemas.microsoft.com/office/drawing/2014/main" id="{BF975B88-8A77-584F-A995-0A12915034B2}"/>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4" name="TextBox 23">
            <a:extLst>
              <a:ext uri="{FF2B5EF4-FFF2-40B4-BE49-F238E27FC236}">
                <a16:creationId xmlns:a16="http://schemas.microsoft.com/office/drawing/2014/main" id="{8180D417-4A1D-1B40-9F74-D8B3023DB4DA}"/>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5" name="TextBox 24">
            <a:extLst>
              <a:ext uri="{FF2B5EF4-FFF2-40B4-BE49-F238E27FC236}">
                <a16:creationId xmlns:a16="http://schemas.microsoft.com/office/drawing/2014/main" id="{7A4EF0B1-48BF-554A-8B9F-EB3410DEFDBB}"/>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6" name="Arc 25">
            <a:extLst>
              <a:ext uri="{FF2B5EF4-FFF2-40B4-BE49-F238E27FC236}">
                <a16:creationId xmlns:a16="http://schemas.microsoft.com/office/drawing/2014/main" id="{FF23FD44-F006-634C-A702-0A5B633320A9}"/>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5C8D0295-EDE9-AE43-9C37-9726F78740D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28" name="Group 27">
            <a:extLst>
              <a:ext uri="{FF2B5EF4-FFF2-40B4-BE49-F238E27FC236}">
                <a16:creationId xmlns:a16="http://schemas.microsoft.com/office/drawing/2014/main" id="{BCD8E051-3F18-5944-A863-9E8D573742D3}"/>
              </a:ext>
            </a:extLst>
          </p:cNvPr>
          <p:cNvGrpSpPr/>
          <p:nvPr/>
        </p:nvGrpSpPr>
        <p:grpSpPr>
          <a:xfrm>
            <a:off x="6829938" y="4052765"/>
            <a:ext cx="1539944" cy="76200"/>
            <a:chOff x="4556056" y="1828800"/>
            <a:chExt cx="1539944" cy="76200"/>
          </a:xfrm>
        </p:grpSpPr>
        <p:cxnSp>
          <p:nvCxnSpPr>
            <p:cNvPr id="29" name="Straight Connector 28">
              <a:extLst>
                <a:ext uri="{FF2B5EF4-FFF2-40B4-BE49-F238E27FC236}">
                  <a16:creationId xmlns:a16="http://schemas.microsoft.com/office/drawing/2014/main" id="{4F727DF6-63F4-FA4C-9030-3B15EED42F8A}"/>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E94B37E-6D9C-C742-AF43-E3D63A104205}"/>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EB93783-CE10-6543-9C70-F2319C728C2A}"/>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253F4E18-C0B9-8047-B391-BEBC1E244455}"/>
              </a:ext>
            </a:extLst>
          </p:cNvPr>
          <p:cNvGrpSpPr/>
          <p:nvPr/>
        </p:nvGrpSpPr>
        <p:grpSpPr>
          <a:xfrm>
            <a:off x="8540283" y="4052765"/>
            <a:ext cx="1539944" cy="76200"/>
            <a:chOff x="4556056" y="1828800"/>
            <a:chExt cx="1539944" cy="76200"/>
          </a:xfrm>
        </p:grpSpPr>
        <p:cxnSp>
          <p:nvCxnSpPr>
            <p:cNvPr id="33" name="Straight Connector 32">
              <a:extLst>
                <a:ext uri="{FF2B5EF4-FFF2-40B4-BE49-F238E27FC236}">
                  <a16:creationId xmlns:a16="http://schemas.microsoft.com/office/drawing/2014/main" id="{DD7FA40F-48E3-034F-9815-1E2D1C74EF53}"/>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3C4DBC0-7EA0-AD41-99C1-89A43DCD92CF}"/>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B41DD62-BE35-D447-A8D4-C0D140232CD3}"/>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857C7081-C4B9-1248-97B6-F202E4757A5A}"/>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469778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8100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sum[31:0]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sum[63:32]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81000"/>
            <a:ext cx="304800" cy="762000"/>
          </a:xfrm>
          <a:prstGeom prst="rightBrace">
            <a:avLst>
              <a:gd name="adj1" fmla="val 30095"/>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62178" y="457200"/>
            <a:ext cx="1981200" cy="646331"/>
          </a:xfrm>
          <a:prstGeom prst="rect">
            <a:avLst/>
          </a:prstGeom>
          <a:noFill/>
        </p:spPr>
        <p:txBody>
          <a:bodyPr wrap="square" rtlCol="0">
            <a:spAutoFit/>
          </a:bodyPr>
          <a:lstStyle/>
          <a:p>
            <a:r>
              <a:rPr lang="en-US" dirty="0">
                <a:solidFill>
                  <a:srgbClr val="C00000"/>
                </a:solidFill>
              </a:rPr>
              <a:t>Returning sum from a subroutine</a:t>
            </a:r>
          </a:p>
        </p:txBody>
      </p:sp>
      <p:sp>
        <p:nvSpPr>
          <p:cNvPr id="10" name="Rectangle 9">
            <a:extLst>
              <a:ext uri="{FF2B5EF4-FFF2-40B4-BE49-F238E27FC236}">
                <a16:creationId xmlns:a16="http://schemas.microsoft.com/office/drawing/2014/main" id="{75FE9609-F125-AC4E-BB33-43A3A3FF8BDB}"/>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11" name="TextBox 10">
            <a:extLst>
              <a:ext uri="{FF2B5EF4-FFF2-40B4-BE49-F238E27FC236}">
                <a16:creationId xmlns:a16="http://schemas.microsoft.com/office/drawing/2014/main" id="{D30B5EF8-9C42-1942-AF11-B5711717C330}"/>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2" name="TextBox 11">
            <a:extLst>
              <a:ext uri="{FF2B5EF4-FFF2-40B4-BE49-F238E27FC236}">
                <a16:creationId xmlns:a16="http://schemas.microsoft.com/office/drawing/2014/main" id="{2983D428-7FC0-D545-A6C8-868DDACE7356}"/>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a:t>
            </a:r>
            <a:r>
              <a:rPr lang="en-US" dirty="0">
                <a:solidFill>
                  <a:srgbClr val="C00000"/>
                </a:solidFill>
                <a:latin typeface="Consolas" panose="020B0609020204030204" pitchFamily="49" charset="0"/>
              </a:rPr>
              <a:t>r1:r0</a:t>
            </a:r>
          </a:p>
          <a:p>
            <a:r>
              <a:rPr lang="en-US" dirty="0">
                <a:latin typeface="Consolas" panose="020B0609020204030204" pitchFamily="49" charset="0"/>
              </a:rPr>
              <a:t>    ENDP</a:t>
            </a:r>
          </a:p>
        </p:txBody>
      </p:sp>
      <p:sp>
        <p:nvSpPr>
          <p:cNvPr id="13" name="TextBox 12">
            <a:extLst>
              <a:ext uri="{FF2B5EF4-FFF2-40B4-BE49-F238E27FC236}">
                <a16:creationId xmlns:a16="http://schemas.microsoft.com/office/drawing/2014/main" id="{497FE4F1-85C8-C846-9C55-5D923EB6882A}"/>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4" name="TextBox 13">
            <a:extLst>
              <a:ext uri="{FF2B5EF4-FFF2-40B4-BE49-F238E27FC236}">
                <a16:creationId xmlns:a16="http://schemas.microsoft.com/office/drawing/2014/main" id="{0919B580-A849-FF43-BF43-BFCA7486FC50}"/>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5" name="TextBox 14">
            <a:extLst>
              <a:ext uri="{FF2B5EF4-FFF2-40B4-BE49-F238E27FC236}">
                <a16:creationId xmlns:a16="http://schemas.microsoft.com/office/drawing/2014/main" id="{3944ECB8-9B10-D341-83D3-95A1A10AA1CE}"/>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6" name="TextBox 15">
            <a:extLst>
              <a:ext uri="{FF2B5EF4-FFF2-40B4-BE49-F238E27FC236}">
                <a16:creationId xmlns:a16="http://schemas.microsoft.com/office/drawing/2014/main" id="{21E9F957-696D-4646-B0DD-BEE75BFAC00B}"/>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7" name="TextBox 16">
            <a:extLst>
              <a:ext uri="{FF2B5EF4-FFF2-40B4-BE49-F238E27FC236}">
                <a16:creationId xmlns:a16="http://schemas.microsoft.com/office/drawing/2014/main" id="{8C686DA1-527D-C74D-914A-0E9EC465C8DB}"/>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8" name="TextBox 17">
            <a:extLst>
              <a:ext uri="{FF2B5EF4-FFF2-40B4-BE49-F238E27FC236}">
                <a16:creationId xmlns:a16="http://schemas.microsoft.com/office/drawing/2014/main" id="{001A2A9E-1D80-B648-9B6B-B5AF8DEECEEB}"/>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a:latin typeface="Consolas" panose="020B0609020204030204" pitchFamily="49" charset="0"/>
              </a:rPr>
              <a:t>r0</a:t>
            </a:r>
            <a:endParaRPr lang="en-US" dirty="0">
              <a:latin typeface="Consolas" panose="020B0609020204030204" pitchFamily="49" charset="0"/>
            </a:endParaRPr>
          </a:p>
        </p:txBody>
      </p:sp>
      <p:cxnSp>
        <p:nvCxnSpPr>
          <p:cNvPr id="19" name="Straight Connector 18">
            <a:extLst>
              <a:ext uri="{FF2B5EF4-FFF2-40B4-BE49-F238E27FC236}">
                <a16:creationId xmlns:a16="http://schemas.microsoft.com/office/drawing/2014/main" id="{8E42E96E-60EA-0A45-9627-D5C21234BF78}"/>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3786DBF2-071E-DD4B-9A7A-E3BEC600B792}"/>
              </a:ext>
            </a:extLst>
          </p:cNvPr>
          <p:cNvGrpSpPr/>
          <p:nvPr/>
        </p:nvGrpSpPr>
        <p:grpSpPr>
          <a:xfrm>
            <a:off x="6388684" y="4785928"/>
            <a:ext cx="162732" cy="152399"/>
            <a:chOff x="6619068" y="533400"/>
            <a:chExt cx="162732" cy="152399"/>
          </a:xfrm>
        </p:grpSpPr>
        <p:cxnSp>
          <p:nvCxnSpPr>
            <p:cNvPr id="21" name="Straight Connector 20">
              <a:extLst>
                <a:ext uri="{FF2B5EF4-FFF2-40B4-BE49-F238E27FC236}">
                  <a16:creationId xmlns:a16="http://schemas.microsoft.com/office/drawing/2014/main" id="{69E9F5AB-1BEF-DE48-A684-21E739565C28}"/>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2F2ACB-03D5-384D-96DC-2E1693629FFE}"/>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46E207D4-5E2C-3F44-8B62-DDEC0F70BDDB}"/>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4" name="TextBox 23">
            <a:extLst>
              <a:ext uri="{FF2B5EF4-FFF2-40B4-BE49-F238E27FC236}">
                <a16:creationId xmlns:a16="http://schemas.microsoft.com/office/drawing/2014/main" id="{85B9754B-BF95-1D49-BF04-41CEB29C7B3C}"/>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5" name="TextBox 24">
            <a:extLst>
              <a:ext uri="{FF2B5EF4-FFF2-40B4-BE49-F238E27FC236}">
                <a16:creationId xmlns:a16="http://schemas.microsoft.com/office/drawing/2014/main" id="{671F561E-A609-AA4F-91FE-68355A330BE5}"/>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6" name="TextBox 25">
            <a:extLst>
              <a:ext uri="{FF2B5EF4-FFF2-40B4-BE49-F238E27FC236}">
                <a16:creationId xmlns:a16="http://schemas.microsoft.com/office/drawing/2014/main" id="{13DF1C58-2983-A64D-8C12-D3B3AB438777}"/>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7" name="TextBox 26">
            <a:extLst>
              <a:ext uri="{FF2B5EF4-FFF2-40B4-BE49-F238E27FC236}">
                <a16:creationId xmlns:a16="http://schemas.microsoft.com/office/drawing/2014/main" id="{E06EF393-70CA-EC46-966A-62BF6BFEB978}"/>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8" name="Arc 27">
            <a:extLst>
              <a:ext uri="{FF2B5EF4-FFF2-40B4-BE49-F238E27FC236}">
                <a16:creationId xmlns:a16="http://schemas.microsoft.com/office/drawing/2014/main" id="{2ECA4119-7536-E94E-B500-1DF43524474A}"/>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6E18F14C-BE7E-8F45-8D93-5BF9B347309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30" name="Group 29">
            <a:extLst>
              <a:ext uri="{FF2B5EF4-FFF2-40B4-BE49-F238E27FC236}">
                <a16:creationId xmlns:a16="http://schemas.microsoft.com/office/drawing/2014/main" id="{8289A1F4-C659-A643-838E-99FE07644230}"/>
              </a:ext>
            </a:extLst>
          </p:cNvPr>
          <p:cNvGrpSpPr/>
          <p:nvPr/>
        </p:nvGrpSpPr>
        <p:grpSpPr>
          <a:xfrm>
            <a:off x="6829938" y="4052765"/>
            <a:ext cx="1539944" cy="76200"/>
            <a:chOff x="4556056" y="1828800"/>
            <a:chExt cx="1539944" cy="76200"/>
          </a:xfrm>
        </p:grpSpPr>
        <p:cxnSp>
          <p:nvCxnSpPr>
            <p:cNvPr id="31" name="Straight Connector 30">
              <a:extLst>
                <a:ext uri="{FF2B5EF4-FFF2-40B4-BE49-F238E27FC236}">
                  <a16:creationId xmlns:a16="http://schemas.microsoft.com/office/drawing/2014/main" id="{B7DBC696-AFD9-344D-965E-47F7A091843D}"/>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B658C7-D124-854D-8863-D82B021B181C}"/>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1B8E935-3656-5E46-B0DB-0F244E97C170}"/>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E96A892C-5EF2-5246-AE71-4FF8FDD41376}"/>
              </a:ext>
            </a:extLst>
          </p:cNvPr>
          <p:cNvGrpSpPr/>
          <p:nvPr/>
        </p:nvGrpSpPr>
        <p:grpSpPr>
          <a:xfrm>
            <a:off x="8540283" y="4052765"/>
            <a:ext cx="1539944" cy="76200"/>
            <a:chOff x="4556056" y="1828800"/>
            <a:chExt cx="1539944" cy="76200"/>
          </a:xfrm>
        </p:grpSpPr>
        <p:cxnSp>
          <p:nvCxnSpPr>
            <p:cNvPr id="35" name="Straight Connector 34">
              <a:extLst>
                <a:ext uri="{FF2B5EF4-FFF2-40B4-BE49-F238E27FC236}">
                  <a16:creationId xmlns:a16="http://schemas.microsoft.com/office/drawing/2014/main" id="{3764F5D0-25E7-CC43-9CEF-2F2FF066F326}"/>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12278A-B28F-E84B-8027-169939DF8B36}"/>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DE3D017-B767-464A-90B5-35259A800656}"/>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3FA6298E-CBB6-514A-BC75-E6CD80C54FB9}"/>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642243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ADDS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sp>
        <p:nvSpPr>
          <p:cNvPr id="37" name="TextBox 36">
            <a:extLst>
              <a:ext uri="{FF2B5EF4-FFF2-40B4-BE49-F238E27FC236}">
                <a16:creationId xmlns:a16="http://schemas.microsoft.com/office/drawing/2014/main" id="{E34488A5-6225-F547-A262-A648155714BC}"/>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Tree>
    <p:extLst>
      <p:ext uri="{BB962C8B-B14F-4D97-AF65-F5344CB8AC3E}">
        <p14:creationId xmlns:p14="http://schemas.microsoft.com/office/powerpoint/2010/main" val="540689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ADDS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3" name="TextBox 12">
            <a:extLst>
              <a:ext uri="{FF2B5EF4-FFF2-40B4-BE49-F238E27FC236}">
                <a16:creationId xmlns:a16="http://schemas.microsoft.com/office/drawing/2014/main" id="{C2B0675F-8DD2-D74E-82D9-13AFF125F60A}"/>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1837320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ADDS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4" name="TextBox 13">
            <a:extLst>
              <a:ext uri="{FF2B5EF4-FFF2-40B4-BE49-F238E27FC236}">
                <a16:creationId xmlns:a16="http://schemas.microsoft.com/office/drawing/2014/main" id="{E9914617-8C42-6540-B1AA-1DD5CCCA59D0}"/>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645023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11" name="Rectangle 10"/>
          <p:cNvSpPr/>
          <p:nvPr/>
        </p:nvSpPr>
        <p:spPr>
          <a:xfrm>
            <a:off x="1981200" y="1279413"/>
            <a:ext cx="9163050" cy="923330"/>
          </a:xfrm>
          <a:prstGeom prst="rect">
            <a:avLst/>
          </a:prstGeom>
        </p:spPr>
        <p:txBody>
          <a:bodyPr wrap="square">
            <a:spAutoFit/>
          </a:bodyPr>
          <a:lstStyle/>
          <a:p>
            <a:r>
              <a:rPr lang="en-US" b="1" dirty="0">
                <a:latin typeface="Consolas" panose="020B0609020204030204" pitchFamily="49" charset="0"/>
              </a:rPr>
              <a:t>uint32_t s32;</a:t>
            </a:r>
          </a:p>
          <a:p>
            <a:endParaRPr lang="en-US" b="1" dirty="0">
              <a:latin typeface="Consolas" panose="020B0609020204030204" pitchFamily="49" charset="0"/>
            </a:endParaRPr>
          </a:p>
          <a:p>
            <a:r>
              <a:rPr lang="en-US" b="1" dirty="0">
                <a:latin typeface="Consolas" panose="020B0609020204030204" pitchFamily="49" charset="0"/>
              </a:rPr>
              <a:t>uint32_t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uint8_t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23" name="Rectangle 22"/>
          <p:cNvSpPr/>
          <p:nvPr/>
        </p:nvSpPr>
        <p:spPr>
          <a:xfrm>
            <a:off x="2000250" y="2369671"/>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s32 = sum(1, 2, 3, 4) + 100;</a:t>
            </a:r>
          </a:p>
        </p:txBody>
      </p:sp>
      <p:sp>
        <p:nvSpPr>
          <p:cNvPr id="15" name="TextBox 14"/>
          <p:cNvSpPr txBox="1"/>
          <p:nvPr/>
        </p:nvSpPr>
        <p:spPr>
          <a:xfrm>
            <a:off x="2743201" y="3048000"/>
            <a:ext cx="6009979"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1</a:t>
            </a:r>
            <a:r>
              <a:rPr lang="en-US" baseline="30000" dirty="0">
                <a:solidFill>
                  <a:schemeClr val="bg1">
                    <a:lumMod val="50000"/>
                  </a:schemeClr>
                </a:solidFill>
                <a:latin typeface="Consolas" panose="020B0609020204030204" pitchFamily="49" charset="0"/>
              </a:rPr>
              <a:t>st</a:t>
            </a:r>
            <a:r>
              <a:rPr lang="en-US" dirty="0">
                <a:solidFill>
                  <a:schemeClr val="bg1">
                    <a:lumMod val="50000"/>
                  </a:schemeClr>
                </a:solidFill>
                <a:latin typeface="Consolas" panose="020B0609020204030204" pitchFamily="49" charset="0"/>
              </a:rPr>
              <a:t> argument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2</a:t>
            </a:r>
            <a:r>
              <a:rPr lang="en-US" baseline="30000" dirty="0">
                <a:solidFill>
                  <a:schemeClr val="bg1">
                    <a:lumMod val="50000"/>
                  </a:schemeClr>
                </a:solidFill>
                <a:latin typeface="Consolas" panose="020B0609020204030204" pitchFamily="49" charset="0"/>
              </a:rPr>
              <a:t>nd</a:t>
            </a:r>
            <a:r>
              <a:rPr lang="en-US" dirty="0">
                <a:solidFill>
                  <a:schemeClr val="bg1">
                    <a:lumMod val="50000"/>
                  </a:schemeClr>
                </a:solidFill>
                <a:latin typeface="Consolas" panose="020B0609020204030204" pitchFamily="49" charset="0"/>
              </a:rPr>
              <a:t> argument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3</a:t>
            </a:r>
            <a:r>
              <a:rPr lang="en-US" baseline="30000" dirty="0">
                <a:solidFill>
                  <a:schemeClr val="bg1">
                    <a:lumMod val="50000"/>
                  </a:schemeClr>
                </a:solidFill>
                <a:latin typeface="Consolas" panose="020B0609020204030204" pitchFamily="49" charset="0"/>
              </a:rPr>
              <a:t>rd</a:t>
            </a:r>
            <a:r>
              <a:rPr lang="en-US" dirty="0">
                <a:solidFill>
                  <a:schemeClr val="bg1">
                    <a:lumMod val="50000"/>
                  </a:schemeClr>
                </a:solidFill>
                <a:latin typeface="Consolas" panose="020B0609020204030204" pitchFamily="49" charset="0"/>
              </a:rPr>
              <a:t> argument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4</a:t>
            </a:r>
            <a:r>
              <a:rPr lang="en-US" baseline="30000" dirty="0">
                <a:solidFill>
                  <a:schemeClr val="bg1">
                    <a:lumMod val="50000"/>
                  </a:schemeClr>
                </a:solidFill>
                <a:latin typeface="Consolas" panose="020B0609020204030204" pitchFamily="49" charset="0"/>
              </a:rPr>
              <a:t>th</a:t>
            </a:r>
            <a:r>
              <a:rPr lang="en-US" dirty="0">
                <a:solidFill>
                  <a:schemeClr val="bg1">
                    <a:lumMod val="50000"/>
                  </a:schemeClr>
                </a:solidFill>
                <a:latin typeface="Consolas" panose="020B0609020204030204" pitchFamily="49" charset="0"/>
              </a:rPr>
              <a:t> argument d16</a:t>
            </a:r>
          </a:p>
          <a:p>
            <a:r>
              <a:rPr lang="en-US" dirty="0">
                <a:latin typeface="Consolas" panose="020B0609020204030204" pitchFamily="49" charset="0"/>
              </a:rPr>
              <a:t>  </a:t>
            </a:r>
            <a:r>
              <a:rPr lang="en-US" b="1" dirty="0">
                <a:solidFill>
                  <a:srgbClr val="0041FF"/>
                </a:solidFill>
                <a:latin typeface="Consolas" panose="020B0609020204030204" pitchFamily="49" charset="0"/>
              </a:rPr>
              <a:t>BL   sum     </a:t>
            </a:r>
            <a:r>
              <a:rPr lang="en-US" dirty="0">
                <a:solidFill>
                  <a:srgbClr val="FF0000"/>
                </a:solidFill>
                <a:latin typeface="Consolas" panose="020B0609020204030204" pitchFamily="49" charset="0"/>
              </a:rPr>
              <a:t>; result is returned in r0</a:t>
            </a:r>
          </a:p>
          <a:p>
            <a:r>
              <a:rPr lang="en-US" dirty="0">
                <a:latin typeface="Consolas" panose="020B0609020204030204" pitchFamily="49" charset="0"/>
              </a:rPr>
              <a:t>  ADDS </a:t>
            </a:r>
            <a:r>
              <a:rPr lang="en-US" b="1" dirty="0">
                <a:solidFill>
                  <a:srgbClr val="FF0000"/>
                </a:solidFill>
                <a:latin typeface="Consolas" panose="020B0609020204030204" pitchFamily="49" charset="0"/>
              </a:rPr>
              <a:t>r0</a:t>
            </a:r>
            <a:r>
              <a:rPr lang="en-US" dirty="0">
                <a:latin typeface="Consolas" panose="020B0609020204030204" pitchFamily="49" charset="0"/>
              </a:rPr>
              <a:t>, </a:t>
            </a:r>
            <a:r>
              <a:rPr lang="en-US" b="1" dirty="0">
                <a:solidFill>
                  <a:srgbClr val="FF0000"/>
                </a:solidFill>
                <a:latin typeface="Consolas" panose="020B0609020204030204" pitchFamily="49" charset="0"/>
              </a:rPr>
              <a:t>r0</a:t>
            </a:r>
            <a:r>
              <a:rPr lang="en-US" dirty="0">
                <a:latin typeface="Consolas" panose="020B0609020204030204" pitchFamily="49" charset="0"/>
              </a:rPr>
              <a:t>, #100</a:t>
            </a:r>
          </a:p>
          <a:p>
            <a:r>
              <a:rPr lang="en-US" dirty="0">
                <a:latin typeface="Consolas" panose="020B0609020204030204" pitchFamily="49" charset="0"/>
              </a:rPr>
              <a:t>  LDR  r4, =s32  </a:t>
            </a:r>
            <a:r>
              <a:rPr lang="en-US" dirty="0">
                <a:solidFill>
                  <a:schemeClr val="bg1">
                    <a:lumMod val="50000"/>
                  </a:schemeClr>
                </a:solidFill>
                <a:latin typeface="Consolas" panose="020B0609020204030204" pitchFamily="49" charset="0"/>
              </a:rPr>
              <a:t>; Get memory address of s32</a:t>
            </a:r>
          </a:p>
          <a:p>
            <a:r>
              <a:rPr lang="en-US" dirty="0">
                <a:latin typeface="Consolas" panose="020B0609020204030204" pitchFamily="49" charset="0"/>
              </a:rPr>
              <a:t>  STR  </a:t>
            </a:r>
            <a:r>
              <a:rPr lang="en-US" b="1" dirty="0">
                <a:solidFill>
                  <a:srgbClr val="FF0000"/>
                </a:solidFill>
                <a:latin typeface="Consolas" panose="020B0609020204030204" pitchFamily="49" charset="0"/>
              </a:rPr>
              <a:t>r0</a:t>
            </a:r>
            <a:r>
              <a:rPr lang="en-US" dirty="0">
                <a:latin typeface="Consolas" panose="020B0609020204030204" pitchFamily="49" charset="0"/>
              </a:rPr>
              <a:t>, [r4]  </a:t>
            </a:r>
            <a:r>
              <a:rPr lang="en-US" dirty="0">
                <a:solidFill>
                  <a:schemeClr val="bg1">
                    <a:lumMod val="50000"/>
                  </a:schemeClr>
                </a:solidFill>
                <a:latin typeface="Consolas" panose="020B0609020204030204" pitchFamily="49" charset="0"/>
              </a:rPr>
              <a:t>; Save returned result to s32</a:t>
            </a:r>
          </a:p>
        </p:txBody>
      </p:sp>
    </p:spTree>
    <p:extLst>
      <p:ext uri="{BB962C8B-B14F-4D97-AF65-F5344CB8AC3E}">
        <p14:creationId xmlns:p14="http://schemas.microsoft.com/office/powerpoint/2010/main" val="3349032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85097-619C-E443-980E-A5F8C0665733}"/>
              </a:ext>
            </a:extLst>
          </p:cNvPr>
          <p:cNvSpPr>
            <a:spLocks noGrp="1"/>
          </p:cNvSpPr>
          <p:nvPr>
            <p:ph type="title"/>
          </p:nvPr>
        </p:nvSpPr>
        <p:spPr/>
        <p:txBody>
          <a:bodyPr/>
          <a:lstStyle/>
          <a:p>
            <a:r>
              <a:rPr lang="en-US" dirty="0"/>
              <a:t>Calling Assembly Subroutine in C</a:t>
            </a:r>
          </a:p>
        </p:txBody>
      </p:sp>
      <p:sp>
        <p:nvSpPr>
          <p:cNvPr id="3" name="Slide Number Placeholder 2">
            <a:extLst>
              <a:ext uri="{FF2B5EF4-FFF2-40B4-BE49-F238E27FC236}">
                <a16:creationId xmlns:a16="http://schemas.microsoft.com/office/drawing/2014/main" id="{F53A954D-9724-1F4A-B3BA-1554CFD57F97}"/>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68440758-091B-E242-AF67-30A6152C0BDA}"/>
              </a:ext>
            </a:extLst>
          </p:cNvPr>
          <p:cNvSpPr>
            <a:spLocks noGrp="1"/>
          </p:cNvSpPr>
          <p:nvPr>
            <p:ph sz="quarter" idx="1"/>
          </p:nvPr>
        </p:nvSpPr>
        <p:spPr>
          <a:xfrm>
            <a:off x="609600" y="1219200"/>
            <a:ext cx="10972800" cy="990600"/>
          </a:xfrm>
        </p:spPr>
        <p:txBody>
          <a:bodyPr/>
          <a:lstStyle/>
          <a:p>
            <a:r>
              <a:rPr lang="en-US" dirty="0"/>
              <a:t>If your assembly code follows the procedure call standard, a C code can call an assembly subroutine, and vice versa. </a:t>
            </a:r>
          </a:p>
        </p:txBody>
      </p:sp>
      <p:sp>
        <p:nvSpPr>
          <p:cNvPr id="5" name="Rectangle 4">
            <a:extLst>
              <a:ext uri="{FF2B5EF4-FFF2-40B4-BE49-F238E27FC236}">
                <a16:creationId xmlns:a16="http://schemas.microsoft.com/office/drawing/2014/main" id="{B8B19C33-A451-3947-9905-E0CACA2A4813}"/>
              </a:ext>
            </a:extLst>
          </p:cNvPr>
          <p:cNvSpPr/>
          <p:nvPr/>
        </p:nvSpPr>
        <p:spPr>
          <a:xfrm>
            <a:off x="609600" y="2743200"/>
            <a:ext cx="6629400" cy="2800767"/>
          </a:xfrm>
          <a:prstGeom prst="rect">
            <a:avLst/>
          </a:prstGeom>
          <a:ln w="19050">
            <a:solidFill>
              <a:schemeClr val="accent1"/>
            </a:solidFill>
          </a:ln>
        </p:spPr>
        <p:txBody>
          <a:bodyPr wrap="square">
            <a:spAutoFit/>
          </a:bodyPr>
          <a:lstStyle/>
          <a:p>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extern</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int main(void){</a:t>
            </a:r>
          </a:p>
          <a:p>
            <a:r>
              <a:rPr lang="en-US" sz="1600" dirty="0">
                <a:latin typeface="Consolas" panose="020B0609020204030204" pitchFamily="49" charset="0"/>
                <a:ea typeface="DengXian" panose="02010600030101010101" pitchFamily="2" charset="-122"/>
                <a:cs typeface="Consolas" panose="020B0609020204030204" pitchFamily="49" charset="0"/>
              </a:rPr>
              <a:t>  int32_t s</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  ...</a:t>
            </a:r>
          </a:p>
          <a:p>
            <a:r>
              <a:rPr lang="en-US" sz="1600" dirty="0">
                <a:latin typeface="Consolas" panose="020B0609020204030204" pitchFamily="49" charset="0"/>
                <a:ea typeface="DengXian" panose="02010600030101010101" pitchFamily="2" charset="-122"/>
                <a:cs typeface="Consolas" panose="020B0609020204030204" pitchFamily="49" charset="0"/>
              </a:rPr>
              <a:t>  s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(-1, -2, -3)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(4, 5, 6);</a:t>
            </a:r>
          </a:p>
          <a:p>
            <a:r>
              <a:rPr lang="en-US" sz="1600" dirty="0">
                <a:latin typeface="Consolas" panose="020B0609020204030204" pitchFamily="49" charset="0"/>
                <a:ea typeface="DengXian" panose="02010600030101010101" pitchFamily="2" charset="-122"/>
                <a:cs typeface="Consolas" panose="020B0609020204030204" pitchFamily="49" charset="0"/>
              </a:rPr>
              <a:t>  ...</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28DBE5E2-26BB-F74B-90BE-EA9C0B91AA1E}"/>
              </a:ext>
            </a:extLst>
          </p:cNvPr>
          <p:cNvSpPr txBox="1"/>
          <p:nvPr/>
        </p:nvSpPr>
        <p:spPr>
          <a:xfrm>
            <a:off x="7467600" y="3358753"/>
            <a:ext cx="4480891"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solidFill>
                  <a:srgbClr val="C00000"/>
                </a:solidFill>
                <a:latin typeface="Consolas" panose="020B0609020204030204" pitchFamily="49" charset="0"/>
                <a:cs typeface="Consolas" panose="020B0609020204030204" pitchFamily="49" charset="0"/>
              </a:rPr>
              <a:t>sum3</a:t>
            </a:r>
            <a:r>
              <a:rPr lang="en-US" sz="1600" dirty="0">
                <a:latin typeface="Consolas" panose="020B0609020204030204" pitchFamily="49" charset="0"/>
                <a:cs typeface="Consolas" panose="020B0609020204030204" pitchFamily="49" charset="0"/>
              </a:rPr>
              <a:t> PROC</a:t>
            </a:r>
          </a:p>
          <a:p>
            <a:r>
              <a:rPr lang="en-US" sz="1600" dirty="0">
                <a:latin typeface="Consolas" panose="020B0609020204030204" pitchFamily="49" charset="0"/>
                <a:cs typeface="Consolas" panose="020B0609020204030204" pitchFamily="49" charset="0"/>
              </a:rPr>
              <a:t>     EXPORT sum3</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906323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804617933"/>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1</a:t>
                      </a:r>
                      <a:r>
                        <a:rPr lang="en-US" sz="1400" b="0" dirty="0">
                          <a:solidFill>
                            <a:srgbClr val="FF0000"/>
                          </a:solidFill>
                          <a:effectLst/>
                        </a:rPr>
                        <a:t> </a:t>
                      </a:r>
                      <a:r>
                        <a:rPr lang="en-US" sz="1400" b="0" dirty="0">
                          <a:effectLst/>
                        </a:rPr>
                        <a:t>and </a:t>
                      </a:r>
                      <a:r>
                        <a:rPr lang="en-US" sz="1400" b="0" dirty="0">
                          <a:solidFill>
                            <a:srgbClr val="FF0000"/>
                          </a:solidFill>
                          <a:effectLst/>
                        </a:rPr>
                        <a:t>return value</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2</a:t>
                      </a:r>
                      <a:r>
                        <a:rPr lang="en-US" sz="1400" b="0" dirty="0">
                          <a:solidFill>
                            <a:srgbClr val="FF0000"/>
                          </a:solidFill>
                          <a:effectLst/>
                        </a:rPr>
                        <a:t> </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3</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4</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r5</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solidFill>
                            <a:schemeClr val="tx1"/>
                          </a:solidFill>
                          <a:effectLst/>
                          <a:latin typeface="Gill Sans MT (Body)"/>
                          <a:ea typeface="宋体"/>
                          <a:cs typeface="Times New Roman"/>
                        </a:rPr>
                        <a:t>Yes</a:t>
                      </a: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r9</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solidFill>
                            <a:schemeClr val="tx1"/>
                          </a:solidFill>
                          <a:effectLst/>
                          <a:latin typeface="Gill Sans MT (Body)"/>
                          <a:ea typeface="宋体"/>
                          <a:cs typeface="Times New Roman"/>
                        </a:rPr>
                        <a:t>Yes</a:t>
                      </a: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r12 (IP)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r14 (LR)</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effectLst/>
                        </a:rPr>
                        <a:t>Link register</a:t>
                      </a:r>
                      <a:endParaRPr lang="en-US" sz="1800" b="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925431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1322"/>
            <a:ext cx="8229600" cy="990600"/>
          </a:xfrm>
        </p:spPr>
        <p:txBody>
          <a:bodyPr>
            <a:normAutofit fontScale="90000"/>
          </a:bodyPr>
          <a:lstStyle/>
          <a:p>
            <a:r>
              <a:rPr lang="en-US" dirty="0" err="1"/>
              <a:t>Callee</a:t>
            </a:r>
            <a:r>
              <a:rPr lang="en-US" dirty="0"/>
              <a:t> Saved Registers </a:t>
            </a:r>
            <a:r>
              <a:rPr lang="en-US" i="1" dirty="0"/>
              <a:t>vs</a:t>
            </a:r>
            <a:r>
              <a:rPr lang="en-US" dirty="0"/>
              <a:t> </a:t>
            </a:r>
            <a:br>
              <a:rPr lang="en-US" dirty="0"/>
            </a:br>
            <a:r>
              <a:rPr lang="en-US" dirty="0"/>
              <a:t>Caller 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632785682"/>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5448300" y="1742442"/>
            <a:ext cx="5219700" cy="1200329"/>
          </a:xfrm>
          <a:prstGeom prst="rect">
            <a:avLst/>
          </a:prstGeom>
          <a:noFill/>
        </p:spPr>
        <p:txBody>
          <a:bodyPr wrap="square" rtlCol="0">
            <a:spAutoFit/>
          </a:bodyPr>
          <a:lstStyle/>
          <a:p>
            <a:pPr marL="342900" indent="-342900">
              <a:buFont typeface="Arial" panose="020B0604020202020204" pitchFamily="34" charset="0"/>
              <a:buChar char="•"/>
            </a:pPr>
            <a:r>
              <a:rPr lang="en-US" altLang="zh-CN" b="1" dirty="0" err="1">
                <a:solidFill>
                  <a:srgbClr val="0000FF"/>
                </a:solidFill>
              </a:rPr>
              <a:t>Callee</a:t>
            </a:r>
            <a:r>
              <a:rPr lang="en-US" altLang="zh-CN" b="1" dirty="0">
                <a:solidFill>
                  <a:srgbClr val="0000FF"/>
                </a:solidFill>
              </a:rPr>
              <a:t> can freely modify R0, R1, R2, and R3</a:t>
            </a:r>
          </a:p>
          <a:p>
            <a:pPr marL="342900" indent="-342900">
              <a:buFont typeface="Arial" panose="020B0604020202020204" pitchFamily="34" charset="0"/>
              <a:buChar char="•"/>
            </a:pPr>
            <a:r>
              <a:rPr lang="en-US" b="1" dirty="0">
                <a:solidFill>
                  <a:srgbClr val="0000FF"/>
                </a:solidFill>
              </a:rPr>
              <a:t>If caller expects their values are retained, caller should push them onto the stack before calling the </a:t>
            </a:r>
            <a:r>
              <a:rPr lang="en-US" b="1" dirty="0" err="1">
                <a:solidFill>
                  <a:srgbClr val="0000FF"/>
                </a:solidFill>
              </a:rPr>
              <a:t>callee</a:t>
            </a:r>
            <a:endParaRPr lang="en-US" b="1" dirty="0">
              <a:solidFill>
                <a:srgbClr val="0000FF"/>
              </a:solidFill>
            </a:endParaRPr>
          </a:p>
        </p:txBody>
      </p:sp>
      <p:sp>
        <p:nvSpPr>
          <p:cNvPr id="4" name="Rounded Rectangle 3"/>
          <p:cNvSpPr/>
          <p:nvPr/>
        </p:nvSpPr>
        <p:spPr>
          <a:xfrm>
            <a:off x="1752600" y="1828800"/>
            <a:ext cx="3505200"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752600" y="3012260"/>
            <a:ext cx="3505200"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410200" y="3424695"/>
            <a:ext cx="5105400" cy="923330"/>
          </a:xfrm>
          <a:prstGeom prst="rect">
            <a:avLst/>
          </a:prstGeom>
        </p:spPr>
        <p:txBody>
          <a:bodyPr wrap="square">
            <a:spAutoFit/>
          </a:bodyPr>
          <a:lstStyle/>
          <a:p>
            <a:pPr marL="285750" indent="-285750">
              <a:buFont typeface="Arial" panose="020B0604020202020204" pitchFamily="34" charset="0"/>
              <a:buChar char="•"/>
            </a:pPr>
            <a:r>
              <a:rPr lang="en-US" b="1" dirty="0">
                <a:solidFill>
                  <a:srgbClr val="FF0000"/>
                </a:solidFill>
              </a:rPr>
              <a:t>Caller expects these values are retained . </a:t>
            </a:r>
          </a:p>
          <a:p>
            <a:pPr marL="285750" indent="-285750">
              <a:buFont typeface="Arial" panose="020B0604020202020204" pitchFamily="34" charset="0"/>
              <a:buChar char="•"/>
            </a:pPr>
            <a:r>
              <a:rPr lang="en-US" b="1" dirty="0">
                <a:solidFill>
                  <a:srgbClr val="FF0000"/>
                </a:solidFill>
              </a:rPr>
              <a:t>If </a:t>
            </a:r>
            <a:r>
              <a:rPr lang="en-US" b="1" dirty="0" err="1">
                <a:solidFill>
                  <a:srgbClr val="FF0000"/>
                </a:solidFill>
              </a:rPr>
              <a:t>Callee</a:t>
            </a:r>
            <a:r>
              <a:rPr lang="en-US" b="1" dirty="0">
                <a:solidFill>
                  <a:srgbClr val="FF0000"/>
                </a:solidFill>
              </a:rPr>
              <a:t> modifies them, </a:t>
            </a:r>
            <a:r>
              <a:rPr lang="en-US" b="1" dirty="0" err="1">
                <a:solidFill>
                  <a:srgbClr val="FF0000"/>
                </a:solidFill>
              </a:rPr>
              <a:t>callee</a:t>
            </a:r>
            <a:r>
              <a:rPr lang="en-US" b="1" dirty="0">
                <a:solidFill>
                  <a:srgbClr val="FF0000"/>
                </a:solidFill>
              </a:rPr>
              <a:t> must restore their values upon leaving the function. </a:t>
            </a:r>
          </a:p>
        </p:txBody>
      </p:sp>
      <p:sp>
        <p:nvSpPr>
          <p:cNvPr id="6" name="TextBox 5">
            <a:extLst>
              <a:ext uri="{FF2B5EF4-FFF2-40B4-BE49-F238E27FC236}">
                <a16:creationId xmlns:a16="http://schemas.microsoft.com/office/drawing/2014/main" id="{C07B32F7-18FD-CC41-B3AE-C8B15412E8A3}"/>
              </a:ext>
            </a:extLst>
          </p:cNvPr>
          <p:cNvSpPr txBox="1"/>
          <p:nvPr/>
        </p:nvSpPr>
        <p:spPr>
          <a:xfrm>
            <a:off x="1761423" y="1845644"/>
            <a:ext cx="1057977" cy="923330"/>
          </a:xfrm>
          <a:prstGeom prst="rect">
            <a:avLst/>
          </a:prstGeom>
          <a:noFill/>
        </p:spPr>
        <p:txBody>
          <a:bodyPr wrap="square" rtlCol="0">
            <a:spAutoFit/>
          </a:bodyPr>
          <a:lstStyle/>
          <a:p>
            <a:r>
              <a:rPr lang="en-US" dirty="0">
                <a:solidFill>
                  <a:srgbClr val="0041FF"/>
                </a:solidFill>
              </a:rPr>
              <a:t>Caller Saved Registers</a:t>
            </a:r>
          </a:p>
        </p:txBody>
      </p:sp>
      <p:sp>
        <p:nvSpPr>
          <p:cNvPr id="11" name="TextBox 10">
            <a:extLst>
              <a:ext uri="{FF2B5EF4-FFF2-40B4-BE49-F238E27FC236}">
                <a16:creationId xmlns:a16="http://schemas.microsoft.com/office/drawing/2014/main" id="{95E10456-D947-CB47-988A-95C7E0B46A67}"/>
              </a:ext>
            </a:extLst>
          </p:cNvPr>
          <p:cNvSpPr txBox="1"/>
          <p:nvPr/>
        </p:nvSpPr>
        <p:spPr>
          <a:xfrm>
            <a:off x="1761422" y="3357860"/>
            <a:ext cx="1057977" cy="923330"/>
          </a:xfrm>
          <a:prstGeom prst="rect">
            <a:avLst/>
          </a:prstGeom>
          <a:noFill/>
        </p:spPr>
        <p:txBody>
          <a:bodyPr wrap="square" rtlCol="0">
            <a:spAutoFit/>
          </a:bodyPr>
          <a:lstStyle/>
          <a:p>
            <a:r>
              <a:rPr lang="en-US" dirty="0" err="1">
                <a:solidFill>
                  <a:srgbClr val="FF0000"/>
                </a:solidFill>
              </a:rPr>
              <a:t>Callee</a:t>
            </a:r>
            <a:r>
              <a:rPr lang="en-US" dirty="0">
                <a:solidFill>
                  <a:srgbClr val="FF0000"/>
                </a:solidFill>
              </a:rPr>
              <a:t> Saved Registers</a:t>
            </a:r>
          </a:p>
        </p:txBody>
      </p:sp>
      <p:sp>
        <p:nvSpPr>
          <p:cNvPr id="13" name="Rounded Rectangle 12">
            <a:extLst>
              <a:ext uri="{FF2B5EF4-FFF2-40B4-BE49-F238E27FC236}">
                <a16:creationId xmlns:a16="http://schemas.microsoft.com/office/drawing/2014/main" id="{4CA1816A-8921-C142-9A06-038FB767D728}"/>
              </a:ext>
            </a:extLst>
          </p:cNvPr>
          <p:cNvSpPr/>
          <p:nvPr/>
        </p:nvSpPr>
        <p:spPr>
          <a:xfrm>
            <a:off x="1751798" y="5690136"/>
            <a:ext cx="3505200" cy="25346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94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6" grpId="0"/>
      <p:bldP spid="11" grpId="0"/>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006316140"/>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1</a:t>
                      </a:r>
                      <a:r>
                        <a:rPr lang="en-US" sz="1400" b="0" dirty="0">
                          <a:solidFill>
                            <a:schemeClr val="tx1"/>
                          </a:solidFill>
                          <a:effectLst/>
                        </a:rPr>
                        <a:t> and return value</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2</a:t>
                      </a:r>
                      <a:r>
                        <a:rPr lang="en-US" sz="1400" b="0" dirty="0">
                          <a:solidFill>
                            <a:schemeClr val="tx1"/>
                          </a:solidFill>
                          <a:effectLst/>
                        </a:rPr>
                        <a:t> </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3</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4</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r5</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r9</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Yes/No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r12 (IP)</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r14 (LR)</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effectLst/>
                        </a:rPr>
                        <a:t>Link register</a:t>
                      </a:r>
                      <a:endParaRPr lang="en-US" sz="1800" b="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642339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p>
        </p:txBody>
      </p:sp>
      <p:sp>
        <p:nvSpPr>
          <p:cNvPr id="3" name="Content Placeholder 2"/>
          <p:cNvSpPr>
            <a:spLocks noGrp="1"/>
          </p:cNvSpPr>
          <p:nvPr>
            <p:ph idx="1"/>
          </p:nvPr>
        </p:nvSpPr>
        <p:spPr>
          <a:xfrm>
            <a:off x="1981200" y="1219200"/>
            <a:ext cx="4114800" cy="550291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3600" b="1" dirty="0">
                <a:latin typeface="Courier New" pitchFamily="49" charset="0"/>
                <a:cs typeface="Courier New" pitchFamily="49" charset="0"/>
              </a:rPr>
              <a:t>		</a:t>
            </a:r>
            <a:r>
              <a:rPr lang="en-GB" sz="2400" b="1" dirty="0">
                <a:latin typeface="Courier New" pitchFamily="49" charset="0"/>
                <a:cs typeface="Courier New" pitchFamily="49" charset="0"/>
              </a:rPr>
              <a:t>MOV R0,#3</a:t>
            </a:r>
          </a:p>
          <a:p>
            <a:pPr>
              <a:buNone/>
            </a:pPr>
            <a:r>
              <a:rPr lang="en-GB" sz="2400" b="1" dirty="0">
                <a:latin typeface="Courier New" pitchFamily="49" charset="0"/>
                <a:cs typeface="Courier New" pitchFamily="49" charset="0"/>
              </a:rPr>
              <a:t>		MOV R1,#4</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BL  SSQ</a:t>
            </a:r>
          </a:p>
          <a:p>
            <a:pPr>
              <a:buNone/>
            </a:pPr>
            <a:r>
              <a:rPr lang="en-GB" sz="2400" b="1" dirty="0">
                <a:latin typeface="Courier New" pitchFamily="49" charset="0"/>
                <a:cs typeface="Courier New" pitchFamily="49" charset="0"/>
              </a:rPr>
              <a:t>		MOV R2,R0</a:t>
            </a:r>
          </a:p>
          <a:p>
            <a:pPr>
              <a:buNone/>
            </a:pPr>
            <a:r>
              <a:rPr lang="en-GB" sz="2400" b="1" dirty="0">
                <a:latin typeface="Courier New" pitchFamily="49" charset="0"/>
                <a:cs typeface="Courier New" pitchFamily="49" charset="0"/>
              </a:rPr>
              <a:t>		B ENDL</a:t>
            </a:r>
          </a:p>
          <a:p>
            <a:pPr>
              <a:buNone/>
            </a:pPr>
            <a:r>
              <a:rPr lang="en-GB" sz="2400" b="1" dirty="0">
                <a:latin typeface="Courier New" pitchFamily="49" charset="0"/>
                <a:cs typeface="Courier New" pitchFamily="49" charset="0"/>
              </a:rPr>
              <a:t>		...</a:t>
            </a:r>
          </a:p>
          <a:p>
            <a:pPr>
              <a:buNone/>
            </a:pPr>
            <a:r>
              <a:rPr lang="en-GB" sz="2400" b="1" dirty="0">
                <a:latin typeface="Courier New" pitchFamily="49" charset="0"/>
                <a:cs typeface="Courier New" pitchFamily="49" charset="0"/>
              </a:rPr>
              <a:t>SSQ	</a:t>
            </a:r>
            <a:r>
              <a:rPr lang="en-GB" sz="2400" b="1" dirty="0">
                <a:solidFill>
                  <a:schemeClr val="accent5"/>
                </a:solidFill>
                <a:latin typeface="Courier New" pitchFamily="49" charset="0"/>
                <a:cs typeface="Courier New" pitchFamily="49" charset="0"/>
              </a:rPr>
              <a:t>PROC</a:t>
            </a:r>
          </a:p>
          <a:p>
            <a:pPr>
              <a:buNone/>
            </a:pPr>
            <a:r>
              <a:rPr lang="en-GB" sz="2400" b="1" dirty="0">
                <a:latin typeface="Courier New" pitchFamily="49" charset="0"/>
                <a:cs typeface="Courier New" pitchFamily="49" charset="0"/>
              </a:rPr>
              <a:t>		MUL R2,R0,R0 	</a:t>
            </a:r>
          </a:p>
          <a:p>
            <a:pPr>
              <a:buNone/>
            </a:pPr>
            <a:r>
              <a:rPr lang="en-GB" sz="2400" b="1" dirty="0">
                <a:latin typeface="Courier New" pitchFamily="49" charset="0"/>
                <a:cs typeface="Courier New" pitchFamily="49" charset="0"/>
              </a:rPr>
              <a:t>		MUL R3,R1,R1 	</a:t>
            </a:r>
          </a:p>
          <a:p>
            <a:pPr>
              <a:buNone/>
            </a:pPr>
            <a:r>
              <a:rPr lang="en-GB" sz="2400" b="1" dirty="0">
                <a:latin typeface="Courier New" pitchFamily="49" charset="0"/>
                <a:cs typeface="Courier New" pitchFamily="49" charset="0"/>
              </a:rPr>
              <a:t>		ADD R2,R2,R3</a:t>
            </a:r>
          </a:p>
          <a:p>
            <a:pPr>
              <a:buNone/>
            </a:pPr>
            <a:r>
              <a:rPr lang="en-GB" sz="2400" b="1" dirty="0">
                <a:latin typeface="Courier New" pitchFamily="49" charset="0"/>
                <a:cs typeface="Courier New" pitchFamily="49" charset="0"/>
              </a:rPr>
              <a:t>		MOV R0,R2		</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BX LR</a:t>
            </a:r>
          </a:p>
          <a:p>
            <a:pPr>
              <a:buNone/>
            </a:pPr>
            <a:r>
              <a:rPr lang="en-GB" sz="2400" b="1" dirty="0">
                <a:latin typeface="Courier New" pitchFamily="49" charset="0"/>
                <a:cs typeface="Courier New" pitchFamily="49" charset="0"/>
              </a:rPr>
              <a:t>		</a:t>
            </a:r>
            <a:r>
              <a:rPr lang="en-GB" sz="2400" b="1" dirty="0">
                <a:solidFill>
                  <a:schemeClr val="accent5"/>
                </a:solidFill>
                <a:latin typeface="Courier New" pitchFamily="49" charset="0"/>
                <a:cs typeface="Courier New" pitchFamily="49" charset="0"/>
              </a:rPr>
              <a:t>ENDP</a:t>
            </a:r>
          </a:p>
          <a:p>
            <a:pPr>
              <a:buNone/>
            </a:pPr>
            <a:r>
              <a:rPr lang="en-GB" sz="2400" b="1" dirty="0">
                <a:latin typeface="Courier New" pitchFamily="49" charset="0"/>
                <a:cs typeface="Courier New" pitchFamily="49" charset="0"/>
              </a:rPr>
              <a:t>     ...</a:t>
            </a:r>
          </a:p>
          <a:p>
            <a:pPr>
              <a:buNone/>
            </a:pPr>
            <a:endParaRPr lang="en-GB" b="1"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5" name="TextBox 4"/>
          <p:cNvSpPr txBox="1"/>
          <p:nvPr/>
        </p:nvSpPr>
        <p:spPr>
          <a:xfrm>
            <a:off x="6705601" y="3665284"/>
            <a:ext cx="2970685"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SSQ(</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x</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0000FF"/>
                </a:solidFill>
                <a:latin typeface="Consolas" panose="020B0609020204030204" pitchFamily="49" charset="0"/>
                <a:cs typeface="Consolas" panose="020B0609020204030204" pitchFamily="49" charset="0"/>
              </a:rPr>
              <a:t>y</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z;</a:t>
            </a:r>
          </a:p>
          <a:p>
            <a:r>
              <a:rPr lang="en-US" b="1" dirty="0">
                <a:latin typeface="Consolas" panose="020B0609020204030204" pitchFamily="49" charset="0"/>
                <a:cs typeface="Consolas" panose="020B0609020204030204" pitchFamily="49" charset="0"/>
              </a:rPr>
              <a:t>     z = x*x + y*y;</a:t>
            </a:r>
          </a:p>
          <a:p>
            <a:r>
              <a:rPr lang="en-US" b="1" dirty="0">
                <a:latin typeface="Consolas" panose="020B0609020204030204" pitchFamily="49" charset="0"/>
                <a:cs typeface="Consolas" panose="020B0609020204030204" pitchFamily="49" charset="0"/>
              </a:rPr>
              <a:t>     return </a:t>
            </a:r>
            <a:r>
              <a:rPr lang="en-US" b="1" dirty="0">
                <a:solidFill>
                  <a:srgbClr val="FF00FF"/>
                </a:solidFill>
                <a:latin typeface="Consolas" panose="020B0609020204030204" pitchFamily="49" charset="0"/>
                <a:cs typeface="Consolas" panose="020B0609020204030204" pitchFamily="49" charset="0"/>
              </a:rPr>
              <a:t>z</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a:t>
            </a:r>
          </a:p>
        </p:txBody>
      </p:sp>
      <p:sp>
        <p:nvSpPr>
          <p:cNvPr id="10" name="Freeform 9"/>
          <p:cNvSpPr/>
          <p:nvPr/>
        </p:nvSpPr>
        <p:spPr>
          <a:xfrm rot="21318957">
            <a:off x="4941805" y="3241256"/>
            <a:ext cx="3305827" cy="729008"/>
          </a:xfrm>
          <a:custGeom>
            <a:avLst/>
            <a:gdLst>
              <a:gd name="connsiteX0" fmla="*/ 2989089 w 2989089"/>
              <a:gd name="connsiteY0" fmla="*/ 583990 h 591674"/>
              <a:gd name="connsiteX1" fmla="*/ 1452282 w 2989089"/>
              <a:gd name="connsiteY1" fmla="*/ 4 h 591674"/>
              <a:gd name="connsiteX2" fmla="*/ 0 w 2989089"/>
              <a:gd name="connsiteY2" fmla="*/ 591674 h 591674"/>
            </a:gdLst>
            <a:ahLst/>
            <a:cxnLst>
              <a:cxn ang="0">
                <a:pos x="connsiteX0" y="connsiteY0"/>
              </a:cxn>
              <a:cxn ang="0">
                <a:pos x="connsiteX1" y="connsiteY1"/>
              </a:cxn>
              <a:cxn ang="0">
                <a:pos x="connsiteX2" y="connsiteY2"/>
              </a:cxn>
            </a:cxnLst>
            <a:rect l="l" t="t" r="r" b="b"/>
            <a:pathLst>
              <a:path w="2989089" h="591674">
                <a:moveTo>
                  <a:pt x="2989089" y="583990"/>
                </a:moveTo>
                <a:cubicBezTo>
                  <a:pt x="2469776" y="291356"/>
                  <a:pt x="1950463" y="-1277"/>
                  <a:pt x="1452282" y="4"/>
                </a:cubicBezTo>
                <a:cubicBezTo>
                  <a:pt x="954101" y="1285"/>
                  <a:pt x="0" y="591674"/>
                  <a:pt x="0" y="591674"/>
                </a:cubicBezTo>
              </a:path>
            </a:pathLst>
          </a:custGeom>
          <a:noFill/>
          <a:ln w="28575">
            <a:solidFill>
              <a:srgbClr val="FF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rot="21448633">
            <a:off x="4185518" y="2348360"/>
            <a:ext cx="4953289" cy="1982238"/>
          </a:xfrm>
          <a:custGeom>
            <a:avLst/>
            <a:gdLst>
              <a:gd name="connsiteX0" fmla="*/ 4141694 w 4141694"/>
              <a:gd name="connsiteY0" fmla="*/ 1080338 h 1449172"/>
              <a:gd name="connsiteX1" fmla="*/ 2074689 w 4141694"/>
              <a:gd name="connsiteY1" fmla="*/ 4573 h 1449172"/>
              <a:gd name="connsiteX2" fmla="*/ 0 w 4141694"/>
              <a:gd name="connsiteY2" fmla="*/ 1449172 h 1449172"/>
            </a:gdLst>
            <a:ahLst/>
            <a:cxnLst>
              <a:cxn ang="0">
                <a:pos x="connsiteX0" y="connsiteY0"/>
              </a:cxn>
              <a:cxn ang="0">
                <a:pos x="connsiteX1" y="connsiteY1"/>
              </a:cxn>
              <a:cxn ang="0">
                <a:pos x="connsiteX2" y="connsiteY2"/>
              </a:cxn>
            </a:cxnLst>
            <a:rect l="l" t="t" r="r" b="b"/>
            <a:pathLst>
              <a:path w="4141694" h="1449172">
                <a:moveTo>
                  <a:pt x="4141694" y="1080338"/>
                </a:moveTo>
                <a:cubicBezTo>
                  <a:pt x="3453332" y="511719"/>
                  <a:pt x="2764971" y="-56899"/>
                  <a:pt x="2074689" y="4573"/>
                </a:cubicBezTo>
                <a:cubicBezTo>
                  <a:pt x="1384407" y="66045"/>
                  <a:pt x="362430" y="1194318"/>
                  <a:pt x="0" y="1449172"/>
                </a:cubicBezTo>
              </a:path>
            </a:pathLst>
          </a:custGeom>
          <a:noFill/>
          <a:ln w="28575">
            <a:solidFill>
              <a:srgbClr val="00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134893" y="2871882"/>
            <a:ext cx="1959072" cy="369332"/>
          </a:xfrm>
          <a:prstGeom prst="rect">
            <a:avLst/>
          </a:prstGeom>
          <a:noFill/>
        </p:spPr>
        <p:txBody>
          <a:bodyPr wrap="square" rtlCol="0">
            <a:spAutoFit/>
          </a:bodyPr>
          <a:lstStyle/>
          <a:p>
            <a:r>
              <a:rPr lang="en-US" b="1" dirty="0">
                <a:solidFill>
                  <a:srgbClr val="FF0000"/>
                </a:solidFill>
                <a:latin typeface="Consolas" panose="020B0609020204030204" pitchFamily="49" charset="0"/>
                <a:cs typeface="Consolas" panose="020B0609020204030204" pitchFamily="49" charset="0"/>
              </a:rPr>
              <a:t>R0</a:t>
            </a:r>
            <a:r>
              <a:rPr lang="en-US" dirty="0">
                <a:solidFill>
                  <a:srgbClr val="FF0000"/>
                </a:solidFill>
              </a:rPr>
              <a:t>: first argument</a:t>
            </a:r>
          </a:p>
        </p:txBody>
      </p:sp>
      <p:sp>
        <p:nvSpPr>
          <p:cNvPr id="13" name="TextBox 12"/>
          <p:cNvSpPr txBox="1"/>
          <p:nvPr/>
        </p:nvSpPr>
        <p:spPr>
          <a:xfrm>
            <a:off x="6282975" y="1928516"/>
            <a:ext cx="2298166" cy="369332"/>
          </a:xfrm>
          <a:prstGeom prst="rect">
            <a:avLst/>
          </a:prstGeom>
          <a:noFill/>
        </p:spPr>
        <p:txBody>
          <a:bodyPr wrap="square" rtlCol="0">
            <a:spAutoFit/>
          </a:bodyPr>
          <a:lstStyle/>
          <a:p>
            <a:r>
              <a:rPr lang="en-US" b="1" dirty="0">
                <a:solidFill>
                  <a:srgbClr val="0000FF"/>
                </a:solidFill>
                <a:latin typeface="Consolas" panose="020B0609020204030204" pitchFamily="49" charset="0"/>
                <a:cs typeface="Consolas" panose="020B0609020204030204" pitchFamily="49" charset="0"/>
              </a:rPr>
              <a:t>R1</a:t>
            </a:r>
            <a:r>
              <a:rPr lang="en-US" dirty="0">
                <a:solidFill>
                  <a:srgbClr val="0000FF"/>
                </a:solidFill>
              </a:rPr>
              <a:t>: second argument</a:t>
            </a:r>
          </a:p>
        </p:txBody>
      </p:sp>
      <p:sp>
        <p:nvSpPr>
          <p:cNvPr id="14" name="Freeform 13"/>
          <p:cNvSpPr/>
          <p:nvPr/>
        </p:nvSpPr>
        <p:spPr>
          <a:xfrm rot="21293509">
            <a:off x="3797235" y="4954029"/>
            <a:ext cx="4624985" cy="1163699"/>
          </a:xfrm>
          <a:custGeom>
            <a:avLst/>
            <a:gdLst>
              <a:gd name="connsiteX0" fmla="*/ 3949594 w 3949594"/>
              <a:gd name="connsiteY0" fmla="*/ 0 h 1163849"/>
              <a:gd name="connsiteX1" fmla="*/ 2543415 w 3949594"/>
              <a:gd name="connsiteY1" fmla="*/ 1160289 h 1163849"/>
              <a:gd name="connsiteX2" fmla="*/ 0 w 3949594"/>
              <a:gd name="connsiteY2" fmla="*/ 291993 h 1163849"/>
            </a:gdLst>
            <a:ahLst/>
            <a:cxnLst>
              <a:cxn ang="0">
                <a:pos x="connsiteX0" y="connsiteY0"/>
              </a:cxn>
              <a:cxn ang="0">
                <a:pos x="connsiteX1" y="connsiteY1"/>
              </a:cxn>
              <a:cxn ang="0">
                <a:pos x="connsiteX2" y="connsiteY2"/>
              </a:cxn>
            </a:cxnLst>
            <a:rect l="l" t="t" r="r" b="b"/>
            <a:pathLst>
              <a:path w="3949594" h="1163849">
                <a:moveTo>
                  <a:pt x="3949594" y="0"/>
                </a:moveTo>
                <a:cubicBezTo>
                  <a:pt x="3575637" y="555812"/>
                  <a:pt x="3201681" y="1111624"/>
                  <a:pt x="2543415" y="1160289"/>
                </a:cubicBezTo>
                <a:cubicBezTo>
                  <a:pt x="1885149" y="1208954"/>
                  <a:pt x="942574" y="750473"/>
                  <a:pt x="0" y="291993"/>
                </a:cubicBezTo>
              </a:path>
            </a:pathLst>
          </a:custGeom>
          <a:noFill/>
          <a:ln w="28575">
            <a:solidFill>
              <a:srgbClr val="FF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601605" y="5621421"/>
            <a:ext cx="1959072" cy="369332"/>
          </a:xfrm>
          <a:prstGeom prst="rect">
            <a:avLst/>
          </a:prstGeom>
          <a:noFill/>
        </p:spPr>
        <p:txBody>
          <a:bodyPr wrap="square" rtlCol="0">
            <a:spAutoFit/>
          </a:bodyPr>
          <a:lstStyle/>
          <a:p>
            <a:r>
              <a:rPr lang="en-US" b="1" dirty="0">
                <a:solidFill>
                  <a:srgbClr val="FF00FF"/>
                </a:solidFill>
                <a:latin typeface="Consolas" panose="020B0609020204030204" pitchFamily="49" charset="0"/>
                <a:cs typeface="Consolas" panose="020B0609020204030204" pitchFamily="49" charset="0"/>
              </a:rPr>
              <a:t>R0</a:t>
            </a:r>
            <a:r>
              <a:rPr lang="en-US" dirty="0">
                <a:solidFill>
                  <a:srgbClr val="FF00FF"/>
                </a:solidFill>
              </a:rPr>
              <a:t>: Return Value</a:t>
            </a:r>
          </a:p>
        </p:txBody>
      </p:sp>
      <mc:AlternateContent xmlns:mc="http://schemas.openxmlformats.org/markup-compatibility/2006" xmlns:a14="http://schemas.microsoft.com/office/drawing/2010/main">
        <mc:Choice Requires="a14">
          <p:sp>
            <p:nvSpPr>
              <p:cNvPr id="6" name="TextBox 5"/>
              <p:cNvSpPr txBox="1"/>
              <p:nvPr/>
            </p:nvSpPr>
            <p:spPr>
              <a:xfrm>
                <a:off x="8706567" y="1306148"/>
                <a:ext cx="1108124" cy="3776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𝒙</m:t>
                          </m:r>
                        </m:e>
                        <m:sup>
                          <m:r>
                            <a:rPr lang="en-US" sz="2400" b="1" i="1">
                              <a:latin typeface="Cambria Math" panose="02040503050406030204" pitchFamily="18" charset="0"/>
                            </a:rPr>
                            <m:t>𝟐</m:t>
                          </m:r>
                        </m:sup>
                      </m:sSup>
                      <m:r>
                        <a:rPr lang="en-US" sz="2400" b="1" i="1">
                          <a:latin typeface="Cambria Math" panose="02040503050406030204" pitchFamily="18" charset="0"/>
                        </a:rPr>
                        <m:t>+</m:t>
                      </m:r>
                      <m:sSup>
                        <m:sSupPr>
                          <m:ctrlPr>
                            <a:rPr lang="en-US" sz="2400" b="1" i="1">
                              <a:latin typeface="Cambria Math" panose="02040503050406030204" pitchFamily="18" charset="0"/>
                            </a:rPr>
                          </m:ctrlPr>
                        </m:sSupPr>
                        <m:e>
                          <m:r>
                            <a:rPr lang="en-US" sz="2400" b="1" i="1">
                              <a:latin typeface="Cambria Math" panose="02040503050406030204" pitchFamily="18" charset="0"/>
                            </a:rPr>
                            <m:t>𝒚</m:t>
                          </m:r>
                        </m:e>
                        <m:sup>
                          <m:r>
                            <a:rPr lang="en-US" sz="2400" b="1" i="1">
                              <a:latin typeface="Cambria Math" panose="02040503050406030204" pitchFamily="18" charset="0"/>
                            </a:rPr>
                            <m:t>𝟐</m:t>
                          </m:r>
                        </m:sup>
                      </m:sSup>
                    </m:oMath>
                  </m:oMathPara>
                </a14:m>
                <a:endParaRPr lang="en-US" sz="2400" b="1" dirty="0"/>
              </a:p>
            </p:txBody>
          </p:sp>
        </mc:Choice>
        <mc:Fallback xmlns="">
          <p:sp>
            <p:nvSpPr>
              <p:cNvPr id="6" name="TextBox 5"/>
              <p:cNvSpPr txBox="1">
                <a:spLocks noRot="1" noChangeAspect="1" noMove="1" noResize="1" noEditPoints="1" noAdjustHandles="1" noChangeArrowheads="1" noChangeShapeType="1" noTextEdit="1"/>
              </p:cNvSpPr>
              <p:nvPr/>
            </p:nvSpPr>
            <p:spPr>
              <a:xfrm>
                <a:off x="8706567" y="1306148"/>
                <a:ext cx="1108124" cy="377667"/>
              </a:xfrm>
              <a:prstGeom prst="rect">
                <a:avLst/>
              </a:prstGeom>
              <a:blipFill>
                <a:blip r:embed="rId2"/>
                <a:stretch>
                  <a:fillRect l="-2273" r="-2273" b="-25806"/>
                </a:stretch>
              </a:blipFill>
            </p:spPr>
            <p:txBody>
              <a:bodyPr/>
              <a:lstStyle/>
              <a:p>
                <a:r>
                  <a:rPr lang="en-US">
                    <a:noFill/>
                  </a:rPr>
                  <a:t> </a:t>
                </a:r>
              </a:p>
            </p:txBody>
          </p:sp>
        </mc:Fallback>
      </mc:AlternateContent>
      <p:sp>
        <p:nvSpPr>
          <p:cNvPr id="7" name="TextBox 6"/>
          <p:cNvSpPr txBox="1"/>
          <p:nvPr/>
        </p:nvSpPr>
        <p:spPr>
          <a:xfrm>
            <a:off x="6662161" y="1277691"/>
            <a:ext cx="2044406" cy="461665"/>
          </a:xfrm>
          <a:prstGeom prst="rect">
            <a:avLst/>
          </a:prstGeom>
          <a:noFill/>
        </p:spPr>
        <p:txBody>
          <a:bodyPr wrap="none" rtlCol="0">
            <a:spAutoFit/>
          </a:bodyPr>
          <a:lstStyle/>
          <a:p>
            <a:r>
              <a:rPr lang="en-US" sz="2400" dirty="0"/>
              <a:t>Sum of Square:</a:t>
            </a:r>
          </a:p>
        </p:txBody>
      </p:sp>
    </p:spTree>
    <p:extLst>
      <p:ext uri="{BB962C8B-B14F-4D97-AF65-F5344CB8AC3E}">
        <p14:creationId xmlns:p14="http://schemas.microsoft.com/office/powerpoint/2010/main" val="208908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grpSp>
        <p:nvGrpSpPr>
          <p:cNvPr id="4" name="Group 3"/>
          <p:cNvGrpSpPr/>
          <p:nvPr/>
        </p:nvGrpSpPr>
        <p:grpSpPr>
          <a:xfrm>
            <a:off x="9048328" y="1838980"/>
            <a:ext cx="1467272" cy="4085746"/>
            <a:chOff x="7524328" y="1838980"/>
            <a:chExt cx="1467272" cy="4085746"/>
          </a:xfrm>
        </p:grpSpPr>
        <p:sp>
          <p:nvSpPr>
            <p:cNvPr id="17" name="TextBox 16"/>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20" name="TextBox 19"/>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21" name="TextBox 20"/>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44" name="TextBox 43"/>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45" name="TextBox 44"/>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46" name="TextBox 45"/>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4" name="TextBox 63"/>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5" name="TextBox 64"/>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51" name="TextBox 50"/>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52" name="TextBox 51"/>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41" name="TextBox 40"/>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Tree>
    <p:extLst>
      <p:ext uri="{BB962C8B-B14F-4D97-AF65-F5344CB8AC3E}">
        <p14:creationId xmlns:p14="http://schemas.microsoft.com/office/powerpoint/2010/main" val="3919809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6"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grpSp>
        <p:nvGrpSpPr>
          <p:cNvPr id="41" name="Group 40">
            <a:extLst>
              <a:ext uri="{FF2B5EF4-FFF2-40B4-BE49-F238E27FC236}">
                <a16:creationId xmlns:a16="http://schemas.microsoft.com/office/drawing/2014/main" id="{C213EEEF-4DFD-4F7F-9244-09578A7A8523}"/>
              </a:ext>
            </a:extLst>
          </p:cNvPr>
          <p:cNvGrpSpPr/>
          <p:nvPr/>
        </p:nvGrpSpPr>
        <p:grpSpPr>
          <a:xfrm>
            <a:off x="9048328" y="1838980"/>
            <a:ext cx="1467272" cy="4085746"/>
            <a:chOff x="7524328" y="1838980"/>
            <a:chExt cx="1467272" cy="4085746"/>
          </a:xfrm>
        </p:grpSpPr>
        <p:sp>
          <p:nvSpPr>
            <p:cNvPr id="49" name="TextBox 48">
              <a:extLst>
                <a:ext uri="{FF2B5EF4-FFF2-40B4-BE49-F238E27FC236}">
                  <a16:creationId xmlns:a16="http://schemas.microsoft.com/office/drawing/2014/main" id="{38F21DE2-5E54-4F37-88D3-9878371A1774}"/>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5" name="TextBox 54">
              <a:extLst>
                <a:ext uri="{FF2B5EF4-FFF2-40B4-BE49-F238E27FC236}">
                  <a16:creationId xmlns:a16="http://schemas.microsoft.com/office/drawing/2014/main" id="{7E79FCFC-7249-4223-812E-12377A78C1F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6" name="TextBox 55">
              <a:extLst>
                <a:ext uri="{FF2B5EF4-FFF2-40B4-BE49-F238E27FC236}">
                  <a16:creationId xmlns:a16="http://schemas.microsoft.com/office/drawing/2014/main" id="{3B21613A-0F36-4B67-88DF-164735C5FF0B}"/>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7" name="TextBox 56">
              <a:extLst>
                <a:ext uri="{FF2B5EF4-FFF2-40B4-BE49-F238E27FC236}">
                  <a16:creationId xmlns:a16="http://schemas.microsoft.com/office/drawing/2014/main" id="{62AD005D-946A-48C0-9068-99A03C9855D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8" name="TextBox 57">
              <a:extLst>
                <a:ext uri="{FF2B5EF4-FFF2-40B4-BE49-F238E27FC236}">
                  <a16:creationId xmlns:a16="http://schemas.microsoft.com/office/drawing/2014/main" id="{C5AA74F5-1C32-447C-AC1B-0B93FDA0A1CD}"/>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59" name="TextBox 58">
              <a:extLst>
                <a:ext uri="{FF2B5EF4-FFF2-40B4-BE49-F238E27FC236}">
                  <a16:creationId xmlns:a16="http://schemas.microsoft.com/office/drawing/2014/main" id="{6718CFF5-7E83-48FF-ACAC-424FC7A54039}"/>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0" name="TextBox 59">
              <a:extLst>
                <a:ext uri="{FF2B5EF4-FFF2-40B4-BE49-F238E27FC236}">
                  <a16:creationId xmlns:a16="http://schemas.microsoft.com/office/drawing/2014/main" id="{CF92B245-84E5-49E0-BBCC-7AD505C3F1A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1" name="TextBox 60">
              <a:extLst>
                <a:ext uri="{FF2B5EF4-FFF2-40B4-BE49-F238E27FC236}">
                  <a16:creationId xmlns:a16="http://schemas.microsoft.com/office/drawing/2014/main" id="{80632DE2-F0AA-4439-9955-07B37E4974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2" name="TextBox 61">
              <a:extLst>
                <a:ext uri="{FF2B5EF4-FFF2-40B4-BE49-F238E27FC236}">
                  <a16:creationId xmlns:a16="http://schemas.microsoft.com/office/drawing/2014/main" id="{5AEF8FF1-593D-40EB-A909-16EDBA233C81}"/>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3" name="TextBox 62">
              <a:extLst>
                <a:ext uri="{FF2B5EF4-FFF2-40B4-BE49-F238E27FC236}">
                  <a16:creationId xmlns:a16="http://schemas.microsoft.com/office/drawing/2014/main" id="{E6F2A6E9-E624-4681-9490-B8EAE2CACD1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6" name="TextBox 65">
              <a:extLst>
                <a:ext uri="{FF2B5EF4-FFF2-40B4-BE49-F238E27FC236}">
                  <a16:creationId xmlns:a16="http://schemas.microsoft.com/office/drawing/2014/main" id="{14109AAE-9B57-4E44-8B77-0ECB12D5674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84260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53" idx="1"/>
          </p:cNvCxnSpPr>
          <p:nvPr/>
        </p:nvCxnSpPr>
        <p:spPr>
          <a:xfrm flipV="1">
            <a:off x="7162800" y="2888940"/>
            <a:ext cx="589384" cy="7200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60D3DFFB-5F97-4AEC-AF29-3139F2EB7DC2}"/>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08F6B3F1-7E12-4A8D-B11C-6C5D5E31B85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171617-6EC0-4CDD-A807-34EAD5907C08}"/>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8C81C48E-95E7-4F0D-96EE-34A72861621E}"/>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4002EB96-4108-43EF-935B-46607F7E64C4}"/>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0F9DD116-175D-4BFF-8CB7-99E3C2B5B6BA}"/>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F7289B09-E26A-40BB-A392-BDC41F5CDF24}"/>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EC5819B4-C691-473E-81CE-3E0807A8BF17}"/>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2" name="TextBox 61">
              <a:extLst>
                <a:ext uri="{FF2B5EF4-FFF2-40B4-BE49-F238E27FC236}">
                  <a16:creationId xmlns:a16="http://schemas.microsoft.com/office/drawing/2014/main" id="{F5A9004F-3712-433A-A09D-F0DD5F5204CC}"/>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8722B945-85F0-41E0-BAAF-FC4E6BC70F5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3D8A918D-4277-450D-B297-07399150F92C}"/>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94C9D0BD-5161-43C0-B304-5D31C160C459}"/>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6723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3" idx="1"/>
          </p:cNvCxnSpPr>
          <p:nvPr/>
        </p:nvCxnSpPr>
        <p:spPr>
          <a:xfrm flipV="1">
            <a:off x="7162800" y="3248980"/>
            <a:ext cx="589384" cy="3600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D4342F35-6628-453A-9ACD-6EDA226A1DCF}"/>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41B31DC8-55D0-417D-97E9-B4743D6883F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8A1171-6A69-4A13-8468-C419E2D7DC8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2AA5E897-29EE-4008-9451-B8D91C910183}"/>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ECE002A9-3344-4223-B240-12C4A9DC0A00}"/>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C07C7EC2-CE0F-44E7-A65D-69F945840FA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8843362E-9357-4F63-9330-3EEF401CEB5C}"/>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967020DB-1479-43AD-8B3B-0FA34EA40C15}"/>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2" name="TextBox 61">
              <a:extLst>
                <a:ext uri="{FF2B5EF4-FFF2-40B4-BE49-F238E27FC236}">
                  <a16:creationId xmlns:a16="http://schemas.microsoft.com/office/drawing/2014/main" id="{005792D4-BE85-4F86-84DD-427088997FB1}"/>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7096F540-DF71-42A4-BEF4-13103EC67985}"/>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B6C500F0-7927-42C2-9DA1-F802BB37518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FE27B970-CCF1-4CB8-B616-1C52BDA5A62E}"/>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02140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0x0800013B</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13" name="TextBox 12"/>
          <p:cNvSpPr txBox="1"/>
          <p:nvPr/>
        </p:nvSpPr>
        <p:spPr>
          <a:xfrm>
            <a:off x="2774410" y="6105255"/>
            <a:ext cx="3356248" cy="646331"/>
          </a:xfrm>
          <a:prstGeom prst="rect">
            <a:avLst/>
          </a:prstGeom>
          <a:solidFill>
            <a:srgbClr val="0000FF"/>
          </a:solidFill>
        </p:spPr>
        <p:txBody>
          <a:bodyPr wrap="square" rtlCol="0">
            <a:spAutoFit/>
          </a:bodyPr>
          <a:lstStyle/>
          <a:p>
            <a:pPr algn="ctr"/>
            <a:r>
              <a:rPr lang="en-US" dirty="0">
                <a:solidFill>
                  <a:schemeClr val="bg1"/>
                </a:solidFill>
              </a:rPr>
              <a:t>Address of the next instruction after the branch is saved into LR.</a:t>
            </a:r>
          </a:p>
        </p:txBody>
      </p:sp>
      <p:sp>
        <p:nvSpPr>
          <p:cNvPr id="44" name="TextBox 43"/>
          <p:cNvSpPr txBox="1"/>
          <p:nvPr/>
        </p:nvSpPr>
        <p:spPr>
          <a:xfrm>
            <a:off x="5322835" y="4496798"/>
            <a:ext cx="2328490" cy="11695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b="1" dirty="0">
                <a:solidFill>
                  <a:schemeClr val="bg1"/>
                </a:solidFill>
              </a:rPr>
              <a:t>In fact, LR is </a:t>
            </a:r>
            <a:r>
              <a:rPr lang="en-US" sz="1400" b="1" dirty="0">
                <a:solidFill>
                  <a:schemeClr val="bg1"/>
                </a:solidFill>
                <a:latin typeface="Consolas" panose="020B0609020204030204" pitchFamily="49" charset="0"/>
                <a:cs typeface="Consolas" panose="020B0609020204030204" pitchFamily="49" charset="0"/>
              </a:rPr>
              <a:t>0x08000135</a:t>
            </a:r>
            <a:r>
              <a:rPr lang="en-US" sz="1400" b="1" dirty="0">
                <a:solidFill>
                  <a:schemeClr val="bg1"/>
                </a:solidFill>
              </a:rPr>
              <a:t> because bit </a:t>
            </a:r>
            <a:r>
              <a:rPr lang="en-US" sz="1400" b="1" dirty="0">
                <a:solidFill>
                  <a:schemeClr val="bg1"/>
                </a:solidFill>
                <a:latin typeface="Consolas" panose="020B0609020204030204" pitchFamily="49" charset="0"/>
                <a:cs typeface="Consolas" panose="020B0609020204030204" pitchFamily="49" charset="0"/>
              </a:rPr>
              <a:t>0</a:t>
            </a:r>
            <a:r>
              <a:rPr lang="en-US" sz="1400" b="1" dirty="0">
                <a:solidFill>
                  <a:schemeClr val="bg1"/>
                </a:solidFill>
              </a:rPr>
              <a:t> of PC should always be </a:t>
            </a:r>
            <a:r>
              <a:rPr lang="en-US" sz="1400" b="1" dirty="0">
                <a:solidFill>
                  <a:schemeClr val="bg1"/>
                </a:solidFill>
                <a:latin typeface="Consolas" panose="020B0609020204030204" pitchFamily="49" charset="0"/>
                <a:cs typeface="Consolas" panose="020B0609020204030204" pitchFamily="49" charset="0"/>
              </a:rPr>
              <a:t>1</a:t>
            </a:r>
            <a:r>
              <a:rPr lang="en-US" sz="1400" b="1" dirty="0">
                <a:solidFill>
                  <a:schemeClr val="bg1"/>
                </a:solidFill>
              </a:rPr>
              <a:t> for ARM Cortex-M to indicate thumb mode.</a:t>
            </a:r>
          </a:p>
        </p:txBody>
      </p:sp>
      <p:grpSp>
        <p:nvGrpSpPr>
          <p:cNvPr id="55" name="Group 54">
            <a:extLst>
              <a:ext uri="{FF2B5EF4-FFF2-40B4-BE49-F238E27FC236}">
                <a16:creationId xmlns:a16="http://schemas.microsoft.com/office/drawing/2014/main" id="{ACBC80DB-A2AD-4F63-B67A-E6F0689F8EE7}"/>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AE95C9B-1387-4D61-A36B-B4C0161D85B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2657347-DA13-46B6-BF63-0B5D2D2D18B1}"/>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B9C49258-2A40-4573-BACB-B68655340626}"/>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D8AB474-99DF-4FB1-A430-7CCB339D0377}"/>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A330F94C-DE25-404F-BFF6-D869D047458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B381AA90-1385-4D46-A5F2-AB5F70DE5E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BF63E71E-C6A4-4C0B-9DB9-103F0E7EF846}"/>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0BE21D3D-6EE7-4E72-A8AB-F85BB606FD72}"/>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C9280C3-9103-47D4-BA39-9354562FBF8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E791070-8854-4AEF-8458-59B235FB62B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468A1B24-BC9B-4BFD-8B6C-FF93154A9776}"/>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52196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0x0800013B</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solidFill>
                  <a:srgbClr val="FF0000"/>
                </a:solidFill>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63EBCFC1-7C34-406C-B1AB-B42DF23B06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D9122E5-6EF5-405D-9D62-BD39B8B9DBCD}"/>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1A98C7F9-45D3-4739-BB89-BFA1234ACB24}"/>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846CF416-69F4-4D3D-A1FD-B658998C843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3AE3C5B-8F31-44F2-BB87-CC1BBCBE495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47BE3910-2F5E-4A6F-A40A-E5A6BB5E36D9}"/>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E09545C9-BCBC-472F-892D-37F49D342DB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93DDEF2-A3F8-4189-91C7-5689CBBD3D2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26A47EB9-B1CE-4C0A-869C-6145D63A75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3FE37A58-A755-4476-9ADF-F86AD9094BC9}"/>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E0E0279A-5FAD-4296-A9CD-3FAD4228E7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B53EFD8B-EB8D-4A57-90F4-2C444A56213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51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27" idx="1"/>
          </p:cNvCxnSpPr>
          <p:nvPr/>
        </p:nvCxnSpPr>
        <p:spPr>
          <a:xfrm>
            <a:off x="7162801" y="3609020"/>
            <a:ext cx="590665" cy="10534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solidFill>
                  <a:srgbClr val="FF0000"/>
                </a:solidFill>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EB67A031-DF01-4C3B-87C9-47CB666425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FA5465D-EA91-40B8-98C5-A59F286EFC2A}"/>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D10AEDFE-F25F-4C60-9AA0-31ADF8E0EE3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3C1E1D31-3CC6-4203-A603-F77E982A8350}"/>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B47A261F-4CBE-48C2-8A3A-3AE4D092B28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905218CC-7597-45A1-844C-4B7D9F29176C}"/>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1BA43AD-9E4B-4B6D-BE91-CF32F97A610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91CAD858-37CC-4184-8F98-B6FF75AFD5E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C36B824E-85B0-4C77-AA82-6637CA1FC35D}"/>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E260464-D6C8-4780-9B72-95C525B26537}"/>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7F9E05CE-E9CE-41A9-8334-9E95B879E2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CF3FB52-21A6-4045-BE1E-C8E89BCEBE3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86387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p:cNvCxnSpPr>
          <p:nvPr/>
        </p:nvCxnSpPr>
        <p:spPr>
          <a:xfrm>
            <a:off x="7162800" y="3609020"/>
            <a:ext cx="576064" cy="14135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solidFill>
                  <a:srgbClr val="FF0000"/>
                </a:solidFill>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61" name="Group 60">
            <a:extLst>
              <a:ext uri="{FF2B5EF4-FFF2-40B4-BE49-F238E27FC236}">
                <a16:creationId xmlns:a16="http://schemas.microsoft.com/office/drawing/2014/main" id="{10E21C11-975B-4401-B298-77E9659158A5}"/>
              </a:ext>
            </a:extLst>
          </p:cNvPr>
          <p:cNvGrpSpPr/>
          <p:nvPr/>
        </p:nvGrpSpPr>
        <p:grpSpPr>
          <a:xfrm>
            <a:off x="9048328" y="1838980"/>
            <a:ext cx="1467272" cy="4085746"/>
            <a:chOff x="7524328" y="1838980"/>
            <a:chExt cx="1467272" cy="4085746"/>
          </a:xfrm>
        </p:grpSpPr>
        <p:sp>
          <p:nvSpPr>
            <p:cNvPr id="62" name="TextBox 61">
              <a:extLst>
                <a:ext uri="{FF2B5EF4-FFF2-40B4-BE49-F238E27FC236}">
                  <a16:creationId xmlns:a16="http://schemas.microsoft.com/office/drawing/2014/main" id="{C0CB9CDE-A0FD-446D-8A97-5CB79F56DDA2}"/>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63" name="TextBox 62">
              <a:extLst>
                <a:ext uri="{FF2B5EF4-FFF2-40B4-BE49-F238E27FC236}">
                  <a16:creationId xmlns:a16="http://schemas.microsoft.com/office/drawing/2014/main" id="{69CE8CE0-06F0-4A46-9849-2ED9C4D423AE}"/>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64" name="TextBox 63">
              <a:extLst>
                <a:ext uri="{FF2B5EF4-FFF2-40B4-BE49-F238E27FC236}">
                  <a16:creationId xmlns:a16="http://schemas.microsoft.com/office/drawing/2014/main" id="{4B9483A1-4F1F-45CB-81CF-D0476002787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5" name="TextBox 64">
              <a:extLst>
                <a:ext uri="{FF2B5EF4-FFF2-40B4-BE49-F238E27FC236}">
                  <a16:creationId xmlns:a16="http://schemas.microsoft.com/office/drawing/2014/main" id="{7E221502-B2EB-47D8-A732-F74D95B3869C}"/>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6" name="TextBox 65">
              <a:extLst>
                <a:ext uri="{FF2B5EF4-FFF2-40B4-BE49-F238E27FC236}">
                  <a16:creationId xmlns:a16="http://schemas.microsoft.com/office/drawing/2014/main" id="{C9FB1435-140D-4C88-84C4-DAA433F3DE4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9" name="TextBox 68">
              <a:extLst>
                <a:ext uri="{FF2B5EF4-FFF2-40B4-BE49-F238E27FC236}">
                  <a16:creationId xmlns:a16="http://schemas.microsoft.com/office/drawing/2014/main" id="{1B620544-D968-41CB-975F-60744B26A550}"/>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70" name="TextBox 69">
              <a:extLst>
                <a:ext uri="{FF2B5EF4-FFF2-40B4-BE49-F238E27FC236}">
                  <a16:creationId xmlns:a16="http://schemas.microsoft.com/office/drawing/2014/main" id="{B8EA8015-2E21-4D6E-9C14-FD683AAFBC8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71" name="TextBox 70">
              <a:extLst>
                <a:ext uri="{FF2B5EF4-FFF2-40B4-BE49-F238E27FC236}">
                  <a16:creationId xmlns:a16="http://schemas.microsoft.com/office/drawing/2014/main" id="{5097396E-3E6E-46E8-8038-03C2AF2C55B6}"/>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72" name="TextBox 71">
              <a:extLst>
                <a:ext uri="{FF2B5EF4-FFF2-40B4-BE49-F238E27FC236}">
                  <a16:creationId xmlns:a16="http://schemas.microsoft.com/office/drawing/2014/main" id="{3DD49321-BACD-4BE2-97D9-547F95128E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3" name="TextBox 72">
              <a:extLst>
                <a:ext uri="{FF2B5EF4-FFF2-40B4-BE49-F238E27FC236}">
                  <a16:creationId xmlns:a16="http://schemas.microsoft.com/office/drawing/2014/main" id="{09E9AA9A-6FEC-4EAC-86F3-B0D1B307819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4" name="TextBox 73">
              <a:extLst>
                <a:ext uri="{FF2B5EF4-FFF2-40B4-BE49-F238E27FC236}">
                  <a16:creationId xmlns:a16="http://schemas.microsoft.com/office/drawing/2014/main" id="{9F99C393-AC2D-438C-BA92-8FF1CD7637A5}"/>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243604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0x08000142</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R0,R2</a:t>
            </a:r>
          </a:p>
        </p:txBody>
      </p:sp>
      <p:cxnSp>
        <p:nvCxnSpPr>
          <p:cNvPr id="25" name="Straight Arrow Connector 24"/>
          <p:cNvCxnSpPr>
            <a:stCxn id="14" idx="3"/>
            <a:endCxn id="16" idx="1"/>
          </p:cNvCxnSpPr>
          <p:nvPr/>
        </p:nvCxnSpPr>
        <p:spPr>
          <a:xfrm>
            <a:off x="7162801" y="3609020"/>
            <a:ext cx="590665" cy="177356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solidFill>
                  <a:srgbClr val="FF0000"/>
                </a:solidFill>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B6A06A6-460E-4424-967B-37B0CD43BE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CE654C4A-49AE-4B38-A71C-52B3DDEDA38F}"/>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DF1FF34-F5FD-4C6B-92CD-AABA675377D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FD8EE238-C8BA-44E2-91B2-952D2657DDF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CE3BC036-65D6-47D8-B08F-64A766614FA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F03BD906-A667-44D8-BD75-3C5D2001537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0068BB4-23F5-44E4-9548-FCD6402A7C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02506498-EC03-44C3-A097-F9FA389AFBF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D7A93A32-0134-4862-8F4B-68BBCEDB937E}"/>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4F475BBE-E649-4ED7-97D1-258B241199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BF22FCB-E6BE-4AF8-AFC0-1D969F050548}"/>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58AB541-4509-432B-8397-1445C7F0FBA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356605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48" idx="1"/>
          </p:cNvCxnSpPr>
          <p:nvPr/>
        </p:nvCxnSpPr>
        <p:spPr>
          <a:xfrm>
            <a:off x="7162800" y="3609020"/>
            <a:ext cx="593488" cy="2133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DE013FD-9F1D-4D76-B6C4-AF2906ED2464}"/>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81770BB6-8E58-4BE4-BCE7-1DD8A62A2129}"/>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8F0073C0-5B23-4141-B4E9-F8577A2DFB50}"/>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04D3CB08-1861-4FEB-96E8-80F62A5ECC42}"/>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1044FF2F-B465-4D39-9BAC-377A0AEA8BC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FE9B484-1F3F-436C-8FC9-489BDBEF5C13}"/>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48622CE6-6981-4F20-962B-44BAF160209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D091B43-323D-4850-893C-596903E3DF2D}"/>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707519E4-9D7D-4166-B3F3-CB33C13C7A5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072F77C3-14FD-422B-A9A4-A8E332949AD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A34A7AA3-69AC-40A6-B9DE-379165FEE4F5}"/>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8C38859C-E370-4D6E-BEFB-4EFF8F37CEA0}"/>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528642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5"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54" name="TextBox 53"/>
          <p:cNvSpPr txBox="1"/>
          <p:nvPr/>
        </p:nvSpPr>
        <p:spPr>
          <a:xfrm>
            <a:off x="4219700" y="4857606"/>
            <a:ext cx="3320552" cy="646331"/>
          </a:xfrm>
          <a:prstGeom prst="rect">
            <a:avLst/>
          </a:prstGeom>
          <a:solidFill>
            <a:srgbClr val="0000FF"/>
          </a:solidFill>
        </p:spPr>
        <p:txBody>
          <a:bodyPr wrap="square" rtlCol="0">
            <a:spAutoFit/>
          </a:bodyPr>
          <a:lstStyle/>
          <a:p>
            <a:pPr algn="ctr"/>
            <a:r>
              <a:rPr lang="en-US" dirty="0">
                <a:solidFill>
                  <a:schemeClr val="bg1"/>
                </a:solidFill>
              </a:rPr>
              <a:t>Copy LR to PC when returning from a subroutine!</a:t>
            </a:r>
          </a:p>
        </p:txBody>
      </p:sp>
      <p:grpSp>
        <p:nvGrpSpPr>
          <p:cNvPr id="56" name="Group 55">
            <a:extLst>
              <a:ext uri="{FF2B5EF4-FFF2-40B4-BE49-F238E27FC236}">
                <a16:creationId xmlns:a16="http://schemas.microsoft.com/office/drawing/2014/main" id="{0477D086-D74F-4141-B9F0-0BF9622BE59F}"/>
              </a:ext>
            </a:extLst>
          </p:cNvPr>
          <p:cNvGrpSpPr/>
          <p:nvPr/>
        </p:nvGrpSpPr>
        <p:grpSpPr>
          <a:xfrm>
            <a:off x="9048328" y="1838980"/>
            <a:ext cx="1467272" cy="4085746"/>
            <a:chOff x="7524328" y="1838980"/>
            <a:chExt cx="1467272" cy="4085746"/>
          </a:xfrm>
        </p:grpSpPr>
        <p:sp>
          <p:nvSpPr>
            <p:cNvPr id="57" name="TextBox 56">
              <a:extLst>
                <a:ext uri="{FF2B5EF4-FFF2-40B4-BE49-F238E27FC236}">
                  <a16:creationId xmlns:a16="http://schemas.microsoft.com/office/drawing/2014/main" id="{E84F0AD8-E038-408D-B03A-DB256126A2CB}"/>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8" name="TextBox 57">
              <a:extLst>
                <a:ext uri="{FF2B5EF4-FFF2-40B4-BE49-F238E27FC236}">
                  <a16:creationId xmlns:a16="http://schemas.microsoft.com/office/drawing/2014/main" id="{0F76AB0D-9FC5-4240-BE25-6B978E69DF3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9" name="TextBox 58">
              <a:extLst>
                <a:ext uri="{FF2B5EF4-FFF2-40B4-BE49-F238E27FC236}">
                  <a16:creationId xmlns:a16="http://schemas.microsoft.com/office/drawing/2014/main" id="{EC44E9D7-48FC-4781-AB2E-C9EC57746AE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0" name="TextBox 59">
              <a:extLst>
                <a:ext uri="{FF2B5EF4-FFF2-40B4-BE49-F238E27FC236}">
                  <a16:creationId xmlns:a16="http://schemas.microsoft.com/office/drawing/2014/main" id="{03FF7414-701C-4FFA-A488-155D58F0B3D8}"/>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1" name="TextBox 60">
              <a:extLst>
                <a:ext uri="{FF2B5EF4-FFF2-40B4-BE49-F238E27FC236}">
                  <a16:creationId xmlns:a16="http://schemas.microsoft.com/office/drawing/2014/main" id="{BBCC3EF8-5B80-4D3B-9C2D-DA1F68C4010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2" name="TextBox 61">
              <a:extLst>
                <a:ext uri="{FF2B5EF4-FFF2-40B4-BE49-F238E27FC236}">
                  <a16:creationId xmlns:a16="http://schemas.microsoft.com/office/drawing/2014/main" id="{E0D9A5CF-53CC-46FA-8C6A-12EDC1E33866}"/>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3" name="TextBox 62">
              <a:extLst>
                <a:ext uri="{FF2B5EF4-FFF2-40B4-BE49-F238E27FC236}">
                  <a16:creationId xmlns:a16="http://schemas.microsoft.com/office/drawing/2014/main" id="{AC06C237-EF76-4B27-BDB6-B152EEF4D88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6" name="TextBox 65">
              <a:extLst>
                <a:ext uri="{FF2B5EF4-FFF2-40B4-BE49-F238E27FC236}">
                  <a16:creationId xmlns:a16="http://schemas.microsoft.com/office/drawing/2014/main" id="{949E1AF3-4BB0-4F42-B6EB-CD8D8E200280}"/>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9" name="TextBox 68">
              <a:extLst>
                <a:ext uri="{FF2B5EF4-FFF2-40B4-BE49-F238E27FC236}">
                  <a16:creationId xmlns:a16="http://schemas.microsoft.com/office/drawing/2014/main" id="{6F3A4F6B-2A5A-4776-9479-E0139AD7904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0" name="TextBox 69">
              <a:extLst>
                <a:ext uri="{FF2B5EF4-FFF2-40B4-BE49-F238E27FC236}">
                  <a16:creationId xmlns:a16="http://schemas.microsoft.com/office/drawing/2014/main" id="{1393B0EA-DB35-4A27-89D4-043B1DC2C65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1" name="TextBox 70">
              <a:extLst>
                <a:ext uri="{FF2B5EF4-FFF2-40B4-BE49-F238E27FC236}">
                  <a16:creationId xmlns:a16="http://schemas.microsoft.com/office/drawing/2014/main" id="{F1A51E73-38F1-4F30-9C07-C78C8C3C720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90467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CD36E0E5-DC47-4F77-B80C-7C9D8C5F4510}"/>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2424D77C-C75B-4425-AD81-B1F846C54040}"/>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EC868763-9105-4D02-B040-F38E007D524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56F34837-3FFF-4210-B087-1C0785670447}"/>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445D65B9-A1DD-44B5-8A92-5315A4AB683E}"/>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6D797D66-E6D3-4169-AE2A-14D52929E9DE}"/>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6E2A5E5-3167-40AC-B925-719AA95B023A}"/>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EB4659A7-B1DE-411F-BCC0-9817BBF4061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62BC7B96-99C8-4D7F-BB18-348BEC945734}"/>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4D0CC1E-E4DD-4D9E-89AC-E97BB5D058ED}"/>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2898C88-32B4-4DCB-A1A9-F1D2C836C15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E62C3456-E74D-42F0-BD10-76384CA75BE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225043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0x08000136</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5" idx="1"/>
          </p:cNvCxnSpPr>
          <p:nvPr/>
        </p:nvCxnSpPr>
        <p:spPr>
          <a:xfrm>
            <a:off x="7162801" y="3609020"/>
            <a:ext cx="590665" cy="3334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FA780EA1-FDCE-4467-8D65-1407C69609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80FCF25-8A70-476C-B95E-2361C2C6911E}"/>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48ED133-8298-4CA3-91C5-B842C6899A93}"/>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E59CBA39-3CA6-41A6-911E-070B78C3C7D9}"/>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790726E6-C3E3-4CA1-8687-60B2E2506836}"/>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7192306-6970-4A96-A802-A719ACC3BFC0}"/>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9009478-7B0A-4BF5-B77C-E6F224DDEE65}"/>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3A7E4B89-2E6C-431E-B71F-D2D74A5D50BF}"/>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DE030B9F-2A4C-4EAA-ACAA-E336D3FCF23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EEEA333-13DF-40D9-9BF1-A063E7BA4ADB}"/>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D8712A1-14C8-4B2A-9E12-995FE67F4F6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0A22AFBC-0F6A-42E5-B3AA-4DE300497BE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8336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39</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lstStyle/>
          <a:p>
            <a:r>
              <a:rPr lang="en-US" dirty="0"/>
              <a:t>In the previous example, </a:t>
            </a:r>
          </a:p>
          <a:p>
            <a:pPr lvl="1"/>
            <a:r>
              <a:rPr lang="en-US" dirty="0"/>
              <a:t>PC is incremented by 2 or 4.</a:t>
            </a:r>
          </a:p>
          <a:p>
            <a:pPr lvl="1"/>
            <a:r>
              <a:rPr lang="en-US" dirty="0"/>
              <a:t>The least significant bit of LR is always 0.</a:t>
            </a:r>
          </a:p>
          <a:p>
            <a:pPr lvl="1"/>
            <a:endParaRPr lang="en-US" dirty="0"/>
          </a:p>
          <a:p>
            <a:pPr lvl="1"/>
            <a:endParaRPr lang="en-US" dirty="0"/>
          </a:p>
          <a:p>
            <a:pPr marL="274320" lvl="1" indent="0">
              <a:buNone/>
            </a:pPr>
            <a:r>
              <a:rPr lang="en-US" dirty="0">
                <a:solidFill>
                  <a:srgbClr val="FF0000"/>
                </a:solidFill>
              </a:rPr>
              <a:t>Well, I lied!</a:t>
            </a:r>
          </a:p>
        </p:txBody>
      </p:sp>
    </p:spTree>
    <p:extLst>
      <p:ext uri="{BB962C8B-B14F-4D97-AF65-F5344CB8AC3E}">
        <p14:creationId xmlns:p14="http://schemas.microsoft.com/office/powerpoint/2010/main" val="2532744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40</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normAutofit fontScale="92500"/>
          </a:bodyPr>
          <a:lstStyle/>
          <a:p>
            <a:r>
              <a:rPr lang="en-US" dirty="0"/>
              <a:t>PC is always incremented by </a:t>
            </a:r>
            <a:r>
              <a:rPr lang="en-US" b="1" dirty="0">
                <a:solidFill>
                  <a:srgbClr val="FF0000"/>
                </a:solidFill>
                <a:latin typeface="Consolas" panose="020B0609020204030204" pitchFamily="49" charset="0"/>
                <a:cs typeface="Consolas" panose="020B0609020204030204" pitchFamily="49" charset="0"/>
              </a:rPr>
              <a:t>4</a:t>
            </a:r>
            <a:r>
              <a:rPr lang="en-US" dirty="0"/>
              <a:t>.</a:t>
            </a:r>
          </a:p>
          <a:p>
            <a:pPr lvl="1"/>
            <a:r>
              <a:rPr lang="en-US" dirty="0"/>
              <a:t>Each time, 4 bytes are fetched from the instruction memory</a:t>
            </a:r>
          </a:p>
          <a:p>
            <a:pPr lvl="1"/>
            <a:r>
              <a:rPr lang="en-US" dirty="0"/>
              <a:t>It is either two 16-bit instructions or one 32-bit instruction</a:t>
            </a:r>
          </a:p>
          <a:p>
            <a:pPr marL="274320" lvl="1" indent="0">
              <a:buNone/>
            </a:pPr>
            <a:endParaRPr lang="en-US" dirty="0"/>
          </a:p>
          <a:p>
            <a:pPr marL="274320" lvl="1" indent="0">
              <a:buNone/>
            </a:pPr>
            <a:endParaRPr lang="en-US" dirty="0"/>
          </a:p>
          <a:p>
            <a:pPr marL="274320" lvl="1" indent="0">
              <a:buNone/>
            </a:pPr>
            <a:endParaRPr lang="en-US" dirty="0"/>
          </a:p>
          <a:p>
            <a:pPr marL="548640" lvl="2" indent="0">
              <a:buNone/>
            </a:pPr>
            <a:r>
              <a:rPr lang="en-US" sz="1700" dirty="0"/>
              <a:t>		If bit [</a:t>
            </a:r>
            <a:r>
              <a:rPr lang="en-US" sz="1700" dirty="0">
                <a:latin typeface="Consolas" panose="020B0609020204030204" pitchFamily="49" charset="0"/>
                <a:cs typeface="Consolas" panose="020B0609020204030204" pitchFamily="49" charset="0"/>
              </a:rPr>
              <a:t>15-11</a:t>
            </a:r>
            <a:r>
              <a:rPr lang="en-US" sz="1700" dirty="0"/>
              <a:t>] = </a:t>
            </a:r>
            <a:r>
              <a:rPr lang="en-US" sz="1700" dirty="0">
                <a:solidFill>
                  <a:srgbClr val="FF0000"/>
                </a:solidFill>
                <a:latin typeface="Consolas" panose="020B0609020204030204" pitchFamily="49" charset="0"/>
                <a:cs typeface="Consolas" panose="020B0609020204030204" pitchFamily="49" charset="0"/>
              </a:rPr>
              <a:t>11101</a:t>
            </a:r>
            <a:r>
              <a:rPr lang="en-US" sz="1700" dirty="0"/>
              <a:t>, </a:t>
            </a:r>
            <a:r>
              <a:rPr lang="en-US" sz="1700" dirty="0">
                <a:solidFill>
                  <a:srgbClr val="FF0000"/>
                </a:solidFill>
                <a:latin typeface="Consolas" panose="020B0609020204030204" pitchFamily="49" charset="0"/>
                <a:cs typeface="Consolas" panose="020B0609020204030204" pitchFamily="49" charset="0"/>
              </a:rPr>
              <a:t>11110</a:t>
            </a:r>
            <a:r>
              <a:rPr lang="en-US" sz="1700" dirty="0"/>
              <a:t>, or </a:t>
            </a:r>
            <a:r>
              <a:rPr lang="en-US" sz="1700" dirty="0">
                <a:solidFill>
                  <a:srgbClr val="FF0000"/>
                </a:solidFill>
                <a:latin typeface="Consolas" panose="020B0609020204030204" pitchFamily="49" charset="0"/>
                <a:cs typeface="Consolas" panose="020B0609020204030204" pitchFamily="49" charset="0"/>
              </a:rPr>
              <a:t>11111</a:t>
            </a:r>
            <a:r>
              <a:rPr lang="en-US" sz="1700" dirty="0"/>
              <a:t>,  then, it is the first half-word 		of a 32-bit instruction. Otherwise, it is a 16-bit instruction.</a:t>
            </a:r>
            <a:endParaRPr lang="en-US" dirty="0"/>
          </a:p>
          <a:p>
            <a:endParaRPr lang="en-US" dirty="0"/>
          </a:p>
          <a:p>
            <a:r>
              <a:rPr lang="en-US" dirty="0"/>
              <a:t>The least significant bit of LR is always </a:t>
            </a:r>
            <a:r>
              <a:rPr lang="en-US" b="1" dirty="0">
                <a:solidFill>
                  <a:srgbClr val="FF0000"/>
                </a:solidFill>
                <a:latin typeface="Consolas" panose="020B0609020204030204" pitchFamily="49" charset="0"/>
                <a:cs typeface="Consolas" panose="020B0609020204030204" pitchFamily="49" charset="0"/>
              </a:rPr>
              <a:t>1 </a:t>
            </a:r>
            <a:r>
              <a:rPr lang="en-US" dirty="0"/>
              <a:t>for ARM Cortex-M</a:t>
            </a:r>
          </a:p>
          <a:p>
            <a:pPr lvl="1"/>
            <a:r>
              <a:rPr lang="en-US" dirty="0"/>
              <a:t>This bit is used to control the processor mode: </a:t>
            </a:r>
          </a:p>
          <a:p>
            <a:pPr lvl="2"/>
            <a:r>
              <a:rPr lang="en-US" dirty="0">
                <a:latin typeface="Consolas" panose="020B0609020204030204" pitchFamily="49" charset="0"/>
                <a:cs typeface="Consolas" panose="020B0609020204030204" pitchFamily="49" charset="0"/>
              </a:rPr>
              <a:t>0</a:t>
            </a:r>
            <a:r>
              <a:rPr lang="en-US" dirty="0"/>
              <a:t> = ARM, </a:t>
            </a:r>
            <a:r>
              <a:rPr lang="en-US" dirty="0">
                <a:latin typeface="Consolas" panose="020B0609020204030204" pitchFamily="49" charset="0"/>
                <a:cs typeface="Consolas" panose="020B0609020204030204" pitchFamily="49" charset="0"/>
              </a:rPr>
              <a:t>1</a:t>
            </a:r>
            <a:r>
              <a:rPr lang="en-US" dirty="0"/>
              <a:t> = THUMB</a:t>
            </a:r>
          </a:p>
          <a:p>
            <a:pPr lvl="1"/>
            <a:r>
              <a:rPr lang="en-US" dirty="0"/>
              <a:t>Cortex-M only supports THUMB.</a:t>
            </a:r>
          </a:p>
          <a:p>
            <a:pPr marL="274320" lvl="1" indent="0">
              <a:buNone/>
            </a:pPr>
            <a:endParaRPr lang="en-US" dirty="0"/>
          </a:p>
        </p:txBody>
      </p:sp>
      <p:pic>
        <p:nvPicPr>
          <p:cNvPr id="6" name="Picture 4">
            <a:extLst>
              <a:ext uri="{FF2B5EF4-FFF2-40B4-BE49-F238E27FC236}">
                <a16:creationId xmlns:a16="http://schemas.microsoft.com/office/drawing/2014/main" id="{DCC10BCB-F227-4415-BEEB-4F435F49C7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964" y="2590800"/>
            <a:ext cx="7010401" cy="961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4014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pPr lvl="1"/>
            <a:r>
              <a:rPr lang="en-US" dirty="0"/>
              <a:t>Branch with link:  </a:t>
            </a:r>
            <a:r>
              <a:rPr lang="en-US" b="1" dirty="0">
                <a:latin typeface="Consolas" panose="020B0609020204030204" pitchFamily="49" charset="0"/>
                <a:cs typeface="Consolas" panose="020B0609020204030204" pitchFamily="49" charset="0"/>
              </a:rPr>
              <a:t>BL subroutine</a:t>
            </a:r>
          </a:p>
          <a:p>
            <a:r>
              <a:rPr lang="en-US" dirty="0"/>
              <a:t>How to return the control back to the caller?</a:t>
            </a:r>
          </a:p>
          <a:p>
            <a:pPr lvl="1"/>
            <a:r>
              <a:rPr lang="en-US" dirty="0"/>
              <a:t>Branch and exchange:  </a:t>
            </a:r>
            <a:r>
              <a:rPr lang="en-US" b="1" dirty="0">
                <a:latin typeface="Consolas" panose="020B0609020204030204" pitchFamily="49" charset="0"/>
                <a:cs typeface="Consolas" panose="020B0609020204030204" pitchFamily="49" charset="0"/>
              </a:rPr>
              <a:t>BX LR</a:t>
            </a:r>
          </a:p>
          <a:p>
            <a:r>
              <a:rPr lang="en-US" dirty="0"/>
              <a:t>How to pass arguments into a subroutine?</a:t>
            </a:r>
          </a:p>
          <a:p>
            <a:pPr lvl="1"/>
            <a:r>
              <a:rPr lang="en-US" dirty="0"/>
              <a:t>Each 8-, 16- or 32-bit variables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How to return a value in a subroutine?</a:t>
            </a:r>
          </a:p>
          <a:p>
            <a:pPr lvl="1"/>
            <a:r>
              <a:rPr lang="en-US" dirty="0"/>
              <a:t>Value is returned in </a:t>
            </a:r>
            <a:r>
              <a:rPr lang="en-US" dirty="0">
                <a:latin typeface="Consolas" panose="020B0609020204030204" pitchFamily="49" charset="0"/>
                <a:cs typeface="Consolas" panose="020B0609020204030204" pitchFamily="49" charset="0"/>
              </a:rPr>
              <a:t>r0</a:t>
            </a:r>
          </a:p>
          <a:p>
            <a:r>
              <a:rPr lang="en-US" dirty="0"/>
              <a:t>How to preserve the running environment for the caller?</a:t>
            </a:r>
          </a:p>
          <a:p>
            <a:pPr lvl="1"/>
            <a:r>
              <a:rPr lang="en-US" dirty="0"/>
              <a:t>(to be covered)</a:t>
            </a:r>
          </a:p>
        </p:txBody>
      </p:sp>
    </p:spTree>
    <p:extLst>
      <p:ext uri="{BB962C8B-B14F-4D97-AF65-F5344CB8AC3E}">
        <p14:creationId xmlns:p14="http://schemas.microsoft.com/office/powerpoint/2010/main" val="1055677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fontScale="90000"/>
          </a:bodyPr>
          <a:lstStyle/>
          <a:p>
            <a:r>
              <a:rPr lang="en-US" dirty="0"/>
              <a:t>Quiz: What is wrong with the assembly implementation?</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609600" y="1531916"/>
            <a:ext cx="4897495" cy="181588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int16_t </a:t>
            </a:r>
            <a:r>
              <a:rPr lang="en-US" sz="1600" b="1" dirty="0" err="1">
                <a:solidFill>
                  <a:schemeClr val="accent1"/>
                </a:solidFill>
                <a:latin typeface="Consolas" panose="020B0609020204030204" pitchFamily="49" charset="0"/>
                <a:cs typeface="Consolas" panose="020B0609020204030204" pitchFamily="49" charset="0"/>
              </a:rPr>
              <a:t>sum_of_array</a:t>
            </a:r>
            <a:r>
              <a:rPr lang="en-US" sz="1600" dirty="0">
                <a:latin typeface="Consolas" panose="020B0609020204030204" pitchFamily="49" charset="0"/>
                <a:cs typeface="Consolas" panose="020B0609020204030204" pitchFamily="49" charset="0"/>
              </a:rPr>
              <a:t>(int16_t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uint32_t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int32_t sum = 0;</a:t>
            </a:r>
          </a:p>
          <a:p>
            <a:r>
              <a:rPr lang="en-US" sz="1600" dirty="0">
                <a:latin typeface="Consolas" panose="020B0609020204030204" pitchFamily="49" charset="0"/>
                <a:cs typeface="Consolas" panose="020B0609020204030204" pitchFamily="49" charset="0"/>
              </a:rPr>
              <a:t>    for(</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=0;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&lt;64;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array size = 64</a:t>
            </a:r>
          </a:p>
          <a:p>
            <a:r>
              <a:rPr lang="en-US" sz="1600" dirty="0">
                <a:latin typeface="Consolas" panose="020B0609020204030204" pitchFamily="49" charset="0"/>
                <a:cs typeface="Consolas" panose="020B0609020204030204" pitchFamily="49" charset="0"/>
              </a:rPr>
              <a:t>        sum +=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return (int16_t) sum;</a:t>
            </a:r>
          </a:p>
          <a:p>
            <a:r>
              <a:rPr lang="en-US" sz="1600"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B2D23A4E-8569-6941-84A9-89F1C41E64AF}"/>
              </a:ext>
            </a:extLst>
          </p:cNvPr>
          <p:cNvSpPr txBox="1"/>
          <p:nvPr/>
        </p:nvSpPr>
        <p:spPr>
          <a:xfrm>
            <a:off x="5787224" y="1531916"/>
            <a:ext cx="5795176"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b="1" dirty="0" err="1">
                <a:solidFill>
                  <a:schemeClr val="accent1"/>
                </a:solidFill>
                <a:latin typeface="Consolas" panose="020B0609020204030204" pitchFamily="49" charset="0"/>
                <a:cs typeface="Consolas" panose="020B0609020204030204" pitchFamily="49" charset="0"/>
              </a:rPr>
              <a:t>sum_of_array</a:t>
            </a:r>
            <a:r>
              <a:rPr lang="en-US" sz="1600" b="1" dirty="0">
                <a:solidFill>
                  <a:schemeClr val="accent1"/>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PROC</a:t>
            </a:r>
          </a:p>
          <a:p>
            <a:r>
              <a:rPr lang="en-US" sz="1600" dirty="0">
                <a:latin typeface="Consolas" panose="020B0609020204030204" pitchFamily="49" charset="0"/>
                <a:cs typeface="Consolas" panose="020B0609020204030204" pitchFamily="49" charset="0"/>
              </a:rPr>
              <a:t>      MOV   r2, #0  </a:t>
            </a:r>
            <a:r>
              <a:rPr lang="en-US" sz="1600" dirty="0">
                <a:solidFill>
                  <a:schemeClr val="bg1">
                    <a:lumMod val="50000"/>
                  </a:schemeClr>
                </a:solidFill>
                <a:latin typeface="Consolas" panose="020B0609020204030204" pitchFamily="49" charset="0"/>
                <a:cs typeface="Consolas" panose="020B0609020204030204" pitchFamily="49" charset="0"/>
              </a:rPr>
              <a:t>; loop index</a:t>
            </a:r>
          </a:p>
          <a:p>
            <a:r>
              <a:rPr lang="en-US" sz="1600" dirty="0">
                <a:latin typeface="Consolas" panose="020B0609020204030204" pitchFamily="49" charset="0"/>
                <a:cs typeface="Consolas" panose="020B0609020204030204" pitchFamily="49" charset="0"/>
              </a:rPr>
              <a:t>      MOV   r3, #0  </a:t>
            </a:r>
            <a:r>
              <a:rPr lang="en-US" sz="1600" dirty="0">
                <a:solidFill>
                  <a:schemeClr val="bg1">
                    <a:lumMod val="50000"/>
                  </a:schemeClr>
                </a:solidFill>
                <a:latin typeface="Consolas" panose="020B0609020204030204" pitchFamily="49" charset="0"/>
                <a:cs typeface="Consolas" panose="020B0609020204030204" pitchFamily="49" charset="0"/>
              </a:rPr>
              <a:t>; sum </a:t>
            </a:r>
          </a:p>
          <a:p>
            <a:r>
              <a:rPr lang="en-US" sz="1600" dirty="0">
                <a:latin typeface="Consolas" panose="020B0609020204030204" pitchFamily="49" charset="0"/>
                <a:cs typeface="Consolas" panose="020B0609020204030204" pitchFamily="49" charset="0"/>
              </a:rPr>
              <a:t>      B     check</a:t>
            </a:r>
          </a:p>
          <a:p>
            <a:r>
              <a:rPr lang="en-US" sz="1600" dirty="0">
                <a:latin typeface="Consolas" panose="020B0609020204030204" pitchFamily="49" charset="0"/>
                <a:cs typeface="Consolas" panose="020B0609020204030204" pitchFamily="49" charset="0"/>
              </a:rPr>
              <a:t>loop  LDRSH r1, [r0], #2 </a:t>
            </a:r>
          </a:p>
          <a:p>
            <a:r>
              <a:rPr lang="en-US" sz="1600" dirty="0">
                <a:latin typeface="Consolas" panose="020B0609020204030204" pitchFamily="49" charset="0"/>
                <a:cs typeface="Consolas" panose="020B0609020204030204" pitchFamily="49" charset="0"/>
              </a:rPr>
              <a:t>      ADD   r3, r3, r1  </a:t>
            </a:r>
            <a:r>
              <a:rPr lang="en-US" sz="1600" dirty="0">
                <a:solidFill>
                  <a:schemeClr val="bg1">
                    <a:lumMod val="50000"/>
                  </a:schemeClr>
                </a:solidFill>
                <a:latin typeface="Consolas" panose="020B0609020204030204" pitchFamily="49" charset="0"/>
                <a:cs typeface="Consolas" panose="020B0609020204030204" pitchFamily="49" charset="0"/>
              </a:rPr>
              <a:t>; sum += </a:t>
            </a:r>
            <a:r>
              <a:rPr lang="en-US" sz="1600" dirty="0" err="1">
                <a:solidFill>
                  <a:schemeClr val="bg1">
                    <a:lumMod val="50000"/>
                  </a:schemeClr>
                </a:solidFill>
                <a:latin typeface="Consolas" panose="020B0609020204030204" pitchFamily="49" charset="0"/>
                <a:cs typeface="Consolas" panose="020B0609020204030204" pitchFamily="49" charset="0"/>
              </a:rPr>
              <a:t>pArray</a:t>
            </a:r>
            <a:r>
              <a:rPr lang="en-US" sz="1600" dirty="0">
                <a:solidFill>
                  <a:schemeClr val="bg1">
                    <a:lumMod val="50000"/>
                  </a:schemeClr>
                </a:solidFill>
                <a:latin typeface="Consolas" panose="020B0609020204030204" pitchFamily="49" charset="0"/>
                <a:cs typeface="Consolas" panose="020B0609020204030204" pitchFamily="49" charset="0"/>
              </a:rPr>
              <a:t>[</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ADD   r2, r2, #1  </a:t>
            </a:r>
            <a:r>
              <a:rPr lang="en-US" sz="1600" dirty="0">
                <a:solidFill>
                  <a:schemeClr val="bg1">
                    <a:lumMod val="50000"/>
                  </a:schemeClr>
                </a:solidFill>
                <a:latin typeface="Consolas" panose="020B0609020204030204" pitchFamily="49" charset="0"/>
                <a:cs typeface="Consolas" panose="020B0609020204030204" pitchFamily="49" charset="0"/>
              </a:rPr>
              <a:t>; </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check CMP   r2, #64</a:t>
            </a:r>
          </a:p>
          <a:p>
            <a:r>
              <a:rPr lang="en-US" sz="1600" dirty="0">
                <a:latin typeface="Consolas" panose="020B0609020204030204" pitchFamily="49" charset="0"/>
                <a:cs typeface="Consolas" panose="020B0609020204030204" pitchFamily="49" charset="0"/>
              </a:rPr>
              <a:t>      BLO   loop        </a:t>
            </a:r>
            <a:r>
              <a:rPr lang="en-US" sz="1600" dirty="0">
                <a:solidFill>
                  <a:schemeClr val="bg1">
                    <a:lumMod val="50000"/>
                  </a:schemeClr>
                </a:solidFill>
                <a:latin typeface="Consolas" panose="020B0609020204030204" pitchFamily="49" charset="0"/>
                <a:cs typeface="Consolas" panose="020B0609020204030204" pitchFamily="49" charset="0"/>
              </a:rPr>
              <a:t>; branch if unsigned </a:t>
            </a:r>
            <a:r>
              <a:rPr lang="en-US" sz="1600" dirty="0" err="1">
                <a:solidFill>
                  <a:schemeClr val="bg1">
                    <a:lumMod val="50000"/>
                  </a:schemeClr>
                </a:solidFill>
                <a:latin typeface="Consolas" panose="020B0609020204030204" pitchFamily="49" charset="0"/>
                <a:cs typeface="Consolas" panose="020B0609020204030204" pitchFamily="49" charset="0"/>
              </a:rPr>
              <a:t>LOwer</a:t>
            </a:r>
            <a:endParaRPr lang="en-US" sz="1600" dirty="0">
              <a:solidFill>
                <a:schemeClr val="bg1">
                  <a:lumMod val="50000"/>
                </a:schemeClr>
              </a:solidFill>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MOV   r0, r3      </a:t>
            </a:r>
            <a:r>
              <a:rPr lang="en-US" sz="1600" dirty="0">
                <a:solidFill>
                  <a:schemeClr val="bg1">
                    <a:lumMod val="50000"/>
                  </a:schemeClr>
                </a:solidFill>
                <a:latin typeface="Consolas" panose="020B0609020204030204" pitchFamily="49" charset="0"/>
                <a:cs typeface="Consolas" panose="020B0609020204030204" pitchFamily="49" charset="0"/>
              </a:rPr>
              <a:t>; return result in r0</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017314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fontScale="90000"/>
          </a:bodyPr>
          <a:lstStyle/>
          <a:p>
            <a:r>
              <a:rPr lang="en-US" dirty="0"/>
              <a:t>Quiz: What is wrong with the assembly implementation?</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609600" y="1531916"/>
            <a:ext cx="4897495" cy="181588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int16_t </a:t>
            </a:r>
            <a:r>
              <a:rPr lang="en-US" sz="1600" b="1" dirty="0" err="1">
                <a:solidFill>
                  <a:schemeClr val="accent1"/>
                </a:solidFill>
                <a:latin typeface="Consolas" panose="020B0609020204030204" pitchFamily="49" charset="0"/>
                <a:cs typeface="Consolas" panose="020B0609020204030204" pitchFamily="49" charset="0"/>
              </a:rPr>
              <a:t>sum_of_array</a:t>
            </a:r>
            <a:r>
              <a:rPr lang="en-US" sz="1600" dirty="0">
                <a:latin typeface="Consolas" panose="020B0609020204030204" pitchFamily="49" charset="0"/>
                <a:cs typeface="Consolas" panose="020B0609020204030204" pitchFamily="49" charset="0"/>
              </a:rPr>
              <a:t>(int16_t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uint32_t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int32_t sum = 0;</a:t>
            </a:r>
          </a:p>
          <a:p>
            <a:r>
              <a:rPr lang="en-US" sz="1600" dirty="0">
                <a:latin typeface="Consolas" panose="020B0609020204030204" pitchFamily="49" charset="0"/>
                <a:cs typeface="Consolas" panose="020B0609020204030204" pitchFamily="49" charset="0"/>
              </a:rPr>
              <a:t>    for(</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=0;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&lt;64;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array size = 64</a:t>
            </a:r>
          </a:p>
          <a:p>
            <a:r>
              <a:rPr lang="en-US" sz="1600" dirty="0">
                <a:latin typeface="Consolas" panose="020B0609020204030204" pitchFamily="49" charset="0"/>
                <a:cs typeface="Consolas" panose="020B0609020204030204" pitchFamily="49" charset="0"/>
              </a:rPr>
              <a:t>        sum +=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return (int16_t) sum;</a:t>
            </a:r>
          </a:p>
          <a:p>
            <a:r>
              <a:rPr lang="en-US" sz="1600"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F4F6D7F-4E8E-4748-B8BF-4AEBF2493640}"/>
              </a:ext>
            </a:extLst>
          </p:cNvPr>
          <p:cNvSpPr txBox="1"/>
          <p:nvPr/>
        </p:nvSpPr>
        <p:spPr>
          <a:xfrm>
            <a:off x="5787224" y="1531916"/>
            <a:ext cx="5795176" cy="329320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b="1" dirty="0" err="1">
                <a:solidFill>
                  <a:schemeClr val="accent1"/>
                </a:solidFill>
                <a:latin typeface="Consolas" panose="020B0609020204030204" pitchFamily="49" charset="0"/>
                <a:cs typeface="Consolas" panose="020B0609020204030204" pitchFamily="49" charset="0"/>
              </a:rPr>
              <a:t>sum_of_array</a:t>
            </a:r>
            <a:r>
              <a:rPr lang="en-US" sz="1600" b="1" dirty="0">
                <a:solidFill>
                  <a:schemeClr val="accent1"/>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PROC</a:t>
            </a:r>
          </a:p>
          <a:p>
            <a:r>
              <a:rPr lang="en-US" sz="1600" dirty="0">
                <a:latin typeface="Consolas" panose="020B0609020204030204" pitchFamily="49" charset="0"/>
                <a:cs typeface="Consolas" panose="020B0609020204030204" pitchFamily="49" charset="0"/>
              </a:rPr>
              <a:t>      MOV   r2, #0  </a:t>
            </a:r>
            <a:r>
              <a:rPr lang="en-US" sz="1600" dirty="0">
                <a:solidFill>
                  <a:schemeClr val="bg1">
                    <a:lumMod val="50000"/>
                  </a:schemeClr>
                </a:solidFill>
                <a:latin typeface="Consolas" panose="020B0609020204030204" pitchFamily="49" charset="0"/>
                <a:cs typeface="Consolas" panose="020B0609020204030204" pitchFamily="49" charset="0"/>
              </a:rPr>
              <a:t>; loop index</a:t>
            </a:r>
          </a:p>
          <a:p>
            <a:r>
              <a:rPr lang="en-US" sz="1600" dirty="0">
                <a:latin typeface="Consolas" panose="020B0609020204030204" pitchFamily="49" charset="0"/>
                <a:cs typeface="Consolas" panose="020B0609020204030204" pitchFamily="49" charset="0"/>
              </a:rPr>
              <a:t>      MOV   r3, #0  </a:t>
            </a:r>
            <a:r>
              <a:rPr lang="en-US" sz="1600" dirty="0">
                <a:solidFill>
                  <a:schemeClr val="bg1">
                    <a:lumMod val="50000"/>
                  </a:schemeClr>
                </a:solidFill>
                <a:latin typeface="Consolas" panose="020B0609020204030204" pitchFamily="49" charset="0"/>
                <a:cs typeface="Consolas" panose="020B0609020204030204" pitchFamily="49" charset="0"/>
              </a:rPr>
              <a:t>; sum </a:t>
            </a:r>
          </a:p>
          <a:p>
            <a:r>
              <a:rPr lang="en-US" sz="1600" dirty="0">
                <a:latin typeface="Consolas" panose="020B0609020204030204" pitchFamily="49" charset="0"/>
                <a:cs typeface="Consolas" panose="020B0609020204030204" pitchFamily="49" charset="0"/>
              </a:rPr>
              <a:t>      B     check</a:t>
            </a:r>
          </a:p>
          <a:p>
            <a:r>
              <a:rPr lang="en-US" sz="1600" dirty="0">
                <a:latin typeface="Consolas" panose="020B0609020204030204" pitchFamily="49" charset="0"/>
                <a:cs typeface="Consolas" panose="020B0609020204030204" pitchFamily="49" charset="0"/>
              </a:rPr>
              <a:t>loop  LDRSH r1, [r0], #2 </a:t>
            </a:r>
          </a:p>
          <a:p>
            <a:r>
              <a:rPr lang="en-US" sz="1600" dirty="0">
                <a:latin typeface="Consolas" panose="020B0609020204030204" pitchFamily="49" charset="0"/>
                <a:cs typeface="Consolas" panose="020B0609020204030204" pitchFamily="49" charset="0"/>
              </a:rPr>
              <a:t>      ADD   r3, r3, r1  </a:t>
            </a:r>
            <a:r>
              <a:rPr lang="en-US" sz="1600" dirty="0">
                <a:solidFill>
                  <a:schemeClr val="bg1">
                    <a:lumMod val="50000"/>
                  </a:schemeClr>
                </a:solidFill>
                <a:latin typeface="Consolas" panose="020B0609020204030204" pitchFamily="49" charset="0"/>
                <a:cs typeface="Consolas" panose="020B0609020204030204" pitchFamily="49" charset="0"/>
              </a:rPr>
              <a:t>; sum += </a:t>
            </a:r>
            <a:r>
              <a:rPr lang="en-US" sz="1600" dirty="0" err="1">
                <a:solidFill>
                  <a:schemeClr val="bg1">
                    <a:lumMod val="50000"/>
                  </a:schemeClr>
                </a:solidFill>
                <a:latin typeface="Consolas" panose="020B0609020204030204" pitchFamily="49" charset="0"/>
                <a:cs typeface="Consolas" panose="020B0609020204030204" pitchFamily="49" charset="0"/>
              </a:rPr>
              <a:t>pArray</a:t>
            </a:r>
            <a:r>
              <a:rPr lang="en-US" sz="1600" dirty="0">
                <a:solidFill>
                  <a:schemeClr val="bg1">
                    <a:lumMod val="50000"/>
                  </a:schemeClr>
                </a:solidFill>
                <a:latin typeface="Consolas" panose="020B0609020204030204" pitchFamily="49" charset="0"/>
                <a:cs typeface="Consolas" panose="020B0609020204030204" pitchFamily="49" charset="0"/>
              </a:rPr>
              <a:t>[</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ADD   r2, r2, #1  </a:t>
            </a:r>
            <a:r>
              <a:rPr lang="en-US" sz="1600" dirty="0">
                <a:solidFill>
                  <a:schemeClr val="bg1">
                    <a:lumMod val="50000"/>
                  </a:schemeClr>
                </a:solidFill>
                <a:latin typeface="Consolas" panose="020B0609020204030204" pitchFamily="49" charset="0"/>
                <a:cs typeface="Consolas" panose="020B0609020204030204" pitchFamily="49" charset="0"/>
              </a:rPr>
              <a:t>; </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check CMP   r2, #64</a:t>
            </a:r>
          </a:p>
          <a:p>
            <a:r>
              <a:rPr lang="en-US" sz="1600" dirty="0">
                <a:latin typeface="Consolas" panose="020B0609020204030204" pitchFamily="49" charset="0"/>
                <a:cs typeface="Consolas" panose="020B0609020204030204" pitchFamily="49" charset="0"/>
              </a:rPr>
              <a:t>      BLO   loop        </a:t>
            </a:r>
            <a:r>
              <a:rPr lang="en-US" sz="1600" dirty="0">
                <a:solidFill>
                  <a:schemeClr val="bg1">
                    <a:lumMod val="50000"/>
                  </a:schemeClr>
                </a:solidFill>
                <a:latin typeface="Consolas" panose="020B0609020204030204" pitchFamily="49" charset="0"/>
                <a:cs typeface="Consolas" panose="020B0609020204030204" pitchFamily="49" charset="0"/>
              </a:rPr>
              <a:t>; branch if unsigned </a:t>
            </a:r>
            <a:r>
              <a:rPr lang="en-US" sz="1600" dirty="0" err="1">
                <a:solidFill>
                  <a:schemeClr val="bg1">
                    <a:lumMod val="50000"/>
                  </a:schemeClr>
                </a:solidFill>
                <a:latin typeface="Consolas" panose="020B0609020204030204" pitchFamily="49" charset="0"/>
                <a:cs typeface="Consolas" panose="020B0609020204030204" pitchFamily="49" charset="0"/>
              </a:rPr>
              <a:t>LOwer</a:t>
            </a:r>
            <a:endParaRPr lang="en-US" sz="1600" dirty="0">
              <a:solidFill>
                <a:schemeClr val="bg1">
                  <a:lumMod val="50000"/>
                </a:schemeClr>
              </a:solidFill>
              <a:latin typeface="Consolas" panose="020B0609020204030204" pitchFamily="49" charset="0"/>
              <a:cs typeface="Consolas" panose="020B0609020204030204" pitchFamily="49" charset="0"/>
            </a:endParaRP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MOV   r0, r3, LSL #16</a:t>
            </a: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MOV   r0, r0, ASR #16  </a:t>
            </a:r>
            <a:r>
              <a:rPr lang="en-US" sz="1600" dirty="0">
                <a:solidFill>
                  <a:srgbClr val="C00000"/>
                </a:solidFill>
                <a:latin typeface="Consolas" panose="020B0609020204030204" pitchFamily="49" charset="0"/>
                <a:cs typeface="Consolas" panose="020B0609020204030204" pitchFamily="49" charset="0"/>
              </a:rPr>
              <a:t>; r0 = (short) r3 </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ENDP</a:t>
            </a:r>
          </a:p>
        </p:txBody>
      </p:sp>
      <p:sp>
        <p:nvSpPr>
          <p:cNvPr id="4" name="TextBox 3">
            <a:extLst>
              <a:ext uri="{FF2B5EF4-FFF2-40B4-BE49-F238E27FC236}">
                <a16:creationId xmlns:a16="http://schemas.microsoft.com/office/drawing/2014/main" id="{97230E48-4625-B845-9B62-549F2F03DD9E}"/>
              </a:ext>
            </a:extLst>
          </p:cNvPr>
          <p:cNvSpPr txBox="1"/>
          <p:nvPr/>
        </p:nvSpPr>
        <p:spPr>
          <a:xfrm>
            <a:off x="7391400" y="5326084"/>
            <a:ext cx="292099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The sum is limited to 16 bits!</a:t>
            </a:r>
          </a:p>
        </p:txBody>
      </p:sp>
      <p:sp>
        <p:nvSpPr>
          <p:cNvPr id="7" name="TextBox 6">
            <a:extLst>
              <a:ext uri="{FF2B5EF4-FFF2-40B4-BE49-F238E27FC236}">
                <a16:creationId xmlns:a16="http://schemas.microsoft.com/office/drawing/2014/main" id="{FFE75029-A370-C947-92AB-86784A3F88C0}"/>
              </a:ext>
            </a:extLst>
          </p:cNvPr>
          <p:cNvSpPr txBox="1"/>
          <p:nvPr/>
        </p:nvSpPr>
        <p:spPr>
          <a:xfrm>
            <a:off x="381000" y="4956752"/>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0x12345678</a:t>
            </a:r>
          </a:p>
        </p:txBody>
      </p:sp>
      <p:cxnSp>
        <p:nvCxnSpPr>
          <p:cNvPr id="9" name="Straight Arrow Connector 8">
            <a:extLst>
              <a:ext uri="{FF2B5EF4-FFF2-40B4-BE49-F238E27FC236}">
                <a16:creationId xmlns:a16="http://schemas.microsoft.com/office/drawing/2014/main" id="{38C06581-F221-454A-B957-F8258EBDE837}"/>
              </a:ext>
            </a:extLst>
          </p:cNvPr>
          <p:cNvCxnSpPr/>
          <p:nvPr/>
        </p:nvCxnSpPr>
        <p:spPr>
          <a:xfrm>
            <a:off x="1981200" y="5141418"/>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80A862-E780-3041-A52F-CEC03FE2AA6F}"/>
              </a:ext>
            </a:extLst>
          </p:cNvPr>
          <p:cNvSpPr txBox="1"/>
          <p:nvPr/>
        </p:nvSpPr>
        <p:spPr>
          <a:xfrm>
            <a:off x="2510506" y="4956752"/>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0x00005678</a:t>
            </a:r>
          </a:p>
        </p:txBody>
      </p:sp>
      <p:sp>
        <p:nvSpPr>
          <p:cNvPr id="11" name="TextBox 10">
            <a:extLst>
              <a:ext uri="{FF2B5EF4-FFF2-40B4-BE49-F238E27FC236}">
                <a16:creationId xmlns:a16="http://schemas.microsoft.com/office/drawing/2014/main" id="{F73CED4B-2CEE-5847-B651-71C8F701F73C}"/>
              </a:ext>
            </a:extLst>
          </p:cNvPr>
          <p:cNvSpPr txBox="1"/>
          <p:nvPr/>
        </p:nvSpPr>
        <p:spPr>
          <a:xfrm>
            <a:off x="386993" y="5471885"/>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0x1234ABCD</a:t>
            </a:r>
          </a:p>
        </p:txBody>
      </p:sp>
      <p:cxnSp>
        <p:nvCxnSpPr>
          <p:cNvPr id="12" name="Straight Arrow Connector 11">
            <a:extLst>
              <a:ext uri="{FF2B5EF4-FFF2-40B4-BE49-F238E27FC236}">
                <a16:creationId xmlns:a16="http://schemas.microsoft.com/office/drawing/2014/main" id="{FD215319-D751-D24D-83E5-80D4E6FB9D69}"/>
              </a:ext>
            </a:extLst>
          </p:cNvPr>
          <p:cNvCxnSpPr/>
          <p:nvPr/>
        </p:nvCxnSpPr>
        <p:spPr>
          <a:xfrm>
            <a:off x="1987193" y="5656551"/>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396BB7-6492-2C46-A6BE-EF731ECF740B}"/>
              </a:ext>
            </a:extLst>
          </p:cNvPr>
          <p:cNvSpPr txBox="1"/>
          <p:nvPr/>
        </p:nvSpPr>
        <p:spPr>
          <a:xfrm>
            <a:off x="2516499" y="5471885"/>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0xFFFFABCD</a:t>
            </a:r>
          </a:p>
        </p:txBody>
      </p:sp>
      <p:sp>
        <p:nvSpPr>
          <p:cNvPr id="14" name="TextBox 13">
            <a:extLst>
              <a:ext uri="{FF2B5EF4-FFF2-40B4-BE49-F238E27FC236}">
                <a16:creationId xmlns:a16="http://schemas.microsoft.com/office/drawing/2014/main" id="{37AC389A-52DF-BA4B-B78C-31E43AB8F715}"/>
              </a:ext>
            </a:extLst>
          </p:cNvPr>
          <p:cNvSpPr txBox="1"/>
          <p:nvPr/>
        </p:nvSpPr>
        <p:spPr>
          <a:xfrm>
            <a:off x="381000" y="4171922"/>
            <a:ext cx="3223959"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int32_t x = 0x12345678;</a:t>
            </a:r>
          </a:p>
          <a:p>
            <a:r>
              <a:rPr lang="en-US" dirty="0">
                <a:solidFill>
                  <a:srgbClr val="C00000"/>
                </a:solidFill>
                <a:latin typeface="Consolas" panose="020B0609020204030204" pitchFamily="49" charset="0"/>
                <a:cs typeface="Consolas" panose="020B0609020204030204" pitchFamily="49" charset="0"/>
              </a:rPr>
              <a:t>int16_t y = (int16_t) x;</a:t>
            </a:r>
          </a:p>
        </p:txBody>
      </p:sp>
    </p:spTree>
    <p:extLst>
      <p:ext uri="{BB962C8B-B14F-4D97-AF65-F5344CB8AC3E}">
        <p14:creationId xmlns:p14="http://schemas.microsoft.com/office/powerpoint/2010/main" val="658532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fontScale="90000"/>
          </a:bodyPr>
          <a:lstStyle/>
          <a:p>
            <a:r>
              <a:rPr lang="en-US" dirty="0"/>
              <a:t>Quiz: What is wrong with the assembly implementation?</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609600" y="1531916"/>
            <a:ext cx="4897495" cy="181588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int16_t </a:t>
            </a:r>
            <a:r>
              <a:rPr lang="en-US" sz="1600" b="1" dirty="0" err="1">
                <a:solidFill>
                  <a:schemeClr val="accent1"/>
                </a:solidFill>
                <a:latin typeface="Consolas" panose="020B0609020204030204" pitchFamily="49" charset="0"/>
                <a:cs typeface="Consolas" panose="020B0609020204030204" pitchFamily="49" charset="0"/>
              </a:rPr>
              <a:t>sum_of_array</a:t>
            </a:r>
            <a:r>
              <a:rPr lang="en-US" sz="1600" dirty="0">
                <a:latin typeface="Consolas" panose="020B0609020204030204" pitchFamily="49" charset="0"/>
                <a:cs typeface="Consolas" panose="020B0609020204030204" pitchFamily="49" charset="0"/>
              </a:rPr>
              <a:t>(int16_t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uint32_t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int32_t sum = 0;</a:t>
            </a:r>
          </a:p>
          <a:p>
            <a:r>
              <a:rPr lang="en-US" sz="1600" dirty="0">
                <a:latin typeface="Consolas" panose="020B0609020204030204" pitchFamily="49" charset="0"/>
                <a:cs typeface="Consolas" panose="020B0609020204030204" pitchFamily="49" charset="0"/>
              </a:rPr>
              <a:t>    for(</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=0;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&lt;64;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array size = 64</a:t>
            </a:r>
          </a:p>
          <a:p>
            <a:r>
              <a:rPr lang="en-US" sz="1600" dirty="0">
                <a:latin typeface="Consolas" panose="020B0609020204030204" pitchFamily="49" charset="0"/>
                <a:cs typeface="Consolas" panose="020B0609020204030204" pitchFamily="49" charset="0"/>
              </a:rPr>
              <a:t>        sum +=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return (int16_t) sum;</a:t>
            </a:r>
          </a:p>
          <a:p>
            <a:r>
              <a:rPr lang="en-US" sz="1600"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F4F6D7F-4E8E-4748-B8BF-4AEBF2493640}"/>
              </a:ext>
            </a:extLst>
          </p:cNvPr>
          <p:cNvSpPr txBox="1"/>
          <p:nvPr/>
        </p:nvSpPr>
        <p:spPr>
          <a:xfrm>
            <a:off x="5787224" y="1531916"/>
            <a:ext cx="5795176"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b="1" dirty="0" err="1">
                <a:solidFill>
                  <a:schemeClr val="accent1"/>
                </a:solidFill>
                <a:latin typeface="Consolas" panose="020B0609020204030204" pitchFamily="49" charset="0"/>
                <a:cs typeface="Consolas" panose="020B0609020204030204" pitchFamily="49" charset="0"/>
              </a:rPr>
              <a:t>sum_of_array</a:t>
            </a:r>
            <a:r>
              <a:rPr lang="en-US" sz="1600" b="1" dirty="0">
                <a:solidFill>
                  <a:schemeClr val="accent1"/>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PROC</a:t>
            </a:r>
          </a:p>
          <a:p>
            <a:r>
              <a:rPr lang="en-US" sz="1600" dirty="0">
                <a:latin typeface="Consolas" panose="020B0609020204030204" pitchFamily="49" charset="0"/>
                <a:cs typeface="Consolas" panose="020B0609020204030204" pitchFamily="49" charset="0"/>
              </a:rPr>
              <a:t>      MOV   r2, #0  </a:t>
            </a:r>
            <a:r>
              <a:rPr lang="en-US" sz="1600" dirty="0">
                <a:solidFill>
                  <a:schemeClr val="bg1">
                    <a:lumMod val="50000"/>
                  </a:schemeClr>
                </a:solidFill>
                <a:latin typeface="Consolas" panose="020B0609020204030204" pitchFamily="49" charset="0"/>
                <a:cs typeface="Consolas" panose="020B0609020204030204" pitchFamily="49" charset="0"/>
              </a:rPr>
              <a:t>; loop index</a:t>
            </a:r>
          </a:p>
          <a:p>
            <a:r>
              <a:rPr lang="en-US" sz="1600" dirty="0">
                <a:latin typeface="Consolas" panose="020B0609020204030204" pitchFamily="49" charset="0"/>
                <a:cs typeface="Consolas" panose="020B0609020204030204" pitchFamily="49" charset="0"/>
              </a:rPr>
              <a:t>      MOV   r3, #0  </a:t>
            </a:r>
            <a:r>
              <a:rPr lang="en-US" sz="1600" dirty="0">
                <a:solidFill>
                  <a:schemeClr val="bg1">
                    <a:lumMod val="50000"/>
                  </a:schemeClr>
                </a:solidFill>
                <a:latin typeface="Consolas" panose="020B0609020204030204" pitchFamily="49" charset="0"/>
                <a:cs typeface="Consolas" panose="020B0609020204030204" pitchFamily="49" charset="0"/>
              </a:rPr>
              <a:t>; sum </a:t>
            </a:r>
          </a:p>
          <a:p>
            <a:r>
              <a:rPr lang="en-US" sz="1600" dirty="0">
                <a:latin typeface="Consolas" panose="020B0609020204030204" pitchFamily="49" charset="0"/>
                <a:cs typeface="Consolas" panose="020B0609020204030204" pitchFamily="49" charset="0"/>
              </a:rPr>
              <a:t>      B     check</a:t>
            </a:r>
          </a:p>
          <a:p>
            <a:r>
              <a:rPr lang="en-US" sz="1600" dirty="0">
                <a:latin typeface="Consolas" panose="020B0609020204030204" pitchFamily="49" charset="0"/>
                <a:cs typeface="Consolas" panose="020B0609020204030204" pitchFamily="49" charset="0"/>
              </a:rPr>
              <a:t>loop  LDRSH r1, [r0], #2 </a:t>
            </a:r>
          </a:p>
          <a:p>
            <a:r>
              <a:rPr lang="en-US" sz="1600" dirty="0">
                <a:latin typeface="Consolas" panose="020B0609020204030204" pitchFamily="49" charset="0"/>
                <a:cs typeface="Consolas" panose="020B0609020204030204" pitchFamily="49" charset="0"/>
              </a:rPr>
              <a:t>      ADD   r3, r3, r1  </a:t>
            </a:r>
            <a:r>
              <a:rPr lang="en-US" sz="1600" dirty="0">
                <a:solidFill>
                  <a:schemeClr val="bg1">
                    <a:lumMod val="50000"/>
                  </a:schemeClr>
                </a:solidFill>
                <a:latin typeface="Consolas" panose="020B0609020204030204" pitchFamily="49" charset="0"/>
                <a:cs typeface="Consolas" panose="020B0609020204030204" pitchFamily="49" charset="0"/>
              </a:rPr>
              <a:t>; sum += </a:t>
            </a:r>
            <a:r>
              <a:rPr lang="en-US" sz="1600" dirty="0" err="1">
                <a:solidFill>
                  <a:schemeClr val="bg1">
                    <a:lumMod val="50000"/>
                  </a:schemeClr>
                </a:solidFill>
                <a:latin typeface="Consolas" panose="020B0609020204030204" pitchFamily="49" charset="0"/>
                <a:cs typeface="Consolas" panose="020B0609020204030204" pitchFamily="49" charset="0"/>
              </a:rPr>
              <a:t>pArray</a:t>
            </a:r>
            <a:r>
              <a:rPr lang="en-US" sz="1600" dirty="0">
                <a:solidFill>
                  <a:schemeClr val="bg1">
                    <a:lumMod val="50000"/>
                  </a:schemeClr>
                </a:solidFill>
                <a:latin typeface="Consolas" panose="020B0609020204030204" pitchFamily="49" charset="0"/>
                <a:cs typeface="Consolas" panose="020B0609020204030204" pitchFamily="49" charset="0"/>
              </a:rPr>
              <a:t>[</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ADD   r2, r2, #1  </a:t>
            </a:r>
            <a:r>
              <a:rPr lang="en-US" sz="1600" dirty="0">
                <a:solidFill>
                  <a:schemeClr val="bg1">
                    <a:lumMod val="50000"/>
                  </a:schemeClr>
                </a:solidFill>
                <a:latin typeface="Consolas" panose="020B0609020204030204" pitchFamily="49" charset="0"/>
                <a:cs typeface="Consolas" panose="020B0609020204030204" pitchFamily="49" charset="0"/>
              </a:rPr>
              <a:t>; </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check CMP   r2, #64</a:t>
            </a:r>
          </a:p>
          <a:p>
            <a:r>
              <a:rPr lang="en-US" sz="1600" dirty="0">
                <a:latin typeface="Consolas" panose="020B0609020204030204" pitchFamily="49" charset="0"/>
                <a:cs typeface="Consolas" panose="020B0609020204030204" pitchFamily="49" charset="0"/>
              </a:rPr>
              <a:t>      BLO   loop        </a:t>
            </a:r>
            <a:r>
              <a:rPr lang="en-US" sz="1600" dirty="0">
                <a:solidFill>
                  <a:schemeClr val="bg1">
                    <a:lumMod val="50000"/>
                  </a:schemeClr>
                </a:solidFill>
                <a:latin typeface="Consolas" panose="020B0609020204030204" pitchFamily="49" charset="0"/>
                <a:cs typeface="Consolas" panose="020B0609020204030204" pitchFamily="49" charset="0"/>
              </a:rPr>
              <a:t>; branch if unsigned </a:t>
            </a:r>
            <a:r>
              <a:rPr lang="en-US" sz="1600" dirty="0" err="1">
                <a:solidFill>
                  <a:schemeClr val="bg1">
                    <a:lumMod val="50000"/>
                  </a:schemeClr>
                </a:solidFill>
                <a:latin typeface="Consolas" panose="020B0609020204030204" pitchFamily="49" charset="0"/>
                <a:cs typeface="Consolas" panose="020B0609020204030204" pitchFamily="49" charset="0"/>
              </a:rPr>
              <a:t>LOwer</a:t>
            </a:r>
            <a:endParaRPr lang="en-US" sz="1600" dirty="0">
              <a:solidFill>
                <a:schemeClr val="bg1">
                  <a:lumMod val="50000"/>
                </a:schemeClr>
              </a:solidFill>
              <a:latin typeface="Consolas" panose="020B0609020204030204" pitchFamily="49" charset="0"/>
              <a:cs typeface="Consolas" panose="020B0609020204030204" pitchFamily="49" charset="0"/>
            </a:endParaRP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SXTH  r0, r3      </a:t>
            </a:r>
            <a:r>
              <a:rPr lang="en-US" sz="1600" dirty="0">
                <a:solidFill>
                  <a:srgbClr val="C00000"/>
                </a:solidFill>
                <a:latin typeface="Consolas" panose="020B0609020204030204" pitchFamily="49" charset="0"/>
                <a:cs typeface="Consolas" panose="020B0609020204030204" pitchFamily="49" charset="0"/>
              </a:rPr>
              <a:t>; r0 = (short) r3 </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ENDP</a:t>
            </a:r>
          </a:p>
        </p:txBody>
      </p:sp>
      <p:sp>
        <p:nvSpPr>
          <p:cNvPr id="4" name="TextBox 3">
            <a:extLst>
              <a:ext uri="{FF2B5EF4-FFF2-40B4-BE49-F238E27FC236}">
                <a16:creationId xmlns:a16="http://schemas.microsoft.com/office/drawing/2014/main" id="{97230E48-4625-B845-9B62-549F2F03DD9E}"/>
              </a:ext>
            </a:extLst>
          </p:cNvPr>
          <p:cNvSpPr txBox="1"/>
          <p:nvPr/>
        </p:nvSpPr>
        <p:spPr>
          <a:xfrm>
            <a:off x="7391400" y="5326084"/>
            <a:ext cx="292099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The sum is limited to 16 bits!</a:t>
            </a:r>
          </a:p>
        </p:txBody>
      </p:sp>
      <p:sp>
        <p:nvSpPr>
          <p:cNvPr id="7" name="Rectangle 6">
            <a:extLst>
              <a:ext uri="{FF2B5EF4-FFF2-40B4-BE49-F238E27FC236}">
                <a16:creationId xmlns:a16="http://schemas.microsoft.com/office/drawing/2014/main" id="{B3C9639D-62AE-D443-8B47-4F2BF15C90B7}"/>
              </a:ext>
            </a:extLst>
          </p:cNvPr>
          <p:cNvSpPr/>
          <p:nvPr/>
        </p:nvSpPr>
        <p:spPr>
          <a:xfrm>
            <a:off x="6477000" y="4598488"/>
            <a:ext cx="3350597"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SXTH</a:t>
            </a:r>
            <a:r>
              <a:rPr lang="en-US" dirty="0">
                <a:latin typeface="Consolas" panose="020B0609020204030204" pitchFamily="49" charset="0"/>
                <a:cs typeface="Consolas" panose="020B0609020204030204" pitchFamily="49" charset="0"/>
              </a:rPr>
              <a:t> Sign extend Halfword</a:t>
            </a:r>
          </a:p>
        </p:txBody>
      </p:sp>
    </p:spTree>
    <p:extLst>
      <p:ext uri="{BB962C8B-B14F-4D97-AF65-F5344CB8AC3E}">
        <p14:creationId xmlns:p14="http://schemas.microsoft.com/office/powerpoint/2010/main" val="9996864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2729</TotalTime>
  <Words>5660</Words>
  <Application>Microsoft Office PowerPoint</Application>
  <PresentationFormat>Widescreen</PresentationFormat>
  <Paragraphs>1469</Paragraphs>
  <Slides>44</Slides>
  <Notes>4</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8" baseType="lpstr">
      <vt:lpstr>Bookman Old Style (Headings)</vt:lpstr>
      <vt:lpstr>Gill Sans MT (Body)</vt:lpstr>
      <vt:lpstr>Arial</vt:lpstr>
      <vt:lpstr>Bookman Old Style</vt:lpstr>
      <vt:lpstr>Calibri</vt:lpstr>
      <vt:lpstr>Cambria Math</vt:lpstr>
      <vt:lpstr>Consolas</vt:lpstr>
      <vt:lpstr>Courier New</vt:lpstr>
      <vt:lpstr>Gill Sans MT</vt:lpstr>
      <vt:lpstr>Palatino Linotype</vt:lpstr>
      <vt:lpstr>Wingdings</vt:lpstr>
      <vt:lpstr>Wingdings 3</vt:lpstr>
      <vt:lpstr>Origin</vt:lpstr>
      <vt:lpstr>Visio</vt:lpstr>
      <vt:lpstr>Dr. Yifeng Zhu Electrical and Computer Engineering University of Maine</vt:lpstr>
      <vt:lpstr>Overview</vt:lpstr>
      <vt:lpstr>Link Register (LR)</vt:lpstr>
      <vt:lpstr>Link Register (LR)</vt:lpstr>
      <vt:lpstr>Link Register (LR)</vt:lpstr>
      <vt:lpstr>Link Register (LR)</vt:lpstr>
      <vt:lpstr>Link Register (LR)</vt:lpstr>
      <vt:lpstr>Link Register (LR)</vt:lpstr>
      <vt:lpstr>Procedure Call Standard</vt:lpstr>
      <vt:lpstr>Passing Arguments and Returning Value</vt:lpstr>
      <vt:lpstr>PowerPoint Presentation</vt:lpstr>
      <vt:lpstr>PowerPoint Presentation</vt:lpstr>
      <vt:lpstr>Passing Arguments and Returning Value</vt:lpstr>
      <vt:lpstr>Returning Value</vt:lpstr>
      <vt:lpstr>PowerPoint Presentation</vt:lpstr>
      <vt:lpstr>PowerPoint Presentation</vt:lpstr>
      <vt:lpstr>PowerPoint Presentation</vt:lpstr>
      <vt:lpstr>PowerPoint Presentation</vt:lpstr>
      <vt:lpstr>PowerPoint Presentation</vt:lpstr>
      <vt:lpstr>Returning Value</vt:lpstr>
      <vt:lpstr>Calling Assembly Subroutine in C</vt:lpstr>
      <vt:lpstr>ARM Procedure Call Standard</vt:lpstr>
      <vt:lpstr>Callee Saved Registers vs  Caller Saved Registers</vt:lpstr>
      <vt:lpstr>ARM Procedure Call Standard</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Realities</vt:lpstr>
      <vt:lpstr>Realities</vt:lpstr>
      <vt:lpstr>Summary</vt:lpstr>
      <vt:lpstr>Quiz: What is wrong with the assembly implementation?</vt:lpstr>
      <vt:lpstr>Quiz: What is wrong with the assembly implementation?</vt:lpstr>
      <vt:lpstr>Quiz: What is wrong with the assembly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213</cp:revision>
  <cp:lastPrinted>2018-03-21T12:46:41Z</cp:lastPrinted>
  <dcterms:created xsi:type="dcterms:W3CDTF">2012-11-17T20:04:56Z</dcterms:created>
  <dcterms:modified xsi:type="dcterms:W3CDTF">2025-10-05T17:58:36Z</dcterms:modified>
</cp:coreProperties>
</file>