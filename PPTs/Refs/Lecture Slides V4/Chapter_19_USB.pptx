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7" r:id="rId10"/>
    <p:sldId id="266" r:id="rId11"/>
    <p:sldId id="264" r:id="rId12"/>
    <p:sldId id="268" r:id="rId13"/>
    <p:sldId id="271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3673" autoAdjust="0"/>
  </p:normalViewPr>
  <p:slideViewPr>
    <p:cSldViewPr>
      <p:cViewPr varScale="1">
        <p:scale>
          <a:sx n="133" d="100"/>
          <a:sy n="133" d="100"/>
        </p:scale>
        <p:origin x="3564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75166C-7A25-4630-8419-832FB4507348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E2E33-EA0D-4510-A036-6EEBE60970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3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97DC9DE6-826B-4A6C-9759-9727F7A4C8A4}" type="datetime1">
              <a:rPr lang="en-US" smtClean="0"/>
              <a:pPr eaLnBrk="1" latinLnBrk="0" hangingPunct="1"/>
              <a:t>9/24/2025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2FABA55-0640-49C2-9E8B-1599F639B853}" type="datetime1">
              <a:rPr lang="en-US" smtClean="0"/>
              <a:pPr eaLnBrk="1" latinLnBrk="0" hangingPunct="1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98F1C1B1-EDDE-45C8-A2A2-4A961A39DF9A}" type="datetime1">
              <a:rPr lang="en-US" smtClean="0"/>
              <a:pPr eaLnBrk="1" latinLnBrk="0" hangingPunct="1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3342350-A61E-4F48-9707-EE8A702AA694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EB447F2-E0CA-4130-85AA-BFC3483AB139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8CEA138-DBD4-450B-A9D1-B01324AEAB5C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C61B014-4081-4FB9-83F2-2DB52CBD0692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AF425A6-F079-4943-AD17-9409ADEE8ED3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AA807E7-FEB1-41B1-AF46-629DC5106AEA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CCC8B3A-6ACF-4AE2-A295-9BBDF78ED7C4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AFFAC0F-7A79-48B1-A5E9-2F5B84B616A2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FAD326F9-B406-40A1-8BA9-93AD3284A530}" type="datetime1">
              <a:rPr lang="en-US" smtClean="0"/>
              <a:pPr eaLnBrk="1" latinLnBrk="0" hangingPunct="1"/>
              <a:t>9/24/2025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Dr. Yifeng Zhu</a:t>
            </a:r>
            <a:br>
              <a:rPr lang="en-US" sz="2000" dirty="0"/>
            </a:br>
            <a:r>
              <a:rPr lang="en-US" sz="2000" dirty="0"/>
              <a:t>Electrical and Computer Engineering</a:t>
            </a:r>
            <a:br>
              <a:rPr lang="en-US" sz="2000" dirty="0"/>
            </a:br>
            <a:r>
              <a:rPr lang="en-US" sz="2000" dirty="0"/>
              <a:t>University of Maine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Fall 2025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0" y="703183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2140803"/>
            <a:ext cx="3849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>
                <a:solidFill>
                  <a:srgbClr val="C00000"/>
                </a:solidFill>
              </a:rPr>
              <a:t>Chapter 19</a:t>
            </a:r>
            <a:endParaRPr lang="en-US" sz="2400" b="1" dirty="0">
              <a:solidFill>
                <a:srgbClr val="C00000"/>
              </a:solidFill>
            </a:endParaRP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USB: Universal Serial Bus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USB Layers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202880"/>
            <a:ext cx="8610600" cy="512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9419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USB Connection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4145709"/>
            <a:ext cx="8229600" cy="2346960"/>
          </a:xfrm>
        </p:spPr>
        <p:txBody>
          <a:bodyPr>
            <a:normAutofit/>
          </a:bodyPr>
          <a:lstStyle/>
          <a:p>
            <a:r>
              <a:rPr lang="en-US" sz="2000" dirty="0"/>
              <a:t>Four shielded wires:  two for power (+</a:t>
            </a:r>
            <a:r>
              <a:rPr lang="en-US" sz="2000" dirty="0" err="1"/>
              <a:t>5V</a:t>
            </a:r>
            <a:r>
              <a:rPr lang="en-US" sz="2000" dirty="0"/>
              <a:t>, ground), two for data (D+, D-)</a:t>
            </a:r>
          </a:p>
          <a:p>
            <a:r>
              <a:rPr lang="en-US" sz="2000" dirty="0"/>
              <a:t>D+ and D- are twisted to cancel external electromagnetic interference</a:t>
            </a:r>
          </a:p>
          <a:p>
            <a:endParaRPr lang="en-US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318317"/>
            <a:ext cx="4572000" cy="1982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962400" y="3459909"/>
            <a:ext cx="1195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Standard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3405433"/>
            <a:ext cx="1194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Standard B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643" y="5405817"/>
            <a:ext cx="8000768" cy="6000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05800" y="5986926"/>
            <a:ext cx="15794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Image from wiki.com</a:t>
            </a:r>
          </a:p>
        </p:txBody>
      </p:sp>
    </p:spTree>
    <p:extLst>
      <p:ext uri="{BB962C8B-B14F-4D97-AF65-F5344CB8AC3E}">
        <p14:creationId xmlns:p14="http://schemas.microsoft.com/office/powerpoint/2010/main" val="3473730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USB Speed Identification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77035"/>
            <a:ext cx="8229600" cy="1981200"/>
          </a:xfrm>
        </p:spPr>
        <p:txBody>
          <a:bodyPr>
            <a:normAutofit/>
          </a:bodyPr>
          <a:lstStyle/>
          <a:p>
            <a:r>
              <a:rPr lang="en-US" sz="1800" dirty="0"/>
              <a:t>USB supports four transmission speeds: </a:t>
            </a:r>
          </a:p>
          <a:p>
            <a:pPr lvl="1"/>
            <a:r>
              <a:rPr lang="en-US" sz="1600" dirty="0"/>
              <a:t>low speed (1.5 Mbit/s = 187 KB/s) </a:t>
            </a:r>
          </a:p>
          <a:p>
            <a:pPr lvl="1"/>
            <a:r>
              <a:rPr lang="en-US" sz="1600" dirty="0"/>
              <a:t>full speed (12 Mbit/s = 1.5 MB/s) </a:t>
            </a:r>
          </a:p>
          <a:p>
            <a:pPr lvl="1"/>
            <a:r>
              <a:rPr lang="en-US" sz="1600" dirty="0"/>
              <a:t>high speed (480 Mbit/s = 60 MB/s) </a:t>
            </a:r>
          </a:p>
          <a:p>
            <a:pPr lvl="1"/>
            <a:r>
              <a:rPr lang="en-US" sz="1600" dirty="0"/>
              <a:t>super speed (4.8 </a:t>
            </a:r>
            <a:r>
              <a:rPr lang="en-US" sz="1600" dirty="0" err="1"/>
              <a:t>Gbit</a:t>
            </a:r>
            <a:r>
              <a:rPr lang="en-US" sz="1600" dirty="0"/>
              <a:t>/s = 600 MB/s)  </a:t>
            </a:r>
          </a:p>
          <a:p>
            <a:endParaRPr lang="en-US" sz="18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2782669"/>
            <a:ext cx="3895725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721" y="2835422"/>
            <a:ext cx="3895725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1719262" y="571500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/>
              <a:t>Full-speed mode (12 </a:t>
            </a:r>
            <a:r>
              <a:rPr lang="en-US" dirty="0" err="1"/>
              <a:t>Mbits</a:t>
            </a:r>
            <a:r>
              <a:rPr lang="en-US" dirty="0"/>
              <a:t>/s) identified by 1.5KΩ pull-up on D+</a:t>
            </a:r>
          </a:p>
        </p:txBody>
      </p:sp>
      <p:sp>
        <p:nvSpPr>
          <p:cNvPr id="9" name="Rectangle 8"/>
          <p:cNvSpPr/>
          <p:nvPr/>
        </p:nvSpPr>
        <p:spPr>
          <a:xfrm>
            <a:off x="7141749" y="576775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/>
              <a:t>Low-speed mode (1.5Mbits/s) identified by 1.5KΩ pull-up on D-</a:t>
            </a:r>
          </a:p>
        </p:txBody>
      </p:sp>
    </p:spTree>
    <p:extLst>
      <p:ext uri="{BB962C8B-B14F-4D97-AF65-F5344CB8AC3E}">
        <p14:creationId xmlns:p14="http://schemas.microsoft.com/office/powerpoint/2010/main" val="2931277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Non-Return-to-Zero Inverted (</a:t>
            </a:r>
            <a:r>
              <a:rPr lang="en-US" dirty="0" err="1"/>
              <a:t>NRZI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981200" y="4648200"/>
            <a:ext cx="8229600" cy="1203960"/>
          </a:xfrm>
        </p:spPr>
        <p:txBody>
          <a:bodyPr>
            <a:normAutofit/>
          </a:bodyPr>
          <a:lstStyle/>
          <a:p>
            <a:r>
              <a:rPr lang="en-US" sz="2400" dirty="0"/>
              <a:t>Logic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400" dirty="0"/>
              <a:t>: represented by a transition of the voltage level</a:t>
            </a:r>
          </a:p>
          <a:p>
            <a:r>
              <a:rPr lang="en-US" sz="2400" dirty="0"/>
              <a:t>Logic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400" dirty="0"/>
              <a:t>: represented by no transition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1"/>
            <a:ext cx="8915400" cy="2601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800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295401"/>
            <a:ext cx="6012873" cy="5373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4678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USB Descriptors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023345"/>
            <a:ext cx="8763000" cy="3848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6298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872926"/>
              </p:ext>
            </p:extLst>
          </p:nvPr>
        </p:nvGraphicFramePr>
        <p:xfrm>
          <a:off x="1828800" y="3810000"/>
          <a:ext cx="3276601" cy="2133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60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Field Name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Size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Offset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bLength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</a:rPr>
                        <a:t>bDescriptorType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</a:rPr>
                        <a:t>bInterfaceNumber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</a:rPr>
                        <a:t>bAlternateSetting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</a:rPr>
                        <a:t>bNumEndpoints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bInterfaceClass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bInterfaceSubClass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</a:rPr>
                        <a:t>bInterfaceProtocol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iInterface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249911"/>
              </p:ext>
            </p:extLst>
          </p:nvPr>
        </p:nvGraphicFramePr>
        <p:xfrm>
          <a:off x="6705601" y="3764280"/>
          <a:ext cx="2991899" cy="14935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89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63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76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Field Name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Size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Offset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76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bLength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bDescriptorType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76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bEndpointAddress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76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bmAttributes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76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wMaxPacketSize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76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</a:rPr>
                        <a:t>bInterval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990896"/>
              </p:ext>
            </p:extLst>
          </p:nvPr>
        </p:nvGraphicFramePr>
        <p:xfrm>
          <a:off x="6553200" y="381000"/>
          <a:ext cx="3200400" cy="19202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14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Field Name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Size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Offset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bLength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</a:rPr>
                        <a:t>bDescriptorType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</a:rPr>
                        <a:t>wTotalLenght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</a:rPr>
                        <a:t>bNumInterfaces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bConfigurationValue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iConfiguration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bmAttributes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bMaxPower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040477"/>
              </p:ext>
            </p:extLst>
          </p:nvPr>
        </p:nvGraphicFramePr>
        <p:xfrm>
          <a:off x="1849583" y="167640"/>
          <a:ext cx="3255817" cy="3200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62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8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Field Name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Size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Offset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bLength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bDescriptorType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bcdUSB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bDeviceClass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</a:rPr>
                        <a:t>bDeviceSubClass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</a:rPr>
                        <a:t>bDeviceProtocol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bMaxPacketSize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idVendor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idProduct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bcdDevice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iManufacturer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iProduct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15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iSerialNumber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16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</a:rPr>
                        <a:t>bNumConfigurations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17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Cambri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37092" y="3386554"/>
            <a:ext cx="27771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Device descriptor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2438400"/>
            <a:ext cx="27771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Configuration descriptor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988142"/>
            <a:ext cx="2777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</a:rPr>
              <a:t>Interface descriptor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0" y="5264727"/>
            <a:ext cx="27771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Endpoint descriptor</a:t>
            </a:r>
          </a:p>
        </p:txBody>
      </p:sp>
    </p:spTree>
    <p:extLst>
      <p:ext uri="{BB962C8B-B14F-4D97-AF65-F5344CB8AC3E}">
        <p14:creationId xmlns:p14="http://schemas.microsoft.com/office/powerpoint/2010/main" val="3134744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USB Enumeration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1277600" cy="493776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Detecting a device has been connected.  When a USB device is plugged into a host, there is a change on the USB D+ or D- line since one of them is pulled up by the device.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Determining the USB speed.  As introduced previously, pulling up D- via </a:t>
            </a:r>
            <a:r>
              <a:rPr lang="en-US" dirty="0" err="1"/>
              <a:t>1.5K</a:t>
            </a:r>
            <a:r>
              <a:rPr lang="en-US" dirty="0"/>
              <a:t>Ω pull-up to 3V indicates a low-speed device. The same pull-up on D+ specifies a high-speed device.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Retrieving the device descriptor and determining what device is attached.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Retrieving all configuration descriptors.  This process may take milliseconds to complete. The host selects one configuration.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Retrieving all interface descriptors.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Loading the corresponding device driver.  This is typically handled by the operating systems on the host. The host typically uses </a:t>
            </a:r>
            <a:r>
              <a:rPr lang="en-US" dirty="0" err="1"/>
              <a:t>idVendor</a:t>
            </a:r>
            <a:r>
              <a:rPr lang="en-US" dirty="0"/>
              <a:t> and </a:t>
            </a:r>
            <a:r>
              <a:rPr lang="en-US" dirty="0" err="1"/>
              <a:t>idProduct</a:t>
            </a:r>
            <a:r>
              <a:rPr lang="en-US" dirty="0"/>
              <a:t> to match a driver.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794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USB Enumeration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209800" y="6400800"/>
            <a:ext cx="8229600" cy="36576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dirty="0"/>
              <a:t>Format of Setup Request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325" y="1219201"/>
            <a:ext cx="6229350" cy="509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9103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"/>
            <a:ext cx="8991600" cy="685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5882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Interface Device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752600"/>
            <a:ext cx="8915400" cy="380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1169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HID Descriptor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4001"/>
            <a:ext cx="8995814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5897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 Report Format of Keyboard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981200"/>
            <a:ext cx="4495800" cy="3347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1065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 Report Format of Mouse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1" y="2209801"/>
            <a:ext cx="5781675" cy="2934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55795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1526</TotalTime>
  <Words>504</Words>
  <Application>Microsoft Office PowerPoint</Application>
  <PresentationFormat>Widescreen</PresentationFormat>
  <Paragraphs>180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Bookman Old Style (Headings)</vt:lpstr>
      <vt:lpstr>Bookman Old Style</vt:lpstr>
      <vt:lpstr>Calibri</vt:lpstr>
      <vt:lpstr>Cambria</vt:lpstr>
      <vt:lpstr>Consolas</vt:lpstr>
      <vt:lpstr>Gill Sans MT</vt:lpstr>
      <vt:lpstr>Wingdings</vt:lpstr>
      <vt:lpstr>Wingdings 3</vt:lpstr>
      <vt:lpstr>Origin</vt:lpstr>
      <vt:lpstr>Dr. Yifeng Zhu Electrical and Computer Engineering University of Maine</vt:lpstr>
      <vt:lpstr>USB Layers</vt:lpstr>
      <vt:lpstr>USB Connection</vt:lpstr>
      <vt:lpstr>USB Speed Identification</vt:lpstr>
      <vt:lpstr>Non-Return-to-Zero Inverted (NRZI)</vt:lpstr>
      <vt:lpstr>Interface</vt:lpstr>
      <vt:lpstr>USB Descriptors</vt:lpstr>
      <vt:lpstr>PowerPoint Presentation</vt:lpstr>
      <vt:lpstr>USB Enumeration </vt:lpstr>
      <vt:lpstr>USB Enumeration </vt:lpstr>
      <vt:lpstr>PowerPoint Presentation</vt:lpstr>
      <vt:lpstr>Human Interface Device</vt:lpstr>
      <vt:lpstr>GET HID Descriptor</vt:lpstr>
      <vt:lpstr>HID Report Format of Keyboard</vt:lpstr>
      <vt:lpstr>HID Report Format of Mouse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Yifeng Zhu</cp:lastModifiedBy>
  <cp:revision>99</cp:revision>
  <dcterms:created xsi:type="dcterms:W3CDTF">2013-04-23T04:23:51Z</dcterms:created>
  <dcterms:modified xsi:type="dcterms:W3CDTF">2025-09-25T00:33:20Z</dcterms:modified>
</cp:coreProperties>
</file>