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90" r:id="rId2"/>
    <p:sldId id="285" r:id="rId3"/>
    <p:sldId id="304" r:id="rId4"/>
    <p:sldId id="303" r:id="rId5"/>
    <p:sldId id="311" r:id="rId6"/>
    <p:sldId id="306" r:id="rId7"/>
    <p:sldId id="308" r:id="rId8"/>
    <p:sldId id="309" r:id="rId9"/>
    <p:sldId id="310" r:id="rId10"/>
    <p:sldId id="312" r:id="rId11"/>
    <p:sldId id="313" r:id="rId12"/>
    <p:sldId id="314" r:id="rId13"/>
    <p:sldId id="316" r:id="rId14"/>
    <p:sldId id="318" r:id="rId15"/>
    <p:sldId id="315" r:id="rId16"/>
    <p:sldId id="319" r:id="rId17"/>
    <p:sldId id="31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33CCFF"/>
    <a:srgbClr val="FF00FF"/>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04" autoAdjust="0"/>
    <p:restoredTop sz="89747" autoAdjust="0"/>
  </p:normalViewPr>
  <p:slideViewPr>
    <p:cSldViewPr>
      <p:cViewPr varScale="1">
        <p:scale>
          <a:sx n="117" d="100"/>
          <a:sy n="117" d="100"/>
        </p:scale>
        <p:origin x="222"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5/23/2023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5/23/2023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 this short video, let’s understand the booting</a:t>
            </a:r>
            <a:r>
              <a:rPr lang="en-US" baseline="0" dirty="0"/>
              <a:t> sequence of</a:t>
            </a:r>
            <a:r>
              <a:rPr lang="en-US" dirty="0"/>
              <a:t> ARM Cortex-M</a:t>
            </a:r>
            <a:r>
              <a:rPr lang="en-US" baseline="0" dirty="0"/>
              <a:t> processors</a:t>
            </a:r>
            <a:r>
              <a:rPr lang="en-US" dirty="0"/>
              <a: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a:t>
            </a:fld>
            <a:endParaRPr lang="en-US"/>
          </a:p>
        </p:txBody>
      </p:sp>
    </p:spTree>
    <p:extLst>
      <p:ext uri="{BB962C8B-B14F-4D97-AF65-F5344CB8AC3E}">
        <p14:creationId xmlns:p14="http://schemas.microsoft.com/office/powerpoint/2010/main" val="1104865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2400" b="0" i="0" kern="1200" baseline="0" dirty="0">
                <a:solidFill>
                  <a:schemeClr val="tx1"/>
                </a:solidFill>
                <a:effectLst/>
                <a:latin typeface="+mn-lt"/>
                <a:ea typeface="+mn-ea"/>
                <a:cs typeface="+mn-cs"/>
              </a:rPr>
              <a:t>{{Pause=2}} A system reset, sets all registers to their reset values, except for the reset flags in the clock controller register (CSR), and the registers in the backup domain.  A system reset can be generated by hardware or software. For example, if the NRST pin is pulled low, a system reset takes place.  NRST pin is pulled, up, internally within the processor chip. If the reset button is pressed down,  NRST pin is pulled low.  When the reset button is released, the NRST pin becomes high again.  A pulldown capacitor is added, in parallel with the reset button. This bypass capacitor is to improve the level of electromagnetic susceptibility (EMS) . Electromagnetic susceptibility of a device, is defined as, the ability to operate without fault, under electrical disturbances and noise. In other words, EMS is the level of tolerance to various forms of electromagnetic radiation. The bypass capacitor can remove high-frequency voltage signal from NRST pin, and thus reduce the transient circuit demand on the power supply unit. </a:t>
            </a:r>
          </a:p>
          <a:p>
            <a:endParaRPr lang="en-US" sz="2400" b="0" i="0"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149583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Let’s quickly review the interrupt vector table.  {{Pause=1}} The first word in the memory contains the value to initialize the Main Stack Pointer (MSP).  {{Pause=1}} The second word in the memory is a pointer to the function reset handler, which is the starting memory address, or called entry point, of the function reset handler. {{Pause=2}} Here is the booting process. When the processor boots, it first reads two pins, including pin boot 0, and pin boot 1. The processor determines the boot mode based on these two pins. {{Pause=1}} In the second step, the processor copies the value stored at the memory address 0 to the main stack pointer (MSP). Basically, the main stack pointer (MSP) is initialized in this step. {{Pause=1}} In the third step, the processor copies the value stored at the memory address 4 to the program counter (PC). Note that the program counter always holds the memory address of the next instruction to be executed by the processor. Therefore, immediately after the processor boots, the processor will start to execute the function reset handler.  Typically, the reset handler performs some hardware initialization first, such as initialization of data segment and </a:t>
            </a:r>
            <a:r>
              <a:rPr lang="en-US" dirty="0" err="1"/>
              <a:t>bss</a:t>
            </a:r>
            <a:r>
              <a:rPr lang="en-US" dirty="0"/>
              <a:t> segment. Then, the reset handler calls the main() function and transfers the control to the main() function. </a:t>
            </a:r>
            <a:endParaRPr lang="en-US" baseline="0"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4030988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is a specific example. Suppose the word stored at the memory address 0 is, 2 0 0 0 1 B </a:t>
            </a:r>
            <a:r>
              <a:rPr lang="en-US" dirty="0" err="1"/>
              <a:t>B</a:t>
            </a:r>
            <a:r>
              <a:rPr lang="en-US" dirty="0"/>
              <a:t> 0, in hex, and the word stored at the memory address 4 is, 0 8 0 0 0 2 6 9, in hex. {{Pause=1}} The second word holds the memory address of the function reset handler. The memory address of the reset handler function in fact is 0 8 0 0 0 2 6 8, in hex, which is different from the second word stored in the memory. The least significant bit of the memory address of the reset handler function is, 0, however, the least significant bit of the second word in the memory is, 1. This is because ARM uses the least significant bit of the program counter to indicate whether the processor run in the Thumb mode or the ARM mode. Because ARM Cortex-M processors only support the Thumb mode, the least significant bit of the program counter should always be 1. </a:t>
            </a:r>
          </a:p>
          <a:p>
            <a:endParaRPr lang="en-US" dirty="0"/>
          </a:p>
          <a:p>
            <a:r>
              <a:rPr lang="en-US" dirty="0"/>
              <a:t>{{Pause=2}} After the processor determines the boot mode by reading pin boot 0 and pin boot 1,  the processor copies the first word to the stack pointer register (SP). {{Pause=0.5}} Then, the processor copies the second word to the program counter register (PC).</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960266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{{Pause=2}} Most Cortex-M processors support at least three different boot modes. The processor can boot from the in-chip flash memory, the system memory, or the in-chip SRAM. The code stored in the system memory is called bootloader. The bootloader is usually provided by chip manufacturers.  A bootloader can upgrade the firmware inside the internal flash memory. {{Pause=0.5}} All STM32 microprocessors come with a pre-programmed bootloader, in a ready-only memory region (ROM). This ROM region is called system memory. However, sometimes, you want to develop a custom bootloader. For example, you may want to, encrypt the firmware, and put it on the internet so that customers can upgrade the firmware. In this case, you have to write a custom bootloader to decode the encrypted firmware.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3345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{{Pause=2}} Here is the memory map of ARM Cortex-M processors. The address range of each memory region is fixed. Let’s take a look at the code region. {{Pause=0.5}}  The code region ranges from 0 to 1FFFFFFF, in hex. The top area is the ROM region reserved to store bootloaders. {{Pause=1}} The middle area is the in-chip flash memory. {{Pause=1}} The bottom area is an area that can be physically mapped to the internal flash, system memory, and internal SRAM. The starting address of internal flash memory, the system memory, and internal SRAM is also fixed.  Specifically, the starting address of internal flash is 0 8 0 0 0 0 0 0, in hex, and the address of the system memory starts at 1 F </a:t>
            </a:r>
            <a:r>
              <a:rPr lang="en-US" dirty="0" err="1"/>
              <a:t>F</a:t>
            </a:r>
            <a:r>
              <a:rPr lang="en-US" dirty="0"/>
              <a:t> </a:t>
            </a:r>
            <a:r>
              <a:rPr lang="en-US" dirty="0" err="1"/>
              <a:t>F</a:t>
            </a:r>
            <a:r>
              <a:rPr lang="en-US" dirty="0"/>
              <a:t> 0 0 0 0, in hex. </a:t>
            </a:r>
          </a:p>
          <a:p>
            <a:endParaRPr lang="en-US" dirty="0"/>
          </a:p>
          <a:p>
            <a:r>
              <a:rPr lang="en-US" dirty="0"/>
              <a:t>{{Pause=1}} Now, let’s look at the boot mode.  The boot mode are determined by the voltage applied to pin boot 1 and pin boot 0.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626437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mn-lt"/>
                <a:ea typeface="+mn-ea"/>
                <a:cs typeface="+mn-cs"/>
              </a:rPr>
              <a:t>{{Pause=2}} If pin boot 0, is connected to the ground, the processor will boot from the internal flash memory.  If pin boot 0 is grounded, the processor will physically map the internal flash memory to the button area. {{Pause=1}} For example, the memory address 8000000 is physically mapped to the memory address 0. In other words, the Flash memory contents can be accessed starting from address 0 or, 8000000. {{Pause=1}}  As discussed previously, when the processor boots,  it always fetch the value of the stack pointer and program counter from the memory address 0 and 4, respectively. Because the internal flash memory is physically remapped to the starting address 0, the flash memory is in fact the boot memory.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2548575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When pin boot 1 is low, and pin boot 0 is high, the system memory is physically mapped to the bottom area. {{Pause=1}}  When the processor fetches the value of the program counter from memory address 4, the processor in fact fetches the value from the system memory. As result, the system memory is chosen as the boot memory. In this boot mode, processor can reprogram the flash memory or perform the device firmware upgrade.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1385084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{{Pause=2}} When both pin boot 1 and pin boot 0 are high, the internal SRAM is physically mapped to the bottom area. {{Pause=0.5}} The memory address 20000000 is physically mapped to the memory address 0. {{Pause=0.5}} Therefore, the processor boots from SRAM.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2962201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{{Pause=2}} Here, we answer three frequently asked questions.  First, how to set up the boot mode? The boot mode is determined by the PCB design, not by the processor.  For the STM32L4 discovery kit, the default boot memory is the internal flash because pin boot 0 is connected to the ground. {{Pause=1}} Second, how to place code to the boot memory? When the linker combines object and library files into a single executable, a linker script provides the linker two critical types of instructions regarding, how data and code sections are merged, and where each section should be placed in the memory. Programmers can modify the linker script to place the code in the target boot memory. {{Pause=1}} Third, how to set values stored at memory address 0 and 4? The short answer is the startup code. The startup code, such as the start up assembly file, sets these values. For example, the STM32 startup assembly file defines the stack size, the stack pointer’s initial value, and the program counter’s initial value.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22772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903483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1126859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473688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3927274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5/23/2023</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5/23/2023</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5/23/2023</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5/23/2023</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5/23/2023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5/23/2023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5/23/2023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5/23/2023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5/23/2023</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9400" y="5181600"/>
            <a:ext cx="8153400" cy="381000"/>
          </a:xfrm>
        </p:spPr>
        <p:txBody>
          <a:bodyPr>
            <a:noAutofit/>
          </a:bodyPr>
          <a:lstStyle/>
          <a:p>
            <a:r>
              <a:rPr lang="en-US" sz="2400" dirty="0"/>
              <a:t>Dr. Yifeng Zhu</a:t>
            </a:r>
          </a:p>
        </p:txBody>
      </p:sp>
      <p:sp>
        <p:nvSpPr>
          <p:cNvPr id="6" name="TextBox 5"/>
          <p:cNvSpPr txBox="1"/>
          <p:nvPr/>
        </p:nvSpPr>
        <p:spPr>
          <a:xfrm>
            <a:off x="-365760" y="964030"/>
            <a:ext cx="11353800" cy="1446550"/>
          </a:xfrm>
          <a:prstGeom prst="rect">
            <a:avLst/>
          </a:prstGeom>
          <a:noFill/>
        </p:spPr>
        <p:txBody>
          <a:bodyPr wrap="square" rtlCol="0">
            <a:spAutoFit/>
          </a:bodyPr>
          <a:lstStyle/>
          <a:p>
            <a:pPr algn="r"/>
            <a:r>
              <a:rPr lang="en-US" sz="4000" b="1" dirty="0">
                <a:solidFill>
                  <a:srgbClr val="C00000"/>
                </a:solidFill>
              </a:rPr>
              <a:t>ARM Cortex-M </a:t>
            </a:r>
          </a:p>
          <a:p>
            <a:pPr algn="r"/>
            <a:r>
              <a:rPr lang="en-US" sz="4800" b="1" dirty="0">
                <a:solidFill>
                  <a:srgbClr val="0000FF"/>
                </a:solidFill>
              </a:rPr>
              <a:t>Booting Process</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4" name="Subtitle 3"/>
          <p:cNvSpPr>
            <a:spLocks noGrp="1"/>
          </p:cNvSpPr>
          <p:nvPr>
            <p:ph type="subTitle" idx="1"/>
          </p:nvPr>
        </p:nvSpPr>
        <p:spPr>
          <a:xfrm>
            <a:off x="2438400" y="3657600"/>
            <a:ext cx="8534400" cy="1295400"/>
          </a:xfrm>
        </p:spPr>
        <p:txBody>
          <a:bodyPr>
            <a:noAutofit/>
          </a:bodyPr>
          <a:lstStyle/>
          <a:p>
            <a:r>
              <a:rPr lang="en-US" sz="2400" dirty="0"/>
              <a:t>Embedded Systems with ARM Cortex-M </a:t>
            </a:r>
          </a:p>
          <a:p>
            <a:r>
              <a:rPr lang="en-US" sz="2400" dirty="0"/>
              <a:t>Microcontrollers in Assembly Language and C</a:t>
            </a:r>
          </a:p>
          <a:p>
            <a:r>
              <a:rPr lang="en-US" sz="2400" dirty="0"/>
              <a:t>(Second Edition)</a:t>
            </a:r>
          </a:p>
        </p:txBody>
      </p:sp>
      <p:sp>
        <p:nvSpPr>
          <p:cNvPr id="3" name="TextBox 2"/>
          <p:cNvSpPr txBox="1"/>
          <p:nvPr/>
        </p:nvSpPr>
        <p:spPr>
          <a:xfrm>
            <a:off x="2810023" y="5892244"/>
            <a:ext cx="6713569" cy="461665"/>
          </a:xfrm>
          <a:prstGeom prst="rect">
            <a:avLst/>
          </a:prstGeom>
          <a:noFill/>
        </p:spPr>
        <p:txBody>
          <a:bodyPr wrap="none" rtlCol="0">
            <a:spAutoFit/>
          </a:bodyPr>
          <a:lstStyle/>
          <a:p>
            <a:r>
              <a:rPr lang="en-US" sz="2400" dirty="0"/>
              <a:t>Visit book website:  web.eece.maine.edu/~zhu/book/</a:t>
            </a:r>
          </a:p>
        </p:txBody>
      </p:sp>
    </p:spTree>
    <p:extLst>
      <p:ext uri="{BB962C8B-B14F-4D97-AF65-F5344CB8AC3E}">
        <p14:creationId xmlns:p14="http://schemas.microsoft.com/office/powerpoint/2010/main" val="1460471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Picture 83"/>
          <p:cNvPicPr>
            <a:picLocks noChangeAspect="1"/>
          </p:cNvPicPr>
          <p:nvPr/>
        </p:nvPicPr>
        <p:blipFill>
          <a:blip r:embed="rId4"/>
          <a:stretch>
            <a:fillRect/>
          </a:stretch>
        </p:blipFill>
        <p:spPr>
          <a:xfrm>
            <a:off x="7068333" y="2038350"/>
            <a:ext cx="3984731" cy="4185221"/>
          </a:xfrm>
          <a:prstGeom prst="rect">
            <a:avLst/>
          </a:prstGeom>
          <a:solidFill>
            <a:srgbClr val="FF33CC"/>
          </a:solidFill>
        </p:spPr>
      </p:pic>
      <p:sp>
        <p:nvSpPr>
          <p:cNvPr id="35" name="TextBox 34"/>
          <p:cNvSpPr txBox="1"/>
          <p:nvPr/>
        </p:nvSpPr>
        <p:spPr>
          <a:xfrm>
            <a:off x="11008252" y="3657600"/>
            <a:ext cx="939681" cy="646331"/>
          </a:xfrm>
          <a:prstGeom prst="rect">
            <a:avLst/>
          </a:prstGeom>
          <a:noFill/>
        </p:spPr>
        <p:txBody>
          <a:bodyPr wrap="none" rtlCol="0">
            <a:spAutoFit/>
          </a:bodyPr>
          <a:lstStyle/>
          <a:p>
            <a:r>
              <a:rPr lang="en-US" b="1" dirty="0">
                <a:solidFill>
                  <a:srgbClr val="FF0000"/>
                </a:solidFill>
              </a:rPr>
              <a:t>Reset </a:t>
            </a:r>
          </a:p>
          <a:p>
            <a:r>
              <a:rPr lang="en-US" b="1" dirty="0">
                <a:solidFill>
                  <a:srgbClr val="FF0000"/>
                </a:solidFill>
              </a:rPr>
              <a:t>Button</a:t>
            </a:r>
          </a:p>
        </p:txBody>
      </p:sp>
      <p:sp>
        <p:nvSpPr>
          <p:cNvPr id="37" name="Rectangle 36"/>
          <p:cNvSpPr/>
          <p:nvPr/>
        </p:nvSpPr>
        <p:spPr>
          <a:xfrm>
            <a:off x="10591800" y="4490190"/>
            <a:ext cx="1600200" cy="707886"/>
          </a:xfrm>
          <a:prstGeom prst="rect">
            <a:avLst/>
          </a:prstGeom>
        </p:spPr>
        <p:txBody>
          <a:bodyPr wrap="square">
            <a:spAutoFit/>
          </a:bodyPr>
          <a:lstStyle/>
          <a:p>
            <a:pPr algn="ctr"/>
            <a:r>
              <a:rPr lang="en-US" sz="2000" i="1" dirty="0">
                <a:solidFill>
                  <a:srgbClr val="C00000"/>
                </a:solidFill>
              </a:rPr>
              <a:t>Manually pull NRST pin low</a:t>
            </a:r>
          </a:p>
        </p:txBody>
      </p:sp>
      <p:grpSp>
        <p:nvGrpSpPr>
          <p:cNvPr id="85" name="Group 84"/>
          <p:cNvGrpSpPr/>
          <p:nvPr/>
        </p:nvGrpSpPr>
        <p:grpSpPr>
          <a:xfrm>
            <a:off x="3048000" y="951978"/>
            <a:ext cx="4392652" cy="3638812"/>
            <a:chOff x="3684548" y="1704048"/>
            <a:chExt cx="4392652" cy="3638812"/>
          </a:xfrm>
        </p:grpSpPr>
        <p:grpSp>
          <p:nvGrpSpPr>
            <p:cNvPr id="28" name="Group 27"/>
            <p:cNvGrpSpPr/>
            <p:nvPr/>
          </p:nvGrpSpPr>
          <p:grpSpPr>
            <a:xfrm>
              <a:off x="3684548" y="1704048"/>
              <a:ext cx="4073004" cy="3638812"/>
              <a:chOff x="3929333" y="1006354"/>
              <a:chExt cx="2153739" cy="1707232"/>
            </a:xfrm>
          </p:grpSpPr>
          <p:pic>
            <p:nvPicPr>
              <p:cNvPr id="30" name="Picture 3"/>
              <p:cNvPicPr>
                <a:picLocks noChangeAspect="1" noChangeArrowheads="1"/>
              </p:cNvPicPr>
              <p:nvPr/>
            </p:nvPicPr>
            <p:blipFill>
              <a:blip r:embed="rId5" cstate="print"/>
              <a:srcRect/>
              <a:stretch>
                <a:fillRect/>
              </a:stretch>
            </p:blipFill>
            <p:spPr bwMode="auto">
              <a:xfrm>
                <a:off x="3929333" y="1006354"/>
                <a:ext cx="2153739" cy="1707232"/>
              </a:xfrm>
              <a:prstGeom prst="rect">
                <a:avLst/>
              </a:prstGeom>
              <a:noFill/>
              <a:ln w="9525">
                <a:noFill/>
                <a:miter lim="800000"/>
                <a:headEnd/>
                <a:tailEnd/>
              </a:ln>
            </p:spPr>
          </p:pic>
          <p:sp>
            <p:nvSpPr>
              <p:cNvPr id="32" name="TextBox 31"/>
              <p:cNvSpPr txBox="1"/>
              <p:nvPr/>
            </p:nvSpPr>
            <p:spPr>
              <a:xfrm>
                <a:off x="4365643" y="1943096"/>
                <a:ext cx="1240020" cy="505401"/>
              </a:xfrm>
              <a:prstGeom prst="rect">
                <a:avLst/>
              </a:prstGeom>
              <a:noFill/>
            </p:spPr>
            <p:txBody>
              <a:bodyPr wrap="square" rtlCol="0">
                <a:spAutoFit/>
              </a:bodyPr>
              <a:lstStyle/>
              <a:p>
                <a:pPr algn="ctr"/>
                <a:r>
                  <a:rPr lang="en-US" sz="3200" b="1" dirty="0">
                    <a:solidFill>
                      <a:schemeClr val="bg1"/>
                    </a:solidFill>
                  </a:rPr>
                  <a:t>ARM </a:t>
                </a:r>
              </a:p>
              <a:p>
                <a:pPr algn="ctr"/>
                <a:r>
                  <a:rPr lang="en-US" sz="3200" b="1" dirty="0">
                    <a:solidFill>
                      <a:schemeClr val="bg1"/>
                    </a:solidFill>
                  </a:rPr>
                  <a:t>Cortex-M4</a:t>
                </a:r>
              </a:p>
            </p:txBody>
          </p:sp>
        </p:grpSp>
        <p:cxnSp>
          <p:nvCxnSpPr>
            <p:cNvPr id="15" name="Straight Connector 14"/>
            <p:cNvCxnSpPr/>
            <p:nvPr/>
          </p:nvCxnSpPr>
          <p:spPr>
            <a:xfrm flipH="1">
              <a:off x="6632751" y="3464619"/>
              <a:ext cx="1444449"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790854" y="3279953"/>
              <a:ext cx="841897" cy="369332"/>
            </a:xfrm>
            <a:prstGeom prst="rect">
              <a:avLst/>
            </a:prstGeom>
            <a:noFill/>
          </p:spPr>
          <p:txBody>
            <a:bodyPr wrap="none" rtlCol="0">
              <a:spAutoFit/>
            </a:bodyPr>
            <a:lstStyle/>
            <a:p>
              <a:r>
                <a:rPr lang="en-US" b="1" dirty="0">
                  <a:solidFill>
                    <a:srgbClr val="FFFF00"/>
                  </a:solidFill>
                </a:rPr>
                <a:t>NRST</a:t>
              </a:r>
            </a:p>
          </p:txBody>
        </p:sp>
        <p:grpSp>
          <p:nvGrpSpPr>
            <p:cNvPr id="72" name="Group 71"/>
            <p:cNvGrpSpPr/>
            <p:nvPr/>
          </p:nvGrpSpPr>
          <p:grpSpPr>
            <a:xfrm>
              <a:off x="6705310" y="2734634"/>
              <a:ext cx="203185" cy="474819"/>
              <a:chOff x="6210953" y="2671769"/>
              <a:chExt cx="393032" cy="474819"/>
            </a:xfrm>
          </p:grpSpPr>
          <p:grpSp>
            <p:nvGrpSpPr>
              <p:cNvPr id="66" name="Group 65"/>
              <p:cNvGrpSpPr/>
              <p:nvPr/>
            </p:nvGrpSpPr>
            <p:grpSpPr>
              <a:xfrm>
                <a:off x="6210953" y="2671769"/>
                <a:ext cx="383979" cy="238808"/>
                <a:chOff x="4264221" y="5976596"/>
                <a:chExt cx="383979" cy="815412"/>
              </a:xfrm>
            </p:grpSpPr>
            <p:cxnSp>
              <p:nvCxnSpPr>
                <p:cNvPr id="43" name="Straight Connector 42"/>
                <p:cNvCxnSpPr/>
                <p:nvPr/>
              </p:nvCxnSpPr>
              <p:spPr>
                <a:xfrm>
                  <a:off x="4457700" y="5976596"/>
                  <a:ext cx="190500" cy="13590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4264221" y="6112498"/>
                  <a:ext cx="383979" cy="2718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flipV="1">
                  <a:off x="4264221" y="6384302"/>
                  <a:ext cx="381000" cy="2718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4454721" y="6656106"/>
                  <a:ext cx="190500" cy="13590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flipH="1">
                <a:off x="6220006" y="2907780"/>
                <a:ext cx="383979" cy="238808"/>
                <a:chOff x="4264221" y="5976596"/>
                <a:chExt cx="383979" cy="815412"/>
              </a:xfrm>
            </p:grpSpPr>
            <p:cxnSp>
              <p:nvCxnSpPr>
                <p:cNvPr id="68" name="Straight Connector 67"/>
                <p:cNvCxnSpPr/>
                <p:nvPr/>
              </p:nvCxnSpPr>
              <p:spPr>
                <a:xfrm>
                  <a:off x="4457700" y="5976596"/>
                  <a:ext cx="190500" cy="13590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4264221" y="6112498"/>
                  <a:ext cx="383979" cy="2718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H="1" flipV="1">
                  <a:off x="4264221" y="6384302"/>
                  <a:ext cx="381000" cy="2718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H="1">
                  <a:off x="4454721" y="6656106"/>
                  <a:ext cx="190500" cy="13590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grpSp>
        <p:cxnSp>
          <p:nvCxnSpPr>
            <p:cNvPr id="75" name="Straight Connector 74"/>
            <p:cNvCxnSpPr/>
            <p:nvPr/>
          </p:nvCxnSpPr>
          <p:spPr>
            <a:xfrm>
              <a:off x="6562370" y="3464619"/>
              <a:ext cx="609254" cy="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801723" y="3211412"/>
              <a:ext cx="0" cy="253207"/>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799906" y="2483665"/>
              <a:ext cx="0" cy="253207"/>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6807596" y="2360838"/>
              <a:ext cx="0" cy="253207"/>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2" name="Title 1"/>
          <p:cNvSpPr>
            <a:spLocks noGrp="1"/>
          </p:cNvSpPr>
          <p:nvPr>
            <p:ph type="title" idx="4294967295"/>
          </p:nvPr>
        </p:nvSpPr>
        <p:spPr>
          <a:xfrm>
            <a:off x="448446" y="152400"/>
            <a:ext cx="10524354" cy="596179"/>
          </a:xfrm>
        </p:spPr>
        <p:txBody>
          <a:bodyPr>
            <a:noAutofit/>
          </a:bodyPr>
          <a:lstStyle/>
          <a:p>
            <a:r>
              <a:rPr lang="en-US" dirty="0"/>
              <a:t>External Reset</a:t>
            </a:r>
          </a:p>
        </p:txBody>
      </p:sp>
      <p:pic>
        <p:nvPicPr>
          <p:cNvPr id="38" name="Picture 37"/>
          <p:cNvPicPr>
            <a:picLocks noChangeAspect="1"/>
          </p:cNvPicPr>
          <p:nvPr/>
        </p:nvPicPr>
        <p:blipFill>
          <a:blip r:embed="rId6"/>
          <a:stretch>
            <a:fillRect/>
          </a:stretch>
        </p:blipFill>
        <p:spPr>
          <a:xfrm>
            <a:off x="872072" y="1143000"/>
            <a:ext cx="2403698" cy="5303612"/>
          </a:xfrm>
          <a:prstGeom prst="rect">
            <a:avLst/>
          </a:prstGeom>
        </p:spPr>
      </p:pic>
      <p:sp>
        <p:nvSpPr>
          <p:cNvPr id="48" name="Rectangle 47"/>
          <p:cNvSpPr/>
          <p:nvPr/>
        </p:nvSpPr>
        <p:spPr>
          <a:xfrm>
            <a:off x="1408590" y="4766950"/>
            <a:ext cx="533399" cy="4604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p:nvPr/>
        </p:nvCxnSpPr>
        <p:spPr>
          <a:xfrm>
            <a:off x="448446" y="4403578"/>
            <a:ext cx="963146" cy="3633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1842" y="3766464"/>
            <a:ext cx="1121629" cy="584775"/>
          </a:xfrm>
          <a:prstGeom prst="rect">
            <a:avLst/>
          </a:prstGeom>
          <a:noFill/>
        </p:spPr>
        <p:txBody>
          <a:bodyPr wrap="square" rtlCol="0">
            <a:spAutoFit/>
          </a:bodyPr>
          <a:lstStyle/>
          <a:p>
            <a:r>
              <a:rPr lang="en-US" sz="1600" dirty="0">
                <a:solidFill>
                  <a:srgbClr val="FF0000"/>
                </a:solidFill>
              </a:rPr>
              <a:t>Reset Button</a:t>
            </a:r>
          </a:p>
        </p:txBody>
      </p:sp>
      <p:sp>
        <p:nvSpPr>
          <p:cNvPr id="60" name="TextBox 59"/>
          <p:cNvSpPr txBox="1"/>
          <p:nvPr/>
        </p:nvSpPr>
        <p:spPr>
          <a:xfrm>
            <a:off x="1028746" y="6383944"/>
            <a:ext cx="2403698" cy="338554"/>
          </a:xfrm>
          <a:prstGeom prst="rect">
            <a:avLst/>
          </a:prstGeom>
          <a:noFill/>
        </p:spPr>
        <p:txBody>
          <a:bodyPr wrap="square" rtlCol="0">
            <a:spAutoFit/>
          </a:bodyPr>
          <a:lstStyle/>
          <a:p>
            <a:pPr algn="ctr"/>
            <a:r>
              <a:rPr lang="en-US" sz="1600" dirty="0"/>
              <a:t>STM32L4 Discovery Kit</a:t>
            </a:r>
          </a:p>
        </p:txBody>
      </p:sp>
      <p:sp>
        <p:nvSpPr>
          <p:cNvPr id="4" name="TextBox 3"/>
          <p:cNvSpPr txBox="1"/>
          <p:nvPr/>
        </p:nvSpPr>
        <p:spPr>
          <a:xfrm>
            <a:off x="5923897" y="1447800"/>
            <a:ext cx="474682" cy="307777"/>
          </a:xfrm>
          <a:prstGeom prst="rect">
            <a:avLst/>
          </a:prstGeom>
          <a:noFill/>
        </p:spPr>
        <p:txBody>
          <a:bodyPr wrap="none" rtlCol="0">
            <a:spAutoFit/>
          </a:bodyPr>
          <a:lstStyle/>
          <a:p>
            <a:r>
              <a:rPr lang="en-US" sz="1400" dirty="0" err="1">
                <a:solidFill>
                  <a:srgbClr val="FFFF00"/>
                </a:solidFill>
              </a:rPr>
              <a:t>Vdd</a:t>
            </a:r>
            <a:endParaRPr lang="en-US" sz="1400" dirty="0">
              <a:solidFill>
                <a:srgbClr val="FFFF00"/>
              </a:solidFill>
            </a:endParaRPr>
          </a:p>
        </p:txBody>
      </p:sp>
      <p:cxnSp>
        <p:nvCxnSpPr>
          <p:cNvPr id="6" name="Straight Arrow Connector 5"/>
          <p:cNvCxnSpPr/>
          <p:nvPr/>
        </p:nvCxnSpPr>
        <p:spPr>
          <a:xfrm flipH="1">
            <a:off x="8382000" y="4114800"/>
            <a:ext cx="838200" cy="288778"/>
          </a:xfrm>
          <a:prstGeom prst="straightConnector1">
            <a:avLst/>
          </a:prstGeom>
          <a:ln w="28575">
            <a:solidFill>
              <a:srgbClr val="FF33CC"/>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987324" y="4290510"/>
            <a:ext cx="1417568" cy="369332"/>
          </a:xfrm>
          <a:prstGeom prst="rect">
            <a:avLst/>
          </a:prstGeom>
          <a:noFill/>
        </p:spPr>
        <p:txBody>
          <a:bodyPr wrap="none" rtlCol="0">
            <a:spAutoFit/>
          </a:bodyPr>
          <a:lstStyle/>
          <a:p>
            <a:r>
              <a:rPr lang="en-US" dirty="0">
                <a:solidFill>
                  <a:srgbClr val="FF33CC"/>
                </a:solidFill>
              </a:rPr>
              <a:t>Improve EMS</a:t>
            </a:r>
          </a:p>
        </p:txBody>
      </p:sp>
      <p:sp>
        <p:nvSpPr>
          <p:cNvPr id="9" name="TextBox 8"/>
          <p:cNvSpPr txBox="1"/>
          <p:nvPr/>
        </p:nvSpPr>
        <p:spPr>
          <a:xfrm>
            <a:off x="5364821" y="1814892"/>
            <a:ext cx="787395" cy="738664"/>
          </a:xfrm>
          <a:prstGeom prst="rect">
            <a:avLst/>
          </a:prstGeom>
          <a:noFill/>
        </p:spPr>
        <p:txBody>
          <a:bodyPr wrap="none" rtlCol="0">
            <a:spAutoFit/>
          </a:bodyPr>
          <a:lstStyle/>
          <a:p>
            <a:r>
              <a:rPr lang="en-US" sz="1400" dirty="0">
                <a:solidFill>
                  <a:srgbClr val="FFFF00"/>
                </a:solidFill>
              </a:rPr>
              <a:t>Pull-up </a:t>
            </a:r>
          </a:p>
          <a:p>
            <a:r>
              <a:rPr lang="en-US" sz="1400" dirty="0">
                <a:solidFill>
                  <a:srgbClr val="FFFF00"/>
                </a:solidFill>
              </a:rPr>
              <a:t>Resistor</a:t>
            </a:r>
          </a:p>
          <a:p>
            <a:r>
              <a:rPr lang="en-US" sz="1400" dirty="0">
                <a:solidFill>
                  <a:srgbClr val="FFFF00"/>
                </a:solidFill>
              </a:rPr>
              <a:t>(40K</a:t>
            </a:r>
            <a:r>
              <a:rPr lang="el-GR" sz="1400" dirty="0">
                <a:solidFill>
                  <a:srgbClr val="FFFF00"/>
                </a:solidFill>
              </a:rPr>
              <a:t>Ω</a:t>
            </a:r>
            <a:r>
              <a:rPr lang="en-US" sz="1400" dirty="0">
                <a:solidFill>
                  <a:srgbClr val="FFFF00"/>
                </a:solidFill>
              </a:rPr>
              <a:t>)</a:t>
            </a:r>
          </a:p>
        </p:txBody>
      </p:sp>
    </p:spTree>
    <p:custDataLst>
      <p:tags r:id="rId1"/>
    </p:custDataLst>
    <p:extLst>
      <p:ext uri="{BB962C8B-B14F-4D97-AF65-F5344CB8AC3E}">
        <p14:creationId xmlns:p14="http://schemas.microsoft.com/office/powerpoint/2010/main" val="3716253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3</a:t>
            </a:fld>
            <a:endParaRPr kumimoji="0" lang="en-US"/>
          </a:p>
        </p:txBody>
      </p:sp>
      <p:sp>
        <p:nvSpPr>
          <p:cNvPr id="8" name="Content Placeholder 7"/>
          <p:cNvSpPr>
            <a:spLocks noGrp="1"/>
          </p:cNvSpPr>
          <p:nvPr>
            <p:ph sz="quarter" idx="4294967295"/>
          </p:nvPr>
        </p:nvSpPr>
        <p:spPr>
          <a:xfrm>
            <a:off x="8077200" y="2057400"/>
            <a:ext cx="3810000" cy="2743200"/>
          </a:xfrm>
        </p:spPr>
        <p:txBody>
          <a:bodyPr>
            <a:noAutofit/>
          </a:bodyPr>
          <a:lstStyle/>
          <a:p>
            <a:pPr marL="0" indent="0">
              <a:buNone/>
            </a:pPr>
            <a:r>
              <a:rPr lang="en-US" sz="2000" dirty="0">
                <a:solidFill>
                  <a:srgbClr val="C00000"/>
                </a:solidFill>
              </a:rPr>
              <a:t>Booting Sequence:</a:t>
            </a:r>
          </a:p>
          <a:p>
            <a:pPr marL="0" indent="0">
              <a:buNone/>
            </a:pPr>
            <a:r>
              <a:rPr lang="en-US" sz="2000" b="1" dirty="0">
                <a:latin typeface="Consolas" panose="020B0609020204030204" pitchFamily="49" charset="0"/>
                <a:cs typeface="Consolas" panose="020B0609020204030204" pitchFamily="49" charset="0"/>
              </a:rPr>
              <a:t>1. </a:t>
            </a:r>
            <a:r>
              <a:rPr lang="en-US" sz="2000" dirty="0"/>
              <a:t>Read pins </a:t>
            </a:r>
            <a:r>
              <a:rPr lang="en-US" sz="2000" dirty="0">
                <a:latin typeface="Consolas" panose="020B0609020204030204" pitchFamily="49" charset="0"/>
                <a:cs typeface="Consolas" panose="020B0609020204030204" pitchFamily="49" charset="0"/>
              </a:rPr>
              <a:t>BOOT0</a:t>
            </a:r>
            <a:r>
              <a:rPr lang="en-US" sz="2000" dirty="0"/>
              <a:t> and </a:t>
            </a:r>
            <a:r>
              <a:rPr lang="en-US" sz="2000" dirty="0">
                <a:latin typeface="Consolas" panose="020B0609020204030204" pitchFamily="49" charset="0"/>
                <a:cs typeface="Consolas" panose="020B0609020204030204" pitchFamily="49" charset="0"/>
              </a:rPr>
              <a:t>BOOT1</a:t>
            </a:r>
          </a:p>
          <a:p>
            <a:pPr marL="0" indent="0">
              <a:buNone/>
            </a:pPr>
            <a:r>
              <a:rPr lang="en-US" sz="2000" dirty="0"/>
              <a:t>      and determine boot mode</a:t>
            </a:r>
            <a:endParaRPr lang="en-US" sz="2000" b="1" dirty="0">
              <a:latin typeface="Consolas" panose="020B0609020204030204" pitchFamily="49" charset="0"/>
              <a:cs typeface="Consolas" panose="020B0609020204030204" pitchFamily="49" charset="0"/>
            </a:endParaRPr>
          </a:p>
          <a:p>
            <a:pPr marL="0" indent="0">
              <a:buNone/>
            </a:pPr>
            <a:r>
              <a:rPr lang="en-US" sz="2000" b="1" dirty="0">
                <a:latin typeface="Consolas" panose="020B0609020204030204" pitchFamily="49" charset="0"/>
                <a:cs typeface="Consolas" panose="020B0609020204030204" pitchFamily="49" charset="0"/>
              </a:rPr>
              <a:t>2. </a:t>
            </a:r>
            <a:r>
              <a:rPr lang="en-US" sz="2000" dirty="0"/>
              <a:t>Fetch MSP from address  </a:t>
            </a:r>
          </a:p>
          <a:p>
            <a:pPr marL="0" indent="0">
              <a:buNone/>
            </a:pPr>
            <a:r>
              <a:rPr lang="en-US" sz="2000" dirty="0">
                <a:latin typeface="Consolas" panose="020B0609020204030204" pitchFamily="49" charset="0"/>
                <a:cs typeface="Consolas" panose="020B0609020204030204" pitchFamily="49" charset="0"/>
              </a:rPr>
              <a:t>   0x00000000</a:t>
            </a:r>
          </a:p>
          <a:p>
            <a:pPr marL="0" indent="0">
              <a:buNone/>
            </a:pPr>
            <a:r>
              <a:rPr lang="en-US" sz="2000" b="1" dirty="0">
                <a:latin typeface="Consolas" panose="020B0609020204030204" pitchFamily="49" charset="0"/>
                <a:cs typeface="Consolas" panose="020B0609020204030204" pitchFamily="49" charset="0"/>
              </a:rPr>
              <a:t>3. </a:t>
            </a:r>
            <a:r>
              <a:rPr lang="en-US" sz="2000" dirty="0"/>
              <a:t>Fetch PC from address </a:t>
            </a:r>
          </a:p>
          <a:p>
            <a:pPr marL="0" indent="0">
              <a:buNone/>
            </a:pPr>
            <a:r>
              <a:rPr lang="en-US" sz="2000" dirty="0">
                <a:latin typeface="Consolas" panose="020B0609020204030204" pitchFamily="49" charset="0"/>
                <a:cs typeface="Consolas" panose="020B0609020204030204" pitchFamily="49" charset="0"/>
              </a:rPr>
              <a:t>   0x00000004</a:t>
            </a:r>
          </a:p>
        </p:txBody>
      </p:sp>
      <p:pic>
        <p:nvPicPr>
          <p:cNvPr id="3" name="Picture 2"/>
          <p:cNvPicPr>
            <a:picLocks noChangeAspect="1"/>
          </p:cNvPicPr>
          <p:nvPr/>
        </p:nvPicPr>
        <p:blipFill>
          <a:blip r:embed="rId4"/>
          <a:stretch>
            <a:fillRect/>
          </a:stretch>
        </p:blipFill>
        <p:spPr>
          <a:xfrm>
            <a:off x="228600" y="768244"/>
            <a:ext cx="8111308" cy="5596291"/>
          </a:xfrm>
          <a:prstGeom prst="rect">
            <a:avLst/>
          </a:prstGeom>
        </p:spPr>
      </p:pic>
      <p:sp>
        <p:nvSpPr>
          <p:cNvPr id="4" name="Title 1"/>
          <p:cNvSpPr txBox="1">
            <a:spLocks/>
          </p:cNvSpPr>
          <p:nvPr/>
        </p:nvSpPr>
        <p:spPr>
          <a:xfrm>
            <a:off x="25400" y="0"/>
            <a:ext cx="10524354" cy="596179"/>
          </a:xfrm>
          <a:prstGeom prst="rect">
            <a:avLst/>
          </a:prstGeom>
        </p:spPr>
        <p:txBody>
          <a:bodyPr vert="horz" anchor="b" anchorCtr="0">
            <a:noAutofit/>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sz="2800" dirty="0"/>
              <a:t>Booting Process</a:t>
            </a:r>
          </a:p>
        </p:txBody>
      </p:sp>
    </p:spTree>
    <p:custDataLst>
      <p:tags r:id="rId1"/>
    </p:custDataLst>
    <p:extLst>
      <p:ext uri="{BB962C8B-B14F-4D97-AF65-F5344CB8AC3E}">
        <p14:creationId xmlns:p14="http://schemas.microsoft.com/office/powerpoint/2010/main" val="181120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Booting Process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68" name="Flowchart: Process 67"/>
          <p:cNvSpPr/>
          <p:nvPr/>
        </p:nvSpPr>
        <p:spPr>
          <a:xfrm>
            <a:off x="2895600" y="3719678"/>
            <a:ext cx="2521595" cy="1138727"/>
          </a:xfrm>
          <a:prstGeom prst="flowChartProcess">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latin typeface="Consolas" panose="020B0609020204030204" pitchFamily="49" charset="0"/>
              </a:rPr>
              <a:t>void </a:t>
            </a:r>
            <a:r>
              <a:rPr lang="en-US" sz="1400" b="1" dirty="0" err="1">
                <a:solidFill>
                  <a:schemeClr val="bg1"/>
                </a:solidFill>
                <a:latin typeface="Consolas" panose="020B0609020204030204" pitchFamily="49" charset="0"/>
              </a:rPr>
              <a:t>Reset_Handler</a:t>
            </a:r>
            <a:r>
              <a:rPr lang="en-US" sz="1400" b="1" dirty="0">
                <a:solidFill>
                  <a:schemeClr val="bg1"/>
                </a:solidFill>
                <a:latin typeface="Consolas" panose="020B0609020204030204" pitchFamily="49" charset="0"/>
              </a:rPr>
              <a:t>() {</a:t>
            </a:r>
          </a:p>
          <a:p>
            <a:r>
              <a:rPr lang="en-US" sz="1400" b="1" dirty="0">
                <a:solidFill>
                  <a:schemeClr val="bg1"/>
                </a:solidFill>
                <a:latin typeface="Consolas" panose="020B0609020204030204" pitchFamily="49" charset="0"/>
              </a:rPr>
              <a:t>  ...</a:t>
            </a:r>
          </a:p>
          <a:p>
            <a:r>
              <a:rPr lang="en-US" sz="1400" b="1" dirty="0">
                <a:solidFill>
                  <a:schemeClr val="bg1"/>
                </a:solidFill>
                <a:latin typeface="Consolas" panose="020B0609020204030204" pitchFamily="49" charset="0"/>
              </a:rPr>
              <a:t>  main();</a:t>
            </a:r>
          </a:p>
          <a:p>
            <a:r>
              <a:rPr lang="en-US" sz="1400" b="1" dirty="0">
                <a:solidFill>
                  <a:schemeClr val="bg1"/>
                </a:solidFill>
                <a:latin typeface="Consolas" panose="020B0609020204030204" pitchFamily="49" charset="0"/>
              </a:rPr>
              <a:t>  ...</a:t>
            </a:r>
          </a:p>
          <a:p>
            <a:r>
              <a:rPr lang="en-US" sz="1400" b="1" dirty="0">
                <a:solidFill>
                  <a:schemeClr val="bg1"/>
                </a:solidFill>
                <a:latin typeface="Consolas" panose="020B0609020204030204" pitchFamily="49" charset="0"/>
              </a:rPr>
              <a:t>}</a:t>
            </a:r>
          </a:p>
        </p:txBody>
      </p:sp>
      <p:sp>
        <p:nvSpPr>
          <p:cNvPr id="69" name="Rectangle 68"/>
          <p:cNvSpPr/>
          <p:nvPr/>
        </p:nvSpPr>
        <p:spPr>
          <a:xfrm>
            <a:off x="20336" y="4198953"/>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0x08000268</a:t>
            </a:r>
          </a:p>
        </p:txBody>
      </p:sp>
      <p:grpSp>
        <p:nvGrpSpPr>
          <p:cNvPr id="117" name="Group 116"/>
          <p:cNvGrpSpPr/>
          <p:nvPr/>
        </p:nvGrpSpPr>
        <p:grpSpPr>
          <a:xfrm>
            <a:off x="1192430" y="3483461"/>
            <a:ext cx="1245970"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0x20001BB0</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solidFill>
                  <a:srgbClr val="C00000"/>
                </a:solidFill>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solidFill>
                  <a:srgbClr val="0000FF"/>
                </a:solidFill>
                <a:latin typeface="Consolas"/>
                <a:cs typeface="Consolas"/>
              </a:rPr>
              <a:t>0x00000000</a:t>
            </a:r>
          </a:p>
        </p:txBody>
      </p:sp>
      <p:sp>
        <p:nvSpPr>
          <p:cNvPr id="53" name="Rectangle 52"/>
          <p:cNvSpPr/>
          <p:nvPr/>
        </p:nvSpPr>
        <p:spPr>
          <a:xfrm>
            <a:off x="1196020" y="5573257"/>
            <a:ext cx="1242213" cy="21785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onsolas" panose="020B0609020204030204" pitchFamily="49" charset="0"/>
              </a:rPr>
              <a:t>0x20001BB0</a:t>
            </a:r>
          </a:p>
        </p:txBody>
      </p:sp>
      <p:sp>
        <p:nvSpPr>
          <p:cNvPr id="138" name="Rectangle 137"/>
          <p:cNvSpPr/>
          <p:nvPr/>
        </p:nvSpPr>
        <p:spPr>
          <a:xfrm>
            <a:off x="1196020" y="5357447"/>
            <a:ext cx="1242380" cy="21785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onsolas" panose="020B0609020204030204" pitchFamily="49" charset="0"/>
              </a:rPr>
              <a:t>0x08000269</a:t>
            </a:r>
          </a:p>
        </p:txBody>
      </p:sp>
      <p:sp>
        <p:nvSpPr>
          <p:cNvPr id="139" name="Rectangle 138"/>
          <p:cNvSpPr/>
          <p:nvPr/>
        </p:nvSpPr>
        <p:spPr>
          <a:xfrm>
            <a:off x="1196020" y="5136481"/>
            <a:ext cx="124221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C00000"/>
              </a:solidFill>
              <a:latin typeface="Consolas" panose="020B0609020204030204" pitchFamily="49" charset="0"/>
            </a:endParaRPr>
          </a:p>
        </p:txBody>
      </p:sp>
      <p:sp>
        <p:nvSpPr>
          <p:cNvPr id="157" name="Rectangle 156"/>
          <p:cNvSpPr/>
          <p:nvPr/>
        </p:nvSpPr>
        <p:spPr>
          <a:xfrm>
            <a:off x="1194276" y="3422178"/>
            <a:ext cx="1238408" cy="221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95249" y="3208965"/>
            <a:ext cx="1238836" cy="21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92938" y="4269414"/>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76788" cy="369332"/>
          </a:xfrm>
          <a:prstGeom prst="rect">
            <a:avLst/>
          </a:prstGeom>
          <a:noFill/>
        </p:spPr>
        <p:txBody>
          <a:bodyPr wrap="none" rtlCol="0">
            <a:spAutoFit/>
          </a:bodyPr>
          <a:lstStyle/>
          <a:p>
            <a:r>
              <a:rPr lang="en-US" dirty="0">
                <a:solidFill>
                  <a:srgbClr val="0000FF"/>
                </a:solidFill>
              </a:rPr>
              <a:t>Stack</a:t>
            </a:r>
          </a:p>
        </p:txBody>
      </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a:endCxn id="106" idx="1"/>
          </p:cNvCxnSpPr>
          <p:nvPr/>
        </p:nvCxnSpPr>
        <p:spPr>
          <a:xfrm flipV="1">
            <a:off x="2438233" y="5588637"/>
            <a:ext cx="3967162" cy="93546"/>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4716102" y="5327633"/>
            <a:ext cx="1330429" cy="307777"/>
          </a:xfrm>
          <a:prstGeom prst="rect">
            <a:avLst/>
          </a:prstGeom>
          <a:noFill/>
        </p:spPr>
        <p:txBody>
          <a:bodyPr wrap="none" rtlCol="0">
            <a:spAutoFit/>
          </a:bodyPr>
          <a:lstStyle/>
          <a:p>
            <a:r>
              <a:rPr lang="en-US" sz="1400" b="1" dirty="0">
                <a:solidFill>
                  <a:srgbClr val="0000FF"/>
                </a:solidFill>
              </a:rPr>
              <a:t>Initialize MSP</a:t>
            </a:r>
          </a:p>
        </p:txBody>
      </p:sp>
      <p:cxnSp>
        <p:nvCxnSpPr>
          <p:cNvPr id="204" name="Straight Arrow Connector 203"/>
          <p:cNvCxnSpPr/>
          <p:nvPr/>
        </p:nvCxnSpPr>
        <p:spPr>
          <a:xfrm>
            <a:off x="2438400" y="5488929"/>
            <a:ext cx="3967330" cy="74778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6443283" y="6093986"/>
            <a:ext cx="1200585" cy="307777"/>
          </a:xfrm>
          <a:prstGeom prst="rect">
            <a:avLst/>
          </a:prstGeom>
          <a:noFill/>
        </p:spPr>
        <p:txBody>
          <a:bodyPr wrap="none" rtlCol="0">
            <a:spAutoFit/>
          </a:bodyPr>
          <a:lstStyle/>
          <a:p>
            <a:r>
              <a:rPr lang="en-US" sz="1400" b="1" dirty="0">
                <a:solidFill>
                  <a:srgbClr val="C00000"/>
                </a:solidFill>
              </a:rPr>
              <a:t>Initialize PC</a:t>
            </a:r>
          </a:p>
        </p:txBody>
      </p:sp>
      <p:grpSp>
        <p:nvGrpSpPr>
          <p:cNvPr id="4" name="Group 3"/>
          <p:cNvGrpSpPr/>
          <p:nvPr/>
        </p:nvGrpSpPr>
        <p:grpSpPr>
          <a:xfrm>
            <a:off x="2438400" y="5036283"/>
            <a:ext cx="3352800" cy="430090"/>
            <a:chOff x="2438400" y="5036283"/>
            <a:chExt cx="3352800" cy="430090"/>
          </a:xfrm>
        </p:grpSpPr>
        <p:sp>
          <p:nvSpPr>
            <p:cNvPr id="203" name="Rectangle 202"/>
            <p:cNvSpPr/>
            <p:nvPr/>
          </p:nvSpPr>
          <p:spPr>
            <a:xfrm>
              <a:off x="3195741" y="5036283"/>
              <a:ext cx="2595459"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tx1"/>
                  </a:solidFill>
                </a:rPr>
                <a:t>Bit </a:t>
              </a:r>
              <a:r>
                <a:rPr lang="en-US" sz="1400" dirty="0">
                  <a:solidFill>
                    <a:schemeClr val="tx1"/>
                  </a:solidFill>
                  <a:latin typeface="Consolas"/>
                  <a:cs typeface="Consolas"/>
                </a:rPr>
                <a:t>0</a:t>
              </a:r>
              <a:r>
                <a:rPr lang="en-US" sz="1400" dirty="0">
                  <a:solidFill>
                    <a:schemeClr val="tx1"/>
                  </a:solidFill>
                </a:rPr>
                <a:t> is </a:t>
              </a:r>
              <a:r>
                <a:rPr lang="en-US" sz="1400" dirty="0">
                  <a:solidFill>
                    <a:schemeClr val="tx1"/>
                  </a:solidFill>
                  <a:latin typeface="Consolas"/>
                  <a:cs typeface="Consolas"/>
                </a:rPr>
                <a:t>1</a:t>
              </a:r>
              <a:r>
                <a:rPr lang="en-US" sz="1400" dirty="0">
                  <a:solidFill>
                    <a:schemeClr val="tx1"/>
                  </a:solidFill>
                </a:rPr>
                <a:t>, indicating Thumb state.</a:t>
              </a:r>
            </a:p>
          </p:txBody>
        </p:sp>
        <p:cxnSp>
          <p:nvCxnSpPr>
            <p:cNvPr id="208" name="Straight Arrow Connector 207"/>
            <p:cNvCxnSpPr>
              <a:stCxn id="138" idx="3"/>
              <a:endCxn id="203" idx="1"/>
            </p:cNvCxnSpPr>
            <p:nvPr/>
          </p:nvCxnSpPr>
          <p:spPr>
            <a:xfrm flipV="1">
              <a:off x="2438400" y="5190172"/>
              <a:ext cx="757341" cy="2762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5" name="Straight Arrow Connector 64"/>
          <p:cNvCxnSpPr>
            <a:stCxn id="159" idx="1"/>
            <a:endCxn id="68" idx="1"/>
          </p:cNvCxnSpPr>
          <p:nvPr/>
        </p:nvCxnSpPr>
        <p:spPr>
          <a:xfrm flipV="1">
            <a:off x="2668039" y="4289042"/>
            <a:ext cx="227561" cy="32488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44397" y="3137939"/>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0x08001384</a:t>
            </a:r>
          </a:p>
        </p:txBody>
      </p:sp>
      <p:sp>
        <p:nvSpPr>
          <p:cNvPr id="71" name="Right Brace 70"/>
          <p:cNvSpPr/>
          <p:nvPr/>
        </p:nvSpPr>
        <p:spPr>
          <a:xfrm>
            <a:off x="2503184" y="3208965"/>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Flowchart: Process 71"/>
          <p:cNvSpPr/>
          <p:nvPr/>
        </p:nvSpPr>
        <p:spPr>
          <a:xfrm>
            <a:off x="2895600" y="2750644"/>
            <a:ext cx="1664058" cy="732817"/>
          </a:xfrm>
          <a:prstGeom prst="flowChartProcess">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latin typeface="Consolas" panose="020B0609020204030204" pitchFamily="49" charset="0"/>
              </a:rPr>
              <a:t>void main() {</a:t>
            </a:r>
          </a:p>
          <a:p>
            <a:r>
              <a:rPr lang="en-US" sz="1400" b="1" dirty="0">
                <a:solidFill>
                  <a:schemeClr val="bg1"/>
                </a:solidFill>
                <a:latin typeface="Consolas" panose="020B0609020204030204" pitchFamily="49" charset="0"/>
              </a:rPr>
              <a:t>  ...</a:t>
            </a:r>
          </a:p>
          <a:p>
            <a:r>
              <a:rPr lang="en-US" sz="1400" b="1" dirty="0">
                <a:solidFill>
                  <a:schemeClr val="bg1"/>
                </a:solidFill>
                <a:latin typeface="Consolas" panose="020B0609020204030204" pitchFamily="49" charset="0"/>
              </a:rPr>
              <a:t>}</a:t>
            </a:r>
          </a:p>
        </p:txBody>
      </p:sp>
      <p:cxnSp>
        <p:nvCxnSpPr>
          <p:cNvPr id="73" name="Straight Arrow Connector 72"/>
          <p:cNvCxnSpPr>
            <a:stCxn id="71" idx="1"/>
            <a:endCxn id="72" idx="1"/>
          </p:cNvCxnSpPr>
          <p:nvPr/>
        </p:nvCxnSpPr>
        <p:spPr>
          <a:xfrm flipV="1">
            <a:off x="2678285" y="3117053"/>
            <a:ext cx="217315" cy="43642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6402809" y="1226000"/>
            <a:ext cx="2664296" cy="5172781"/>
            <a:chOff x="6228184" y="1203484"/>
            <a:chExt cx="2664296" cy="5745722"/>
          </a:xfrm>
        </p:grpSpPr>
        <p:sp>
          <p:nvSpPr>
            <p:cNvPr id="75" name="Rectangle 74"/>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76" name="TextBox 75"/>
            <p:cNvSpPr txBox="1"/>
            <p:nvPr/>
          </p:nvSpPr>
          <p:spPr>
            <a:xfrm>
              <a:off x="7524328" y="4067200"/>
              <a:ext cx="1368152" cy="338554"/>
            </a:xfrm>
            <a:prstGeom prst="rect">
              <a:avLst/>
            </a:prstGeom>
            <a:noFill/>
          </p:spPr>
          <p:txBody>
            <a:bodyPr wrap="square" rtlCol="0">
              <a:spAutoFit/>
            </a:bodyPr>
            <a:lstStyle/>
            <a:p>
              <a:r>
                <a:rPr lang="en-GB" sz="1600" dirty="0">
                  <a:latin typeface="Consolas"/>
                  <a:cs typeface="Consolas"/>
                </a:rPr>
                <a:t>R8</a:t>
              </a:r>
            </a:p>
          </p:txBody>
        </p:sp>
        <p:sp>
          <p:nvSpPr>
            <p:cNvPr id="77" name="TextBox 76"/>
            <p:cNvSpPr txBox="1"/>
            <p:nvPr/>
          </p:nvSpPr>
          <p:spPr>
            <a:xfrm>
              <a:off x="7524328" y="4427240"/>
              <a:ext cx="1368152" cy="338554"/>
            </a:xfrm>
            <a:prstGeom prst="rect">
              <a:avLst/>
            </a:prstGeom>
            <a:noFill/>
          </p:spPr>
          <p:txBody>
            <a:bodyPr wrap="square" rtlCol="0">
              <a:spAutoFit/>
            </a:bodyPr>
            <a:lstStyle/>
            <a:p>
              <a:r>
                <a:rPr lang="en-GB" sz="1600" dirty="0">
                  <a:latin typeface="Consolas"/>
                  <a:cs typeface="Consolas"/>
                </a:rPr>
                <a:t>R9</a:t>
              </a:r>
            </a:p>
          </p:txBody>
        </p:sp>
        <p:sp>
          <p:nvSpPr>
            <p:cNvPr id="78" name="TextBox 77"/>
            <p:cNvSpPr txBox="1"/>
            <p:nvPr/>
          </p:nvSpPr>
          <p:spPr>
            <a:xfrm>
              <a:off x="7524328" y="2987080"/>
              <a:ext cx="1368152" cy="338554"/>
            </a:xfrm>
            <a:prstGeom prst="rect">
              <a:avLst/>
            </a:prstGeom>
            <a:noFill/>
          </p:spPr>
          <p:txBody>
            <a:bodyPr wrap="square" rtlCol="0">
              <a:spAutoFit/>
            </a:bodyPr>
            <a:lstStyle/>
            <a:p>
              <a:r>
                <a:rPr lang="en-GB" sz="1600" dirty="0">
                  <a:latin typeface="Consolas"/>
                  <a:cs typeface="Consolas"/>
                </a:rPr>
                <a:t>R5</a:t>
              </a:r>
            </a:p>
          </p:txBody>
        </p:sp>
        <p:sp>
          <p:nvSpPr>
            <p:cNvPr id="79" name="Rectangle 78"/>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80" name="Rectangle 79"/>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81" name="Rectangle 80"/>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82" name="Rectangle 81"/>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83" name="TextBox 82"/>
            <p:cNvSpPr txBox="1"/>
            <p:nvPr/>
          </p:nvSpPr>
          <p:spPr>
            <a:xfrm>
              <a:off x="7524328" y="3707160"/>
              <a:ext cx="1368152" cy="338554"/>
            </a:xfrm>
            <a:prstGeom prst="rect">
              <a:avLst/>
            </a:prstGeom>
            <a:noFill/>
          </p:spPr>
          <p:txBody>
            <a:bodyPr wrap="square" rtlCol="0">
              <a:spAutoFit/>
            </a:bodyPr>
            <a:lstStyle/>
            <a:p>
              <a:r>
                <a:rPr lang="en-GB" sz="1600" dirty="0">
                  <a:latin typeface="Consolas"/>
                  <a:cs typeface="Consolas"/>
                </a:rPr>
                <a:t>R7</a:t>
              </a:r>
            </a:p>
          </p:txBody>
        </p:sp>
        <p:sp>
          <p:nvSpPr>
            <p:cNvPr id="84" name="TextBox 83"/>
            <p:cNvSpPr txBox="1"/>
            <p:nvPr/>
          </p:nvSpPr>
          <p:spPr>
            <a:xfrm>
              <a:off x="7524328" y="4787280"/>
              <a:ext cx="1368152" cy="338554"/>
            </a:xfrm>
            <a:prstGeom prst="rect">
              <a:avLst/>
            </a:prstGeom>
            <a:noFill/>
          </p:spPr>
          <p:txBody>
            <a:bodyPr wrap="square" rtlCol="0">
              <a:spAutoFit/>
            </a:bodyPr>
            <a:lstStyle/>
            <a:p>
              <a:r>
                <a:rPr lang="en-GB" sz="1600" dirty="0">
                  <a:latin typeface="Consolas"/>
                  <a:cs typeface="Consolas"/>
                </a:rPr>
                <a:t>R10</a:t>
              </a:r>
            </a:p>
          </p:txBody>
        </p:sp>
        <p:sp>
          <p:nvSpPr>
            <p:cNvPr id="85" name="TextBox 84"/>
            <p:cNvSpPr txBox="1"/>
            <p:nvPr/>
          </p:nvSpPr>
          <p:spPr>
            <a:xfrm>
              <a:off x="7524328" y="5147320"/>
              <a:ext cx="1368152" cy="338554"/>
            </a:xfrm>
            <a:prstGeom prst="rect">
              <a:avLst/>
            </a:prstGeom>
            <a:noFill/>
          </p:spPr>
          <p:txBody>
            <a:bodyPr wrap="square" rtlCol="0">
              <a:spAutoFit/>
            </a:bodyPr>
            <a:lstStyle/>
            <a:p>
              <a:r>
                <a:rPr lang="en-GB" sz="1600" dirty="0">
                  <a:latin typeface="Consolas"/>
                  <a:cs typeface="Consolas"/>
                </a:rPr>
                <a:t>R11</a:t>
              </a:r>
            </a:p>
          </p:txBody>
        </p:sp>
        <p:sp>
          <p:nvSpPr>
            <p:cNvPr id="86" name="Rectangle 85"/>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87" name="TextBox 86"/>
            <p:cNvSpPr txBox="1"/>
            <p:nvPr/>
          </p:nvSpPr>
          <p:spPr>
            <a:xfrm>
              <a:off x="7524328" y="1203484"/>
              <a:ext cx="1368152" cy="338554"/>
            </a:xfrm>
            <a:prstGeom prst="rect">
              <a:avLst/>
            </a:prstGeom>
            <a:noFill/>
          </p:spPr>
          <p:txBody>
            <a:bodyPr wrap="square" rtlCol="0">
              <a:spAutoFit/>
            </a:bodyPr>
            <a:lstStyle/>
            <a:p>
              <a:r>
                <a:rPr lang="en-GB" sz="1600" dirty="0">
                  <a:latin typeface="Consolas"/>
                  <a:cs typeface="Consolas"/>
                </a:rPr>
                <a:t>R0</a:t>
              </a:r>
            </a:p>
          </p:txBody>
        </p:sp>
        <p:sp>
          <p:nvSpPr>
            <p:cNvPr id="88" name="Rectangle 87"/>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89" name="Rectangle 88"/>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90" name="TextBox 89"/>
            <p:cNvSpPr txBox="1"/>
            <p:nvPr/>
          </p:nvSpPr>
          <p:spPr>
            <a:xfrm>
              <a:off x="7524328" y="1563524"/>
              <a:ext cx="1368152" cy="338554"/>
            </a:xfrm>
            <a:prstGeom prst="rect">
              <a:avLst/>
            </a:prstGeom>
            <a:noFill/>
          </p:spPr>
          <p:txBody>
            <a:bodyPr wrap="square" rtlCol="0">
              <a:spAutoFit/>
            </a:bodyPr>
            <a:lstStyle/>
            <a:p>
              <a:r>
                <a:rPr lang="en-GB" sz="1600" dirty="0">
                  <a:latin typeface="Consolas"/>
                  <a:cs typeface="Consolas"/>
                </a:rPr>
                <a:t>R1</a:t>
              </a:r>
            </a:p>
          </p:txBody>
        </p:sp>
        <p:sp>
          <p:nvSpPr>
            <p:cNvPr id="91" name="TextBox 90"/>
            <p:cNvSpPr txBox="1"/>
            <p:nvPr/>
          </p:nvSpPr>
          <p:spPr>
            <a:xfrm>
              <a:off x="7524328" y="1923564"/>
              <a:ext cx="1368152" cy="338554"/>
            </a:xfrm>
            <a:prstGeom prst="rect">
              <a:avLst/>
            </a:prstGeom>
            <a:noFill/>
          </p:spPr>
          <p:txBody>
            <a:bodyPr wrap="square" rtlCol="0">
              <a:spAutoFit/>
            </a:bodyPr>
            <a:lstStyle/>
            <a:p>
              <a:r>
                <a:rPr lang="en-GB" sz="1600" dirty="0">
                  <a:latin typeface="Consolas"/>
                  <a:cs typeface="Consolas"/>
                </a:rPr>
                <a:t>R2</a:t>
              </a:r>
            </a:p>
          </p:txBody>
        </p:sp>
        <p:sp>
          <p:nvSpPr>
            <p:cNvPr id="92" name="Rectangle 91"/>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94" name="TextBox 93"/>
            <p:cNvSpPr txBox="1"/>
            <p:nvPr/>
          </p:nvSpPr>
          <p:spPr>
            <a:xfrm>
              <a:off x="7524328" y="2267000"/>
              <a:ext cx="1368152" cy="338554"/>
            </a:xfrm>
            <a:prstGeom prst="rect">
              <a:avLst/>
            </a:prstGeom>
            <a:noFill/>
          </p:spPr>
          <p:txBody>
            <a:bodyPr wrap="square" rtlCol="0">
              <a:spAutoFit/>
            </a:bodyPr>
            <a:lstStyle/>
            <a:p>
              <a:r>
                <a:rPr lang="en-GB" sz="1600" dirty="0">
                  <a:latin typeface="Consolas"/>
                  <a:cs typeface="Consolas"/>
                </a:rPr>
                <a:t>R3</a:t>
              </a:r>
            </a:p>
          </p:txBody>
        </p:sp>
        <p:sp>
          <p:nvSpPr>
            <p:cNvPr id="95" name="TextBox 94"/>
            <p:cNvSpPr txBox="1"/>
            <p:nvPr/>
          </p:nvSpPr>
          <p:spPr>
            <a:xfrm>
              <a:off x="7524328" y="2627040"/>
              <a:ext cx="1368152" cy="338554"/>
            </a:xfrm>
            <a:prstGeom prst="rect">
              <a:avLst/>
            </a:prstGeom>
            <a:noFill/>
          </p:spPr>
          <p:txBody>
            <a:bodyPr wrap="square" rtlCol="0">
              <a:spAutoFit/>
            </a:bodyPr>
            <a:lstStyle/>
            <a:p>
              <a:r>
                <a:rPr lang="en-GB" sz="1600" dirty="0">
                  <a:latin typeface="Consolas"/>
                  <a:cs typeface="Consolas"/>
                </a:rPr>
                <a:t>R4</a:t>
              </a:r>
            </a:p>
          </p:txBody>
        </p:sp>
        <p:sp>
          <p:nvSpPr>
            <p:cNvPr id="98" name="Rectangle 97"/>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99" name="Rectangle 98"/>
            <p:cNvSpPr/>
            <p:nvPr/>
          </p:nvSpPr>
          <p:spPr>
            <a:xfrm>
              <a:off x="6232779"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0" name="Rectangle 99"/>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1" name="TextBox 100"/>
            <p:cNvSpPr txBox="1"/>
            <p:nvPr/>
          </p:nvSpPr>
          <p:spPr>
            <a:xfrm>
              <a:off x="7524328" y="3347120"/>
              <a:ext cx="1368152" cy="338554"/>
            </a:xfrm>
            <a:prstGeom prst="rect">
              <a:avLst/>
            </a:prstGeom>
            <a:noFill/>
          </p:spPr>
          <p:txBody>
            <a:bodyPr wrap="square" rtlCol="0">
              <a:spAutoFit/>
            </a:bodyPr>
            <a:lstStyle/>
            <a:p>
              <a:r>
                <a:rPr lang="en-GB" sz="1600" dirty="0">
                  <a:latin typeface="Consolas"/>
                  <a:cs typeface="Consolas"/>
                </a:rPr>
                <a:t>R6</a:t>
              </a:r>
            </a:p>
          </p:txBody>
        </p:sp>
        <p:sp>
          <p:nvSpPr>
            <p:cNvPr id="103" name="TextBox 102"/>
            <p:cNvSpPr txBox="1"/>
            <p:nvPr/>
          </p:nvSpPr>
          <p:spPr>
            <a:xfrm>
              <a:off x="7524328" y="5507360"/>
              <a:ext cx="1368152" cy="338554"/>
            </a:xfrm>
            <a:prstGeom prst="rect">
              <a:avLst/>
            </a:prstGeom>
            <a:noFill/>
          </p:spPr>
          <p:txBody>
            <a:bodyPr wrap="square" rtlCol="0">
              <a:spAutoFit/>
            </a:bodyPr>
            <a:lstStyle/>
            <a:p>
              <a:r>
                <a:rPr lang="en-GB" sz="1600" dirty="0">
                  <a:latin typeface="Consolas"/>
                  <a:cs typeface="Consolas"/>
                </a:rPr>
                <a:t>R12</a:t>
              </a:r>
            </a:p>
          </p:txBody>
        </p:sp>
        <p:sp>
          <p:nvSpPr>
            <p:cNvPr id="106" name="Rectangle 105"/>
            <p:cNvSpPr/>
            <p:nvPr/>
          </p:nvSpPr>
          <p:spPr>
            <a:xfrm>
              <a:off x="6230770"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600" b="1" dirty="0">
                <a:solidFill>
                  <a:srgbClr val="0000FF"/>
                </a:solidFill>
                <a:latin typeface="Consolas" panose="020B0609020204030204" pitchFamily="49" charset="0"/>
                <a:cs typeface="Consolas" panose="020B0609020204030204" pitchFamily="49" charset="0"/>
              </a:endParaRPr>
            </a:p>
          </p:txBody>
        </p:sp>
        <p:sp>
          <p:nvSpPr>
            <p:cNvPr id="108" name="TextBox 107"/>
            <p:cNvSpPr txBox="1"/>
            <p:nvPr/>
          </p:nvSpPr>
          <p:spPr>
            <a:xfrm>
              <a:off x="7522319" y="5869310"/>
              <a:ext cx="1368152" cy="338554"/>
            </a:xfrm>
            <a:prstGeom prst="rect">
              <a:avLst/>
            </a:prstGeom>
            <a:noFill/>
          </p:spPr>
          <p:txBody>
            <a:bodyPr wrap="square" rtlCol="0">
              <a:spAutoFit/>
            </a:bodyPr>
            <a:lstStyle/>
            <a:p>
              <a:r>
                <a:rPr lang="en-GB" sz="1600" dirty="0">
                  <a:latin typeface="Consolas"/>
                  <a:cs typeface="Consolas"/>
                </a:rPr>
                <a:t>R13 (SP)</a:t>
              </a:r>
            </a:p>
          </p:txBody>
        </p:sp>
        <p:sp>
          <p:nvSpPr>
            <p:cNvPr id="109" name="Rectangle 108"/>
            <p:cNvSpPr/>
            <p:nvPr/>
          </p:nvSpPr>
          <p:spPr>
            <a:xfrm>
              <a:off x="6229276" y="51467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10" name="Rectangle 109"/>
            <p:cNvSpPr/>
            <p:nvPr/>
          </p:nvSpPr>
          <p:spPr>
            <a:xfrm>
              <a:off x="6232211" y="6231825"/>
              <a:ext cx="1290107"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11" name="TextBox 110"/>
            <p:cNvSpPr txBox="1"/>
            <p:nvPr/>
          </p:nvSpPr>
          <p:spPr>
            <a:xfrm>
              <a:off x="7517724" y="6231825"/>
              <a:ext cx="1368152" cy="338554"/>
            </a:xfrm>
            <a:prstGeom prst="rect">
              <a:avLst/>
            </a:prstGeom>
            <a:noFill/>
          </p:spPr>
          <p:txBody>
            <a:bodyPr wrap="square" rtlCol="0">
              <a:spAutoFit/>
            </a:bodyPr>
            <a:lstStyle/>
            <a:p>
              <a:r>
                <a:rPr lang="en-GB" sz="1600" dirty="0">
                  <a:latin typeface="Consolas"/>
                  <a:cs typeface="Consolas"/>
                </a:rPr>
                <a:t>R14 (LR)</a:t>
              </a:r>
            </a:p>
          </p:txBody>
        </p:sp>
        <p:sp>
          <p:nvSpPr>
            <p:cNvPr id="112" name="Rectangle 111"/>
            <p:cNvSpPr/>
            <p:nvPr/>
          </p:nvSpPr>
          <p:spPr>
            <a:xfrm>
              <a:off x="6231105" y="65891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600" b="1" dirty="0">
                <a:solidFill>
                  <a:srgbClr val="C00000"/>
                </a:solidFill>
                <a:latin typeface="Consolas" panose="020B0609020204030204" pitchFamily="49" charset="0"/>
                <a:cs typeface="Consolas" panose="020B0609020204030204" pitchFamily="49" charset="0"/>
              </a:endParaRPr>
            </a:p>
          </p:txBody>
        </p:sp>
        <p:sp>
          <p:nvSpPr>
            <p:cNvPr id="113" name="TextBox 112"/>
            <p:cNvSpPr txBox="1"/>
            <p:nvPr/>
          </p:nvSpPr>
          <p:spPr>
            <a:xfrm>
              <a:off x="7522654" y="6589166"/>
              <a:ext cx="1368152" cy="338554"/>
            </a:xfrm>
            <a:prstGeom prst="rect">
              <a:avLst/>
            </a:prstGeom>
            <a:noFill/>
          </p:spPr>
          <p:txBody>
            <a:bodyPr wrap="square" rtlCol="0">
              <a:spAutoFit/>
            </a:bodyPr>
            <a:lstStyle/>
            <a:p>
              <a:r>
                <a:rPr lang="en-GB" sz="1600" dirty="0">
                  <a:latin typeface="Consolas"/>
                  <a:cs typeface="Consolas"/>
                </a:rPr>
                <a:t>R15 (PC)</a:t>
              </a:r>
            </a:p>
          </p:txBody>
        </p:sp>
      </p:grpSp>
      <p:sp>
        <p:nvSpPr>
          <p:cNvPr id="5" name="Rectangle 4"/>
          <p:cNvSpPr/>
          <p:nvPr/>
        </p:nvSpPr>
        <p:spPr>
          <a:xfrm>
            <a:off x="1087961" y="5524573"/>
            <a:ext cx="1451038" cy="369332"/>
          </a:xfrm>
          <a:prstGeom prst="rect">
            <a:avLst/>
          </a:prstGeom>
        </p:spPr>
        <p:txBody>
          <a:bodyPr wrap="none">
            <a:spAutoFit/>
          </a:bodyPr>
          <a:lstStyle/>
          <a:p>
            <a:r>
              <a:rPr lang="en-GB" b="1" dirty="0">
                <a:solidFill>
                  <a:srgbClr val="0000FF"/>
                </a:solidFill>
                <a:latin typeface="Consolas" panose="020B0609020204030204" pitchFamily="49" charset="0"/>
                <a:cs typeface="Consolas" panose="020B0609020204030204" pitchFamily="49" charset="0"/>
              </a:rPr>
              <a:t>0x20001BB0</a:t>
            </a:r>
            <a:endParaRPr lang="en-US" dirty="0"/>
          </a:p>
        </p:txBody>
      </p:sp>
      <p:sp>
        <p:nvSpPr>
          <p:cNvPr id="6" name="Rectangle 5"/>
          <p:cNvSpPr/>
          <p:nvPr/>
        </p:nvSpPr>
        <p:spPr>
          <a:xfrm>
            <a:off x="1108927" y="5260420"/>
            <a:ext cx="1451038" cy="369332"/>
          </a:xfrm>
          <a:prstGeom prst="rect">
            <a:avLst/>
          </a:prstGeom>
        </p:spPr>
        <p:txBody>
          <a:bodyPr wrap="none">
            <a:spAutoFit/>
          </a:bodyPr>
          <a:lstStyle/>
          <a:p>
            <a:r>
              <a:rPr lang="en-GB" b="1" dirty="0">
                <a:solidFill>
                  <a:srgbClr val="C00000"/>
                </a:solidFill>
                <a:latin typeface="Consolas" panose="020B0609020204030204" pitchFamily="49" charset="0"/>
                <a:cs typeface="Consolas" panose="020B0609020204030204" pitchFamily="49" charset="0"/>
              </a:rPr>
              <a:t>0x08000269</a:t>
            </a:r>
            <a:endParaRPr lang="en-US" dirty="0"/>
          </a:p>
        </p:txBody>
      </p:sp>
      <p:sp>
        <p:nvSpPr>
          <p:cNvPr id="7" name="TextBox 6"/>
          <p:cNvSpPr txBox="1"/>
          <p:nvPr/>
        </p:nvSpPr>
        <p:spPr>
          <a:xfrm>
            <a:off x="6531347" y="6464869"/>
            <a:ext cx="1039067" cy="369332"/>
          </a:xfrm>
          <a:prstGeom prst="rect">
            <a:avLst/>
          </a:prstGeom>
          <a:noFill/>
        </p:spPr>
        <p:txBody>
          <a:bodyPr wrap="none" rtlCol="0">
            <a:spAutoFit/>
          </a:bodyPr>
          <a:lstStyle/>
          <a:p>
            <a:r>
              <a:rPr lang="en-US" dirty="0"/>
              <a:t>Registers</a:t>
            </a:r>
          </a:p>
        </p:txBody>
      </p:sp>
      <p:sp>
        <p:nvSpPr>
          <p:cNvPr id="115" name="Content Placeholder 7"/>
          <p:cNvSpPr>
            <a:spLocks noGrp="1"/>
          </p:cNvSpPr>
          <p:nvPr>
            <p:ph sz="quarter" idx="4294967295"/>
          </p:nvPr>
        </p:nvSpPr>
        <p:spPr>
          <a:xfrm>
            <a:off x="8524726" y="2212501"/>
            <a:ext cx="3810000" cy="2743200"/>
          </a:xfrm>
        </p:spPr>
        <p:txBody>
          <a:bodyPr>
            <a:noAutofit/>
          </a:bodyPr>
          <a:lstStyle/>
          <a:p>
            <a:pPr marL="0" indent="0">
              <a:buNone/>
            </a:pPr>
            <a:r>
              <a:rPr lang="en-US" sz="2000" dirty="0">
                <a:solidFill>
                  <a:srgbClr val="C00000"/>
                </a:solidFill>
              </a:rPr>
              <a:t>Booting Sequence:</a:t>
            </a:r>
          </a:p>
          <a:p>
            <a:pPr marL="0" indent="0">
              <a:buNone/>
            </a:pPr>
            <a:r>
              <a:rPr lang="en-US" sz="2000" b="1" dirty="0">
                <a:latin typeface="Consolas" panose="020B0609020204030204" pitchFamily="49" charset="0"/>
                <a:cs typeface="Consolas" panose="020B0609020204030204" pitchFamily="49" charset="0"/>
              </a:rPr>
              <a:t>1. </a:t>
            </a:r>
            <a:r>
              <a:rPr lang="en-US" sz="2000" dirty="0"/>
              <a:t>Read pins </a:t>
            </a:r>
            <a:r>
              <a:rPr lang="en-US" sz="2000" dirty="0">
                <a:latin typeface="Consolas" panose="020B0609020204030204" pitchFamily="49" charset="0"/>
                <a:cs typeface="Consolas" panose="020B0609020204030204" pitchFamily="49" charset="0"/>
              </a:rPr>
              <a:t>BOOT0</a:t>
            </a:r>
            <a:r>
              <a:rPr lang="en-US" sz="2000" dirty="0"/>
              <a:t> and </a:t>
            </a:r>
            <a:r>
              <a:rPr lang="en-US" sz="2000" dirty="0">
                <a:latin typeface="Consolas" panose="020B0609020204030204" pitchFamily="49" charset="0"/>
                <a:cs typeface="Consolas" panose="020B0609020204030204" pitchFamily="49" charset="0"/>
              </a:rPr>
              <a:t>BOOT1</a:t>
            </a:r>
          </a:p>
          <a:p>
            <a:pPr marL="0" indent="0">
              <a:buNone/>
            </a:pPr>
            <a:r>
              <a:rPr lang="en-US" sz="2000" dirty="0"/>
              <a:t>      and determine boot mode</a:t>
            </a:r>
            <a:endParaRPr lang="en-US" sz="2000" b="1" dirty="0">
              <a:latin typeface="Consolas" panose="020B0609020204030204" pitchFamily="49" charset="0"/>
              <a:cs typeface="Consolas" panose="020B0609020204030204" pitchFamily="49" charset="0"/>
            </a:endParaRPr>
          </a:p>
          <a:p>
            <a:pPr marL="0" indent="0">
              <a:buNone/>
            </a:pPr>
            <a:r>
              <a:rPr lang="en-US" sz="2000" b="1" dirty="0">
                <a:latin typeface="Consolas" panose="020B0609020204030204" pitchFamily="49" charset="0"/>
                <a:cs typeface="Consolas" panose="020B0609020204030204" pitchFamily="49" charset="0"/>
              </a:rPr>
              <a:t>2. </a:t>
            </a:r>
            <a:r>
              <a:rPr lang="en-US" sz="2000" dirty="0"/>
              <a:t>Fetch MSP from address  </a:t>
            </a:r>
          </a:p>
          <a:p>
            <a:pPr marL="0" indent="0">
              <a:buNone/>
            </a:pPr>
            <a:r>
              <a:rPr lang="en-US" sz="2000" dirty="0">
                <a:latin typeface="Consolas" panose="020B0609020204030204" pitchFamily="49" charset="0"/>
                <a:cs typeface="Consolas" panose="020B0609020204030204" pitchFamily="49" charset="0"/>
              </a:rPr>
              <a:t>   0x00000000</a:t>
            </a:r>
          </a:p>
          <a:p>
            <a:pPr marL="0" indent="0">
              <a:buNone/>
            </a:pPr>
            <a:r>
              <a:rPr lang="en-US" sz="2000" b="1" dirty="0">
                <a:latin typeface="Consolas" panose="020B0609020204030204" pitchFamily="49" charset="0"/>
                <a:cs typeface="Consolas" panose="020B0609020204030204" pitchFamily="49" charset="0"/>
              </a:rPr>
              <a:t>3. </a:t>
            </a:r>
            <a:r>
              <a:rPr lang="en-US" sz="2000" dirty="0"/>
              <a:t>Fetch PC from address </a:t>
            </a:r>
          </a:p>
          <a:p>
            <a:pPr marL="0" indent="0">
              <a:buNone/>
            </a:pPr>
            <a:r>
              <a:rPr lang="en-US" sz="2000" dirty="0">
                <a:latin typeface="Consolas" panose="020B0609020204030204" pitchFamily="49" charset="0"/>
                <a:cs typeface="Consolas" panose="020B0609020204030204" pitchFamily="49" charset="0"/>
              </a:rPr>
              <a:t>   0x00000004</a:t>
            </a:r>
          </a:p>
        </p:txBody>
      </p:sp>
    </p:spTree>
    <p:custDataLst>
      <p:tags r:id="rId1"/>
    </p:custDataLst>
    <p:extLst>
      <p:ext uri="{BB962C8B-B14F-4D97-AF65-F5344CB8AC3E}">
        <p14:creationId xmlns:p14="http://schemas.microsoft.com/office/powerpoint/2010/main" val="173617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animEffect transition="in" filter="wipe(down)">
                                      <p:cBhvr>
                                        <p:cTn id="11" dur="500"/>
                                        <p:tgtEl>
                                          <p:spTgt spid="200"/>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201"/>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1"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par>
                          <p:cTn id="18" fill="hold">
                            <p:stCondLst>
                              <p:cond delay="500"/>
                            </p:stCondLst>
                            <p:childTnLst>
                              <p:par>
                                <p:cTn id="19" presetID="42" presetClass="path" presetSubtype="0" accel="50000" decel="50000" fill="hold" grpId="0" nodeType="afterEffect">
                                  <p:stCondLst>
                                    <p:cond delay="0"/>
                                  </p:stCondLst>
                                  <p:childTnLst>
                                    <p:animMotion origin="layout" path="M 2.08333E-6 2.59259E-6 L 0.43255 -0.0132 " pathEditMode="relative" rAng="0" ptsTypes="AA">
                                      <p:cBhvr>
                                        <p:cTn id="20" dur="2000" fill="hold"/>
                                        <p:tgtEl>
                                          <p:spTgt spid="5"/>
                                        </p:tgtEl>
                                        <p:attrNameLst>
                                          <p:attrName>ppt_x</p:attrName>
                                          <p:attrName>ppt_y</p:attrName>
                                        </p:attrNameLst>
                                      </p:cBhvr>
                                      <p:rCtr x="21628" y="-671"/>
                                    </p:animMotion>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04"/>
                                        </p:tgtEl>
                                        <p:attrNameLst>
                                          <p:attrName>style.visibility</p:attrName>
                                        </p:attrNameLst>
                                      </p:cBhvr>
                                      <p:to>
                                        <p:strVal val="visible"/>
                                      </p:to>
                                    </p:set>
                                    <p:animEffect transition="in" filter="wipe(up)">
                                      <p:cBhvr>
                                        <p:cTn id="25" dur="500"/>
                                        <p:tgtEl>
                                          <p:spTgt spid="204"/>
                                        </p:tgtEl>
                                      </p:cBhvr>
                                    </p:animEffec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205"/>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1" nodeType="after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par>
                          <p:cTn id="32" fill="hold">
                            <p:stCondLst>
                              <p:cond delay="500"/>
                            </p:stCondLst>
                            <p:childTnLst>
                              <p:par>
                                <p:cTn id="33" presetID="42" presetClass="path" presetSubtype="0" accel="50000" decel="50000" fill="hold" grpId="0" nodeType="afterEffect">
                                  <p:stCondLst>
                                    <p:cond delay="0"/>
                                  </p:stCondLst>
                                  <p:childTnLst>
                                    <p:animMotion origin="layout" path="M -8.33333E-7 -1.48148E-6 L 0.43073 0.11644 " pathEditMode="relative" rAng="0" ptsTypes="AA">
                                      <p:cBhvr>
                                        <p:cTn id="34" dur="2000" fill="hold"/>
                                        <p:tgtEl>
                                          <p:spTgt spid="6"/>
                                        </p:tgtEl>
                                        <p:attrNameLst>
                                          <p:attrName>ppt_x</p:attrName>
                                          <p:attrName>ppt_y</p:attrName>
                                        </p:attrNameLst>
                                      </p:cBhvr>
                                      <p:rCtr x="21536" y="58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0"/>
      <p:bldP spid="205" grpId="0"/>
      <p:bldP spid="5" grpId="0"/>
      <p:bldP spid="5" grpId="1"/>
      <p:bldP spid="6" grpId="0"/>
      <p:bldP spid="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2" name="Title 1"/>
          <p:cNvSpPr>
            <a:spLocks noGrp="1"/>
          </p:cNvSpPr>
          <p:nvPr>
            <p:ph type="title" idx="4294967295"/>
          </p:nvPr>
        </p:nvSpPr>
        <p:spPr>
          <a:xfrm>
            <a:off x="228600" y="152400"/>
            <a:ext cx="10744200" cy="838200"/>
          </a:xfrm>
        </p:spPr>
        <p:txBody>
          <a:bodyPr>
            <a:noAutofit/>
          </a:bodyPr>
          <a:lstStyle/>
          <a:p>
            <a:r>
              <a:rPr lang="en-US" sz="4400" dirty="0"/>
              <a:t>Boot Mode</a:t>
            </a:r>
          </a:p>
        </p:txBody>
      </p:sp>
      <p:graphicFrame>
        <p:nvGraphicFramePr>
          <p:cNvPr id="62" name="Content Placeholder 4"/>
          <p:cNvGraphicFramePr>
            <a:graphicFrameLocks/>
          </p:cNvGraphicFramePr>
          <p:nvPr>
            <p:extLst>
              <p:ext uri="{D42A27DB-BD31-4B8C-83A1-F6EECF244321}">
                <p14:modId xmlns:p14="http://schemas.microsoft.com/office/powerpoint/2010/main" val="1733106670"/>
              </p:ext>
            </p:extLst>
          </p:nvPr>
        </p:nvGraphicFramePr>
        <p:xfrm>
          <a:off x="609600" y="2057400"/>
          <a:ext cx="10972800" cy="2316480"/>
        </p:xfrm>
        <a:graphic>
          <a:graphicData uri="http://schemas.openxmlformats.org/drawingml/2006/table">
            <a:tbl>
              <a:tblPr firstRow="1" bandRow="1">
                <a:tableStyleId>{5C22544A-7EE6-4342-B048-85BDC9FD1C3A}</a:tableStyleId>
              </a:tblPr>
              <a:tblGrid>
                <a:gridCol w="1947000">
                  <a:extLst>
                    <a:ext uri="{9D8B030D-6E8A-4147-A177-3AD203B41FA5}">
                      <a16:colId xmlns:a16="http://schemas.microsoft.com/office/drawing/2014/main" val="1280604405"/>
                    </a:ext>
                  </a:extLst>
                </a:gridCol>
                <a:gridCol w="1985676">
                  <a:extLst>
                    <a:ext uri="{9D8B030D-6E8A-4147-A177-3AD203B41FA5}">
                      <a16:colId xmlns:a16="http://schemas.microsoft.com/office/drawing/2014/main" val="1825375040"/>
                    </a:ext>
                  </a:extLst>
                </a:gridCol>
                <a:gridCol w="7040124">
                  <a:extLst>
                    <a:ext uri="{9D8B030D-6E8A-4147-A177-3AD203B41FA5}">
                      <a16:colId xmlns:a16="http://schemas.microsoft.com/office/drawing/2014/main" val="142363529"/>
                    </a:ext>
                  </a:extLst>
                </a:gridCol>
              </a:tblGrid>
              <a:tr h="370840">
                <a:tc>
                  <a:txBody>
                    <a:bodyPr/>
                    <a:lstStyle/>
                    <a:p>
                      <a:pPr algn="ctr"/>
                      <a:r>
                        <a:rPr lang="en-US" sz="3200" dirty="0">
                          <a:latin typeface="Consolas" panose="020B0609020204030204" pitchFamily="49" charset="0"/>
                          <a:cs typeface="Consolas" panose="020B0609020204030204" pitchFamily="49" charset="0"/>
                        </a:rPr>
                        <a:t>Boot1</a:t>
                      </a:r>
                    </a:p>
                  </a:txBody>
                  <a:tcPr/>
                </a:tc>
                <a:tc>
                  <a:txBody>
                    <a:bodyPr/>
                    <a:lstStyle/>
                    <a:p>
                      <a:pPr algn="ctr"/>
                      <a:r>
                        <a:rPr lang="en-US" sz="3200" dirty="0">
                          <a:latin typeface="Consolas" panose="020B0609020204030204" pitchFamily="49" charset="0"/>
                          <a:cs typeface="Consolas" panose="020B0609020204030204" pitchFamily="49" charset="0"/>
                        </a:rPr>
                        <a:t>Boot0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Boot Mode</a:t>
                      </a:r>
                    </a:p>
                  </a:txBody>
                  <a:tcPr anchor="ctr"/>
                </a:tc>
                <a:extLst>
                  <a:ext uri="{0D108BD9-81ED-4DB2-BD59-A6C34878D82A}">
                    <a16:rowId xmlns:a16="http://schemas.microsoft.com/office/drawing/2014/main" val="2259918348"/>
                  </a:ext>
                </a:extLst>
              </a:tr>
              <a:tr h="370840">
                <a:tc>
                  <a:txBody>
                    <a:bodyPr/>
                    <a:lstStyle/>
                    <a:p>
                      <a:pPr algn="ctr"/>
                      <a:r>
                        <a:rPr lang="en-US" sz="3200" b="1" dirty="0">
                          <a:latin typeface="Consolas" panose="020B0609020204030204" pitchFamily="49" charset="0"/>
                          <a:cs typeface="Consolas" panose="020B0609020204030204" pitchFamily="49" charset="0"/>
                        </a:rPr>
                        <a:t>x</a:t>
                      </a:r>
                    </a:p>
                  </a:txBody>
                  <a:tcPr/>
                </a:tc>
                <a:tc>
                  <a:txBody>
                    <a:bodyPr/>
                    <a:lstStyle/>
                    <a:p>
                      <a:pPr algn="ctr"/>
                      <a:r>
                        <a:rPr lang="en-US" sz="3200" b="1" dirty="0">
                          <a:latin typeface="Consolas" panose="020B0609020204030204" pitchFamily="49" charset="0"/>
                          <a:cs typeface="Consolas" panose="020B0609020204030204" pitchFamily="49" charset="0"/>
                        </a:rPr>
                        <a:t>0</a:t>
                      </a:r>
                    </a:p>
                  </a:txBody>
                  <a:tcPr/>
                </a:tc>
                <a:tc>
                  <a:txBody>
                    <a:bodyPr/>
                    <a:lstStyle/>
                    <a:p>
                      <a:r>
                        <a:rPr lang="en-US" sz="3200" dirty="0"/>
                        <a:t>Boot from main</a:t>
                      </a:r>
                      <a:r>
                        <a:rPr lang="en-US" sz="3200" baseline="0" dirty="0"/>
                        <a:t> flash memory</a:t>
                      </a:r>
                      <a:endParaRPr lang="en-US" sz="3200" dirty="0"/>
                    </a:p>
                  </a:txBody>
                  <a:tcPr/>
                </a:tc>
                <a:extLst>
                  <a:ext uri="{0D108BD9-81ED-4DB2-BD59-A6C34878D82A}">
                    <a16:rowId xmlns:a16="http://schemas.microsoft.com/office/drawing/2014/main" val="1755197259"/>
                  </a:ext>
                </a:extLst>
              </a:tr>
              <a:tr h="370840">
                <a:tc>
                  <a:txBody>
                    <a:bodyPr/>
                    <a:lstStyle/>
                    <a:p>
                      <a:pPr algn="ctr"/>
                      <a:r>
                        <a:rPr lang="en-US" sz="3200" b="1" dirty="0">
                          <a:latin typeface="Consolas" panose="020B0609020204030204" pitchFamily="49" charset="0"/>
                          <a:cs typeface="Consolas" panose="020B0609020204030204" pitchFamily="49" charset="0"/>
                        </a:rPr>
                        <a:t>0</a:t>
                      </a:r>
                    </a:p>
                  </a:txBody>
                  <a:tcPr/>
                </a:tc>
                <a:tc>
                  <a:txBody>
                    <a:bodyPr/>
                    <a:lstStyle/>
                    <a:p>
                      <a:pPr algn="ctr"/>
                      <a:r>
                        <a:rPr lang="en-US" sz="3200" b="1" dirty="0">
                          <a:latin typeface="Consolas" panose="020B0609020204030204" pitchFamily="49" charset="0"/>
                          <a:cs typeface="Consolas" panose="020B0609020204030204" pitchFamily="49" charset="0"/>
                        </a:rPr>
                        <a:t>1</a:t>
                      </a:r>
                    </a:p>
                  </a:txBody>
                  <a:tcPr/>
                </a:tc>
                <a:tc>
                  <a:txBody>
                    <a:bodyPr/>
                    <a:lstStyle/>
                    <a:p>
                      <a:r>
                        <a:rPr lang="en-US" sz="3200" dirty="0"/>
                        <a:t>Boot from system memory (bootloader)</a:t>
                      </a:r>
                    </a:p>
                  </a:txBody>
                  <a:tcPr/>
                </a:tc>
                <a:extLst>
                  <a:ext uri="{0D108BD9-81ED-4DB2-BD59-A6C34878D82A}">
                    <a16:rowId xmlns:a16="http://schemas.microsoft.com/office/drawing/2014/main" val="944295001"/>
                  </a:ext>
                </a:extLst>
              </a:tr>
              <a:tr h="370840">
                <a:tc>
                  <a:txBody>
                    <a:bodyPr/>
                    <a:lstStyle/>
                    <a:p>
                      <a:pPr algn="ctr"/>
                      <a:r>
                        <a:rPr lang="en-US" sz="3200" b="1" dirty="0">
                          <a:latin typeface="Consolas" panose="020B0609020204030204" pitchFamily="49" charset="0"/>
                          <a:cs typeface="Consolas" panose="020B0609020204030204" pitchFamily="49" charset="0"/>
                        </a:rPr>
                        <a:t>1</a:t>
                      </a:r>
                    </a:p>
                  </a:txBody>
                  <a:tcPr/>
                </a:tc>
                <a:tc>
                  <a:txBody>
                    <a:bodyPr/>
                    <a:lstStyle/>
                    <a:p>
                      <a:pPr algn="ctr"/>
                      <a:r>
                        <a:rPr lang="en-US" sz="3200" b="1" dirty="0">
                          <a:latin typeface="Consolas" panose="020B0609020204030204" pitchFamily="49" charset="0"/>
                          <a:cs typeface="Consolas" panose="020B0609020204030204" pitchFamily="49" charset="0"/>
                        </a:rPr>
                        <a:t>1</a:t>
                      </a:r>
                    </a:p>
                  </a:txBody>
                  <a:tcPr/>
                </a:tc>
                <a:tc>
                  <a:txBody>
                    <a:bodyPr/>
                    <a:lstStyle/>
                    <a:p>
                      <a:r>
                        <a:rPr lang="en-US" sz="3200" dirty="0"/>
                        <a:t>Boot from embedded SRAM</a:t>
                      </a:r>
                    </a:p>
                  </a:txBody>
                  <a:tcPr/>
                </a:tc>
                <a:extLst>
                  <a:ext uri="{0D108BD9-81ED-4DB2-BD59-A6C34878D82A}">
                    <a16:rowId xmlns:a16="http://schemas.microsoft.com/office/drawing/2014/main" val="2278858250"/>
                  </a:ext>
                </a:extLst>
              </a:tr>
            </a:tbl>
          </a:graphicData>
        </a:graphic>
      </p:graphicFrame>
    </p:spTree>
    <p:extLst>
      <p:ext uri="{BB962C8B-B14F-4D97-AF65-F5344CB8AC3E}">
        <p14:creationId xmlns:p14="http://schemas.microsoft.com/office/powerpoint/2010/main" val="421910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Boot Mode</a:t>
            </a:r>
          </a:p>
        </p:txBody>
      </p:sp>
      <p:grpSp>
        <p:nvGrpSpPr>
          <p:cNvPr id="6" name="Group 5"/>
          <p:cNvGrpSpPr/>
          <p:nvPr/>
        </p:nvGrpSpPr>
        <p:grpSpPr>
          <a:xfrm>
            <a:off x="381000" y="1227324"/>
            <a:ext cx="4212137" cy="5494786"/>
            <a:chOff x="7155109" y="1207639"/>
            <a:chExt cx="4212137" cy="5494786"/>
          </a:xfrm>
        </p:grpSpPr>
        <p:sp>
          <p:nvSpPr>
            <p:cNvPr id="8" name="Rectangle 7"/>
            <p:cNvSpPr/>
            <p:nvPr/>
          </p:nvSpPr>
          <p:spPr>
            <a:xfrm>
              <a:off x="9224108" y="5559425"/>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9" name="Rectangle 8"/>
            <p:cNvSpPr/>
            <p:nvPr/>
          </p:nvSpPr>
          <p:spPr>
            <a:xfrm>
              <a:off x="9224108" y="4955727"/>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SRAM</a:t>
              </a:r>
            </a:p>
          </p:txBody>
        </p:sp>
        <p:sp>
          <p:nvSpPr>
            <p:cNvPr id="10" name="Rectangle 9"/>
            <p:cNvSpPr/>
            <p:nvPr/>
          </p:nvSpPr>
          <p:spPr>
            <a:xfrm>
              <a:off x="9224108" y="4370605"/>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11" name="Rectangle 10"/>
            <p:cNvSpPr/>
            <p:nvPr/>
          </p:nvSpPr>
          <p:spPr>
            <a:xfrm>
              <a:off x="9220200" y="1942810"/>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2" name="Rectangle 11"/>
            <p:cNvSpPr/>
            <p:nvPr/>
          </p:nvSpPr>
          <p:spPr>
            <a:xfrm>
              <a:off x="9222328" y="3158313"/>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3" name="Rectangle 12"/>
            <p:cNvSpPr/>
            <p:nvPr/>
          </p:nvSpPr>
          <p:spPr>
            <a:xfrm>
              <a:off x="9220200" y="1373647"/>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4" name="Rectangle 13"/>
            <p:cNvSpPr/>
            <p:nvPr/>
          </p:nvSpPr>
          <p:spPr>
            <a:xfrm>
              <a:off x="9220200" y="1373647"/>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045580" y="5941620"/>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16" name="Group 15"/>
            <p:cNvGrpSpPr/>
            <p:nvPr/>
          </p:nvGrpSpPr>
          <p:grpSpPr>
            <a:xfrm>
              <a:off x="7227994" y="5407025"/>
              <a:ext cx="1995254" cy="690090"/>
              <a:chOff x="138346" y="5410200"/>
              <a:chExt cx="1995254" cy="690090"/>
            </a:xfrm>
          </p:grpSpPr>
          <p:sp>
            <p:nvSpPr>
              <p:cNvPr id="17" name="TextBox 16"/>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18" name="Left Brace 17"/>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0" name="Group 19"/>
            <p:cNvGrpSpPr/>
            <p:nvPr/>
          </p:nvGrpSpPr>
          <p:grpSpPr>
            <a:xfrm>
              <a:off x="7220619" y="4794448"/>
              <a:ext cx="1996533" cy="757161"/>
              <a:chOff x="130971" y="4797623"/>
              <a:chExt cx="1996533" cy="757161"/>
            </a:xfrm>
          </p:grpSpPr>
          <p:sp>
            <p:nvSpPr>
              <p:cNvPr id="21" name="TextBox 20"/>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22" name="Left Brace 21"/>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4" name="Group 23"/>
            <p:cNvGrpSpPr/>
            <p:nvPr/>
          </p:nvGrpSpPr>
          <p:grpSpPr>
            <a:xfrm>
              <a:off x="7215181" y="4261048"/>
              <a:ext cx="2001111" cy="688777"/>
              <a:chOff x="125533" y="4264223"/>
              <a:chExt cx="2001111" cy="688777"/>
            </a:xfrm>
          </p:grpSpPr>
          <p:sp>
            <p:nvSpPr>
              <p:cNvPr id="25" name="TextBox 24"/>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26" name="Left Brace 25"/>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8" name="Group 27"/>
            <p:cNvGrpSpPr/>
            <p:nvPr/>
          </p:nvGrpSpPr>
          <p:grpSpPr>
            <a:xfrm>
              <a:off x="7318248" y="3041847"/>
              <a:ext cx="1905000" cy="1351459"/>
              <a:chOff x="228600" y="3045022"/>
              <a:chExt cx="1905000" cy="1351459"/>
            </a:xfrm>
          </p:grpSpPr>
          <p:sp>
            <p:nvSpPr>
              <p:cNvPr id="29" name="TextBox 28"/>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30" name="Left Brace 29"/>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32" name="TextBox 31"/>
            <p:cNvSpPr txBox="1"/>
            <p:nvPr/>
          </p:nvSpPr>
          <p:spPr>
            <a:xfrm>
              <a:off x="8044720" y="1207639"/>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33" name="Group 32"/>
            <p:cNvGrpSpPr/>
            <p:nvPr/>
          </p:nvGrpSpPr>
          <p:grpSpPr>
            <a:xfrm>
              <a:off x="7155109" y="1282883"/>
              <a:ext cx="917211" cy="671531"/>
              <a:chOff x="65461" y="1286058"/>
              <a:chExt cx="917211" cy="671531"/>
            </a:xfrm>
          </p:grpSpPr>
          <p:sp>
            <p:nvSpPr>
              <p:cNvPr id="34" name="Left Brace 33"/>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6" name="Group 35"/>
            <p:cNvGrpSpPr/>
            <p:nvPr/>
          </p:nvGrpSpPr>
          <p:grpSpPr>
            <a:xfrm>
              <a:off x="7307909" y="1800526"/>
              <a:ext cx="1908383" cy="1404575"/>
              <a:chOff x="218261" y="1803701"/>
              <a:chExt cx="1908383" cy="1404575"/>
            </a:xfrm>
          </p:grpSpPr>
          <p:sp>
            <p:nvSpPr>
              <p:cNvPr id="37" name="TextBox 36"/>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38" name="Left Brace 37"/>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40" name="Right Brace 39"/>
            <p:cNvSpPr/>
            <p:nvPr/>
          </p:nvSpPr>
          <p:spPr>
            <a:xfrm rot="5400000">
              <a:off x="10165148" y="5227125"/>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9680448" y="6425426"/>
              <a:ext cx="1268296" cy="276999"/>
            </a:xfrm>
            <a:prstGeom prst="rect">
              <a:avLst/>
            </a:prstGeom>
            <a:noFill/>
          </p:spPr>
          <p:txBody>
            <a:bodyPr wrap="none" rtlCol="0">
              <a:spAutoFit/>
            </a:bodyPr>
            <a:lstStyle/>
            <a:p>
              <a:r>
                <a:rPr lang="en-US" sz="1200" dirty="0"/>
                <a:t>One Byte (8 bits)</a:t>
              </a:r>
            </a:p>
          </p:txBody>
        </p:sp>
      </p:grpSp>
      <p:cxnSp>
        <p:nvCxnSpPr>
          <p:cNvPr id="50" name="Straight Connector 49"/>
          <p:cNvCxnSpPr/>
          <p:nvPr/>
        </p:nvCxnSpPr>
        <p:spPr>
          <a:xfrm>
            <a:off x="4593137" y="6137225"/>
            <a:ext cx="1426663"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4593137" y="1787579"/>
            <a:ext cx="1426663" cy="3791532"/>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9334975" y="1710817"/>
            <a:ext cx="1800467" cy="1728667"/>
            <a:chOff x="9334975" y="1710817"/>
            <a:chExt cx="1800467" cy="1728667"/>
          </a:xfrm>
        </p:grpSpPr>
        <p:sp>
          <p:nvSpPr>
            <p:cNvPr id="60" name="Right Brace 59"/>
            <p:cNvSpPr/>
            <p:nvPr/>
          </p:nvSpPr>
          <p:spPr>
            <a:xfrm>
              <a:off x="9334975" y="1710817"/>
              <a:ext cx="248135" cy="172866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9459042" y="2127988"/>
              <a:ext cx="1676400" cy="923330"/>
            </a:xfrm>
            <a:prstGeom prst="rect">
              <a:avLst/>
            </a:prstGeom>
            <a:noFill/>
          </p:spPr>
          <p:txBody>
            <a:bodyPr wrap="square" rtlCol="0">
              <a:spAutoFit/>
            </a:bodyPr>
            <a:lstStyle/>
            <a:p>
              <a:pPr algn="ctr"/>
              <a:r>
                <a:rPr lang="en-US" dirty="0"/>
                <a:t>ROM region reserved to bootloaders</a:t>
              </a:r>
            </a:p>
          </p:txBody>
        </p:sp>
      </p:grpSp>
      <p:graphicFrame>
        <p:nvGraphicFramePr>
          <p:cNvPr id="62" name="Content Placeholder 4"/>
          <p:cNvGraphicFramePr>
            <a:graphicFrameLocks/>
          </p:cNvGraphicFramePr>
          <p:nvPr>
            <p:extLst>
              <p:ext uri="{D42A27DB-BD31-4B8C-83A1-F6EECF244321}">
                <p14:modId xmlns:p14="http://schemas.microsoft.com/office/powerpoint/2010/main" val="518370991"/>
              </p:ext>
            </p:extLst>
          </p:nvPr>
        </p:nvGraphicFramePr>
        <p:xfrm>
          <a:off x="5757359" y="95634"/>
          <a:ext cx="4631874" cy="1483360"/>
        </p:xfrm>
        <a:graphic>
          <a:graphicData uri="http://schemas.openxmlformats.org/drawingml/2006/table">
            <a:tbl>
              <a:tblPr firstRow="1" bandRow="1">
                <a:tableStyleId>{5C22544A-7EE6-4342-B048-85BDC9FD1C3A}</a:tableStyleId>
              </a:tblPr>
              <a:tblGrid>
                <a:gridCol w="821874">
                  <a:extLst>
                    <a:ext uri="{9D8B030D-6E8A-4147-A177-3AD203B41FA5}">
                      <a16:colId xmlns:a16="http://schemas.microsoft.com/office/drawing/2014/main" val="1280604405"/>
                    </a:ext>
                  </a:extLst>
                </a:gridCol>
                <a:gridCol w="838200">
                  <a:extLst>
                    <a:ext uri="{9D8B030D-6E8A-4147-A177-3AD203B41FA5}">
                      <a16:colId xmlns:a16="http://schemas.microsoft.com/office/drawing/2014/main" val="1825375040"/>
                    </a:ext>
                  </a:extLst>
                </a:gridCol>
                <a:gridCol w="2971800">
                  <a:extLst>
                    <a:ext uri="{9D8B030D-6E8A-4147-A177-3AD203B41FA5}">
                      <a16:colId xmlns:a16="http://schemas.microsoft.com/office/drawing/2014/main" val="142363529"/>
                    </a:ext>
                  </a:extLst>
                </a:gridCol>
              </a:tblGrid>
              <a:tr h="370840">
                <a:tc>
                  <a:txBody>
                    <a:bodyPr/>
                    <a:lstStyle/>
                    <a:p>
                      <a:pPr algn="ctr"/>
                      <a:r>
                        <a:rPr lang="en-US" dirty="0">
                          <a:latin typeface="Consolas" panose="020B0609020204030204" pitchFamily="49" charset="0"/>
                          <a:cs typeface="Consolas" panose="020B0609020204030204" pitchFamily="49" charset="0"/>
                        </a:rPr>
                        <a:t>Boot1</a:t>
                      </a:r>
                    </a:p>
                  </a:txBody>
                  <a:tcPr/>
                </a:tc>
                <a:tc>
                  <a:txBody>
                    <a:bodyPr/>
                    <a:lstStyle/>
                    <a:p>
                      <a:pPr algn="ctr"/>
                      <a:r>
                        <a:rPr lang="en-US" dirty="0">
                          <a:latin typeface="Consolas" panose="020B0609020204030204" pitchFamily="49" charset="0"/>
                          <a:cs typeface="Consolas" panose="020B0609020204030204" pitchFamily="49" charset="0"/>
                        </a:rPr>
                        <a:t>Boot0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Boot Mode</a:t>
                      </a:r>
                    </a:p>
                  </a:txBody>
                  <a:tcPr anchor="ctr"/>
                </a:tc>
                <a:extLst>
                  <a:ext uri="{0D108BD9-81ED-4DB2-BD59-A6C34878D82A}">
                    <a16:rowId xmlns:a16="http://schemas.microsoft.com/office/drawing/2014/main" val="2259918348"/>
                  </a:ext>
                </a:extLst>
              </a:tr>
              <a:tr h="370840">
                <a:tc>
                  <a:txBody>
                    <a:bodyPr/>
                    <a:lstStyle/>
                    <a:p>
                      <a:pPr algn="ctr"/>
                      <a:r>
                        <a:rPr lang="en-US" b="1" dirty="0">
                          <a:latin typeface="Consolas" panose="020B0609020204030204" pitchFamily="49" charset="0"/>
                          <a:cs typeface="Consolas" panose="020B0609020204030204" pitchFamily="49" charset="0"/>
                        </a:rPr>
                        <a:t>x</a:t>
                      </a:r>
                    </a:p>
                  </a:txBody>
                  <a:tcPr/>
                </a:tc>
                <a:tc>
                  <a:txBody>
                    <a:bodyPr/>
                    <a:lstStyle/>
                    <a:p>
                      <a:pPr algn="ctr"/>
                      <a:r>
                        <a:rPr lang="en-US" b="1" dirty="0">
                          <a:latin typeface="Consolas" panose="020B0609020204030204" pitchFamily="49" charset="0"/>
                          <a:cs typeface="Consolas" panose="020B0609020204030204" pitchFamily="49" charset="0"/>
                        </a:rPr>
                        <a:t>0</a:t>
                      </a:r>
                    </a:p>
                  </a:txBody>
                  <a:tcPr/>
                </a:tc>
                <a:tc>
                  <a:txBody>
                    <a:bodyPr/>
                    <a:lstStyle/>
                    <a:p>
                      <a:r>
                        <a:rPr lang="en-US" dirty="0"/>
                        <a:t>Boot from main</a:t>
                      </a:r>
                      <a:r>
                        <a:rPr lang="en-US" baseline="0" dirty="0"/>
                        <a:t> flash memory</a:t>
                      </a:r>
                      <a:endParaRPr lang="en-US" dirty="0"/>
                    </a:p>
                  </a:txBody>
                  <a:tcPr/>
                </a:tc>
                <a:extLst>
                  <a:ext uri="{0D108BD9-81ED-4DB2-BD59-A6C34878D82A}">
                    <a16:rowId xmlns:a16="http://schemas.microsoft.com/office/drawing/2014/main" val="1755197259"/>
                  </a:ext>
                </a:extLst>
              </a:tr>
              <a:tr h="370840">
                <a:tc>
                  <a:txBody>
                    <a:bodyPr/>
                    <a:lstStyle/>
                    <a:p>
                      <a:pPr algn="ctr"/>
                      <a:r>
                        <a:rPr lang="en-US" b="1" dirty="0">
                          <a:latin typeface="Consolas" panose="020B0609020204030204" pitchFamily="49" charset="0"/>
                          <a:cs typeface="Consolas" panose="020B0609020204030204" pitchFamily="49" charset="0"/>
                        </a:rPr>
                        <a:t>0</a:t>
                      </a:r>
                    </a:p>
                  </a:txBody>
                  <a:tcPr/>
                </a:tc>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r>
                        <a:rPr lang="en-US" dirty="0"/>
                        <a:t>Boot from system memory</a:t>
                      </a:r>
                    </a:p>
                  </a:txBody>
                  <a:tcPr/>
                </a:tc>
                <a:extLst>
                  <a:ext uri="{0D108BD9-81ED-4DB2-BD59-A6C34878D82A}">
                    <a16:rowId xmlns:a16="http://schemas.microsoft.com/office/drawing/2014/main" val="944295001"/>
                  </a:ext>
                </a:extLst>
              </a:tr>
              <a:tr h="370840">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r>
                        <a:rPr lang="en-US" dirty="0"/>
                        <a:t>Boot from embedded SRAM</a:t>
                      </a:r>
                    </a:p>
                  </a:txBody>
                  <a:tcPr/>
                </a:tc>
                <a:extLst>
                  <a:ext uri="{0D108BD9-81ED-4DB2-BD59-A6C34878D82A}">
                    <a16:rowId xmlns:a16="http://schemas.microsoft.com/office/drawing/2014/main" val="2278858250"/>
                  </a:ext>
                </a:extLst>
              </a:tr>
            </a:tbl>
          </a:graphicData>
        </a:graphic>
      </p:graphicFrame>
      <p:grpSp>
        <p:nvGrpSpPr>
          <p:cNvPr id="5" name="Group 4"/>
          <p:cNvGrpSpPr/>
          <p:nvPr/>
        </p:nvGrpSpPr>
        <p:grpSpPr>
          <a:xfrm>
            <a:off x="6019800" y="1631345"/>
            <a:ext cx="3321666" cy="4637736"/>
            <a:chOff x="6019800" y="1631345"/>
            <a:chExt cx="3321666" cy="4637736"/>
          </a:xfrm>
        </p:grpSpPr>
        <p:grpSp>
          <p:nvGrpSpPr>
            <p:cNvPr id="4" name="Group 3"/>
            <p:cNvGrpSpPr/>
            <p:nvPr/>
          </p:nvGrpSpPr>
          <p:grpSpPr>
            <a:xfrm>
              <a:off x="6019800" y="1787580"/>
              <a:ext cx="2140556" cy="4349645"/>
              <a:chOff x="6019800" y="1393332"/>
              <a:chExt cx="2140556" cy="4743893"/>
            </a:xfrm>
          </p:grpSpPr>
          <p:sp>
            <p:nvSpPr>
              <p:cNvPr id="42" name="Rectangle 41"/>
              <p:cNvSpPr/>
              <p:nvPr/>
            </p:nvSpPr>
            <p:spPr>
              <a:xfrm>
                <a:off x="6023708" y="5579110"/>
                <a:ext cx="2136648" cy="55811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Alias to flash, system memory or SRAM</a:t>
                </a:r>
              </a:p>
            </p:txBody>
          </p:sp>
          <p:sp>
            <p:nvSpPr>
              <p:cNvPr id="43" name="Rectangle 42"/>
              <p:cNvSpPr/>
              <p:nvPr/>
            </p:nvSpPr>
            <p:spPr>
              <a:xfrm>
                <a:off x="6023708" y="5201346"/>
                <a:ext cx="2136648" cy="3699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4" name="Rectangle 43"/>
              <p:cNvSpPr/>
              <p:nvPr/>
            </p:nvSpPr>
            <p:spPr>
              <a:xfrm>
                <a:off x="6023708" y="4390290"/>
                <a:ext cx="2136648" cy="80324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Flash</a:t>
                </a:r>
              </a:p>
            </p:txBody>
          </p:sp>
          <p:sp>
            <p:nvSpPr>
              <p:cNvPr id="45" name="Rectangle 44"/>
              <p:cNvSpPr/>
              <p:nvPr/>
            </p:nvSpPr>
            <p:spPr>
              <a:xfrm>
                <a:off x="6019800" y="1962495"/>
                <a:ext cx="2136648" cy="1203853"/>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memory</a:t>
                </a:r>
              </a:p>
              <a:p>
                <a:pPr algn="ctr"/>
                <a:r>
                  <a:rPr lang="en-US" dirty="0"/>
                  <a:t>(bootloader)</a:t>
                </a:r>
              </a:p>
            </p:txBody>
          </p:sp>
          <p:sp>
            <p:nvSpPr>
              <p:cNvPr id="46" name="Rectangle 45"/>
              <p:cNvSpPr/>
              <p:nvPr/>
            </p:nvSpPr>
            <p:spPr>
              <a:xfrm>
                <a:off x="6021928" y="3177998"/>
                <a:ext cx="2136648" cy="12122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7" name="Rectangle 46"/>
              <p:cNvSpPr/>
              <p:nvPr/>
            </p:nvSpPr>
            <p:spPr>
              <a:xfrm>
                <a:off x="6019800" y="1393332"/>
                <a:ext cx="2136648" cy="54813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 Bytes</a:t>
                </a:r>
              </a:p>
            </p:txBody>
          </p:sp>
          <p:sp>
            <p:nvSpPr>
              <p:cNvPr id="48" name="Rectangle 47"/>
              <p:cNvSpPr/>
              <p:nvPr/>
            </p:nvSpPr>
            <p:spPr>
              <a:xfrm>
                <a:off x="6019800" y="1393332"/>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4" name="TextBox 53"/>
            <p:cNvSpPr txBox="1"/>
            <p:nvPr/>
          </p:nvSpPr>
          <p:spPr>
            <a:xfrm>
              <a:off x="8162938" y="5961304"/>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sp>
          <p:nvSpPr>
            <p:cNvPr id="55" name="TextBox 54"/>
            <p:cNvSpPr txBox="1"/>
            <p:nvPr/>
          </p:nvSpPr>
          <p:spPr>
            <a:xfrm>
              <a:off x="8156448" y="5085710"/>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57" name="TextBox 56"/>
            <p:cNvSpPr txBox="1"/>
            <p:nvPr/>
          </p:nvSpPr>
          <p:spPr>
            <a:xfrm>
              <a:off x="8156448" y="1631345"/>
              <a:ext cx="1178528" cy="307777"/>
            </a:xfrm>
            <a:prstGeom prst="rect">
              <a:avLst/>
            </a:prstGeom>
            <a:noFill/>
          </p:spPr>
          <p:txBody>
            <a:bodyPr wrap="none" rtlCol="0">
              <a:spAutoFit/>
            </a:bodyPr>
            <a:lstStyle/>
            <a:p>
              <a:r>
                <a:rPr lang="en-US" sz="1400" dirty="0">
                  <a:latin typeface="Consolas" panose="020B0609020204030204" pitchFamily="49" charset="0"/>
                </a:rPr>
                <a:t>0x1FFFFFFF</a:t>
              </a:r>
            </a:p>
          </p:txBody>
        </p:sp>
        <p:sp>
          <p:nvSpPr>
            <p:cNvPr id="58" name="TextBox 57"/>
            <p:cNvSpPr txBox="1"/>
            <p:nvPr/>
          </p:nvSpPr>
          <p:spPr>
            <a:xfrm>
              <a:off x="8156448" y="3226748"/>
              <a:ext cx="1178528" cy="307777"/>
            </a:xfrm>
            <a:prstGeom prst="rect">
              <a:avLst/>
            </a:prstGeom>
            <a:noFill/>
          </p:spPr>
          <p:txBody>
            <a:bodyPr wrap="none" rtlCol="0">
              <a:spAutoFit/>
            </a:bodyPr>
            <a:lstStyle/>
            <a:p>
              <a:r>
                <a:rPr lang="en-US" sz="1400" dirty="0">
                  <a:latin typeface="Consolas" panose="020B0609020204030204" pitchFamily="49" charset="0"/>
                </a:rPr>
                <a:t>0x1FFF0000</a:t>
              </a:r>
            </a:p>
          </p:txBody>
        </p:sp>
        <p:sp>
          <p:nvSpPr>
            <p:cNvPr id="59" name="TextBox 58"/>
            <p:cNvSpPr txBox="1"/>
            <p:nvPr/>
          </p:nvSpPr>
          <p:spPr>
            <a:xfrm>
              <a:off x="8162938" y="4336671"/>
              <a:ext cx="1178528" cy="307777"/>
            </a:xfrm>
            <a:prstGeom prst="rect">
              <a:avLst/>
            </a:prstGeom>
            <a:noFill/>
          </p:spPr>
          <p:txBody>
            <a:bodyPr wrap="none" rtlCol="0">
              <a:spAutoFit/>
            </a:bodyPr>
            <a:lstStyle/>
            <a:p>
              <a:r>
                <a:rPr lang="en-US" sz="1400" dirty="0">
                  <a:latin typeface="Consolas" panose="020B0609020204030204" pitchFamily="49" charset="0"/>
                </a:rPr>
                <a:t>0x080X0000</a:t>
              </a:r>
            </a:p>
          </p:txBody>
        </p:sp>
        <p:sp>
          <p:nvSpPr>
            <p:cNvPr id="63" name="TextBox 62"/>
            <p:cNvSpPr txBox="1"/>
            <p:nvPr/>
          </p:nvSpPr>
          <p:spPr>
            <a:xfrm>
              <a:off x="8153400" y="2206823"/>
              <a:ext cx="1178528" cy="307777"/>
            </a:xfrm>
            <a:prstGeom prst="rect">
              <a:avLst/>
            </a:prstGeom>
            <a:noFill/>
          </p:spPr>
          <p:txBody>
            <a:bodyPr wrap="none" rtlCol="0">
              <a:spAutoFit/>
            </a:bodyPr>
            <a:lstStyle/>
            <a:p>
              <a:r>
                <a:rPr lang="en-US" sz="1400" dirty="0">
                  <a:latin typeface="Consolas" panose="020B0609020204030204" pitchFamily="49" charset="0"/>
                </a:rPr>
                <a:t>0x1FFF77FF</a:t>
              </a:r>
            </a:p>
          </p:txBody>
        </p:sp>
      </p:grpSp>
    </p:spTree>
    <p:custDataLst>
      <p:tags r:id="rId1"/>
    </p:custDataLst>
    <p:extLst>
      <p:ext uri="{BB962C8B-B14F-4D97-AF65-F5344CB8AC3E}">
        <p14:creationId xmlns:p14="http://schemas.microsoft.com/office/powerpoint/2010/main" val="12024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left)">
                                      <p:cBhvr>
                                        <p:cTn id="10" dur="500"/>
                                        <p:tgtEl>
                                          <p:spTgt spid="50"/>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Boot Mode</a:t>
            </a:r>
          </a:p>
        </p:txBody>
      </p:sp>
      <p:grpSp>
        <p:nvGrpSpPr>
          <p:cNvPr id="6" name="Group 5"/>
          <p:cNvGrpSpPr/>
          <p:nvPr/>
        </p:nvGrpSpPr>
        <p:grpSpPr>
          <a:xfrm>
            <a:off x="381000" y="1227324"/>
            <a:ext cx="4212137" cy="5494786"/>
            <a:chOff x="7155109" y="1207639"/>
            <a:chExt cx="4212137" cy="5494786"/>
          </a:xfrm>
        </p:grpSpPr>
        <p:sp>
          <p:nvSpPr>
            <p:cNvPr id="8" name="Rectangle 7"/>
            <p:cNvSpPr/>
            <p:nvPr/>
          </p:nvSpPr>
          <p:spPr>
            <a:xfrm>
              <a:off x="9224108" y="5559425"/>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9" name="Rectangle 8"/>
            <p:cNvSpPr/>
            <p:nvPr/>
          </p:nvSpPr>
          <p:spPr>
            <a:xfrm>
              <a:off x="9224108" y="4955727"/>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SRAM</a:t>
              </a:r>
            </a:p>
          </p:txBody>
        </p:sp>
        <p:sp>
          <p:nvSpPr>
            <p:cNvPr id="10" name="Rectangle 9"/>
            <p:cNvSpPr/>
            <p:nvPr/>
          </p:nvSpPr>
          <p:spPr>
            <a:xfrm>
              <a:off x="9224108" y="4370605"/>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11" name="Rectangle 10"/>
            <p:cNvSpPr/>
            <p:nvPr/>
          </p:nvSpPr>
          <p:spPr>
            <a:xfrm>
              <a:off x="9220200" y="1942810"/>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2" name="Rectangle 11"/>
            <p:cNvSpPr/>
            <p:nvPr/>
          </p:nvSpPr>
          <p:spPr>
            <a:xfrm>
              <a:off x="9222328" y="3158313"/>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3" name="Rectangle 12"/>
            <p:cNvSpPr/>
            <p:nvPr/>
          </p:nvSpPr>
          <p:spPr>
            <a:xfrm>
              <a:off x="9220200" y="1373647"/>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4" name="Rectangle 13"/>
            <p:cNvSpPr/>
            <p:nvPr/>
          </p:nvSpPr>
          <p:spPr>
            <a:xfrm>
              <a:off x="9220200" y="1373647"/>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045580" y="5941620"/>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16" name="Group 15"/>
            <p:cNvGrpSpPr/>
            <p:nvPr/>
          </p:nvGrpSpPr>
          <p:grpSpPr>
            <a:xfrm>
              <a:off x="7227994" y="5407025"/>
              <a:ext cx="1995254" cy="690090"/>
              <a:chOff x="138346" y="5410200"/>
              <a:chExt cx="1995254" cy="690090"/>
            </a:xfrm>
          </p:grpSpPr>
          <p:sp>
            <p:nvSpPr>
              <p:cNvPr id="17" name="TextBox 16"/>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18" name="Left Brace 17"/>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0" name="Group 19"/>
            <p:cNvGrpSpPr/>
            <p:nvPr/>
          </p:nvGrpSpPr>
          <p:grpSpPr>
            <a:xfrm>
              <a:off x="7220619" y="4794448"/>
              <a:ext cx="1996533" cy="757161"/>
              <a:chOff x="130971" y="4797623"/>
              <a:chExt cx="1996533" cy="757161"/>
            </a:xfrm>
          </p:grpSpPr>
          <p:sp>
            <p:nvSpPr>
              <p:cNvPr id="21" name="TextBox 20"/>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22" name="Left Brace 21"/>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4" name="Group 23"/>
            <p:cNvGrpSpPr/>
            <p:nvPr/>
          </p:nvGrpSpPr>
          <p:grpSpPr>
            <a:xfrm>
              <a:off x="7215181" y="4261048"/>
              <a:ext cx="2001111" cy="688777"/>
              <a:chOff x="125533" y="4264223"/>
              <a:chExt cx="2001111" cy="688777"/>
            </a:xfrm>
          </p:grpSpPr>
          <p:sp>
            <p:nvSpPr>
              <p:cNvPr id="25" name="TextBox 24"/>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26" name="Left Brace 25"/>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8" name="Group 27"/>
            <p:cNvGrpSpPr/>
            <p:nvPr/>
          </p:nvGrpSpPr>
          <p:grpSpPr>
            <a:xfrm>
              <a:off x="7318248" y="3041847"/>
              <a:ext cx="1905000" cy="1351459"/>
              <a:chOff x="228600" y="3045022"/>
              <a:chExt cx="1905000" cy="1351459"/>
            </a:xfrm>
          </p:grpSpPr>
          <p:sp>
            <p:nvSpPr>
              <p:cNvPr id="29" name="TextBox 28"/>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30" name="Left Brace 29"/>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32" name="TextBox 31"/>
            <p:cNvSpPr txBox="1"/>
            <p:nvPr/>
          </p:nvSpPr>
          <p:spPr>
            <a:xfrm>
              <a:off x="8044720" y="1207639"/>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33" name="Group 32"/>
            <p:cNvGrpSpPr/>
            <p:nvPr/>
          </p:nvGrpSpPr>
          <p:grpSpPr>
            <a:xfrm>
              <a:off x="7155109" y="1282883"/>
              <a:ext cx="917211" cy="671531"/>
              <a:chOff x="65461" y="1286058"/>
              <a:chExt cx="917211" cy="671531"/>
            </a:xfrm>
          </p:grpSpPr>
          <p:sp>
            <p:nvSpPr>
              <p:cNvPr id="34" name="Left Brace 33"/>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6" name="Group 35"/>
            <p:cNvGrpSpPr/>
            <p:nvPr/>
          </p:nvGrpSpPr>
          <p:grpSpPr>
            <a:xfrm>
              <a:off x="7307909" y="1800526"/>
              <a:ext cx="1908383" cy="1404575"/>
              <a:chOff x="218261" y="1803701"/>
              <a:chExt cx="1908383" cy="1404575"/>
            </a:xfrm>
          </p:grpSpPr>
          <p:sp>
            <p:nvSpPr>
              <p:cNvPr id="37" name="TextBox 36"/>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38" name="Left Brace 37"/>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40" name="Right Brace 39"/>
            <p:cNvSpPr/>
            <p:nvPr/>
          </p:nvSpPr>
          <p:spPr>
            <a:xfrm rot="5400000">
              <a:off x="10165148" y="5227125"/>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9680448" y="6425426"/>
              <a:ext cx="1268296" cy="276999"/>
            </a:xfrm>
            <a:prstGeom prst="rect">
              <a:avLst/>
            </a:prstGeom>
            <a:noFill/>
          </p:spPr>
          <p:txBody>
            <a:bodyPr wrap="none" rtlCol="0">
              <a:spAutoFit/>
            </a:bodyPr>
            <a:lstStyle/>
            <a:p>
              <a:r>
                <a:rPr lang="en-US" sz="1200" dirty="0"/>
                <a:t>One Byte (8 bits)</a:t>
              </a:r>
            </a:p>
          </p:txBody>
        </p:sp>
      </p:grpSp>
      <p:grpSp>
        <p:nvGrpSpPr>
          <p:cNvPr id="4" name="Group 3"/>
          <p:cNvGrpSpPr/>
          <p:nvPr/>
        </p:nvGrpSpPr>
        <p:grpSpPr>
          <a:xfrm>
            <a:off x="6019800" y="1787580"/>
            <a:ext cx="2140556" cy="4349645"/>
            <a:chOff x="6019800" y="1393332"/>
            <a:chExt cx="2140556" cy="4743893"/>
          </a:xfrm>
        </p:grpSpPr>
        <p:sp>
          <p:nvSpPr>
            <p:cNvPr id="42" name="Rectangle 41"/>
            <p:cNvSpPr/>
            <p:nvPr/>
          </p:nvSpPr>
          <p:spPr>
            <a:xfrm>
              <a:off x="6023708" y="5579110"/>
              <a:ext cx="2136648" cy="55811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Alias to flash</a:t>
              </a:r>
            </a:p>
          </p:txBody>
        </p:sp>
        <p:sp>
          <p:nvSpPr>
            <p:cNvPr id="43" name="Rectangle 42"/>
            <p:cNvSpPr/>
            <p:nvPr/>
          </p:nvSpPr>
          <p:spPr>
            <a:xfrm>
              <a:off x="6023708" y="5201346"/>
              <a:ext cx="2136648" cy="3699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4" name="Rectangle 43"/>
            <p:cNvSpPr/>
            <p:nvPr/>
          </p:nvSpPr>
          <p:spPr>
            <a:xfrm>
              <a:off x="6023708" y="4390290"/>
              <a:ext cx="2136648" cy="80324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Flash</a:t>
              </a:r>
            </a:p>
          </p:txBody>
        </p:sp>
        <p:sp>
          <p:nvSpPr>
            <p:cNvPr id="45" name="Rectangle 44"/>
            <p:cNvSpPr/>
            <p:nvPr/>
          </p:nvSpPr>
          <p:spPr>
            <a:xfrm>
              <a:off x="6019800" y="1962495"/>
              <a:ext cx="2136648" cy="1203853"/>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memory</a:t>
              </a:r>
            </a:p>
            <a:p>
              <a:pPr algn="ctr"/>
              <a:r>
                <a:rPr lang="en-US" dirty="0"/>
                <a:t>(bootloader)</a:t>
              </a:r>
            </a:p>
          </p:txBody>
        </p:sp>
        <p:sp>
          <p:nvSpPr>
            <p:cNvPr id="46" name="Rectangle 45"/>
            <p:cNvSpPr/>
            <p:nvPr/>
          </p:nvSpPr>
          <p:spPr>
            <a:xfrm>
              <a:off x="6021928" y="3177998"/>
              <a:ext cx="2136648" cy="12122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7" name="Rectangle 46"/>
            <p:cNvSpPr/>
            <p:nvPr/>
          </p:nvSpPr>
          <p:spPr>
            <a:xfrm>
              <a:off x="6019800" y="1393332"/>
              <a:ext cx="2136648" cy="54813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 Bytes</a:t>
              </a:r>
            </a:p>
          </p:txBody>
        </p:sp>
        <p:sp>
          <p:nvSpPr>
            <p:cNvPr id="48" name="Rectangle 47"/>
            <p:cNvSpPr/>
            <p:nvPr/>
          </p:nvSpPr>
          <p:spPr>
            <a:xfrm>
              <a:off x="6019800" y="1393332"/>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0" name="Straight Connector 49"/>
          <p:cNvCxnSpPr/>
          <p:nvPr/>
        </p:nvCxnSpPr>
        <p:spPr>
          <a:xfrm>
            <a:off x="4593137" y="6137225"/>
            <a:ext cx="1426663"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4593137" y="1787579"/>
            <a:ext cx="1426663" cy="3791532"/>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162938" y="5961304"/>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sp>
        <p:nvSpPr>
          <p:cNvPr id="55" name="TextBox 54"/>
          <p:cNvSpPr txBox="1"/>
          <p:nvPr/>
        </p:nvSpPr>
        <p:spPr>
          <a:xfrm>
            <a:off x="8156448" y="5085710"/>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57" name="TextBox 56"/>
          <p:cNvSpPr txBox="1"/>
          <p:nvPr/>
        </p:nvSpPr>
        <p:spPr>
          <a:xfrm>
            <a:off x="8156448" y="1631345"/>
            <a:ext cx="1178528" cy="307777"/>
          </a:xfrm>
          <a:prstGeom prst="rect">
            <a:avLst/>
          </a:prstGeom>
          <a:noFill/>
        </p:spPr>
        <p:txBody>
          <a:bodyPr wrap="none" rtlCol="0">
            <a:spAutoFit/>
          </a:bodyPr>
          <a:lstStyle/>
          <a:p>
            <a:r>
              <a:rPr lang="en-US" sz="1400" dirty="0">
                <a:latin typeface="Consolas" panose="020B0609020204030204" pitchFamily="49" charset="0"/>
              </a:rPr>
              <a:t>0x1FFFFFFF</a:t>
            </a:r>
          </a:p>
        </p:txBody>
      </p:sp>
      <p:sp>
        <p:nvSpPr>
          <p:cNvPr id="58" name="TextBox 57"/>
          <p:cNvSpPr txBox="1"/>
          <p:nvPr/>
        </p:nvSpPr>
        <p:spPr>
          <a:xfrm>
            <a:off x="8156448" y="3226748"/>
            <a:ext cx="1178528" cy="307777"/>
          </a:xfrm>
          <a:prstGeom prst="rect">
            <a:avLst/>
          </a:prstGeom>
          <a:noFill/>
        </p:spPr>
        <p:txBody>
          <a:bodyPr wrap="none" rtlCol="0">
            <a:spAutoFit/>
          </a:bodyPr>
          <a:lstStyle/>
          <a:p>
            <a:r>
              <a:rPr lang="en-US" sz="1400" dirty="0">
                <a:latin typeface="Consolas" panose="020B0609020204030204" pitchFamily="49" charset="0"/>
              </a:rPr>
              <a:t>0x1FFF0000</a:t>
            </a:r>
          </a:p>
        </p:txBody>
      </p:sp>
      <p:sp>
        <p:nvSpPr>
          <p:cNvPr id="59" name="TextBox 58"/>
          <p:cNvSpPr txBox="1"/>
          <p:nvPr/>
        </p:nvSpPr>
        <p:spPr>
          <a:xfrm>
            <a:off x="8162938" y="4336671"/>
            <a:ext cx="1178528" cy="307777"/>
          </a:xfrm>
          <a:prstGeom prst="rect">
            <a:avLst/>
          </a:prstGeom>
          <a:noFill/>
        </p:spPr>
        <p:txBody>
          <a:bodyPr wrap="none" rtlCol="0">
            <a:spAutoFit/>
          </a:bodyPr>
          <a:lstStyle/>
          <a:p>
            <a:r>
              <a:rPr lang="en-US" sz="1400" dirty="0">
                <a:latin typeface="Consolas" panose="020B0609020204030204" pitchFamily="49" charset="0"/>
              </a:rPr>
              <a:t>0x080X0000</a:t>
            </a:r>
          </a:p>
        </p:txBody>
      </p:sp>
      <p:sp>
        <p:nvSpPr>
          <p:cNvPr id="60" name="Right Brace 59"/>
          <p:cNvSpPr/>
          <p:nvPr/>
        </p:nvSpPr>
        <p:spPr>
          <a:xfrm>
            <a:off x="9334975" y="1710817"/>
            <a:ext cx="248135" cy="172866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9459042" y="2127988"/>
            <a:ext cx="1676400" cy="923330"/>
          </a:xfrm>
          <a:prstGeom prst="rect">
            <a:avLst/>
          </a:prstGeom>
          <a:noFill/>
        </p:spPr>
        <p:txBody>
          <a:bodyPr wrap="square" rtlCol="0">
            <a:spAutoFit/>
          </a:bodyPr>
          <a:lstStyle/>
          <a:p>
            <a:pPr algn="ctr"/>
            <a:r>
              <a:rPr lang="en-US" dirty="0"/>
              <a:t>ROM region reserved to bootloaders</a:t>
            </a:r>
          </a:p>
        </p:txBody>
      </p:sp>
      <p:graphicFrame>
        <p:nvGraphicFramePr>
          <p:cNvPr id="62" name="Content Placeholder 4"/>
          <p:cNvGraphicFramePr>
            <a:graphicFrameLocks/>
          </p:cNvGraphicFramePr>
          <p:nvPr>
            <p:extLst>
              <p:ext uri="{D42A27DB-BD31-4B8C-83A1-F6EECF244321}">
                <p14:modId xmlns:p14="http://schemas.microsoft.com/office/powerpoint/2010/main" val="3861794444"/>
              </p:ext>
            </p:extLst>
          </p:nvPr>
        </p:nvGraphicFramePr>
        <p:xfrm>
          <a:off x="5757359" y="95634"/>
          <a:ext cx="4631874" cy="1483360"/>
        </p:xfrm>
        <a:graphic>
          <a:graphicData uri="http://schemas.openxmlformats.org/drawingml/2006/table">
            <a:tbl>
              <a:tblPr firstRow="1" bandRow="1">
                <a:tableStyleId>{5C22544A-7EE6-4342-B048-85BDC9FD1C3A}</a:tableStyleId>
              </a:tblPr>
              <a:tblGrid>
                <a:gridCol w="821874">
                  <a:extLst>
                    <a:ext uri="{9D8B030D-6E8A-4147-A177-3AD203B41FA5}">
                      <a16:colId xmlns:a16="http://schemas.microsoft.com/office/drawing/2014/main" val="1280604405"/>
                    </a:ext>
                  </a:extLst>
                </a:gridCol>
                <a:gridCol w="838200">
                  <a:extLst>
                    <a:ext uri="{9D8B030D-6E8A-4147-A177-3AD203B41FA5}">
                      <a16:colId xmlns:a16="http://schemas.microsoft.com/office/drawing/2014/main" val="1825375040"/>
                    </a:ext>
                  </a:extLst>
                </a:gridCol>
                <a:gridCol w="2971800">
                  <a:extLst>
                    <a:ext uri="{9D8B030D-6E8A-4147-A177-3AD203B41FA5}">
                      <a16:colId xmlns:a16="http://schemas.microsoft.com/office/drawing/2014/main" val="142363529"/>
                    </a:ext>
                  </a:extLst>
                </a:gridCol>
              </a:tblGrid>
              <a:tr h="370840">
                <a:tc>
                  <a:txBody>
                    <a:bodyPr/>
                    <a:lstStyle/>
                    <a:p>
                      <a:pPr algn="ctr"/>
                      <a:r>
                        <a:rPr lang="en-US" dirty="0">
                          <a:latin typeface="Consolas" panose="020B0609020204030204" pitchFamily="49" charset="0"/>
                          <a:cs typeface="Consolas" panose="020B0609020204030204" pitchFamily="49" charset="0"/>
                        </a:rPr>
                        <a:t>Boot1</a:t>
                      </a:r>
                    </a:p>
                  </a:txBody>
                  <a:tcPr/>
                </a:tc>
                <a:tc>
                  <a:txBody>
                    <a:bodyPr/>
                    <a:lstStyle/>
                    <a:p>
                      <a:pPr algn="ctr"/>
                      <a:r>
                        <a:rPr lang="en-US" dirty="0">
                          <a:latin typeface="Consolas" panose="020B0609020204030204" pitchFamily="49" charset="0"/>
                          <a:cs typeface="Consolas" panose="020B0609020204030204" pitchFamily="49" charset="0"/>
                        </a:rPr>
                        <a:t>Boot0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Boot Mode</a:t>
                      </a:r>
                    </a:p>
                  </a:txBody>
                  <a:tcPr anchor="ctr"/>
                </a:tc>
                <a:extLst>
                  <a:ext uri="{0D108BD9-81ED-4DB2-BD59-A6C34878D82A}">
                    <a16:rowId xmlns:a16="http://schemas.microsoft.com/office/drawing/2014/main" val="2259918348"/>
                  </a:ext>
                </a:extLst>
              </a:tr>
              <a:tr h="370840">
                <a:tc>
                  <a:txBody>
                    <a:bodyPr/>
                    <a:lstStyle/>
                    <a:p>
                      <a:pPr algn="ctr"/>
                      <a:r>
                        <a:rPr lang="en-US" b="1" dirty="0">
                          <a:solidFill>
                            <a:srgbClr val="FF0000"/>
                          </a:solidFill>
                          <a:latin typeface="Consolas" panose="020B0609020204030204" pitchFamily="49" charset="0"/>
                          <a:cs typeface="Consolas" panose="020B0609020204030204" pitchFamily="49" charset="0"/>
                        </a:rPr>
                        <a:t>x</a:t>
                      </a:r>
                    </a:p>
                  </a:txBody>
                  <a:tcPr/>
                </a:tc>
                <a:tc>
                  <a:txBody>
                    <a:bodyPr/>
                    <a:lstStyle/>
                    <a:p>
                      <a:pPr algn="ctr"/>
                      <a:r>
                        <a:rPr lang="en-US" b="1" dirty="0">
                          <a:solidFill>
                            <a:srgbClr val="FF0000"/>
                          </a:solidFill>
                          <a:latin typeface="Consolas" panose="020B0609020204030204" pitchFamily="49" charset="0"/>
                          <a:cs typeface="Consolas" panose="020B0609020204030204" pitchFamily="49" charset="0"/>
                        </a:rPr>
                        <a:t>0</a:t>
                      </a:r>
                    </a:p>
                  </a:txBody>
                  <a:tcPr/>
                </a:tc>
                <a:tc>
                  <a:txBody>
                    <a:bodyPr/>
                    <a:lstStyle/>
                    <a:p>
                      <a:r>
                        <a:rPr lang="en-US" dirty="0">
                          <a:solidFill>
                            <a:srgbClr val="FF0000"/>
                          </a:solidFill>
                        </a:rPr>
                        <a:t>Boot from main</a:t>
                      </a:r>
                      <a:r>
                        <a:rPr lang="en-US" baseline="0" dirty="0">
                          <a:solidFill>
                            <a:srgbClr val="FF0000"/>
                          </a:solidFill>
                        </a:rPr>
                        <a:t> flash memory</a:t>
                      </a:r>
                      <a:endParaRPr lang="en-US" dirty="0">
                        <a:solidFill>
                          <a:srgbClr val="FF0000"/>
                        </a:solidFill>
                      </a:endParaRPr>
                    </a:p>
                  </a:txBody>
                  <a:tcPr/>
                </a:tc>
                <a:extLst>
                  <a:ext uri="{0D108BD9-81ED-4DB2-BD59-A6C34878D82A}">
                    <a16:rowId xmlns:a16="http://schemas.microsoft.com/office/drawing/2014/main" val="1755197259"/>
                  </a:ext>
                </a:extLst>
              </a:tr>
              <a:tr h="370840">
                <a:tc>
                  <a:txBody>
                    <a:bodyPr/>
                    <a:lstStyle/>
                    <a:p>
                      <a:pPr algn="ctr"/>
                      <a:r>
                        <a:rPr lang="en-US" b="1" dirty="0">
                          <a:latin typeface="Consolas" panose="020B0609020204030204" pitchFamily="49" charset="0"/>
                          <a:cs typeface="Consolas" panose="020B0609020204030204" pitchFamily="49" charset="0"/>
                        </a:rPr>
                        <a:t>0</a:t>
                      </a:r>
                    </a:p>
                  </a:txBody>
                  <a:tcPr/>
                </a:tc>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r>
                        <a:rPr lang="en-US" dirty="0"/>
                        <a:t>Boot from system memory</a:t>
                      </a:r>
                    </a:p>
                  </a:txBody>
                  <a:tcPr/>
                </a:tc>
                <a:extLst>
                  <a:ext uri="{0D108BD9-81ED-4DB2-BD59-A6C34878D82A}">
                    <a16:rowId xmlns:a16="http://schemas.microsoft.com/office/drawing/2014/main" val="944295001"/>
                  </a:ext>
                </a:extLst>
              </a:tr>
              <a:tr h="370840">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r>
                        <a:rPr lang="en-US" dirty="0"/>
                        <a:t>Boot from embedded SRAM</a:t>
                      </a:r>
                    </a:p>
                  </a:txBody>
                  <a:tcPr/>
                </a:tc>
                <a:extLst>
                  <a:ext uri="{0D108BD9-81ED-4DB2-BD59-A6C34878D82A}">
                    <a16:rowId xmlns:a16="http://schemas.microsoft.com/office/drawing/2014/main" val="2278858250"/>
                  </a:ext>
                </a:extLst>
              </a:tr>
            </a:tbl>
          </a:graphicData>
        </a:graphic>
      </p:graphicFrame>
      <p:sp>
        <p:nvSpPr>
          <p:cNvPr id="5" name="Curved Left Arrow 4"/>
          <p:cNvSpPr/>
          <p:nvPr/>
        </p:nvSpPr>
        <p:spPr>
          <a:xfrm>
            <a:off x="8686801" y="4727109"/>
            <a:ext cx="661156" cy="1263644"/>
          </a:xfrm>
          <a:prstGeom prst="curved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p:cNvSpPr txBox="1"/>
          <p:nvPr/>
        </p:nvSpPr>
        <p:spPr>
          <a:xfrm>
            <a:off x="9753600" y="4701385"/>
            <a:ext cx="2362200" cy="923330"/>
          </a:xfrm>
          <a:prstGeom prst="rect">
            <a:avLst/>
          </a:prstGeom>
          <a:noFill/>
        </p:spPr>
        <p:txBody>
          <a:bodyPr wrap="square" rtlCol="0">
            <a:spAutoFit/>
          </a:bodyPr>
          <a:lstStyle/>
          <a:p>
            <a:r>
              <a:rPr lang="en-US" dirty="0">
                <a:solidFill>
                  <a:srgbClr val="C00000"/>
                </a:solidFill>
              </a:rPr>
              <a:t>Physical remap:</a:t>
            </a:r>
          </a:p>
          <a:p>
            <a:r>
              <a:rPr lang="en-US" dirty="0"/>
              <a:t>e.g. map </a:t>
            </a:r>
            <a:r>
              <a:rPr lang="en-US" dirty="0">
                <a:latin typeface="Consolas" panose="020B0609020204030204" pitchFamily="49" charset="0"/>
                <a:cs typeface="Consolas" panose="020B0609020204030204" pitchFamily="49" charset="0"/>
              </a:rPr>
              <a:t>0x08000000</a:t>
            </a:r>
            <a:r>
              <a:rPr lang="en-US" dirty="0"/>
              <a:t> to </a:t>
            </a:r>
            <a:r>
              <a:rPr lang="en-US" dirty="0">
                <a:latin typeface="Consolas" panose="020B0609020204030204" pitchFamily="49" charset="0"/>
                <a:cs typeface="Consolas" panose="020B0609020204030204" pitchFamily="49" charset="0"/>
              </a:rPr>
              <a:t>0x00000000</a:t>
            </a:r>
          </a:p>
        </p:txBody>
      </p:sp>
      <p:sp>
        <p:nvSpPr>
          <p:cNvPr id="63" name="TextBox 62"/>
          <p:cNvSpPr txBox="1"/>
          <p:nvPr/>
        </p:nvSpPr>
        <p:spPr>
          <a:xfrm>
            <a:off x="8153400" y="2206823"/>
            <a:ext cx="1178528" cy="307777"/>
          </a:xfrm>
          <a:prstGeom prst="rect">
            <a:avLst/>
          </a:prstGeom>
          <a:noFill/>
        </p:spPr>
        <p:txBody>
          <a:bodyPr wrap="none" rtlCol="0">
            <a:spAutoFit/>
          </a:bodyPr>
          <a:lstStyle/>
          <a:p>
            <a:r>
              <a:rPr lang="en-US" sz="1400" dirty="0">
                <a:latin typeface="Consolas" panose="020B0609020204030204" pitchFamily="49" charset="0"/>
              </a:rPr>
              <a:t>0x1FFF77FF</a:t>
            </a:r>
          </a:p>
        </p:txBody>
      </p:sp>
    </p:spTree>
    <p:custDataLst>
      <p:tags r:id="rId1"/>
    </p:custDataLst>
    <p:extLst>
      <p:ext uri="{BB962C8B-B14F-4D97-AF65-F5344CB8AC3E}">
        <p14:creationId xmlns:p14="http://schemas.microsoft.com/office/powerpoint/2010/main" val="411244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Boot Mode</a:t>
            </a:r>
          </a:p>
        </p:txBody>
      </p:sp>
      <p:grpSp>
        <p:nvGrpSpPr>
          <p:cNvPr id="6" name="Group 5"/>
          <p:cNvGrpSpPr/>
          <p:nvPr/>
        </p:nvGrpSpPr>
        <p:grpSpPr>
          <a:xfrm>
            <a:off x="381000" y="1227324"/>
            <a:ext cx="4212137" cy="5494786"/>
            <a:chOff x="7155109" y="1207639"/>
            <a:chExt cx="4212137" cy="5494786"/>
          </a:xfrm>
        </p:grpSpPr>
        <p:sp>
          <p:nvSpPr>
            <p:cNvPr id="8" name="Rectangle 7"/>
            <p:cNvSpPr/>
            <p:nvPr/>
          </p:nvSpPr>
          <p:spPr>
            <a:xfrm>
              <a:off x="9224108" y="5559425"/>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9" name="Rectangle 8"/>
            <p:cNvSpPr/>
            <p:nvPr/>
          </p:nvSpPr>
          <p:spPr>
            <a:xfrm>
              <a:off x="9224108" y="4955727"/>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SRAM</a:t>
              </a:r>
            </a:p>
          </p:txBody>
        </p:sp>
        <p:sp>
          <p:nvSpPr>
            <p:cNvPr id="10" name="Rectangle 9"/>
            <p:cNvSpPr/>
            <p:nvPr/>
          </p:nvSpPr>
          <p:spPr>
            <a:xfrm>
              <a:off x="9224108" y="4370605"/>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11" name="Rectangle 10"/>
            <p:cNvSpPr/>
            <p:nvPr/>
          </p:nvSpPr>
          <p:spPr>
            <a:xfrm>
              <a:off x="9220200" y="1942810"/>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2" name="Rectangle 11"/>
            <p:cNvSpPr/>
            <p:nvPr/>
          </p:nvSpPr>
          <p:spPr>
            <a:xfrm>
              <a:off x="9222328" y="3158313"/>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3" name="Rectangle 12"/>
            <p:cNvSpPr/>
            <p:nvPr/>
          </p:nvSpPr>
          <p:spPr>
            <a:xfrm>
              <a:off x="9220200" y="1373647"/>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4" name="Rectangle 13"/>
            <p:cNvSpPr/>
            <p:nvPr/>
          </p:nvSpPr>
          <p:spPr>
            <a:xfrm>
              <a:off x="9220200" y="1373647"/>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045580" y="5941620"/>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16" name="Group 15"/>
            <p:cNvGrpSpPr/>
            <p:nvPr/>
          </p:nvGrpSpPr>
          <p:grpSpPr>
            <a:xfrm>
              <a:off x="7227994" y="5407025"/>
              <a:ext cx="1995254" cy="690090"/>
              <a:chOff x="138346" y="5410200"/>
              <a:chExt cx="1995254" cy="690090"/>
            </a:xfrm>
          </p:grpSpPr>
          <p:sp>
            <p:nvSpPr>
              <p:cNvPr id="17" name="TextBox 16"/>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18" name="Left Brace 17"/>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0" name="Group 19"/>
            <p:cNvGrpSpPr/>
            <p:nvPr/>
          </p:nvGrpSpPr>
          <p:grpSpPr>
            <a:xfrm>
              <a:off x="7220619" y="4794448"/>
              <a:ext cx="1996533" cy="757161"/>
              <a:chOff x="130971" y="4797623"/>
              <a:chExt cx="1996533" cy="757161"/>
            </a:xfrm>
          </p:grpSpPr>
          <p:sp>
            <p:nvSpPr>
              <p:cNvPr id="21" name="TextBox 20"/>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22" name="Left Brace 21"/>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4" name="Group 23"/>
            <p:cNvGrpSpPr/>
            <p:nvPr/>
          </p:nvGrpSpPr>
          <p:grpSpPr>
            <a:xfrm>
              <a:off x="7215181" y="4261048"/>
              <a:ext cx="2001111" cy="688777"/>
              <a:chOff x="125533" y="4264223"/>
              <a:chExt cx="2001111" cy="688777"/>
            </a:xfrm>
          </p:grpSpPr>
          <p:sp>
            <p:nvSpPr>
              <p:cNvPr id="25" name="TextBox 24"/>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26" name="Left Brace 25"/>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8" name="Group 27"/>
            <p:cNvGrpSpPr/>
            <p:nvPr/>
          </p:nvGrpSpPr>
          <p:grpSpPr>
            <a:xfrm>
              <a:off x="7318248" y="3041847"/>
              <a:ext cx="1905000" cy="1351459"/>
              <a:chOff x="228600" y="3045022"/>
              <a:chExt cx="1905000" cy="1351459"/>
            </a:xfrm>
          </p:grpSpPr>
          <p:sp>
            <p:nvSpPr>
              <p:cNvPr id="29" name="TextBox 28"/>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30" name="Left Brace 29"/>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32" name="TextBox 31"/>
            <p:cNvSpPr txBox="1"/>
            <p:nvPr/>
          </p:nvSpPr>
          <p:spPr>
            <a:xfrm>
              <a:off x="8044720" y="1207639"/>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33" name="Group 32"/>
            <p:cNvGrpSpPr/>
            <p:nvPr/>
          </p:nvGrpSpPr>
          <p:grpSpPr>
            <a:xfrm>
              <a:off x="7155109" y="1282883"/>
              <a:ext cx="917211" cy="671531"/>
              <a:chOff x="65461" y="1286058"/>
              <a:chExt cx="917211" cy="671531"/>
            </a:xfrm>
          </p:grpSpPr>
          <p:sp>
            <p:nvSpPr>
              <p:cNvPr id="34" name="Left Brace 33"/>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6" name="Group 35"/>
            <p:cNvGrpSpPr/>
            <p:nvPr/>
          </p:nvGrpSpPr>
          <p:grpSpPr>
            <a:xfrm>
              <a:off x="7307909" y="1800526"/>
              <a:ext cx="1908383" cy="1404575"/>
              <a:chOff x="218261" y="1803701"/>
              <a:chExt cx="1908383" cy="1404575"/>
            </a:xfrm>
          </p:grpSpPr>
          <p:sp>
            <p:nvSpPr>
              <p:cNvPr id="37" name="TextBox 36"/>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38" name="Left Brace 37"/>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40" name="Right Brace 39"/>
            <p:cNvSpPr/>
            <p:nvPr/>
          </p:nvSpPr>
          <p:spPr>
            <a:xfrm rot="5400000">
              <a:off x="10165148" y="5227125"/>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9680448" y="6425426"/>
              <a:ext cx="1268296" cy="276999"/>
            </a:xfrm>
            <a:prstGeom prst="rect">
              <a:avLst/>
            </a:prstGeom>
            <a:noFill/>
          </p:spPr>
          <p:txBody>
            <a:bodyPr wrap="none" rtlCol="0">
              <a:spAutoFit/>
            </a:bodyPr>
            <a:lstStyle/>
            <a:p>
              <a:r>
                <a:rPr lang="en-US" sz="1200" dirty="0"/>
                <a:t>One Byte (8 bits)</a:t>
              </a:r>
            </a:p>
          </p:txBody>
        </p:sp>
      </p:grpSp>
      <p:grpSp>
        <p:nvGrpSpPr>
          <p:cNvPr id="4" name="Group 3"/>
          <p:cNvGrpSpPr/>
          <p:nvPr/>
        </p:nvGrpSpPr>
        <p:grpSpPr>
          <a:xfrm>
            <a:off x="6019800" y="1787580"/>
            <a:ext cx="2140556" cy="4349645"/>
            <a:chOff x="6019800" y="1393332"/>
            <a:chExt cx="2140556" cy="4743893"/>
          </a:xfrm>
        </p:grpSpPr>
        <p:sp>
          <p:nvSpPr>
            <p:cNvPr id="42" name="Rectangle 41"/>
            <p:cNvSpPr/>
            <p:nvPr/>
          </p:nvSpPr>
          <p:spPr>
            <a:xfrm>
              <a:off x="6023708" y="5579110"/>
              <a:ext cx="2136648" cy="55811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Alias to system memory</a:t>
              </a:r>
            </a:p>
          </p:txBody>
        </p:sp>
        <p:sp>
          <p:nvSpPr>
            <p:cNvPr id="43" name="Rectangle 42"/>
            <p:cNvSpPr/>
            <p:nvPr/>
          </p:nvSpPr>
          <p:spPr>
            <a:xfrm>
              <a:off x="6023708" y="5201346"/>
              <a:ext cx="2136648" cy="3699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4" name="Rectangle 43"/>
            <p:cNvSpPr/>
            <p:nvPr/>
          </p:nvSpPr>
          <p:spPr>
            <a:xfrm>
              <a:off x="6023708" y="4390290"/>
              <a:ext cx="2136648" cy="80324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Flash</a:t>
              </a:r>
            </a:p>
          </p:txBody>
        </p:sp>
        <p:sp>
          <p:nvSpPr>
            <p:cNvPr id="45" name="Rectangle 44"/>
            <p:cNvSpPr/>
            <p:nvPr/>
          </p:nvSpPr>
          <p:spPr>
            <a:xfrm>
              <a:off x="6019800" y="1962495"/>
              <a:ext cx="2136648" cy="1203853"/>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memory</a:t>
              </a:r>
            </a:p>
            <a:p>
              <a:pPr algn="ctr"/>
              <a:r>
                <a:rPr lang="en-US" dirty="0"/>
                <a:t>(bootloader)</a:t>
              </a:r>
            </a:p>
          </p:txBody>
        </p:sp>
        <p:sp>
          <p:nvSpPr>
            <p:cNvPr id="46" name="Rectangle 45"/>
            <p:cNvSpPr/>
            <p:nvPr/>
          </p:nvSpPr>
          <p:spPr>
            <a:xfrm>
              <a:off x="6021928" y="3177998"/>
              <a:ext cx="2136648" cy="12122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7" name="Rectangle 46"/>
            <p:cNvSpPr/>
            <p:nvPr/>
          </p:nvSpPr>
          <p:spPr>
            <a:xfrm>
              <a:off x="6019800" y="1393332"/>
              <a:ext cx="2136648" cy="54813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 Bytes</a:t>
              </a:r>
            </a:p>
          </p:txBody>
        </p:sp>
        <p:sp>
          <p:nvSpPr>
            <p:cNvPr id="48" name="Rectangle 47"/>
            <p:cNvSpPr/>
            <p:nvPr/>
          </p:nvSpPr>
          <p:spPr>
            <a:xfrm>
              <a:off x="6019800" y="1393332"/>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0" name="Straight Connector 49"/>
          <p:cNvCxnSpPr/>
          <p:nvPr/>
        </p:nvCxnSpPr>
        <p:spPr>
          <a:xfrm>
            <a:off x="4593137" y="6137225"/>
            <a:ext cx="1426663"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4593137" y="1787579"/>
            <a:ext cx="1426663" cy="3791532"/>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162938" y="5961304"/>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sp>
        <p:nvSpPr>
          <p:cNvPr id="55" name="TextBox 54"/>
          <p:cNvSpPr txBox="1"/>
          <p:nvPr/>
        </p:nvSpPr>
        <p:spPr>
          <a:xfrm>
            <a:off x="8156448" y="5085710"/>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57" name="TextBox 56"/>
          <p:cNvSpPr txBox="1"/>
          <p:nvPr/>
        </p:nvSpPr>
        <p:spPr>
          <a:xfrm>
            <a:off x="8156448" y="1631345"/>
            <a:ext cx="1178528" cy="307777"/>
          </a:xfrm>
          <a:prstGeom prst="rect">
            <a:avLst/>
          </a:prstGeom>
          <a:noFill/>
        </p:spPr>
        <p:txBody>
          <a:bodyPr wrap="none" rtlCol="0">
            <a:spAutoFit/>
          </a:bodyPr>
          <a:lstStyle/>
          <a:p>
            <a:r>
              <a:rPr lang="en-US" sz="1400" dirty="0">
                <a:latin typeface="Consolas" panose="020B0609020204030204" pitchFamily="49" charset="0"/>
              </a:rPr>
              <a:t>0x1FFFFFFF</a:t>
            </a:r>
          </a:p>
        </p:txBody>
      </p:sp>
      <p:sp>
        <p:nvSpPr>
          <p:cNvPr id="58" name="TextBox 57"/>
          <p:cNvSpPr txBox="1"/>
          <p:nvPr/>
        </p:nvSpPr>
        <p:spPr>
          <a:xfrm>
            <a:off x="8156448" y="3226748"/>
            <a:ext cx="1178528" cy="307777"/>
          </a:xfrm>
          <a:prstGeom prst="rect">
            <a:avLst/>
          </a:prstGeom>
          <a:noFill/>
        </p:spPr>
        <p:txBody>
          <a:bodyPr wrap="none" rtlCol="0">
            <a:spAutoFit/>
          </a:bodyPr>
          <a:lstStyle/>
          <a:p>
            <a:r>
              <a:rPr lang="en-US" sz="1400" dirty="0">
                <a:latin typeface="Consolas" panose="020B0609020204030204" pitchFamily="49" charset="0"/>
              </a:rPr>
              <a:t>0x1FFF0000</a:t>
            </a:r>
          </a:p>
        </p:txBody>
      </p:sp>
      <p:sp>
        <p:nvSpPr>
          <p:cNvPr id="59" name="TextBox 58"/>
          <p:cNvSpPr txBox="1"/>
          <p:nvPr/>
        </p:nvSpPr>
        <p:spPr>
          <a:xfrm>
            <a:off x="8162938" y="4336671"/>
            <a:ext cx="1178528" cy="307777"/>
          </a:xfrm>
          <a:prstGeom prst="rect">
            <a:avLst/>
          </a:prstGeom>
          <a:noFill/>
        </p:spPr>
        <p:txBody>
          <a:bodyPr wrap="none" rtlCol="0">
            <a:spAutoFit/>
          </a:bodyPr>
          <a:lstStyle/>
          <a:p>
            <a:r>
              <a:rPr lang="en-US" sz="1400" dirty="0">
                <a:latin typeface="Consolas" panose="020B0609020204030204" pitchFamily="49" charset="0"/>
              </a:rPr>
              <a:t>0x080X0000</a:t>
            </a:r>
          </a:p>
        </p:txBody>
      </p:sp>
      <p:sp>
        <p:nvSpPr>
          <p:cNvPr id="60" name="Right Brace 59"/>
          <p:cNvSpPr/>
          <p:nvPr/>
        </p:nvSpPr>
        <p:spPr>
          <a:xfrm>
            <a:off x="9334975" y="1710817"/>
            <a:ext cx="248135" cy="172866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9459042" y="2127988"/>
            <a:ext cx="1676400" cy="923330"/>
          </a:xfrm>
          <a:prstGeom prst="rect">
            <a:avLst/>
          </a:prstGeom>
          <a:noFill/>
        </p:spPr>
        <p:txBody>
          <a:bodyPr wrap="square" rtlCol="0">
            <a:spAutoFit/>
          </a:bodyPr>
          <a:lstStyle/>
          <a:p>
            <a:pPr algn="ctr"/>
            <a:r>
              <a:rPr lang="en-US" dirty="0"/>
              <a:t>ROM region reserved to bootloaders</a:t>
            </a:r>
          </a:p>
        </p:txBody>
      </p:sp>
      <p:graphicFrame>
        <p:nvGraphicFramePr>
          <p:cNvPr id="62" name="Content Placeholder 4"/>
          <p:cNvGraphicFramePr>
            <a:graphicFrameLocks/>
          </p:cNvGraphicFramePr>
          <p:nvPr>
            <p:extLst>
              <p:ext uri="{D42A27DB-BD31-4B8C-83A1-F6EECF244321}">
                <p14:modId xmlns:p14="http://schemas.microsoft.com/office/powerpoint/2010/main" val="1831850995"/>
              </p:ext>
            </p:extLst>
          </p:nvPr>
        </p:nvGraphicFramePr>
        <p:xfrm>
          <a:off x="5757359" y="95634"/>
          <a:ext cx="4631874" cy="1483360"/>
        </p:xfrm>
        <a:graphic>
          <a:graphicData uri="http://schemas.openxmlformats.org/drawingml/2006/table">
            <a:tbl>
              <a:tblPr firstRow="1" bandRow="1">
                <a:tableStyleId>{5C22544A-7EE6-4342-B048-85BDC9FD1C3A}</a:tableStyleId>
              </a:tblPr>
              <a:tblGrid>
                <a:gridCol w="821874">
                  <a:extLst>
                    <a:ext uri="{9D8B030D-6E8A-4147-A177-3AD203B41FA5}">
                      <a16:colId xmlns:a16="http://schemas.microsoft.com/office/drawing/2014/main" val="1280604405"/>
                    </a:ext>
                  </a:extLst>
                </a:gridCol>
                <a:gridCol w="838200">
                  <a:extLst>
                    <a:ext uri="{9D8B030D-6E8A-4147-A177-3AD203B41FA5}">
                      <a16:colId xmlns:a16="http://schemas.microsoft.com/office/drawing/2014/main" val="1825375040"/>
                    </a:ext>
                  </a:extLst>
                </a:gridCol>
                <a:gridCol w="2971800">
                  <a:extLst>
                    <a:ext uri="{9D8B030D-6E8A-4147-A177-3AD203B41FA5}">
                      <a16:colId xmlns:a16="http://schemas.microsoft.com/office/drawing/2014/main" val="142363529"/>
                    </a:ext>
                  </a:extLst>
                </a:gridCol>
              </a:tblGrid>
              <a:tr h="370840">
                <a:tc>
                  <a:txBody>
                    <a:bodyPr/>
                    <a:lstStyle/>
                    <a:p>
                      <a:pPr algn="ctr"/>
                      <a:r>
                        <a:rPr lang="en-US" dirty="0">
                          <a:latin typeface="Consolas" panose="020B0609020204030204" pitchFamily="49" charset="0"/>
                          <a:cs typeface="Consolas" panose="020B0609020204030204" pitchFamily="49" charset="0"/>
                        </a:rPr>
                        <a:t>Boot1</a:t>
                      </a:r>
                    </a:p>
                  </a:txBody>
                  <a:tcPr/>
                </a:tc>
                <a:tc>
                  <a:txBody>
                    <a:bodyPr/>
                    <a:lstStyle/>
                    <a:p>
                      <a:pPr algn="ctr"/>
                      <a:r>
                        <a:rPr lang="en-US" dirty="0">
                          <a:latin typeface="Consolas" panose="020B0609020204030204" pitchFamily="49" charset="0"/>
                          <a:cs typeface="Consolas" panose="020B0609020204030204" pitchFamily="49" charset="0"/>
                        </a:rPr>
                        <a:t>Boot0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Boot Mode</a:t>
                      </a:r>
                    </a:p>
                  </a:txBody>
                  <a:tcPr anchor="ctr"/>
                </a:tc>
                <a:extLst>
                  <a:ext uri="{0D108BD9-81ED-4DB2-BD59-A6C34878D82A}">
                    <a16:rowId xmlns:a16="http://schemas.microsoft.com/office/drawing/2014/main" val="2259918348"/>
                  </a:ext>
                </a:extLst>
              </a:tr>
              <a:tr h="370840">
                <a:tc>
                  <a:txBody>
                    <a:bodyPr/>
                    <a:lstStyle/>
                    <a:p>
                      <a:pPr algn="ctr"/>
                      <a:r>
                        <a:rPr lang="en-US" b="1" dirty="0">
                          <a:solidFill>
                            <a:schemeClr val="tx1"/>
                          </a:solidFill>
                          <a:latin typeface="Consolas" panose="020B0609020204030204" pitchFamily="49" charset="0"/>
                          <a:cs typeface="Consolas" panose="020B0609020204030204" pitchFamily="49" charset="0"/>
                        </a:rPr>
                        <a:t>x</a:t>
                      </a:r>
                    </a:p>
                  </a:txBody>
                  <a:tcPr/>
                </a:tc>
                <a:tc>
                  <a:txBody>
                    <a:bodyPr/>
                    <a:lstStyle/>
                    <a:p>
                      <a:pPr algn="ctr"/>
                      <a:r>
                        <a:rPr lang="en-US" b="1" dirty="0">
                          <a:solidFill>
                            <a:schemeClr val="tx1"/>
                          </a:solidFill>
                          <a:latin typeface="Consolas" panose="020B0609020204030204" pitchFamily="49" charset="0"/>
                          <a:cs typeface="Consolas" panose="020B0609020204030204" pitchFamily="49" charset="0"/>
                        </a:rPr>
                        <a:t>0</a:t>
                      </a:r>
                    </a:p>
                  </a:txBody>
                  <a:tcPr/>
                </a:tc>
                <a:tc>
                  <a:txBody>
                    <a:bodyPr/>
                    <a:lstStyle/>
                    <a:p>
                      <a:r>
                        <a:rPr lang="en-US" dirty="0">
                          <a:solidFill>
                            <a:schemeClr val="tx1"/>
                          </a:solidFill>
                        </a:rPr>
                        <a:t>Boot from main</a:t>
                      </a:r>
                      <a:r>
                        <a:rPr lang="en-US" baseline="0" dirty="0">
                          <a:solidFill>
                            <a:schemeClr val="tx1"/>
                          </a:solidFill>
                        </a:rPr>
                        <a:t> flash memory</a:t>
                      </a:r>
                      <a:endParaRPr lang="en-US" dirty="0">
                        <a:solidFill>
                          <a:schemeClr val="tx1"/>
                        </a:solidFill>
                      </a:endParaRPr>
                    </a:p>
                  </a:txBody>
                  <a:tcPr/>
                </a:tc>
                <a:extLst>
                  <a:ext uri="{0D108BD9-81ED-4DB2-BD59-A6C34878D82A}">
                    <a16:rowId xmlns:a16="http://schemas.microsoft.com/office/drawing/2014/main" val="1755197259"/>
                  </a:ext>
                </a:extLst>
              </a:tr>
              <a:tr h="370840">
                <a:tc>
                  <a:txBody>
                    <a:bodyPr/>
                    <a:lstStyle/>
                    <a:p>
                      <a:pPr algn="ctr"/>
                      <a:r>
                        <a:rPr lang="en-US" b="1" dirty="0">
                          <a:solidFill>
                            <a:srgbClr val="FF0000"/>
                          </a:solidFill>
                          <a:latin typeface="Consolas" panose="020B0609020204030204" pitchFamily="49" charset="0"/>
                          <a:cs typeface="Consolas" panose="020B0609020204030204" pitchFamily="49" charset="0"/>
                        </a:rPr>
                        <a:t>0</a:t>
                      </a:r>
                    </a:p>
                  </a:txBody>
                  <a:tcPr/>
                </a:tc>
                <a:tc>
                  <a:txBody>
                    <a:bodyPr/>
                    <a:lstStyle/>
                    <a:p>
                      <a:pPr algn="ctr"/>
                      <a:r>
                        <a:rPr lang="en-US" b="1" dirty="0">
                          <a:solidFill>
                            <a:srgbClr val="FF0000"/>
                          </a:solidFill>
                          <a:latin typeface="Consolas" panose="020B0609020204030204" pitchFamily="49" charset="0"/>
                          <a:cs typeface="Consolas" panose="020B0609020204030204" pitchFamily="49" charset="0"/>
                        </a:rPr>
                        <a:t>1</a:t>
                      </a:r>
                    </a:p>
                  </a:txBody>
                  <a:tcPr/>
                </a:tc>
                <a:tc>
                  <a:txBody>
                    <a:bodyPr/>
                    <a:lstStyle/>
                    <a:p>
                      <a:r>
                        <a:rPr lang="en-US" dirty="0">
                          <a:solidFill>
                            <a:srgbClr val="FF0000"/>
                          </a:solidFill>
                        </a:rPr>
                        <a:t>Boot from system memory</a:t>
                      </a:r>
                    </a:p>
                  </a:txBody>
                  <a:tcPr/>
                </a:tc>
                <a:extLst>
                  <a:ext uri="{0D108BD9-81ED-4DB2-BD59-A6C34878D82A}">
                    <a16:rowId xmlns:a16="http://schemas.microsoft.com/office/drawing/2014/main" val="944295001"/>
                  </a:ext>
                </a:extLst>
              </a:tr>
              <a:tr h="370840">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pPr algn="ctr"/>
                      <a:r>
                        <a:rPr lang="en-US" b="1" dirty="0">
                          <a:latin typeface="Consolas" panose="020B0609020204030204" pitchFamily="49" charset="0"/>
                          <a:cs typeface="Consolas" panose="020B0609020204030204" pitchFamily="49" charset="0"/>
                        </a:rPr>
                        <a:t>1</a:t>
                      </a:r>
                    </a:p>
                  </a:txBody>
                  <a:tcPr/>
                </a:tc>
                <a:tc>
                  <a:txBody>
                    <a:bodyPr/>
                    <a:lstStyle/>
                    <a:p>
                      <a:r>
                        <a:rPr lang="en-US" dirty="0"/>
                        <a:t>Boot from embedded SRAM</a:t>
                      </a:r>
                    </a:p>
                  </a:txBody>
                  <a:tcPr/>
                </a:tc>
                <a:extLst>
                  <a:ext uri="{0D108BD9-81ED-4DB2-BD59-A6C34878D82A}">
                    <a16:rowId xmlns:a16="http://schemas.microsoft.com/office/drawing/2014/main" val="2278858250"/>
                  </a:ext>
                </a:extLst>
              </a:tr>
            </a:tbl>
          </a:graphicData>
        </a:graphic>
      </p:graphicFrame>
      <p:sp>
        <p:nvSpPr>
          <p:cNvPr id="5" name="Curved Left Arrow 4"/>
          <p:cNvSpPr/>
          <p:nvPr/>
        </p:nvSpPr>
        <p:spPr>
          <a:xfrm>
            <a:off x="8610600" y="2771132"/>
            <a:ext cx="1139091" cy="3345668"/>
          </a:xfrm>
          <a:prstGeom prst="curved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p:cNvSpPr txBox="1"/>
          <p:nvPr/>
        </p:nvSpPr>
        <p:spPr>
          <a:xfrm>
            <a:off x="9753600" y="4701385"/>
            <a:ext cx="2362200" cy="923330"/>
          </a:xfrm>
          <a:prstGeom prst="rect">
            <a:avLst/>
          </a:prstGeom>
          <a:noFill/>
        </p:spPr>
        <p:txBody>
          <a:bodyPr wrap="square" rtlCol="0">
            <a:spAutoFit/>
          </a:bodyPr>
          <a:lstStyle/>
          <a:p>
            <a:r>
              <a:rPr lang="en-US" dirty="0">
                <a:solidFill>
                  <a:srgbClr val="C00000"/>
                </a:solidFill>
              </a:rPr>
              <a:t>Physical remap:</a:t>
            </a:r>
          </a:p>
          <a:p>
            <a:r>
              <a:rPr lang="en-US" dirty="0"/>
              <a:t>e.g. map </a:t>
            </a:r>
            <a:r>
              <a:rPr lang="en-US" dirty="0">
                <a:latin typeface="Consolas" panose="020B0609020204030204" pitchFamily="49" charset="0"/>
                <a:cs typeface="Consolas" panose="020B0609020204030204" pitchFamily="49" charset="0"/>
              </a:rPr>
              <a:t>0x1FFFX000</a:t>
            </a:r>
            <a:r>
              <a:rPr lang="en-US" dirty="0"/>
              <a:t> to </a:t>
            </a:r>
            <a:r>
              <a:rPr lang="en-US" dirty="0">
                <a:latin typeface="Consolas" panose="020B0609020204030204" pitchFamily="49" charset="0"/>
                <a:cs typeface="Consolas" panose="020B0609020204030204" pitchFamily="49" charset="0"/>
              </a:rPr>
              <a:t>0x00000000</a:t>
            </a:r>
          </a:p>
        </p:txBody>
      </p:sp>
      <p:sp>
        <p:nvSpPr>
          <p:cNvPr id="63" name="TextBox 62"/>
          <p:cNvSpPr txBox="1"/>
          <p:nvPr/>
        </p:nvSpPr>
        <p:spPr>
          <a:xfrm>
            <a:off x="8153400" y="2206823"/>
            <a:ext cx="1178528" cy="307777"/>
          </a:xfrm>
          <a:prstGeom prst="rect">
            <a:avLst/>
          </a:prstGeom>
          <a:noFill/>
        </p:spPr>
        <p:txBody>
          <a:bodyPr wrap="none" rtlCol="0">
            <a:spAutoFit/>
          </a:bodyPr>
          <a:lstStyle/>
          <a:p>
            <a:r>
              <a:rPr lang="en-US" sz="1400" dirty="0">
                <a:latin typeface="Consolas" panose="020B0609020204030204" pitchFamily="49" charset="0"/>
              </a:rPr>
              <a:t>0x1FFF77FF</a:t>
            </a:r>
          </a:p>
        </p:txBody>
      </p:sp>
    </p:spTree>
    <p:custDataLst>
      <p:tags r:id="rId1"/>
    </p:custDataLst>
    <p:extLst>
      <p:ext uri="{BB962C8B-B14F-4D97-AF65-F5344CB8AC3E}">
        <p14:creationId xmlns:p14="http://schemas.microsoft.com/office/powerpoint/2010/main" val="241681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Boot Mode</a:t>
            </a:r>
          </a:p>
        </p:txBody>
      </p:sp>
      <p:grpSp>
        <p:nvGrpSpPr>
          <p:cNvPr id="6" name="Group 5"/>
          <p:cNvGrpSpPr/>
          <p:nvPr/>
        </p:nvGrpSpPr>
        <p:grpSpPr>
          <a:xfrm>
            <a:off x="381000" y="1227324"/>
            <a:ext cx="4212137" cy="5494786"/>
            <a:chOff x="7155109" y="1207639"/>
            <a:chExt cx="4212137" cy="5494786"/>
          </a:xfrm>
        </p:grpSpPr>
        <p:sp>
          <p:nvSpPr>
            <p:cNvPr id="8" name="Rectangle 7"/>
            <p:cNvSpPr/>
            <p:nvPr/>
          </p:nvSpPr>
          <p:spPr>
            <a:xfrm>
              <a:off x="9224108" y="5559425"/>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9" name="Rectangle 8"/>
            <p:cNvSpPr/>
            <p:nvPr/>
          </p:nvSpPr>
          <p:spPr>
            <a:xfrm>
              <a:off x="9224108" y="4955727"/>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SRAM</a:t>
              </a:r>
            </a:p>
          </p:txBody>
        </p:sp>
        <p:sp>
          <p:nvSpPr>
            <p:cNvPr id="10" name="Rectangle 9"/>
            <p:cNvSpPr/>
            <p:nvPr/>
          </p:nvSpPr>
          <p:spPr>
            <a:xfrm>
              <a:off x="9224108" y="4370605"/>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11" name="Rectangle 10"/>
            <p:cNvSpPr/>
            <p:nvPr/>
          </p:nvSpPr>
          <p:spPr>
            <a:xfrm>
              <a:off x="9220200" y="1942810"/>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2" name="Rectangle 11"/>
            <p:cNvSpPr/>
            <p:nvPr/>
          </p:nvSpPr>
          <p:spPr>
            <a:xfrm>
              <a:off x="9222328" y="3158313"/>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3" name="Rectangle 12"/>
            <p:cNvSpPr/>
            <p:nvPr/>
          </p:nvSpPr>
          <p:spPr>
            <a:xfrm>
              <a:off x="9220200" y="1373647"/>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4" name="Rectangle 13"/>
            <p:cNvSpPr/>
            <p:nvPr/>
          </p:nvSpPr>
          <p:spPr>
            <a:xfrm>
              <a:off x="9220200" y="1373647"/>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045580" y="5941620"/>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16" name="Group 15"/>
            <p:cNvGrpSpPr/>
            <p:nvPr/>
          </p:nvGrpSpPr>
          <p:grpSpPr>
            <a:xfrm>
              <a:off x="7227994" y="5407025"/>
              <a:ext cx="1995254" cy="690090"/>
              <a:chOff x="138346" y="5410200"/>
              <a:chExt cx="1995254" cy="690090"/>
            </a:xfrm>
          </p:grpSpPr>
          <p:sp>
            <p:nvSpPr>
              <p:cNvPr id="17" name="TextBox 16"/>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18" name="Left Brace 17"/>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0" name="Group 19"/>
            <p:cNvGrpSpPr/>
            <p:nvPr/>
          </p:nvGrpSpPr>
          <p:grpSpPr>
            <a:xfrm>
              <a:off x="7220619" y="4794448"/>
              <a:ext cx="1996533" cy="757161"/>
              <a:chOff x="130971" y="4797623"/>
              <a:chExt cx="1996533" cy="757161"/>
            </a:xfrm>
          </p:grpSpPr>
          <p:sp>
            <p:nvSpPr>
              <p:cNvPr id="21" name="TextBox 20"/>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22" name="Left Brace 21"/>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4" name="Group 23"/>
            <p:cNvGrpSpPr/>
            <p:nvPr/>
          </p:nvGrpSpPr>
          <p:grpSpPr>
            <a:xfrm>
              <a:off x="7215181" y="4261048"/>
              <a:ext cx="2001111" cy="688777"/>
              <a:chOff x="125533" y="4264223"/>
              <a:chExt cx="2001111" cy="688777"/>
            </a:xfrm>
          </p:grpSpPr>
          <p:sp>
            <p:nvSpPr>
              <p:cNvPr id="25" name="TextBox 24"/>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26" name="Left Brace 25"/>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8" name="Group 27"/>
            <p:cNvGrpSpPr/>
            <p:nvPr/>
          </p:nvGrpSpPr>
          <p:grpSpPr>
            <a:xfrm>
              <a:off x="7318248" y="3041847"/>
              <a:ext cx="1905000" cy="1351459"/>
              <a:chOff x="228600" y="3045022"/>
              <a:chExt cx="1905000" cy="1351459"/>
            </a:xfrm>
          </p:grpSpPr>
          <p:sp>
            <p:nvSpPr>
              <p:cNvPr id="29" name="TextBox 28"/>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30" name="Left Brace 29"/>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32" name="TextBox 31"/>
            <p:cNvSpPr txBox="1"/>
            <p:nvPr/>
          </p:nvSpPr>
          <p:spPr>
            <a:xfrm>
              <a:off x="8044720" y="1207639"/>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33" name="Group 32"/>
            <p:cNvGrpSpPr/>
            <p:nvPr/>
          </p:nvGrpSpPr>
          <p:grpSpPr>
            <a:xfrm>
              <a:off x="7155109" y="1282883"/>
              <a:ext cx="917211" cy="671531"/>
              <a:chOff x="65461" y="1286058"/>
              <a:chExt cx="917211" cy="671531"/>
            </a:xfrm>
          </p:grpSpPr>
          <p:sp>
            <p:nvSpPr>
              <p:cNvPr id="34" name="Left Brace 33"/>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6" name="Group 35"/>
            <p:cNvGrpSpPr/>
            <p:nvPr/>
          </p:nvGrpSpPr>
          <p:grpSpPr>
            <a:xfrm>
              <a:off x="7307909" y="1800526"/>
              <a:ext cx="1908383" cy="1404575"/>
              <a:chOff x="218261" y="1803701"/>
              <a:chExt cx="1908383" cy="1404575"/>
            </a:xfrm>
          </p:grpSpPr>
          <p:sp>
            <p:nvSpPr>
              <p:cNvPr id="37" name="TextBox 36"/>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38" name="Left Brace 37"/>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40" name="Right Brace 39"/>
            <p:cNvSpPr/>
            <p:nvPr/>
          </p:nvSpPr>
          <p:spPr>
            <a:xfrm rot="5400000">
              <a:off x="10165148" y="5227125"/>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p:cNvSpPr txBox="1"/>
            <p:nvPr/>
          </p:nvSpPr>
          <p:spPr>
            <a:xfrm>
              <a:off x="9680448" y="6425426"/>
              <a:ext cx="1268296" cy="276999"/>
            </a:xfrm>
            <a:prstGeom prst="rect">
              <a:avLst/>
            </a:prstGeom>
            <a:noFill/>
          </p:spPr>
          <p:txBody>
            <a:bodyPr wrap="none" rtlCol="0">
              <a:spAutoFit/>
            </a:bodyPr>
            <a:lstStyle/>
            <a:p>
              <a:r>
                <a:rPr lang="en-US" sz="1200" dirty="0"/>
                <a:t>One Byte (8 bits)</a:t>
              </a:r>
            </a:p>
          </p:txBody>
        </p:sp>
      </p:grpSp>
      <p:grpSp>
        <p:nvGrpSpPr>
          <p:cNvPr id="4" name="Group 3"/>
          <p:cNvGrpSpPr/>
          <p:nvPr/>
        </p:nvGrpSpPr>
        <p:grpSpPr>
          <a:xfrm>
            <a:off x="6019800" y="1787580"/>
            <a:ext cx="2140556" cy="4349645"/>
            <a:chOff x="6019800" y="1393332"/>
            <a:chExt cx="2140556" cy="4743893"/>
          </a:xfrm>
        </p:grpSpPr>
        <p:sp>
          <p:nvSpPr>
            <p:cNvPr id="42" name="Rectangle 41"/>
            <p:cNvSpPr/>
            <p:nvPr/>
          </p:nvSpPr>
          <p:spPr>
            <a:xfrm>
              <a:off x="6023708" y="5579110"/>
              <a:ext cx="2136648" cy="55811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Alias to SRAM</a:t>
              </a:r>
            </a:p>
          </p:txBody>
        </p:sp>
        <p:sp>
          <p:nvSpPr>
            <p:cNvPr id="43" name="Rectangle 42"/>
            <p:cNvSpPr/>
            <p:nvPr/>
          </p:nvSpPr>
          <p:spPr>
            <a:xfrm>
              <a:off x="6023708" y="5201346"/>
              <a:ext cx="2136648" cy="3699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4" name="Rectangle 43"/>
            <p:cNvSpPr/>
            <p:nvPr/>
          </p:nvSpPr>
          <p:spPr>
            <a:xfrm>
              <a:off x="6023708" y="4390290"/>
              <a:ext cx="2136648" cy="80324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Flash</a:t>
              </a:r>
            </a:p>
          </p:txBody>
        </p:sp>
        <p:sp>
          <p:nvSpPr>
            <p:cNvPr id="45" name="Rectangle 44"/>
            <p:cNvSpPr/>
            <p:nvPr/>
          </p:nvSpPr>
          <p:spPr>
            <a:xfrm>
              <a:off x="6019800" y="1962495"/>
              <a:ext cx="2136648" cy="1203853"/>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memory</a:t>
              </a:r>
            </a:p>
            <a:p>
              <a:pPr algn="ctr"/>
              <a:r>
                <a:rPr lang="en-US" dirty="0"/>
                <a:t>(bootloader)</a:t>
              </a:r>
            </a:p>
          </p:txBody>
        </p:sp>
        <p:sp>
          <p:nvSpPr>
            <p:cNvPr id="46" name="Rectangle 45"/>
            <p:cNvSpPr/>
            <p:nvPr/>
          </p:nvSpPr>
          <p:spPr>
            <a:xfrm>
              <a:off x="6021928" y="3177998"/>
              <a:ext cx="2136648" cy="12122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7" name="Rectangle 46"/>
            <p:cNvSpPr/>
            <p:nvPr/>
          </p:nvSpPr>
          <p:spPr>
            <a:xfrm>
              <a:off x="6019800" y="1393332"/>
              <a:ext cx="2136648" cy="54813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 Bytes</a:t>
              </a:r>
            </a:p>
          </p:txBody>
        </p:sp>
        <p:sp>
          <p:nvSpPr>
            <p:cNvPr id="48" name="Rectangle 47"/>
            <p:cNvSpPr/>
            <p:nvPr/>
          </p:nvSpPr>
          <p:spPr>
            <a:xfrm>
              <a:off x="6019800" y="1393332"/>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0" name="Straight Connector 49"/>
          <p:cNvCxnSpPr/>
          <p:nvPr/>
        </p:nvCxnSpPr>
        <p:spPr>
          <a:xfrm>
            <a:off x="4593137" y="6137225"/>
            <a:ext cx="1426663"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4593137" y="1787579"/>
            <a:ext cx="1426663" cy="3791532"/>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162938" y="5961304"/>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sp>
        <p:nvSpPr>
          <p:cNvPr id="55" name="TextBox 54"/>
          <p:cNvSpPr txBox="1"/>
          <p:nvPr/>
        </p:nvSpPr>
        <p:spPr>
          <a:xfrm>
            <a:off x="8156448" y="5085710"/>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57" name="TextBox 56"/>
          <p:cNvSpPr txBox="1"/>
          <p:nvPr/>
        </p:nvSpPr>
        <p:spPr>
          <a:xfrm>
            <a:off x="8156448" y="1631345"/>
            <a:ext cx="1178528" cy="307777"/>
          </a:xfrm>
          <a:prstGeom prst="rect">
            <a:avLst/>
          </a:prstGeom>
          <a:noFill/>
        </p:spPr>
        <p:txBody>
          <a:bodyPr wrap="none" rtlCol="0">
            <a:spAutoFit/>
          </a:bodyPr>
          <a:lstStyle/>
          <a:p>
            <a:r>
              <a:rPr lang="en-US" sz="1400" dirty="0">
                <a:latin typeface="Consolas" panose="020B0609020204030204" pitchFamily="49" charset="0"/>
              </a:rPr>
              <a:t>0x1FFFFFFF</a:t>
            </a:r>
          </a:p>
        </p:txBody>
      </p:sp>
      <p:sp>
        <p:nvSpPr>
          <p:cNvPr id="58" name="TextBox 57"/>
          <p:cNvSpPr txBox="1"/>
          <p:nvPr/>
        </p:nvSpPr>
        <p:spPr>
          <a:xfrm>
            <a:off x="8156448" y="3226748"/>
            <a:ext cx="1178528" cy="307777"/>
          </a:xfrm>
          <a:prstGeom prst="rect">
            <a:avLst/>
          </a:prstGeom>
          <a:noFill/>
        </p:spPr>
        <p:txBody>
          <a:bodyPr wrap="none" rtlCol="0">
            <a:spAutoFit/>
          </a:bodyPr>
          <a:lstStyle/>
          <a:p>
            <a:r>
              <a:rPr lang="en-US" sz="1400" dirty="0">
                <a:latin typeface="Consolas" panose="020B0609020204030204" pitchFamily="49" charset="0"/>
              </a:rPr>
              <a:t>0x1FFF0000</a:t>
            </a:r>
          </a:p>
        </p:txBody>
      </p:sp>
      <p:sp>
        <p:nvSpPr>
          <p:cNvPr id="59" name="TextBox 58"/>
          <p:cNvSpPr txBox="1"/>
          <p:nvPr/>
        </p:nvSpPr>
        <p:spPr>
          <a:xfrm>
            <a:off x="8162938" y="4336671"/>
            <a:ext cx="1178528" cy="307777"/>
          </a:xfrm>
          <a:prstGeom prst="rect">
            <a:avLst/>
          </a:prstGeom>
          <a:noFill/>
        </p:spPr>
        <p:txBody>
          <a:bodyPr wrap="none" rtlCol="0">
            <a:spAutoFit/>
          </a:bodyPr>
          <a:lstStyle/>
          <a:p>
            <a:r>
              <a:rPr lang="en-US" sz="1400" dirty="0">
                <a:latin typeface="Consolas" panose="020B0609020204030204" pitchFamily="49" charset="0"/>
              </a:rPr>
              <a:t>0x080X0000</a:t>
            </a:r>
          </a:p>
        </p:txBody>
      </p:sp>
      <p:sp>
        <p:nvSpPr>
          <p:cNvPr id="60" name="Right Brace 59"/>
          <p:cNvSpPr/>
          <p:nvPr/>
        </p:nvSpPr>
        <p:spPr>
          <a:xfrm>
            <a:off x="9334975" y="1710817"/>
            <a:ext cx="248135" cy="172866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9459042" y="2127988"/>
            <a:ext cx="1676400" cy="923330"/>
          </a:xfrm>
          <a:prstGeom prst="rect">
            <a:avLst/>
          </a:prstGeom>
          <a:noFill/>
        </p:spPr>
        <p:txBody>
          <a:bodyPr wrap="square" rtlCol="0">
            <a:spAutoFit/>
          </a:bodyPr>
          <a:lstStyle/>
          <a:p>
            <a:pPr algn="ctr"/>
            <a:r>
              <a:rPr lang="en-US" dirty="0"/>
              <a:t>ROM region reserved to bootloaders</a:t>
            </a:r>
          </a:p>
        </p:txBody>
      </p:sp>
      <p:graphicFrame>
        <p:nvGraphicFramePr>
          <p:cNvPr id="62" name="Content Placeholder 4"/>
          <p:cNvGraphicFramePr>
            <a:graphicFrameLocks/>
          </p:cNvGraphicFramePr>
          <p:nvPr>
            <p:extLst>
              <p:ext uri="{D42A27DB-BD31-4B8C-83A1-F6EECF244321}">
                <p14:modId xmlns:p14="http://schemas.microsoft.com/office/powerpoint/2010/main" val="1275856491"/>
              </p:ext>
            </p:extLst>
          </p:nvPr>
        </p:nvGraphicFramePr>
        <p:xfrm>
          <a:off x="5757359" y="95634"/>
          <a:ext cx="4631874" cy="1483360"/>
        </p:xfrm>
        <a:graphic>
          <a:graphicData uri="http://schemas.openxmlformats.org/drawingml/2006/table">
            <a:tbl>
              <a:tblPr firstRow="1" bandRow="1">
                <a:tableStyleId>{5C22544A-7EE6-4342-B048-85BDC9FD1C3A}</a:tableStyleId>
              </a:tblPr>
              <a:tblGrid>
                <a:gridCol w="821874">
                  <a:extLst>
                    <a:ext uri="{9D8B030D-6E8A-4147-A177-3AD203B41FA5}">
                      <a16:colId xmlns:a16="http://schemas.microsoft.com/office/drawing/2014/main" val="1280604405"/>
                    </a:ext>
                  </a:extLst>
                </a:gridCol>
                <a:gridCol w="838200">
                  <a:extLst>
                    <a:ext uri="{9D8B030D-6E8A-4147-A177-3AD203B41FA5}">
                      <a16:colId xmlns:a16="http://schemas.microsoft.com/office/drawing/2014/main" val="1825375040"/>
                    </a:ext>
                  </a:extLst>
                </a:gridCol>
                <a:gridCol w="2971800">
                  <a:extLst>
                    <a:ext uri="{9D8B030D-6E8A-4147-A177-3AD203B41FA5}">
                      <a16:colId xmlns:a16="http://schemas.microsoft.com/office/drawing/2014/main" val="142363529"/>
                    </a:ext>
                  </a:extLst>
                </a:gridCol>
              </a:tblGrid>
              <a:tr h="370840">
                <a:tc>
                  <a:txBody>
                    <a:bodyPr/>
                    <a:lstStyle/>
                    <a:p>
                      <a:pPr algn="ctr"/>
                      <a:r>
                        <a:rPr lang="en-US" dirty="0">
                          <a:latin typeface="Consolas" panose="020B0609020204030204" pitchFamily="49" charset="0"/>
                          <a:cs typeface="Consolas" panose="020B0609020204030204" pitchFamily="49" charset="0"/>
                        </a:rPr>
                        <a:t>Boot1</a:t>
                      </a:r>
                    </a:p>
                  </a:txBody>
                  <a:tcPr/>
                </a:tc>
                <a:tc>
                  <a:txBody>
                    <a:bodyPr/>
                    <a:lstStyle/>
                    <a:p>
                      <a:pPr algn="ctr"/>
                      <a:r>
                        <a:rPr lang="en-US" dirty="0">
                          <a:latin typeface="Consolas" panose="020B0609020204030204" pitchFamily="49" charset="0"/>
                          <a:cs typeface="Consolas" panose="020B0609020204030204" pitchFamily="49" charset="0"/>
                        </a:rPr>
                        <a:t>Boot0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Boot Mode</a:t>
                      </a:r>
                    </a:p>
                  </a:txBody>
                  <a:tcPr anchor="ctr"/>
                </a:tc>
                <a:extLst>
                  <a:ext uri="{0D108BD9-81ED-4DB2-BD59-A6C34878D82A}">
                    <a16:rowId xmlns:a16="http://schemas.microsoft.com/office/drawing/2014/main" val="2259918348"/>
                  </a:ext>
                </a:extLst>
              </a:tr>
              <a:tr h="370840">
                <a:tc>
                  <a:txBody>
                    <a:bodyPr/>
                    <a:lstStyle/>
                    <a:p>
                      <a:pPr algn="ctr"/>
                      <a:r>
                        <a:rPr lang="en-US" b="1" dirty="0">
                          <a:solidFill>
                            <a:schemeClr val="tx1"/>
                          </a:solidFill>
                          <a:latin typeface="Consolas" panose="020B0609020204030204" pitchFamily="49" charset="0"/>
                          <a:cs typeface="Consolas" panose="020B0609020204030204" pitchFamily="49" charset="0"/>
                        </a:rPr>
                        <a:t>x</a:t>
                      </a:r>
                    </a:p>
                  </a:txBody>
                  <a:tcPr/>
                </a:tc>
                <a:tc>
                  <a:txBody>
                    <a:bodyPr/>
                    <a:lstStyle/>
                    <a:p>
                      <a:pPr algn="ctr"/>
                      <a:r>
                        <a:rPr lang="en-US" b="1" dirty="0">
                          <a:solidFill>
                            <a:schemeClr val="tx1"/>
                          </a:solidFill>
                          <a:latin typeface="Consolas" panose="020B0609020204030204" pitchFamily="49" charset="0"/>
                          <a:cs typeface="Consolas" panose="020B0609020204030204" pitchFamily="49" charset="0"/>
                        </a:rPr>
                        <a:t>0</a:t>
                      </a:r>
                    </a:p>
                  </a:txBody>
                  <a:tcPr/>
                </a:tc>
                <a:tc>
                  <a:txBody>
                    <a:bodyPr/>
                    <a:lstStyle/>
                    <a:p>
                      <a:r>
                        <a:rPr lang="en-US" dirty="0">
                          <a:solidFill>
                            <a:schemeClr val="tx1"/>
                          </a:solidFill>
                        </a:rPr>
                        <a:t>Boot from main</a:t>
                      </a:r>
                      <a:r>
                        <a:rPr lang="en-US" baseline="0" dirty="0">
                          <a:solidFill>
                            <a:schemeClr val="tx1"/>
                          </a:solidFill>
                        </a:rPr>
                        <a:t> flash memory</a:t>
                      </a:r>
                      <a:endParaRPr lang="en-US" dirty="0">
                        <a:solidFill>
                          <a:schemeClr val="tx1"/>
                        </a:solidFill>
                      </a:endParaRPr>
                    </a:p>
                  </a:txBody>
                  <a:tcPr/>
                </a:tc>
                <a:extLst>
                  <a:ext uri="{0D108BD9-81ED-4DB2-BD59-A6C34878D82A}">
                    <a16:rowId xmlns:a16="http://schemas.microsoft.com/office/drawing/2014/main" val="1755197259"/>
                  </a:ext>
                </a:extLst>
              </a:tr>
              <a:tr h="370840">
                <a:tc>
                  <a:txBody>
                    <a:bodyPr/>
                    <a:lstStyle/>
                    <a:p>
                      <a:pPr algn="ctr"/>
                      <a:r>
                        <a:rPr lang="en-US" b="1" dirty="0">
                          <a:solidFill>
                            <a:schemeClr val="tx1"/>
                          </a:solidFill>
                          <a:latin typeface="Consolas" panose="020B0609020204030204" pitchFamily="49" charset="0"/>
                          <a:cs typeface="Consolas" panose="020B0609020204030204" pitchFamily="49" charset="0"/>
                        </a:rPr>
                        <a:t>0</a:t>
                      </a:r>
                    </a:p>
                  </a:txBody>
                  <a:tcPr/>
                </a:tc>
                <a:tc>
                  <a:txBody>
                    <a:bodyPr/>
                    <a:lstStyle/>
                    <a:p>
                      <a:pPr algn="ctr"/>
                      <a:r>
                        <a:rPr lang="en-US" b="1" dirty="0">
                          <a:solidFill>
                            <a:schemeClr val="tx1"/>
                          </a:solidFill>
                          <a:latin typeface="Consolas" panose="020B0609020204030204" pitchFamily="49" charset="0"/>
                          <a:cs typeface="Consolas" panose="020B0609020204030204" pitchFamily="49" charset="0"/>
                        </a:rPr>
                        <a:t>1</a:t>
                      </a:r>
                    </a:p>
                  </a:txBody>
                  <a:tcPr/>
                </a:tc>
                <a:tc>
                  <a:txBody>
                    <a:bodyPr/>
                    <a:lstStyle/>
                    <a:p>
                      <a:r>
                        <a:rPr lang="en-US" dirty="0">
                          <a:solidFill>
                            <a:schemeClr val="tx1"/>
                          </a:solidFill>
                        </a:rPr>
                        <a:t>Boot from system memory</a:t>
                      </a:r>
                    </a:p>
                  </a:txBody>
                  <a:tcPr/>
                </a:tc>
                <a:extLst>
                  <a:ext uri="{0D108BD9-81ED-4DB2-BD59-A6C34878D82A}">
                    <a16:rowId xmlns:a16="http://schemas.microsoft.com/office/drawing/2014/main" val="944295001"/>
                  </a:ext>
                </a:extLst>
              </a:tr>
              <a:tr h="370840">
                <a:tc>
                  <a:txBody>
                    <a:bodyPr/>
                    <a:lstStyle/>
                    <a:p>
                      <a:pPr algn="ctr"/>
                      <a:r>
                        <a:rPr lang="en-US" b="1" dirty="0">
                          <a:solidFill>
                            <a:srgbClr val="FF0000"/>
                          </a:solidFill>
                          <a:latin typeface="Consolas" panose="020B0609020204030204" pitchFamily="49" charset="0"/>
                          <a:cs typeface="Consolas" panose="020B0609020204030204" pitchFamily="49" charset="0"/>
                        </a:rPr>
                        <a:t>1</a:t>
                      </a:r>
                    </a:p>
                  </a:txBody>
                  <a:tcPr/>
                </a:tc>
                <a:tc>
                  <a:txBody>
                    <a:bodyPr/>
                    <a:lstStyle/>
                    <a:p>
                      <a:pPr algn="ctr"/>
                      <a:r>
                        <a:rPr lang="en-US" b="1" dirty="0">
                          <a:solidFill>
                            <a:srgbClr val="FF0000"/>
                          </a:solidFill>
                          <a:latin typeface="Consolas" panose="020B0609020204030204" pitchFamily="49" charset="0"/>
                          <a:cs typeface="Consolas" panose="020B0609020204030204" pitchFamily="49" charset="0"/>
                        </a:rPr>
                        <a:t>1</a:t>
                      </a:r>
                    </a:p>
                  </a:txBody>
                  <a:tcPr/>
                </a:tc>
                <a:tc>
                  <a:txBody>
                    <a:bodyPr/>
                    <a:lstStyle/>
                    <a:p>
                      <a:r>
                        <a:rPr lang="en-US" dirty="0">
                          <a:solidFill>
                            <a:srgbClr val="FF0000"/>
                          </a:solidFill>
                        </a:rPr>
                        <a:t>Boot from embedded SRAM</a:t>
                      </a:r>
                    </a:p>
                  </a:txBody>
                  <a:tcPr/>
                </a:tc>
                <a:extLst>
                  <a:ext uri="{0D108BD9-81ED-4DB2-BD59-A6C34878D82A}">
                    <a16:rowId xmlns:a16="http://schemas.microsoft.com/office/drawing/2014/main" val="2278858250"/>
                  </a:ext>
                </a:extLst>
              </a:tr>
            </a:tbl>
          </a:graphicData>
        </a:graphic>
      </p:graphicFrame>
      <p:sp>
        <p:nvSpPr>
          <p:cNvPr id="7" name="TextBox 6"/>
          <p:cNvSpPr txBox="1"/>
          <p:nvPr/>
        </p:nvSpPr>
        <p:spPr>
          <a:xfrm>
            <a:off x="9592345" y="5138454"/>
            <a:ext cx="2362200" cy="923330"/>
          </a:xfrm>
          <a:prstGeom prst="rect">
            <a:avLst/>
          </a:prstGeom>
          <a:noFill/>
        </p:spPr>
        <p:txBody>
          <a:bodyPr wrap="square" rtlCol="0">
            <a:spAutoFit/>
          </a:bodyPr>
          <a:lstStyle/>
          <a:p>
            <a:r>
              <a:rPr lang="en-US" dirty="0">
                <a:solidFill>
                  <a:srgbClr val="C00000"/>
                </a:solidFill>
              </a:rPr>
              <a:t>Physical remap:</a:t>
            </a:r>
          </a:p>
          <a:p>
            <a:r>
              <a:rPr lang="en-US" dirty="0"/>
              <a:t>e.g. map </a:t>
            </a:r>
            <a:r>
              <a:rPr lang="en-US" dirty="0">
                <a:latin typeface="Consolas" panose="020B0609020204030204" pitchFamily="49" charset="0"/>
                <a:cs typeface="Consolas" panose="020B0609020204030204" pitchFamily="49" charset="0"/>
              </a:rPr>
              <a:t>0x20000000</a:t>
            </a:r>
            <a:r>
              <a:rPr lang="en-US" dirty="0"/>
              <a:t> to </a:t>
            </a:r>
            <a:r>
              <a:rPr lang="en-US" dirty="0">
                <a:latin typeface="Consolas" panose="020B0609020204030204" pitchFamily="49" charset="0"/>
                <a:cs typeface="Consolas" panose="020B0609020204030204" pitchFamily="49" charset="0"/>
              </a:rPr>
              <a:t>0x00000000</a:t>
            </a:r>
          </a:p>
        </p:txBody>
      </p:sp>
      <p:sp>
        <p:nvSpPr>
          <p:cNvPr id="49" name="Right Arrow 48"/>
          <p:cNvSpPr/>
          <p:nvPr/>
        </p:nvSpPr>
        <p:spPr>
          <a:xfrm rot="1506968">
            <a:off x="4420104" y="5495083"/>
            <a:ext cx="1645123" cy="299336"/>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8153400" y="2206823"/>
            <a:ext cx="1178528" cy="307777"/>
          </a:xfrm>
          <a:prstGeom prst="rect">
            <a:avLst/>
          </a:prstGeom>
          <a:noFill/>
        </p:spPr>
        <p:txBody>
          <a:bodyPr wrap="none" rtlCol="0">
            <a:spAutoFit/>
          </a:bodyPr>
          <a:lstStyle/>
          <a:p>
            <a:r>
              <a:rPr lang="en-US" sz="1400" dirty="0">
                <a:latin typeface="Consolas" panose="020B0609020204030204" pitchFamily="49" charset="0"/>
              </a:rPr>
              <a:t>0x1FFF77FF</a:t>
            </a:r>
          </a:p>
        </p:txBody>
      </p:sp>
    </p:spTree>
    <p:custDataLst>
      <p:tags r:id="rId1"/>
    </p:custDataLst>
    <p:extLst>
      <p:ext uri="{BB962C8B-B14F-4D97-AF65-F5344CB8AC3E}">
        <p14:creationId xmlns:p14="http://schemas.microsoft.com/office/powerpoint/2010/main" val="258925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up)">
                                      <p:cBhvr>
                                        <p:cTn id="7" dur="500"/>
                                        <p:tgtEl>
                                          <p:spTgt spid="4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FAQ</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10</a:t>
            </a:fld>
            <a:endParaRPr kumimoji="0" lang="en-US"/>
          </a:p>
        </p:txBody>
      </p:sp>
      <p:sp>
        <p:nvSpPr>
          <p:cNvPr id="4" name="Content Placeholder 3"/>
          <p:cNvSpPr>
            <a:spLocks noGrp="1"/>
          </p:cNvSpPr>
          <p:nvPr>
            <p:ph sz="quarter" idx="1"/>
          </p:nvPr>
        </p:nvSpPr>
        <p:spPr>
          <a:xfrm>
            <a:off x="435512" y="1222956"/>
            <a:ext cx="4876800" cy="4937760"/>
          </a:xfrm>
        </p:spPr>
        <p:txBody>
          <a:bodyPr>
            <a:normAutofit lnSpcReduction="10000"/>
          </a:bodyPr>
          <a:lstStyle/>
          <a:p>
            <a:r>
              <a:rPr lang="en-US" dirty="0"/>
              <a:t>How to set up the boot mode?</a:t>
            </a:r>
          </a:p>
          <a:p>
            <a:pPr lvl="1"/>
            <a:r>
              <a:rPr lang="en-US" dirty="0">
                <a:solidFill>
                  <a:srgbClr val="FF0000"/>
                </a:solidFill>
              </a:rPr>
              <a:t>PCB design</a:t>
            </a:r>
          </a:p>
          <a:p>
            <a:r>
              <a:rPr lang="en-US" dirty="0"/>
              <a:t>How to place the code to the boot memory (internal flash, system memory, internal SRAM)</a:t>
            </a:r>
          </a:p>
          <a:p>
            <a:pPr lvl="1"/>
            <a:r>
              <a:rPr lang="en-US">
                <a:solidFill>
                  <a:srgbClr val="FF0000"/>
                </a:solidFill>
              </a:rPr>
              <a:t>Linker </a:t>
            </a:r>
            <a:r>
              <a:rPr lang="en-US" dirty="0">
                <a:solidFill>
                  <a:srgbClr val="FF0000"/>
                </a:solidFill>
              </a:rPr>
              <a:t>Script</a:t>
            </a:r>
          </a:p>
          <a:p>
            <a:pPr lvl="2"/>
            <a:r>
              <a:rPr lang="en-US" dirty="0"/>
              <a:t>How are data and code sections merged?</a:t>
            </a:r>
          </a:p>
          <a:p>
            <a:pPr lvl="2"/>
            <a:r>
              <a:rPr lang="en-US" dirty="0"/>
              <a:t>Where should each section be placed in the memory?</a:t>
            </a:r>
            <a:endParaRPr lang="en-US" dirty="0">
              <a:solidFill>
                <a:srgbClr val="FF0000"/>
              </a:solidFill>
            </a:endParaRPr>
          </a:p>
          <a:p>
            <a:r>
              <a:rPr lang="en-US" dirty="0"/>
              <a:t>How to set values in memory address 0 and address 4?</a:t>
            </a:r>
          </a:p>
          <a:p>
            <a:pPr lvl="1"/>
            <a:r>
              <a:rPr lang="en-US" dirty="0" err="1">
                <a:solidFill>
                  <a:srgbClr val="FF0000"/>
                </a:solidFill>
              </a:rPr>
              <a:t>startup_xxx.s</a:t>
            </a:r>
            <a:endParaRPr lang="en-US" dirty="0">
              <a:solidFill>
                <a:srgbClr val="FF0000"/>
              </a:solidFill>
            </a:endParaRPr>
          </a:p>
        </p:txBody>
      </p:sp>
      <p:pic>
        <p:nvPicPr>
          <p:cNvPr id="5" name="Picture 4"/>
          <p:cNvPicPr>
            <a:picLocks noChangeAspect="1"/>
          </p:cNvPicPr>
          <p:nvPr/>
        </p:nvPicPr>
        <p:blipFill>
          <a:blip r:embed="rId4"/>
          <a:stretch>
            <a:fillRect/>
          </a:stretch>
        </p:blipFill>
        <p:spPr>
          <a:xfrm>
            <a:off x="5236837" y="1586480"/>
            <a:ext cx="6955163" cy="1868200"/>
          </a:xfrm>
          <a:prstGeom prst="rect">
            <a:avLst/>
          </a:prstGeom>
        </p:spPr>
      </p:pic>
      <p:sp>
        <p:nvSpPr>
          <p:cNvPr id="6" name="Rectangle 5"/>
          <p:cNvSpPr/>
          <p:nvPr/>
        </p:nvSpPr>
        <p:spPr>
          <a:xfrm>
            <a:off x="5295787" y="3898161"/>
            <a:ext cx="6193163" cy="16004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err="1">
                <a:latin typeface="Consolas" pitchFamily="49" charset="0"/>
                <a:cs typeface="Consolas" pitchFamily="49" charset="0"/>
              </a:rPr>
              <a:t>Stack_Size</a:t>
            </a:r>
            <a:r>
              <a:rPr lang="en-US" sz="1400" b="1" dirty="0">
                <a:latin typeface="Consolas" pitchFamily="49" charset="0"/>
                <a:cs typeface="Consolas" pitchFamily="49" charset="0"/>
              </a:rPr>
              <a:t>      EQU     0x00000400             </a:t>
            </a:r>
          </a:p>
          <a:p>
            <a:r>
              <a:rPr lang="en-US" sz="1400" b="1" dirty="0">
                <a:latin typeface="Consolas" pitchFamily="49" charset="0"/>
                <a:cs typeface="Consolas" pitchFamily="49" charset="0"/>
              </a:rPr>
              <a:t>                AREA    STACK, NOINIT, READWRITE, ALIGN=3</a:t>
            </a:r>
          </a:p>
          <a:p>
            <a:r>
              <a:rPr lang="en-US" sz="1400" b="1" dirty="0" err="1">
                <a:latin typeface="Consolas" pitchFamily="49" charset="0"/>
                <a:cs typeface="Consolas" pitchFamily="49" charset="0"/>
              </a:rPr>
              <a:t>Stack_Mem</a:t>
            </a:r>
            <a:r>
              <a:rPr lang="en-US" sz="1400" b="1" dirty="0">
                <a:latin typeface="Consolas" pitchFamily="49" charset="0"/>
                <a:cs typeface="Consolas" pitchFamily="49" charset="0"/>
              </a:rPr>
              <a:t>       SPACE   </a:t>
            </a:r>
            <a:r>
              <a:rPr lang="en-US" sz="1400" b="1" dirty="0" err="1">
                <a:latin typeface="Consolas" pitchFamily="49" charset="0"/>
                <a:cs typeface="Consolas" pitchFamily="49" charset="0"/>
              </a:rPr>
              <a:t>Stack_Size</a:t>
            </a:r>
            <a:endParaRPr lang="en-US" sz="1400" b="1" dirty="0">
              <a:latin typeface="Consolas" pitchFamily="49" charset="0"/>
              <a:cs typeface="Consolas" pitchFamily="49" charset="0"/>
            </a:endParaRPr>
          </a:p>
          <a:p>
            <a:r>
              <a:rPr lang="en-US" sz="1400" b="1" dirty="0">
                <a:latin typeface="Consolas" pitchFamily="49" charset="0"/>
                <a:cs typeface="Consolas" pitchFamily="49" charset="0"/>
              </a:rPr>
              <a:t>__</a:t>
            </a:r>
            <a:r>
              <a:rPr lang="en-US" sz="1400" b="1" dirty="0" err="1">
                <a:latin typeface="Consolas" pitchFamily="49" charset="0"/>
                <a:cs typeface="Consolas" pitchFamily="49" charset="0"/>
              </a:rPr>
              <a:t>initial_sp</a:t>
            </a:r>
            <a:endParaRPr lang="en-US" sz="1400" b="1" dirty="0">
              <a:latin typeface="Consolas" pitchFamily="49" charset="0"/>
              <a:cs typeface="Consolas" pitchFamily="49" charset="0"/>
            </a:endParaRPr>
          </a:p>
          <a:p>
            <a:r>
              <a:rPr lang="en-US" sz="1400" b="1" dirty="0">
                <a:latin typeface="Consolas" pitchFamily="49" charset="0"/>
                <a:cs typeface="Consolas" pitchFamily="49" charset="0"/>
              </a:rPr>
              <a:t>...</a:t>
            </a:r>
          </a:p>
          <a:p>
            <a:r>
              <a:rPr lang="en-US" sz="1400" b="1" dirty="0">
                <a:latin typeface="Consolas" pitchFamily="49" charset="0"/>
                <a:cs typeface="Consolas" pitchFamily="49" charset="0"/>
              </a:rPr>
              <a:t>__Vectors       </a:t>
            </a:r>
            <a:r>
              <a:rPr lang="en-US" sz="1400" b="1" dirty="0">
                <a:solidFill>
                  <a:srgbClr val="FF0000"/>
                </a:solidFill>
                <a:latin typeface="Consolas" pitchFamily="49" charset="0"/>
                <a:cs typeface="Consolas" pitchFamily="49" charset="0"/>
              </a:rPr>
              <a:t>DCD     __</a:t>
            </a:r>
            <a:r>
              <a:rPr lang="en-US" sz="1400" b="1" dirty="0" err="1">
                <a:solidFill>
                  <a:srgbClr val="FF0000"/>
                </a:solidFill>
                <a:latin typeface="Consolas" pitchFamily="49" charset="0"/>
                <a:cs typeface="Consolas" pitchFamily="49" charset="0"/>
              </a:rPr>
              <a:t>initial_sp</a:t>
            </a:r>
            <a:r>
              <a:rPr lang="en-US" sz="1400" b="1" dirty="0">
                <a:solidFill>
                  <a:srgbClr val="FF0000"/>
                </a:solidFill>
                <a:latin typeface="Consolas" pitchFamily="49" charset="0"/>
                <a:cs typeface="Consolas" pitchFamily="49" charset="0"/>
              </a:rPr>
              <a:t>      ; Top of Stack</a:t>
            </a:r>
          </a:p>
          <a:p>
            <a:r>
              <a:rPr lang="en-US" sz="1400" b="1" dirty="0">
                <a:solidFill>
                  <a:srgbClr val="0000FF"/>
                </a:solidFill>
                <a:latin typeface="Consolas" pitchFamily="49" charset="0"/>
                <a:cs typeface="Consolas" pitchFamily="49" charset="0"/>
              </a:rPr>
              <a:t>                DCD     </a:t>
            </a:r>
            <a:r>
              <a:rPr lang="en-US" sz="1400" b="1" dirty="0" err="1">
                <a:solidFill>
                  <a:srgbClr val="0000FF"/>
                </a:solidFill>
                <a:latin typeface="Consolas" pitchFamily="49" charset="0"/>
                <a:cs typeface="Consolas" pitchFamily="49" charset="0"/>
              </a:rPr>
              <a:t>Reset_Handler</a:t>
            </a:r>
            <a:r>
              <a:rPr lang="en-US" sz="1400" b="1" dirty="0">
                <a:solidFill>
                  <a:srgbClr val="0000FF"/>
                </a:solidFill>
                <a:latin typeface="Consolas" pitchFamily="49" charset="0"/>
                <a:cs typeface="Consolas" pitchFamily="49" charset="0"/>
              </a:rPr>
              <a:t>     ; Reset Handler</a:t>
            </a:r>
          </a:p>
        </p:txBody>
      </p:sp>
      <p:sp>
        <p:nvSpPr>
          <p:cNvPr id="7" name="TextBox 6"/>
          <p:cNvSpPr txBox="1"/>
          <p:nvPr/>
        </p:nvSpPr>
        <p:spPr>
          <a:xfrm>
            <a:off x="7080324" y="5562600"/>
            <a:ext cx="2624087" cy="307777"/>
          </a:xfrm>
          <a:prstGeom prst="rect">
            <a:avLst/>
          </a:prstGeom>
          <a:noFill/>
        </p:spPr>
        <p:txBody>
          <a:bodyPr wrap="square" rtlCol="0">
            <a:spAutoFit/>
          </a:bodyPr>
          <a:lstStyle/>
          <a:p>
            <a:r>
              <a:rPr lang="en-US" sz="1400" b="1" dirty="0">
                <a:latin typeface="Consolas" pitchFamily="49" charset="0"/>
                <a:cs typeface="Consolas" pitchFamily="49" charset="0"/>
              </a:rPr>
              <a:t>startup_stm32lxx_md.s</a:t>
            </a:r>
          </a:p>
        </p:txBody>
      </p:sp>
    </p:spTree>
    <p:custDataLst>
      <p:tags r:id="rId1"/>
    </p:custDataLst>
    <p:extLst>
      <p:ext uri="{BB962C8B-B14F-4D97-AF65-F5344CB8AC3E}">
        <p14:creationId xmlns:p14="http://schemas.microsoft.com/office/powerpoint/2010/main" val="294522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9EEE-1E68-8944-9E30-C43CA39F603D}"/>
              </a:ext>
            </a:extLst>
          </p:cNvPr>
          <p:cNvSpPr>
            <a:spLocks noGrp="1"/>
          </p:cNvSpPr>
          <p:nvPr>
            <p:ph type="title"/>
          </p:nvPr>
        </p:nvSpPr>
        <p:spPr/>
        <p:txBody>
          <a:bodyPr/>
          <a:lstStyle/>
          <a:p>
            <a:r>
              <a:rPr lang="en-US" dirty="0"/>
              <a:t>What does the startup code do?</a:t>
            </a:r>
          </a:p>
        </p:txBody>
      </p:sp>
      <p:sp>
        <p:nvSpPr>
          <p:cNvPr id="3" name="Slide Number Placeholder 2">
            <a:extLst>
              <a:ext uri="{FF2B5EF4-FFF2-40B4-BE49-F238E27FC236}">
                <a16:creationId xmlns:a16="http://schemas.microsoft.com/office/drawing/2014/main" id="{5AC0A7CD-4541-F54C-8528-E64010FB8468}"/>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a:extLst>
              <a:ext uri="{FF2B5EF4-FFF2-40B4-BE49-F238E27FC236}">
                <a16:creationId xmlns:a16="http://schemas.microsoft.com/office/drawing/2014/main" id="{35786F1A-BE16-0242-8E90-D2DE7D1EB3B8}"/>
              </a:ext>
            </a:extLst>
          </p:cNvPr>
          <p:cNvSpPr>
            <a:spLocks noGrp="1"/>
          </p:cNvSpPr>
          <p:nvPr>
            <p:ph sz="quarter" idx="1"/>
          </p:nvPr>
        </p:nvSpPr>
        <p:spPr/>
        <p:txBody>
          <a:bodyPr/>
          <a:lstStyle/>
          <a:p>
            <a:r>
              <a:rPr lang="en-US" dirty="0"/>
              <a:t>Assume the project runs in flash</a:t>
            </a:r>
          </a:p>
          <a:p>
            <a:r>
              <a:rPr lang="en-US" dirty="0"/>
              <a:t>The bootloader (</a:t>
            </a:r>
            <a:r>
              <a:rPr lang="en-US" dirty="0" err="1"/>
              <a:t>startup_xxxx.s</a:t>
            </a:r>
            <a:r>
              <a:rPr lang="en-US" dirty="0"/>
              <a:t>) will perform the following:</a:t>
            </a:r>
          </a:p>
          <a:p>
            <a:pPr lvl="1"/>
            <a:r>
              <a:rPr lang="en-US" dirty="0"/>
              <a:t>Set up the stack and heap region</a:t>
            </a:r>
          </a:p>
          <a:p>
            <a:pPr lvl="1"/>
            <a:r>
              <a:rPr lang="en-US" dirty="0"/>
              <a:t>Pace the memory address of the stack at the beginning of the interrupt vector</a:t>
            </a:r>
          </a:p>
          <a:p>
            <a:pPr lvl="1"/>
            <a:r>
              <a:rPr lang="en-US" dirty="0"/>
              <a:t>Set up the rest of the interrupt vector</a:t>
            </a:r>
          </a:p>
          <a:p>
            <a:pPr lvl="1"/>
            <a:r>
              <a:rPr lang="en-US" dirty="0"/>
              <a:t>Copy RW data session from Flash to SRAM</a:t>
            </a:r>
          </a:p>
          <a:p>
            <a:pPr lvl="1"/>
            <a:r>
              <a:rPr lang="en-US" dirty="0"/>
              <a:t>Copy ZI data session from Flash to SRAM</a:t>
            </a:r>
          </a:p>
        </p:txBody>
      </p:sp>
    </p:spTree>
    <p:extLst>
      <p:ext uri="{BB962C8B-B14F-4D97-AF65-F5344CB8AC3E}">
        <p14:creationId xmlns:p14="http://schemas.microsoft.com/office/powerpoint/2010/main" val="4183899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a:t>Flash Memory Layout</a:t>
            </a:r>
            <a:endParaRPr lang="en-US" dirty="0"/>
          </a:p>
        </p:txBody>
      </p:sp>
      <p:grpSp>
        <p:nvGrpSpPr>
          <p:cNvPr id="6" name="Group 5"/>
          <p:cNvGrpSpPr/>
          <p:nvPr/>
        </p:nvGrpSpPr>
        <p:grpSpPr>
          <a:xfrm>
            <a:off x="-23929" y="1227324"/>
            <a:ext cx="4205647" cy="5041758"/>
            <a:chOff x="7155109" y="1207639"/>
            <a:chExt cx="4205647" cy="5041758"/>
          </a:xfrm>
        </p:grpSpPr>
        <p:sp>
          <p:nvSpPr>
            <p:cNvPr id="8" name="Rectangle 7"/>
            <p:cNvSpPr/>
            <p:nvPr/>
          </p:nvSpPr>
          <p:spPr>
            <a:xfrm>
              <a:off x="9224108" y="5559425"/>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9" name="Rectangle 8"/>
            <p:cNvSpPr/>
            <p:nvPr/>
          </p:nvSpPr>
          <p:spPr>
            <a:xfrm>
              <a:off x="9224108" y="4955727"/>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SRAM</a:t>
              </a:r>
            </a:p>
          </p:txBody>
        </p:sp>
        <p:sp>
          <p:nvSpPr>
            <p:cNvPr id="10" name="Rectangle 9"/>
            <p:cNvSpPr/>
            <p:nvPr/>
          </p:nvSpPr>
          <p:spPr>
            <a:xfrm>
              <a:off x="9224108" y="4370605"/>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11" name="Rectangle 10"/>
            <p:cNvSpPr/>
            <p:nvPr/>
          </p:nvSpPr>
          <p:spPr>
            <a:xfrm>
              <a:off x="9220200" y="1942810"/>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2" name="Rectangle 11"/>
            <p:cNvSpPr/>
            <p:nvPr/>
          </p:nvSpPr>
          <p:spPr>
            <a:xfrm>
              <a:off x="9222328" y="3158313"/>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3" name="Rectangle 12"/>
            <p:cNvSpPr/>
            <p:nvPr/>
          </p:nvSpPr>
          <p:spPr>
            <a:xfrm>
              <a:off x="9220200" y="1373647"/>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4" name="Rectangle 13"/>
            <p:cNvSpPr/>
            <p:nvPr/>
          </p:nvSpPr>
          <p:spPr>
            <a:xfrm>
              <a:off x="9220200" y="1373647"/>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045580" y="5941620"/>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16" name="Group 15"/>
            <p:cNvGrpSpPr/>
            <p:nvPr/>
          </p:nvGrpSpPr>
          <p:grpSpPr>
            <a:xfrm>
              <a:off x="7227994" y="5407025"/>
              <a:ext cx="1995254" cy="690090"/>
              <a:chOff x="138346" y="5410200"/>
              <a:chExt cx="1995254" cy="690090"/>
            </a:xfrm>
          </p:grpSpPr>
          <p:sp>
            <p:nvSpPr>
              <p:cNvPr id="17" name="TextBox 16"/>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18" name="Left Brace 17"/>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0" name="Group 19"/>
            <p:cNvGrpSpPr/>
            <p:nvPr/>
          </p:nvGrpSpPr>
          <p:grpSpPr>
            <a:xfrm>
              <a:off x="7220619" y="4794448"/>
              <a:ext cx="1996533" cy="757161"/>
              <a:chOff x="130971" y="4797623"/>
              <a:chExt cx="1996533" cy="757161"/>
            </a:xfrm>
          </p:grpSpPr>
          <p:sp>
            <p:nvSpPr>
              <p:cNvPr id="21" name="TextBox 20"/>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22" name="Left Brace 21"/>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4" name="Group 23"/>
            <p:cNvGrpSpPr/>
            <p:nvPr/>
          </p:nvGrpSpPr>
          <p:grpSpPr>
            <a:xfrm>
              <a:off x="7215181" y="4261048"/>
              <a:ext cx="2001111" cy="688777"/>
              <a:chOff x="125533" y="4264223"/>
              <a:chExt cx="2001111" cy="688777"/>
            </a:xfrm>
          </p:grpSpPr>
          <p:sp>
            <p:nvSpPr>
              <p:cNvPr id="25" name="TextBox 24"/>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26" name="Left Brace 25"/>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28" name="Group 27"/>
            <p:cNvGrpSpPr/>
            <p:nvPr/>
          </p:nvGrpSpPr>
          <p:grpSpPr>
            <a:xfrm>
              <a:off x="7318248" y="3041847"/>
              <a:ext cx="1905000" cy="1351459"/>
              <a:chOff x="228600" y="3045022"/>
              <a:chExt cx="1905000" cy="1351459"/>
            </a:xfrm>
          </p:grpSpPr>
          <p:sp>
            <p:nvSpPr>
              <p:cNvPr id="29" name="TextBox 28"/>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30" name="Left Brace 29"/>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32" name="TextBox 31"/>
            <p:cNvSpPr txBox="1"/>
            <p:nvPr/>
          </p:nvSpPr>
          <p:spPr>
            <a:xfrm>
              <a:off x="8044720" y="1207639"/>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33" name="Group 32"/>
            <p:cNvGrpSpPr/>
            <p:nvPr/>
          </p:nvGrpSpPr>
          <p:grpSpPr>
            <a:xfrm>
              <a:off x="7155109" y="1282883"/>
              <a:ext cx="917211" cy="671531"/>
              <a:chOff x="65461" y="1286058"/>
              <a:chExt cx="917211" cy="671531"/>
            </a:xfrm>
          </p:grpSpPr>
          <p:sp>
            <p:nvSpPr>
              <p:cNvPr id="34" name="Left Brace 33"/>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6" name="Group 35"/>
            <p:cNvGrpSpPr/>
            <p:nvPr/>
          </p:nvGrpSpPr>
          <p:grpSpPr>
            <a:xfrm>
              <a:off x="7307909" y="1800526"/>
              <a:ext cx="1908383" cy="1404575"/>
              <a:chOff x="218261" y="1803701"/>
              <a:chExt cx="1908383" cy="1404575"/>
            </a:xfrm>
          </p:grpSpPr>
          <p:sp>
            <p:nvSpPr>
              <p:cNvPr id="37" name="TextBox 36"/>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38" name="Left Brace 37"/>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grpSp>
      <p:cxnSp>
        <p:nvCxnSpPr>
          <p:cNvPr id="50" name="Straight Connector 49"/>
          <p:cNvCxnSpPr>
            <a:cxnSpLocks/>
          </p:cNvCxnSpPr>
          <p:nvPr/>
        </p:nvCxnSpPr>
        <p:spPr>
          <a:xfrm flipV="1">
            <a:off x="4188208" y="6137225"/>
            <a:ext cx="612392" cy="1"/>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p:nvCxnSpPr>
        <p:spPr>
          <a:xfrm flipV="1">
            <a:off x="4188208" y="1818999"/>
            <a:ext cx="531352" cy="3760112"/>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4791511" y="1638333"/>
            <a:ext cx="3321666" cy="4637736"/>
            <a:chOff x="6019800" y="1631345"/>
            <a:chExt cx="3321666" cy="4637736"/>
          </a:xfrm>
        </p:grpSpPr>
        <p:grpSp>
          <p:nvGrpSpPr>
            <p:cNvPr id="4" name="Group 3"/>
            <p:cNvGrpSpPr/>
            <p:nvPr/>
          </p:nvGrpSpPr>
          <p:grpSpPr>
            <a:xfrm>
              <a:off x="6019800" y="1787580"/>
              <a:ext cx="2140556" cy="4349645"/>
              <a:chOff x="6019800" y="1393332"/>
              <a:chExt cx="2140556" cy="4743893"/>
            </a:xfrm>
          </p:grpSpPr>
          <p:sp>
            <p:nvSpPr>
              <p:cNvPr id="42" name="Rectangle 41"/>
              <p:cNvSpPr/>
              <p:nvPr/>
            </p:nvSpPr>
            <p:spPr>
              <a:xfrm>
                <a:off x="6023708" y="5579110"/>
                <a:ext cx="2136648" cy="55811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Alias to flash, system memory or SRAM</a:t>
                </a:r>
              </a:p>
            </p:txBody>
          </p:sp>
          <p:sp>
            <p:nvSpPr>
              <p:cNvPr id="43" name="Rectangle 42"/>
              <p:cNvSpPr/>
              <p:nvPr/>
            </p:nvSpPr>
            <p:spPr>
              <a:xfrm>
                <a:off x="6023708" y="5201346"/>
                <a:ext cx="2136648" cy="36994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4" name="Rectangle 43"/>
              <p:cNvSpPr/>
              <p:nvPr/>
            </p:nvSpPr>
            <p:spPr>
              <a:xfrm>
                <a:off x="6023708" y="4390290"/>
                <a:ext cx="2136648" cy="80324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Flash</a:t>
                </a:r>
              </a:p>
            </p:txBody>
          </p:sp>
          <p:sp>
            <p:nvSpPr>
              <p:cNvPr id="45" name="Rectangle 44"/>
              <p:cNvSpPr/>
              <p:nvPr/>
            </p:nvSpPr>
            <p:spPr>
              <a:xfrm>
                <a:off x="6019800" y="1962495"/>
                <a:ext cx="2136648" cy="1203853"/>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memory</a:t>
                </a:r>
              </a:p>
              <a:p>
                <a:pPr algn="ctr"/>
                <a:r>
                  <a:rPr lang="en-US" dirty="0"/>
                  <a:t>(bootloader)</a:t>
                </a:r>
              </a:p>
            </p:txBody>
          </p:sp>
          <p:sp>
            <p:nvSpPr>
              <p:cNvPr id="46" name="Rectangle 45"/>
              <p:cNvSpPr/>
              <p:nvPr/>
            </p:nvSpPr>
            <p:spPr>
              <a:xfrm>
                <a:off x="6021928" y="3177998"/>
                <a:ext cx="2136648" cy="121229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sp>
            <p:nvSpPr>
              <p:cNvPr id="47" name="Rectangle 46"/>
              <p:cNvSpPr/>
              <p:nvPr/>
            </p:nvSpPr>
            <p:spPr>
              <a:xfrm>
                <a:off x="6019800" y="1393332"/>
                <a:ext cx="2136648" cy="54813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 Bytes</a:t>
                </a:r>
              </a:p>
            </p:txBody>
          </p:sp>
          <p:sp>
            <p:nvSpPr>
              <p:cNvPr id="48" name="Rectangle 47"/>
              <p:cNvSpPr/>
              <p:nvPr/>
            </p:nvSpPr>
            <p:spPr>
              <a:xfrm>
                <a:off x="6019800" y="1393332"/>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4" name="TextBox 53"/>
            <p:cNvSpPr txBox="1"/>
            <p:nvPr/>
          </p:nvSpPr>
          <p:spPr>
            <a:xfrm>
              <a:off x="8162938" y="5961304"/>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sp>
          <p:nvSpPr>
            <p:cNvPr id="55" name="TextBox 54"/>
            <p:cNvSpPr txBox="1"/>
            <p:nvPr/>
          </p:nvSpPr>
          <p:spPr>
            <a:xfrm>
              <a:off x="8156448" y="5085710"/>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57" name="TextBox 56"/>
            <p:cNvSpPr txBox="1"/>
            <p:nvPr/>
          </p:nvSpPr>
          <p:spPr>
            <a:xfrm>
              <a:off x="8156448" y="1631345"/>
              <a:ext cx="1178528" cy="307777"/>
            </a:xfrm>
            <a:prstGeom prst="rect">
              <a:avLst/>
            </a:prstGeom>
            <a:noFill/>
          </p:spPr>
          <p:txBody>
            <a:bodyPr wrap="none" rtlCol="0">
              <a:spAutoFit/>
            </a:bodyPr>
            <a:lstStyle/>
            <a:p>
              <a:r>
                <a:rPr lang="en-US" sz="1400" dirty="0">
                  <a:latin typeface="Consolas" panose="020B0609020204030204" pitchFamily="49" charset="0"/>
                </a:rPr>
                <a:t>0x1FFFFFFF</a:t>
              </a:r>
            </a:p>
          </p:txBody>
        </p:sp>
        <p:sp>
          <p:nvSpPr>
            <p:cNvPr id="58" name="TextBox 57"/>
            <p:cNvSpPr txBox="1"/>
            <p:nvPr/>
          </p:nvSpPr>
          <p:spPr>
            <a:xfrm>
              <a:off x="8156448" y="3226748"/>
              <a:ext cx="1178528" cy="307777"/>
            </a:xfrm>
            <a:prstGeom prst="rect">
              <a:avLst/>
            </a:prstGeom>
            <a:noFill/>
          </p:spPr>
          <p:txBody>
            <a:bodyPr wrap="none" rtlCol="0">
              <a:spAutoFit/>
            </a:bodyPr>
            <a:lstStyle/>
            <a:p>
              <a:r>
                <a:rPr lang="en-US" sz="1400" dirty="0">
                  <a:latin typeface="Consolas" panose="020B0609020204030204" pitchFamily="49" charset="0"/>
                </a:rPr>
                <a:t>0x1FFF0000</a:t>
              </a:r>
            </a:p>
          </p:txBody>
        </p:sp>
        <p:sp>
          <p:nvSpPr>
            <p:cNvPr id="59" name="TextBox 58"/>
            <p:cNvSpPr txBox="1"/>
            <p:nvPr/>
          </p:nvSpPr>
          <p:spPr>
            <a:xfrm>
              <a:off x="8162938" y="4336671"/>
              <a:ext cx="1178528" cy="307777"/>
            </a:xfrm>
            <a:prstGeom prst="rect">
              <a:avLst/>
            </a:prstGeom>
            <a:noFill/>
          </p:spPr>
          <p:txBody>
            <a:bodyPr wrap="none" rtlCol="0">
              <a:spAutoFit/>
            </a:bodyPr>
            <a:lstStyle/>
            <a:p>
              <a:r>
                <a:rPr lang="en-US" sz="1400" dirty="0">
                  <a:latin typeface="Consolas" panose="020B0609020204030204" pitchFamily="49" charset="0"/>
                </a:rPr>
                <a:t>0x080X0000</a:t>
              </a:r>
            </a:p>
          </p:txBody>
        </p:sp>
        <p:sp>
          <p:nvSpPr>
            <p:cNvPr id="63" name="TextBox 62"/>
            <p:cNvSpPr txBox="1"/>
            <p:nvPr/>
          </p:nvSpPr>
          <p:spPr>
            <a:xfrm>
              <a:off x="8153400" y="2206823"/>
              <a:ext cx="1178528" cy="307777"/>
            </a:xfrm>
            <a:prstGeom prst="rect">
              <a:avLst/>
            </a:prstGeom>
            <a:noFill/>
          </p:spPr>
          <p:txBody>
            <a:bodyPr wrap="none" rtlCol="0">
              <a:spAutoFit/>
            </a:bodyPr>
            <a:lstStyle/>
            <a:p>
              <a:r>
                <a:rPr lang="en-US" sz="1400" dirty="0">
                  <a:latin typeface="Consolas" panose="020B0609020204030204" pitchFamily="49" charset="0"/>
                </a:rPr>
                <a:t>0x1FFF77FF</a:t>
              </a:r>
            </a:p>
          </p:txBody>
        </p:sp>
      </p:grpSp>
      <p:cxnSp>
        <p:nvCxnSpPr>
          <p:cNvPr id="64" name="Straight Connector 63">
            <a:extLst>
              <a:ext uri="{FF2B5EF4-FFF2-40B4-BE49-F238E27FC236}">
                <a16:creationId xmlns:a16="http://schemas.microsoft.com/office/drawing/2014/main" id="{292E6CA2-1A82-F648-A482-11E891C7D059}"/>
              </a:ext>
            </a:extLst>
          </p:cNvPr>
          <p:cNvCxnSpPr>
            <a:cxnSpLocks/>
          </p:cNvCxnSpPr>
          <p:nvPr/>
        </p:nvCxnSpPr>
        <p:spPr>
          <a:xfrm>
            <a:off x="8154462" y="5292598"/>
            <a:ext cx="405644"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56ED3D-B1DB-A446-98B2-4B5BB3E2DFD2}"/>
              </a:ext>
            </a:extLst>
          </p:cNvPr>
          <p:cNvCxnSpPr>
            <a:cxnSpLocks/>
          </p:cNvCxnSpPr>
          <p:nvPr/>
        </p:nvCxnSpPr>
        <p:spPr>
          <a:xfrm flipV="1">
            <a:off x="8103639" y="381000"/>
            <a:ext cx="456467" cy="411006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7B752996-CE5C-8E43-A264-DF6AC42C706E}"/>
              </a:ext>
            </a:extLst>
          </p:cNvPr>
          <p:cNvGrpSpPr/>
          <p:nvPr/>
        </p:nvGrpSpPr>
        <p:grpSpPr>
          <a:xfrm>
            <a:off x="8583161" y="227111"/>
            <a:ext cx="3345001" cy="5434819"/>
            <a:chOff x="8583161" y="227111"/>
            <a:chExt cx="3345001" cy="5434819"/>
          </a:xfrm>
        </p:grpSpPr>
        <p:sp>
          <p:nvSpPr>
            <p:cNvPr id="66" name="Rectangle 65">
              <a:extLst>
                <a:ext uri="{FF2B5EF4-FFF2-40B4-BE49-F238E27FC236}">
                  <a16:creationId xmlns:a16="http://schemas.microsoft.com/office/drawing/2014/main" id="{2B154137-F83D-AD47-A015-80AF9F2B51C2}"/>
                </a:ext>
              </a:extLst>
            </p:cNvPr>
            <p:cNvSpPr/>
            <p:nvPr/>
          </p:nvSpPr>
          <p:spPr>
            <a:xfrm>
              <a:off x="8583161" y="381000"/>
              <a:ext cx="2136648" cy="493134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a:extLst>
                <a:ext uri="{FF2B5EF4-FFF2-40B4-BE49-F238E27FC236}">
                  <a16:creationId xmlns:a16="http://schemas.microsoft.com/office/drawing/2014/main" id="{E1BB5456-BE31-104A-92C9-178D72897E52}"/>
                </a:ext>
              </a:extLst>
            </p:cNvPr>
            <p:cNvSpPr txBox="1"/>
            <p:nvPr/>
          </p:nvSpPr>
          <p:spPr>
            <a:xfrm>
              <a:off x="10749634" y="5132223"/>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73" name="TextBox 72">
              <a:extLst>
                <a:ext uri="{FF2B5EF4-FFF2-40B4-BE49-F238E27FC236}">
                  <a16:creationId xmlns:a16="http://schemas.microsoft.com/office/drawing/2014/main" id="{B9090C6B-51D1-224F-92E2-602D4A1AFE5B}"/>
                </a:ext>
              </a:extLst>
            </p:cNvPr>
            <p:cNvSpPr txBox="1"/>
            <p:nvPr/>
          </p:nvSpPr>
          <p:spPr>
            <a:xfrm>
              <a:off x="10749634" y="227111"/>
              <a:ext cx="1178528" cy="307777"/>
            </a:xfrm>
            <a:prstGeom prst="rect">
              <a:avLst/>
            </a:prstGeom>
            <a:noFill/>
          </p:spPr>
          <p:txBody>
            <a:bodyPr wrap="none" rtlCol="0">
              <a:spAutoFit/>
            </a:bodyPr>
            <a:lstStyle/>
            <a:p>
              <a:r>
                <a:rPr lang="en-US" sz="1400" dirty="0">
                  <a:latin typeface="Consolas" panose="020B0609020204030204" pitchFamily="49" charset="0"/>
                </a:rPr>
                <a:t>0x080XFFFF</a:t>
              </a:r>
            </a:p>
          </p:txBody>
        </p:sp>
        <p:sp>
          <p:nvSpPr>
            <p:cNvPr id="74" name="Rectangle 73">
              <a:extLst>
                <a:ext uri="{FF2B5EF4-FFF2-40B4-BE49-F238E27FC236}">
                  <a16:creationId xmlns:a16="http://schemas.microsoft.com/office/drawing/2014/main" id="{78227E72-0AD2-9844-88F3-0704D78E67F0}"/>
                </a:ext>
              </a:extLst>
            </p:cNvPr>
            <p:cNvSpPr/>
            <p:nvPr/>
          </p:nvSpPr>
          <p:spPr>
            <a:xfrm>
              <a:off x="8961103" y="5292598"/>
              <a:ext cx="1426994" cy="369332"/>
            </a:xfrm>
            <a:prstGeom prst="rect">
              <a:avLst/>
            </a:prstGeom>
          </p:spPr>
          <p:txBody>
            <a:bodyPr wrap="none">
              <a:spAutoFit/>
            </a:bodyPr>
            <a:lstStyle/>
            <a:p>
              <a:pPr algn="ctr"/>
              <a:r>
                <a:rPr lang="en-US" dirty="0"/>
                <a:t>Internal Flash</a:t>
              </a:r>
            </a:p>
          </p:txBody>
        </p:sp>
      </p:grpSp>
      <p:sp>
        <p:nvSpPr>
          <p:cNvPr id="77" name="Rectangle 76">
            <a:extLst>
              <a:ext uri="{FF2B5EF4-FFF2-40B4-BE49-F238E27FC236}">
                <a16:creationId xmlns:a16="http://schemas.microsoft.com/office/drawing/2014/main" id="{CF4C1928-BB43-D94F-8C86-C0BFDDC214D2}"/>
              </a:ext>
            </a:extLst>
          </p:cNvPr>
          <p:cNvSpPr/>
          <p:nvPr/>
        </p:nvSpPr>
        <p:spPr>
          <a:xfrm>
            <a:off x="8583161" y="4995589"/>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MSP</a:t>
            </a:r>
          </a:p>
        </p:txBody>
      </p:sp>
      <p:sp>
        <p:nvSpPr>
          <p:cNvPr id="78" name="Rectangle 77">
            <a:extLst>
              <a:ext uri="{FF2B5EF4-FFF2-40B4-BE49-F238E27FC236}">
                <a16:creationId xmlns:a16="http://schemas.microsoft.com/office/drawing/2014/main" id="{6C39EE8C-0DAB-0F42-9513-05DD896784B2}"/>
              </a:ext>
            </a:extLst>
          </p:cNvPr>
          <p:cNvSpPr/>
          <p:nvPr/>
        </p:nvSpPr>
        <p:spPr>
          <a:xfrm>
            <a:off x="8583161" y="4656386"/>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Reset_Handler</a:t>
            </a:r>
            <a:endParaRPr lang="en-US" dirty="0"/>
          </a:p>
        </p:txBody>
      </p:sp>
      <p:sp>
        <p:nvSpPr>
          <p:cNvPr id="79" name="Rectangle 78">
            <a:extLst>
              <a:ext uri="{FF2B5EF4-FFF2-40B4-BE49-F238E27FC236}">
                <a16:creationId xmlns:a16="http://schemas.microsoft.com/office/drawing/2014/main" id="{08400A38-DDB1-EB41-B374-874845B45B1E}"/>
              </a:ext>
            </a:extLst>
          </p:cNvPr>
          <p:cNvSpPr/>
          <p:nvPr/>
        </p:nvSpPr>
        <p:spPr>
          <a:xfrm>
            <a:off x="8583161" y="4324734"/>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NMI_Handler</a:t>
            </a:r>
            <a:endParaRPr lang="en-US" dirty="0"/>
          </a:p>
        </p:txBody>
      </p:sp>
      <p:sp>
        <p:nvSpPr>
          <p:cNvPr id="80" name="Rectangle 79">
            <a:extLst>
              <a:ext uri="{FF2B5EF4-FFF2-40B4-BE49-F238E27FC236}">
                <a16:creationId xmlns:a16="http://schemas.microsoft.com/office/drawing/2014/main" id="{FC409444-58C1-6849-9EE5-77C68127A060}"/>
              </a:ext>
            </a:extLst>
          </p:cNvPr>
          <p:cNvSpPr/>
          <p:nvPr/>
        </p:nvSpPr>
        <p:spPr>
          <a:xfrm>
            <a:off x="8578750" y="3369310"/>
            <a:ext cx="2136648" cy="96297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1" name="Rectangle 80">
            <a:extLst>
              <a:ext uri="{FF2B5EF4-FFF2-40B4-BE49-F238E27FC236}">
                <a16:creationId xmlns:a16="http://schemas.microsoft.com/office/drawing/2014/main" id="{3C9EEEEE-A785-D441-BDD2-0C5725208D7A}"/>
              </a:ext>
            </a:extLst>
          </p:cNvPr>
          <p:cNvSpPr/>
          <p:nvPr/>
        </p:nvSpPr>
        <p:spPr>
          <a:xfrm>
            <a:off x="8580113" y="2127424"/>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82" name="Rectangle 81">
            <a:extLst>
              <a:ext uri="{FF2B5EF4-FFF2-40B4-BE49-F238E27FC236}">
                <a16:creationId xmlns:a16="http://schemas.microsoft.com/office/drawing/2014/main" id="{173A4B06-9945-0846-9412-67D9160CD8DE}"/>
              </a:ext>
            </a:extLst>
          </p:cNvPr>
          <p:cNvSpPr/>
          <p:nvPr/>
        </p:nvSpPr>
        <p:spPr>
          <a:xfrm>
            <a:off x="8585374" y="1254538"/>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a:t>
            </a:r>
          </a:p>
        </p:txBody>
      </p:sp>
      <p:sp>
        <p:nvSpPr>
          <p:cNvPr id="83" name="Rectangle 82">
            <a:extLst>
              <a:ext uri="{FF2B5EF4-FFF2-40B4-BE49-F238E27FC236}">
                <a16:creationId xmlns:a16="http://schemas.microsoft.com/office/drawing/2014/main" id="{8D040406-3CA9-5B4A-9838-90CEDE0A00DE}"/>
              </a:ext>
            </a:extLst>
          </p:cNvPr>
          <p:cNvSpPr/>
          <p:nvPr/>
        </p:nvSpPr>
        <p:spPr>
          <a:xfrm>
            <a:off x="8582326" y="803883"/>
            <a:ext cx="2136648" cy="45153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4" name="Right Brace 83">
            <a:extLst>
              <a:ext uri="{FF2B5EF4-FFF2-40B4-BE49-F238E27FC236}">
                <a16:creationId xmlns:a16="http://schemas.microsoft.com/office/drawing/2014/main" id="{8D4DA84B-1F12-6F40-9271-A2516E658BA9}"/>
              </a:ext>
            </a:extLst>
          </p:cNvPr>
          <p:cNvSpPr/>
          <p:nvPr/>
        </p:nvSpPr>
        <p:spPr>
          <a:xfrm>
            <a:off x="10749634" y="3369309"/>
            <a:ext cx="223166" cy="159871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TextBox 84">
            <a:extLst>
              <a:ext uri="{FF2B5EF4-FFF2-40B4-BE49-F238E27FC236}">
                <a16:creationId xmlns:a16="http://schemas.microsoft.com/office/drawing/2014/main" id="{3BA56768-DA53-AE4C-8C36-546ED04D5D58}"/>
              </a:ext>
            </a:extLst>
          </p:cNvPr>
          <p:cNvSpPr txBox="1"/>
          <p:nvPr/>
        </p:nvSpPr>
        <p:spPr>
          <a:xfrm>
            <a:off x="11002625" y="3837218"/>
            <a:ext cx="1050224" cy="646331"/>
          </a:xfrm>
          <a:prstGeom prst="rect">
            <a:avLst/>
          </a:prstGeom>
          <a:noFill/>
        </p:spPr>
        <p:txBody>
          <a:bodyPr wrap="square" rtlCol="0">
            <a:spAutoFit/>
          </a:bodyPr>
          <a:lstStyle/>
          <a:p>
            <a:r>
              <a:rPr lang="en-US" dirty="0">
                <a:solidFill>
                  <a:srgbClr val="FF0000"/>
                </a:solidFill>
              </a:rPr>
              <a:t>Interrupt vector</a:t>
            </a:r>
          </a:p>
        </p:txBody>
      </p:sp>
      <p:sp>
        <p:nvSpPr>
          <p:cNvPr id="86" name="Rectangle 85">
            <a:extLst>
              <a:ext uri="{FF2B5EF4-FFF2-40B4-BE49-F238E27FC236}">
                <a16:creationId xmlns:a16="http://schemas.microsoft.com/office/drawing/2014/main" id="{7A14D4E3-1F74-A244-88B1-9036C0E5F401}"/>
              </a:ext>
            </a:extLst>
          </p:cNvPr>
          <p:cNvSpPr/>
          <p:nvPr/>
        </p:nvSpPr>
        <p:spPr>
          <a:xfrm>
            <a:off x="8577504" y="379742"/>
            <a:ext cx="2136648" cy="43297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sp>
        <p:nvSpPr>
          <p:cNvPr id="7" name="TextBox 6"/>
          <p:cNvSpPr txBox="1"/>
          <p:nvPr/>
        </p:nvSpPr>
        <p:spPr>
          <a:xfrm>
            <a:off x="10704183" y="468416"/>
            <a:ext cx="1441100" cy="338554"/>
          </a:xfrm>
          <a:prstGeom prst="rect">
            <a:avLst/>
          </a:prstGeom>
          <a:noFill/>
        </p:spPr>
        <p:txBody>
          <a:bodyPr wrap="none" rtlCol="0">
            <a:spAutoFit/>
          </a:bodyPr>
          <a:lstStyle/>
          <a:p>
            <a:r>
              <a:rPr lang="en-US" sz="1600" dirty="0"/>
              <a:t>Zero Initialized</a:t>
            </a:r>
          </a:p>
        </p:txBody>
      </p:sp>
      <p:sp>
        <p:nvSpPr>
          <p:cNvPr id="75" name="TextBox 74"/>
          <p:cNvSpPr txBox="1"/>
          <p:nvPr/>
        </p:nvSpPr>
        <p:spPr>
          <a:xfrm>
            <a:off x="10704183" y="882642"/>
            <a:ext cx="1170513" cy="338554"/>
          </a:xfrm>
          <a:prstGeom prst="rect">
            <a:avLst/>
          </a:prstGeom>
          <a:noFill/>
        </p:spPr>
        <p:txBody>
          <a:bodyPr wrap="none" rtlCol="0">
            <a:spAutoFit/>
          </a:bodyPr>
          <a:lstStyle/>
          <a:p>
            <a:r>
              <a:rPr lang="en-US" sz="1600" dirty="0"/>
              <a:t>Read-Write</a:t>
            </a:r>
          </a:p>
        </p:txBody>
      </p:sp>
      <p:sp>
        <p:nvSpPr>
          <p:cNvPr id="87" name="TextBox 86"/>
          <p:cNvSpPr txBox="1"/>
          <p:nvPr/>
        </p:nvSpPr>
        <p:spPr>
          <a:xfrm>
            <a:off x="10739189" y="1531316"/>
            <a:ext cx="1013034" cy="338554"/>
          </a:xfrm>
          <a:prstGeom prst="rect">
            <a:avLst/>
          </a:prstGeom>
          <a:noFill/>
        </p:spPr>
        <p:txBody>
          <a:bodyPr wrap="none" rtlCol="0">
            <a:spAutoFit/>
          </a:bodyPr>
          <a:lstStyle/>
          <a:p>
            <a:r>
              <a:rPr lang="en-US" sz="1600" dirty="0"/>
              <a:t>Read-only</a:t>
            </a:r>
          </a:p>
        </p:txBody>
      </p:sp>
    </p:spTree>
    <p:custDataLst>
      <p:tags r:id="rId1"/>
    </p:custDataLst>
    <p:extLst>
      <p:ext uri="{BB962C8B-B14F-4D97-AF65-F5344CB8AC3E}">
        <p14:creationId xmlns:p14="http://schemas.microsoft.com/office/powerpoint/2010/main" val="373447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left)">
                                      <p:cBhvr>
                                        <p:cTn id="10" dur="500"/>
                                        <p:tgtEl>
                                          <p:spTgt spid="50"/>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wipe(down)">
                                      <p:cBhvr>
                                        <p:cTn id="18" dur="500"/>
                                        <p:tgtEl>
                                          <p:spTgt spid="65"/>
                                        </p:tgtEl>
                                      </p:cBhvr>
                                    </p:animEffect>
                                  </p:childTnLst>
                                </p:cTn>
                              </p:par>
                              <p:par>
                                <p:cTn id="19" presetID="22" presetClass="entr" presetSubtype="8"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wipe(left)">
                                      <p:cBhvr>
                                        <p:cTn id="21" dur="500"/>
                                        <p:tgtEl>
                                          <p:spTgt spid="64"/>
                                        </p:tgtEl>
                                      </p:cBhvr>
                                    </p:animEffec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81" grpId="0" animBg="1"/>
      <p:bldP spid="82" grpId="0" animBg="1"/>
      <p:bldP spid="83" grpId="0" animBg="1"/>
      <p:bldP spid="84" grpId="0" animBg="1"/>
      <p:bldP spid="85" grpId="0"/>
      <p:bldP spid="8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Memory Layout of Code</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13</a:t>
            </a:fld>
            <a:endParaRPr kumimoji="0" lang="en-US"/>
          </a:p>
        </p:txBody>
      </p:sp>
      <p:graphicFrame>
        <p:nvGraphicFramePr>
          <p:cNvPr id="4" name="Table 3"/>
          <p:cNvGraphicFramePr>
            <a:graphicFrameLocks noGrp="1"/>
          </p:cNvGraphicFramePr>
          <p:nvPr>
            <p:extLst>
              <p:ext uri="{D42A27DB-BD31-4B8C-83A1-F6EECF244321}">
                <p14:modId xmlns:p14="http://schemas.microsoft.com/office/powerpoint/2010/main" val="3829591322"/>
              </p:ext>
            </p:extLst>
          </p:nvPr>
        </p:nvGraphicFramePr>
        <p:xfrm>
          <a:off x="1371600" y="1524000"/>
          <a:ext cx="8839200" cy="4571999"/>
        </p:xfrm>
        <a:graphic>
          <a:graphicData uri="http://schemas.openxmlformats.org/drawingml/2006/table">
            <a:tbl>
              <a:tblPr firstRow="1" firstCol="1" bandRow="1">
                <a:tableStyleId>{5C22544A-7EE6-4342-B048-85BDC9FD1C3A}</a:tableStyleId>
              </a:tblPr>
              <a:tblGrid>
                <a:gridCol w="1725113">
                  <a:extLst>
                    <a:ext uri="{9D8B030D-6E8A-4147-A177-3AD203B41FA5}">
                      <a16:colId xmlns:a16="http://schemas.microsoft.com/office/drawing/2014/main" val="1658935097"/>
                    </a:ext>
                  </a:extLst>
                </a:gridCol>
                <a:gridCol w="3941589">
                  <a:extLst>
                    <a:ext uri="{9D8B030D-6E8A-4147-A177-3AD203B41FA5}">
                      <a16:colId xmlns:a16="http://schemas.microsoft.com/office/drawing/2014/main" val="2550039510"/>
                    </a:ext>
                  </a:extLst>
                </a:gridCol>
                <a:gridCol w="3172498">
                  <a:extLst>
                    <a:ext uri="{9D8B030D-6E8A-4147-A177-3AD203B41FA5}">
                      <a16:colId xmlns:a16="http://schemas.microsoft.com/office/drawing/2014/main" val="4223226091"/>
                    </a:ext>
                  </a:extLst>
                </a:gridCol>
              </a:tblGrid>
              <a:tr h="563360">
                <a:tc>
                  <a:txBody>
                    <a:bodyPr/>
                    <a:lstStyle/>
                    <a:p>
                      <a:pPr marL="0" marR="0" algn="just">
                        <a:spcBef>
                          <a:spcPts val="0"/>
                        </a:spcBef>
                        <a:spcAft>
                          <a:spcPts val="0"/>
                        </a:spcAft>
                      </a:pPr>
                      <a:r>
                        <a:rPr lang="en-US" sz="1600">
                          <a:effectLst/>
                        </a:rPr>
                        <a:t>Section</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Content</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Memory Region at Run-time</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89956102"/>
                  </a:ext>
                </a:extLst>
              </a:tr>
              <a:tr h="563360">
                <a:tc>
                  <a:txBody>
                    <a:bodyPr/>
                    <a:lstStyle/>
                    <a:p>
                      <a:pPr marL="0" marR="0" algn="just">
                        <a:spcBef>
                          <a:spcPts val="0"/>
                        </a:spcBef>
                        <a:spcAft>
                          <a:spcPts val="0"/>
                        </a:spcAft>
                      </a:pPr>
                      <a:r>
                        <a:rPr lang="en-US" sz="1600" dirty="0">
                          <a:effectLst/>
                        </a:rPr>
                        <a:t>.</a:t>
                      </a:r>
                      <a:r>
                        <a:rPr lang="en-US" sz="1600" dirty="0" err="1">
                          <a:effectLst/>
                        </a:rPr>
                        <a:t>isr_vector</a:t>
                      </a:r>
                      <a:endParaRPr lang="en-US" sz="1600" dirty="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Stack address, interrupt address vector</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Code (Flash)</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80009148"/>
                  </a:ext>
                </a:extLst>
              </a:tr>
              <a:tr h="523985">
                <a:tc>
                  <a:txBody>
                    <a:bodyPr/>
                    <a:lstStyle/>
                    <a:p>
                      <a:pPr marL="0" marR="0" algn="just">
                        <a:spcBef>
                          <a:spcPts val="0"/>
                        </a:spcBef>
                        <a:spcAft>
                          <a:spcPts val="0"/>
                        </a:spcAft>
                      </a:pPr>
                      <a:r>
                        <a:rPr lang="en-US" sz="1600">
                          <a:effectLst/>
                        </a:rPr>
                        <a:t>.text</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Program code, some constants</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Data (Flash)</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52727244"/>
                  </a:ext>
                </a:extLst>
              </a:tr>
              <a:tr h="281680">
                <a:tc>
                  <a:txBody>
                    <a:bodyPr/>
                    <a:lstStyle/>
                    <a:p>
                      <a:pPr marL="0" marR="0" algn="just">
                        <a:spcBef>
                          <a:spcPts val="0"/>
                        </a:spcBef>
                        <a:spcAft>
                          <a:spcPts val="0"/>
                        </a:spcAft>
                      </a:pPr>
                      <a:r>
                        <a:rPr lang="en-US" sz="1600">
                          <a:effectLst/>
                        </a:rPr>
                        <a:t>.rodata</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Constant data, strings</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Code (Flash)</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90670287"/>
                  </a:ext>
                </a:extLst>
              </a:tr>
              <a:tr h="785978">
                <a:tc>
                  <a:txBody>
                    <a:bodyPr/>
                    <a:lstStyle/>
                    <a:p>
                      <a:pPr marL="0" marR="0" algn="just">
                        <a:spcBef>
                          <a:spcPts val="0"/>
                        </a:spcBef>
                        <a:spcAft>
                          <a:spcPts val="0"/>
                        </a:spcAft>
                      </a:pPr>
                      <a:r>
                        <a:rPr lang="en-US" sz="1600">
                          <a:effectLst/>
                        </a:rPr>
                        <a:t>.data</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Global initialized variables, </a:t>
                      </a:r>
                    </a:p>
                    <a:p>
                      <a:pPr marL="0" marR="0" algn="l">
                        <a:spcBef>
                          <a:spcPts val="0"/>
                        </a:spcBef>
                        <a:spcAft>
                          <a:spcPts val="0"/>
                        </a:spcAft>
                      </a:pPr>
                      <a:r>
                        <a:rPr lang="en-US" sz="1600">
                          <a:effectLst/>
                        </a:rPr>
                        <a:t>local initialized static variables</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Data (RAM) and Code (Flash)</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09664004"/>
                  </a:ext>
                </a:extLst>
              </a:tr>
              <a:tr h="1047971">
                <a:tc>
                  <a:txBody>
                    <a:bodyPr/>
                    <a:lstStyle/>
                    <a:p>
                      <a:pPr marL="0" marR="0" algn="just">
                        <a:spcBef>
                          <a:spcPts val="0"/>
                        </a:spcBef>
                        <a:spcAft>
                          <a:spcPts val="0"/>
                        </a:spcAft>
                      </a:pPr>
                      <a:r>
                        <a:rPr lang="en-US" sz="1600">
                          <a:effectLst/>
                        </a:rPr>
                        <a:t>.bss</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a:effectLst/>
                        </a:rPr>
                        <a:t>Global un-initialized/zero-initialized variables, local un-initialized/zero-initialized static variables</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Data (RAM)</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52737574"/>
                  </a:ext>
                </a:extLst>
              </a:tr>
              <a:tr h="523985">
                <a:tc>
                  <a:txBody>
                    <a:bodyPr/>
                    <a:lstStyle/>
                    <a:p>
                      <a:pPr marL="0" marR="0" algn="just">
                        <a:spcBef>
                          <a:spcPts val="0"/>
                        </a:spcBef>
                        <a:spcAft>
                          <a:spcPts val="0"/>
                        </a:spcAft>
                      </a:pPr>
                      <a:r>
                        <a:rPr lang="en-US" sz="1600" dirty="0">
                          <a:effectLst/>
                        </a:rPr>
                        <a:t>heap</a:t>
                      </a:r>
                      <a:endParaRPr lang="en-US" sz="1600" dirty="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0"/>
                        </a:spcBef>
                        <a:spcAft>
                          <a:spcPts val="0"/>
                        </a:spcAft>
                      </a:pPr>
                      <a:r>
                        <a:rPr lang="en-US" sz="1600" dirty="0">
                          <a:effectLst/>
                        </a:rPr>
                        <a:t>Dynamically allocated variables</a:t>
                      </a:r>
                      <a:endParaRPr lang="en-US" sz="1600" dirty="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a:effectLst/>
                        </a:rPr>
                        <a:t>Data (RAM)</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13162305"/>
                  </a:ext>
                </a:extLst>
              </a:tr>
              <a:tr h="281680">
                <a:tc>
                  <a:txBody>
                    <a:bodyPr/>
                    <a:lstStyle/>
                    <a:p>
                      <a:pPr marL="0" marR="0" algn="just">
                        <a:spcBef>
                          <a:spcPts val="0"/>
                        </a:spcBef>
                        <a:spcAft>
                          <a:spcPts val="0"/>
                        </a:spcAft>
                      </a:pPr>
                      <a:r>
                        <a:rPr lang="en-US" sz="1600">
                          <a:effectLst/>
                        </a:rPr>
                        <a:t>stack</a:t>
                      </a:r>
                      <a:endParaRPr lang="en-US" sz="160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l">
                        <a:spcBef>
                          <a:spcPts val="600"/>
                        </a:spcBef>
                        <a:spcAft>
                          <a:spcPts val="600"/>
                        </a:spcAft>
                      </a:pPr>
                      <a:r>
                        <a:rPr lang="en-US" sz="1600" dirty="0">
                          <a:effectLst/>
                        </a:rPr>
                        <a:t>Local non-static variables</a:t>
                      </a:r>
                      <a:endParaRPr lang="en-US" sz="1600" dirty="0">
                        <a:effectLst/>
                        <a:latin typeface="Palatino Linotype" panose="0204050205050503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1600" dirty="0">
                          <a:effectLst/>
                        </a:rPr>
                        <a:t>Data (RAM)</a:t>
                      </a:r>
                    </a:p>
                  </a:txBody>
                  <a:tcPr marL="68580" marR="68580" marT="0" marB="0" anchor="ctr"/>
                </a:tc>
                <a:extLst>
                  <a:ext uri="{0D108BD9-81ED-4DB2-BD59-A6C34878D82A}">
                    <a16:rowId xmlns:a16="http://schemas.microsoft.com/office/drawing/2014/main" val="2977215942"/>
                  </a:ext>
                </a:extLst>
              </a:tr>
            </a:tbl>
          </a:graphicData>
        </a:graphic>
      </p:graphicFrame>
    </p:spTree>
    <p:extLst>
      <p:ext uri="{BB962C8B-B14F-4D97-AF65-F5344CB8AC3E}">
        <p14:creationId xmlns:p14="http://schemas.microsoft.com/office/powerpoint/2010/main" val="2154034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Execution Image</a:t>
            </a:r>
          </a:p>
        </p:txBody>
      </p:sp>
      <p:grpSp>
        <p:nvGrpSpPr>
          <p:cNvPr id="76" name="Group 75">
            <a:extLst>
              <a:ext uri="{FF2B5EF4-FFF2-40B4-BE49-F238E27FC236}">
                <a16:creationId xmlns:a16="http://schemas.microsoft.com/office/drawing/2014/main" id="{7B752996-CE5C-8E43-A264-DF6AC42C706E}"/>
              </a:ext>
            </a:extLst>
          </p:cNvPr>
          <p:cNvGrpSpPr/>
          <p:nvPr/>
        </p:nvGrpSpPr>
        <p:grpSpPr>
          <a:xfrm>
            <a:off x="5490533" y="735722"/>
            <a:ext cx="2891768" cy="5556281"/>
            <a:chOff x="8583161" y="105649"/>
            <a:chExt cx="2891768" cy="5556281"/>
          </a:xfrm>
        </p:grpSpPr>
        <p:sp>
          <p:nvSpPr>
            <p:cNvPr id="66" name="Rectangle 65">
              <a:extLst>
                <a:ext uri="{FF2B5EF4-FFF2-40B4-BE49-F238E27FC236}">
                  <a16:creationId xmlns:a16="http://schemas.microsoft.com/office/drawing/2014/main" id="{2B154137-F83D-AD47-A015-80AF9F2B51C2}"/>
                </a:ext>
              </a:extLst>
            </p:cNvPr>
            <p:cNvSpPr/>
            <p:nvPr/>
          </p:nvSpPr>
          <p:spPr>
            <a:xfrm>
              <a:off x="8583161" y="381000"/>
              <a:ext cx="2136648" cy="493134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a:extLst>
                <a:ext uri="{FF2B5EF4-FFF2-40B4-BE49-F238E27FC236}">
                  <a16:creationId xmlns:a16="http://schemas.microsoft.com/office/drawing/2014/main" id="{E1BB5456-BE31-104A-92C9-178D72897E52}"/>
                </a:ext>
              </a:extLst>
            </p:cNvPr>
            <p:cNvSpPr txBox="1"/>
            <p:nvPr/>
          </p:nvSpPr>
          <p:spPr>
            <a:xfrm>
              <a:off x="10296401" y="5311041"/>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73" name="TextBox 72">
              <a:extLst>
                <a:ext uri="{FF2B5EF4-FFF2-40B4-BE49-F238E27FC236}">
                  <a16:creationId xmlns:a16="http://schemas.microsoft.com/office/drawing/2014/main" id="{B9090C6B-51D1-224F-92E2-602D4A1AFE5B}"/>
                </a:ext>
              </a:extLst>
            </p:cNvPr>
            <p:cNvSpPr txBox="1"/>
            <p:nvPr/>
          </p:nvSpPr>
          <p:spPr>
            <a:xfrm>
              <a:off x="10108511" y="105649"/>
              <a:ext cx="1178528" cy="307777"/>
            </a:xfrm>
            <a:prstGeom prst="rect">
              <a:avLst/>
            </a:prstGeom>
            <a:noFill/>
          </p:spPr>
          <p:txBody>
            <a:bodyPr wrap="none" rtlCol="0">
              <a:spAutoFit/>
            </a:bodyPr>
            <a:lstStyle/>
            <a:p>
              <a:r>
                <a:rPr lang="en-US" sz="1400" dirty="0">
                  <a:latin typeface="Consolas" panose="020B0609020204030204" pitchFamily="49" charset="0"/>
                </a:rPr>
                <a:t>0x080XFFFF</a:t>
              </a:r>
            </a:p>
          </p:txBody>
        </p:sp>
        <p:sp>
          <p:nvSpPr>
            <p:cNvPr id="74" name="Rectangle 73">
              <a:extLst>
                <a:ext uri="{FF2B5EF4-FFF2-40B4-BE49-F238E27FC236}">
                  <a16:creationId xmlns:a16="http://schemas.microsoft.com/office/drawing/2014/main" id="{78227E72-0AD2-9844-88F3-0704D78E67F0}"/>
                </a:ext>
              </a:extLst>
            </p:cNvPr>
            <p:cNvSpPr/>
            <p:nvPr/>
          </p:nvSpPr>
          <p:spPr>
            <a:xfrm>
              <a:off x="8961103" y="5292598"/>
              <a:ext cx="1426994" cy="369332"/>
            </a:xfrm>
            <a:prstGeom prst="rect">
              <a:avLst/>
            </a:prstGeom>
          </p:spPr>
          <p:txBody>
            <a:bodyPr wrap="none">
              <a:spAutoFit/>
            </a:bodyPr>
            <a:lstStyle/>
            <a:p>
              <a:pPr algn="ctr"/>
              <a:r>
                <a:rPr lang="en-US" dirty="0"/>
                <a:t>Internal Flash</a:t>
              </a:r>
            </a:p>
          </p:txBody>
        </p:sp>
      </p:grpSp>
      <p:sp>
        <p:nvSpPr>
          <p:cNvPr id="77" name="Rectangle 76">
            <a:extLst>
              <a:ext uri="{FF2B5EF4-FFF2-40B4-BE49-F238E27FC236}">
                <a16:creationId xmlns:a16="http://schemas.microsoft.com/office/drawing/2014/main" id="{CF4C1928-BB43-D94F-8C86-C0BFDDC214D2}"/>
              </a:ext>
            </a:extLst>
          </p:cNvPr>
          <p:cNvSpPr/>
          <p:nvPr/>
        </p:nvSpPr>
        <p:spPr>
          <a:xfrm>
            <a:off x="5490533" y="5625662"/>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MSP</a:t>
            </a:r>
          </a:p>
        </p:txBody>
      </p:sp>
      <p:sp>
        <p:nvSpPr>
          <p:cNvPr id="78" name="Rectangle 77">
            <a:extLst>
              <a:ext uri="{FF2B5EF4-FFF2-40B4-BE49-F238E27FC236}">
                <a16:creationId xmlns:a16="http://schemas.microsoft.com/office/drawing/2014/main" id="{6C39EE8C-0DAB-0F42-9513-05DD896784B2}"/>
              </a:ext>
            </a:extLst>
          </p:cNvPr>
          <p:cNvSpPr/>
          <p:nvPr/>
        </p:nvSpPr>
        <p:spPr>
          <a:xfrm>
            <a:off x="5490533" y="5286459"/>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Reset_Handler</a:t>
            </a:r>
            <a:endParaRPr lang="en-US" dirty="0"/>
          </a:p>
        </p:txBody>
      </p:sp>
      <p:sp>
        <p:nvSpPr>
          <p:cNvPr id="79" name="Rectangle 78">
            <a:extLst>
              <a:ext uri="{FF2B5EF4-FFF2-40B4-BE49-F238E27FC236}">
                <a16:creationId xmlns:a16="http://schemas.microsoft.com/office/drawing/2014/main" id="{08400A38-DDB1-EB41-B374-874845B45B1E}"/>
              </a:ext>
            </a:extLst>
          </p:cNvPr>
          <p:cNvSpPr/>
          <p:nvPr/>
        </p:nvSpPr>
        <p:spPr>
          <a:xfrm>
            <a:off x="5490533" y="4954807"/>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NMI_Handler</a:t>
            </a:r>
            <a:endParaRPr lang="en-US" dirty="0"/>
          </a:p>
        </p:txBody>
      </p:sp>
      <p:sp>
        <p:nvSpPr>
          <p:cNvPr id="80" name="Rectangle 79">
            <a:extLst>
              <a:ext uri="{FF2B5EF4-FFF2-40B4-BE49-F238E27FC236}">
                <a16:creationId xmlns:a16="http://schemas.microsoft.com/office/drawing/2014/main" id="{FC409444-58C1-6849-9EE5-77C68127A060}"/>
              </a:ext>
            </a:extLst>
          </p:cNvPr>
          <p:cNvSpPr/>
          <p:nvPr/>
        </p:nvSpPr>
        <p:spPr>
          <a:xfrm>
            <a:off x="5486122" y="3999383"/>
            <a:ext cx="2136648" cy="96297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1" name="Rectangle 80">
            <a:extLst>
              <a:ext uri="{FF2B5EF4-FFF2-40B4-BE49-F238E27FC236}">
                <a16:creationId xmlns:a16="http://schemas.microsoft.com/office/drawing/2014/main" id="{3C9EEEEE-A785-D441-BDD2-0C5725208D7A}"/>
              </a:ext>
            </a:extLst>
          </p:cNvPr>
          <p:cNvSpPr/>
          <p:nvPr/>
        </p:nvSpPr>
        <p:spPr>
          <a:xfrm>
            <a:off x="5487485" y="2757497"/>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82" name="Rectangle 81">
            <a:extLst>
              <a:ext uri="{FF2B5EF4-FFF2-40B4-BE49-F238E27FC236}">
                <a16:creationId xmlns:a16="http://schemas.microsoft.com/office/drawing/2014/main" id="{173A4B06-9945-0846-9412-67D9160CD8DE}"/>
              </a:ext>
            </a:extLst>
          </p:cNvPr>
          <p:cNvSpPr/>
          <p:nvPr/>
        </p:nvSpPr>
        <p:spPr>
          <a:xfrm>
            <a:off x="5492746" y="1884611"/>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a:t>
            </a:r>
          </a:p>
        </p:txBody>
      </p:sp>
      <p:sp>
        <p:nvSpPr>
          <p:cNvPr id="83" name="Rectangle 82">
            <a:extLst>
              <a:ext uri="{FF2B5EF4-FFF2-40B4-BE49-F238E27FC236}">
                <a16:creationId xmlns:a16="http://schemas.microsoft.com/office/drawing/2014/main" id="{8D040406-3CA9-5B4A-9838-90CEDE0A00DE}"/>
              </a:ext>
            </a:extLst>
          </p:cNvPr>
          <p:cNvSpPr/>
          <p:nvPr/>
        </p:nvSpPr>
        <p:spPr>
          <a:xfrm>
            <a:off x="5489698" y="1474166"/>
            <a:ext cx="2136648" cy="41132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4" name="Right Brace 83">
            <a:extLst>
              <a:ext uri="{FF2B5EF4-FFF2-40B4-BE49-F238E27FC236}">
                <a16:creationId xmlns:a16="http://schemas.microsoft.com/office/drawing/2014/main" id="{8D4DA84B-1F12-6F40-9271-A2516E658BA9}"/>
              </a:ext>
            </a:extLst>
          </p:cNvPr>
          <p:cNvSpPr/>
          <p:nvPr/>
        </p:nvSpPr>
        <p:spPr>
          <a:xfrm>
            <a:off x="7657006" y="3999382"/>
            <a:ext cx="223166" cy="159871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TextBox 84">
            <a:extLst>
              <a:ext uri="{FF2B5EF4-FFF2-40B4-BE49-F238E27FC236}">
                <a16:creationId xmlns:a16="http://schemas.microsoft.com/office/drawing/2014/main" id="{3BA56768-DA53-AE4C-8C36-546ED04D5D58}"/>
              </a:ext>
            </a:extLst>
          </p:cNvPr>
          <p:cNvSpPr txBox="1"/>
          <p:nvPr/>
        </p:nvSpPr>
        <p:spPr>
          <a:xfrm>
            <a:off x="7909997" y="4467291"/>
            <a:ext cx="1050224" cy="646331"/>
          </a:xfrm>
          <a:prstGeom prst="rect">
            <a:avLst/>
          </a:prstGeom>
          <a:noFill/>
        </p:spPr>
        <p:txBody>
          <a:bodyPr wrap="square" rtlCol="0">
            <a:spAutoFit/>
          </a:bodyPr>
          <a:lstStyle/>
          <a:p>
            <a:r>
              <a:rPr lang="en-US" dirty="0">
                <a:solidFill>
                  <a:srgbClr val="FF0000"/>
                </a:solidFill>
              </a:rPr>
              <a:t>Interrupt vector</a:t>
            </a:r>
          </a:p>
        </p:txBody>
      </p:sp>
      <p:sp>
        <p:nvSpPr>
          <p:cNvPr id="97" name="Rectangle 96">
            <a:extLst>
              <a:ext uri="{FF2B5EF4-FFF2-40B4-BE49-F238E27FC236}">
                <a16:creationId xmlns:a16="http://schemas.microsoft.com/office/drawing/2014/main" id="{C928B67C-B008-794E-8882-F5618BB12567}"/>
              </a:ext>
            </a:extLst>
          </p:cNvPr>
          <p:cNvSpPr/>
          <p:nvPr/>
        </p:nvSpPr>
        <p:spPr>
          <a:xfrm>
            <a:off x="5488320" y="1017177"/>
            <a:ext cx="2136648" cy="45654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sp>
        <p:nvSpPr>
          <p:cNvPr id="4" name="TextBox 3"/>
          <p:cNvSpPr txBox="1"/>
          <p:nvPr/>
        </p:nvSpPr>
        <p:spPr>
          <a:xfrm>
            <a:off x="254147" y="1427695"/>
            <a:ext cx="4336444" cy="4031873"/>
          </a:xfrm>
          <a:prstGeom prst="rect">
            <a:avLst/>
          </a:prstGeom>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0000FF"/>
                </a:solidFill>
                <a:latin typeface="Consolas" panose="020B0609020204030204" pitchFamily="49" charset="0"/>
              </a:rPr>
              <a:t>a</a:t>
            </a:r>
            <a:r>
              <a:rPr lang="en-US" sz="1600" dirty="0">
                <a:latin typeface="Consolas" panose="020B0609020204030204" pitchFamily="49" charset="0"/>
              </a:rPr>
              <a:t>, </a:t>
            </a:r>
            <a:r>
              <a:rPr lang="en-US" sz="1600" dirty="0">
                <a:solidFill>
                  <a:srgbClr val="0000FF"/>
                </a:solidFill>
                <a:latin typeface="Consolas" panose="020B0609020204030204" pitchFamily="49" charset="0"/>
              </a:rPr>
              <a:t>b</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c = 271, d = 275</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f[] = {10,11,12,13}</a:t>
            </a:r>
          </a:p>
          <a:p>
            <a:r>
              <a:rPr lang="en-US" sz="1600" dirty="0" err="1">
                <a:latin typeface="Consolas" panose="020B0609020204030204" pitchFamily="49" charset="0"/>
              </a:rPr>
              <a:t>int</a:t>
            </a:r>
            <a:r>
              <a:rPr lang="en-US" sz="1600" dirty="0">
                <a:latin typeface="Consolas" panose="020B0609020204030204" pitchFamily="49" charset="0"/>
              </a:rPr>
              <a:t> main (void){</a:t>
            </a:r>
          </a:p>
          <a:p>
            <a:r>
              <a:rPr lang="en-US" sz="1600" dirty="0">
                <a:latin typeface="Consolas" panose="020B0609020204030204" pitchFamily="49" charset="0"/>
              </a:rPr>
              <a:t>  uint32_t </a:t>
            </a:r>
            <a:r>
              <a:rPr lang="en-US" sz="1600" dirty="0" err="1">
                <a:solidFill>
                  <a:srgbClr val="00CC00"/>
                </a:solidFill>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char str1[32];</a:t>
            </a:r>
          </a:p>
          <a:p>
            <a:r>
              <a:rPr lang="en-US" sz="1600" dirty="0">
                <a:latin typeface="Consolas" panose="020B0609020204030204" pitchFamily="49" charset="0"/>
              </a:rPr>
              <a:t>  char str2[] = "</a:t>
            </a:r>
            <a:r>
              <a:rPr lang="en-US" sz="1600" dirty="0">
                <a:solidFill>
                  <a:srgbClr val="FF00FF"/>
                </a:solidFill>
                <a:latin typeface="Consolas" panose="020B0609020204030204" pitchFamily="49" charset="0"/>
              </a:rPr>
              <a:t>0123456789</a:t>
            </a:r>
            <a:r>
              <a:rPr lang="en-US" sz="1600" dirty="0">
                <a:latin typeface="Consolas" panose="020B0609020204030204" pitchFamily="49" charset="0"/>
              </a:rPr>
              <a:t>";</a:t>
            </a:r>
          </a:p>
          <a:p>
            <a:r>
              <a:rPr lang="en-US" sz="1600" dirty="0">
                <a:latin typeface="Consolas" panose="020B0609020204030204" pitchFamily="49" charset="0"/>
              </a:rPr>
              <a:t>  int32_t </a:t>
            </a:r>
            <a:r>
              <a:rPr lang="en-US" sz="1600" dirty="0">
                <a:solidFill>
                  <a:srgbClr val="00CC00"/>
                </a:solidFill>
                <a:latin typeface="Consolas" panose="020B0609020204030204" pitchFamily="49" charset="0"/>
              </a:rPr>
              <a:t>sum</a:t>
            </a:r>
            <a:r>
              <a:rPr lang="en-US" sz="1600" dirty="0">
                <a:latin typeface="Consolas" panose="020B0609020204030204" pitchFamily="49" charset="0"/>
              </a:rPr>
              <a:t> = -1;</a:t>
            </a:r>
          </a:p>
          <a:p>
            <a:r>
              <a:rPr lang="en-US" sz="1600" dirty="0">
                <a:latin typeface="Consolas" panose="020B0609020204030204" pitchFamily="49" charset="0"/>
              </a:rPr>
              <a:t>  uint32_t array[] = {</a:t>
            </a:r>
            <a:r>
              <a:rPr lang="en-US" sz="1600" dirty="0">
                <a:solidFill>
                  <a:srgbClr val="FF00FF"/>
                </a:solidFill>
                <a:latin typeface="Consolas" panose="020B0609020204030204" pitchFamily="49" charset="0"/>
              </a:rPr>
              <a:t>1, 2, 3, 4, 5</a:t>
            </a:r>
            <a:r>
              <a:rPr lang="en-US" sz="1600" dirty="0">
                <a:latin typeface="Consolas" panose="020B0609020204030204" pitchFamily="49" charset="0"/>
              </a:rPr>
              <a:t>};</a:t>
            </a:r>
          </a:p>
          <a:p>
            <a:r>
              <a:rPr lang="en-US" sz="1600" dirty="0">
                <a:latin typeface="Consolas" panose="020B0609020204030204" pitchFamily="49" charset="0"/>
              </a:rPr>
              <a:t>  uint32_t </a:t>
            </a:r>
            <a:r>
              <a:rPr lang="en-US" sz="1600" dirty="0">
                <a:solidFill>
                  <a:srgbClr val="00CC00"/>
                </a:solidFill>
                <a:latin typeface="Consolas" panose="020B0609020204030204" pitchFamily="49" charset="0"/>
              </a:rPr>
              <a:t>e</a:t>
            </a:r>
            <a:r>
              <a:rPr lang="en-US" sz="1600" dirty="0">
                <a:latin typeface="Consolas" panose="020B0609020204030204" pitchFamily="49" charset="0"/>
              </a:rPr>
              <a:t> = 12345;</a:t>
            </a:r>
          </a:p>
          <a:p>
            <a:r>
              <a:rPr lang="en-US" sz="1600" dirty="0">
                <a:latin typeface="Consolas" panose="020B0609020204030204" pitchFamily="49" charset="0"/>
              </a:rPr>
              <a:t>  for (</a:t>
            </a:r>
            <a:r>
              <a:rPr lang="en-US" sz="1600" dirty="0" err="1">
                <a:latin typeface="Consolas" panose="020B0609020204030204" pitchFamily="49" charset="0"/>
              </a:rPr>
              <a:t>i</a:t>
            </a:r>
            <a:r>
              <a:rPr lang="en-US" sz="1600" dirty="0">
                <a:latin typeface="Consolas" panose="020B0609020204030204" pitchFamily="49" charset="0"/>
              </a:rPr>
              <a:t> = 0; </a:t>
            </a:r>
            <a:r>
              <a:rPr lang="en-US" sz="1600" dirty="0" err="1">
                <a:latin typeface="Consolas" panose="020B0609020204030204" pitchFamily="49" charset="0"/>
              </a:rPr>
              <a:t>i</a:t>
            </a:r>
            <a:r>
              <a:rPr lang="en-US" sz="1600" dirty="0">
                <a:latin typeface="Consolas" panose="020B0609020204030204" pitchFamily="49" charset="0"/>
              </a:rPr>
              <a:t> &lt; 5; </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sum += array[</a:t>
            </a:r>
            <a:r>
              <a:rPr lang="en-US" sz="1600" dirty="0" err="1">
                <a:latin typeface="Consolas" panose="020B0609020204030204" pitchFamily="49" charset="0"/>
              </a:rPr>
              <a:t>i</a:t>
            </a:r>
            <a:r>
              <a:rPr lang="en-US" sz="1600" dirty="0">
                <a:latin typeface="Consolas" panose="020B0609020204030204" pitchFamily="49" charset="0"/>
              </a:rPr>
              <a:t>]*2 + f[</a:t>
            </a:r>
            <a:r>
              <a:rPr lang="en-US" sz="1600" dirty="0" err="1">
                <a:latin typeface="Consolas" panose="020B0609020204030204" pitchFamily="49" charset="0"/>
              </a:rPr>
              <a:t>i</a:t>
            </a:r>
            <a:r>
              <a:rPr lang="en-US" sz="1600" dirty="0">
                <a:latin typeface="Consolas" panose="020B0609020204030204" pitchFamily="49" charset="0"/>
              </a:rPr>
              <a:t>] + e;</a:t>
            </a:r>
          </a:p>
          <a:p>
            <a:r>
              <a:rPr lang="en-US" sz="1600" dirty="0">
                <a:latin typeface="Consolas" panose="020B0609020204030204" pitchFamily="49" charset="0"/>
              </a:rPr>
              <a:t>     str2[</a:t>
            </a:r>
            <a:r>
              <a:rPr lang="en-US" sz="1600" dirty="0" err="1">
                <a:latin typeface="Consolas" panose="020B0609020204030204" pitchFamily="49" charset="0"/>
              </a:rPr>
              <a:t>i</a:t>
            </a:r>
            <a:r>
              <a:rPr lang="en-US" sz="1600" dirty="0">
                <a:latin typeface="Consolas" panose="020B0609020204030204" pitchFamily="49" charset="0"/>
              </a:rPr>
              <a:t>] = str1[</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a:t>
            </a:r>
          </a:p>
          <a:p>
            <a:r>
              <a:rPr lang="en-US" sz="1600" dirty="0">
                <a:latin typeface="Consolas" panose="020B0609020204030204" pitchFamily="49" charset="0"/>
              </a:rPr>
              <a:t>  while(1);</a:t>
            </a:r>
          </a:p>
          <a:p>
            <a:r>
              <a:rPr lang="en-US" sz="1600" dirty="0">
                <a:latin typeface="Consolas" panose="020B0609020204030204" pitchFamily="49" charset="0"/>
              </a:rPr>
              <a:t>}</a:t>
            </a:r>
          </a:p>
        </p:txBody>
      </p:sp>
      <p:sp>
        <p:nvSpPr>
          <p:cNvPr id="37" name="Rectangle 36"/>
          <p:cNvSpPr/>
          <p:nvPr/>
        </p:nvSpPr>
        <p:spPr>
          <a:xfrm>
            <a:off x="762698" y="1497545"/>
            <a:ext cx="612045" cy="218236"/>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9" name="Straight Arrow Connector 8"/>
          <p:cNvCxnSpPr>
            <a:stCxn id="37" idx="3"/>
          </p:cNvCxnSpPr>
          <p:nvPr/>
        </p:nvCxnSpPr>
        <p:spPr>
          <a:xfrm flipV="1">
            <a:off x="1374743" y="1210256"/>
            <a:ext cx="4332611" cy="396407"/>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62698" y="1763984"/>
            <a:ext cx="2166485" cy="455463"/>
          </a:xfrm>
          <a:prstGeom prst="rect">
            <a:avLst/>
          </a:prstGeom>
          <a:noFill/>
          <a:ln w="19050">
            <a:solidFill>
              <a:srgbClr val="33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33CCFF"/>
              </a:solidFill>
            </a:endParaRPr>
          </a:p>
        </p:txBody>
      </p:sp>
      <p:cxnSp>
        <p:nvCxnSpPr>
          <p:cNvPr id="43" name="Straight Arrow Connector 42"/>
          <p:cNvCxnSpPr/>
          <p:nvPr/>
        </p:nvCxnSpPr>
        <p:spPr>
          <a:xfrm flipV="1">
            <a:off x="2938333" y="1552960"/>
            <a:ext cx="2769021" cy="331651"/>
          </a:xfrm>
          <a:prstGeom prst="straightConnector1">
            <a:avLst/>
          </a:prstGeom>
          <a:ln w="19050">
            <a:solidFill>
              <a:srgbClr val="33CCFF"/>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2095987" y="2964139"/>
            <a:ext cx="1400426" cy="187662"/>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7" name="Straight Arrow Connector 46"/>
          <p:cNvCxnSpPr/>
          <p:nvPr/>
        </p:nvCxnSpPr>
        <p:spPr>
          <a:xfrm flipV="1">
            <a:off x="3496413" y="2127047"/>
            <a:ext cx="2188193" cy="892277"/>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4114800" y="2326222"/>
            <a:ext cx="1569806" cy="1143578"/>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667000" y="3460052"/>
            <a:ext cx="1676400" cy="216388"/>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Rectangle 53"/>
          <p:cNvSpPr/>
          <p:nvPr/>
        </p:nvSpPr>
        <p:spPr>
          <a:xfrm>
            <a:off x="1045964" y="2734739"/>
            <a:ext cx="992764" cy="458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0" name="Rectangle 59"/>
          <p:cNvSpPr/>
          <p:nvPr/>
        </p:nvSpPr>
        <p:spPr>
          <a:xfrm>
            <a:off x="1517864" y="3442391"/>
            <a:ext cx="886205" cy="25592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0000"/>
              </a:solidFill>
            </a:endParaRPr>
          </a:p>
        </p:txBody>
      </p:sp>
      <p:sp>
        <p:nvSpPr>
          <p:cNvPr id="64" name="Rectangle 63"/>
          <p:cNvSpPr/>
          <p:nvPr/>
        </p:nvSpPr>
        <p:spPr>
          <a:xfrm>
            <a:off x="1474594" y="2485887"/>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Rectangle 64"/>
          <p:cNvSpPr/>
          <p:nvPr/>
        </p:nvSpPr>
        <p:spPr>
          <a:xfrm>
            <a:off x="1452371" y="3219458"/>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Rectangle 67"/>
          <p:cNvSpPr/>
          <p:nvPr/>
        </p:nvSpPr>
        <p:spPr>
          <a:xfrm>
            <a:off x="1492127" y="3736696"/>
            <a:ext cx="255338" cy="141736"/>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Rectangle 68"/>
          <p:cNvSpPr/>
          <p:nvPr/>
        </p:nvSpPr>
        <p:spPr>
          <a:xfrm>
            <a:off x="1303636" y="5616290"/>
            <a:ext cx="255338"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TextBox 23"/>
          <p:cNvSpPr txBox="1"/>
          <p:nvPr/>
        </p:nvSpPr>
        <p:spPr>
          <a:xfrm>
            <a:off x="1517864" y="5543386"/>
            <a:ext cx="2012410" cy="307777"/>
          </a:xfrm>
          <a:prstGeom prst="rect">
            <a:avLst/>
          </a:prstGeom>
          <a:noFill/>
        </p:spPr>
        <p:txBody>
          <a:bodyPr wrap="none" rtlCol="0">
            <a:spAutoFit/>
          </a:bodyPr>
          <a:lstStyle/>
          <a:p>
            <a:r>
              <a:rPr lang="en-US" sz="1400" dirty="0">
                <a:solidFill>
                  <a:srgbClr val="00CC00"/>
                </a:solidFill>
              </a:rPr>
              <a:t>represented by a register</a:t>
            </a:r>
          </a:p>
        </p:txBody>
      </p:sp>
      <p:sp>
        <p:nvSpPr>
          <p:cNvPr id="5" name="TextBox 4">
            <a:extLst>
              <a:ext uri="{FF2B5EF4-FFF2-40B4-BE49-F238E27FC236}">
                <a16:creationId xmlns:a16="http://schemas.microsoft.com/office/drawing/2014/main" id="{407F4774-90EF-1841-A8B6-0573EBB401BD}"/>
              </a:ext>
            </a:extLst>
          </p:cNvPr>
          <p:cNvSpPr txBox="1"/>
          <p:nvPr/>
        </p:nvSpPr>
        <p:spPr>
          <a:xfrm>
            <a:off x="7992024" y="1050982"/>
            <a:ext cx="4132963" cy="2862322"/>
          </a:xfrm>
          <a:prstGeom prst="rect">
            <a:avLst/>
          </a:prstGeom>
          <a:noFill/>
        </p:spPr>
        <p:txBody>
          <a:bodyPr wrap="square" rtlCol="0">
            <a:spAutoFit/>
          </a:bodyPr>
          <a:lstStyle/>
          <a:p>
            <a:pPr marL="285750" indent="-285750">
              <a:buFont typeface="Arial" panose="020B0604020202020204" pitchFamily="34" charset="0"/>
              <a:buChar char="•"/>
            </a:pPr>
            <a:r>
              <a:rPr lang="en-US" dirty="0"/>
              <a:t>Program are stored in the code section.</a:t>
            </a:r>
          </a:p>
          <a:p>
            <a:pPr marL="285750" indent="-285750">
              <a:buFont typeface="Arial" panose="020B0604020202020204" pitchFamily="34" charset="0"/>
              <a:buChar char="•"/>
            </a:pPr>
            <a:r>
              <a:rPr lang="en-US" dirty="0"/>
              <a:t>Constants/literals are in Read-Only section following the code.</a:t>
            </a:r>
          </a:p>
          <a:p>
            <a:pPr marL="285750" indent="-285750">
              <a:buFont typeface="Arial" panose="020B0604020202020204" pitchFamily="34" charset="0"/>
              <a:buChar char="•"/>
            </a:pPr>
            <a:r>
              <a:rPr lang="en-US" dirty="0"/>
              <a:t>Global initialized variables are in Read-Write section.</a:t>
            </a:r>
          </a:p>
          <a:p>
            <a:pPr marL="285750" indent="-285750">
              <a:buFont typeface="Arial" panose="020B0604020202020204" pitchFamily="34" charset="0"/>
              <a:buChar char="•"/>
            </a:pPr>
            <a:r>
              <a:rPr lang="en-US" dirty="0"/>
              <a:t>Global uninitialized variables are in Zero-Initialized section.</a:t>
            </a:r>
          </a:p>
          <a:p>
            <a:pPr marL="285750" indent="-285750">
              <a:buFont typeface="Arial" panose="020B0604020202020204" pitchFamily="34" charset="0"/>
              <a:buChar char="•"/>
            </a:pPr>
            <a:r>
              <a:rPr lang="en-US" dirty="0"/>
              <a:t>Some variables are stored in processor’s registers for performance.</a:t>
            </a:r>
          </a:p>
        </p:txBody>
      </p:sp>
    </p:spTree>
    <p:custDataLst>
      <p:tags r:id="rId1"/>
    </p:custDataLst>
    <p:extLst>
      <p:ext uri="{BB962C8B-B14F-4D97-AF65-F5344CB8AC3E}">
        <p14:creationId xmlns:p14="http://schemas.microsoft.com/office/powerpoint/2010/main" val="309242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p:cNvSpPr txBox="1"/>
          <p:nvPr/>
        </p:nvSpPr>
        <p:spPr>
          <a:xfrm>
            <a:off x="254147" y="1427695"/>
            <a:ext cx="4336444" cy="4031873"/>
          </a:xfrm>
          <a:prstGeom prst="rect">
            <a:avLst/>
          </a:prstGeom>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0000FF"/>
                </a:solidFill>
                <a:latin typeface="Consolas" panose="020B0609020204030204" pitchFamily="49" charset="0"/>
              </a:rPr>
              <a:t>a</a:t>
            </a:r>
            <a:r>
              <a:rPr lang="en-US" sz="1600" dirty="0">
                <a:latin typeface="Consolas" panose="020B0609020204030204" pitchFamily="49" charset="0"/>
              </a:rPr>
              <a:t>, </a:t>
            </a:r>
            <a:r>
              <a:rPr lang="en-US" sz="1600" dirty="0">
                <a:solidFill>
                  <a:srgbClr val="0000FF"/>
                </a:solidFill>
                <a:latin typeface="Consolas" panose="020B0609020204030204" pitchFamily="49" charset="0"/>
              </a:rPr>
              <a:t>b</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c = 271, d = 275</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f[] = {10,11,12,13}</a:t>
            </a:r>
          </a:p>
          <a:p>
            <a:r>
              <a:rPr lang="en-US" sz="1600" dirty="0" err="1">
                <a:latin typeface="Consolas" panose="020B0609020204030204" pitchFamily="49" charset="0"/>
              </a:rPr>
              <a:t>int</a:t>
            </a:r>
            <a:r>
              <a:rPr lang="en-US" sz="1600" dirty="0">
                <a:latin typeface="Consolas" panose="020B0609020204030204" pitchFamily="49" charset="0"/>
              </a:rPr>
              <a:t> main (void){</a:t>
            </a:r>
          </a:p>
          <a:p>
            <a:r>
              <a:rPr lang="en-US" sz="1600" dirty="0">
                <a:latin typeface="Consolas" panose="020B0609020204030204" pitchFamily="49" charset="0"/>
              </a:rPr>
              <a:t>  uint32_t </a:t>
            </a:r>
            <a:r>
              <a:rPr lang="en-US" sz="1600" dirty="0" err="1">
                <a:solidFill>
                  <a:srgbClr val="00CC00"/>
                </a:solidFill>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char str1[32];</a:t>
            </a:r>
          </a:p>
          <a:p>
            <a:r>
              <a:rPr lang="en-US" sz="1600" dirty="0">
                <a:latin typeface="Consolas" panose="020B0609020204030204" pitchFamily="49" charset="0"/>
              </a:rPr>
              <a:t>  char str2[] = "</a:t>
            </a:r>
            <a:r>
              <a:rPr lang="en-US" sz="1600" dirty="0">
                <a:solidFill>
                  <a:srgbClr val="FF00FF"/>
                </a:solidFill>
                <a:latin typeface="Consolas" panose="020B0609020204030204" pitchFamily="49" charset="0"/>
              </a:rPr>
              <a:t>0123456789</a:t>
            </a:r>
            <a:r>
              <a:rPr lang="en-US" sz="1600" dirty="0">
                <a:latin typeface="Consolas" panose="020B0609020204030204" pitchFamily="49" charset="0"/>
              </a:rPr>
              <a:t>";</a:t>
            </a:r>
          </a:p>
          <a:p>
            <a:r>
              <a:rPr lang="en-US" sz="1600" dirty="0">
                <a:latin typeface="Consolas" panose="020B0609020204030204" pitchFamily="49" charset="0"/>
              </a:rPr>
              <a:t>  int32_t </a:t>
            </a:r>
            <a:r>
              <a:rPr lang="en-US" sz="1600" dirty="0">
                <a:solidFill>
                  <a:srgbClr val="00CC00"/>
                </a:solidFill>
                <a:latin typeface="Consolas" panose="020B0609020204030204" pitchFamily="49" charset="0"/>
              </a:rPr>
              <a:t>sum</a:t>
            </a:r>
            <a:r>
              <a:rPr lang="en-US" sz="1600" dirty="0">
                <a:latin typeface="Consolas" panose="020B0609020204030204" pitchFamily="49" charset="0"/>
              </a:rPr>
              <a:t> = -1;</a:t>
            </a:r>
          </a:p>
          <a:p>
            <a:r>
              <a:rPr lang="en-US" sz="1600" dirty="0">
                <a:latin typeface="Consolas" panose="020B0609020204030204" pitchFamily="49" charset="0"/>
              </a:rPr>
              <a:t>  uint32_t array[] = {</a:t>
            </a:r>
            <a:r>
              <a:rPr lang="en-US" sz="1600" dirty="0">
                <a:solidFill>
                  <a:srgbClr val="FF00FF"/>
                </a:solidFill>
                <a:latin typeface="Consolas" panose="020B0609020204030204" pitchFamily="49" charset="0"/>
              </a:rPr>
              <a:t>1, 2, 3, 4, 5</a:t>
            </a:r>
            <a:r>
              <a:rPr lang="en-US" sz="1600" dirty="0">
                <a:latin typeface="Consolas" panose="020B0609020204030204" pitchFamily="49" charset="0"/>
              </a:rPr>
              <a:t>};</a:t>
            </a:r>
          </a:p>
          <a:p>
            <a:r>
              <a:rPr lang="en-US" sz="1600" dirty="0">
                <a:latin typeface="Consolas" panose="020B0609020204030204" pitchFamily="49" charset="0"/>
              </a:rPr>
              <a:t>  uint32_t </a:t>
            </a:r>
            <a:r>
              <a:rPr lang="en-US" sz="1600" dirty="0">
                <a:solidFill>
                  <a:srgbClr val="00CC00"/>
                </a:solidFill>
                <a:latin typeface="Consolas" panose="020B0609020204030204" pitchFamily="49" charset="0"/>
              </a:rPr>
              <a:t>e</a:t>
            </a:r>
            <a:r>
              <a:rPr lang="en-US" sz="1600" dirty="0">
                <a:latin typeface="Consolas" panose="020B0609020204030204" pitchFamily="49" charset="0"/>
              </a:rPr>
              <a:t> = 12345;</a:t>
            </a:r>
          </a:p>
          <a:p>
            <a:r>
              <a:rPr lang="en-US" sz="1600" dirty="0">
                <a:latin typeface="Consolas" panose="020B0609020204030204" pitchFamily="49" charset="0"/>
              </a:rPr>
              <a:t>  for (</a:t>
            </a:r>
            <a:r>
              <a:rPr lang="en-US" sz="1600" dirty="0" err="1">
                <a:latin typeface="Consolas" panose="020B0609020204030204" pitchFamily="49" charset="0"/>
              </a:rPr>
              <a:t>i</a:t>
            </a:r>
            <a:r>
              <a:rPr lang="en-US" sz="1600" dirty="0">
                <a:latin typeface="Consolas" panose="020B0609020204030204" pitchFamily="49" charset="0"/>
              </a:rPr>
              <a:t> = 0; </a:t>
            </a:r>
            <a:r>
              <a:rPr lang="en-US" sz="1600" dirty="0" err="1">
                <a:latin typeface="Consolas" panose="020B0609020204030204" pitchFamily="49" charset="0"/>
              </a:rPr>
              <a:t>i</a:t>
            </a:r>
            <a:r>
              <a:rPr lang="en-US" sz="1600" dirty="0">
                <a:latin typeface="Consolas" panose="020B0609020204030204" pitchFamily="49" charset="0"/>
              </a:rPr>
              <a:t> &lt; 5; </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sum += array[</a:t>
            </a:r>
            <a:r>
              <a:rPr lang="en-US" sz="1600" dirty="0" err="1">
                <a:latin typeface="Consolas" panose="020B0609020204030204" pitchFamily="49" charset="0"/>
              </a:rPr>
              <a:t>i</a:t>
            </a:r>
            <a:r>
              <a:rPr lang="en-US" sz="1600" dirty="0">
                <a:latin typeface="Consolas" panose="020B0609020204030204" pitchFamily="49" charset="0"/>
              </a:rPr>
              <a:t>]*2 + f[</a:t>
            </a:r>
            <a:r>
              <a:rPr lang="en-US" sz="1600" dirty="0" err="1">
                <a:latin typeface="Consolas" panose="020B0609020204030204" pitchFamily="49" charset="0"/>
              </a:rPr>
              <a:t>i</a:t>
            </a:r>
            <a:r>
              <a:rPr lang="en-US" sz="1600" dirty="0">
                <a:latin typeface="Consolas" panose="020B0609020204030204" pitchFamily="49" charset="0"/>
              </a:rPr>
              <a:t>] + e;</a:t>
            </a:r>
          </a:p>
          <a:p>
            <a:r>
              <a:rPr lang="en-US" sz="1600" dirty="0">
                <a:latin typeface="Consolas" panose="020B0609020204030204" pitchFamily="49" charset="0"/>
              </a:rPr>
              <a:t>     str2[</a:t>
            </a:r>
            <a:r>
              <a:rPr lang="en-US" sz="1600" dirty="0" err="1">
                <a:latin typeface="Consolas" panose="020B0609020204030204" pitchFamily="49" charset="0"/>
              </a:rPr>
              <a:t>i</a:t>
            </a:r>
            <a:r>
              <a:rPr lang="en-US" sz="1600" dirty="0">
                <a:latin typeface="Consolas" panose="020B0609020204030204" pitchFamily="49" charset="0"/>
              </a:rPr>
              <a:t>] = str1[</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a:t>
            </a:r>
          </a:p>
          <a:p>
            <a:r>
              <a:rPr lang="en-US" sz="1600" dirty="0">
                <a:latin typeface="Consolas" panose="020B0609020204030204" pitchFamily="49" charset="0"/>
              </a:rPr>
              <a:t>  while(1);</a:t>
            </a:r>
          </a:p>
          <a:p>
            <a:r>
              <a:rPr lang="en-US" sz="1600" dirty="0">
                <a:latin typeface="Consolas" panose="020B0609020204030204" pitchFamily="49" charset="0"/>
              </a:rPr>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Execution Image</a:t>
            </a:r>
          </a:p>
        </p:txBody>
      </p:sp>
      <p:grpSp>
        <p:nvGrpSpPr>
          <p:cNvPr id="76" name="Group 75">
            <a:extLst>
              <a:ext uri="{FF2B5EF4-FFF2-40B4-BE49-F238E27FC236}">
                <a16:creationId xmlns:a16="http://schemas.microsoft.com/office/drawing/2014/main" id="{7B752996-CE5C-8E43-A264-DF6AC42C706E}"/>
              </a:ext>
            </a:extLst>
          </p:cNvPr>
          <p:cNvGrpSpPr/>
          <p:nvPr/>
        </p:nvGrpSpPr>
        <p:grpSpPr>
          <a:xfrm>
            <a:off x="5490533" y="735722"/>
            <a:ext cx="2891768" cy="5556281"/>
            <a:chOff x="8583161" y="105649"/>
            <a:chExt cx="2891768" cy="5556281"/>
          </a:xfrm>
        </p:grpSpPr>
        <p:sp>
          <p:nvSpPr>
            <p:cNvPr id="66" name="Rectangle 65">
              <a:extLst>
                <a:ext uri="{FF2B5EF4-FFF2-40B4-BE49-F238E27FC236}">
                  <a16:creationId xmlns:a16="http://schemas.microsoft.com/office/drawing/2014/main" id="{2B154137-F83D-AD47-A015-80AF9F2B51C2}"/>
                </a:ext>
              </a:extLst>
            </p:cNvPr>
            <p:cNvSpPr/>
            <p:nvPr/>
          </p:nvSpPr>
          <p:spPr>
            <a:xfrm>
              <a:off x="8583161" y="381000"/>
              <a:ext cx="2136648" cy="493134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a:extLst>
                <a:ext uri="{FF2B5EF4-FFF2-40B4-BE49-F238E27FC236}">
                  <a16:creationId xmlns:a16="http://schemas.microsoft.com/office/drawing/2014/main" id="{E1BB5456-BE31-104A-92C9-178D72897E52}"/>
                </a:ext>
              </a:extLst>
            </p:cNvPr>
            <p:cNvSpPr txBox="1"/>
            <p:nvPr/>
          </p:nvSpPr>
          <p:spPr>
            <a:xfrm>
              <a:off x="10296401" y="5311041"/>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73" name="TextBox 72">
              <a:extLst>
                <a:ext uri="{FF2B5EF4-FFF2-40B4-BE49-F238E27FC236}">
                  <a16:creationId xmlns:a16="http://schemas.microsoft.com/office/drawing/2014/main" id="{B9090C6B-51D1-224F-92E2-602D4A1AFE5B}"/>
                </a:ext>
              </a:extLst>
            </p:cNvPr>
            <p:cNvSpPr txBox="1"/>
            <p:nvPr/>
          </p:nvSpPr>
          <p:spPr>
            <a:xfrm>
              <a:off x="10108511" y="105649"/>
              <a:ext cx="1178528" cy="307777"/>
            </a:xfrm>
            <a:prstGeom prst="rect">
              <a:avLst/>
            </a:prstGeom>
            <a:noFill/>
          </p:spPr>
          <p:txBody>
            <a:bodyPr wrap="none" rtlCol="0">
              <a:spAutoFit/>
            </a:bodyPr>
            <a:lstStyle/>
            <a:p>
              <a:r>
                <a:rPr lang="en-US" sz="1400" dirty="0">
                  <a:latin typeface="Consolas" panose="020B0609020204030204" pitchFamily="49" charset="0"/>
                </a:rPr>
                <a:t>0x080XFFFF</a:t>
              </a:r>
            </a:p>
          </p:txBody>
        </p:sp>
        <p:sp>
          <p:nvSpPr>
            <p:cNvPr id="74" name="Rectangle 73">
              <a:extLst>
                <a:ext uri="{FF2B5EF4-FFF2-40B4-BE49-F238E27FC236}">
                  <a16:creationId xmlns:a16="http://schemas.microsoft.com/office/drawing/2014/main" id="{78227E72-0AD2-9844-88F3-0704D78E67F0}"/>
                </a:ext>
              </a:extLst>
            </p:cNvPr>
            <p:cNvSpPr/>
            <p:nvPr/>
          </p:nvSpPr>
          <p:spPr>
            <a:xfrm>
              <a:off x="8961103" y="5292598"/>
              <a:ext cx="1426994" cy="369332"/>
            </a:xfrm>
            <a:prstGeom prst="rect">
              <a:avLst/>
            </a:prstGeom>
          </p:spPr>
          <p:txBody>
            <a:bodyPr wrap="none">
              <a:spAutoFit/>
            </a:bodyPr>
            <a:lstStyle/>
            <a:p>
              <a:pPr algn="ctr"/>
              <a:r>
                <a:rPr lang="en-US" dirty="0"/>
                <a:t>Internal Flash</a:t>
              </a:r>
            </a:p>
          </p:txBody>
        </p:sp>
      </p:grpSp>
      <p:sp>
        <p:nvSpPr>
          <p:cNvPr id="77" name="Rectangle 76">
            <a:extLst>
              <a:ext uri="{FF2B5EF4-FFF2-40B4-BE49-F238E27FC236}">
                <a16:creationId xmlns:a16="http://schemas.microsoft.com/office/drawing/2014/main" id="{CF4C1928-BB43-D94F-8C86-C0BFDDC214D2}"/>
              </a:ext>
            </a:extLst>
          </p:cNvPr>
          <p:cNvSpPr/>
          <p:nvPr/>
        </p:nvSpPr>
        <p:spPr>
          <a:xfrm>
            <a:off x="5490533" y="5625662"/>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MSP</a:t>
            </a:r>
          </a:p>
        </p:txBody>
      </p:sp>
      <p:sp>
        <p:nvSpPr>
          <p:cNvPr id="78" name="Rectangle 77">
            <a:extLst>
              <a:ext uri="{FF2B5EF4-FFF2-40B4-BE49-F238E27FC236}">
                <a16:creationId xmlns:a16="http://schemas.microsoft.com/office/drawing/2014/main" id="{6C39EE8C-0DAB-0F42-9513-05DD896784B2}"/>
              </a:ext>
            </a:extLst>
          </p:cNvPr>
          <p:cNvSpPr/>
          <p:nvPr/>
        </p:nvSpPr>
        <p:spPr>
          <a:xfrm>
            <a:off x="5490533" y="5286459"/>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Reset_Handler</a:t>
            </a:r>
            <a:endParaRPr lang="en-US" dirty="0"/>
          </a:p>
        </p:txBody>
      </p:sp>
      <p:sp>
        <p:nvSpPr>
          <p:cNvPr id="79" name="Rectangle 78">
            <a:extLst>
              <a:ext uri="{FF2B5EF4-FFF2-40B4-BE49-F238E27FC236}">
                <a16:creationId xmlns:a16="http://schemas.microsoft.com/office/drawing/2014/main" id="{08400A38-DDB1-EB41-B374-874845B45B1E}"/>
              </a:ext>
            </a:extLst>
          </p:cNvPr>
          <p:cNvSpPr/>
          <p:nvPr/>
        </p:nvSpPr>
        <p:spPr>
          <a:xfrm>
            <a:off x="5490533" y="4954807"/>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NMI_Handler</a:t>
            </a:r>
            <a:endParaRPr lang="en-US" dirty="0"/>
          </a:p>
        </p:txBody>
      </p:sp>
      <p:sp>
        <p:nvSpPr>
          <p:cNvPr id="80" name="Rectangle 79">
            <a:extLst>
              <a:ext uri="{FF2B5EF4-FFF2-40B4-BE49-F238E27FC236}">
                <a16:creationId xmlns:a16="http://schemas.microsoft.com/office/drawing/2014/main" id="{FC409444-58C1-6849-9EE5-77C68127A060}"/>
              </a:ext>
            </a:extLst>
          </p:cNvPr>
          <p:cNvSpPr/>
          <p:nvPr/>
        </p:nvSpPr>
        <p:spPr>
          <a:xfrm>
            <a:off x="5486122" y="3999383"/>
            <a:ext cx="2136648" cy="96297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1" name="Rectangle 80">
            <a:extLst>
              <a:ext uri="{FF2B5EF4-FFF2-40B4-BE49-F238E27FC236}">
                <a16:creationId xmlns:a16="http://schemas.microsoft.com/office/drawing/2014/main" id="{3C9EEEEE-A785-D441-BDD2-0C5725208D7A}"/>
              </a:ext>
            </a:extLst>
          </p:cNvPr>
          <p:cNvSpPr/>
          <p:nvPr/>
        </p:nvSpPr>
        <p:spPr>
          <a:xfrm>
            <a:off x="5487485" y="2757497"/>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82" name="Rectangle 81">
            <a:extLst>
              <a:ext uri="{FF2B5EF4-FFF2-40B4-BE49-F238E27FC236}">
                <a16:creationId xmlns:a16="http://schemas.microsoft.com/office/drawing/2014/main" id="{173A4B06-9945-0846-9412-67D9160CD8DE}"/>
              </a:ext>
            </a:extLst>
          </p:cNvPr>
          <p:cNvSpPr/>
          <p:nvPr/>
        </p:nvSpPr>
        <p:spPr>
          <a:xfrm>
            <a:off x="5492746" y="1884611"/>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a:t>
            </a:r>
          </a:p>
        </p:txBody>
      </p:sp>
      <p:sp>
        <p:nvSpPr>
          <p:cNvPr id="83" name="Rectangle 82">
            <a:extLst>
              <a:ext uri="{FF2B5EF4-FFF2-40B4-BE49-F238E27FC236}">
                <a16:creationId xmlns:a16="http://schemas.microsoft.com/office/drawing/2014/main" id="{8D040406-3CA9-5B4A-9838-90CEDE0A00DE}"/>
              </a:ext>
            </a:extLst>
          </p:cNvPr>
          <p:cNvSpPr/>
          <p:nvPr/>
        </p:nvSpPr>
        <p:spPr>
          <a:xfrm>
            <a:off x="5489698" y="1474166"/>
            <a:ext cx="2136648" cy="41132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4" name="Right Brace 83">
            <a:extLst>
              <a:ext uri="{FF2B5EF4-FFF2-40B4-BE49-F238E27FC236}">
                <a16:creationId xmlns:a16="http://schemas.microsoft.com/office/drawing/2014/main" id="{8D4DA84B-1F12-6F40-9271-A2516E658BA9}"/>
              </a:ext>
            </a:extLst>
          </p:cNvPr>
          <p:cNvSpPr/>
          <p:nvPr/>
        </p:nvSpPr>
        <p:spPr>
          <a:xfrm>
            <a:off x="7657006" y="3999382"/>
            <a:ext cx="223166" cy="159871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TextBox 84">
            <a:extLst>
              <a:ext uri="{FF2B5EF4-FFF2-40B4-BE49-F238E27FC236}">
                <a16:creationId xmlns:a16="http://schemas.microsoft.com/office/drawing/2014/main" id="{3BA56768-DA53-AE4C-8C36-546ED04D5D58}"/>
              </a:ext>
            </a:extLst>
          </p:cNvPr>
          <p:cNvSpPr txBox="1"/>
          <p:nvPr/>
        </p:nvSpPr>
        <p:spPr>
          <a:xfrm>
            <a:off x="7909997" y="4467291"/>
            <a:ext cx="1050224" cy="646331"/>
          </a:xfrm>
          <a:prstGeom prst="rect">
            <a:avLst/>
          </a:prstGeom>
          <a:noFill/>
        </p:spPr>
        <p:txBody>
          <a:bodyPr wrap="square" rtlCol="0">
            <a:spAutoFit/>
          </a:bodyPr>
          <a:lstStyle/>
          <a:p>
            <a:r>
              <a:rPr lang="en-US" dirty="0">
                <a:solidFill>
                  <a:srgbClr val="FF0000"/>
                </a:solidFill>
              </a:rPr>
              <a:t>Interrupt vector</a:t>
            </a:r>
          </a:p>
        </p:txBody>
      </p:sp>
      <p:sp>
        <p:nvSpPr>
          <p:cNvPr id="75" name="Rectangle 74">
            <a:extLst>
              <a:ext uri="{FF2B5EF4-FFF2-40B4-BE49-F238E27FC236}">
                <a16:creationId xmlns:a16="http://schemas.microsoft.com/office/drawing/2014/main" id="{AD9EDF93-E730-D446-A947-2050AA05B7ED}"/>
              </a:ext>
            </a:extLst>
          </p:cNvPr>
          <p:cNvSpPr/>
          <p:nvPr/>
        </p:nvSpPr>
        <p:spPr>
          <a:xfrm>
            <a:off x="9929549" y="1005225"/>
            <a:ext cx="2136648" cy="487433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DE99506-ECA9-BD48-8217-DAC3ACA93211}"/>
              </a:ext>
            </a:extLst>
          </p:cNvPr>
          <p:cNvSpPr/>
          <p:nvPr/>
        </p:nvSpPr>
        <p:spPr>
          <a:xfrm>
            <a:off x="10225867" y="5879559"/>
            <a:ext cx="1544012" cy="369332"/>
          </a:xfrm>
          <a:prstGeom prst="rect">
            <a:avLst/>
          </a:prstGeom>
        </p:spPr>
        <p:txBody>
          <a:bodyPr wrap="none">
            <a:spAutoFit/>
          </a:bodyPr>
          <a:lstStyle/>
          <a:p>
            <a:pPr algn="ctr"/>
            <a:r>
              <a:rPr lang="en-US" dirty="0"/>
              <a:t>Internal SRAM</a:t>
            </a:r>
          </a:p>
        </p:txBody>
      </p:sp>
      <p:sp>
        <p:nvSpPr>
          <p:cNvPr id="86" name="TextBox 85">
            <a:extLst>
              <a:ext uri="{FF2B5EF4-FFF2-40B4-BE49-F238E27FC236}">
                <a16:creationId xmlns:a16="http://schemas.microsoft.com/office/drawing/2014/main" id="{D2990EA3-262F-604D-BC26-DE17845A71B1}"/>
              </a:ext>
            </a:extLst>
          </p:cNvPr>
          <p:cNvSpPr txBox="1"/>
          <p:nvPr/>
        </p:nvSpPr>
        <p:spPr>
          <a:xfrm>
            <a:off x="9203650" y="5902673"/>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87" name="TextBox 86">
            <a:extLst>
              <a:ext uri="{FF2B5EF4-FFF2-40B4-BE49-F238E27FC236}">
                <a16:creationId xmlns:a16="http://schemas.microsoft.com/office/drawing/2014/main" id="{5C3D76A5-98A5-F846-9D6D-BA6AA3035106}"/>
              </a:ext>
            </a:extLst>
          </p:cNvPr>
          <p:cNvSpPr txBox="1"/>
          <p:nvPr/>
        </p:nvSpPr>
        <p:spPr>
          <a:xfrm>
            <a:off x="9203650" y="774113"/>
            <a:ext cx="1178528" cy="307777"/>
          </a:xfrm>
          <a:prstGeom prst="rect">
            <a:avLst/>
          </a:prstGeom>
          <a:noFill/>
        </p:spPr>
        <p:txBody>
          <a:bodyPr wrap="none" rtlCol="0">
            <a:spAutoFit/>
          </a:bodyPr>
          <a:lstStyle/>
          <a:p>
            <a:r>
              <a:rPr lang="en-US" sz="1400" dirty="0">
                <a:latin typeface="Consolas" panose="020B0609020204030204" pitchFamily="49" charset="0"/>
              </a:rPr>
              <a:t>0x3FFFFFFF</a:t>
            </a:r>
          </a:p>
        </p:txBody>
      </p:sp>
      <p:sp>
        <p:nvSpPr>
          <p:cNvPr id="88" name="Rectangle 87">
            <a:extLst>
              <a:ext uri="{FF2B5EF4-FFF2-40B4-BE49-F238E27FC236}">
                <a16:creationId xmlns:a16="http://schemas.microsoft.com/office/drawing/2014/main" id="{6A6FFAE0-5768-3C46-9F21-7F0CA60FE450}"/>
              </a:ext>
            </a:extLst>
          </p:cNvPr>
          <p:cNvSpPr/>
          <p:nvPr/>
        </p:nvSpPr>
        <p:spPr>
          <a:xfrm>
            <a:off x="9947849" y="5468600"/>
            <a:ext cx="2136648" cy="4184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9" name="Rectangle 88">
            <a:extLst>
              <a:ext uri="{FF2B5EF4-FFF2-40B4-BE49-F238E27FC236}">
                <a16:creationId xmlns:a16="http://schemas.microsoft.com/office/drawing/2014/main" id="{F54EA257-8285-924C-9009-4A0E133FAAF4}"/>
              </a:ext>
            </a:extLst>
          </p:cNvPr>
          <p:cNvSpPr/>
          <p:nvPr/>
        </p:nvSpPr>
        <p:spPr>
          <a:xfrm>
            <a:off x="9947849" y="4408393"/>
            <a:ext cx="2136648" cy="64590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Heap</a:t>
            </a:r>
          </a:p>
        </p:txBody>
      </p:sp>
      <p:sp>
        <p:nvSpPr>
          <p:cNvPr id="90" name="Rectangle 89">
            <a:extLst>
              <a:ext uri="{FF2B5EF4-FFF2-40B4-BE49-F238E27FC236}">
                <a16:creationId xmlns:a16="http://schemas.microsoft.com/office/drawing/2014/main" id="{91A27178-6DD3-3043-B737-7E91D0EFFFF6}"/>
              </a:ext>
            </a:extLst>
          </p:cNvPr>
          <p:cNvSpPr/>
          <p:nvPr/>
        </p:nvSpPr>
        <p:spPr>
          <a:xfrm>
            <a:off x="9938699" y="1788233"/>
            <a:ext cx="2136648" cy="64590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cxnSp>
        <p:nvCxnSpPr>
          <p:cNvPr id="52" name="Straight Arrow Connector 51">
            <a:extLst>
              <a:ext uri="{FF2B5EF4-FFF2-40B4-BE49-F238E27FC236}">
                <a16:creationId xmlns:a16="http://schemas.microsoft.com/office/drawing/2014/main" id="{4647C05D-3722-4F43-AFE7-A7378B0CE9D0}"/>
              </a:ext>
            </a:extLst>
          </p:cNvPr>
          <p:cNvCxnSpPr>
            <a:cxnSpLocks/>
          </p:cNvCxnSpPr>
          <p:nvPr/>
        </p:nvCxnSpPr>
        <p:spPr>
          <a:xfrm>
            <a:off x="11016173" y="2441677"/>
            <a:ext cx="0" cy="61994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EF2509D-5D0D-E946-BAC1-4D47E48DE672}"/>
              </a:ext>
            </a:extLst>
          </p:cNvPr>
          <p:cNvCxnSpPr>
            <a:cxnSpLocks/>
          </p:cNvCxnSpPr>
          <p:nvPr/>
        </p:nvCxnSpPr>
        <p:spPr>
          <a:xfrm flipV="1">
            <a:off x="10995847" y="3788450"/>
            <a:ext cx="0" cy="61994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7BC28E9C-C8E2-1B44-B42A-548A286DAEE0}"/>
              </a:ext>
            </a:extLst>
          </p:cNvPr>
          <p:cNvSpPr txBox="1"/>
          <p:nvPr/>
        </p:nvSpPr>
        <p:spPr>
          <a:xfrm>
            <a:off x="8019316" y="3044170"/>
            <a:ext cx="1773598" cy="738664"/>
          </a:xfrm>
          <a:prstGeom prst="rect">
            <a:avLst/>
          </a:prstGeom>
          <a:noFill/>
        </p:spPr>
        <p:txBody>
          <a:bodyPr wrap="square" rtlCol="0">
            <a:spAutoFit/>
          </a:bodyPr>
          <a:lstStyle/>
          <a:p>
            <a:r>
              <a:rPr lang="en-US" sz="1400" b="1" dirty="0" err="1">
                <a:solidFill>
                  <a:srgbClr val="0000FF"/>
                </a:solidFill>
                <a:latin typeface="Consolas" panose="020B0609020204030204" pitchFamily="49" charset="0"/>
              </a:rPr>
              <a:t>Reset_Handler</a:t>
            </a:r>
            <a:r>
              <a:rPr lang="en-US" sz="1400" b="1" dirty="0">
                <a:solidFill>
                  <a:srgbClr val="0000FF"/>
                </a:solidFill>
                <a:latin typeface="Consolas" panose="020B0609020204030204" pitchFamily="49" charset="0"/>
              </a:rPr>
              <a:t>() copies data from Flash to SRAM.</a:t>
            </a:r>
          </a:p>
        </p:txBody>
      </p:sp>
      <p:sp>
        <p:nvSpPr>
          <p:cNvPr id="67" name="TextBox 66">
            <a:extLst>
              <a:ext uri="{FF2B5EF4-FFF2-40B4-BE49-F238E27FC236}">
                <a16:creationId xmlns:a16="http://schemas.microsoft.com/office/drawing/2014/main" id="{CEA875CE-A323-8B45-B5D0-81315EFC8E28}"/>
              </a:ext>
            </a:extLst>
          </p:cNvPr>
          <p:cNvSpPr txBox="1"/>
          <p:nvPr/>
        </p:nvSpPr>
        <p:spPr>
          <a:xfrm>
            <a:off x="10417996" y="3073059"/>
            <a:ext cx="1196353" cy="369332"/>
          </a:xfrm>
          <a:prstGeom prst="rect">
            <a:avLst/>
          </a:prstGeom>
          <a:noFill/>
        </p:spPr>
        <p:txBody>
          <a:bodyPr wrap="none" rtlCol="0">
            <a:spAutoFit/>
          </a:bodyPr>
          <a:lstStyle/>
          <a:p>
            <a:r>
              <a:rPr lang="en-US" dirty="0"/>
              <a:t>Free Space</a:t>
            </a:r>
          </a:p>
        </p:txBody>
      </p:sp>
      <p:sp>
        <p:nvSpPr>
          <p:cNvPr id="96" name="Rectangle 95">
            <a:extLst>
              <a:ext uri="{FF2B5EF4-FFF2-40B4-BE49-F238E27FC236}">
                <a16:creationId xmlns:a16="http://schemas.microsoft.com/office/drawing/2014/main" id="{669EAE24-516E-9149-A52A-211F704E326E}"/>
              </a:ext>
            </a:extLst>
          </p:cNvPr>
          <p:cNvSpPr/>
          <p:nvPr/>
        </p:nvSpPr>
        <p:spPr>
          <a:xfrm>
            <a:off x="9947849" y="5061837"/>
            <a:ext cx="2136648" cy="40676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cxnSp>
        <p:nvCxnSpPr>
          <p:cNvPr id="94" name="Straight Arrow Connector 93">
            <a:extLst>
              <a:ext uri="{FF2B5EF4-FFF2-40B4-BE49-F238E27FC236}">
                <a16:creationId xmlns:a16="http://schemas.microsoft.com/office/drawing/2014/main" id="{0A79856A-982A-1B4F-9DEA-EFB8DD5EEB1F}"/>
              </a:ext>
            </a:extLst>
          </p:cNvPr>
          <p:cNvCxnSpPr>
            <a:cxnSpLocks/>
          </p:cNvCxnSpPr>
          <p:nvPr/>
        </p:nvCxnSpPr>
        <p:spPr>
          <a:xfrm>
            <a:off x="7467600" y="1715781"/>
            <a:ext cx="2589224" cy="396206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C928B67C-B008-794E-8882-F5618BB12567}"/>
              </a:ext>
            </a:extLst>
          </p:cNvPr>
          <p:cNvSpPr/>
          <p:nvPr/>
        </p:nvSpPr>
        <p:spPr>
          <a:xfrm>
            <a:off x="5488320" y="1017177"/>
            <a:ext cx="2136648" cy="45654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cxnSp>
        <p:nvCxnSpPr>
          <p:cNvPr id="98" name="Straight Arrow Connector 97">
            <a:extLst>
              <a:ext uri="{FF2B5EF4-FFF2-40B4-BE49-F238E27FC236}">
                <a16:creationId xmlns:a16="http://schemas.microsoft.com/office/drawing/2014/main" id="{7E0E585A-BCA2-F045-9E3D-B33C4F843864}"/>
              </a:ext>
            </a:extLst>
          </p:cNvPr>
          <p:cNvCxnSpPr>
            <a:cxnSpLocks/>
          </p:cNvCxnSpPr>
          <p:nvPr/>
        </p:nvCxnSpPr>
        <p:spPr>
          <a:xfrm>
            <a:off x="7467600" y="1232110"/>
            <a:ext cx="2607524" cy="407629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762698" y="1497545"/>
            <a:ext cx="612045" cy="218236"/>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9" name="Straight Arrow Connector 8"/>
          <p:cNvCxnSpPr>
            <a:stCxn id="37" idx="3"/>
          </p:cNvCxnSpPr>
          <p:nvPr/>
        </p:nvCxnSpPr>
        <p:spPr>
          <a:xfrm flipV="1">
            <a:off x="1374743" y="1210256"/>
            <a:ext cx="4332611" cy="396407"/>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62698" y="1763984"/>
            <a:ext cx="2166485" cy="455463"/>
          </a:xfrm>
          <a:prstGeom prst="rect">
            <a:avLst/>
          </a:prstGeom>
          <a:noFill/>
          <a:ln w="19050">
            <a:solidFill>
              <a:srgbClr val="33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3" name="Straight Arrow Connector 42"/>
          <p:cNvCxnSpPr/>
          <p:nvPr/>
        </p:nvCxnSpPr>
        <p:spPr>
          <a:xfrm flipV="1">
            <a:off x="2938333" y="1552960"/>
            <a:ext cx="2769021" cy="331651"/>
          </a:xfrm>
          <a:prstGeom prst="straightConnector1">
            <a:avLst/>
          </a:prstGeom>
          <a:ln w="19050">
            <a:solidFill>
              <a:srgbClr val="33CCFF"/>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2095987" y="2964139"/>
            <a:ext cx="1400426" cy="187662"/>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7" name="Straight Arrow Connector 46"/>
          <p:cNvCxnSpPr/>
          <p:nvPr/>
        </p:nvCxnSpPr>
        <p:spPr>
          <a:xfrm flipV="1">
            <a:off x="3496413" y="2127047"/>
            <a:ext cx="2188193" cy="892277"/>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4114800" y="2326222"/>
            <a:ext cx="1569806" cy="1143578"/>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667000" y="3460052"/>
            <a:ext cx="1676400" cy="216388"/>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Rectangle 53"/>
          <p:cNvSpPr/>
          <p:nvPr/>
        </p:nvSpPr>
        <p:spPr>
          <a:xfrm>
            <a:off x="1045964" y="2734739"/>
            <a:ext cx="992764" cy="458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0" name="Rectangle 59"/>
          <p:cNvSpPr/>
          <p:nvPr/>
        </p:nvSpPr>
        <p:spPr>
          <a:xfrm>
            <a:off x="1517864" y="3442391"/>
            <a:ext cx="886205" cy="25592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0000"/>
              </a:solidFill>
            </a:endParaRPr>
          </a:p>
        </p:txBody>
      </p:sp>
      <p:sp>
        <p:nvSpPr>
          <p:cNvPr id="64" name="Rectangle 63"/>
          <p:cNvSpPr/>
          <p:nvPr/>
        </p:nvSpPr>
        <p:spPr>
          <a:xfrm>
            <a:off x="1474594" y="2485887"/>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Rectangle 64"/>
          <p:cNvSpPr/>
          <p:nvPr/>
        </p:nvSpPr>
        <p:spPr>
          <a:xfrm>
            <a:off x="1452371" y="3219458"/>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Rectangle 67"/>
          <p:cNvSpPr/>
          <p:nvPr/>
        </p:nvSpPr>
        <p:spPr>
          <a:xfrm>
            <a:off x="1492127" y="3736696"/>
            <a:ext cx="255338" cy="141736"/>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Rectangle 68"/>
          <p:cNvSpPr/>
          <p:nvPr/>
        </p:nvSpPr>
        <p:spPr>
          <a:xfrm>
            <a:off x="1303636" y="5616290"/>
            <a:ext cx="255338"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TextBox 23"/>
          <p:cNvSpPr txBox="1"/>
          <p:nvPr/>
        </p:nvSpPr>
        <p:spPr>
          <a:xfrm>
            <a:off x="1517864" y="5543386"/>
            <a:ext cx="2012410" cy="307777"/>
          </a:xfrm>
          <a:prstGeom prst="rect">
            <a:avLst/>
          </a:prstGeom>
          <a:noFill/>
        </p:spPr>
        <p:txBody>
          <a:bodyPr wrap="none" rtlCol="0">
            <a:spAutoFit/>
          </a:bodyPr>
          <a:lstStyle/>
          <a:p>
            <a:r>
              <a:rPr lang="en-US" sz="1400" dirty="0">
                <a:solidFill>
                  <a:srgbClr val="00CC00"/>
                </a:solidFill>
              </a:rPr>
              <a:t>represented by a register</a:t>
            </a:r>
          </a:p>
        </p:txBody>
      </p:sp>
    </p:spTree>
    <p:custDataLst>
      <p:tags r:id="rId1"/>
    </p:custDataLst>
    <p:extLst>
      <p:ext uri="{BB962C8B-B14F-4D97-AF65-F5344CB8AC3E}">
        <p14:creationId xmlns:p14="http://schemas.microsoft.com/office/powerpoint/2010/main" val="142712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p:cNvSpPr txBox="1"/>
          <p:nvPr/>
        </p:nvSpPr>
        <p:spPr>
          <a:xfrm>
            <a:off x="254147" y="1427695"/>
            <a:ext cx="4336444" cy="4031873"/>
          </a:xfrm>
          <a:prstGeom prst="rect">
            <a:avLst/>
          </a:prstGeom>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0000FF"/>
                </a:solidFill>
                <a:latin typeface="Consolas" panose="020B0609020204030204" pitchFamily="49" charset="0"/>
              </a:rPr>
              <a:t>a</a:t>
            </a:r>
            <a:r>
              <a:rPr lang="en-US" sz="1600" dirty="0">
                <a:latin typeface="Consolas" panose="020B0609020204030204" pitchFamily="49" charset="0"/>
              </a:rPr>
              <a:t>, </a:t>
            </a:r>
            <a:r>
              <a:rPr lang="en-US" sz="1600" dirty="0">
                <a:solidFill>
                  <a:srgbClr val="0000FF"/>
                </a:solidFill>
                <a:latin typeface="Consolas" panose="020B0609020204030204" pitchFamily="49" charset="0"/>
              </a:rPr>
              <a:t>b</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c = 271, d = 275</a:t>
            </a:r>
            <a:r>
              <a:rPr lang="en-US" sz="1600" dirty="0">
                <a:latin typeface="Consolas" panose="020B0609020204030204" pitchFamily="49" charset="0"/>
              </a:rPr>
              <a:t>;</a:t>
            </a:r>
          </a:p>
          <a:p>
            <a:r>
              <a:rPr lang="en-US" sz="1600" dirty="0" err="1">
                <a:latin typeface="Consolas" panose="020B0609020204030204" pitchFamily="49" charset="0"/>
              </a:rPr>
              <a:t>int</a:t>
            </a:r>
            <a:r>
              <a:rPr lang="en-US" sz="1600" dirty="0">
                <a:latin typeface="Consolas" panose="020B0609020204030204" pitchFamily="49" charset="0"/>
              </a:rPr>
              <a:t> </a:t>
            </a:r>
            <a:r>
              <a:rPr lang="en-US" sz="1600" dirty="0">
                <a:solidFill>
                  <a:srgbClr val="33CCFF"/>
                </a:solidFill>
                <a:latin typeface="Consolas" panose="020B0609020204030204" pitchFamily="49" charset="0"/>
              </a:rPr>
              <a:t>f[] = {10,11,12,13}</a:t>
            </a:r>
          </a:p>
          <a:p>
            <a:r>
              <a:rPr lang="en-US" sz="1600" dirty="0" err="1">
                <a:latin typeface="Consolas" panose="020B0609020204030204" pitchFamily="49" charset="0"/>
              </a:rPr>
              <a:t>int</a:t>
            </a:r>
            <a:r>
              <a:rPr lang="en-US" sz="1600" dirty="0">
                <a:latin typeface="Consolas" panose="020B0609020204030204" pitchFamily="49" charset="0"/>
              </a:rPr>
              <a:t> main (void){</a:t>
            </a:r>
          </a:p>
          <a:p>
            <a:r>
              <a:rPr lang="en-US" sz="1600" dirty="0">
                <a:latin typeface="Consolas" panose="020B0609020204030204" pitchFamily="49" charset="0"/>
              </a:rPr>
              <a:t>  uint32_t </a:t>
            </a:r>
            <a:r>
              <a:rPr lang="en-US" sz="1600" dirty="0" err="1">
                <a:solidFill>
                  <a:srgbClr val="00CC00"/>
                </a:solidFill>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char str1[32];</a:t>
            </a:r>
          </a:p>
          <a:p>
            <a:r>
              <a:rPr lang="en-US" sz="1600" dirty="0">
                <a:latin typeface="Consolas" panose="020B0609020204030204" pitchFamily="49" charset="0"/>
              </a:rPr>
              <a:t>  char str2[] = "</a:t>
            </a:r>
            <a:r>
              <a:rPr lang="en-US" sz="1600" dirty="0">
                <a:solidFill>
                  <a:srgbClr val="FF00FF"/>
                </a:solidFill>
                <a:latin typeface="Consolas" panose="020B0609020204030204" pitchFamily="49" charset="0"/>
              </a:rPr>
              <a:t>0123456789</a:t>
            </a:r>
            <a:r>
              <a:rPr lang="en-US" sz="1600" dirty="0">
                <a:latin typeface="Consolas" panose="020B0609020204030204" pitchFamily="49" charset="0"/>
              </a:rPr>
              <a:t>";</a:t>
            </a:r>
          </a:p>
          <a:p>
            <a:r>
              <a:rPr lang="en-US" sz="1600" dirty="0">
                <a:latin typeface="Consolas" panose="020B0609020204030204" pitchFamily="49" charset="0"/>
              </a:rPr>
              <a:t>  int32_t </a:t>
            </a:r>
            <a:r>
              <a:rPr lang="en-US" sz="1600" dirty="0">
                <a:solidFill>
                  <a:srgbClr val="00CC00"/>
                </a:solidFill>
                <a:latin typeface="Consolas" panose="020B0609020204030204" pitchFamily="49" charset="0"/>
              </a:rPr>
              <a:t>sum</a:t>
            </a:r>
            <a:r>
              <a:rPr lang="en-US" sz="1600" dirty="0">
                <a:latin typeface="Consolas" panose="020B0609020204030204" pitchFamily="49" charset="0"/>
              </a:rPr>
              <a:t> = -1;</a:t>
            </a:r>
          </a:p>
          <a:p>
            <a:r>
              <a:rPr lang="en-US" sz="1600" dirty="0">
                <a:latin typeface="Consolas" panose="020B0609020204030204" pitchFamily="49" charset="0"/>
              </a:rPr>
              <a:t>  uint32_t array[] = {</a:t>
            </a:r>
            <a:r>
              <a:rPr lang="en-US" sz="1600" dirty="0">
                <a:solidFill>
                  <a:srgbClr val="FF00FF"/>
                </a:solidFill>
                <a:latin typeface="Consolas" panose="020B0609020204030204" pitchFamily="49" charset="0"/>
              </a:rPr>
              <a:t>1, 2, 3, 4, 5</a:t>
            </a:r>
            <a:r>
              <a:rPr lang="en-US" sz="1600" dirty="0">
                <a:latin typeface="Consolas" panose="020B0609020204030204" pitchFamily="49" charset="0"/>
              </a:rPr>
              <a:t>};</a:t>
            </a:r>
          </a:p>
          <a:p>
            <a:r>
              <a:rPr lang="en-US" sz="1600" dirty="0">
                <a:latin typeface="Consolas" panose="020B0609020204030204" pitchFamily="49" charset="0"/>
              </a:rPr>
              <a:t>  uint32_t </a:t>
            </a:r>
            <a:r>
              <a:rPr lang="en-US" sz="1600" dirty="0">
                <a:solidFill>
                  <a:srgbClr val="00CC00"/>
                </a:solidFill>
                <a:latin typeface="Consolas" panose="020B0609020204030204" pitchFamily="49" charset="0"/>
              </a:rPr>
              <a:t>e</a:t>
            </a:r>
            <a:r>
              <a:rPr lang="en-US" sz="1600" dirty="0">
                <a:latin typeface="Consolas" panose="020B0609020204030204" pitchFamily="49" charset="0"/>
              </a:rPr>
              <a:t> = 12345;</a:t>
            </a:r>
          </a:p>
          <a:p>
            <a:r>
              <a:rPr lang="en-US" sz="1600" dirty="0">
                <a:latin typeface="Consolas" panose="020B0609020204030204" pitchFamily="49" charset="0"/>
              </a:rPr>
              <a:t>  for (</a:t>
            </a:r>
            <a:r>
              <a:rPr lang="en-US" sz="1600" dirty="0" err="1">
                <a:latin typeface="Consolas" panose="020B0609020204030204" pitchFamily="49" charset="0"/>
              </a:rPr>
              <a:t>i</a:t>
            </a:r>
            <a:r>
              <a:rPr lang="en-US" sz="1600" dirty="0">
                <a:latin typeface="Consolas" panose="020B0609020204030204" pitchFamily="49" charset="0"/>
              </a:rPr>
              <a:t> = 0; </a:t>
            </a:r>
            <a:r>
              <a:rPr lang="en-US" sz="1600" dirty="0" err="1">
                <a:latin typeface="Consolas" panose="020B0609020204030204" pitchFamily="49" charset="0"/>
              </a:rPr>
              <a:t>i</a:t>
            </a:r>
            <a:r>
              <a:rPr lang="en-US" sz="1600" dirty="0">
                <a:latin typeface="Consolas" panose="020B0609020204030204" pitchFamily="49" charset="0"/>
              </a:rPr>
              <a:t> &lt; 5; </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sum += array[</a:t>
            </a:r>
            <a:r>
              <a:rPr lang="en-US" sz="1600" dirty="0" err="1">
                <a:latin typeface="Consolas" panose="020B0609020204030204" pitchFamily="49" charset="0"/>
              </a:rPr>
              <a:t>i</a:t>
            </a:r>
            <a:r>
              <a:rPr lang="en-US" sz="1600" dirty="0">
                <a:latin typeface="Consolas" panose="020B0609020204030204" pitchFamily="49" charset="0"/>
              </a:rPr>
              <a:t>]*2 + f[</a:t>
            </a:r>
            <a:r>
              <a:rPr lang="en-US" sz="1600" dirty="0" err="1">
                <a:latin typeface="Consolas" panose="020B0609020204030204" pitchFamily="49" charset="0"/>
              </a:rPr>
              <a:t>i</a:t>
            </a:r>
            <a:r>
              <a:rPr lang="en-US" sz="1600" dirty="0">
                <a:latin typeface="Consolas" panose="020B0609020204030204" pitchFamily="49" charset="0"/>
              </a:rPr>
              <a:t>] + e;</a:t>
            </a:r>
          </a:p>
          <a:p>
            <a:r>
              <a:rPr lang="en-US" sz="1600" dirty="0">
                <a:latin typeface="Consolas" panose="020B0609020204030204" pitchFamily="49" charset="0"/>
              </a:rPr>
              <a:t>     str2[</a:t>
            </a:r>
            <a:r>
              <a:rPr lang="en-US" sz="1600" dirty="0" err="1">
                <a:latin typeface="Consolas" panose="020B0609020204030204" pitchFamily="49" charset="0"/>
              </a:rPr>
              <a:t>i</a:t>
            </a:r>
            <a:r>
              <a:rPr lang="en-US" sz="1600" dirty="0">
                <a:latin typeface="Consolas" panose="020B0609020204030204" pitchFamily="49" charset="0"/>
              </a:rPr>
              <a:t>] = str1[</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a:t>
            </a:r>
          </a:p>
          <a:p>
            <a:r>
              <a:rPr lang="en-US" sz="1600" dirty="0">
                <a:latin typeface="Consolas" panose="020B0609020204030204" pitchFamily="49" charset="0"/>
              </a:rPr>
              <a:t>  while(1);</a:t>
            </a:r>
          </a:p>
          <a:p>
            <a:r>
              <a:rPr lang="en-US" sz="1600" dirty="0">
                <a:latin typeface="Consolas" panose="020B0609020204030204" pitchFamily="49" charset="0"/>
              </a:rPr>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2" name="Title 1"/>
          <p:cNvSpPr>
            <a:spLocks noGrp="1"/>
          </p:cNvSpPr>
          <p:nvPr>
            <p:ph type="title" idx="4294967295"/>
          </p:nvPr>
        </p:nvSpPr>
        <p:spPr>
          <a:xfrm>
            <a:off x="228600" y="152400"/>
            <a:ext cx="10744200" cy="563876"/>
          </a:xfrm>
        </p:spPr>
        <p:txBody>
          <a:bodyPr>
            <a:normAutofit fontScale="90000"/>
          </a:bodyPr>
          <a:lstStyle/>
          <a:p>
            <a:r>
              <a:rPr lang="en-US" dirty="0"/>
              <a:t>Execution Image</a:t>
            </a:r>
          </a:p>
        </p:txBody>
      </p:sp>
      <p:grpSp>
        <p:nvGrpSpPr>
          <p:cNvPr id="76" name="Group 75">
            <a:extLst>
              <a:ext uri="{FF2B5EF4-FFF2-40B4-BE49-F238E27FC236}">
                <a16:creationId xmlns:a16="http://schemas.microsoft.com/office/drawing/2014/main" id="{7B752996-CE5C-8E43-A264-DF6AC42C706E}"/>
              </a:ext>
            </a:extLst>
          </p:cNvPr>
          <p:cNvGrpSpPr/>
          <p:nvPr/>
        </p:nvGrpSpPr>
        <p:grpSpPr>
          <a:xfrm>
            <a:off x="5490533" y="735722"/>
            <a:ext cx="2891768" cy="5556281"/>
            <a:chOff x="8583161" y="105649"/>
            <a:chExt cx="2891768" cy="5556281"/>
          </a:xfrm>
        </p:grpSpPr>
        <p:sp>
          <p:nvSpPr>
            <p:cNvPr id="66" name="Rectangle 65">
              <a:extLst>
                <a:ext uri="{FF2B5EF4-FFF2-40B4-BE49-F238E27FC236}">
                  <a16:creationId xmlns:a16="http://schemas.microsoft.com/office/drawing/2014/main" id="{2B154137-F83D-AD47-A015-80AF9F2B51C2}"/>
                </a:ext>
              </a:extLst>
            </p:cNvPr>
            <p:cNvSpPr/>
            <p:nvPr/>
          </p:nvSpPr>
          <p:spPr>
            <a:xfrm>
              <a:off x="8583161" y="381000"/>
              <a:ext cx="2136648" cy="493134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a:extLst>
                <a:ext uri="{FF2B5EF4-FFF2-40B4-BE49-F238E27FC236}">
                  <a16:creationId xmlns:a16="http://schemas.microsoft.com/office/drawing/2014/main" id="{E1BB5456-BE31-104A-92C9-178D72897E52}"/>
                </a:ext>
              </a:extLst>
            </p:cNvPr>
            <p:cNvSpPr txBox="1"/>
            <p:nvPr/>
          </p:nvSpPr>
          <p:spPr>
            <a:xfrm>
              <a:off x="10296401" y="5311041"/>
              <a:ext cx="1178528" cy="307777"/>
            </a:xfrm>
            <a:prstGeom prst="rect">
              <a:avLst/>
            </a:prstGeom>
            <a:noFill/>
          </p:spPr>
          <p:txBody>
            <a:bodyPr wrap="none" rtlCol="0">
              <a:spAutoFit/>
            </a:bodyPr>
            <a:lstStyle/>
            <a:p>
              <a:r>
                <a:rPr lang="en-US" sz="1400" dirty="0">
                  <a:latin typeface="Consolas" panose="020B0609020204030204" pitchFamily="49" charset="0"/>
                </a:rPr>
                <a:t>0x08000000</a:t>
              </a:r>
            </a:p>
          </p:txBody>
        </p:sp>
        <p:sp>
          <p:nvSpPr>
            <p:cNvPr id="73" name="TextBox 72">
              <a:extLst>
                <a:ext uri="{FF2B5EF4-FFF2-40B4-BE49-F238E27FC236}">
                  <a16:creationId xmlns:a16="http://schemas.microsoft.com/office/drawing/2014/main" id="{B9090C6B-51D1-224F-92E2-602D4A1AFE5B}"/>
                </a:ext>
              </a:extLst>
            </p:cNvPr>
            <p:cNvSpPr txBox="1"/>
            <p:nvPr/>
          </p:nvSpPr>
          <p:spPr>
            <a:xfrm>
              <a:off x="10108511" y="105649"/>
              <a:ext cx="1178528" cy="307777"/>
            </a:xfrm>
            <a:prstGeom prst="rect">
              <a:avLst/>
            </a:prstGeom>
            <a:noFill/>
          </p:spPr>
          <p:txBody>
            <a:bodyPr wrap="none" rtlCol="0">
              <a:spAutoFit/>
            </a:bodyPr>
            <a:lstStyle/>
            <a:p>
              <a:r>
                <a:rPr lang="en-US" sz="1400" dirty="0">
                  <a:latin typeface="Consolas" panose="020B0609020204030204" pitchFamily="49" charset="0"/>
                </a:rPr>
                <a:t>0x080XFFFF</a:t>
              </a:r>
            </a:p>
          </p:txBody>
        </p:sp>
        <p:sp>
          <p:nvSpPr>
            <p:cNvPr id="74" name="Rectangle 73">
              <a:extLst>
                <a:ext uri="{FF2B5EF4-FFF2-40B4-BE49-F238E27FC236}">
                  <a16:creationId xmlns:a16="http://schemas.microsoft.com/office/drawing/2014/main" id="{78227E72-0AD2-9844-88F3-0704D78E67F0}"/>
                </a:ext>
              </a:extLst>
            </p:cNvPr>
            <p:cNvSpPr/>
            <p:nvPr/>
          </p:nvSpPr>
          <p:spPr>
            <a:xfrm>
              <a:off x="8961103" y="5292598"/>
              <a:ext cx="1426994" cy="369332"/>
            </a:xfrm>
            <a:prstGeom prst="rect">
              <a:avLst/>
            </a:prstGeom>
          </p:spPr>
          <p:txBody>
            <a:bodyPr wrap="none">
              <a:spAutoFit/>
            </a:bodyPr>
            <a:lstStyle/>
            <a:p>
              <a:pPr algn="ctr"/>
              <a:r>
                <a:rPr lang="en-US" dirty="0"/>
                <a:t>Internal Flash</a:t>
              </a:r>
            </a:p>
          </p:txBody>
        </p:sp>
      </p:grpSp>
      <p:sp>
        <p:nvSpPr>
          <p:cNvPr id="77" name="Rectangle 76">
            <a:extLst>
              <a:ext uri="{FF2B5EF4-FFF2-40B4-BE49-F238E27FC236}">
                <a16:creationId xmlns:a16="http://schemas.microsoft.com/office/drawing/2014/main" id="{CF4C1928-BB43-D94F-8C86-C0BFDDC214D2}"/>
              </a:ext>
            </a:extLst>
          </p:cNvPr>
          <p:cNvSpPr/>
          <p:nvPr/>
        </p:nvSpPr>
        <p:spPr>
          <a:xfrm>
            <a:off x="5490533" y="5625662"/>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MSP</a:t>
            </a:r>
          </a:p>
        </p:txBody>
      </p:sp>
      <p:sp>
        <p:nvSpPr>
          <p:cNvPr id="78" name="Rectangle 77">
            <a:extLst>
              <a:ext uri="{FF2B5EF4-FFF2-40B4-BE49-F238E27FC236}">
                <a16:creationId xmlns:a16="http://schemas.microsoft.com/office/drawing/2014/main" id="{6C39EE8C-0DAB-0F42-9513-05DD896784B2}"/>
              </a:ext>
            </a:extLst>
          </p:cNvPr>
          <p:cNvSpPr/>
          <p:nvPr/>
        </p:nvSpPr>
        <p:spPr>
          <a:xfrm>
            <a:off x="5490533" y="5286459"/>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Reset_Handler</a:t>
            </a:r>
            <a:endParaRPr lang="en-US" dirty="0"/>
          </a:p>
        </p:txBody>
      </p:sp>
      <p:sp>
        <p:nvSpPr>
          <p:cNvPr id="79" name="Rectangle 78">
            <a:extLst>
              <a:ext uri="{FF2B5EF4-FFF2-40B4-BE49-F238E27FC236}">
                <a16:creationId xmlns:a16="http://schemas.microsoft.com/office/drawing/2014/main" id="{08400A38-DDB1-EB41-B374-874845B45B1E}"/>
              </a:ext>
            </a:extLst>
          </p:cNvPr>
          <p:cNvSpPr/>
          <p:nvPr/>
        </p:nvSpPr>
        <p:spPr>
          <a:xfrm>
            <a:off x="5490533" y="4954807"/>
            <a:ext cx="2136648" cy="33920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NMI_Handler</a:t>
            </a:r>
            <a:endParaRPr lang="en-US" dirty="0"/>
          </a:p>
        </p:txBody>
      </p:sp>
      <p:sp>
        <p:nvSpPr>
          <p:cNvPr id="80" name="Rectangle 79">
            <a:extLst>
              <a:ext uri="{FF2B5EF4-FFF2-40B4-BE49-F238E27FC236}">
                <a16:creationId xmlns:a16="http://schemas.microsoft.com/office/drawing/2014/main" id="{FC409444-58C1-6849-9EE5-77C68127A060}"/>
              </a:ext>
            </a:extLst>
          </p:cNvPr>
          <p:cNvSpPr/>
          <p:nvPr/>
        </p:nvSpPr>
        <p:spPr>
          <a:xfrm>
            <a:off x="5486122" y="3999383"/>
            <a:ext cx="2136648" cy="96297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81" name="Rectangle 80">
            <a:extLst>
              <a:ext uri="{FF2B5EF4-FFF2-40B4-BE49-F238E27FC236}">
                <a16:creationId xmlns:a16="http://schemas.microsoft.com/office/drawing/2014/main" id="{3C9EEEEE-A785-D441-BDD2-0C5725208D7A}"/>
              </a:ext>
            </a:extLst>
          </p:cNvPr>
          <p:cNvSpPr/>
          <p:nvPr/>
        </p:nvSpPr>
        <p:spPr>
          <a:xfrm>
            <a:off x="5487485" y="2757497"/>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82" name="Rectangle 81">
            <a:extLst>
              <a:ext uri="{FF2B5EF4-FFF2-40B4-BE49-F238E27FC236}">
                <a16:creationId xmlns:a16="http://schemas.microsoft.com/office/drawing/2014/main" id="{173A4B06-9945-0846-9412-67D9160CD8DE}"/>
              </a:ext>
            </a:extLst>
          </p:cNvPr>
          <p:cNvSpPr/>
          <p:nvPr/>
        </p:nvSpPr>
        <p:spPr>
          <a:xfrm>
            <a:off x="5492746" y="1884611"/>
            <a:ext cx="2136648" cy="8737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a:t>
            </a:r>
          </a:p>
        </p:txBody>
      </p:sp>
      <p:sp>
        <p:nvSpPr>
          <p:cNvPr id="83" name="Rectangle 82">
            <a:extLst>
              <a:ext uri="{FF2B5EF4-FFF2-40B4-BE49-F238E27FC236}">
                <a16:creationId xmlns:a16="http://schemas.microsoft.com/office/drawing/2014/main" id="{8D040406-3CA9-5B4A-9838-90CEDE0A00DE}"/>
              </a:ext>
            </a:extLst>
          </p:cNvPr>
          <p:cNvSpPr/>
          <p:nvPr/>
        </p:nvSpPr>
        <p:spPr>
          <a:xfrm>
            <a:off x="5489698" y="1474166"/>
            <a:ext cx="2136648" cy="41132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4" name="Right Brace 83">
            <a:extLst>
              <a:ext uri="{FF2B5EF4-FFF2-40B4-BE49-F238E27FC236}">
                <a16:creationId xmlns:a16="http://schemas.microsoft.com/office/drawing/2014/main" id="{8D4DA84B-1F12-6F40-9271-A2516E658BA9}"/>
              </a:ext>
            </a:extLst>
          </p:cNvPr>
          <p:cNvSpPr/>
          <p:nvPr/>
        </p:nvSpPr>
        <p:spPr>
          <a:xfrm>
            <a:off x="7657006" y="3999382"/>
            <a:ext cx="223166" cy="159871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TextBox 84">
            <a:extLst>
              <a:ext uri="{FF2B5EF4-FFF2-40B4-BE49-F238E27FC236}">
                <a16:creationId xmlns:a16="http://schemas.microsoft.com/office/drawing/2014/main" id="{3BA56768-DA53-AE4C-8C36-546ED04D5D58}"/>
              </a:ext>
            </a:extLst>
          </p:cNvPr>
          <p:cNvSpPr txBox="1"/>
          <p:nvPr/>
        </p:nvSpPr>
        <p:spPr>
          <a:xfrm>
            <a:off x="7909997" y="4467291"/>
            <a:ext cx="1050224" cy="646331"/>
          </a:xfrm>
          <a:prstGeom prst="rect">
            <a:avLst/>
          </a:prstGeom>
          <a:noFill/>
        </p:spPr>
        <p:txBody>
          <a:bodyPr wrap="square" rtlCol="0">
            <a:spAutoFit/>
          </a:bodyPr>
          <a:lstStyle/>
          <a:p>
            <a:r>
              <a:rPr lang="en-US" dirty="0">
                <a:solidFill>
                  <a:srgbClr val="FF0000"/>
                </a:solidFill>
              </a:rPr>
              <a:t>Interrupt vector</a:t>
            </a:r>
          </a:p>
        </p:txBody>
      </p:sp>
      <p:sp>
        <p:nvSpPr>
          <p:cNvPr id="75" name="Rectangle 74">
            <a:extLst>
              <a:ext uri="{FF2B5EF4-FFF2-40B4-BE49-F238E27FC236}">
                <a16:creationId xmlns:a16="http://schemas.microsoft.com/office/drawing/2014/main" id="{AD9EDF93-E730-D446-A947-2050AA05B7ED}"/>
              </a:ext>
            </a:extLst>
          </p:cNvPr>
          <p:cNvSpPr/>
          <p:nvPr/>
        </p:nvSpPr>
        <p:spPr>
          <a:xfrm>
            <a:off x="9929549" y="1005225"/>
            <a:ext cx="2136648" cy="487433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DE99506-ECA9-BD48-8217-DAC3ACA93211}"/>
              </a:ext>
            </a:extLst>
          </p:cNvPr>
          <p:cNvSpPr/>
          <p:nvPr/>
        </p:nvSpPr>
        <p:spPr>
          <a:xfrm>
            <a:off x="10225867" y="5879559"/>
            <a:ext cx="1544012" cy="369332"/>
          </a:xfrm>
          <a:prstGeom prst="rect">
            <a:avLst/>
          </a:prstGeom>
        </p:spPr>
        <p:txBody>
          <a:bodyPr wrap="none">
            <a:spAutoFit/>
          </a:bodyPr>
          <a:lstStyle/>
          <a:p>
            <a:pPr algn="ctr"/>
            <a:r>
              <a:rPr lang="en-US" dirty="0"/>
              <a:t>Internal SRAM</a:t>
            </a:r>
          </a:p>
        </p:txBody>
      </p:sp>
      <p:sp>
        <p:nvSpPr>
          <p:cNvPr id="86" name="TextBox 85">
            <a:extLst>
              <a:ext uri="{FF2B5EF4-FFF2-40B4-BE49-F238E27FC236}">
                <a16:creationId xmlns:a16="http://schemas.microsoft.com/office/drawing/2014/main" id="{D2990EA3-262F-604D-BC26-DE17845A71B1}"/>
              </a:ext>
            </a:extLst>
          </p:cNvPr>
          <p:cNvSpPr txBox="1"/>
          <p:nvPr/>
        </p:nvSpPr>
        <p:spPr>
          <a:xfrm>
            <a:off x="9203650" y="5902673"/>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87" name="TextBox 86">
            <a:extLst>
              <a:ext uri="{FF2B5EF4-FFF2-40B4-BE49-F238E27FC236}">
                <a16:creationId xmlns:a16="http://schemas.microsoft.com/office/drawing/2014/main" id="{5C3D76A5-98A5-F846-9D6D-BA6AA3035106}"/>
              </a:ext>
            </a:extLst>
          </p:cNvPr>
          <p:cNvSpPr txBox="1"/>
          <p:nvPr/>
        </p:nvSpPr>
        <p:spPr>
          <a:xfrm>
            <a:off x="9203650" y="774113"/>
            <a:ext cx="1178528" cy="307777"/>
          </a:xfrm>
          <a:prstGeom prst="rect">
            <a:avLst/>
          </a:prstGeom>
          <a:noFill/>
        </p:spPr>
        <p:txBody>
          <a:bodyPr wrap="none" rtlCol="0">
            <a:spAutoFit/>
          </a:bodyPr>
          <a:lstStyle/>
          <a:p>
            <a:r>
              <a:rPr lang="en-US" sz="1400" dirty="0">
                <a:latin typeface="Consolas" panose="020B0609020204030204" pitchFamily="49" charset="0"/>
              </a:rPr>
              <a:t>0x3FFFFFFF</a:t>
            </a:r>
          </a:p>
        </p:txBody>
      </p:sp>
      <p:sp>
        <p:nvSpPr>
          <p:cNvPr id="88" name="Rectangle 87">
            <a:extLst>
              <a:ext uri="{FF2B5EF4-FFF2-40B4-BE49-F238E27FC236}">
                <a16:creationId xmlns:a16="http://schemas.microsoft.com/office/drawing/2014/main" id="{6A6FFAE0-5768-3C46-9F21-7F0CA60FE450}"/>
              </a:ext>
            </a:extLst>
          </p:cNvPr>
          <p:cNvSpPr/>
          <p:nvPr/>
        </p:nvSpPr>
        <p:spPr>
          <a:xfrm>
            <a:off x="9947849" y="5468600"/>
            <a:ext cx="2136648" cy="4184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a:t>
            </a:r>
          </a:p>
        </p:txBody>
      </p:sp>
      <p:sp>
        <p:nvSpPr>
          <p:cNvPr id="89" name="Rectangle 88">
            <a:extLst>
              <a:ext uri="{FF2B5EF4-FFF2-40B4-BE49-F238E27FC236}">
                <a16:creationId xmlns:a16="http://schemas.microsoft.com/office/drawing/2014/main" id="{F54EA257-8285-924C-9009-4A0E133FAAF4}"/>
              </a:ext>
            </a:extLst>
          </p:cNvPr>
          <p:cNvSpPr/>
          <p:nvPr/>
        </p:nvSpPr>
        <p:spPr>
          <a:xfrm>
            <a:off x="9947849" y="4408393"/>
            <a:ext cx="2136648" cy="64590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Heap</a:t>
            </a:r>
          </a:p>
        </p:txBody>
      </p:sp>
      <p:sp>
        <p:nvSpPr>
          <p:cNvPr id="90" name="Rectangle 89">
            <a:extLst>
              <a:ext uri="{FF2B5EF4-FFF2-40B4-BE49-F238E27FC236}">
                <a16:creationId xmlns:a16="http://schemas.microsoft.com/office/drawing/2014/main" id="{91A27178-6DD3-3043-B737-7E91D0EFFFF6}"/>
              </a:ext>
            </a:extLst>
          </p:cNvPr>
          <p:cNvSpPr/>
          <p:nvPr/>
        </p:nvSpPr>
        <p:spPr>
          <a:xfrm>
            <a:off x="9938699" y="1788233"/>
            <a:ext cx="2136648" cy="64590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cxnSp>
        <p:nvCxnSpPr>
          <p:cNvPr id="52" name="Straight Arrow Connector 51">
            <a:extLst>
              <a:ext uri="{FF2B5EF4-FFF2-40B4-BE49-F238E27FC236}">
                <a16:creationId xmlns:a16="http://schemas.microsoft.com/office/drawing/2014/main" id="{4647C05D-3722-4F43-AFE7-A7378B0CE9D0}"/>
              </a:ext>
            </a:extLst>
          </p:cNvPr>
          <p:cNvCxnSpPr>
            <a:cxnSpLocks/>
          </p:cNvCxnSpPr>
          <p:nvPr/>
        </p:nvCxnSpPr>
        <p:spPr>
          <a:xfrm>
            <a:off x="11016173" y="2441677"/>
            <a:ext cx="0" cy="61994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EF2509D-5D0D-E946-BAC1-4D47E48DE672}"/>
              </a:ext>
            </a:extLst>
          </p:cNvPr>
          <p:cNvCxnSpPr>
            <a:cxnSpLocks/>
          </p:cNvCxnSpPr>
          <p:nvPr/>
        </p:nvCxnSpPr>
        <p:spPr>
          <a:xfrm flipV="1">
            <a:off x="10995847" y="3788450"/>
            <a:ext cx="0" cy="61994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7BC28E9C-C8E2-1B44-B42A-548A286DAEE0}"/>
              </a:ext>
            </a:extLst>
          </p:cNvPr>
          <p:cNvSpPr txBox="1"/>
          <p:nvPr/>
        </p:nvSpPr>
        <p:spPr>
          <a:xfrm>
            <a:off x="8019316" y="3044170"/>
            <a:ext cx="1773598" cy="738664"/>
          </a:xfrm>
          <a:prstGeom prst="rect">
            <a:avLst/>
          </a:prstGeom>
          <a:noFill/>
        </p:spPr>
        <p:txBody>
          <a:bodyPr wrap="square" rtlCol="0">
            <a:spAutoFit/>
          </a:bodyPr>
          <a:lstStyle/>
          <a:p>
            <a:r>
              <a:rPr lang="en-US" sz="1400" b="1" dirty="0" err="1">
                <a:solidFill>
                  <a:srgbClr val="0000FF"/>
                </a:solidFill>
                <a:latin typeface="Consolas" panose="020B0609020204030204" pitchFamily="49" charset="0"/>
              </a:rPr>
              <a:t>Reset_Handler</a:t>
            </a:r>
            <a:r>
              <a:rPr lang="en-US" sz="1400" b="1" dirty="0">
                <a:solidFill>
                  <a:srgbClr val="0000FF"/>
                </a:solidFill>
                <a:latin typeface="Consolas" panose="020B0609020204030204" pitchFamily="49" charset="0"/>
              </a:rPr>
              <a:t>() copies data from Flash to SRAM.</a:t>
            </a:r>
          </a:p>
        </p:txBody>
      </p:sp>
      <p:sp>
        <p:nvSpPr>
          <p:cNvPr id="67" name="TextBox 66">
            <a:extLst>
              <a:ext uri="{FF2B5EF4-FFF2-40B4-BE49-F238E27FC236}">
                <a16:creationId xmlns:a16="http://schemas.microsoft.com/office/drawing/2014/main" id="{CEA875CE-A323-8B45-B5D0-81315EFC8E28}"/>
              </a:ext>
            </a:extLst>
          </p:cNvPr>
          <p:cNvSpPr txBox="1"/>
          <p:nvPr/>
        </p:nvSpPr>
        <p:spPr>
          <a:xfrm>
            <a:off x="10417996" y="3073059"/>
            <a:ext cx="1196353" cy="369332"/>
          </a:xfrm>
          <a:prstGeom prst="rect">
            <a:avLst/>
          </a:prstGeom>
          <a:noFill/>
        </p:spPr>
        <p:txBody>
          <a:bodyPr wrap="none" rtlCol="0">
            <a:spAutoFit/>
          </a:bodyPr>
          <a:lstStyle/>
          <a:p>
            <a:r>
              <a:rPr lang="en-US" dirty="0"/>
              <a:t>Free Space</a:t>
            </a:r>
          </a:p>
        </p:txBody>
      </p:sp>
      <p:sp>
        <p:nvSpPr>
          <p:cNvPr id="96" name="Rectangle 95">
            <a:extLst>
              <a:ext uri="{FF2B5EF4-FFF2-40B4-BE49-F238E27FC236}">
                <a16:creationId xmlns:a16="http://schemas.microsoft.com/office/drawing/2014/main" id="{669EAE24-516E-9149-A52A-211F704E326E}"/>
              </a:ext>
            </a:extLst>
          </p:cNvPr>
          <p:cNvSpPr/>
          <p:nvPr/>
        </p:nvSpPr>
        <p:spPr>
          <a:xfrm>
            <a:off x="9947849" y="5061837"/>
            <a:ext cx="2136648" cy="40676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cxnSp>
        <p:nvCxnSpPr>
          <p:cNvPr id="94" name="Straight Arrow Connector 93">
            <a:extLst>
              <a:ext uri="{FF2B5EF4-FFF2-40B4-BE49-F238E27FC236}">
                <a16:creationId xmlns:a16="http://schemas.microsoft.com/office/drawing/2014/main" id="{0A79856A-982A-1B4F-9DEA-EFB8DD5EEB1F}"/>
              </a:ext>
            </a:extLst>
          </p:cNvPr>
          <p:cNvCxnSpPr>
            <a:cxnSpLocks/>
          </p:cNvCxnSpPr>
          <p:nvPr/>
        </p:nvCxnSpPr>
        <p:spPr>
          <a:xfrm>
            <a:off x="7467600" y="1715781"/>
            <a:ext cx="2589224" cy="396206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C928B67C-B008-794E-8882-F5618BB12567}"/>
              </a:ext>
            </a:extLst>
          </p:cNvPr>
          <p:cNvSpPr/>
          <p:nvPr/>
        </p:nvSpPr>
        <p:spPr>
          <a:xfrm>
            <a:off x="5488320" y="1017177"/>
            <a:ext cx="2136648" cy="45654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 Data</a:t>
            </a:r>
          </a:p>
        </p:txBody>
      </p:sp>
      <p:cxnSp>
        <p:nvCxnSpPr>
          <p:cNvPr id="98" name="Straight Arrow Connector 97">
            <a:extLst>
              <a:ext uri="{FF2B5EF4-FFF2-40B4-BE49-F238E27FC236}">
                <a16:creationId xmlns:a16="http://schemas.microsoft.com/office/drawing/2014/main" id="{7E0E585A-BCA2-F045-9E3D-B33C4F843864}"/>
              </a:ext>
            </a:extLst>
          </p:cNvPr>
          <p:cNvCxnSpPr>
            <a:cxnSpLocks/>
          </p:cNvCxnSpPr>
          <p:nvPr/>
        </p:nvCxnSpPr>
        <p:spPr>
          <a:xfrm>
            <a:off x="7467600" y="1232110"/>
            <a:ext cx="2607524" cy="407629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762698" y="1497545"/>
            <a:ext cx="612045" cy="218236"/>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9" name="Straight Arrow Connector 8"/>
          <p:cNvCxnSpPr>
            <a:stCxn id="37" idx="3"/>
          </p:cNvCxnSpPr>
          <p:nvPr/>
        </p:nvCxnSpPr>
        <p:spPr>
          <a:xfrm flipV="1">
            <a:off x="1374743" y="1210256"/>
            <a:ext cx="4332611" cy="396407"/>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62698" y="1763984"/>
            <a:ext cx="2166485" cy="455463"/>
          </a:xfrm>
          <a:prstGeom prst="rect">
            <a:avLst/>
          </a:prstGeom>
          <a:noFill/>
          <a:ln w="19050">
            <a:solidFill>
              <a:srgbClr val="33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3" name="Straight Arrow Connector 42"/>
          <p:cNvCxnSpPr/>
          <p:nvPr/>
        </p:nvCxnSpPr>
        <p:spPr>
          <a:xfrm flipV="1">
            <a:off x="2938333" y="1552960"/>
            <a:ext cx="2769021" cy="331651"/>
          </a:xfrm>
          <a:prstGeom prst="straightConnector1">
            <a:avLst/>
          </a:prstGeom>
          <a:ln w="19050">
            <a:solidFill>
              <a:srgbClr val="33CCFF"/>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2095987" y="2964139"/>
            <a:ext cx="1400426" cy="187662"/>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7" name="Straight Arrow Connector 46"/>
          <p:cNvCxnSpPr/>
          <p:nvPr/>
        </p:nvCxnSpPr>
        <p:spPr>
          <a:xfrm flipV="1">
            <a:off x="3496413" y="2127047"/>
            <a:ext cx="2188193" cy="892277"/>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4114800" y="2326222"/>
            <a:ext cx="1569806" cy="1143578"/>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667000" y="3460052"/>
            <a:ext cx="1676400" cy="216388"/>
          </a:xfrm>
          <a:prstGeom prst="rect">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Rectangle 53"/>
          <p:cNvSpPr/>
          <p:nvPr/>
        </p:nvSpPr>
        <p:spPr>
          <a:xfrm>
            <a:off x="1045964" y="2734739"/>
            <a:ext cx="992764" cy="458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55" name="Straight Arrow Connector 54"/>
          <p:cNvCxnSpPr/>
          <p:nvPr/>
        </p:nvCxnSpPr>
        <p:spPr>
          <a:xfrm flipV="1">
            <a:off x="2038728" y="1994570"/>
            <a:ext cx="7850900" cy="7629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2422369" y="2171574"/>
            <a:ext cx="7498030" cy="12740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1517864" y="3442391"/>
            <a:ext cx="886205" cy="25592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0000"/>
              </a:solidFill>
            </a:endParaRPr>
          </a:p>
        </p:txBody>
      </p:sp>
      <p:sp>
        <p:nvSpPr>
          <p:cNvPr id="64" name="Rectangle 63"/>
          <p:cNvSpPr/>
          <p:nvPr/>
        </p:nvSpPr>
        <p:spPr>
          <a:xfrm>
            <a:off x="1474594" y="2485887"/>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Rectangle 64"/>
          <p:cNvSpPr/>
          <p:nvPr/>
        </p:nvSpPr>
        <p:spPr>
          <a:xfrm>
            <a:off x="1452371" y="3219458"/>
            <a:ext cx="377759"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Rectangle 67"/>
          <p:cNvSpPr/>
          <p:nvPr/>
        </p:nvSpPr>
        <p:spPr>
          <a:xfrm>
            <a:off x="1492127" y="3736696"/>
            <a:ext cx="255338" cy="141736"/>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Rectangle 68"/>
          <p:cNvSpPr/>
          <p:nvPr/>
        </p:nvSpPr>
        <p:spPr>
          <a:xfrm>
            <a:off x="1303636" y="5616290"/>
            <a:ext cx="255338" cy="197013"/>
          </a:xfrm>
          <a:prstGeom prst="rect">
            <a:avLst/>
          </a:prstGeom>
          <a:no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TextBox 23"/>
          <p:cNvSpPr txBox="1"/>
          <p:nvPr/>
        </p:nvSpPr>
        <p:spPr>
          <a:xfrm>
            <a:off x="1517864" y="5543386"/>
            <a:ext cx="2012410" cy="307777"/>
          </a:xfrm>
          <a:prstGeom prst="rect">
            <a:avLst/>
          </a:prstGeom>
          <a:noFill/>
        </p:spPr>
        <p:txBody>
          <a:bodyPr wrap="none" rtlCol="0">
            <a:spAutoFit/>
          </a:bodyPr>
          <a:lstStyle/>
          <a:p>
            <a:r>
              <a:rPr lang="en-US" sz="1400" dirty="0">
                <a:solidFill>
                  <a:srgbClr val="00CC00"/>
                </a:solidFill>
              </a:rPr>
              <a:t>represented by a register</a:t>
            </a:r>
          </a:p>
        </p:txBody>
      </p:sp>
      <p:cxnSp>
        <p:nvCxnSpPr>
          <p:cNvPr id="70" name="Straight Arrow Connector 69">
            <a:extLst>
              <a:ext uri="{FF2B5EF4-FFF2-40B4-BE49-F238E27FC236}">
                <a16:creationId xmlns:a16="http://schemas.microsoft.com/office/drawing/2014/main" id="{0A79856A-982A-1B4F-9DEA-EFB8DD5EEB1F}"/>
              </a:ext>
            </a:extLst>
          </p:cNvPr>
          <p:cNvCxnSpPr>
            <a:cxnSpLocks/>
          </p:cNvCxnSpPr>
          <p:nvPr/>
        </p:nvCxnSpPr>
        <p:spPr>
          <a:xfrm flipV="1">
            <a:off x="5828571" y="1888384"/>
            <a:ext cx="4098765" cy="328762"/>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7BC28E9C-C8E2-1B44-B42A-548A286DAEE0}"/>
              </a:ext>
            </a:extLst>
          </p:cNvPr>
          <p:cNvSpPr txBox="1"/>
          <p:nvPr/>
        </p:nvSpPr>
        <p:spPr>
          <a:xfrm rot="21204156">
            <a:off x="7922674" y="1125575"/>
            <a:ext cx="2157025" cy="738664"/>
          </a:xfrm>
          <a:prstGeom prst="rect">
            <a:avLst/>
          </a:prstGeom>
          <a:noFill/>
        </p:spPr>
        <p:txBody>
          <a:bodyPr wrap="square" rtlCol="0">
            <a:spAutoFit/>
          </a:bodyPr>
          <a:lstStyle/>
          <a:p>
            <a:r>
              <a:rPr lang="en-US" sz="1400" b="1" dirty="0">
                <a:solidFill>
                  <a:srgbClr val="FF00FF"/>
                </a:solidFill>
                <a:latin typeface="Consolas" panose="020B0609020204030204" pitchFamily="49" charset="0"/>
              </a:rPr>
              <a:t>Subroutine copies data from RO to initialize stack.</a:t>
            </a:r>
          </a:p>
        </p:txBody>
      </p:sp>
      <p:sp>
        <p:nvSpPr>
          <p:cNvPr id="4" name="TextBox 3">
            <a:extLst>
              <a:ext uri="{FF2B5EF4-FFF2-40B4-BE49-F238E27FC236}">
                <a16:creationId xmlns:a16="http://schemas.microsoft.com/office/drawing/2014/main" id="{4728D8C4-4422-B640-A915-C34DD2E0AEBB}"/>
              </a:ext>
            </a:extLst>
          </p:cNvPr>
          <p:cNvSpPr txBox="1"/>
          <p:nvPr/>
        </p:nvSpPr>
        <p:spPr>
          <a:xfrm>
            <a:off x="4867046" y="63999"/>
            <a:ext cx="7477354"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FF0000"/>
                </a:solidFill>
              </a:rPr>
              <a:t>Most local variables are stored in the stack</a:t>
            </a:r>
          </a:p>
          <a:p>
            <a:pPr marL="285750" indent="-285750">
              <a:buFont typeface="Arial" panose="020B0604020202020204" pitchFamily="34" charset="0"/>
              <a:buChar char="•"/>
            </a:pPr>
            <a:r>
              <a:rPr lang="en-US" b="1" dirty="0">
                <a:solidFill>
                  <a:srgbClr val="FF0000"/>
                </a:solidFill>
              </a:rPr>
              <a:t>Subroutine is responsible for initialize local variables in stack</a:t>
            </a:r>
          </a:p>
        </p:txBody>
      </p:sp>
    </p:spTree>
    <p:custDataLst>
      <p:tags r:id="rId1"/>
    </p:custDataLst>
    <p:extLst>
      <p:ext uri="{BB962C8B-B14F-4D97-AF65-F5344CB8AC3E}">
        <p14:creationId xmlns:p14="http://schemas.microsoft.com/office/powerpoint/2010/main" val="1753935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Word of Warning</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17</a:t>
            </a:fld>
            <a:endParaRPr kumimoji="0" lang="en-US"/>
          </a:p>
        </p:txBody>
      </p:sp>
      <p:sp>
        <p:nvSpPr>
          <p:cNvPr id="4" name="Content Placeholder 3"/>
          <p:cNvSpPr>
            <a:spLocks noGrp="1"/>
          </p:cNvSpPr>
          <p:nvPr>
            <p:ph sz="quarter" idx="1"/>
          </p:nvPr>
        </p:nvSpPr>
        <p:spPr/>
        <p:txBody>
          <a:bodyPr/>
          <a:lstStyle/>
          <a:p>
            <a:r>
              <a:rPr lang="en-US" dirty="0"/>
              <a:t>Image could be different due to the optimization made by compiler</a:t>
            </a:r>
          </a:p>
          <a:p>
            <a:r>
              <a:rPr lang="en-US" dirty="0"/>
              <a:t>Compiler often optimize the code to improve the computation efficiency or reduce the code size</a:t>
            </a:r>
          </a:p>
          <a:p>
            <a:pPr lvl="1"/>
            <a:r>
              <a:rPr lang="en-US" dirty="0"/>
              <a:t>Using registers to replace some variables</a:t>
            </a:r>
          </a:p>
          <a:p>
            <a:pPr lvl="1"/>
            <a:r>
              <a:rPr lang="en-US" dirty="0"/>
              <a:t>Remove declared but unused variables</a:t>
            </a:r>
          </a:p>
          <a:p>
            <a:pPr lvl="1"/>
            <a:r>
              <a:rPr lang="en-US" dirty="0"/>
              <a:t>Constant folding and propagation (replacing 5 + 3 with 8)</a:t>
            </a:r>
          </a:p>
          <a:p>
            <a:pPr lvl="1"/>
            <a:r>
              <a:rPr lang="en-US" dirty="0"/>
              <a:t>Register allocation</a:t>
            </a:r>
          </a:p>
          <a:p>
            <a:pPr lvl="1"/>
            <a:r>
              <a:rPr lang="en-US" dirty="0"/>
              <a:t>Dead code elimination</a:t>
            </a:r>
          </a:p>
          <a:p>
            <a:pPr lvl="1"/>
            <a:r>
              <a:rPr lang="en-US" dirty="0"/>
              <a:t>Loop unrolling</a:t>
            </a:r>
          </a:p>
        </p:txBody>
      </p:sp>
    </p:spTree>
    <p:extLst>
      <p:ext uri="{BB962C8B-B14F-4D97-AF65-F5344CB8AC3E}">
        <p14:creationId xmlns:p14="http://schemas.microsoft.com/office/powerpoint/2010/main" val="3948293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6.4|15.5"/>
</p:tagLst>
</file>

<file path=ppt/tags/tag2.xml><?xml version="1.0" encoding="utf-8"?>
<p:tagLst xmlns:a="http://schemas.openxmlformats.org/drawingml/2006/main" xmlns:r="http://schemas.openxmlformats.org/officeDocument/2006/relationships" xmlns:p="http://schemas.openxmlformats.org/presentationml/2006/main">
  <p:tag name="TIMING" val="|25.6|2.3|10.7|13.7"/>
</p:tagLst>
</file>

<file path=ppt/tags/tag3.xml><?xml version="1.0" encoding="utf-8"?>
<p:tagLst xmlns:a="http://schemas.openxmlformats.org/drawingml/2006/main" xmlns:r="http://schemas.openxmlformats.org/officeDocument/2006/relationships" xmlns:p="http://schemas.openxmlformats.org/presentationml/2006/main">
  <p:tag name="TIMING" val="|57.1|16.1|4.6"/>
</p:tagLst>
</file>

<file path=ppt/tags/tag4.xml><?xml version="1.0" encoding="utf-8"?>
<p:tagLst xmlns:a="http://schemas.openxmlformats.org/drawingml/2006/main" xmlns:r="http://schemas.openxmlformats.org/officeDocument/2006/relationships" xmlns:p="http://schemas.openxmlformats.org/presentationml/2006/main">
  <p:tag name="TIMING" val="|11.6|9|41.3"/>
</p:tagLst>
</file>

<file path=ppt/tags/tag5.xml><?xml version="1.0" encoding="utf-8"?>
<p:tagLst xmlns:a="http://schemas.openxmlformats.org/drawingml/2006/main" xmlns:r="http://schemas.openxmlformats.org/officeDocument/2006/relationships" xmlns:p="http://schemas.openxmlformats.org/presentationml/2006/main">
  <p:tag name="TIMING" val="|12.8|6.6"/>
</p:tagLst>
</file>

<file path=ppt/tags/tag6.xml><?xml version="1.0" encoding="utf-8"?>
<p:tagLst xmlns:a="http://schemas.openxmlformats.org/drawingml/2006/main" xmlns:r="http://schemas.openxmlformats.org/officeDocument/2006/relationships" xmlns:p="http://schemas.openxmlformats.org/presentationml/2006/main">
  <p:tag name="TIMING" val="|6.5"/>
</p:tagLst>
</file>

<file path=ppt/tags/tag7.xml><?xml version="1.0" encoding="utf-8"?>
<p:tagLst xmlns:a="http://schemas.openxmlformats.org/drawingml/2006/main" xmlns:r="http://schemas.openxmlformats.org/officeDocument/2006/relationships" xmlns:p="http://schemas.openxmlformats.org/presentationml/2006/main">
  <p:tag name="TIMING" val="|6"/>
</p:tagLst>
</file>

<file path=ppt/tags/tag8.xml><?xml version="1.0" encoding="utf-8"?>
<p:tagLst xmlns:a="http://schemas.openxmlformats.org/drawingml/2006/main" xmlns:r="http://schemas.openxmlformats.org/officeDocument/2006/relationships" xmlns:p="http://schemas.openxmlformats.org/presentationml/2006/main">
  <p:tag name="TIMING" val="|5.3|4.1|14.3|3.6|19.9|5.4"/>
</p:tagLst>
</file>

<file path=ppt/tags/tag9.xml><?xml version="1.0" encoding="utf-8"?>
<p:tagLst xmlns:a="http://schemas.openxmlformats.org/drawingml/2006/main" xmlns:r="http://schemas.openxmlformats.org/officeDocument/2006/relationships" xmlns:p="http://schemas.openxmlformats.org/presentationml/2006/main">
  <p:tag name="TIMING" val="|11.6|9|41.3"/>
</p:tagLst>
</file>

<file path=ppt/tags/tag10.xml><?xml version="1.0" encoding="utf-8"?>
<p:tagLst xmlns:a="http://schemas.openxmlformats.org/drawingml/2006/main" xmlns:r="http://schemas.openxmlformats.org/officeDocument/2006/relationships" xmlns:p="http://schemas.openxmlformats.org/presentationml/2006/main">
  <p:tag name="TIMING" val="|11.6|9|41.3"/>
</p:tagLst>
</file>

<file path=ppt/tags/tag11.xml><?xml version="1.0" encoding="utf-8"?>
<p:tagLst xmlns:a="http://schemas.openxmlformats.org/drawingml/2006/main" xmlns:r="http://schemas.openxmlformats.org/officeDocument/2006/relationships" xmlns:p="http://schemas.openxmlformats.org/presentationml/2006/main">
  <p:tag name="TIMING" val="|11.6|9|41.3"/>
</p:tagLst>
</file>

<file path=ppt/tags/tag12.xml><?xml version="1.0" encoding="utf-8"?>
<p:tagLst xmlns:a="http://schemas.openxmlformats.org/drawingml/2006/main" xmlns:r="http://schemas.openxmlformats.org/officeDocument/2006/relationships" xmlns:p="http://schemas.openxmlformats.org/presentationml/2006/main">
  <p:tag name="TIMING" val="|11.6|9|41.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5437</TotalTime>
  <Words>3250</Words>
  <Application>Microsoft Office PowerPoint</Application>
  <PresentationFormat>Widescreen</PresentationFormat>
  <Paragraphs>557</Paragraphs>
  <Slides>17</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Bookman Old Style</vt:lpstr>
      <vt:lpstr>Calibri</vt:lpstr>
      <vt:lpstr>Consolas</vt:lpstr>
      <vt:lpstr>Gill Sans MT</vt:lpstr>
      <vt:lpstr>Palatino Linotype</vt:lpstr>
      <vt:lpstr>Wingdings</vt:lpstr>
      <vt:lpstr>Wingdings 3</vt:lpstr>
      <vt:lpstr>Origin</vt:lpstr>
      <vt:lpstr>Dr. Yifeng Zhu</vt:lpstr>
      <vt:lpstr>External Reset</vt:lpstr>
      <vt:lpstr>PowerPoint Presentation</vt:lpstr>
      <vt:lpstr>Booting Process</vt:lpstr>
      <vt:lpstr>Boot Mode</vt:lpstr>
      <vt:lpstr>Boot Mode</vt:lpstr>
      <vt:lpstr>Boot Mode</vt:lpstr>
      <vt:lpstr>Boot Mode</vt:lpstr>
      <vt:lpstr>Boot Mode</vt:lpstr>
      <vt:lpstr>FAQ</vt:lpstr>
      <vt:lpstr>What does the startup code do?</vt:lpstr>
      <vt:lpstr>Flash Memory Layout</vt:lpstr>
      <vt:lpstr>Memory Layout of Code</vt:lpstr>
      <vt:lpstr>Execution Image</vt:lpstr>
      <vt:lpstr>Execution Image</vt:lpstr>
      <vt:lpstr>Execution Image</vt:lpstr>
      <vt:lpstr>A Word of Warning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586</cp:revision>
  <dcterms:created xsi:type="dcterms:W3CDTF">2013-02-03T05:36:57Z</dcterms:created>
  <dcterms:modified xsi:type="dcterms:W3CDTF">2023-05-23T13:58:40Z</dcterms:modified>
</cp:coreProperties>
</file>