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8" r:id="rId10"/>
    <p:sldId id="262" r:id="rId11"/>
    <p:sldId id="265" r:id="rId12"/>
    <p:sldId id="267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82" autoAdjust="0"/>
  </p:normalViewPr>
  <p:slideViewPr>
    <p:cSldViewPr>
      <p:cViewPr varScale="1">
        <p:scale>
          <a:sx n="138" d="100"/>
          <a:sy n="138" d="100"/>
        </p:scale>
        <p:origin x="39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2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19600" y="381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</a:t>
            </a:r>
            <a:r>
              <a:rPr lang="en-US" b="1" dirty="0" err="1">
                <a:latin typeface="Bookman Old Style (Headings)"/>
              </a:rPr>
              <a:t>M3</a:t>
            </a:r>
            <a:r>
              <a:rPr lang="en-US" b="1" dirty="0">
                <a:latin typeface="Bookman Old Style (Headings)"/>
              </a:rPr>
              <a:t>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1400" y="2019541"/>
            <a:ext cx="3415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9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64-bit Data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Addition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895600" y="3581400"/>
            <a:ext cx="7391400" cy="31089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Adding two 64-bit integers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00002222FFFFFFFF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0000044400000001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0x00002222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0x00000444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 A and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+ B[31:0], update Carry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C[64:32] = A[64:32] + B[64:32] + Carry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371601"/>
            <a:ext cx="3886200" cy="19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900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Subtraction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3200400"/>
            <a:ext cx="7580616" cy="3505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Subtracting two 64-bit integers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00000002FFFFFFFF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0000000400000001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Subtract A from B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- B[31:0], update Carry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C[64:32] = A[64:32] - B[64:32] + Carry - 1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89" y="1295401"/>
            <a:ext cx="3581400" cy="180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9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Counting Leading Zeroes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1539240"/>
            <a:ext cx="7696200" cy="4404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64-bit input data =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# of leading zero bits in the 64-bit 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upper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 leading zeroes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lower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#32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CLZEQ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32, then count leading zero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bits of the lower word</a:t>
            </a:r>
          </a:p>
          <a:p>
            <a:pPr marL="0" indent="0">
              <a:buNone/>
            </a:pP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ADDEQ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all bits of the upper word are zero,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        ; add the leading zeroes of the lower word</a:t>
            </a:r>
          </a:p>
        </p:txBody>
      </p:sp>
    </p:spTree>
    <p:extLst>
      <p:ext uri="{BB962C8B-B14F-4D97-AF65-F5344CB8AC3E}">
        <p14:creationId xmlns:p14="http://schemas.microsoft.com/office/powerpoint/2010/main" val="403710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Sign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57400" y="2057400"/>
            <a:ext cx="8229600" cy="2209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 of 64-bit 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 of 64-bit data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0x80000000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Check the sign bit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LDREQ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1, duplicate 1 in upper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LDRNE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0, duplicate 0 in upper word </a:t>
            </a:r>
          </a:p>
        </p:txBody>
      </p:sp>
    </p:spTree>
    <p:extLst>
      <p:ext uri="{BB962C8B-B14F-4D97-AF65-F5344CB8AC3E}">
        <p14:creationId xmlns:p14="http://schemas.microsoft.com/office/powerpoint/2010/main" val="135507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25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Left by 3</a:t>
            </a:r>
          </a:p>
        </p:txBody>
      </p:sp>
      <p:pic>
        <p:nvPicPr>
          <p:cNvPr id="7" name="Picture 6" descr="Diagram, timeline&#10;&#10;Description automatically generated">
            <a:extLst>
              <a:ext uri="{FF2B5EF4-FFF2-40B4-BE49-F238E27FC236}">
                <a16:creationId xmlns:a16="http://schemas.microsoft.com/office/drawing/2014/main" id="{EC09271D-7561-9293-019D-78DF750CDF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94" y="2209800"/>
            <a:ext cx="10603406" cy="30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/>
          </a:bodyPr>
          <a:lstStyle/>
          <a:p>
            <a:r>
              <a:rPr lang="en-US" sz="2000" dirty="0"/>
              <a:t>Write the assembly code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5283202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147912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r3, r0          	</a:t>
            </a:r>
            <a:r>
              <a:rPr lang="en-US" sz="2500" dirty="0">
                <a:latin typeface="Consolas" panose="020B0609020204030204" pitchFamily="49" charset="0"/>
              </a:rPr>
              <a:t>; Backup the lower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MOVS r1, r1, LSL #3  	</a:t>
            </a:r>
            <a:r>
              <a:rPr lang="en-US" sz="2500" dirty="0">
                <a:latin typeface="Consolas" panose="020B0609020204030204" pitchFamily="49" charset="0"/>
              </a:rPr>
              <a:t>; Shift left the upper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r0, r0, LSL #3  	</a:t>
            </a:r>
            <a:r>
              <a:rPr lang="en-US" sz="2500" dirty="0">
                <a:latin typeface="Consolas" panose="020B0609020204030204" pitchFamily="49" charset="0"/>
              </a:rPr>
              <a:t>; Shift left the lower word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ORR  r1, r1, r3, LSR #29   </a:t>
            </a:r>
            <a:r>
              <a:rPr lang="en-US" sz="2500" dirty="0">
                <a:latin typeface="Consolas" panose="020B0609020204030204" pitchFamily="49" charset="0"/>
              </a:rPr>
              <a:t>; upper |= lower &gt;&gt; (32 - 3)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5283202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3371855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78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71600"/>
            <a:ext cx="7010400" cy="19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3B00B-1004-E202-E411-07D70B1B5B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5000" y="3563288"/>
            <a:ext cx="10972800" cy="27613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r3, r1              </a:t>
            </a:r>
            <a:r>
              <a:rPr lang="en-US" dirty="0">
                <a:latin typeface="Consolas" panose="020B0609020204030204" pitchFamily="49" charset="0"/>
              </a:rPr>
              <a:t>; Backup the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r1, r1, LSR #3      </a:t>
            </a:r>
            <a:r>
              <a:rPr lang="en-US" dirty="0">
                <a:latin typeface="Consolas" panose="020B0609020204030204" pitchFamily="49" charset="0"/>
              </a:rPr>
              <a:t>; Shift right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r0, r0, LSR #3      </a:t>
            </a:r>
            <a:r>
              <a:rPr lang="en-US" dirty="0">
                <a:latin typeface="Consolas" panose="020B0609020204030204" pitchFamily="49" charset="0"/>
              </a:rPr>
              <a:t>; Shift right lower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ORR r0, r0, r3, LSL 29  </a:t>
            </a:r>
            <a:r>
              <a:rPr lang="en-US" dirty="0">
                <a:latin typeface="Consolas" panose="020B0609020204030204" pitchFamily="49" charset="0"/>
              </a:rPr>
              <a:t>; lower |= upper &lt;&lt; (32 - 3)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30566-267C-93CA-7E5A-3D2B1076B92C}"/>
              </a:ext>
            </a:extLst>
          </p:cNvPr>
          <p:cNvSpPr txBox="1"/>
          <p:nvPr/>
        </p:nvSpPr>
        <p:spPr>
          <a:xfrm>
            <a:off x="56834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3C1AA-3E98-17B0-B56A-0D87A307675A}"/>
              </a:ext>
            </a:extLst>
          </p:cNvPr>
          <p:cNvSpPr txBox="1"/>
          <p:nvPr/>
        </p:nvSpPr>
        <p:spPr>
          <a:xfrm>
            <a:off x="24830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301B-CD63-74B4-1D7D-B98FCF028166}"/>
              </a:ext>
            </a:extLst>
          </p:cNvPr>
          <p:cNvSpPr txBox="1"/>
          <p:nvPr/>
        </p:nvSpPr>
        <p:spPr>
          <a:xfrm>
            <a:off x="5464490" y="311122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A8B67-4CC2-6901-2C44-577FDE9BF2FF}"/>
              </a:ext>
            </a:extLst>
          </p:cNvPr>
          <p:cNvSpPr txBox="1"/>
          <p:nvPr/>
        </p:nvSpPr>
        <p:spPr>
          <a:xfrm>
            <a:off x="2423793" y="311004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98459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Multiplication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676400"/>
            <a:ext cx="8229600" cy="2438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product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multiplier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× multiplicand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×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The last item exceeds 64 bits and thus it is ignored.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45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2452</TotalTime>
  <Words>880</Words>
  <Application>Microsoft Office PowerPoint</Application>
  <PresentationFormat>Widescreen</PresentationFormat>
  <Paragraphs>114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Bookman Old Style (Headings)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64-bit Addition</vt:lpstr>
      <vt:lpstr>64-bit Subtraction</vt:lpstr>
      <vt:lpstr>64-bit Counting Leading Zeroes</vt:lpstr>
      <vt:lpstr>64-bit Sign Extension</vt:lpstr>
      <vt:lpstr>64-bit Logic Shift Left</vt:lpstr>
      <vt:lpstr>64-bit Logic Shift Left</vt:lpstr>
      <vt:lpstr>64-bit Logic Shift Left</vt:lpstr>
      <vt:lpstr>64-bit Logic Shift Left</vt:lpstr>
      <vt:lpstr>64-bit Logic Shift Right</vt:lpstr>
      <vt:lpstr>64-bit Logic Shift Right</vt:lpstr>
      <vt:lpstr>64-bit Logic Shift Right</vt:lpstr>
      <vt:lpstr>64-bit Multiplication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241</cp:revision>
  <dcterms:created xsi:type="dcterms:W3CDTF">2013-02-03T05:36:57Z</dcterms:created>
  <dcterms:modified xsi:type="dcterms:W3CDTF">2025-09-25T00:31:31Z</dcterms:modified>
</cp:coreProperties>
</file>