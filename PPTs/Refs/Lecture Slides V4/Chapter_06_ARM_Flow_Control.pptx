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347" r:id="rId3"/>
    <p:sldId id="269" r:id="rId4"/>
    <p:sldId id="343" r:id="rId5"/>
    <p:sldId id="348" r:id="rId6"/>
    <p:sldId id="275" r:id="rId7"/>
    <p:sldId id="282" r:id="rId8"/>
    <p:sldId id="285" r:id="rId9"/>
    <p:sldId id="284" r:id="rId10"/>
    <p:sldId id="277" r:id="rId11"/>
    <p:sldId id="349" r:id="rId12"/>
    <p:sldId id="301" r:id="rId13"/>
    <p:sldId id="299" r:id="rId14"/>
    <p:sldId id="353" r:id="rId15"/>
    <p:sldId id="354" r:id="rId16"/>
    <p:sldId id="292" r:id="rId17"/>
    <p:sldId id="300" r:id="rId18"/>
    <p:sldId id="344" r:id="rId19"/>
    <p:sldId id="345" r:id="rId20"/>
    <p:sldId id="297" r:id="rId21"/>
    <p:sldId id="298" r:id="rId22"/>
    <p:sldId id="321" r:id="rId23"/>
    <p:sldId id="322" r:id="rId24"/>
    <p:sldId id="323" r:id="rId25"/>
    <p:sldId id="325" r:id="rId26"/>
    <p:sldId id="326" r:id="rId27"/>
    <p:sldId id="327" r:id="rId28"/>
    <p:sldId id="303" r:id="rId29"/>
    <p:sldId id="304" r:id="rId30"/>
    <p:sldId id="331" r:id="rId31"/>
    <p:sldId id="339" r:id="rId32"/>
    <p:sldId id="340" r:id="rId33"/>
    <p:sldId id="324" r:id="rId34"/>
    <p:sldId id="335" r:id="rId35"/>
    <p:sldId id="336" r:id="rId36"/>
    <p:sldId id="313" r:id="rId37"/>
    <p:sldId id="332" r:id="rId38"/>
    <p:sldId id="346" r:id="rId39"/>
    <p:sldId id="334" r:id="rId40"/>
    <p:sldId id="317" r:id="rId41"/>
    <p:sldId id="318" r:id="rId42"/>
    <p:sldId id="352" r:id="rId43"/>
    <p:sldId id="350" r:id="rId44"/>
    <p:sldId id="351" r:id="rId45"/>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71" autoAdjust="0"/>
    <p:restoredTop sz="93725"/>
  </p:normalViewPr>
  <p:slideViewPr>
    <p:cSldViewPr>
      <p:cViewPr varScale="1">
        <p:scale>
          <a:sx n="149" d="100"/>
          <a:sy n="149" d="100"/>
        </p:scale>
        <p:origin x="3744"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9/24/2025</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6783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1191461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813913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6875" y="692150"/>
            <a:ext cx="6156325" cy="3463925"/>
          </a:xfrm>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2806559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03985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776536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1733569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endParaRPr lang="en-US" dirty="0"/>
          </a:p>
        </p:txBody>
      </p:sp>
      <p:sp>
        <p:nvSpPr>
          <p:cNvPr id="47107"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2424995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25608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9/24/2025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9/24/2025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9/24/2025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9/24/2025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9/24/2025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9/24/2025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9/24/2025</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9/24/2025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4572000" y="545069"/>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7162800" y="1905000"/>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Flow Control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Control Structures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609600" y="1280795"/>
            <a:ext cx="3886200" cy="4937760"/>
          </a:xfrm>
        </p:spPr>
        <p:txBody>
          <a:bodyPr/>
          <a:lstStyle/>
          <a:p>
            <a:r>
              <a:rPr lang="en-US" dirty="0"/>
              <a:t>Sequence Structure</a:t>
            </a:r>
          </a:p>
          <a:p>
            <a:pPr lvl="1"/>
            <a:r>
              <a:rPr lang="en-US" dirty="0"/>
              <a:t>Computer executes statements (instructions), one after another, in the order listed in the program</a:t>
            </a: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43800" y="1676401"/>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7292535" y="4397412"/>
            <a:ext cx="2209800" cy="369332"/>
          </a:xfrm>
          <a:prstGeom prst="rect">
            <a:avLst/>
          </a:prstGeom>
          <a:noFill/>
        </p:spPr>
        <p:txBody>
          <a:bodyPr wrap="square" rtlCol="0">
            <a:spAutoFit/>
          </a:bodyPr>
          <a:lstStyle/>
          <a:p>
            <a:pPr algn="ctr"/>
            <a:r>
              <a:rPr lang="en-US" dirty="0">
                <a:solidFill>
                  <a:srgbClr val="C00000"/>
                </a:solidFill>
              </a:rPr>
              <a:t>Sequence Structure</a:t>
            </a:r>
          </a:p>
        </p:txBody>
      </p:sp>
    </p:spTree>
    <p:extLst>
      <p:ext uri="{BB962C8B-B14F-4D97-AF65-F5344CB8AC3E}">
        <p14:creationId xmlns:p14="http://schemas.microsoft.com/office/powerpoint/2010/main" val="3183429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3</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pPr>
              <a:lnSpc>
                <a:spcPct val="90000"/>
              </a:lnSpc>
            </a:pPr>
            <a:r>
              <a:rPr lang="en-US" altLang="zh-TW" sz="1800" b="1" dirty="0">
                <a:latin typeface="Courier New"/>
                <a:cs typeface="Courier New"/>
              </a:rPr>
              <a:t>Selection Structure</a:t>
            </a:r>
          </a:p>
          <a:p>
            <a:pPr lvl="1">
              <a:lnSpc>
                <a:spcPct val="90000"/>
              </a:lnSpc>
            </a:pPr>
            <a:r>
              <a:rPr lang="en-US" altLang="zh-TW" sz="18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800" b="1" dirty="0">
                <a:latin typeface="Courier New" pitchFamily="49" charset="0"/>
              </a:rPr>
              <a:t>while loop</a:t>
            </a:r>
          </a:p>
          <a:p>
            <a:pPr lvl="1">
              <a:lnSpc>
                <a:spcPct val="90000"/>
              </a:lnSpc>
            </a:pPr>
            <a:r>
              <a:rPr lang="en-US" altLang="zh-TW" sz="1800" b="1" dirty="0">
                <a:latin typeface="Courier New" pitchFamily="49" charset="0"/>
              </a:rPr>
              <a:t>for 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6796" y="2992747"/>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1491996" y="5790376"/>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4117848" y="3104313"/>
            <a:ext cx="3657600" cy="3011381"/>
            <a:chOff x="2362200" y="1752600"/>
            <a:chExt cx="4132390" cy="3714428"/>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2235462" cy="455558"/>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8975036" y="2736431"/>
            <a:ext cx="2133600" cy="3379263"/>
            <a:chOff x="6400800" y="1447800"/>
            <a:chExt cx="2517213" cy="4008753"/>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901278" cy="438131"/>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16680061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609600" y="2377588"/>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does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2286000" y="1333086"/>
            <a:ext cx="8527446" cy="914401"/>
            <a:chOff x="974370" y="1440516"/>
            <a:chExt cx="7606093" cy="556276"/>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440516"/>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8"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Tree>
    <p:extLst>
      <p:ext uri="{BB962C8B-B14F-4D97-AF65-F5344CB8AC3E}">
        <p14:creationId xmlns:p14="http://schemas.microsoft.com/office/powerpoint/2010/main" val="119720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r>
              <a:rPr lang="en-US" dirty="0"/>
              <a:t>Method </a:t>
            </a:r>
            <a:r>
              <a:rPr lang="en-US" dirty="0">
                <a:latin typeface="Consolas" panose="020B0609020204030204" pitchFamily="49" charset="0"/>
              </a:rPr>
              <a:t>1</a:t>
            </a:r>
            <a:r>
              <a:rPr lang="en-US" dirty="0"/>
              <a:t>:  append with “</a:t>
            </a:r>
            <a:r>
              <a:rPr lang="en-US" b="1" dirty="0">
                <a:solidFill>
                  <a:srgbClr val="FF0000"/>
                </a:solidFill>
                <a:latin typeface="Consolas" panose="020B0609020204030204" pitchFamily="49" charset="0"/>
              </a:rPr>
              <a:t>S</a:t>
            </a:r>
            <a:r>
              <a:rPr lang="en-US" dirty="0"/>
              <a:t>”</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r0,r1,r2</a:t>
            </a:r>
          </a:p>
          <a:p>
            <a:pPr marL="274320" lvl="1" indent="0">
              <a:buNone/>
            </a:pPr>
            <a:endParaRPr lang="en-US" dirty="0">
              <a:latin typeface="Consolas" panose="020B0609020204030204" pitchFamily="49" charset="0"/>
              <a:ea typeface="Arial Unicode MS" panose="020B0604020202020204" pitchFamily="34" charset="-128"/>
              <a:cs typeface="Arial Unicode MS" panose="020B0604020202020204" pitchFamily="34" charset="-128"/>
            </a:endParaRPr>
          </a:p>
          <a:p>
            <a:r>
              <a:rPr lang="en-US" dirty="0"/>
              <a:t>Method </a:t>
            </a:r>
            <a:r>
              <a:rPr lang="en-US" dirty="0">
                <a:latin typeface="Consolas" panose="020B0609020204030204" pitchFamily="49" charset="0"/>
              </a:rPr>
              <a:t>2</a:t>
            </a:r>
            <a:r>
              <a:rPr lang="en-US" dirty="0"/>
              <a:t>:  using compare instructions</a:t>
            </a:r>
          </a:p>
          <a:p>
            <a:endParaRPr lang="en-US" dirty="0">
              <a:latin typeface="Consolas" panose="020B0609020204030204" pitchFamily="49"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514799231"/>
              </p:ext>
            </p:extLst>
          </p:nvPr>
        </p:nvGraphicFramePr>
        <p:xfrm>
          <a:off x="3851868" y="3673873"/>
          <a:ext cx="4488265"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8055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5" name="Content Placeholder 4"/>
          <p:cNvSpPr>
            <a:spLocks noGrp="1"/>
          </p:cNvSpPr>
          <p:nvPr>
            <p:ph sz="quarter" idx="1"/>
          </p:nvPr>
        </p:nvSpPr>
        <p:spPr>
          <a:xfrm>
            <a:off x="1752599" y="3399790"/>
            <a:ext cx="8534400" cy="2956560"/>
          </a:xfrm>
        </p:spPr>
        <p:txBody>
          <a:bodyPr>
            <a:normAutofit fontScale="92500" lnSpcReduction="10000"/>
          </a:bodyPr>
          <a:lstStyle/>
          <a:p>
            <a:pPr>
              <a:lnSpc>
                <a:spcPct val="90000"/>
              </a:lnSpc>
              <a:buFont typeface="Wingdings" pitchFamily="2" charset="2"/>
              <a:buChar char="Ø"/>
            </a:pPr>
            <a:r>
              <a:rPr lang="en-US" altLang="zh-TW" sz="1900" b="1" dirty="0">
                <a:solidFill>
                  <a:srgbClr val="C00000"/>
                </a:solidFill>
              </a:rPr>
              <a:t>Update the status flags</a:t>
            </a:r>
            <a:endParaRPr lang="en-US" altLang="zh-TW" sz="1900" b="1" i="1" dirty="0"/>
          </a:p>
          <a:p>
            <a:pPr marL="800100" lvl="1" indent="-342900">
              <a:lnSpc>
                <a:spcPct val="90000"/>
              </a:lnSpc>
              <a:buFont typeface="Arial" pitchFamily="34" charset="0"/>
              <a:buChar char="•"/>
            </a:pPr>
            <a:r>
              <a:rPr lang="en-US" altLang="zh-TW" sz="1600" dirty="0"/>
              <a:t>No need to add S bit.</a:t>
            </a:r>
          </a:p>
          <a:p>
            <a:pPr marL="800100" lvl="1" indent="-342900">
              <a:lnSpc>
                <a:spcPct val="90000"/>
              </a:lnSpc>
              <a:buFont typeface="Arial" pitchFamily="34" charset="0"/>
              <a:buChar char="•"/>
            </a:pPr>
            <a:r>
              <a:rPr lang="en-US" altLang="zh-TW" sz="1600" dirty="0"/>
              <a:t>No need to specify destination register.</a:t>
            </a:r>
          </a:p>
          <a:p>
            <a:pPr>
              <a:lnSpc>
                <a:spcPct val="90000"/>
              </a:lnSpc>
              <a:buFont typeface="Wingdings" pitchFamily="2" charset="2"/>
              <a:buChar char="Ø"/>
            </a:pPr>
            <a:r>
              <a:rPr lang="en-US" altLang="zh-TW" sz="1900" dirty="0"/>
              <a:t>Operations are:</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CMP  </a:t>
            </a:r>
            <a:r>
              <a:rPr lang="en-US" altLang="zh-TW" sz="1600" dirty="0">
                <a:latin typeface="Consolas" panose="020B0609020204030204" pitchFamily="49" charset="0"/>
                <a:cs typeface="Consolas" panose="020B0609020204030204" pitchFamily="49" charset="0"/>
              </a:rPr>
              <a:t>operand1 - operand2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but result not written</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CMN  </a:t>
            </a:r>
            <a:r>
              <a:rPr lang="en-US" altLang="zh-TW" sz="1600" dirty="0">
                <a:latin typeface="Consolas" panose="020B0609020204030204" pitchFamily="49" charset="0"/>
                <a:cs typeface="Consolas" panose="020B0609020204030204" pitchFamily="49" charset="0"/>
              </a:rPr>
              <a:t>operand1 + operand2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but result not written</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TST  </a:t>
            </a:r>
            <a:r>
              <a:rPr lang="en-US" altLang="zh-TW" sz="1600" dirty="0">
                <a:latin typeface="Consolas" panose="020B0609020204030204" pitchFamily="49" charset="0"/>
                <a:cs typeface="Consolas" panose="020B0609020204030204" pitchFamily="49" charset="0"/>
              </a:rPr>
              <a:t>operand1 &amp; operand2</a:t>
            </a:r>
            <a:r>
              <a:rPr lang="en-US" altLang="zh-TW" sz="1600" dirty="0"/>
              <a:t>,  but result not written</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TEQ  </a:t>
            </a:r>
            <a:r>
              <a:rPr lang="en-US" altLang="zh-TW" sz="1600" dirty="0">
                <a:latin typeface="Consolas" panose="020B0609020204030204" pitchFamily="49" charset="0"/>
                <a:cs typeface="Consolas" panose="020B0609020204030204" pitchFamily="49" charset="0"/>
              </a:rPr>
              <a:t>operand1 ^ operand2</a:t>
            </a:r>
            <a:r>
              <a:rPr lang="en-US" altLang="zh-TW" sz="1600" dirty="0"/>
              <a:t>,  but result not written</a:t>
            </a:r>
          </a:p>
          <a:p>
            <a:pPr>
              <a:lnSpc>
                <a:spcPct val="90000"/>
              </a:lnSpc>
              <a:buFont typeface="Wingdings" pitchFamily="2" charset="2"/>
              <a:buChar char="Ø"/>
            </a:pPr>
            <a:r>
              <a:rPr lang="en-US" altLang="zh-TW" sz="2100" dirty="0"/>
              <a:t>Examples:</a:t>
            </a:r>
            <a:endParaRPr lang="en-US" altLang="zh-TW" sz="2100" b="1" dirty="0">
              <a:latin typeface="Courier New" pitchFamily="49" charset="0"/>
            </a:endParaRPr>
          </a:p>
          <a:p>
            <a:pPr marL="800100" lvl="1" indent="-342900">
              <a:lnSpc>
                <a:spcPct val="90000"/>
              </a:lnSpc>
              <a:buFont typeface="Arial" pitchFamily="34" charset="0"/>
              <a:buChar char="•"/>
            </a:pPr>
            <a:r>
              <a:rPr lang="en-US" altLang="zh-TW" sz="1600" b="1" dirty="0">
                <a:latin typeface="Courier New" pitchFamily="49" charset="0"/>
              </a:rPr>
              <a:t>CMP  r0, r1</a:t>
            </a:r>
          </a:p>
          <a:p>
            <a:pPr marL="800100" lvl="1" indent="-342900">
              <a:lnSpc>
                <a:spcPct val="90000"/>
              </a:lnSpc>
              <a:buFont typeface="Arial" pitchFamily="34" charset="0"/>
              <a:buChar char="•"/>
            </a:pPr>
            <a:r>
              <a:rPr lang="en-US" altLang="zh-TW" sz="1600" b="1" dirty="0">
                <a:latin typeface="Courier New" pitchFamily="49" charset="0"/>
              </a:rPr>
              <a:t>TST  r2, #5</a:t>
            </a:r>
            <a:endParaRPr lang="zh-TW" altLang="en-US" sz="1600" b="1" dirty="0">
              <a:latin typeface="Courier New" pitchFamily="49"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029720561"/>
              </p:ext>
            </p:extLst>
          </p:nvPr>
        </p:nvGraphicFramePr>
        <p:xfrm>
          <a:off x="2971800"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Rn</a:t>
                      </a:r>
                      <a:r>
                        <a:rPr lang="en-US" sz="1800" dirty="0">
                          <a:effectLst/>
                          <a:latin typeface="Consolas" panose="020B0609020204030204" pitchFamily="49" charset="0"/>
                        </a:rPr>
                        <a:t>, Op2</a:t>
                      </a:r>
                      <a:endParaRPr lang="en-US" sz="1800" dirty="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CMP and CMN</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a:p>
        </p:txBody>
      </p:sp>
      <p:sp>
        <p:nvSpPr>
          <p:cNvPr id="4" name="Content Placeholder 3"/>
          <p:cNvSpPr>
            <a:spLocks noGrp="1"/>
          </p:cNvSpPr>
          <p:nvPr>
            <p:ph sz="quarter" idx="1"/>
          </p:nvPr>
        </p:nvSpPr>
        <p:spPr>
          <a:xfrm>
            <a:off x="1981200" y="1600200"/>
            <a:ext cx="8229600" cy="4556760"/>
          </a:xfrm>
        </p:spPr>
        <p:txBody>
          <a:bodyPr>
            <a:normAutofit/>
          </a:bodyPr>
          <a:lstStyle/>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Operand2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Operand2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Operand2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Operand2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p:txBody>
      </p:sp>
    </p:spTree>
    <p:extLst>
      <p:ext uri="{BB962C8B-B14F-4D97-AF65-F5344CB8AC3E}">
        <p14:creationId xmlns:p14="http://schemas.microsoft.com/office/powerpoint/2010/main" val="3146583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2819400" y="2286000"/>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RSB</a:t>
            </a:r>
            <a:r>
              <a:rPr lang="en-US" b="1" dirty="0" err="1">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r0, r1, #0</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a:t>
            </a:r>
            <a:r>
              <a:rPr lang="en-US" dirty="0" err="1">
                <a:solidFill>
                  <a:schemeClr val="bg1">
                    <a:lumMod val="50000"/>
                  </a:schemeClr>
                </a:solidFill>
                <a:latin typeface="Consolas" panose="020B0609020204030204" pitchFamily="49" charset="0"/>
                <a:cs typeface="Consolas" panose="020B0609020204030204" pitchFamily="49" charset="0"/>
              </a:rPr>
              <a:t>deadloop</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5105400" y="1524000"/>
                <a:ext cx="2057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𝑓</m:t>
                      </m:r>
                      <m:d>
                        <m:dPr>
                          <m:ctrlPr>
                            <a:rPr lang="en-US" sz="2800" i="1">
                              <a:latin typeface="Cambria Math" panose="02040503050406030204" pitchFamily="18" charset="0"/>
                            </a:rPr>
                          </m:ctrlPr>
                        </m:dPr>
                        <m:e>
                          <m:r>
                            <a:rPr lang="en-US" sz="2800" i="1">
                              <a:latin typeface="Cambria Math"/>
                            </a:rPr>
                            <m:t>𝑥</m:t>
                          </m:r>
                        </m:e>
                      </m:d>
                      <m:r>
                        <a:rPr lang="en-US" sz="2800" i="1">
                          <a:latin typeface="Cambria Math"/>
                        </a:rPr>
                        <m:t>=|</m:t>
                      </m:r>
                      <m:r>
                        <a:rPr lang="en-US" sz="2800" i="1">
                          <a:latin typeface="Cambria Math"/>
                        </a:rPr>
                        <m:t>𝑥</m:t>
                      </m:r>
                      <m:r>
                        <a:rPr lang="en-US" sz="2800" i="1">
                          <a:latin typeface="Cambria Math"/>
                        </a:rPr>
                        <m:t>|</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5105400" y="1524000"/>
                <a:ext cx="2057400" cy="523220"/>
              </a:xfrm>
              <a:prstGeom prst="rect">
                <a:avLst/>
              </a:prstGeom>
              <a:blipFill>
                <a:blip r:embed="rId2"/>
                <a:stretch>
                  <a:fillRect b="-19048"/>
                </a:stretch>
              </a:blipFill>
            </p:spPr>
            <p:txBody>
              <a:bodyPr/>
              <a:lstStyle/>
              <a:p>
                <a:r>
                  <a:rPr lang="en-US">
                    <a:noFill/>
                  </a:rPr>
                  <a:t> </a:t>
                </a:r>
              </a:p>
            </p:txBody>
          </p:sp>
        </mc:Fallback>
      </mc:AlternateContent>
      <p:sp>
        <p:nvSpPr>
          <p:cNvPr id="7" name="Rectangle 6"/>
          <p:cNvSpPr/>
          <p:nvPr/>
        </p:nvSpPr>
        <p:spPr>
          <a:xfrm>
            <a:off x="2819401" y="5943600"/>
            <a:ext cx="2480615" cy="338554"/>
          </a:xfrm>
          <a:prstGeom prst="rect">
            <a:avLst/>
          </a:prstGeom>
        </p:spPr>
        <p:txBody>
          <a:bodyPr wrap="none">
            <a:spAutoFit/>
          </a:bodyPr>
          <a:lstStyle/>
          <a:p>
            <a:r>
              <a:rPr lang="en-US" sz="1600" i="1" dirty="0"/>
              <a:t>Note: RSB = Reverse </a:t>
            </a:r>
            <a:r>
              <a:rPr lang="en-US" sz="1600" i="1" dirty="0" err="1"/>
              <a:t>SuBtract</a:t>
            </a:r>
            <a:endParaRPr lang="en-US" sz="1600" i="1" dirty="0"/>
          </a:p>
        </p:txBody>
      </p:sp>
      <p:sp>
        <p:nvSpPr>
          <p:cNvPr id="4" name="TextBox 3">
            <a:extLst>
              <a:ext uri="{FF2B5EF4-FFF2-40B4-BE49-F238E27FC236}">
                <a16:creationId xmlns:a16="http://schemas.microsoft.com/office/drawing/2014/main" id="{54BB17C6-B669-1841-8CA4-0A66B23D05E5}"/>
              </a:ext>
            </a:extLst>
          </p:cNvPr>
          <p:cNvSpPr txBox="1"/>
          <p:nvPr/>
        </p:nvSpPr>
        <p:spPr>
          <a:xfrm>
            <a:off x="9448800" y="3670994"/>
            <a:ext cx="1905000" cy="646331"/>
          </a:xfrm>
          <a:prstGeom prst="rect">
            <a:avLst/>
          </a:prstGeom>
          <a:noFill/>
        </p:spPr>
        <p:txBody>
          <a:bodyPr wrap="square" rtlCol="0">
            <a:spAutoFit/>
          </a:bodyPr>
          <a:lstStyle/>
          <a:p>
            <a:r>
              <a:rPr lang="en-US" dirty="0"/>
              <a:t>Assume register </a:t>
            </a:r>
            <a:r>
              <a:rPr lang="en-US" dirty="0">
                <a:latin typeface="Consolas" panose="020B0609020204030204" pitchFamily="49" charset="0"/>
                <a:cs typeface="Consolas" panose="020B0609020204030204" pitchFamily="49" charset="0"/>
              </a:rPr>
              <a:t>r1</a:t>
            </a:r>
            <a:r>
              <a:rPr lang="en-US" dirty="0"/>
              <a:t> holds </a:t>
            </a:r>
            <a:r>
              <a:rPr lang="en-US" dirty="0">
                <a:latin typeface="Consolas" panose="020B0609020204030204" pitchFamily="49" charset="0"/>
                <a:cs typeface="Consolas" panose="020B0609020204030204" pitchFamily="49" charset="0"/>
              </a:rPr>
              <a:t>x</a:t>
            </a:r>
            <a:r>
              <a:rPr lang="en-US" dirty="0"/>
              <a:t>’s value.</a:t>
            </a:r>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Updating Condition Flags: 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sp>
        <p:nvSpPr>
          <p:cNvPr id="4" name="Content Placeholder 3"/>
          <p:cNvSpPr>
            <a:spLocks noGrp="1"/>
          </p:cNvSpPr>
          <p:nvPr>
            <p:ph sz="quarter" idx="1"/>
          </p:nvPr>
        </p:nvSpPr>
        <p:spPr>
          <a:xfrm>
            <a:off x="685800" y="1387074"/>
            <a:ext cx="12344400" cy="4709160"/>
          </a:xfrm>
        </p:spPr>
        <p:txBody>
          <a:bodyPr>
            <a:normAutofit/>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Operand2 </a:t>
            </a:r>
          </a:p>
          <a:p>
            <a:r>
              <a:rPr lang="en-US" sz="2000" dirty="0"/>
              <a:t>Do not affect V</a:t>
            </a:r>
          </a:p>
          <a:p>
            <a:r>
              <a:rPr lang="en-US" sz="2000" dirty="0"/>
              <a:t>TST performs  </a:t>
            </a:r>
            <a:r>
              <a:rPr lang="en-US" sz="2000" dirty="0">
                <a:solidFill>
                  <a:srgbClr val="FF0000"/>
                </a:solidFill>
              </a:rPr>
              <a:t>bitwise AND </a:t>
            </a:r>
            <a:r>
              <a:rPr lang="en-US" sz="2000" dirty="0"/>
              <a:t>on Rn and Operand2. </a:t>
            </a:r>
          </a:p>
          <a:p>
            <a:pPr lvl="1"/>
            <a:r>
              <a:rPr lang="en-US" sz="1800" dirty="0"/>
              <a:t>Same as </a:t>
            </a:r>
            <a:r>
              <a:rPr lang="en-US" sz="1800" dirty="0">
                <a:latin typeface="Consolas" panose="020B0609020204030204" pitchFamily="49" charset="0"/>
              </a:rPr>
              <a:t>ANDS</a:t>
            </a:r>
            <a:r>
              <a:rPr lang="en-US" sz="1800" dirty="0"/>
              <a:t>, except result is discarded.</a:t>
            </a:r>
          </a:p>
          <a:p>
            <a:r>
              <a:rPr lang="en-US" sz="2000" dirty="0"/>
              <a:t>TEQ performs </a:t>
            </a:r>
            <a:r>
              <a:rPr lang="en-US" sz="2000" dirty="0">
                <a:solidFill>
                  <a:srgbClr val="FF0000"/>
                </a:solidFill>
              </a:rPr>
              <a:t>bitwise Exclusive OR </a:t>
            </a:r>
            <a:r>
              <a:rPr lang="en-US" sz="2000" dirty="0"/>
              <a:t>on Rn and Operand2.</a:t>
            </a:r>
          </a:p>
          <a:p>
            <a:pPr lvl="1"/>
            <a:r>
              <a:rPr lang="en-US" sz="1800" dirty="0"/>
              <a:t>Same as </a:t>
            </a:r>
            <a:r>
              <a:rPr lang="en-US" sz="1800" dirty="0">
                <a:latin typeface="Consolas" panose="020B0609020204030204" pitchFamily="49" charset="0"/>
              </a:rPr>
              <a:t>EORS</a:t>
            </a:r>
            <a:r>
              <a:rPr lang="en-US" sz="1800" dirty="0"/>
              <a:t>, except result is discarded.</a:t>
            </a:r>
          </a:p>
        </p:txBody>
      </p:sp>
    </p:spTree>
    <p:extLst>
      <p:ext uri="{BB962C8B-B14F-4D97-AF65-F5344CB8AC3E}">
        <p14:creationId xmlns:p14="http://schemas.microsoft.com/office/powerpoint/2010/main" val="3856419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sp>
        <p:nvSpPr>
          <p:cNvPr id="5" name="Content Placeholder 4"/>
          <p:cNvSpPr>
            <a:spLocks noGrp="1"/>
          </p:cNvSpPr>
          <p:nvPr>
            <p:ph sz="quarter" idx="1"/>
          </p:nvPr>
        </p:nvSpPr>
        <p:spPr>
          <a:xfrm>
            <a:off x="842932" y="3228829"/>
            <a:ext cx="8534400" cy="2880360"/>
          </a:xfrm>
        </p:spPr>
        <p:txBody>
          <a:bodyPr>
            <a:normAutofit fontScale="92500" lnSpcReduction="20000"/>
          </a:bodyPr>
          <a:lstStyle/>
          <a:p>
            <a:r>
              <a:rPr lang="en-US" sz="2000" i="1" dirty="0">
                <a:solidFill>
                  <a:srgbClr val="FF0000"/>
                </a:solidFill>
              </a:rPr>
              <a:t>B label</a:t>
            </a:r>
            <a:r>
              <a:rPr lang="en-US" sz="2000" dirty="0"/>
              <a:t> </a:t>
            </a:r>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2406667574"/>
              </p:ext>
            </p:extLst>
          </p:nvPr>
        </p:nvGraphicFramePr>
        <p:xfrm>
          <a:off x="3352801"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p:cNvSpPr>
            <a:spLocks noGrp="1"/>
          </p:cNvSpPr>
          <p:nvPr>
            <p:ph sz="quarter" idx="1"/>
          </p:nvPr>
        </p:nvSpPr>
        <p:spPr>
          <a:xfrm>
            <a:off x="2136648" y="4253396"/>
            <a:ext cx="8229600" cy="1280160"/>
          </a:xfrm>
        </p:spPr>
        <p:txBody>
          <a:bodyPr>
            <a:normAutofit fontScale="77500" lnSpcReduction="20000"/>
          </a:bodyPr>
          <a:lstStyle/>
          <a:p>
            <a:r>
              <a:rPr lang="en-US" dirty="0"/>
              <a:t>A </a:t>
            </a:r>
            <a:r>
              <a:rPr lang="en-US" dirty="0">
                <a:solidFill>
                  <a:srgbClr val="FF0000"/>
                </a:solidFill>
              </a:rPr>
              <a:t>label</a:t>
            </a:r>
            <a:r>
              <a:rPr lang="en-US" dirty="0"/>
              <a:t> marks the location of an instruction</a:t>
            </a:r>
          </a:p>
          <a:p>
            <a:r>
              <a:rPr lang="en-US" dirty="0"/>
              <a:t>Labels helps human to read the code</a:t>
            </a:r>
          </a:p>
          <a:p>
            <a:r>
              <a:rPr lang="en-US" dirty="0"/>
              <a:t>In machine program, labels are converted to numeric offsets by assembler </a:t>
            </a:r>
          </a:p>
        </p:txBody>
      </p:sp>
      <p:sp>
        <p:nvSpPr>
          <p:cNvPr id="5" name="TextBox 4"/>
          <p:cNvSpPr txBox="1"/>
          <p:nvPr/>
        </p:nvSpPr>
        <p:spPr>
          <a:xfrm>
            <a:off x="3478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r3, #3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rgbClr val="0000FF"/>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Tree>
    <p:extLst>
      <p:ext uri="{BB962C8B-B14F-4D97-AF65-F5344CB8AC3E}">
        <p14:creationId xmlns:p14="http://schemas.microsoft.com/office/powerpoint/2010/main" val="2162368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2" name="Rectangle 5"/>
          <p:cNvSpPr>
            <a:spLocks noChangeArrowheads="1"/>
          </p:cNvSpPr>
          <p:nvPr/>
        </p:nvSpPr>
        <p:spPr bwMode="auto">
          <a:xfrm>
            <a:off x="4220971" y="2047205"/>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1" y="2312318"/>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1" y="2577430"/>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1" y="2842543"/>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1" y="1782093"/>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1" y="3372768"/>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1" y="3637880"/>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1" y="3902993"/>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1" y="4168105"/>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1" y="3107655"/>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1" y="4698330"/>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1" y="4963443"/>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1" y="5228555"/>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1" y="5493668"/>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1" y="4433218"/>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4" y="178209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4" y="204720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4" y="231231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4" y="2577430"/>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4" y="310765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4" y="337276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4" y="390299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4" y="416810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4" y="443321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4" y="4698330"/>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4" y="496344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4" y="522855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4" y="549366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4" y="284254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4" y="3637880"/>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4" y="1516980"/>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1" y="1516980"/>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12</a:t>
            </a:fld>
            <a:endParaRPr lang="en-US"/>
          </a:p>
        </p:txBody>
      </p:sp>
      <p:sp>
        <p:nvSpPr>
          <p:cNvPr id="2" name="Rectangle 1"/>
          <p:cNvSpPr/>
          <p:nvPr/>
        </p:nvSpPr>
        <p:spPr>
          <a:xfrm>
            <a:off x="2947974" y="5788224"/>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255096152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5038"/>
            <a:ext cx="77724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13</a:t>
            </a:fld>
            <a:endParaRPr lang="en-US"/>
          </a:p>
        </p:txBody>
      </p:sp>
      <p:sp>
        <p:nvSpPr>
          <p:cNvPr id="3" name="TextBox 2"/>
          <p:cNvSpPr txBox="1"/>
          <p:nvPr/>
        </p:nvSpPr>
        <p:spPr>
          <a:xfrm>
            <a:off x="6797812" y="1241454"/>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5776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extLst>
              <p:ext uri="{D42A27DB-BD31-4B8C-83A1-F6EECF244321}">
                <p14:modId xmlns:p14="http://schemas.microsoft.com/office/powerpoint/2010/main" val="217241857"/>
              </p:ext>
            </p:extLst>
          </p:nvPr>
        </p:nvGraphicFramePr>
        <p:xfrm>
          <a:off x="6553201"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extLst>
              <p:ext uri="{D42A27DB-BD31-4B8C-83A1-F6EECF244321}">
                <p14:modId xmlns:p14="http://schemas.microsoft.com/office/powerpoint/2010/main" val="1554878028"/>
              </p:ext>
            </p:extLst>
          </p:nvPr>
        </p:nvGraphicFramePr>
        <p:xfrm>
          <a:off x="1752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960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14</a:t>
            </a:fld>
            <a:endParaRPr kumimoji="0" lang="en-US" dirty="0"/>
          </a:p>
        </p:txBody>
      </p:sp>
      <p:graphicFrame>
        <p:nvGraphicFramePr>
          <p:cNvPr id="5" name="Table 4"/>
          <p:cNvGraphicFramePr>
            <a:graphicFrameLocks noGrp="1"/>
          </p:cNvGraphicFramePr>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307188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grpSp>
        <p:nvGrpSpPr>
          <p:cNvPr id="14340" name="Group 4"/>
          <p:cNvGrpSpPr>
            <a:grpSpLocks/>
          </p:cNvGrpSpPr>
          <p:nvPr/>
        </p:nvGrpSpPr>
        <p:grpSpPr bwMode="auto">
          <a:xfrm>
            <a:off x="2947974" y="1516980"/>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Arial" pitchFamily="34" charset="0"/>
              </a:endParaRPr>
            </a:p>
          </p:txBody>
        </p:sp>
      </p:grpSp>
      <p:sp>
        <p:nvSpPr>
          <p:cNvPr id="54" name="Slide Number Placeholder 53"/>
          <p:cNvSpPr>
            <a:spLocks noGrp="1"/>
          </p:cNvSpPr>
          <p:nvPr>
            <p:ph type="sldNum" sz="quarter" idx="12"/>
          </p:nvPr>
        </p:nvSpPr>
        <p:spPr/>
        <p:txBody>
          <a:bodyPr/>
          <a:lstStyle/>
          <a:p>
            <a:fld id="{AEE14D4A-FE32-40AF-B06D-E9622816B101}" type="slidenum">
              <a:rPr lang="en-US" smtClean="0"/>
              <a:pPr/>
              <a:t>15</a:t>
            </a:fld>
            <a:endParaRPr lang="en-US"/>
          </a:p>
        </p:txBody>
      </p:sp>
      <p:sp>
        <p:nvSpPr>
          <p:cNvPr id="2" name="Rectangle 1"/>
          <p:cNvSpPr/>
          <p:nvPr/>
        </p:nvSpPr>
        <p:spPr>
          <a:xfrm>
            <a:off x="2947974" y="5788224"/>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335886691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14342" name="Rectangle 5"/>
          <p:cNvSpPr>
            <a:spLocks noChangeArrowheads="1"/>
          </p:cNvSpPr>
          <p:nvPr/>
        </p:nvSpPr>
        <p:spPr bwMode="auto">
          <a:xfrm>
            <a:off x="4220972" y="2309814"/>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2" y="25749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2" y="28400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2" y="310515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2" y="204470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2" y="3635377"/>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2" y="3900489"/>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2" y="416560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2" y="443071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2" y="3370264"/>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2" y="49609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2" y="522605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2" y="549116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2" y="5756277"/>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2" y="46958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5" y="20447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5" y="23098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5" y="25749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5" y="28400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5" y="33702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5" y="36353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5" y="41656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5" y="44307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5" y="46958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5" y="49609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5" y="52260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5" y="54911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5" y="57562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5" y="31051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5" y="390048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5" y="1779589"/>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2" y="1779589"/>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7656006" y="23098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a:t>
            </a:r>
          </a:p>
        </p:txBody>
      </p:sp>
      <p:sp>
        <p:nvSpPr>
          <p:cNvPr id="14375" name="Rectangle 38"/>
          <p:cNvSpPr>
            <a:spLocks noChangeArrowheads="1"/>
          </p:cNvSpPr>
          <p:nvPr/>
        </p:nvSpPr>
        <p:spPr bwMode="auto">
          <a:xfrm>
            <a:off x="7656006" y="25749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a:t>
            </a:r>
          </a:p>
        </p:txBody>
      </p:sp>
      <p:sp>
        <p:nvSpPr>
          <p:cNvPr id="14376" name="Rectangle 39"/>
          <p:cNvSpPr>
            <a:spLocks noChangeArrowheads="1"/>
          </p:cNvSpPr>
          <p:nvPr/>
        </p:nvSpPr>
        <p:spPr bwMode="auto">
          <a:xfrm>
            <a:off x="7656006" y="284003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a:t>
            </a:r>
          </a:p>
        </p:txBody>
      </p:sp>
      <p:sp>
        <p:nvSpPr>
          <p:cNvPr id="14377" name="Rectangle 40"/>
          <p:cNvSpPr>
            <a:spLocks noChangeArrowheads="1"/>
          </p:cNvSpPr>
          <p:nvPr/>
        </p:nvSpPr>
        <p:spPr bwMode="auto">
          <a:xfrm>
            <a:off x="7656006" y="20447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a:t>
            </a:r>
          </a:p>
        </p:txBody>
      </p:sp>
      <p:sp>
        <p:nvSpPr>
          <p:cNvPr id="14378" name="Rectangle 41"/>
          <p:cNvSpPr>
            <a:spLocks noChangeArrowheads="1"/>
          </p:cNvSpPr>
          <p:nvPr/>
        </p:nvSpPr>
        <p:spPr bwMode="auto">
          <a:xfrm>
            <a:off x="7656006" y="1779589"/>
            <a:ext cx="2021394"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rPr>
              <a:t>Flags tested</a:t>
            </a:r>
          </a:p>
        </p:txBody>
      </p:sp>
      <p:sp>
        <p:nvSpPr>
          <p:cNvPr id="14379" name="Rectangle 42"/>
          <p:cNvSpPr>
            <a:spLocks noChangeArrowheads="1"/>
          </p:cNvSpPr>
          <p:nvPr/>
        </p:nvSpPr>
        <p:spPr bwMode="auto">
          <a:xfrm>
            <a:off x="7656006" y="31051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N==1</a:t>
            </a:r>
          </a:p>
        </p:txBody>
      </p:sp>
      <p:sp>
        <p:nvSpPr>
          <p:cNvPr id="14380" name="Rectangle 43"/>
          <p:cNvSpPr>
            <a:spLocks noChangeArrowheads="1"/>
          </p:cNvSpPr>
          <p:nvPr/>
        </p:nvSpPr>
        <p:spPr bwMode="auto">
          <a:xfrm>
            <a:off x="7656006" y="33702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N==0</a:t>
            </a:r>
          </a:p>
        </p:txBody>
      </p:sp>
      <p:sp>
        <p:nvSpPr>
          <p:cNvPr id="14381" name="Rectangle 44"/>
          <p:cNvSpPr>
            <a:spLocks noChangeArrowheads="1"/>
          </p:cNvSpPr>
          <p:nvPr/>
        </p:nvSpPr>
        <p:spPr bwMode="auto">
          <a:xfrm>
            <a:off x="7656006" y="363537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V==1</a:t>
            </a:r>
          </a:p>
        </p:txBody>
      </p:sp>
      <p:sp>
        <p:nvSpPr>
          <p:cNvPr id="14382" name="Rectangle 45"/>
          <p:cNvSpPr>
            <a:spLocks noChangeArrowheads="1"/>
          </p:cNvSpPr>
          <p:nvPr/>
        </p:nvSpPr>
        <p:spPr bwMode="auto">
          <a:xfrm>
            <a:off x="7656006" y="390048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V==0</a:t>
            </a:r>
          </a:p>
        </p:txBody>
      </p:sp>
      <p:sp>
        <p:nvSpPr>
          <p:cNvPr id="14383" name="Rectangle 46"/>
          <p:cNvSpPr>
            <a:spLocks noChangeArrowheads="1"/>
          </p:cNvSpPr>
          <p:nvPr/>
        </p:nvSpPr>
        <p:spPr bwMode="auto">
          <a:xfrm>
            <a:off x="7656006" y="41656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 and Z==0</a:t>
            </a:r>
          </a:p>
        </p:txBody>
      </p:sp>
      <p:sp>
        <p:nvSpPr>
          <p:cNvPr id="14384" name="Rectangle 47"/>
          <p:cNvSpPr>
            <a:spLocks noChangeArrowheads="1"/>
          </p:cNvSpPr>
          <p:nvPr/>
        </p:nvSpPr>
        <p:spPr bwMode="auto">
          <a:xfrm>
            <a:off x="7656006" y="44307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 or Z==1</a:t>
            </a:r>
          </a:p>
        </p:txBody>
      </p:sp>
      <p:sp>
        <p:nvSpPr>
          <p:cNvPr id="14385" name="Rectangle 48"/>
          <p:cNvSpPr>
            <a:spLocks noChangeArrowheads="1"/>
          </p:cNvSpPr>
          <p:nvPr/>
        </p:nvSpPr>
        <p:spPr bwMode="auto">
          <a:xfrm>
            <a:off x="7656006" y="46958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N==V</a:t>
            </a:r>
          </a:p>
        </p:txBody>
      </p:sp>
      <p:sp>
        <p:nvSpPr>
          <p:cNvPr id="14386" name="Rectangle 49"/>
          <p:cNvSpPr>
            <a:spLocks noChangeArrowheads="1"/>
          </p:cNvSpPr>
          <p:nvPr/>
        </p:nvSpPr>
        <p:spPr bwMode="auto">
          <a:xfrm>
            <a:off x="7656006" y="4960939"/>
            <a:ext cx="2021394" cy="265113"/>
          </a:xfrm>
          <a:prstGeom prst="rect">
            <a:avLst/>
          </a:prstGeom>
          <a:noFill/>
          <a:ln w="12700">
            <a:solidFill>
              <a:schemeClr val="tx1"/>
            </a:solidFill>
            <a:miter lim="800000"/>
            <a:headEnd/>
            <a:tailEnd/>
          </a:ln>
        </p:spPr>
        <p:txBody>
          <a:bodyPr wrap="none" anchor="ctr"/>
          <a:lstStyle/>
          <a:p>
            <a:r>
              <a:rPr lang="en-US" b="1">
                <a:solidFill>
                  <a:srgbClr val="FF0000"/>
                </a:solidFill>
                <a:latin typeface="Consolas" panose="020B0609020204030204" pitchFamily="49" charset="0"/>
              </a:rPr>
              <a:t>N!=V</a:t>
            </a:r>
          </a:p>
        </p:txBody>
      </p:sp>
      <p:sp>
        <p:nvSpPr>
          <p:cNvPr id="14387" name="Rectangle 50"/>
          <p:cNvSpPr>
            <a:spLocks noChangeArrowheads="1"/>
          </p:cNvSpPr>
          <p:nvPr/>
        </p:nvSpPr>
        <p:spPr bwMode="auto">
          <a:xfrm>
            <a:off x="7656006" y="52260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 and N==V</a:t>
            </a:r>
          </a:p>
        </p:txBody>
      </p:sp>
      <p:sp>
        <p:nvSpPr>
          <p:cNvPr id="14388" name="Rectangle 51"/>
          <p:cNvSpPr>
            <a:spLocks noChangeArrowheads="1"/>
          </p:cNvSpPr>
          <p:nvPr/>
        </p:nvSpPr>
        <p:spPr bwMode="auto">
          <a:xfrm>
            <a:off x="7656006" y="54911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 or N!=V</a:t>
            </a:r>
          </a:p>
        </p:txBody>
      </p:sp>
      <p:sp>
        <p:nvSpPr>
          <p:cNvPr id="14389" name="Rectangle 52"/>
          <p:cNvSpPr>
            <a:spLocks noChangeArrowheads="1"/>
          </p:cNvSpPr>
          <p:nvPr/>
        </p:nvSpPr>
        <p:spPr bwMode="auto">
          <a:xfrm>
            <a:off x="7656006" y="5756277"/>
            <a:ext cx="2021394" cy="265113"/>
          </a:xfrm>
          <a:prstGeom prst="rect">
            <a:avLst/>
          </a:prstGeom>
          <a:noFill/>
          <a:ln w="12700">
            <a:solidFill>
              <a:schemeClr val="tx1"/>
            </a:solidFill>
            <a:miter lim="800000"/>
            <a:headEnd/>
            <a:tailEnd/>
          </a:ln>
        </p:spPr>
        <p:txBody>
          <a:bodyPr wrap="none" anchor="ctr"/>
          <a:lstStyle/>
          <a:p>
            <a:endParaRPr lang="en-GB" b="1">
              <a:solidFill>
                <a:srgbClr val="FF0000"/>
              </a:solidFill>
              <a:latin typeface="Consolas" panose="020B0609020204030204" pitchFamily="49" charset="0"/>
            </a:endParaRPr>
          </a:p>
        </p:txBody>
      </p:sp>
      <p:sp>
        <p:nvSpPr>
          <p:cNvPr id="54" name="Slide Number Placeholder 53"/>
          <p:cNvSpPr>
            <a:spLocks noGrp="1"/>
          </p:cNvSpPr>
          <p:nvPr>
            <p:ph type="sldNum" sz="quarter" idx="12"/>
          </p:nvPr>
        </p:nvSpPr>
        <p:spPr/>
        <p:txBody>
          <a:bodyPr/>
          <a:lstStyle/>
          <a:p>
            <a:fld id="{AEE14D4A-FE32-40AF-B06D-E9622816B101}" type="slidenum">
              <a:rPr lang="en-US" smtClean="0"/>
              <a:pPr/>
              <a:t>16</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1977878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3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3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3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3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38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38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4" grpId="0" animBg="1"/>
      <p:bldP spid="14375" grpId="0" animBg="1"/>
      <p:bldP spid="14376" grpId="0" animBg="1"/>
      <p:bldP spid="14379" grpId="0" animBg="1"/>
      <p:bldP spid="14380" grpId="0" animBg="1"/>
      <p:bldP spid="14381" grpId="0" animBg="1"/>
      <p:bldP spid="14382" grpId="0" animBg="1"/>
      <p:bldP spid="14383" grpId="0" animBg="1"/>
      <p:bldP spid="14384" grpId="0" animBg="1"/>
      <p:bldP spid="14385" grpId="0" animBg="1"/>
      <p:bldP spid="14386" grpId="0" animBg="1"/>
      <p:bldP spid="14387" grpId="0" animBg="1"/>
      <p:bldP spid="14388" grpId="0" animBg="1"/>
      <p:bldP spid="1438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2067858"/>
              </p:ext>
            </p:extLst>
          </p:nvPr>
        </p:nvGraphicFramePr>
        <p:xfrm>
          <a:off x="1676401" y="1865532"/>
          <a:ext cx="8763002" cy="3651349"/>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nchor="ctr" anchorCtr="1"/>
                </a:tc>
                <a:tc>
                  <a:txBody>
                    <a:bodyPr/>
                    <a:lstStyle/>
                    <a:p>
                      <a:pPr algn="ctr"/>
                      <a:r>
                        <a:rPr lang="en-US" dirty="0">
                          <a:latin typeface="Consolas" panose="020B0609020204030204" pitchFamily="49" charset="0"/>
                          <a:cs typeface="Consolas" panose="020B0609020204030204" pitchFamily="49" charset="0"/>
                        </a:rPr>
                        <a:t> N = 0</a:t>
                      </a:r>
                    </a:p>
                  </a:txBody>
                  <a:tcPr anchor="ctr" anchorCtr="1"/>
                </a:tc>
                <a:tc>
                  <a:txBody>
                    <a:bodyPr/>
                    <a:lstStyle/>
                    <a:p>
                      <a:pPr algn="ctr"/>
                      <a:r>
                        <a:rPr lang="en-US"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dirty="0"/>
                        <a:t>No</a:t>
                      </a:r>
                      <a:r>
                        <a:rPr lang="en-US" baseline="0" dirty="0"/>
                        <a:t> overflow, implying the result is correct. </a:t>
                      </a:r>
                    </a:p>
                    <a:p>
                      <a:pPr marL="285750" indent="-285750">
                        <a:buFont typeface="Arial" pitchFamily="34" charset="0"/>
                        <a:buChar char="•"/>
                      </a:pPr>
                      <a:r>
                        <a:rPr lang="en-US" baseline="0" dirty="0"/>
                        <a:t>The result is non-negative, </a:t>
                      </a:r>
                    </a:p>
                    <a:p>
                      <a:pPr marL="285750" indent="-285750">
                        <a:buFont typeface="Arial" pitchFamily="34" charset="0"/>
                        <a:buChar char="•"/>
                      </a:pPr>
                      <a:r>
                        <a:rPr lang="en-US" baseline="0" dirty="0"/>
                        <a:t>Thus </a:t>
                      </a:r>
                      <a:r>
                        <a:rPr lang="en-US" baseline="0" dirty="0">
                          <a:latin typeface="Consolas" panose="020B0609020204030204" pitchFamily="49" charset="0"/>
                        </a:rPr>
                        <a:t>r0 – r1 ≥ 0</a:t>
                      </a:r>
                      <a:r>
                        <a:rPr lang="en-US" baseline="0" dirty="0"/>
                        <a:t>,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dirty="0"/>
                        <a:t>No overflow, implying the result is correct.</a:t>
                      </a:r>
                    </a:p>
                    <a:p>
                      <a:pPr marL="285750" indent="-285750">
                        <a:buFont typeface="Arial" pitchFamily="34" charset="0"/>
                        <a:buChar char="•"/>
                      </a:pPr>
                      <a:r>
                        <a:rPr lang="en-US" dirty="0"/>
                        <a:t>The</a:t>
                      </a:r>
                      <a:r>
                        <a:rPr lang="en-US" baseline="0" dirty="0"/>
                        <a:t> result is</a:t>
                      </a:r>
                      <a:r>
                        <a:rPr lang="en-US" dirty="0"/>
                        <a:t> negative</a:t>
                      </a:r>
                      <a:r>
                        <a:rPr lang="en-US" baseline="0" dirty="0"/>
                        <a:t>.</a:t>
                      </a:r>
                    </a:p>
                    <a:p>
                      <a:pPr marL="285750" indent="-285750">
                        <a:buFont typeface="Arial" pitchFamily="34" charset="0"/>
                        <a:buChar char="•"/>
                      </a:pPr>
                      <a:r>
                        <a:rPr lang="en-US" baseline="0" dirty="0"/>
                        <a:t>Thus </a:t>
                      </a:r>
                      <a:r>
                        <a:rPr lang="en-US" baseline="0" dirty="0">
                          <a:latin typeface="Consolas" panose="020B0609020204030204" pitchFamily="49" charset="0"/>
                        </a:rPr>
                        <a:t>r0 – r1 &lt; 0</a:t>
                      </a:r>
                      <a:r>
                        <a:rPr lang="en-US" baseline="0" dirty="0"/>
                        <a:t>,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non-negative and in fact it should be 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&lt; 0 </a:t>
                      </a:r>
                      <a:r>
                        <a:rPr lang="en-US" baseline="0" dirty="0"/>
                        <a:t>in reality,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negative and in fact it should be non-negative.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 0 </a:t>
                      </a:r>
                      <a:r>
                        <a:rPr lang="en-US" baseline="0" dirty="0"/>
                        <a:t>in reality.,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3524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211735855"/>
              </p:ext>
            </p:extLst>
          </p:nvPr>
        </p:nvGraphicFramePr>
        <p:xfrm>
          <a:off x="1676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51571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421143121"/>
              </p:ext>
            </p:extLst>
          </p:nvPr>
        </p:nvGraphicFramePr>
        <p:xfrm>
          <a:off x="1676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548132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20</a:t>
            </a:fld>
            <a:endParaRPr kumimoji="0" lang="en-US" dirty="0"/>
          </a:p>
        </p:txBody>
      </p:sp>
      <p:sp>
        <p:nvSpPr>
          <p:cNvPr id="6" name="Content Placeholder 5"/>
          <p:cNvSpPr>
            <a:spLocks noGrp="1"/>
          </p:cNvSpPr>
          <p:nvPr>
            <p:ph sz="quarter" idx="1"/>
          </p:nvPr>
        </p:nvSpPr>
        <p:spPr>
          <a:xfrm>
            <a:off x="609600" y="3036505"/>
            <a:ext cx="102870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a:t>
            </a:r>
            <a:r>
              <a:rPr lang="en-US" sz="2400" b="1" dirty="0">
                <a:latin typeface="Consolas" panose="020B0609020204030204" pitchFamily="49" charset="0"/>
                <a:cs typeface="Consolas" panose="020B0609020204030204" pitchFamily="49" charset="0"/>
              </a:rPr>
              <a:t>4294967295 &gt; 1</a:t>
            </a:r>
            <a:r>
              <a:rPr lang="en-US" sz="2400" dirty="0"/>
              <a:t>).</a:t>
            </a:r>
          </a:p>
          <a:p>
            <a:endParaRPr lang="en-US" sz="2400" dirty="0"/>
          </a:p>
        </p:txBody>
      </p:sp>
      <p:sp>
        <p:nvSpPr>
          <p:cNvPr id="2" name="Rectangle 1"/>
          <p:cNvSpPr/>
          <p:nvPr/>
        </p:nvSpPr>
        <p:spPr>
          <a:xfrm>
            <a:off x="1981200" y="1295401"/>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15906" y="132281"/>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2498388"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signed</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tx1"/>
                </a:solidFill>
                <a:latin typeface="Consolas" panose="020B0609020204030204" pitchFamily="49" charset="0"/>
                <a:cs typeface="Consolas" panose="020B0609020204030204" pitchFamily="49" charset="0"/>
              </a:rPr>
              <a:t>int</a:t>
            </a:r>
            <a:r>
              <a:rPr lang="en-US" sz="2000" dirty="0">
                <a:solidFill>
                  <a:schemeClr val="tx1"/>
                </a:solidFill>
                <a:latin typeface="Consolas" panose="020B0609020204030204" pitchFamily="49" charset="0"/>
                <a:cs typeface="Consolas" panose="020B0609020204030204" pitchFamily="49" charset="0"/>
              </a:rPr>
              <a:t> x, y ;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2484398"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unsigned</a:t>
            </a:r>
            <a:r>
              <a:rPr lang="en-US" sz="2000" dirty="0">
                <a:solidFill>
                  <a:schemeClr val="tx1"/>
                </a:solidFill>
                <a:latin typeface="Consolas" panose="020B0609020204030204" pitchFamily="49" charset="0"/>
                <a:cs typeface="Consolas" panose="020B0609020204030204" pitchFamily="49" charset="0"/>
              </a:rPr>
              <a:t> int x, y ;</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21</a:t>
            </a:fld>
            <a:endParaRPr kumimoji="0" lang="en-US" dirty="0"/>
          </a:p>
        </p:txBody>
      </p:sp>
      <p:sp>
        <p:nvSpPr>
          <p:cNvPr id="2" name="TextBox 1"/>
          <p:cNvSpPr txBox="1"/>
          <p:nvPr/>
        </p:nvSpPr>
        <p:spPr>
          <a:xfrm>
            <a:off x="4114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4041726"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600986" y="1220257"/>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5712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5715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93184421"/>
              </p:ext>
            </p:extLst>
          </p:nvPr>
        </p:nvGraphicFramePr>
        <p:xfrm>
          <a:off x="2819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819400" y="4562475"/>
            <a:ext cx="6553200"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r1 = a (signed integer), r2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BGE</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r>
              <a:rPr lang="en-US" dirty="0">
                <a:solidFill>
                  <a:schemeClr val="bg1">
                    <a:lumMod val="65000"/>
                  </a:schemeClr>
                </a:solidFill>
                <a:latin typeface="Consolas" panose="020B0609020204030204" pitchFamily="49" charset="0"/>
                <a:cs typeface="Consolas" panose="020B0609020204030204" pitchFamily="49" charset="0"/>
              </a:rPr>
              <a:t> if a ≥ 0</a:t>
            </a:r>
          </a:p>
          <a:p>
            <a:r>
              <a:rPr lang="en-US" dirty="0">
                <a:latin typeface="Consolas" panose="020B0609020204030204" pitchFamily="49" charset="0"/>
                <a:cs typeface="Consolas" panose="020B0609020204030204" pitchFamily="49" charset="0"/>
              </a:rPr>
              <a:t>then    </a:t>
            </a:r>
            <a:r>
              <a:rPr lang="en-US" dirty="0" err="1">
                <a:latin typeface="Consolas" panose="020B0609020204030204" pitchFamily="49" charset="0"/>
                <a:cs typeface="Consolas" panose="020B0609020204030204" pitchFamily="49" charset="0"/>
              </a:rPr>
              <a:t>RSB</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a = - a</a:t>
            </a:r>
          </a:p>
          <a:p>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ADD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1880682"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1</a:t>
            </a:r>
            <a:r>
              <a:rPr lang="en-US" dirty="0"/>
              <a:t>:</a:t>
            </a:r>
          </a:p>
        </p:txBody>
      </p:sp>
    </p:spTree>
    <p:extLst>
      <p:ext uri="{BB962C8B-B14F-4D97-AF65-F5344CB8AC3E}">
        <p14:creationId xmlns:p14="http://schemas.microsoft.com/office/powerpoint/2010/main" val="956433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819400" y="4562476"/>
            <a:ext cx="65532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 </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RSBLT</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a = 0 - a if a &lt; 0</a:t>
            </a:r>
          </a:p>
          <a:p>
            <a:r>
              <a:rPr lang="en-US" dirty="0">
                <a:latin typeface="Consolas" panose="020B0609020204030204" pitchFamily="49" charset="0"/>
                <a:cs typeface="Consolas" panose="020B0609020204030204" pitchFamily="49" charset="0"/>
              </a:rPr>
              <a:t>        ADD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1880682"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2</a:t>
            </a:r>
            <a:r>
              <a:rPr lang="en-US" dirty="0"/>
              <a:t>:</a:t>
            </a:r>
          </a:p>
        </p:txBody>
      </p:sp>
      <p:graphicFrame>
        <p:nvGraphicFramePr>
          <p:cNvPr id="8" name="Table 7"/>
          <p:cNvGraphicFramePr>
            <a:graphicFrameLocks noGrp="1"/>
          </p:cNvGraphicFramePr>
          <p:nvPr>
            <p:extLst>
              <p:ext uri="{D42A27DB-BD31-4B8C-83A1-F6EECF244321}">
                <p14:modId xmlns:p14="http://schemas.microsoft.com/office/powerpoint/2010/main" val="1612063975"/>
              </p:ext>
            </p:extLst>
          </p:nvPr>
        </p:nvGraphicFramePr>
        <p:xfrm>
          <a:off x="2819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53589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 Boolean Expression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sp>
        <p:nvSpPr>
          <p:cNvPr id="5" name="Rectangle 4"/>
          <p:cNvSpPr/>
          <p:nvPr/>
        </p:nvSpPr>
        <p:spPr>
          <a:xfrm>
            <a:off x="3581400" y="1600200"/>
            <a:ext cx="4572000" cy="923330"/>
          </a:xfrm>
          <a:prstGeom prst="rect">
            <a:avLst/>
          </a:prstGeom>
        </p:spPr>
        <p:txBody>
          <a:bodyPr>
            <a:spAutoFit/>
          </a:bodyPr>
          <a:lstStyle/>
          <a:p>
            <a:pPr algn="ctr"/>
            <a:r>
              <a:rPr lang="en-US" dirty="0">
                <a:latin typeface="Consolas" panose="020B0609020204030204" pitchFamily="49" charset="0"/>
                <a:cs typeface="Consolas" panose="020B0609020204030204" pitchFamily="49" charset="0"/>
              </a:rPr>
              <a:t>x &gt; 20 &amp;&amp; x &lt; 25</a:t>
            </a:r>
          </a:p>
          <a:p>
            <a:pPr algn="ctr"/>
            <a:r>
              <a:rPr lang="en-US" dirty="0">
                <a:latin typeface="Consolas" panose="020B0609020204030204" pitchFamily="49" charset="0"/>
                <a:cs typeface="Consolas" panose="020B0609020204030204" pitchFamily="49" charset="0"/>
              </a:rPr>
              <a:t>x == 20 || x == 25</a:t>
            </a:r>
          </a:p>
          <a:p>
            <a:pPr algn="ctr"/>
            <a:r>
              <a:rPr lang="en-US" dirty="0">
                <a:latin typeface="Consolas" panose="020B0609020204030204" pitchFamily="49" charset="0"/>
                <a:cs typeface="Consolas" panose="020B0609020204030204" pitchFamily="49" charset="0"/>
              </a:rPr>
              <a:t>!(x == 20 || x == 25)</a:t>
            </a:r>
          </a:p>
        </p:txBody>
      </p:sp>
      <p:graphicFrame>
        <p:nvGraphicFramePr>
          <p:cNvPr id="6" name="Table 5"/>
          <p:cNvGraphicFramePr>
            <a:graphicFrameLocks noGrp="1"/>
          </p:cNvGraphicFramePr>
          <p:nvPr>
            <p:extLst>
              <p:ext uri="{D42A27DB-BD31-4B8C-83A1-F6EECF244321}">
                <p14:modId xmlns:p14="http://schemas.microsoft.com/office/powerpoint/2010/main" val="4261454475"/>
              </p:ext>
            </p:extLst>
          </p:nvPr>
        </p:nvGraphicFramePr>
        <p:xfrm>
          <a:off x="2057400" y="3186819"/>
          <a:ext cx="8229600" cy="2083237"/>
        </p:xfrm>
        <a:graphic>
          <a:graphicData uri="http://schemas.openxmlformats.org/drawingml/2006/table">
            <a:tbl>
              <a:tblPr firstRow="1" firstCol="1" bandRow="1">
                <a:tableStyleId>{5940675A-B579-460E-94D1-54222C63F5DA}</a:tableStyleId>
              </a:tblPr>
              <a:tblGrid>
                <a:gridCol w="2885704">
                  <a:extLst>
                    <a:ext uri="{9D8B030D-6E8A-4147-A177-3AD203B41FA5}">
                      <a16:colId xmlns:a16="http://schemas.microsoft.com/office/drawing/2014/main" val="20000"/>
                    </a:ext>
                  </a:extLst>
                </a:gridCol>
                <a:gridCol w="5343896">
                  <a:extLst>
                    <a:ext uri="{9D8B030D-6E8A-4147-A177-3AD203B41FA5}">
                      <a16:colId xmlns:a16="http://schemas.microsoft.com/office/drawing/2014/main" val="20001"/>
                    </a:ext>
                  </a:extLst>
                </a:gridCol>
              </a:tblGrid>
              <a:tr h="218003">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just">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x is a signed integer</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r0</a:t>
                      </a:r>
                      <a:r>
                        <a:rPr lang="en-US" sz="1600" dirty="0">
                          <a:solidFill>
                            <a:schemeClr val="bg1">
                              <a:lumMod val="65000"/>
                            </a:schemeClr>
                          </a:solidFill>
                          <a:effectLst/>
                          <a:latin typeface="Consolas" panose="020B0609020204030204" pitchFamily="49" charset="0"/>
                          <a:cs typeface="Consolas" panose="020B0609020204030204" pitchFamily="49" charset="0"/>
                        </a:rPr>
                        <a:t> = x</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solidFill>
                            <a:srgbClr val="FF0000"/>
                          </a:solidFill>
                          <a:effectLst/>
                          <a:latin typeface="Consolas" panose="020B0609020204030204" pitchFamily="49" charset="0"/>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then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x ≤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rgbClr val="FF0000"/>
                          </a:solidFill>
                          <a:effectLst/>
                          <a:latin typeface="Consolas" panose="020B0609020204030204" pitchFamily="49" charset="0"/>
                          <a:cs typeface="Consolas" panose="020B0609020204030204" pitchFamily="49" charset="0"/>
                        </a:rPr>
                        <a:t>BLT  </a:t>
                      </a:r>
                      <a:r>
                        <a:rPr lang="en-US" sz="1600" dirty="0" err="1">
                          <a:solidFill>
                            <a:srgbClr val="FF0000"/>
                          </a:solidFill>
                          <a:effectLst/>
                          <a:latin typeface="Consolas" panose="020B0609020204030204" pitchFamily="49" charset="0"/>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a:t>
                      </a:r>
                      <a:r>
                        <a:rPr lang="en-US" sz="1600" dirty="0" err="1">
                          <a:solidFill>
                            <a:schemeClr val="bg1">
                              <a:lumMod val="65000"/>
                            </a:schemeClr>
                          </a:solidFill>
                          <a:effectLst/>
                          <a:latin typeface="Consolas" panose="020B0609020204030204" pitchFamily="49" charset="0"/>
                          <a:cs typeface="Consolas" panose="020B0609020204030204" pitchFamily="49" charset="0"/>
                        </a:rPr>
                        <a:t>endif</a:t>
                      </a:r>
                      <a:r>
                        <a:rPr lang="en-US" sz="1600" dirty="0">
                          <a:solidFill>
                            <a:schemeClr val="bg1">
                              <a:lumMod val="65000"/>
                            </a:schemeClr>
                          </a:solidFill>
                          <a:effectLst/>
                          <a:latin typeface="Consolas" panose="020B0609020204030204" pitchFamily="49" charset="0"/>
                          <a:cs typeface="Consolas" panose="020B0609020204030204" pitchFamily="49" charset="0"/>
                        </a:rPr>
                        <a:t> if x &lt;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then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 = 1 </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endif</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67703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79993707"/>
              </p:ext>
            </p:extLst>
          </p:nvPr>
        </p:nvGraphicFramePr>
        <p:xfrm>
          <a:off x="3276600" y="1933098"/>
          <a:ext cx="1447800" cy="1410654"/>
        </p:xfrm>
        <a:graphic>
          <a:graphicData uri="http://schemas.openxmlformats.org/drawingml/2006/table">
            <a:tbl>
              <a:tblPr firstRow="1" firstCol="1" bandRow="1">
                <a:tableStyleId>{69012ECD-51FC-41F1-AA8D-1B2483CD663E}</a:tableStyleId>
              </a:tblPr>
              <a:tblGrid>
                <a:gridCol w="1447800">
                  <a:extLst>
                    <a:ext uri="{9D8B030D-6E8A-4147-A177-3AD203B41FA5}">
                      <a16:colId xmlns:a16="http://schemas.microsoft.com/office/drawing/2014/main" val="20000"/>
                    </a:ext>
                  </a:extLst>
                </a:gridCol>
              </a:tblGrid>
              <a:tr h="233363">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C Program</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1166814">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   b = 3;</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600" dirty="0">
                          <a:solidFill>
                            <a:srgbClr val="FF0000"/>
                          </a:solidFill>
                          <a:effectLst/>
                          <a:latin typeface="Consolas" panose="020B0609020204030204" pitchFamily="49" charset="0"/>
                          <a:cs typeface="Consolas" panose="020B0609020204030204" pitchFamily="49" charset="0"/>
                        </a:rPr>
                        <a:t>   b = 4;</a:t>
                      </a:r>
                      <a:endParaRPr lang="en-US" sz="16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6286" y="1524000"/>
            <a:ext cx="3409950"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3276600" y="3981857"/>
            <a:ext cx="55626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b</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err="1">
                <a:solidFill>
                  <a:srgbClr val="0000FF"/>
                </a:solidFill>
                <a:latin typeface="Consolas" panose="020B0609020204030204" pitchFamily="49" charset="0"/>
                <a:cs typeface="Consolas" panose="020B0609020204030204" pitchFamily="49" charset="0"/>
              </a:rPr>
              <a:t>MOV</a:t>
            </a:r>
            <a:r>
              <a:rPr lang="en-US" dirty="0">
                <a:solidFill>
                  <a:srgbClr val="0000FF"/>
                </a:solidFill>
                <a:latin typeface="Consolas" panose="020B0609020204030204" pitchFamily="49" charset="0"/>
                <a:cs typeface="Consolas" panose="020B0609020204030204" pitchFamily="49" charset="0"/>
              </a:rPr>
              <a:t> </a:t>
            </a:r>
            <a:r>
              <a:rPr lang="en-US" dirty="0" err="1">
                <a:solidFill>
                  <a:srgbClr val="0000FF"/>
                </a:solidFill>
                <a:latin typeface="Consolas" panose="020B0609020204030204" pitchFamily="49" charset="0"/>
                <a:cs typeface="Consolas" panose="020B0609020204030204" pitchFamily="49" charset="0"/>
              </a:rPr>
              <a:t>r2</a:t>
            </a:r>
            <a:r>
              <a:rPr lang="en-US" dirty="0">
                <a:solidFill>
                  <a:srgbClr val="0000FF"/>
                </a:solidFill>
                <a:latin typeface="Consolas" panose="020B0609020204030204" pitchFamily="49" charset="0"/>
                <a:cs typeface="Consolas" panose="020B0609020204030204" pitchFamily="49" charset="0"/>
              </a:rPr>
              <a:t>, #3   </a:t>
            </a:r>
            <a:r>
              <a:rPr lang="en-US" dirty="0">
                <a:solidFill>
                  <a:schemeClr val="bg1">
                    <a:lumMod val="65000"/>
                  </a:schemeClr>
                </a:solidFill>
                <a:latin typeface="Consolas" panose="020B0609020204030204" pitchFamily="49" charset="0"/>
                <a:cs typeface="Consolas" panose="020B0609020204030204" pitchFamily="49" charset="0"/>
              </a:rPr>
              <a:t>; b = 3 </a:t>
            </a:r>
          </a:p>
          <a:p>
            <a:r>
              <a:rPr lang="en-US" dirty="0">
                <a:latin typeface="Consolas" panose="020B0609020204030204" pitchFamily="49" charset="0"/>
                <a:cs typeface="Consolas" panose="020B0609020204030204" pitchFamily="49" charset="0"/>
              </a:rPr>
              <a:t>       B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endParaRPr lang="en-US"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else   </a:t>
            </a:r>
            <a:r>
              <a:rPr lang="en-US" dirty="0" err="1">
                <a:solidFill>
                  <a:srgbClr val="FF0000"/>
                </a:solidFill>
                <a:latin typeface="Consolas" panose="020B0609020204030204" pitchFamily="49" charset="0"/>
                <a:cs typeface="Consolas" panose="020B0609020204030204" pitchFamily="49" charset="0"/>
              </a:rPr>
              <a:t>MOV</a:t>
            </a:r>
            <a:r>
              <a:rPr lang="en-US" dirty="0">
                <a:solidFill>
                  <a:srgbClr val="FF0000"/>
                </a:solidFill>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r2</a:t>
            </a:r>
            <a:r>
              <a:rPr lang="en-US" dirty="0">
                <a:solidFill>
                  <a:srgbClr val="FF0000"/>
                </a:solidFill>
                <a:latin typeface="Consolas" panose="020B0609020204030204" pitchFamily="49" charset="0"/>
                <a:cs typeface="Consolas" panose="020B0609020204030204" pitchFamily="49" charset="0"/>
              </a:rPr>
              <a:t>, #4   </a:t>
            </a:r>
            <a:r>
              <a:rPr lang="en-US" dirty="0">
                <a:solidFill>
                  <a:schemeClr val="bg1">
                    <a:lumMod val="65000"/>
                  </a:schemeClr>
                </a:solidFill>
                <a:latin typeface="Consolas" panose="020B0609020204030204" pitchFamily="49" charset="0"/>
                <a:cs typeface="Consolas" panose="020B0609020204030204" pitchFamily="49" charset="0"/>
              </a:rPr>
              <a:t>; b = 4 </a:t>
            </a:r>
          </a:p>
          <a:p>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2331627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537093681"/>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766" y="609600"/>
            <a:ext cx="2468162" cy="320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919918" y="4079467"/>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      	</a:t>
            </a:r>
            <a:r>
              <a:rPr lang="pt-BR" dirty="0">
                <a:solidFill>
                  <a:srgbClr val="0000FF"/>
                </a:solidFill>
                <a:latin typeface="Consolas" panose="020B0609020204030204" pitchFamily="49" charset="0"/>
                <a:cs typeface="Consolas" panose="020B0609020204030204" pitchFamily="49" charset="0"/>
              </a:rPr>
              <a:t>B   check</a:t>
            </a:r>
          </a:p>
          <a:p>
            <a:r>
              <a:rPr lang="pt-BR" b="1"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a:t>
            </a:r>
            <a:r>
              <a:rPr lang="pt-BR" dirty="0" err="1">
                <a:solidFill>
                  <a:schemeClr val="bg1">
                    <a:lumMod val="65000"/>
                  </a:schemeClr>
                </a:solidFill>
                <a:latin typeface="Consolas" panose="020B0609020204030204" pitchFamily="49" charset="0"/>
                <a:cs typeface="Consolas" panose="020B0609020204030204" pitchFamily="49" charset="0"/>
              </a:rPr>
              <a:t>i</a:t>
            </a:r>
            <a:endParaRPr lang="pt-BR" dirty="0">
              <a:solidFill>
                <a:schemeClr val="bg1">
                  <a:lumMod val="65000"/>
                </a:schemeClr>
              </a:solidFill>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i</a:t>
            </a:r>
            <a:r>
              <a:rPr lang="pt-BR" dirty="0">
                <a:solidFill>
                  <a:schemeClr val="bg1">
                    <a:lumMod val="65000"/>
                  </a:schemeClr>
                </a:solidFill>
                <a:latin typeface="Consolas" panose="020B0609020204030204" pitchFamily="49" charset="0"/>
                <a:cs typeface="Consolas" panose="020B0609020204030204" pitchFamily="49" charset="0"/>
              </a:rPr>
              <a:t>++</a:t>
            </a:r>
          </a:p>
          <a:p>
            <a:r>
              <a:rPr lang="pt-BR" dirty="0">
                <a:solidFill>
                  <a:srgbClr val="0000FF"/>
                </a:solidFill>
                <a:latin typeface="Consolas" panose="020B0609020204030204" pitchFamily="49" charset="0"/>
                <a:cs typeface="Consolas" panose="020B0609020204030204" pitchFamily="49" charset="0"/>
              </a:rPr>
              <a:t>check</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check</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whether</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i</a:t>
            </a:r>
            <a:r>
              <a:rPr lang="pt-BR" dirty="0">
                <a:solidFill>
                  <a:schemeClr val="bg1">
                    <a:lumMod val="65000"/>
                  </a:schemeClr>
                </a:solidFill>
                <a:latin typeface="Consolas" panose="020B0609020204030204" pitchFamily="49" charset="0"/>
                <a:cs typeface="Consolas" panose="020B0609020204030204" pitchFamily="49" charset="0"/>
              </a:rPr>
              <a:t> &lt; 10</a:t>
            </a:r>
          </a:p>
          <a:p>
            <a:r>
              <a:rPr lang="pt-BR" dirty="0">
                <a:latin typeface="Consolas" panose="020B0609020204030204" pitchFamily="49" charset="0"/>
                <a:cs typeface="Consolas" panose="020B0609020204030204" pitchFamily="49" charset="0"/>
              </a:rPr>
              <a:t>      	</a:t>
            </a:r>
            <a:r>
              <a:rPr lang="pt-BR" b="1" dirty="0">
                <a:solidFill>
                  <a:srgbClr val="FF0000"/>
                </a:solidFill>
                <a:latin typeface="Consolas" panose="020B0609020204030204" pitchFamily="49" charset="0"/>
                <a:cs typeface="Consolas" panose="020B0609020204030204" pitchFamily="49" charset="0"/>
              </a:rPr>
              <a:t>BLT loop</a:t>
            </a:r>
            <a:r>
              <a:rPr lang="pt-BR" b="1" dirty="0">
                <a:solidFill>
                  <a:schemeClr val="bg1">
                    <a:lumMod val="65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 loop </a:t>
            </a:r>
            <a:r>
              <a:rPr lang="pt-BR" dirty="0" err="1">
                <a:solidFill>
                  <a:schemeClr val="bg1">
                    <a:lumMod val="65000"/>
                  </a:schemeClr>
                </a:solidFill>
                <a:latin typeface="Consolas" panose="020B0609020204030204" pitchFamily="49" charset="0"/>
                <a:cs typeface="Consolas" panose="020B0609020204030204" pitchFamily="49" charset="0"/>
              </a:rPr>
              <a:t>if</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signed</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less</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than</a:t>
            </a:r>
            <a:endParaRPr lang="pt-BR" dirty="0">
              <a:solidFill>
                <a:srgbClr val="FF0000"/>
              </a:solidFill>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581400"/>
            <a:ext cx="1877437" cy="369332"/>
          </a:xfrm>
          <a:prstGeom prst="rect">
            <a:avLst/>
          </a:prstGeom>
          <a:noFill/>
        </p:spPr>
        <p:txBody>
          <a:bodyPr wrap="none" rtlCol="0">
            <a:spAutoFit/>
          </a:bodyPr>
          <a:lstStyle/>
          <a:p>
            <a:r>
              <a:rPr lang="en-US" dirty="0"/>
              <a:t>Implementation 1:</a:t>
            </a:r>
          </a:p>
        </p:txBody>
      </p:sp>
    </p:spTree>
    <p:extLst>
      <p:ext uri="{BB962C8B-B14F-4D97-AF65-F5344CB8AC3E}">
        <p14:creationId xmlns:p14="http://schemas.microsoft.com/office/powerpoint/2010/main" val="3293036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95422949"/>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3124200" y="4112249"/>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581400"/>
            <a:ext cx="1877437" cy="369332"/>
          </a:xfrm>
          <a:prstGeom prst="rect">
            <a:avLst/>
          </a:prstGeom>
          <a:noFill/>
        </p:spPr>
        <p:txBody>
          <a:bodyPr wrap="none" rtlCol="0">
            <a:spAutoFit/>
          </a:bodyPr>
          <a:lstStyle/>
          <a:p>
            <a:r>
              <a:rPr lang="en-US" dirty="0"/>
              <a:t>Implementation 2:</a:t>
            </a:r>
          </a:p>
        </p:txBody>
      </p:sp>
      <p:pic>
        <p:nvPicPr>
          <p:cNvPr id="8" name="Picture 1">
            <a:extLst>
              <a:ext uri="{FF2B5EF4-FFF2-40B4-BE49-F238E27FC236}">
                <a16:creationId xmlns:a16="http://schemas.microsoft.com/office/drawing/2014/main" id="{058AAE44-F9DE-6449-BAC0-7E350273C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766" y="609600"/>
            <a:ext cx="2468162" cy="320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2116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28</a:t>
            </a:fld>
            <a:endParaRPr lang="en-US"/>
          </a:p>
        </p:txBody>
      </p:sp>
      <p:pic>
        <p:nvPicPr>
          <p:cNvPr id="3" name="Picture 2"/>
          <p:cNvPicPr>
            <a:picLocks noChangeAspect="1"/>
          </p:cNvPicPr>
          <p:nvPr/>
        </p:nvPicPr>
        <p:blipFill>
          <a:blip r:embed="rId3"/>
          <a:stretch>
            <a:fillRect/>
          </a:stretch>
        </p:blipFill>
        <p:spPr>
          <a:xfrm>
            <a:off x="1600201" y="1828800"/>
            <a:ext cx="9035457" cy="2590800"/>
          </a:xfrm>
          <a:prstGeom prst="rect">
            <a:avLst/>
          </a:prstGeom>
        </p:spPr>
      </p:pic>
    </p:spTree>
    <p:extLst>
      <p:ext uri="{BB962C8B-B14F-4D97-AF65-F5344CB8AC3E}">
        <p14:creationId xmlns:p14="http://schemas.microsoft.com/office/powerpoint/2010/main" val="173513219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29</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14340" name="Group 4"/>
          <p:cNvGrpSpPr>
            <a:grpSpLocks/>
          </p:cNvGrpSpPr>
          <p:nvPr/>
        </p:nvGrpSpPr>
        <p:grpSpPr bwMode="auto">
          <a:xfrm>
            <a:off x="2947974" y="1779588"/>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Not equal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 or same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lower</a:t>
              </a: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Equal</a:t>
              </a: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Overflow</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No overflow</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a:t>
              </a: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Unsigned lower or same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 or equal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Always</a:t>
              </a: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or equal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80961325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10460754"/>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V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V = 0</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 &amp;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 or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 &amp;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Z = 1 or N = !V</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601302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31</a:t>
            </a:fld>
            <a:endParaRPr lang="en-US"/>
          </a:p>
        </p:txBody>
      </p:sp>
      <p:sp>
        <p:nvSpPr>
          <p:cNvPr id="3" name="Rectangle 2"/>
          <p:cNvSpPr/>
          <p:nvPr/>
        </p:nvSpPr>
        <p:spPr>
          <a:xfrm>
            <a:off x="2136648" y="2170794"/>
            <a:ext cx="1830950" cy="1200329"/>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5638800" y="2310225"/>
            <a:ext cx="40386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p:txBody>
      </p:sp>
      <p:sp>
        <p:nvSpPr>
          <p:cNvPr id="5" name="Right Arrow 4"/>
          <p:cNvSpPr/>
          <p:nvPr/>
        </p:nvSpPr>
        <p:spPr>
          <a:xfrm>
            <a:off x="4419600" y="2665189"/>
            <a:ext cx="838200"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867401" y="3581401"/>
            <a:ext cx="3065263" cy="646331"/>
          </a:xfrm>
          <a:prstGeom prst="rect">
            <a:avLst/>
          </a:prstGeom>
          <a:noFill/>
        </p:spPr>
        <p:txBody>
          <a:bodyPr wrap="none" rtlCol="0">
            <a:spAutoFit/>
          </a:bodyPr>
          <a:lstStyle/>
          <a:p>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a:t>
            </a:r>
            <a:r>
              <a:rPr lang="en-US" dirty="0"/>
              <a:t>Signed Less than or Equal</a:t>
            </a:r>
          </a:p>
          <a:p>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a:t>
            </a:r>
            <a:r>
              <a:rPr lang="en-US" dirty="0"/>
              <a:t>Signed Greater Than</a:t>
            </a:r>
          </a:p>
        </p:txBody>
      </p:sp>
      <p:sp>
        <p:nvSpPr>
          <p:cNvPr id="2" name="TextBox 1"/>
          <p:cNvSpPr txBox="1"/>
          <p:nvPr/>
        </p:nvSpPr>
        <p:spPr>
          <a:xfrm>
            <a:off x="5858360" y="1460700"/>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9086899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32</a:t>
            </a:fld>
            <a:endParaRPr lang="en-US"/>
          </a:p>
        </p:txBody>
      </p:sp>
      <p:sp>
        <p:nvSpPr>
          <p:cNvPr id="3" name="Rectangle 2"/>
          <p:cNvSpPr/>
          <p:nvPr/>
        </p:nvSpPr>
        <p:spPr>
          <a:xfrm>
            <a:off x="1600200" y="2453041"/>
            <a:ext cx="3477234" cy="1200329"/>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5997102" y="2310225"/>
            <a:ext cx="4594699"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
        <p:nvSpPr>
          <p:cNvPr id="5" name="Right Arrow 4"/>
          <p:cNvSpPr/>
          <p:nvPr/>
        </p:nvSpPr>
        <p:spPr>
          <a:xfrm>
            <a:off x="5302994" y="2947436"/>
            <a:ext cx="468549"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096001" y="4114801"/>
            <a:ext cx="1514517" cy="646331"/>
          </a:xfrm>
          <a:prstGeom prst="rect">
            <a:avLst/>
          </a:prstGeom>
          <a:noFill/>
        </p:spPr>
        <p:txBody>
          <a:bodyPr wrap="none" rtlCol="0">
            <a:spAutoFit/>
          </a:bodyPr>
          <a:lstStyle/>
          <a:p>
            <a:r>
              <a:rPr lang="en-US" dirty="0">
                <a:solidFill>
                  <a:srgbClr val="FF0000"/>
                </a:solidFill>
                <a:latin typeface="Consolas" panose="020B0609020204030204" pitchFamily="49" charset="0"/>
              </a:rPr>
              <a:t>NE</a:t>
            </a:r>
            <a:r>
              <a:rPr lang="en-US" dirty="0"/>
              <a:t>: Not Equal</a:t>
            </a:r>
          </a:p>
          <a:p>
            <a:r>
              <a:rPr lang="en-US" dirty="0" err="1">
                <a:solidFill>
                  <a:srgbClr val="FF0000"/>
                </a:solidFill>
                <a:latin typeface="Consolas" panose="020B0609020204030204" pitchFamily="49" charset="0"/>
              </a:rPr>
              <a:t>EQ</a:t>
            </a:r>
            <a:r>
              <a:rPr lang="en-US" dirty="0"/>
              <a:t>: Equal</a:t>
            </a:r>
          </a:p>
        </p:txBody>
      </p:sp>
      <p:sp>
        <p:nvSpPr>
          <p:cNvPr id="9" name="TextBox 8"/>
          <p:cNvSpPr txBox="1"/>
          <p:nvPr/>
        </p:nvSpPr>
        <p:spPr>
          <a:xfrm>
            <a:off x="5991936" y="1585655"/>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0995830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 Boolean Expression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4042436493"/>
              </p:ext>
            </p:extLst>
          </p:nvPr>
        </p:nvGraphicFramePr>
        <p:xfrm>
          <a:off x="1981200" y="2819400"/>
          <a:ext cx="8382000" cy="2301896"/>
        </p:xfrm>
        <a:graphic>
          <a:graphicData uri="http://schemas.openxmlformats.org/drawingml/2006/table">
            <a:tbl>
              <a:tblPr firstRow="1" firstCol="1" bandRow="1">
                <a:tableStyleId>{5940675A-B579-460E-94D1-54222C63F5DA}</a:tableStyleId>
              </a:tblPr>
              <a:tblGrid>
                <a:gridCol w="2903825">
                  <a:extLst>
                    <a:ext uri="{9D8B030D-6E8A-4147-A177-3AD203B41FA5}">
                      <a16:colId xmlns:a16="http://schemas.microsoft.com/office/drawing/2014/main" val="20000"/>
                    </a:ext>
                  </a:extLst>
                </a:gridCol>
                <a:gridCol w="5478175">
                  <a:extLst>
                    <a:ext uri="{9D8B030D-6E8A-4147-A177-3AD203B41FA5}">
                      <a16:colId xmlns:a16="http://schemas.microsoft.com/office/drawing/2014/main" val="20001"/>
                    </a:ext>
                  </a:extLst>
                </a:gridCol>
              </a:tblGrid>
              <a:tr h="227944">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2058056">
                <a:tc>
                  <a:txBody>
                    <a:bodyPr/>
                    <a:lstStyle/>
                    <a:p>
                      <a:pPr marL="0" marR="0" algn="just">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x is a signed integer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r0</a:t>
                      </a:r>
                      <a:r>
                        <a:rPr lang="en-US" sz="1600" dirty="0">
                          <a:solidFill>
                            <a:schemeClr val="bg1">
                              <a:lumMod val="65000"/>
                            </a:schemeClr>
                          </a:solidFill>
                          <a:effectLst/>
                          <a:latin typeface="Consolas" panose="020B0609020204030204" pitchFamily="49" charset="0"/>
                          <a:cs typeface="Consolas" panose="020B0609020204030204" pitchFamily="49" charset="0"/>
                        </a:rPr>
                        <a:t> = x, </a:t>
                      </a:r>
                      <a:r>
                        <a:rPr lang="en-US" sz="1600" dirty="0" err="1">
                          <a:solidFill>
                            <a:schemeClr val="bg1">
                              <a:lumMod val="65000"/>
                            </a:schemeClr>
                          </a:solidFill>
                          <a:effectLst/>
                          <a:latin typeface="Consolas" panose="020B0609020204030204" pitchFamily="49" charset="0"/>
                          <a:cs typeface="Consolas" panose="020B0609020204030204" pitchFamily="49" charset="0"/>
                        </a:rPr>
                        <a:t>r1</a:t>
                      </a:r>
                      <a:r>
                        <a:rPr lang="en-US" sz="1600" dirty="0">
                          <a:solidFill>
                            <a:schemeClr val="bg1">
                              <a:lumMod val="65000"/>
                            </a:schemeClr>
                          </a:solidFill>
                          <a:effectLst/>
                          <a:latin typeface="Consolas" panose="020B0609020204030204" pitchFamily="49" charset="0"/>
                          <a:cs typeface="Consolas" panose="020B0609020204030204" pitchFamily="49" charset="0"/>
                        </a:rPr>
                        <a:t> = a</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b="1" dirty="0" err="1">
                          <a:solidFill>
                            <a:srgbClr val="C00000"/>
                          </a:solidFill>
                          <a:effectLst/>
                          <a:latin typeface="Consolas" panose="020B0609020204030204" pitchFamily="49" charset="0"/>
                          <a:cs typeface="Consolas" panose="020B0609020204030204" pitchFamily="49" charset="0"/>
                        </a:rPr>
                        <a:t>LE</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a=1 if less or equal</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#25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CMP</a:t>
                      </a:r>
                      <a:r>
                        <a:rPr lang="en-US" sz="1600" dirty="0">
                          <a:solidFill>
                            <a:schemeClr val="bg1">
                              <a:lumMod val="65000"/>
                            </a:schemeClr>
                          </a:solidFill>
                          <a:effectLst/>
                          <a:latin typeface="Consolas" panose="020B0609020204030204" pitchFamily="49" charset="0"/>
                          <a:cs typeface="Consolas" panose="020B0609020204030204" pitchFamily="49" charset="0"/>
                        </a:rPr>
                        <a:t> if greater than</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b="1" dirty="0" err="1">
                          <a:solidFill>
                            <a:srgbClr val="C00000"/>
                          </a:solidFill>
                          <a:effectLst/>
                          <a:latin typeface="Consolas" panose="020B0609020204030204" pitchFamily="49" charset="0"/>
                          <a:cs typeface="Consolas" panose="020B0609020204030204" pitchFamily="49" charset="0"/>
                        </a:rPr>
                        <a:t>GE</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a=1 if greater or equal</a:t>
                      </a:r>
                    </a:p>
                    <a:p>
                      <a:pPr marL="0" marR="0" algn="l">
                        <a:spcBef>
                          <a:spcPts val="0"/>
                        </a:spcBef>
                        <a:spcAft>
                          <a:spcPts val="0"/>
                        </a:spcAft>
                      </a:pPr>
                      <a:r>
                        <a:rPr lang="en-US" sz="1600" dirty="0" err="1">
                          <a:effectLst/>
                          <a:latin typeface="Consolas" panose="020B0609020204030204" pitchFamily="49" charset="0"/>
                          <a:cs typeface="Consolas" panose="020B0609020204030204" pitchFamily="49" charset="0"/>
                        </a:rPr>
                        <a:t>endif</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24045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1" name="Rectangle 57"/>
          <p:cNvSpPr>
            <a:spLocks noGrp="1" noChangeArrowheads="1"/>
          </p:cNvSpPr>
          <p:nvPr>
            <p:ph type="title"/>
          </p:nvPr>
        </p:nvSpPr>
        <p:spPr/>
        <p:txBody>
          <a:bodyPr>
            <a:normAutofit/>
          </a:bodyPr>
          <a:lstStyle/>
          <a:p>
            <a:r>
              <a:rPr lang="en-US" dirty="0"/>
              <a:t>Example 1: Greatest Common Divider (GCD)</a:t>
            </a:r>
          </a:p>
        </p:txBody>
      </p:sp>
      <p:sp>
        <p:nvSpPr>
          <p:cNvPr id="16387" name="Rectangle 3"/>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88" name="Rectangle 4"/>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16389" name="Rectangle 5"/>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90" name="Rectangle 6"/>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58" name="Slide Number Placeholder 57"/>
          <p:cNvSpPr>
            <a:spLocks noGrp="1"/>
          </p:cNvSpPr>
          <p:nvPr>
            <p:ph type="sldNum" sz="quarter" idx="12"/>
          </p:nvPr>
        </p:nvSpPr>
        <p:spPr/>
        <p:txBody>
          <a:bodyPr/>
          <a:lstStyle/>
          <a:p>
            <a:fld id="{AEE14D4A-FE32-40AF-B06D-E9622816B101}" type="slidenum">
              <a:rPr lang="en-US" smtClean="0"/>
              <a:pPr/>
              <a:t>34</a:t>
            </a:fld>
            <a:endParaRPr lang="en-US"/>
          </a:p>
        </p:txBody>
      </p:sp>
      <p:sp>
        <p:nvSpPr>
          <p:cNvPr id="61" name="TextBox 60"/>
          <p:cNvSpPr txBox="1"/>
          <p:nvPr/>
        </p:nvSpPr>
        <p:spPr>
          <a:xfrm>
            <a:off x="1804932" y="3706685"/>
            <a:ext cx="4519669" cy="2308324"/>
          </a:xfrm>
          <a:prstGeom prst="rect">
            <a:avLst/>
          </a:prstGeom>
          <a:noFill/>
          <a:ln>
            <a:solidFill>
              <a:schemeClr val="accent1"/>
            </a:solidFill>
          </a:ln>
        </p:spPr>
        <p:txBody>
          <a:bodyPr wrap="square" rtlCol="0">
            <a:spAutoFit/>
          </a:bodyPr>
          <a:lstStyle/>
          <a:p>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suppose r0 = a and r1 = b</a:t>
            </a:r>
          </a:p>
          <a:p>
            <a:r>
              <a:rPr lang="en-US" sz="1600" b="1" dirty="0" err="1">
                <a:solidFill>
                  <a:srgbClr val="FF40FF"/>
                </a:solidFill>
                <a:latin typeface="Consolas" panose="020B0609020204030204" pitchFamily="49" charset="0"/>
                <a:cs typeface="Consolas" panose="020B0609020204030204" pitchFamily="49" charset="0"/>
              </a:rPr>
              <a:t>gcd</a:t>
            </a:r>
            <a:r>
              <a:rPr lang="en-US" sz="1600" dirty="0">
                <a:latin typeface="Consolas" panose="020B0609020204030204" pitchFamily="49" charset="0"/>
                <a:cs typeface="Consolas" panose="020B0609020204030204" pitchFamily="49" charset="0"/>
              </a:rPr>
              <a:t>   CMP r0, r1	      </a:t>
            </a:r>
            <a:r>
              <a:rPr lang="en-US" sz="1600" dirty="0">
                <a:solidFill>
                  <a:schemeClr val="bg1">
                    <a:lumMod val="65000"/>
                  </a:schemeClr>
                </a:solidFill>
                <a:latin typeface="Consolas" panose="020B0609020204030204" pitchFamily="49" charset="0"/>
                <a:cs typeface="Consolas" panose="020B0609020204030204" pitchFamily="49" charset="0"/>
              </a:rPr>
              <a:t>; a &gt; b?</a:t>
            </a:r>
          </a:p>
          <a:p>
            <a:r>
              <a:rPr lang="en-US" sz="1600" b="1" dirty="0">
                <a:solidFill>
                  <a:srgbClr val="0000FF"/>
                </a:solidFill>
                <a:latin typeface="Consolas" panose="020B0609020204030204" pitchFamily="49" charset="0"/>
                <a:cs typeface="Consolas" panose="020B0609020204030204" pitchFamily="49" charset="0"/>
              </a:rPr>
              <a:t>      BEQ end</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if a = b, done</a:t>
            </a:r>
          </a:p>
          <a:p>
            <a:r>
              <a:rPr lang="en-US" sz="1600"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BLO less</a:t>
            </a:r>
            <a:r>
              <a:rPr lang="en-US" sz="1600" dirty="0">
                <a:solidFill>
                  <a:srgbClr val="FF0000"/>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a &lt; b</a:t>
            </a:r>
          </a:p>
          <a:p>
            <a:r>
              <a:rPr lang="en-US" sz="1600" dirty="0">
                <a:latin typeface="Consolas" panose="020B0609020204030204" pitchFamily="49" charset="0"/>
                <a:cs typeface="Consolas" panose="020B0609020204030204" pitchFamily="49" charset="0"/>
              </a:rPr>
              <a:t>      SUB r0, r0, r1  </a:t>
            </a:r>
            <a:r>
              <a:rPr lang="en-US" sz="1600" dirty="0">
                <a:solidFill>
                  <a:schemeClr val="bg1">
                    <a:lumMod val="65000"/>
                  </a:schemeClr>
                </a:solidFill>
                <a:latin typeface="Consolas" panose="020B0609020204030204" pitchFamily="49" charset="0"/>
                <a:cs typeface="Consolas" panose="020B0609020204030204" pitchFamily="49" charset="0"/>
              </a:rPr>
              <a:t>; a = a – b</a:t>
            </a:r>
          </a:p>
          <a:p>
            <a:r>
              <a:rPr lang="en-US" sz="1600" dirty="0">
                <a:latin typeface="Consolas" panose="020B0609020204030204" pitchFamily="49" charset="0"/>
                <a:cs typeface="Consolas" panose="020B0609020204030204" pitchFamily="49" charset="0"/>
              </a:rPr>
              <a:t>      </a:t>
            </a:r>
            <a:r>
              <a:rPr lang="en-US" sz="1600" b="1" dirty="0">
                <a:solidFill>
                  <a:srgbClr val="FF40FF"/>
                </a:solidFill>
                <a:latin typeface="Consolas" panose="020B0609020204030204" pitchFamily="49" charset="0"/>
                <a:cs typeface="Consolas" panose="020B0609020204030204" pitchFamily="49" charset="0"/>
              </a:rPr>
              <a:t>B   </a:t>
            </a:r>
            <a:r>
              <a:rPr lang="en-US" sz="1600" b="1" dirty="0" err="1">
                <a:solidFill>
                  <a:srgbClr val="FF40FF"/>
                </a:solidFill>
                <a:latin typeface="Consolas" panose="020B0609020204030204" pitchFamily="49" charset="0"/>
                <a:cs typeface="Consolas" panose="020B0609020204030204" pitchFamily="49" charset="0"/>
              </a:rPr>
              <a:t>gcd</a:t>
            </a:r>
            <a:endParaRPr lang="en-US" sz="1600" b="1" dirty="0">
              <a:solidFill>
                <a:srgbClr val="FF40FF"/>
              </a:solidFill>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less  </a:t>
            </a:r>
            <a:r>
              <a:rPr lang="en-US" sz="1600" dirty="0">
                <a:latin typeface="Consolas" panose="020B0609020204030204" pitchFamily="49" charset="0"/>
                <a:cs typeface="Consolas" panose="020B0609020204030204" pitchFamily="49" charset="0"/>
              </a:rPr>
              <a:t>SUB r1, r1, r0  </a:t>
            </a:r>
            <a:r>
              <a:rPr lang="en-US" sz="1600" dirty="0">
                <a:solidFill>
                  <a:schemeClr val="bg1">
                    <a:lumMod val="65000"/>
                  </a:schemeClr>
                </a:solidFill>
                <a:latin typeface="Consolas" panose="020B0609020204030204" pitchFamily="49" charset="0"/>
                <a:cs typeface="Consolas" panose="020B0609020204030204" pitchFamily="49" charset="0"/>
              </a:rPr>
              <a:t>; b = b – a</a:t>
            </a:r>
          </a:p>
          <a:p>
            <a:r>
              <a:rPr lang="en-US" sz="1600" dirty="0">
                <a:latin typeface="Consolas" panose="020B0609020204030204" pitchFamily="49" charset="0"/>
                <a:cs typeface="Consolas" panose="020B0609020204030204" pitchFamily="49" charset="0"/>
              </a:rPr>
              <a:t>      </a:t>
            </a:r>
            <a:r>
              <a:rPr lang="en-US" sz="1600" b="1" dirty="0">
                <a:solidFill>
                  <a:srgbClr val="FF40FF"/>
                </a:solidFill>
                <a:latin typeface="Consolas" panose="020B0609020204030204" pitchFamily="49" charset="0"/>
                <a:cs typeface="Consolas" panose="020B0609020204030204" pitchFamily="49" charset="0"/>
              </a:rPr>
              <a:t>B   </a:t>
            </a:r>
            <a:r>
              <a:rPr lang="en-US" sz="1600" b="1" dirty="0" err="1">
                <a:solidFill>
                  <a:srgbClr val="FF40FF"/>
                </a:solidFill>
                <a:latin typeface="Consolas" panose="020B0609020204030204" pitchFamily="49" charset="0"/>
                <a:cs typeface="Consolas" panose="020B0609020204030204" pitchFamily="49" charset="0"/>
              </a:rPr>
              <a:t>gcd</a:t>
            </a:r>
            <a:r>
              <a:rPr lang="en-US" sz="1600" dirty="0">
                <a:latin typeface="Consolas" panose="020B0609020204030204" pitchFamily="49" charset="0"/>
                <a:cs typeface="Consolas" panose="020B0609020204030204" pitchFamily="49" charset="0"/>
              </a:rPr>
              <a:t>	</a:t>
            </a:r>
          </a:p>
          <a:p>
            <a:r>
              <a:rPr lang="en-US" sz="1600" dirty="0">
                <a:solidFill>
                  <a:srgbClr val="0000FF"/>
                </a:solidFill>
                <a:latin typeface="Consolas" panose="020B0609020204030204" pitchFamily="49" charset="0"/>
                <a:cs typeface="Consolas" panose="020B0609020204030204" pitchFamily="49" charset="0"/>
              </a:rPr>
              <a:t>end</a:t>
            </a:r>
          </a:p>
        </p:txBody>
      </p:sp>
      <p:sp>
        <p:nvSpPr>
          <p:cNvPr id="62" name="Down Arrow 61"/>
          <p:cNvSpPr/>
          <p:nvPr/>
        </p:nvSpPr>
        <p:spPr>
          <a:xfrm>
            <a:off x="2667001" y="3352062"/>
            <a:ext cx="166171" cy="2884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1711420" y="1121015"/>
            <a:ext cx="1655774" cy="338554"/>
          </a:xfrm>
          <a:prstGeom prst="rect">
            <a:avLst/>
          </a:prstGeom>
          <a:noFill/>
        </p:spPr>
        <p:txBody>
          <a:bodyPr wrap="none" rtlCol="0">
            <a:spAutoFit/>
          </a:bodyPr>
          <a:lstStyle/>
          <a:p>
            <a:r>
              <a:rPr lang="en-US" sz="1600" dirty="0">
                <a:solidFill>
                  <a:srgbClr val="FF0000"/>
                </a:solidFill>
              </a:rPr>
              <a:t>Euclid’s Algorithm</a:t>
            </a:r>
          </a:p>
        </p:txBody>
      </p:sp>
      <p:grpSp>
        <p:nvGrpSpPr>
          <p:cNvPr id="66" name="Group 65"/>
          <p:cNvGrpSpPr/>
          <p:nvPr/>
        </p:nvGrpSpPr>
        <p:grpSpPr>
          <a:xfrm>
            <a:off x="6118036" y="1619479"/>
            <a:ext cx="3488529" cy="1077218"/>
            <a:chOff x="4461833" y="1619479"/>
            <a:chExt cx="3488529" cy="1077218"/>
          </a:xfrm>
        </p:grpSpPr>
        <p:sp>
          <p:nvSpPr>
            <p:cNvPr id="64" name="Right Arrow 63"/>
            <p:cNvSpPr/>
            <p:nvPr/>
          </p:nvSpPr>
          <p:spPr>
            <a:xfrm>
              <a:off x="4461833" y="2027104"/>
              <a:ext cx="716096" cy="2093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5409282" y="1619479"/>
              <a:ext cx="2541080" cy="1077218"/>
            </a:xfrm>
            <a:prstGeom prst="rect">
              <a:avLst/>
            </a:prstGeom>
            <a:noFill/>
            <a:ln>
              <a:solidFill>
                <a:schemeClr val="accent1"/>
              </a:solidFill>
            </a:ln>
          </p:spPr>
          <p:txBody>
            <a:bodyPr wrap="none" rtlCol="0">
              <a:spAutoFit/>
            </a:bodyPr>
            <a:lstStyle/>
            <a:p>
              <a:r>
                <a:rPr lang="en-US" sz="1600" dirty="0" err="1">
                  <a:solidFill>
                    <a:srgbClr val="FF0000"/>
                  </a:solidFill>
                  <a:latin typeface="Consolas" panose="020B0609020204030204" pitchFamily="49" charset="0"/>
                  <a:cs typeface="Consolas" panose="020B0609020204030204" pitchFamily="49" charset="0"/>
                </a:rPr>
                <a:t>gcd</a:t>
              </a:r>
              <a:r>
                <a:rPr lang="en-US" sz="1600" dirty="0">
                  <a:solidFill>
                    <a:srgbClr val="FF0000"/>
                  </a:solidFill>
                  <a:latin typeface="Consolas" panose="020B0609020204030204" pitchFamily="49" charset="0"/>
                  <a:cs typeface="Consolas" panose="020B0609020204030204" pitchFamily="49" charset="0"/>
                </a:rPr>
                <a:t>  </a:t>
              </a:r>
              <a:r>
                <a:rPr lang="en-US" sz="1600" dirty="0" err="1">
                  <a:solidFill>
                    <a:srgbClr val="FF0000"/>
                  </a:solidFill>
                  <a:latin typeface="Consolas" panose="020B0609020204030204" pitchFamily="49" charset="0"/>
                  <a:cs typeface="Consolas" panose="020B0609020204030204" pitchFamily="49" charset="0"/>
                </a:rPr>
                <a:t>CMP</a:t>
              </a:r>
              <a:r>
                <a:rPr lang="en-US" sz="1600" dirty="0">
                  <a:solidFill>
                    <a:srgbClr val="FF0000"/>
                  </a:solidFill>
                  <a:latin typeface="Consolas" panose="020B0609020204030204" pitchFamily="49" charset="0"/>
                  <a:cs typeface="Consolas" panose="020B0609020204030204" pitchFamily="49" charset="0"/>
                </a:rPr>
                <a:t> r0, r1</a:t>
              </a:r>
            </a:p>
            <a:p>
              <a:r>
                <a:rPr lang="en-US" sz="1600" dirty="0">
                  <a:solidFill>
                    <a:srgbClr val="FF0000"/>
                  </a:solidFill>
                  <a:latin typeface="Consolas" panose="020B0609020204030204" pitchFamily="49" charset="0"/>
                  <a:cs typeface="Consolas" panose="020B0609020204030204" pitchFamily="49" charset="0"/>
                </a:rPr>
                <a:t>     SUBHI r0, r0, r1</a:t>
              </a:r>
            </a:p>
            <a:p>
              <a:r>
                <a:rPr lang="en-US" sz="1600" dirty="0">
                  <a:solidFill>
                    <a:srgbClr val="FF0000"/>
                  </a:solidFill>
                  <a:latin typeface="Consolas" panose="020B0609020204030204" pitchFamily="49" charset="0"/>
                  <a:cs typeface="Consolas" panose="020B0609020204030204" pitchFamily="49" charset="0"/>
                </a:rPr>
                <a:t>     SUBLO r1, r1, r0</a:t>
              </a:r>
            </a:p>
            <a:p>
              <a:r>
                <a:rPr lang="en-US" sz="1600" dirty="0">
                  <a:solidFill>
                    <a:srgbClr val="FF0000"/>
                  </a:solidFill>
                  <a:latin typeface="Consolas" panose="020B0609020204030204" pitchFamily="49" charset="0"/>
                  <a:cs typeface="Consolas" panose="020B0609020204030204" pitchFamily="49" charset="0"/>
                </a:rPr>
                <a:t>     </a:t>
              </a:r>
              <a:r>
                <a:rPr lang="en-US" sz="1600" dirty="0" err="1">
                  <a:solidFill>
                    <a:srgbClr val="FF0000"/>
                  </a:solidFill>
                  <a:latin typeface="Consolas" panose="020B0609020204030204" pitchFamily="49" charset="0"/>
                  <a:cs typeface="Consolas" panose="020B0609020204030204" pitchFamily="49" charset="0"/>
                </a:rPr>
                <a:t>BNE</a:t>
              </a:r>
              <a:r>
                <a:rPr lang="en-US" sz="1600" dirty="0">
                  <a:solidFill>
                    <a:srgbClr val="FF0000"/>
                  </a:solidFill>
                  <a:latin typeface="Consolas" panose="020B0609020204030204" pitchFamily="49" charset="0"/>
                  <a:cs typeface="Consolas" panose="020B0609020204030204" pitchFamily="49" charset="0"/>
                </a:rPr>
                <a:t> </a:t>
              </a:r>
              <a:r>
                <a:rPr lang="en-US" sz="1600" dirty="0" err="1">
                  <a:solidFill>
                    <a:srgbClr val="FF0000"/>
                  </a:solidFill>
                  <a:latin typeface="Consolas" panose="020B0609020204030204" pitchFamily="49" charset="0"/>
                  <a:cs typeface="Consolas" panose="020B0609020204030204" pitchFamily="49" charset="0"/>
                </a:rPr>
                <a:t>gcd</a:t>
              </a:r>
              <a:endParaRPr lang="en-US" sz="1600" dirty="0">
                <a:solidFill>
                  <a:srgbClr val="FF0000"/>
                </a:solidFill>
                <a:latin typeface="Consolas" panose="020B0609020204030204" pitchFamily="49" charset="0"/>
                <a:cs typeface="Consolas" panose="020B0609020204030204" pitchFamily="49" charset="0"/>
              </a:endParaRPr>
            </a:p>
          </p:txBody>
        </p:sp>
      </p:grpSp>
      <p:sp>
        <p:nvSpPr>
          <p:cNvPr id="60" name="TextBox 59"/>
          <p:cNvSpPr txBox="1"/>
          <p:nvPr/>
        </p:nvSpPr>
        <p:spPr>
          <a:xfrm>
            <a:off x="1804932" y="1470044"/>
            <a:ext cx="3944037" cy="1815882"/>
          </a:xfrm>
          <a:prstGeom prst="rect">
            <a:avLst/>
          </a:prstGeom>
          <a:noFill/>
          <a:ln>
            <a:solidFill>
              <a:schemeClr val="accent1"/>
            </a:solidFill>
          </a:ln>
        </p:spPr>
        <p:txBody>
          <a:bodyPr wrap="square" rtlCol="0">
            <a:spAutoFit/>
          </a:bodyPr>
          <a:lstStyle/>
          <a:p>
            <a:r>
              <a:rPr lang="en-US" sz="1600" dirty="0">
                <a:latin typeface="Consolas" panose="020B0609020204030204" pitchFamily="49" charset="0"/>
                <a:cs typeface="Consolas" panose="020B0609020204030204" pitchFamily="49" charset="0"/>
              </a:rPr>
              <a:t>uint32_t a, b;</a:t>
            </a:r>
          </a:p>
          <a:p>
            <a:r>
              <a:rPr lang="en-US" sz="1600" dirty="0">
                <a:latin typeface="Consolas" panose="020B0609020204030204" pitchFamily="49" charset="0"/>
                <a:cs typeface="Consolas" panose="020B0609020204030204" pitchFamily="49" charset="0"/>
              </a:rPr>
              <a:t>while (a != b ) {</a:t>
            </a:r>
          </a:p>
          <a:p>
            <a:r>
              <a:rPr lang="en-US" sz="1600" dirty="0">
                <a:latin typeface="Consolas" panose="020B0609020204030204" pitchFamily="49" charset="0"/>
                <a:cs typeface="Consolas" panose="020B0609020204030204" pitchFamily="49" charset="0"/>
              </a:rPr>
              <a:t>    if (a &gt; b) </a:t>
            </a:r>
          </a:p>
          <a:p>
            <a:r>
              <a:rPr lang="en-US" sz="1600" dirty="0">
                <a:latin typeface="Consolas" panose="020B0609020204030204" pitchFamily="49" charset="0"/>
                <a:cs typeface="Consolas" panose="020B0609020204030204" pitchFamily="49" charset="0"/>
              </a:rPr>
              <a:t>       a = a – b; </a:t>
            </a:r>
          </a:p>
          <a:p>
            <a:r>
              <a:rPr lang="en-US" sz="1600" dirty="0">
                <a:latin typeface="Consolas" panose="020B0609020204030204" pitchFamily="49" charset="0"/>
                <a:cs typeface="Consolas" panose="020B0609020204030204" pitchFamily="49" charset="0"/>
              </a:rPr>
              <a:t>    else </a:t>
            </a:r>
          </a:p>
          <a:p>
            <a:r>
              <a:rPr lang="en-US" sz="1600" dirty="0">
                <a:latin typeface="Consolas" panose="020B0609020204030204" pitchFamily="49" charset="0"/>
                <a:cs typeface="Consolas" panose="020B0609020204030204" pitchFamily="49" charset="0"/>
              </a:rPr>
              <a:t>       b = b – a; </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152285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35</a:t>
            </a:fld>
            <a:endParaRPr kumimoji="0" lang="en-US" dirty="0"/>
          </a:p>
        </p:txBody>
      </p:sp>
      <p:sp>
        <p:nvSpPr>
          <p:cNvPr id="5" name="Rectangle 4"/>
          <p:cNvSpPr/>
          <p:nvPr/>
        </p:nvSpPr>
        <p:spPr>
          <a:xfrm>
            <a:off x="2151434" y="1575948"/>
            <a:ext cx="32766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 x in r0, y in r1</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if ( x + y &lt; 0 )</a:t>
            </a:r>
          </a:p>
          <a:p>
            <a:r>
              <a:rPr lang="en-US" dirty="0">
                <a:latin typeface="Consolas" panose="020B0609020204030204" pitchFamily="49" charset="0"/>
                <a:cs typeface="Consolas" panose="020B0609020204030204" pitchFamily="49" charset="0"/>
              </a:rPr>
              <a:t>      x = 0;</a:t>
            </a:r>
          </a:p>
          <a:p>
            <a:r>
              <a:rPr lang="en-US" dirty="0">
                <a:latin typeface="Consolas" panose="020B0609020204030204" pitchFamily="49" charset="0"/>
                <a:cs typeface="Consolas" panose="020B0609020204030204" pitchFamily="49" charset="0"/>
              </a:rPr>
              <a:t>  else</a:t>
            </a:r>
          </a:p>
          <a:p>
            <a:r>
              <a:rPr lang="en-US" dirty="0">
                <a:latin typeface="Consolas" panose="020B0609020204030204" pitchFamily="49" charset="0"/>
                <a:cs typeface="Consolas" panose="020B0609020204030204" pitchFamily="49" charset="0"/>
              </a:rPr>
              <a:t>      x = 1;</a:t>
            </a:r>
          </a:p>
          <a:p>
            <a:endParaRPr lang="en-US" dirty="0">
              <a:latin typeface="Consolas" panose="020B0609020204030204" pitchFamily="49" charset="0"/>
              <a:cs typeface="Consolas" panose="020B0609020204030204" pitchFamily="49" charset="0"/>
            </a:endParaRPr>
          </a:p>
        </p:txBody>
      </p:sp>
      <p:sp>
        <p:nvSpPr>
          <p:cNvPr id="6" name="Rectangle 5"/>
          <p:cNvSpPr/>
          <p:nvPr/>
        </p:nvSpPr>
        <p:spPr>
          <a:xfrm>
            <a:off x="6096000" y="1676400"/>
            <a:ext cx="3124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ADD</a:t>
            </a:r>
            <a:r>
              <a:rPr lang="en-US"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dirty="0">
                <a:latin typeface="Consolas" panose="020B0609020204030204" pitchFamily="49" charset="0"/>
                <a:cs typeface="Consolas" panose="020B0609020204030204" pitchFamily="49" charset="0"/>
              </a:rPr>
              <a:t>        B</a:t>
            </a:r>
            <a:r>
              <a:rPr lang="en-US"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  r0, #0</a:t>
            </a:r>
          </a:p>
          <a:p>
            <a:r>
              <a:rPr lang="en-US" dirty="0">
                <a:latin typeface="Consolas" panose="020B0609020204030204" pitchFamily="49" charset="0"/>
                <a:cs typeface="Consolas" panose="020B0609020204030204" pitchFamily="49" charset="0"/>
              </a:rPr>
              <a:t>        B    done</a:t>
            </a:r>
            <a:endParaRPr lang="en-US"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#1</a:t>
            </a:r>
          </a:p>
          <a:p>
            <a:r>
              <a:rPr lang="en-US" dirty="0">
                <a:latin typeface="Consolas" panose="020B0609020204030204" pitchFamily="49" charset="0"/>
                <a:cs typeface="Consolas" panose="020B0609020204030204" pitchFamily="49" charset="0"/>
              </a:rPr>
              <a:t>done	 </a:t>
            </a:r>
          </a:p>
        </p:txBody>
      </p:sp>
      <p:sp>
        <p:nvSpPr>
          <p:cNvPr id="7" name="Rectangle 6"/>
          <p:cNvSpPr/>
          <p:nvPr/>
        </p:nvSpPr>
        <p:spPr>
          <a:xfrm>
            <a:off x="2151434" y="4040222"/>
            <a:ext cx="7602166"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r>
              <a:rPr lang="pt-BR" dirty="0">
                <a:solidFill>
                  <a:schemeClr val="bg1">
                    <a:lumMod val="65000"/>
                  </a:schemeClr>
                </a:solidFill>
                <a:latin typeface="Consolas" panose="020B0609020204030204" pitchFamily="49" charset="0"/>
                <a:cs typeface="Consolas" panose="020B0609020204030204" pitchFamily="49" charset="0"/>
              </a:rPr>
              <a:t>;  r0 = x + y,  setting </a:t>
            </a:r>
            <a:r>
              <a:rPr lang="pt-BR" dirty="0" err="1">
                <a:solidFill>
                  <a:schemeClr val="bg1">
                    <a:lumMod val="65000"/>
                  </a:schemeClr>
                </a:solidFill>
                <a:latin typeface="Consolas" panose="020B0609020204030204" pitchFamily="49" charset="0"/>
                <a:cs typeface="Consolas" panose="020B0609020204030204" pitchFamily="49" charset="0"/>
              </a:rPr>
              <a:t>CCs</a:t>
            </a:r>
            <a:endParaRPr lang="pt-BR"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  return 0 if n bit = 1</a:t>
            </a: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  return 1 if n bit = 0</a:t>
            </a:r>
          </a:p>
        </p:txBody>
      </p:sp>
    </p:spTree>
    <p:extLst>
      <p:ext uri="{BB962C8B-B14F-4D97-AF65-F5344CB8AC3E}">
        <p14:creationId xmlns:p14="http://schemas.microsoft.com/office/powerpoint/2010/main" val="1520596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36</a:t>
            </a:fld>
            <a:endParaRPr kumimoji="0" lang="en-US"/>
          </a:p>
        </p:txBody>
      </p:sp>
      <p:sp>
        <p:nvSpPr>
          <p:cNvPr id="5" name="Content Placeholder 4"/>
          <p:cNvSpPr>
            <a:spLocks noGrp="1"/>
          </p:cNvSpPr>
          <p:nvPr>
            <p:ph sz="quarter" idx="1"/>
          </p:nvPr>
        </p:nvSpPr>
        <p:spPr>
          <a:xfrm>
            <a:off x="1981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a:t>
            </a:r>
            <a:r>
              <a:rPr lang="en-US" sz="2000" dirty="0" err="1">
                <a:solidFill>
                  <a:srgbClr val="FF0000"/>
                </a:solidFill>
                <a:latin typeface="Consolas" panose="020B0609020204030204" pitchFamily="49" charset="0"/>
              </a:rPr>
              <a:t>Rn,label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Rn,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a:t>
            </a:r>
            <a:r>
              <a:rPr lang="en-US" sz="2000" dirty="0" err="1">
                <a:solidFill>
                  <a:srgbClr val="FF0000"/>
                </a:solidFill>
                <a:latin typeface="Consolas" panose="020B0609020204030204" pitchFamily="49" charset="0"/>
              </a:rPr>
              <a:t>Rn,label</a:t>
            </a:r>
            <a:r>
              <a:rPr lang="en-US" sz="2000" dirty="0">
                <a:solidFill>
                  <a:srgbClr val="FF0000"/>
                </a:solidFill>
                <a:latin typeface="Consolas" panose="020B0609020204030204" pitchFamily="49" charset="0"/>
              </a:rPr>
              <a:t>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Rn,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2316428214"/>
              </p:ext>
            </p:extLst>
          </p:nvPr>
        </p:nvGraphicFramePr>
        <p:xfrm>
          <a:off x="2890908" y="1342391"/>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9020187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02424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667603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endParaRPr lang="en-US" sz="2000" b="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625210527"/>
              </p:ext>
            </p:extLst>
          </p:nvPr>
        </p:nvGraphicFramePr>
        <p:xfrm>
          <a:off x="2057400" y="1600201"/>
          <a:ext cx="8382000" cy="4395551"/>
        </p:xfrm>
        <a:graphic>
          <a:graphicData uri="http://schemas.openxmlformats.org/drawingml/2006/table">
            <a:tbl>
              <a:tblPr firstRow="1" firstCol="1" bandRow="1">
                <a:tableStyleId>{5940675A-B579-460E-94D1-54222C63F5DA}</a:tableStyleId>
              </a:tblPr>
              <a:tblGrid>
                <a:gridCol w="3418974">
                  <a:extLst>
                    <a:ext uri="{9D8B030D-6E8A-4147-A177-3AD203B41FA5}">
                      <a16:colId xmlns:a16="http://schemas.microsoft.com/office/drawing/2014/main" val="20000"/>
                    </a:ext>
                  </a:extLst>
                </a:gridCol>
                <a:gridCol w="4963026">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r0</a:t>
                      </a:r>
                      <a:r>
                        <a:rPr lang="en-US" sz="1800" dirty="0">
                          <a:solidFill>
                            <a:schemeClr val="bg1">
                              <a:lumMod val="50000"/>
                            </a:schemeClr>
                          </a:solidFill>
                          <a:effectLst/>
                          <a:latin typeface="Consolas" panose="020B0609020204030204" pitchFamily="49" charset="0"/>
                          <a:cs typeface="Consolas" panose="020B0609020204030204" pitchFamily="49" charset="0"/>
                        </a:rPr>
                        <a:t>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r1</a:t>
                      </a:r>
                      <a:r>
                        <a:rPr lang="en-US" sz="1800" dirty="0">
                          <a:solidFill>
                            <a:schemeClr val="bg1">
                              <a:lumMod val="50000"/>
                            </a:schemeClr>
                          </a:solidFill>
                          <a:effectLst/>
                          <a:latin typeface="Consolas" panose="020B0609020204030204" pitchFamily="49" charset="0"/>
                          <a:cs typeface="Consolas" panose="020B0609020204030204" pitchFamily="49" charset="0"/>
                        </a:rPr>
                        <a:t>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MOV</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#0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 =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a:t>
                      </a:r>
                      <a:r>
                        <a:rPr lang="en-US" sz="1800" dirty="0" err="1">
                          <a:effectLst/>
                          <a:latin typeface="Consolas" panose="020B0609020204030204" pitchFamily="49" charset="0"/>
                          <a:cs typeface="Consolas" panose="020B0609020204030204" pitchFamily="49" charset="0"/>
                        </a:rPr>
                        <a:t>LDRB</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str</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40</a:t>
            </a:fld>
            <a:endParaRPr kumimoji="0" lang="en-US" dirty="0"/>
          </a:p>
        </p:txBody>
      </p:sp>
      <p:sp>
        <p:nvSpPr>
          <p:cNvPr id="4" name="Content Placeholder 3"/>
          <p:cNvSpPr>
            <a:spLocks noGrp="1"/>
          </p:cNvSpPr>
          <p:nvPr>
            <p:ph sz="quarter" idx="1"/>
          </p:nvPr>
        </p:nvSpPr>
        <p:spPr>
          <a:xfrm>
            <a:off x="1981200" y="1295400"/>
            <a:ext cx="8229600" cy="1676400"/>
          </a:xfrm>
        </p:spPr>
        <p:txBody>
          <a:bodyPr>
            <a:noAutofit/>
          </a:bodyPr>
          <a:lstStyle/>
          <a:p>
            <a:pPr marL="0" indent="0" algn="ctr">
              <a:buNone/>
            </a:pPr>
            <a:r>
              <a:rPr lang="en-US" sz="1600" b="1" dirty="0">
                <a:solidFill>
                  <a:srgbClr val="0000FF"/>
                </a:solidFill>
              </a:rPr>
              <a:t>IT{x{y{z}}} {</a:t>
            </a:r>
            <a:r>
              <a:rPr lang="en-US" sz="1600" b="1" dirty="0" err="1">
                <a:solidFill>
                  <a:srgbClr val="0000FF"/>
                </a:solidFill>
              </a:rPr>
              <a:t>cond</a:t>
            </a:r>
            <a:r>
              <a:rPr lang="en-US" sz="1600" b="1" dirty="0">
                <a:solidFill>
                  <a:srgbClr val="0000FF"/>
                </a:solidFill>
              </a:rPr>
              <a:t>}</a:t>
            </a:r>
          </a:p>
          <a:p>
            <a:r>
              <a:rPr lang="en-US" sz="1600" dirty="0"/>
              <a:t>where the x, y, and z specify the existence of the optional second, third, and fourth conditional instruction respectively. </a:t>
            </a:r>
          </a:p>
          <a:p>
            <a:r>
              <a:rPr lang="en-US" sz="1600" dirty="0"/>
              <a:t>x, y, and z are either </a:t>
            </a:r>
            <a:r>
              <a:rPr lang="en-US" sz="1600" dirty="0">
                <a:solidFill>
                  <a:srgbClr val="FF0000"/>
                </a:solidFill>
              </a:rPr>
              <a:t>T</a:t>
            </a:r>
            <a:r>
              <a:rPr lang="en-US" sz="1600" dirty="0"/>
              <a:t> (Then) or </a:t>
            </a:r>
            <a:r>
              <a:rPr lang="en-US" sz="1600" dirty="0">
                <a:solidFill>
                  <a:srgbClr val="FF0000"/>
                </a:solidFill>
              </a:rPr>
              <a:t>E </a:t>
            </a:r>
            <a:r>
              <a:rPr lang="en-US" sz="1600" dirty="0"/>
              <a:t>(Else)</a:t>
            </a:r>
          </a:p>
        </p:txBody>
      </p:sp>
      <p:sp>
        <p:nvSpPr>
          <p:cNvPr id="5" name="Rectangle 4"/>
          <p:cNvSpPr/>
          <p:nvPr/>
        </p:nvSpPr>
        <p:spPr>
          <a:xfrm>
            <a:off x="1569289" y="3268972"/>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ITTE</a:t>
            </a:r>
            <a:r>
              <a:rPr lang="en-US" sz="1400" dirty="0"/>
              <a:t>   NE            ; IT can be omitted</a:t>
            </a:r>
          </a:p>
          <a:p>
            <a:r>
              <a:rPr lang="en-US" sz="1400" dirty="0"/>
              <a:t>    ANDNE  r0,r0,r1   ; 16-bit AND, not ANDS</a:t>
            </a:r>
          </a:p>
          <a:p>
            <a:r>
              <a:rPr lang="en-US" sz="1400" dirty="0"/>
              <a:t>    ADDNE  r2,r2,#1  ; 32-bit ADDS</a:t>
            </a:r>
          </a:p>
          <a:p>
            <a:r>
              <a:rPr lang="en-US" sz="1400" dirty="0"/>
              <a:t>    MOVEQ  r2,r3       ; 16-bit MOV</a:t>
            </a:r>
          </a:p>
        </p:txBody>
      </p:sp>
      <p:sp>
        <p:nvSpPr>
          <p:cNvPr id="6" name="Rectangle 5"/>
          <p:cNvSpPr/>
          <p:nvPr/>
        </p:nvSpPr>
        <p:spPr>
          <a:xfrm>
            <a:off x="5335835" y="4461144"/>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AL             ; emit 2 non-flag setting 16-bit instructions</a:t>
            </a:r>
          </a:p>
          <a:p>
            <a:r>
              <a:rPr lang="en-US" sz="1400" dirty="0"/>
              <a:t>    ADDAL  r0,r0,r1  ; 16-bit ADD, not ADDS</a:t>
            </a:r>
          </a:p>
          <a:p>
            <a:r>
              <a:rPr lang="en-US" sz="1400" dirty="0"/>
              <a:t>    SUBAL  r2,r2,#1  ; 16-bit SUB, not SUB</a:t>
            </a:r>
          </a:p>
          <a:p>
            <a:r>
              <a:rPr lang="en-US" sz="1400" dirty="0"/>
              <a:t>    ADD     r0,r0,r1   ; expands into 32-bit ADD, and is not in  IT block</a:t>
            </a:r>
          </a:p>
        </p:txBody>
      </p:sp>
      <p:sp>
        <p:nvSpPr>
          <p:cNvPr id="7" name="Rectangle 6"/>
          <p:cNvSpPr/>
          <p:nvPr/>
        </p:nvSpPr>
        <p:spPr>
          <a:xfrm>
            <a:off x="5335835" y="3268972"/>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a:t>
            </a:r>
          </a:p>
          <a:p>
            <a:r>
              <a:rPr lang="en-US" sz="1400" dirty="0"/>
              <a:t>    MOVEQ  r0,r1</a:t>
            </a:r>
          </a:p>
          <a:p>
            <a:r>
              <a:rPr lang="en-US" sz="1400" dirty="0"/>
              <a:t>    BEQ    </a:t>
            </a:r>
            <a:r>
              <a:rPr lang="en-US" sz="1400" dirty="0" err="1"/>
              <a:t>dloop</a:t>
            </a:r>
            <a:r>
              <a:rPr lang="en-US" sz="1400" dirty="0"/>
              <a:t>     ; branch at end of IT block is permitted</a:t>
            </a:r>
          </a:p>
          <a:p>
            <a:endParaRPr lang="en-US" sz="1400" dirty="0"/>
          </a:p>
        </p:txBody>
      </p:sp>
      <p:sp>
        <p:nvSpPr>
          <p:cNvPr id="8" name="Rectangle 7"/>
          <p:cNvSpPr/>
          <p:nvPr/>
        </p:nvSpPr>
        <p:spPr>
          <a:xfrm>
            <a:off x="1569289" y="4468079"/>
            <a:ext cx="3614147"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a:t>
            </a:r>
          </a:p>
          <a:p>
            <a:r>
              <a:rPr lang="en-US" sz="1400" dirty="0"/>
              <a:t>    MOVEQ  r0,r1</a:t>
            </a:r>
          </a:p>
          <a:p>
            <a:r>
              <a:rPr lang="en-US" sz="1400" dirty="0"/>
              <a:t>    ADDEQ  r0,r0,#1 </a:t>
            </a:r>
          </a:p>
        </p:txBody>
      </p:sp>
      <p:sp>
        <p:nvSpPr>
          <p:cNvPr id="9" name="TextBox 8"/>
          <p:cNvSpPr txBox="1"/>
          <p:nvPr/>
        </p:nvSpPr>
        <p:spPr>
          <a:xfrm>
            <a:off x="1569288" y="2855705"/>
            <a:ext cx="1107996" cy="369332"/>
          </a:xfrm>
          <a:prstGeom prst="rect">
            <a:avLst/>
          </a:prstGeom>
          <a:noFill/>
        </p:spPr>
        <p:txBody>
          <a:bodyPr wrap="none" rtlCol="0">
            <a:spAutoFit/>
          </a:bodyPr>
          <a:lstStyle/>
          <a:p>
            <a:r>
              <a:rPr lang="en-US" dirty="0"/>
              <a:t>Examples:</a:t>
            </a:r>
          </a:p>
        </p:txBody>
      </p:sp>
    </p:spTree>
    <p:extLst>
      <p:ext uri="{BB962C8B-B14F-4D97-AF65-F5344CB8AC3E}">
        <p14:creationId xmlns:p14="http://schemas.microsoft.com/office/powerpoint/2010/main" val="207599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4" name="Content Placeholder 3"/>
          <p:cNvSpPr>
            <a:spLocks noGrp="1"/>
          </p:cNvSpPr>
          <p:nvPr>
            <p:ph sz="quarter" idx="1"/>
          </p:nvPr>
        </p:nvSpPr>
        <p:spPr>
          <a:xfrm>
            <a:off x="1981200" y="3200400"/>
            <a:ext cx="8229600" cy="2346960"/>
          </a:xfrm>
        </p:spPr>
        <p:txBody>
          <a:bodyPr>
            <a:normAutofit/>
          </a:bodyPr>
          <a:lstStyle/>
          <a:p>
            <a:r>
              <a:rPr lang="en-US" sz="2000" dirty="0">
                <a:solidFill>
                  <a:srgbClr val="C00000"/>
                </a:solidFill>
              </a:rPr>
              <a:t>You do not need to write IT instructions in your code. </a:t>
            </a:r>
          </a:p>
          <a:p>
            <a:endParaRPr lang="en-US" sz="2000" dirty="0">
              <a:solidFill>
                <a:srgbClr val="C00000"/>
              </a:solidFill>
            </a:endParaRPr>
          </a:p>
          <a:p>
            <a:r>
              <a:rPr lang="en-US" sz="2000" dirty="0">
                <a:solidFill>
                  <a:srgbClr val="C00000"/>
                </a:solidFill>
              </a:rPr>
              <a:t>The assembler generates them for you automatically according to the conditions specified.</a:t>
            </a:r>
          </a:p>
        </p:txBody>
      </p:sp>
      <p:sp>
        <p:nvSpPr>
          <p:cNvPr id="5" name="Content Placeholder 3"/>
          <p:cNvSpPr txBox="1">
            <a:spLocks/>
          </p:cNvSpPr>
          <p:nvPr/>
        </p:nvSpPr>
        <p:spPr>
          <a:xfrm>
            <a:off x="1981200" y="1333500"/>
            <a:ext cx="8229600" cy="16764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ctr">
              <a:buNone/>
            </a:pPr>
            <a:r>
              <a:rPr lang="en-US" sz="2400" b="1" dirty="0">
                <a:solidFill>
                  <a:srgbClr val="0000FF"/>
                </a:solidFill>
                <a:latin typeface="Consolas" panose="020B0609020204030204" pitchFamily="49" charset="0"/>
                <a:cs typeface="Consolas" panose="020B0609020204030204" pitchFamily="49" charset="0"/>
              </a:rPr>
              <a:t>IT{x{y{z}}} {</a:t>
            </a:r>
            <a:r>
              <a:rPr lang="en-US" sz="2400" b="1" dirty="0" err="1">
                <a:solidFill>
                  <a:srgbClr val="0000FF"/>
                </a:solidFill>
                <a:latin typeface="Consolas" panose="020B0609020204030204" pitchFamily="49" charset="0"/>
                <a:cs typeface="Consolas" panose="020B0609020204030204" pitchFamily="49" charset="0"/>
              </a:rPr>
              <a:t>cond</a:t>
            </a:r>
            <a:r>
              <a:rPr lang="en-US" sz="2400" b="1" dirty="0">
                <a:solidFill>
                  <a:srgbClr val="0000FF"/>
                </a:solidFill>
                <a:latin typeface="Consolas" panose="020B0609020204030204" pitchFamily="49" charset="0"/>
                <a:cs typeface="Consolas" panose="020B0609020204030204" pitchFamily="49" charset="0"/>
              </a:rPr>
              <a:t>}</a:t>
            </a:r>
          </a:p>
          <a:p>
            <a:r>
              <a:rPr lang="en-US" sz="2000" dirty="0"/>
              <a:t>where the x, y, and z specify the existence of the optional second, third, and fourth conditional instruction respectively. </a:t>
            </a:r>
          </a:p>
          <a:p>
            <a:r>
              <a:rPr lang="en-US" sz="2000" dirty="0"/>
              <a:t>x, y, and z are either </a:t>
            </a:r>
            <a:r>
              <a:rPr lang="en-US" sz="2000" dirty="0">
                <a:solidFill>
                  <a:srgbClr val="FF0000"/>
                </a:solidFill>
              </a:rPr>
              <a:t>T</a:t>
            </a:r>
            <a:r>
              <a:rPr lang="en-US" sz="2000" dirty="0"/>
              <a:t> (Then) or </a:t>
            </a:r>
            <a:r>
              <a:rPr lang="en-US" sz="2000" dirty="0">
                <a:solidFill>
                  <a:srgbClr val="FF0000"/>
                </a:solidFill>
              </a:rPr>
              <a:t>E </a:t>
            </a:r>
            <a:r>
              <a:rPr lang="en-US" sz="2000" dirty="0"/>
              <a:t>(Else)</a:t>
            </a:r>
          </a:p>
        </p:txBody>
      </p:sp>
    </p:spTree>
    <p:extLst>
      <p:ext uri="{BB962C8B-B14F-4D97-AF65-F5344CB8AC3E}">
        <p14:creationId xmlns:p14="http://schemas.microsoft.com/office/powerpoint/2010/main" val="2069787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a:bodyPr>
          <a:lstStyle/>
          <a:p>
            <a:r>
              <a:rPr lang="en-US" dirty="0"/>
              <a:t>Summary: 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42</a:t>
            </a:fld>
            <a:endParaRPr lang="en-US"/>
          </a:p>
        </p:txBody>
      </p:sp>
      <p:sp>
        <p:nvSpPr>
          <p:cNvPr id="2" name="Rectangle 1"/>
          <p:cNvSpPr/>
          <p:nvPr/>
        </p:nvSpPr>
        <p:spPr>
          <a:xfrm>
            <a:off x="2914650" y="5765381"/>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2914650" y="1412357"/>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cs typeface="Consolas" panose="020B0609020204030204" pitchFamily="49" charset="0"/>
                </a:rPr>
                <a:t>N</a:t>
              </a:r>
              <a:r>
                <a:rPr lang="en-US" dirty="0">
                  <a:latin typeface="Consolas" panose="020B0609020204030204" pitchFamily="49" charset="0"/>
                  <a:cs typeface="Consolas" panose="020B0609020204030204" pitchFamily="49" charset="0"/>
                </a:rPr>
                <a:t>ot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H</a:t>
              </a:r>
              <a:r>
                <a:rPr lang="en-US" dirty="0">
                  <a:latin typeface="Consolas" panose="020B0609020204030204" pitchFamily="49" charset="0"/>
                  <a:cs typeface="Consolas" panose="020B0609020204030204" pitchFamily="49" charset="0"/>
                </a:rPr>
                <a:t>igher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LO</a:t>
              </a:r>
              <a:r>
                <a:rPr lang="en-US" dirty="0" err="1">
                  <a:latin typeface="Consolas" panose="020B0609020204030204" pitchFamily="49" charset="0"/>
                  <a:cs typeface="Consolas" panose="020B0609020204030204" pitchFamily="49" charset="0"/>
                </a:rPr>
                <a:t>wer</a:t>
              </a:r>
              <a:endParaRPr lang="en-US"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MI</a:t>
              </a:r>
              <a:r>
                <a:rPr lang="en-US" dirty="0" err="1">
                  <a:latin typeface="Consolas" panose="020B0609020204030204" pitchFamily="49" charset="0"/>
                  <a:cs typeface="Consolas" panose="020B0609020204030204" pitchFamily="49" charset="0"/>
                </a:rPr>
                <a:t>nus</a:t>
              </a:r>
              <a:r>
                <a:rPr lang="en-US" dirty="0">
                  <a:latin typeface="Consolas" panose="020B0609020204030204" pitchFamily="49" charset="0"/>
                  <a:cs typeface="Consolas" panose="020B0609020204030204" pitchFamily="49" charset="0"/>
                </a:rPr>
                <a:t> (Negative)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EQ</a:t>
              </a:r>
              <a:r>
                <a:rPr lang="en-US" dirty="0" err="1">
                  <a:latin typeface="Consolas" panose="020B0609020204030204" pitchFamily="49" charset="0"/>
                  <a:cs typeface="Consolas" panose="020B0609020204030204" pitchFamily="49" charset="0"/>
                </a:rPr>
                <a:t>ual</a:t>
              </a:r>
              <a:endParaRPr lang="en-US"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HI</a:t>
              </a:r>
              <a:r>
                <a:rPr lang="en-US" dirty="0" err="1">
                  <a:latin typeface="Consolas" panose="020B0609020204030204" pitchFamily="49" charset="0"/>
                  <a:cs typeface="Consolas" panose="020B0609020204030204" pitchFamily="49" charset="0"/>
                </a:rPr>
                <a:t>gher</a:t>
              </a:r>
              <a:endParaRPr lang="en-US"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ower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PL</a:t>
              </a:r>
              <a:r>
                <a:rPr lang="en-US" dirty="0" err="1">
                  <a:latin typeface="Consolas" panose="020B0609020204030204" pitchFamily="49" charset="0"/>
                  <a:cs typeface="Consolas" panose="020B0609020204030204" pitchFamily="49" charset="0"/>
                </a:rPr>
                <a:t>us</a:t>
              </a:r>
              <a:r>
                <a:rPr lang="en-US"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than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AL</a:t>
              </a:r>
              <a:r>
                <a:rPr lang="en-US" dirty="0" err="1">
                  <a:latin typeface="Consolas" panose="020B0609020204030204" pitchFamily="49" charset="0"/>
                  <a:cs typeface="Consolas" panose="020B0609020204030204" pitchFamily="49" charset="0"/>
                </a:rPr>
                <a:t>ways</a:t>
              </a:r>
              <a:endParaRPr lang="en-US"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7125414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69944596"/>
              </p:ext>
            </p:extLst>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299866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Conditionally Executed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98225169"/>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5584148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3331</TotalTime>
  <Words>5478</Words>
  <Application>Microsoft Office PowerPoint</Application>
  <PresentationFormat>Widescreen</PresentationFormat>
  <Paragraphs>1066</Paragraphs>
  <Slides>44</Slides>
  <Notes>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44</vt:i4>
      </vt:variant>
    </vt:vector>
  </HeadingPairs>
  <TitlesOfParts>
    <vt:vector size="58" baseType="lpstr">
      <vt:lpstr>Arial Unicode MS</vt:lpstr>
      <vt:lpstr>Bookman Old Style (Headings)</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Dr. Yifeng Zhu Electrical and Computer Engineering University of Maine</vt:lpstr>
      <vt:lpstr>Three Control Structures</vt:lpstr>
      <vt:lpstr>Three Control Structures</vt:lpstr>
      <vt:lpstr>Review: Condition Flags</vt:lpstr>
      <vt:lpstr>Updating Condition Flags</vt:lpstr>
      <vt:lpstr>Updating Condition Flags</vt:lpstr>
      <vt:lpstr>Updating Condition Flags: CMP and CMN</vt:lpstr>
      <vt:lpstr>Example of CMP</vt:lpstr>
      <vt:lpstr>Updating Condition Flags: TST and TEQ</vt:lpstr>
      <vt:lpstr>Unconditional Branch Instructions</vt:lpstr>
      <vt:lpstr>Unconditional Branch Instructions: A Simple Example</vt:lpstr>
      <vt:lpstr>Condition Codes </vt:lpstr>
      <vt:lpstr>Signed vs. Unsigned Comparison</vt:lpstr>
      <vt:lpstr>Branch Instructions</vt:lpstr>
      <vt:lpstr>Condition Codes </vt:lpstr>
      <vt:lpstr>Condition Codes </vt:lpstr>
      <vt:lpstr>Signed Greater or Equal (N == V)</vt:lpstr>
      <vt:lpstr>Signed Greater or Equal (N == V)</vt:lpstr>
      <vt:lpstr>Signed Greater or Equal (N == V)</vt:lpstr>
      <vt:lpstr>Number Interpretation</vt:lpstr>
      <vt:lpstr>Which is Greater: 0xFFFFFFFF or 0x00000001?</vt:lpstr>
      <vt:lpstr>If-then Statement</vt:lpstr>
      <vt:lpstr>If-then Statement</vt:lpstr>
      <vt:lpstr>Compound Boolean Expression</vt:lpstr>
      <vt:lpstr>If-then-else</vt:lpstr>
      <vt:lpstr>For Loop</vt:lpstr>
      <vt:lpstr>For Loop</vt:lpstr>
      <vt:lpstr>Combined Program Status Registers (xPSR)</vt:lpstr>
      <vt:lpstr>Condition Codes </vt:lpstr>
      <vt:lpstr>Conditional Execution</vt:lpstr>
      <vt:lpstr>Conditional Execution</vt:lpstr>
      <vt:lpstr>Conditional Execution</vt:lpstr>
      <vt:lpstr>Compound Boolean Expression</vt:lpstr>
      <vt:lpstr>Example 1: Greatest Common Divider (GCD)</vt:lpstr>
      <vt:lpstr>Example 2</vt:lpstr>
      <vt:lpstr>Combination</vt:lpstr>
      <vt:lpstr>Break and Continue</vt:lpstr>
      <vt:lpstr>Break and Continue</vt:lpstr>
      <vt:lpstr>Break and Continue</vt:lpstr>
      <vt:lpstr>IT (If-Then) instruction </vt:lpstr>
      <vt:lpstr>IT (If-Then) instruction </vt:lpstr>
      <vt:lpstr>Summary: Condition Codes </vt:lpstr>
      <vt:lpstr>Summary: Branch Instructions</vt:lpstr>
      <vt:lpstr>Summary: Conditionally Executed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229</cp:revision>
  <cp:lastPrinted>2018-02-28T12:51:32Z</cp:lastPrinted>
  <dcterms:created xsi:type="dcterms:W3CDTF">2014-02-09T17:12:51Z</dcterms:created>
  <dcterms:modified xsi:type="dcterms:W3CDTF">2025-09-25T00:32:07Z</dcterms:modified>
</cp:coreProperties>
</file>