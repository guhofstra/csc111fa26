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307" r:id="rId3"/>
    <p:sldId id="308" r:id="rId4"/>
    <p:sldId id="284" r:id="rId5"/>
    <p:sldId id="258" r:id="rId6"/>
    <p:sldId id="259" r:id="rId7"/>
    <p:sldId id="260" r:id="rId8"/>
    <p:sldId id="310" r:id="rId9"/>
    <p:sldId id="261" r:id="rId10"/>
    <p:sldId id="292" r:id="rId11"/>
    <p:sldId id="293" r:id="rId12"/>
    <p:sldId id="294" r:id="rId13"/>
    <p:sldId id="263" r:id="rId14"/>
    <p:sldId id="295" r:id="rId15"/>
    <p:sldId id="296" r:id="rId16"/>
    <p:sldId id="303" r:id="rId17"/>
    <p:sldId id="304" r:id="rId18"/>
    <p:sldId id="297" r:id="rId19"/>
    <p:sldId id="305" r:id="rId20"/>
    <p:sldId id="306" r:id="rId21"/>
    <p:sldId id="309" r:id="rId22"/>
    <p:sldId id="266" r:id="rId23"/>
    <p:sldId id="298" r:id="rId24"/>
    <p:sldId id="278" r:id="rId25"/>
    <p:sldId id="279" r:id="rId26"/>
    <p:sldId id="300" r:id="rId27"/>
    <p:sldId id="283" r:id="rId28"/>
    <p:sldId id="299" r:id="rId29"/>
    <p:sldId id="281" r:id="rId30"/>
    <p:sldId id="302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50" d="100"/>
          <a:sy n="150" d="100"/>
        </p:scale>
        <p:origin x="4632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A5E3F-0972-45A4-AC9E-F4F032C2257A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1F4C3A-4FFF-4769-A3DC-CFCC34F8D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2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5385DBA2-727B-43EE-B61A-7232050E756A}" type="datetime1">
              <a:rPr lang="en-US" smtClean="0"/>
              <a:pPr eaLnBrk="1" latinLnBrk="0" hangingPunct="1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D3CB0AB-D709-47D9-B108-C72463926FD4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A15A26EE-9A10-4DC6-9165-C6231F65734D}" type="datetime1">
              <a:rPr lang="en-US" smtClean="0"/>
              <a:pPr eaLnBrk="1" latinLnBrk="0" hangingPunct="1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38F1204-C368-4730-89D0-2AA4D8D0FAB9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9A52CCE-3D4A-4822-AB92-D51BD1732F2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B10BC51-9A51-4195-AB26-809709A20093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53E6368-F58E-49F3-B7B5-FC7AF9F17FE0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42A515F-6EF2-4223-93EA-CB9BA509637A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F777A1D-A95B-4F83-8E3E-DFE663370841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58F74D6-AB91-42D2-8101-D1947966E076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BC2DAB9-8EA6-4157-980F-5E7CBF565945}" type="datetime1">
              <a:rPr lang="en-US" smtClean="0"/>
              <a:pPr eaLnBrk="1" latinLnBrk="0" hangingPunct="1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EDB75FB9-5078-4BA9-9F83-227F6C9A4C15}" type="datetime1">
              <a:rPr lang="en-US" smtClean="0"/>
              <a:pPr eaLnBrk="1" latinLnBrk="0" hangingPunct="1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emf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ECE 271 - Microcomputer Architecture and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8788" y="1828800"/>
            <a:ext cx="19806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ECE271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Final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Content Placeholder 4" descr="singer_ikea.gif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2438400" y="1295400"/>
            <a:ext cx="3965455" cy="5002175"/>
          </a:xfrm>
        </p:spPr>
      </p:pic>
      <p:sp>
        <p:nvSpPr>
          <p:cNvPr id="6" name="Oval 5"/>
          <p:cNvSpPr/>
          <p:nvPr/>
        </p:nvSpPr>
        <p:spPr>
          <a:xfrm>
            <a:off x="2514600" y="3012558"/>
            <a:ext cx="2764465" cy="79744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pPr eaLnBrk="1" hangingPunct="1"/>
            <a:r>
              <a:rPr lang="en-US" dirty="0"/>
              <a:t>Assembly Programs</a:t>
            </a:r>
          </a:p>
        </p:txBody>
      </p:sp>
      <p:sp>
        <p:nvSpPr>
          <p:cNvPr id="2" name="Rectangle 1"/>
          <p:cNvSpPr/>
          <p:nvPr/>
        </p:nvSpPr>
        <p:spPr>
          <a:xfrm>
            <a:off x="6324600" y="5943600"/>
            <a:ext cx="164339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i="1" dirty="0"/>
              <a:t>http://www.andysinger.com/</a:t>
            </a:r>
          </a:p>
        </p:txBody>
      </p:sp>
    </p:spTree>
    <p:extLst>
      <p:ext uri="{BB962C8B-B14F-4D97-AF65-F5344CB8AC3E}">
        <p14:creationId xmlns:p14="http://schemas.microsoft.com/office/powerpoint/2010/main" val="42081831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learn Assembly?</a:t>
            </a:r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105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Assembly isn’t “just another language”.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Help you understand how does the processor work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Assembly program runs faster than high-level language. Performance critical codes must be written in assembly.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Use the profiling tools to find the performance bottle and rewrite that code section in assembly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Latency-sensitive applications, such as aircraft controller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Standard C compilers do not use some operations available on ARM processors, such ROR (Rotate Right) and RRX (Rotate Right Extended).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Hardware/processor specific code, 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Processor booting code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Device drivers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A test-and-set atomic assembly instruction can be used to implement locks and semaphores.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Cost-sensitive applications</a:t>
            </a:r>
          </a:p>
          <a:p>
            <a:pPr lvl="1">
              <a:lnSpc>
                <a:spcPct val="90000"/>
              </a:lnSpc>
            </a:pPr>
            <a:r>
              <a:rPr lang="en-US" sz="1600" dirty="0"/>
              <a:t>Embedded devices, where the size of code is limited, wash machine controller, automobile controllers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The best applications are written by those who've mastered assembly language or fully understand the low-level implementation of the high-level language statements they're choosing.</a:t>
            </a:r>
          </a:p>
          <a:p>
            <a:pPr>
              <a:lnSpc>
                <a:spcPct val="90000"/>
              </a:lnSpc>
            </a:pPr>
            <a:endParaRPr lang="en-US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665053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 String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4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379353"/>
              </p:ext>
            </p:extLst>
          </p:nvPr>
        </p:nvGraphicFramePr>
        <p:xfrm>
          <a:off x="3810000" y="1875883"/>
          <a:ext cx="4419600" cy="3542116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897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2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196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Address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Memory Content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Letter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0x00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\0</a:t>
                      </a:r>
                      <a:endParaRPr lang="en-US" sz="1600" b="1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0x79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+ 10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0x6C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+ 9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+ 8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+ 7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0x65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+ 6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+ 5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0x73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+ 4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4601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+ 3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0x20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space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+ 2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0x4D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M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+ 1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0x52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R</a:t>
                      </a:r>
                      <a:endParaRPr lang="en-US" sz="160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7740"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</a:rPr>
                        <a:t>str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>
                          <a:effectLst/>
                          <a:sym typeface="Symbol"/>
                        </a:rPr>
                        <a:t>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0x41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mbria"/>
                        <a:ea typeface="Cambri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2877372"/>
            <a:ext cx="318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char </a:t>
            </a:r>
            <a:r>
              <a:rPr lang="en-US" dirty="0" err="1">
                <a:solidFill>
                  <a:srgbClr val="FF0000"/>
                </a:solidFill>
              </a:rPr>
              <a:t>str</a:t>
            </a:r>
            <a:r>
              <a:rPr lang="en-US" dirty="0">
                <a:solidFill>
                  <a:srgbClr val="FF0000"/>
                </a:solidFill>
              </a:rPr>
              <a:t>[13] = “ARM Assembly”;</a:t>
            </a:r>
            <a:endParaRPr lang="en-US" dirty="0">
              <a:solidFill>
                <a:srgbClr val="FF0000"/>
              </a:solidFill>
              <a:latin typeface="Cambria"/>
              <a:ea typeface="Cambri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143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87450"/>
            <a:ext cx="8229600" cy="51371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Integers</a:t>
            </a:r>
          </a:p>
          <a:p>
            <a:pPr lvl="1"/>
            <a:r>
              <a:rPr lang="en-US" dirty="0"/>
              <a:t>Binary in different bases: binary, octal, hex, decimal</a:t>
            </a:r>
          </a:p>
          <a:p>
            <a:pPr lvl="1"/>
            <a:r>
              <a:rPr lang="en-US" dirty="0"/>
              <a:t>Signed Integers</a:t>
            </a:r>
          </a:p>
          <a:p>
            <a:pPr lvl="2"/>
            <a:r>
              <a:rPr lang="en-US" dirty="0"/>
              <a:t>Signed magnitude</a:t>
            </a:r>
          </a:p>
          <a:p>
            <a:pPr lvl="2"/>
            <a:r>
              <a:rPr lang="en-US" dirty="0"/>
              <a:t>One’s complement</a:t>
            </a:r>
          </a:p>
          <a:p>
            <a:pPr lvl="2"/>
            <a:r>
              <a:rPr lang="en-US" dirty="0"/>
              <a:t>Two’s complement</a:t>
            </a:r>
          </a:p>
          <a:p>
            <a:pPr lvl="1"/>
            <a:r>
              <a:rPr lang="en-US" dirty="0"/>
              <a:t>Arithmetic Operations</a:t>
            </a:r>
          </a:p>
          <a:p>
            <a:pPr lvl="2"/>
            <a:r>
              <a:rPr lang="en-US" dirty="0"/>
              <a:t>N, V, C, Z flags</a:t>
            </a:r>
          </a:p>
          <a:p>
            <a:pPr lvl="1"/>
            <a:r>
              <a:rPr lang="en-US" dirty="0"/>
              <a:t>Big Endian </a:t>
            </a:r>
            <a:r>
              <a:rPr lang="en-US" dirty="0" err="1"/>
              <a:t>vs</a:t>
            </a:r>
            <a:r>
              <a:rPr lang="en-US" dirty="0"/>
              <a:t> Little Endian</a:t>
            </a:r>
          </a:p>
          <a:p>
            <a:r>
              <a:rPr lang="en-US" dirty="0"/>
              <a:t>ASCII values</a:t>
            </a:r>
          </a:p>
          <a:p>
            <a:pPr lvl="1"/>
            <a:r>
              <a:rPr lang="en-US" dirty="0"/>
              <a:t>Null-terminated string</a:t>
            </a:r>
          </a:p>
          <a:p>
            <a:pPr lvl="1"/>
            <a:r>
              <a:rPr lang="en-US" dirty="0"/>
              <a:t>Converting between numbers and ASCII</a:t>
            </a:r>
          </a:p>
          <a:p>
            <a:pPr lvl="1"/>
            <a:r>
              <a:rPr lang="en-US" dirty="0"/>
              <a:t>Upper case, lower case</a:t>
            </a:r>
          </a:p>
          <a:p>
            <a:r>
              <a:rPr lang="en-US" dirty="0"/>
              <a:t>Fixed point numbers</a:t>
            </a:r>
          </a:p>
          <a:p>
            <a:pPr lvl="1"/>
            <a:r>
              <a:rPr lang="en-US" dirty="0" err="1"/>
              <a:t>Qm.n</a:t>
            </a:r>
            <a:r>
              <a:rPr lang="en-US" dirty="0"/>
              <a:t>, </a:t>
            </a:r>
            <a:r>
              <a:rPr lang="en-US" dirty="0" err="1"/>
              <a:t>UQm.n</a:t>
            </a:r>
            <a:endParaRPr lang="en-US" dirty="0"/>
          </a:p>
          <a:p>
            <a:pPr lvl="1"/>
            <a:r>
              <a:rPr lang="en-US" dirty="0"/>
              <a:t>Addition, subtract, multiplication, division</a:t>
            </a:r>
          </a:p>
          <a:p>
            <a:r>
              <a:rPr lang="en-US" dirty="0"/>
              <a:t>Floating point numbers</a:t>
            </a:r>
          </a:p>
          <a:p>
            <a:pPr lvl="1"/>
            <a:r>
              <a:rPr lang="en-US" dirty="0"/>
              <a:t>IEEE 754 Standard</a:t>
            </a:r>
          </a:p>
          <a:p>
            <a:pPr lvl="1"/>
            <a:r>
              <a:rPr lang="en-US" dirty="0"/>
              <a:t>Single Precision, Double Precision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5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7378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Assembly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Load-modify-store sequence</a:t>
            </a:r>
          </a:p>
          <a:p>
            <a:r>
              <a:rPr lang="en-US" dirty="0"/>
              <a:t>Accessing memory</a:t>
            </a:r>
          </a:p>
          <a:p>
            <a:pPr lvl="1"/>
            <a:r>
              <a:rPr lang="en-US" dirty="0"/>
              <a:t>Memory addressing mode</a:t>
            </a:r>
          </a:p>
          <a:p>
            <a:pPr lvl="2"/>
            <a:r>
              <a:rPr lang="en-US" dirty="0"/>
              <a:t>Pre-index</a:t>
            </a:r>
          </a:p>
          <a:p>
            <a:pPr lvl="2"/>
            <a:r>
              <a:rPr lang="en-US" dirty="0"/>
              <a:t>Post-index</a:t>
            </a:r>
          </a:p>
          <a:p>
            <a:pPr lvl="2"/>
            <a:r>
              <a:rPr lang="en-US" dirty="0"/>
              <a:t>Pre-index with update</a:t>
            </a:r>
          </a:p>
          <a:p>
            <a:r>
              <a:rPr lang="en-US" dirty="0"/>
              <a:t>Data processing</a:t>
            </a:r>
          </a:p>
          <a:p>
            <a:pPr lvl="1"/>
            <a:r>
              <a:rPr lang="en-US" dirty="0"/>
              <a:t>Arithmetic, Logic, Comparison, Data Movement</a:t>
            </a:r>
          </a:p>
          <a:p>
            <a:pPr lvl="1"/>
            <a:r>
              <a:rPr lang="en-US" dirty="0"/>
              <a:t>Barrel Shifter:  </a:t>
            </a:r>
          </a:p>
          <a:p>
            <a:pPr lvl="2"/>
            <a:r>
              <a:rPr lang="en-US" dirty="0"/>
              <a:t>ADD r1, r0, r0, LSL 2</a:t>
            </a:r>
          </a:p>
          <a:p>
            <a:pPr lvl="1"/>
            <a:r>
              <a:rPr lang="en-US" dirty="0"/>
              <a:t>Bit operations</a:t>
            </a:r>
          </a:p>
          <a:p>
            <a:pPr lvl="2"/>
            <a:r>
              <a:rPr lang="en-US" dirty="0"/>
              <a:t>Set a bit, Reset a bit, Toggle a bit, Check a bit</a:t>
            </a:r>
          </a:p>
          <a:p>
            <a:pPr lvl="1"/>
            <a:r>
              <a:rPr lang="en-US" dirty="0"/>
              <a:t>LSL, LSR, ASR, ROR, RRX</a:t>
            </a:r>
          </a:p>
          <a:p>
            <a:r>
              <a:rPr lang="en-US" dirty="0"/>
              <a:t>Flow control: if, if-then-else, for loop, while loop</a:t>
            </a:r>
          </a:p>
          <a:p>
            <a:pPr lvl="1"/>
            <a:r>
              <a:rPr lang="en-US" dirty="0"/>
              <a:t>Unconditional Branch: B</a:t>
            </a:r>
          </a:p>
          <a:p>
            <a:pPr lvl="1"/>
            <a:r>
              <a:rPr lang="en-US" dirty="0"/>
              <a:t>Conditional Branch: CMP, TEQ,TST, BEQ, BNE, BMI, BLS, BHI, etc.</a:t>
            </a:r>
          </a:p>
          <a:p>
            <a:pPr lvl="1"/>
            <a:r>
              <a:rPr lang="en-US" dirty="0"/>
              <a:t>Conditional Execution: MOVEQ, MOVNE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6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73452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Subroutine Without Floating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Calling Subroutine &amp; Exiting Subroutine</a:t>
            </a:r>
          </a:p>
          <a:p>
            <a:pPr lvl="1"/>
            <a:r>
              <a:rPr lang="en-US" dirty="0"/>
              <a:t>BL and BX</a:t>
            </a:r>
          </a:p>
          <a:p>
            <a:pPr lvl="1"/>
            <a:r>
              <a:rPr lang="en-US" dirty="0"/>
              <a:t>How PC, LR, and SP registers are updated?</a:t>
            </a:r>
          </a:p>
          <a:p>
            <a:r>
              <a:rPr lang="en-US" dirty="0"/>
              <a:t>Embedded application binary interface (EABI) Protocol</a:t>
            </a:r>
          </a:p>
          <a:p>
            <a:pPr lvl="1"/>
            <a:r>
              <a:rPr lang="en-US" dirty="0"/>
              <a:t>Save and restore R4-R11,LR if your subroutine wishes to modify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Parameters passing in registers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R0, R1, R2, R3</a:t>
            </a:r>
          </a:p>
          <a:p>
            <a:pPr lvl="1"/>
            <a:r>
              <a:rPr lang="en-US" dirty="0"/>
              <a:t>Extra parameters passing in stack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Return parameter in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R0</a:t>
            </a:r>
          </a:p>
          <a:p>
            <a:r>
              <a:rPr lang="en-US" dirty="0"/>
              <a:t>Recursive functions</a:t>
            </a:r>
          </a:p>
          <a:p>
            <a:pPr lvl="1"/>
            <a:r>
              <a:rPr lang="en-US" dirty="0"/>
              <a:t>How does the stack work?</a:t>
            </a:r>
          </a:p>
          <a:p>
            <a:pPr lvl="1"/>
            <a:r>
              <a:rPr lang="en-US" dirty="0"/>
              <a:t>Pay special attention to </a:t>
            </a:r>
            <a:r>
              <a:rPr lang="en-US" b="1" dirty="0">
                <a:latin typeface="Consolas" panose="020B0609020204030204" pitchFamily="49" charset="0"/>
              </a:rPr>
              <a:t>LR</a:t>
            </a:r>
            <a:r>
              <a:rPr lang="en-US" dirty="0"/>
              <a:t> register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7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098443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Subroutine with Float Arguments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4709160"/>
          </a:xfrm>
        </p:spPr>
        <p:txBody>
          <a:bodyPr>
            <a:normAutofit/>
          </a:bodyPr>
          <a:lstStyle/>
          <a:p>
            <a:r>
              <a:rPr lang="en-US" sz="2000" dirty="0"/>
              <a:t>Each number is assigned in turn to the next free register of the corresponding type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Example: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double fun(double a1, float a2, double a3, float a4, float a5, double a6, float a7, double a8)</a:t>
            </a:r>
          </a:p>
          <a:p>
            <a:endParaRPr lang="en-US" sz="2000" dirty="0"/>
          </a:p>
        </p:txBody>
      </p:sp>
      <p:sp>
        <p:nvSpPr>
          <p:cNvPr id="5" name="Rectangle 4"/>
          <p:cNvSpPr/>
          <p:nvPr/>
        </p:nvSpPr>
        <p:spPr>
          <a:xfrm>
            <a:off x="612648" y="2967335"/>
            <a:ext cx="80741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020469"/>
            <a:ext cx="8927901" cy="83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34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334000" cy="4937760"/>
          </a:xfrm>
        </p:spPr>
        <p:txBody>
          <a:bodyPr>
            <a:normAutofit/>
          </a:bodyPr>
          <a:lstStyle/>
          <a:p>
            <a:r>
              <a:rPr lang="en-US" dirty="0"/>
              <a:t>Interrupt </a:t>
            </a:r>
            <a:r>
              <a:rPr lang="en-US" dirty="0" err="1"/>
              <a:t>vs</a:t>
            </a:r>
            <a:r>
              <a:rPr lang="en-US" dirty="0"/>
              <a:t> Polling</a:t>
            </a:r>
          </a:p>
          <a:p>
            <a:r>
              <a:rPr lang="en-US" dirty="0"/>
              <a:t>Interrupt Service Routine</a:t>
            </a:r>
          </a:p>
          <a:p>
            <a:r>
              <a:rPr lang="en-US" dirty="0"/>
              <a:t>Interrupt Enable and Disable</a:t>
            </a:r>
          </a:p>
          <a:p>
            <a:r>
              <a:rPr lang="en-US" dirty="0"/>
              <a:t>Interrupt Stacking and </a:t>
            </a:r>
            <a:r>
              <a:rPr lang="en-US" dirty="0" err="1"/>
              <a:t>Unstacking</a:t>
            </a:r>
            <a:endParaRPr lang="en-US" dirty="0"/>
          </a:p>
          <a:p>
            <a:pPr lvl="1"/>
            <a:r>
              <a:rPr lang="en-US" dirty="0"/>
              <a:t>Eight registers (R0-R3, R12, LR, PC, PSR) are automatically pushed into the stack before the hander starts</a:t>
            </a:r>
          </a:p>
          <a:p>
            <a:pPr lvl="1"/>
            <a:r>
              <a:rPr lang="en-US" dirty="0"/>
              <a:t>These registers are automatically popped when exiting the handler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9</a:t>
            </a:fld>
            <a:endParaRPr kumimoji="0" lang="en-US" dirty="0"/>
          </a:p>
        </p:txBody>
      </p:sp>
      <p:pic>
        <p:nvPicPr>
          <p:cNvPr id="6" name="Picture 2" descr="Image result for waiting for phone cal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705600" y="1371600"/>
            <a:ext cx="1698012" cy="175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media.istockphoto.com/vectors/business-dog-vector-id484096828?k=6&amp;m=484096828&amp;s=170667a&amp;w=0&amp;h=eokHbCWPFhuswJxVoryy3kQjg_d4TyV0Ofw3RTnmJ48=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657600"/>
            <a:ext cx="1779899" cy="118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6781800" y="4866031"/>
            <a:ext cx="19106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i="1" dirty="0"/>
              <a:t>http://www.istockphoto.com/</a:t>
            </a:r>
          </a:p>
        </p:txBody>
      </p:sp>
    </p:spTree>
    <p:extLst>
      <p:ext uri="{BB962C8B-B14F-4D97-AF65-F5344CB8AC3E}">
        <p14:creationId xmlns:p14="http://schemas.microsoft.com/office/powerpoint/2010/main" val="1004926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90600" y="4844533"/>
            <a:ext cx="7010400" cy="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90600" y="4234933"/>
            <a:ext cx="20574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429000" y="3091933"/>
            <a:ext cx="19812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91200" y="4225408"/>
            <a:ext cx="2209800" cy="952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V="1">
            <a:off x="30480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 flipV="1">
            <a:off x="5410200" y="3091934"/>
            <a:ext cx="381000" cy="113347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325755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5600700" y="2939533"/>
            <a:ext cx="0" cy="228600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41605" y="2570201"/>
            <a:ext cx="184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Interrupt Handler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2554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Handler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1200" y="4896444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3374" y="4910255"/>
            <a:ext cx="19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Thread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909409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Signal</a:t>
            </a:r>
          </a:p>
        </p:txBody>
      </p:sp>
      <p:cxnSp>
        <p:nvCxnSpPr>
          <p:cNvPr id="32" name="Straight Arrow Connector 31"/>
          <p:cNvCxnSpPr>
            <a:stCxn id="30" idx="2"/>
          </p:cNvCxnSpPr>
          <p:nvPr/>
        </p:nvCxnSpPr>
        <p:spPr>
          <a:xfrm>
            <a:off x="2453010" y="3555740"/>
            <a:ext cx="594990" cy="66966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258481" y="3865601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518" y="3856076"/>
            <a:ext cx="149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Program</a:t>
            </a:r>
          </a:p>
        </p:txBody>
      </p:sp>
      <p:cxnSp>
        <p:nvCxnSpPr>
          <p:cNvPr id="36" name="Straight Arrow Connector 35"/>
          <p:cNvCxnSpPr>
            <a:stCxn id="40" idx="0"/>
          </p:cNvCxnSpPr>
          <p:nvPr/>
        </p:nvCxnSpPr>
        <p:spPr>
          <a:xfrm flipH="1" flipV="1">
            <a:off x="3167671" y="3925759"/>
            <a:ext cx="718538" cy="298782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334615" y="4224541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Stacking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5715000" y="3429000"/>
            <a:ext cx="304800" cy="30281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825146" y="3059668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Unstacking</a:t>
            </a:r>
            <a:endParaRPr lang="en-US" b="1" dirty="0">
              <a:solidFill>
                <a:srgbClr val="C00000"/>
              </a:solidFill>
            </a:endParaRPr>
          </a:p>
        </p:txBody>
      </p:sp>
      <p:cxnSp>
        <p:nvCxnSpPr>
          <p:cNvPr id="44" name="Straight Arrow Connector 43"/>
          <p:cNvCxnSpPr/>
          <p:nvPr/>
        </p:nvCxnSpPr>
        <p:spPr>
          <a:xfrm flipH="1">
            <a:off x="5410200" y="2570201"/>
            <a:ext cx="414946" cy="48946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257800" y="1923870"/>
            <a:ext cx="1248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Interrupt </a:t>
            </a:r>
          </a:p>
          <a:p>
            <a:pPr algn="ctr"/>
            <a:r>
              <a:rPr lang="en-US" b="1" dirty="0">
                <a:solidFill>
                  <a:srgbClr val="C00000"/>
                </a:solidFill>
              </a:rPr>
              <a:t>Exit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4659867"/>
            <a:ext cx="76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48106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 &amp; </a:t>
            </a:r>
            <a:r>
              <a:rPr lang="en-US" dirty="0" err="1"/>
              <a:t>Unstacking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16" name="Content Placeholder 15"/>
          <p:cNvSpPr>
            <a:spLocks noGrp="1"/>
          </p:cNvSpPr>
          <p:nvPr>
            <p:ph sz="quarter" idx="1"/>
          </p:nvPr>
        </p:nvSpPr>
        <p:spPr>
          <a:xfrm>
            <a:off x="457200" y="5181600"/>
            <a:ext cx="8229600" cy="1143000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/>
              <a:t>Two </a:t>
            </a:r>
            <a:r>
              <a:rPr lang="en-US" sz="1800" dirty="0" err="1"/>
              <a:t>SPs</a:t>
            </a:r>
            <a:r>
              <a:rPr lang="en-US" sz="1800" dirty="0"/>
              <a:t>: Main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MSP</a:t>
            </a:r>
            <a:r>
              <a:rPr lang="en-US" sz="1800" dirty="0"/>
              <a:t>) and Process </a:t>
            </a:r>
            <a:r>
              <a:rPr lang="en-US" sz="1800" dirty="0" err="1"/>
              <a:t>SP</a:t>
            </a:r>
            <a:r>
              <a:rPr lang="en-US" sz="1800" dirty="0"/>
              <a:t> (</a:t>
            </a:r>
            <a:r>
              <a:rPr lang="en-US" sz="1800" dirty="0" err="1"/>
              <a:t>PSP</a:t>
            </a:r>
            <a:r>
              <a:rPr lang="en-US" sz="1800" dirty="0"/>
              <a:t>)</a:t>
            </a:r>
          </a:p>
          <a:p>
            <a:r>
              <a:rPr lang="en-US" sz="1800" dirty="0"/>
              <a:t>Determined by operating mode, and CONTROL[0]</a:t>
            </a:r>
          </a:p>
          <a:p>
            <a:pPr lvl="1"/>
            <a:r>
              <a:rPr lang="en-US" sz="1700" dirty="0"/>
              <a:t>Thread mode </a:t>
            </a:r>
            <a:r>
              <a:rPr lang="en-US" sz="1700" dirty="0">
                <a:latin typeface="Cambria Math"/>
                <a:ea typeface="Cambria Math"/>
              </a:rPr>
              <a:t>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PSP</a:t>
            </a:r>
            <a:endParaRPr lang="en-US" sz="1700" dirty="0">
              <a:ea typeface="Cambria Math"/>
            </a:endParaRPr>
          </a:p>
          <a:p>
            <a:pPr lvl="1"/>
            <a:r>
              <a:rPr lang="en-US" sz="1700" dirty="0">
                <a:ea typeface="Cambria Math"/>
              </a:rPr>
              <a:t>Handler mode</a:t>
            </a:r>
            <a:r>
              <a:rPr lang="en-US" sz="1700" dirty="0">
                <a:latin typeface="Cambria Math"/>
                <a:ea typeface="Cambria Math"/>
              </a:rPr>
              <a:t> ⟶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MSP</a:t>
            </a:r>
            <a:r>
              <a:rPr lang="en-US" sz="1700" dirty="0">
                <a:ea typeface="Cambria Math"/>
              </a:rPr>
              <a:t>  if CONTROL[0] = 0; Otherwise </a:t>
            </a:r>
            <a:r>
              <a:rPr lang="en-US" sz="1700" dirty="0" err="1">
                <a:ea typeface="Cambria Math"/>
              </a:rPr>
              <a:t>SP</a:t>
            </a:r>
            <a:r>
              <a:rPr lang="en-US" sz="1700" dirty="0">
                <a:ea typeface="Cambria Math"/>
              </a:rPr>
              <a:t> = </a:t>
            </a:r>
            <a:r>
              <a:rPr lang="en-US" sz="1700" dirty="0" err="1">
                <a:ea typeface="Cambria Math"/>
              </a:rPr>
              <a:t>PSP</a:t>
            </a:r>
            <a:endParaRPr lang="en-US" sz="17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81842" y="1524000"/>
          <a:ext cx="2819400" cy="3337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5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0x20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xxxxxxxx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xPSP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PC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r15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LR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(</a:t>
                      </a:r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r14</a:t>
                      </a:r>
                      <a:r>
                        <a:rPr lang="en-US" b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0x10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0x0C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r3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0x08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r2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0x04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r1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SP</a:t>
                      </a:r>
                      <a:r>
                        <a:rPr lang="en-US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+ </a:t>
                      </a:r>
                      <a:r>
                        <a:rPr lang="en-US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0x00</a:t>
                      </a:r>
                      <a:endParaRPr 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r0</a:t>
                      </a:r>
                      <a:endParaRPr lang="en-US" b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0" y="2139077"/>
            <a:ext cx="3733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pushes these eight registers into the main stack before an interrupt handler starts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processor automatically pops these eight register out of the main stack when an interrupt hander exits.</a:t>
            </a:r>
          </a:p>
        </p:txBody>
      </p:sp>
      <p:sp>
        <p:nvSpPr>
          <p:cNvPr id="7" name="Right Brace 6"/>
          <p:cNvSpPr/>
          <p:nvPr/>
        </p:nvSpPr>
        <p:spPr>
          <a:xfrm>
            <a:off x="4977442" y="1905000"/>
            <a:ext cx="381000" cy="2971800"/>
          </a:xfrm>
          <a:prstGeom prst="rightBrace">
            <a:avLst>
              <a:gd name="adj1" fmla="val 92107"/>
              <a:gd name="adj2" fmla="val 50000"/>
            </a:avLst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42648" y="1579211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Old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1600200" y="1752600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2648" y="4496974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</a:t>
            </a:r>
            <a:endParaRPr lang="en-US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00200" y="4670363"/>
            <a:ext cx="533400" cy="0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893026" y="2139077"/>
            <a:ext cx="0" cy="2128123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023" y="2764163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C00000"/>
                </a:solidFill>
              </a:rPr>
              <a:t>Stack descends.</a:t>
            </a:r>
          </a:p>
        </p:txBody>
      </p:sp>
    </p:spTree>
    <p:extLst>
      <p:ext uri="{BB962C8B-B14F-4D97-AF65-F5344CB8AC3E}">
        <p14:creationId xmlns:p14="http://schemas.microsoft.com/office/powerpoint/2010/main" val="4243349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Stacking and Unstacking upon Interrupt with FPU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371600"/>
            <a:ext cx="4812284" cy="4832545"/>
          </a:xfrm>
        </p:spPr>
      </p:pic>
    </p:spTree>
    <p:extLst>
      <p:ext uri="{BB962C8B-B14F-4D97-AF65-F5344CB8AC3E}">
        <p14:creationId xmlns:p14="http://schemas.microsoft.com/office/powerpoint/2010/main" val="1620139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Mixing C and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Accessing C variables</a:t>
            </a:r>
          </a:p>
          <a:p>
            <a:pPr lvl="1"/>
            <a:r>
              <a:rPr lang="en-US" dirty="0" err="1"/>
              <a:t>Struct</a:t>
            </a:r>
            <a:r>
              <a:rPr lang="en-US" dirty="0"/>
              <a:t> &amp; Data alignment</a:t>
            </a:r>
          </a:p>
          <a:p>
            <a:pPr lvl="1"/>
            <a:r>
              <a:rPr lang="en-US" dirty="0"/>
              <a:t>Static variables</a:t>
            </a:r>
          </a:p>
          <a:p>
            <a:r>
              <a:rPr lang="en-US" dirty="0"/>
              <a:t>Inline Assembly</a:t>
            </a:r>
          </a:p>
          <a:p>
            <a:r>
              <a:rPr lang="en-US" dirty="0"/>
              <a:t>C calling assembly functions</a:t>
            </a:r>
          </a:p>
          <a:p>
            <a:pPr lvl="1"/>
            <a:r>
              <a:rPr lang="en-US" dirty="0"/>
              <a:t>C: extern assembly functions and variables</a:t>
            </a:r>
          </a:p>
          <a:p>
            <a:pPr lvl="1"/>
            <a:r>
              <a:rPr lang="en-US" dirty="0"/>
              <a:t>Assembly: Export</a:t>
            </a:r>
          </a:p>
          <a:p>
            <a:r>
              <a:rPr lang="en-US" dirty="0"/>
              <a:t>Assembly calling C functions</a:t>
            </a:r>
          </a:p>
          <a:p>
            <a:pPr lvl="1"/>
            <a:r>
              <a:rPr lang="en-US" dirty="0"/>
              <a:t>Assembly: Import C function and variables</a:t>
            </a:r>
          </a:p>
          <a:p>
            <a:pPr lvl="1"/>
            <a:r>
              <a:rPr lang="en-US" dirty="0"/>
              <a:t>Export variables to C functions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13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90395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UQm.n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/>
                        </a:rPr>
                        <m:t>𝒇</m:t>
                      </m:r>
                      <m:r>
                        <a:rPr lang="en-US" sz="2400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𝒉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/>
                            </a:rPr>
                            <m:t>𝑨</m:t>
                          </m:r>
                        </m:e>
                        <m:sub>
                          <m:r>
                            <a:rPr lang="en-US" sz="2400" b="1" i="1">
                              <a:latin typeface="Cambria Math"/>
                            </a:rPr>
                            <m:t>𝒍</m:t>
                          </m:r>
                        </m:sub>
                      </m:sSub>
                      <m:r>
                        <a:rPr lang="en-US" sz="2400" b="1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1" i="1">
                              <a:latin typeface="Cambria Math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1734572"/>
                <a:ext cx="2715230" cy="461665"/>
              </a:xfrm>
              <a:prstGeom prst="rect">
                <a:avLst/>
              </a:prstGeom>
              <a:blipFill rotWithShape="0">
                <a:blip r:embed="rId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865525"/>
            <a:ext cx="3495675" cy="1565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10101.10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>
                              <a:latin typeface="Cambria Math"/>
                            </a:rPr>
                            <m:t>1</m:t>
                          </m:r>
                        </m:e>
                        <m:sub>
                          <m:r>
                            <a:rPr lang="en-US" sz="2400">
                              <a:latin typeface="Cambria Math"/>
                            </a:rPr>
                            <m:t>2 </m:t>
                          </m:r>
                        </m:sub>
                      </m:sSub>
                      <m:r>
                        <a:rPr lang="en-US" sz="2400">
                          <a:latin typeface="Cambria Math"/>
                        </a:rPr>
                        <m:t>= 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h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𝑙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075" y="4191000"/>
                <a:ext cx="4276725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=21+5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5585" y="4719935"/>
                <a:ext cx="2292615" cy="46166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>
                          <a:latin typeface="Cambria Math"/>
                        </a:rPr>
                        <m:t>=21.625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9765" y="5253335"/>
                <a:ext cx="1496435" cy="46166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76" y="1295400"/>
            <a:ext cx="4235944" cy="20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938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Signed Fixed-point Representation</a:t>
            </a:r>
            <a:br>
              <a:rPr lang="en-US" dirty="0"/>
            </a:br>
            <a:r>
              <a:rPr lang="en-US" b="1" dirty="0" err="1">
                <a:solidFill>
                  <a:srgbClr val="C00000"/>
                </a:solidFill>
              </a:rPr>
              <a:t>Qm.n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87733"/>
            <a:ext cx="7206458" cy="1295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sz="2400" b="1" i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3168413"/>
                <a:ext cx="5772606" cy="85722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latin typeface="Palatino Linotype" panose="0204050205050503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+1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0408" y="5305999"/>
                <a:ext cx="3095078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315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24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888" y="4274588"/>
                <a:ext cx="1185901" cy="78245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71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Multiplication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>
                <a:solidFill>
                  <a:srgbClr val="C00000"/>
                </a:solidFill>
              </a:rPr>
              <a:t>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533400" y="3505200"/>
            <a:ext cx="8229600" cy="27279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r2, r3, r0, r1    ; Unsigned long multiply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; r2 = low word,  r3 = high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LSLS  r3, r3, #16       ; Shift left high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LSRS  r2, r2, #16       ; Shift right low word  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ORR   r4, r2, r3        ; Pack two halfwords into a word</a:t>
            </a:r>
          </a:p>
          <a:p>
            <a:pPr marL="0" indent="0">
              <a:buNone/>
            </a:pP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" y="1222247"/>
            <a:ext cx="5568696" cy="1843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181600" y="1256487"/>
            <a:ext cx="4038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r0 = fixed-point number A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r1 = fixed-point number B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 r4 = fixed-point product = A × B</a:t>
            </a:r>
          </a:p>
        </p:txBody>
      </p:sp>
    </p:spTree>
    <p:extLst>
      <p:ext uri="{BB962C8B-B14F-4D97-AF65-F5344CB8AC3E}">
        <p14:creationId xmlns:p14="http://schemas.microsoft.com/office/powerpoint/2010/main" val="36010658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Fixed-point Division</a:t>
            </a:r>
            <a:br>
              <a:rPr lang="en-US" dirty="0"/>
            </a:br>
            <a:r>
              <a:rPr lang="en-US" dirty="0"/>
              <a:t>in UQ16.16 or Q15.16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52399" y="3276600"/>
            <a:ext cx="8915401" cy="2194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ASRS  r1, r0, #31          ; r1[31:0] = sign bits of A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LSLS  r1, r1, #16          ; put sign bits in upper half word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ORR   r1, r1, r0, LSR #16    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LSLS  r0, r0, #16          ; [r1:r0] stores sign extended A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ASRS  r3, r2, #31          ; [r4:r3] stores sign extended B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BL    </a:t>
            </a:r>
            <a:r>
              <a:rPr lang="en-US" sz="1800" b="1" i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division_64_bits</a:t>
            </a: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     ; Take four input register (r0:r1, r3:r4)</a:t>
            </a:r>
          </a:p>
          <a:p>
            <a:pPr marL="0" indent="0">
              <a:buNone/>
            </a:pPr>
            <a:r>
              <a:rPr 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MOV   r4, r0               ; division_64_bits places result in r0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408864"/>
            <a:ext cx="5511225" cy="133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5791200" y="1600200"/>
            <a:ext cx="3429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r4 = fixed-point quotient </a:t>
            </a:r>
          </a:p>
          <a:p>
            <a:r>
              <a:rPr lang="en-US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= A ÷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756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490" y="152400"/>
            <a:ext cx="8487310" cy="990600"/>
          </a:xfrm>
        </p:spPr>
        <p:txBody>
          <a:bodyPr/>
          <a:lstStyle/>
          <a:p>
            <a:r>
              <a:rPr lang="en-US" dirty="0"/>
              <a:t>IEEE </a:t>
            </a:r>
            <a:r>
              <a:rPr lang="en-US" dirty="0" err="1"/>
              <a:t>Std</a:t>
            </a:r>
            <a:r>
              <a:rPr lang="en-US" dirty="0"/>
              <a:t>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 smtClean="0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267200"/>
                <a:ext cx="8382000" cy="1858586"/>
              </a:xfrm>
              <a:prstGeom prst="rect">
                <a:avLst/>
              </a:prstGeom>
              <a:blipFill rotWithShape="0">
                <a:blip r:embed="rId2"/>
                <a:stretch>
                  <a:fillRect l="-655" t="-1639" b="-4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3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597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3962400"/>
                <a:ext cx="9144000" cy="2270760"/>
              </a:xfr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314448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4724400" y="2590800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267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2582739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337560"/>
              </a:xfrm>
              <a:blipFill rotWithShape="1">
                <a:blip r:embed="rId2"/>
                <a:stretch>
                  <a:fillRect l="-296" b="-3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524000"/>
                <a:ext cx="4572000" cy="95410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1000" y="1211761"/>
            <a:ext cx="209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899" y="2118842"/>
                <a:ext cx="3425233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8264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comparisons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"/>
          </p:nvPr>
        </p:nvGraphicFramePr>
        <p:xfrm>
          <a:off x="762000" y="1524000"/>
          <a:ext cx="7848600" cy="119557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88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53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VCMP.F32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&lt;Sm | #0.0&gt;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73025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Compare two floating-point registers, or one floating-point register and zero</a:t>
                      </a:r>
                      <a:endParaRPr lang="en-US" sz="14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VCMPE.F32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&lt;Sm | #0.0&gt;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73025" marR="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Compare two floating-point registers, or one floating-point register and zero, and raise exception for a signaling NaN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90600" y="3124200"/>
          <a:ext cx="7459980" cy="3138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4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989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 Program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Assembly Program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301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float max(float a, float b){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if (a &gt; b)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return a;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else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return b;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max_of_two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PROC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VCMPE.F32 s0, s1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; Copy NZCV flags to APSR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VMRS      </a:t>
                      </a:r>
                      <a:r>
                        <a:rPr lang="en-US" sz="160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APSR_nzcv</a:t>
                      </a: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FPSCR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BGT       exit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VMOV.F32  s0, s1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exit  BX LR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   ENDP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271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GPIO Input, Output, Alternative Function</a:t>
            </a:r>
          </a:p>
          <a:p>
            <a:pPr lvl="1"/>
            <a:r>
              <a:rPr lang="en-US" dirty="0"/>
              <a:t>Push pull, open drain, pull up, pull down</a:t>
            </a:r>
          </a:p>
          <a:p>
            <a:r>
              <a:rPr lang="en-US" dirty="0"/>
              <a:t>Timer Configuration (PSC, ARR, CCR)</a:t>
            </a:r>
          </a:p>
          <a:p>
            <a:pPr lvl="1"/>
            <a:r>
              <a:rPr lang="en-US" dirty="0"/>
              <a:t>Compare output</a:t>
            </a:r>
          </a:p>
          <a:p>
            <a:pPr lvl="1"/>
            <a:r>
              <a:rPr lang="en-US" dirty="0"/>
              <a:t>Input capture</a:t>
            </a:r>
          </a:p>
          <a:p>
            <a:pPr lvl="1"/>
            <a:r>
              <a:rPr lang="en-US" dirty="0"/>
              <a:t>PWM output: Duty Ratio</a:t>
            </a:r>
          </a:p>
          <a:p>
            <a:pPr lvl="1"/>
            <a:r>
              <a:rPr lang="en-US" dirty="0"/>
              <a:t>Trigger</a:t>
            </a:r>
          </a:p>
          <a:p>
            <a:r>
              <a:rPr lang="en-US" dirty="0"/>
              <a:t>System Timer</a:t>
            </a:r>
          </a:p>
          <a:p>
            <a:pPr lvl="1"/>
            <a:r>
              <a:rPr lang="en-US" dirty="0"/>
              <a:t>Processor clock</a:t>
            </a:r>
          </a:p>
          <a:p>
            <a:pPr lvl="1"/>
            <a:r>
              <a:rPr lang="en-US" dirty="0"/>
              <a:t>External clock: Processor clock/8</a:t>
            </a:r>
          </a:p>
          <a:p>
            <a:r>
              <a:rPr lang="en-US" dirty="0"/>
              <a:t>ADC &amp; DAC</a:t>
            </a:r>
          </a:p>
          <a:p>
            <a:pPr lvl="1"/>
            <a:r>
              <a:rPr lang="en-US" dirty="0"/>
              <a:t>Successive-approximation (SAR) ADC</a:t>
            </a:r>
          </a:p>
          <a:p>
            <a:pPr lvl="1"/>
            <a:r>
              <a:rPr lang="en-US" dirty="0"/>
              <a:t>Resolution, Speed</a:t>
            </a:r>
          </a:p>
          <a:p>
            <a:r>
              <a:rPr lang="en-US" dirty="0"/>
              <a:t>Step motors</a:t>
            </a:r>
          </a:p>
          <a:p>
            <a:pPr lvl="1"/>
            <a:r>
              <a:rPr lang="en-US" dirty="0"/>
              <a:t>Full stepping, half stepping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22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901081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GPIO</a:t>
            </a:r>
            <a:r>
              <a:rPr lang="en-US" dirty="0"/>
              <a:t> Input: </a:t>
            </a:r>
            <a:br>
              <a:rPr lang="en-US" dirty="0"/>
            </a:br>
            <a:r>
              <a:rPr lang="en-US" dirty="0"/>
              <a:t>Pull Up and Pull Down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digital input can have three states: High, Low, and High-Impedance (also called floating, tri-stated, </a:t>
            </a:r>
            <a:r>
              <a:rPr lang="en-US" dirty="0" err="1"/>
              <a:t>HiZ</a:t>
            </a:r>
            <a:r>
              <a:rPr lang="en-US" dirty="0"/>
              <a:t>)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2286000"/>
            <a:ext cx="2895600" cy="3068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080" y="2334647"/>
            <a:ext cx="2895600" cy="295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810923" y="530013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19800" y="5297904"/>
            <a:ext cx="117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Pull-Down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5658976"/>
            <a:ext cx="298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external input is </a:t>
            </a:r>
            <a:r>
              <a:rPr lang="en-US" dirty="0" err="1"/>
              <a:t>HiZ</a:t>
            </a:r>
            <a:r>
              <a:rPr lang="en-US" dirty="0"/>
              <a:t>,  the input is read as a valid HIGH.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8500" y="5677727"/>
            <a:ext cx="28372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external input is </a:t>
            </a:r>
            <a:r>
              <a:rPr lang="en-US" dirty="0" err="1"/>
              <a:t>HiZ</a:t>
            </a:r>
            <a:r>
              <a:rPr lang="en-US" dirty="0"/>
              <a:t>,  the input is read as a valid LOW.</a:t>
            </a:r>
          </a:p>
        </p:txBody>
      </p:sp>
    </p:spTree>
    <p:extLst>
      <p:ext uri="{BB962C8B-B14F-4D97-AF65-F5344CB8AC3E}">
        <p14:creationId xmlns:p14="http://schemas.microsoft.com/office/powerpoint/2010/main" val="32432087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GPIO Output Modes: </a:t>
            </a:r>
            <a:br>
              <a:rPr lang="en-US" dirty="0"/>
            </a:br>
            <a:r>
              <a:rPr lang="en-US" dirty="0"/>
              <a:t>Push-Pull and Open-Drain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24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13131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Push-Pull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124200" y="2514600"/>
            <a:ext cx="1828800" cy="11049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24200" y="3886200"/>
            <a:ext cx="1981200" cy="10668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48000" y="2329934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0, connect to 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5231" y="449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1, connect to </a:t>
            </a:r>
            <a:r>
              <a:rPr lang="en-US" dirty="0" err="1"/>
              <a:t>Vcc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47" y="2688770"/>
            <a:ext cx="2923031" cy="239485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647" y="3766559"/>
            <a:ext cx="2523178" cy="237288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396" y="1301418"/>
            <a:ext cx="2592578" cy="2359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4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GPIO Output Modes: </a:t>
            </a:r>
            <a:br>
              <a:rPr lang="en-US" dirty="0"/>
            </a:br>
            <a:r>
              <a:rPr lang="en-US" dirty="0"/>
              <a:t>Push-Pull and Open-Drain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25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685800" y="1676400"/>
            <a:ext cx="16979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Open-Drain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124200" y="2514600"/>
            <a:ext cx="1828800" cy="11049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24200" y="3886200"/>
            <a:ext cx="1981200" cy="10668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048000" y="2329934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0, connect to ground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5231" y="44958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1, connect to </a:t>
            </a:r>
            <a:r>
              <a:rPr lang="en-US" dirty="0" err="1"/>
              <a:t>Vcc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19400"/>
            <a:ext cx="2670992" cy="185209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729" y="1516395"/>
            <a:ext cx="3224213" cy="206847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309" y="3876502"/>
            <a:ext cx="3109969" cy="206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749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Timer’s Clock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066391" y="4062569"/>
            <a:ext cx="168897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Current Count</a:t>
            </a:r>
          </a:p>
        </p:txBody>
      </p:sp>
      <p:sp>
        <p:nvSpPr>
          <p:cNvPr id="6" name="Text Box 12"/>
          <p:cNvSpPr txBox="1">
            <a:spLocks noChangeArrowheads="1"/>
          </p:cNvSpPr>
          <p:nvPr/>
        </p:nvSpPr>
        <p:spPr bwMode="auto">
          <a:xfrm>
            <a:off x="4019627" y="1768652"/>
            <a:ext cx="1622736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Reload Value</a:t>
            </a:r>
          </a:p>
        </p:txBody>
      </p:sp>
      <p:sp>
        <p:nvSpPr>
          <p:cNvPr id="7" name="Line 9"/>
          <p:cNvSpPr>
            <a:spLocks noChangeShapeType="1"/>
          </p:cNvSpPr>
          <p:nvPr/>
        </p:nvSpPr>
        <p:spPr bwMode="auto">
          <a:xfrm flipV="1">
            <a:off x="1571449" y="3201247"/>
            <a:ext cx="257351" cy="1439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830032" y="2812413"/>
            <a:ext cx="2001926" cy="762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TIMx_CNT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 rot="5400000">
            <a:off x="3793678" y="3071016"/>
            <a:ext cx="311150" cy="238443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4863284" y="3574413"/>
            <a:ext cx="0" cy="381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>
            <a:off x="4863284" y="2135365"/>
            <a:ext cx="0" cy="67704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425939" y="2729759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CL_PSC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Text Box 17"/>
          <p:cNvSpPr txBox="1">
            <a:spLocks noChangeArrowheads="1"/>
          </p:cNvSpPr>
          <p:nvPr/>
        </p:nvSpPr>
        <p:spPr bwMode="auto">
          <a:xfrm>
            <a:off x="6946242" y="2998230"/>
            <a:ext cx="569387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ISR</a:t>
            </a:r>
            <a:endParaRPr lang="en-US" sz="16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4" name="AutoShape 20"/>
          <p:cNvCxnSpPr>
            <a:cxnSpLocks noChangeShapeType="1"/>
            <a:stCxn id="8" idx="3"/>
            <a:endCxn id="13" idx="1"/>
          </p:cNvCxnSpPr>
          <p:nvPr/>
        </p:nvCxnSpPr>
        <p:spPr bwMode="auto">
          <a:xfrm flipV="1">
            <a:off x="5831958" y="3182896"/>
            <a:ext cx="1114284" cy="10517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AutoShape 21"/>
          <p:cNvCxnSpPr>
            <a:cxnSpLocks noChangeShapeType="1"/>
            <a:stCxn id="13" idx="3"/>
            <a:endCxn id="16" idx="1"/>
          </p:cNvCxnSpPr>
          <p:nvPr/>
        </p:nvCxnSpPr>
        <p:spPr bwMode="auto">
          <a:xfrm>
            <a:off x="7515629" y="3182896"/>
            <a:ext cx="507898" cy="256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8023527" y="3000796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Resume</a:t>
            </a:r>
          </a:p>
        </p:txBody>
      </p:sp>
      <p:sp>
        <p:nvSpPr>
          <p:cNvPr id="17" name="Text Box 23"/>
          <p:cNvSpPr txBox="1">
            <a:spLocks noChangeArrowheads="1"/>
          </p:cNvSpPr>
          <p:nvPr/>
        </p:nvSpPr>
        <p:spPr bwMode="auto">
          <a:xfrm>
            <a:off x="5831958" y="3201247"/>
            <a:ext cx="1035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i="1" dirty="0">
                <a:latin typeface="Arial" charset="0"/>
                <a:cs typeface="Arial" charset="0"/>
              </a:rPr>
              <a:t>Interrupt</a:t>
            </a:r>
          </a:p>
        </p:txBody>
      </p:sp>
      <p:grpSp>
        <p:nvGrpSpPr>
          <p:cNvPr id="18" name="Group 37"/>
          <p:cNvGrpSpPr>
            <a:grpSpLocks/>
          </p:cNvGrpSpPr>
          <p:nvPr/>
        </p:nvGrpSpPr>
        <p:grpSpPr bwMode="auto">
          <a:xfrm>
            <a:off x="38589" y="3124634"/>
            <a:ext cx="1524000" cy="228600"/>
            <a:chOff x="144" y="1440"/>
            <a:chExt cx="960" cy="144"/>
          </a:xfrm>
        </p:grpSpPr>
        <p:sp>
          <p:nvSpPr>
            <p:cNvPr id="19" name="Freeform 27"/>
            <p:cNvSpPr>
              <a:spLocks/>
            </p:cNvSpPr>
            <p:nvPr/>
          </p:nvSpPr>
          <p:spPr bwMode="auto">
            <a:xfrm>
              <a:off x="14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28"/>
            <p:cNvSpPr>
              <a:spLocks/>
            </p:cNvSpPr>
            <p:nvPr/>
          </p:nvSpPr>
          <p:spPr bwMode="auto">
            <a:xfrm>
              <a:off x="24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9"/>
            <p:cNvSpPr>
              <a:spLocks/>
            </p:cNvSpPr>
            <p:nvPr/>
          </p:nvSpPr>
          <p:spPr bwMode="auto">
            <a:xfrm>
              <a:off x="33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30"/>
            <p:cNvSpPr>
              <a:spLocks/>
            </p:cNvSpPr>
            <p:nvPr/>
          </p:nvSpPr>
          <p:spPr bwMode="auto">
            <a:xfrm>
              <a:off x="43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31"/>
            <p:cNvSpPr>
              <a:spLocks/>
            </p:cNvSpPr>
            <p:nvPr/>
          </p:nvSpPr>
          <p:spPr bwMode="auto">
            <a:xfrm>
              <a:off x="52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32"/>
            <p:cNvSpPr>
              <a:spLocks/>
            </p:cNvSpPr>
            <p:nvPr/>
          </p:nvSpPr>
          <p:spPr bwMode="auto">
            <a:xfrm>
              <a:off x="624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33"/>
            <p:cNvSpPr>
              <a:spLocks/>
            </p:cNvSpPr>
            <p:nvPr/>
          </p:nvSpPr>
          <p:spPr bwMode="auto">
            <a:xfrm>
              <a:off x="720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34"/>
            <p:cNvSpPr>
              <a:spLocks/>
            </p:cNvSpPr>
            <p:nvPr/>
          </p:nvSpPr>
          <p:spPr bwMode="auto">
            <a:xfrm>
              <a:off x="816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35"/>
            <p:cNvSpPr>
              <a:spLocks/>
            </p:cNvSpPr>
            <p:nvPr/>
          </p:nvSpPr>
          <p:spPr bwMode="auto">
            <a:xfrm>
              <a:off x="912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36"/>
            <p:cNvSpPr>
              <a:spLocks/>
            </p:cNvSpPr>
            <p:nvPr/>
          </p:nvSpPr>
          <p:spPr bwMode="auto">
            <a:xfrm>
              <a:off x="1008" y="1440"/>
              <a:ext cx="96" cy="144"/>
            </a:xfrm>
            <a:custGeom>
              <a:avLst/>
              <a:gdLst>
                <a:gd name="T0" fmla="*/ 0 w 96"/>
                <a:gd name="T1" fmla="*/ 144 h 144"/>
                <a:gd name="T2" fmla="*/ 48 w 96"/>
                <a:gd name="T3" fmla="*/ 144 h 144"/>
                <a:gd name="T4" fmla="*/ 48 w 96"/>
                <a:gd name="T5" fmla="*/ 0 h 144"/>
                <a:gd name="T6" fmla="*/ 96 w 96"/>
                <a:gd name="T7" fmla="*/ 0 h 144"/>
                <a:gd name="T8" fmla="*/ 96 w 96"/>
                <a:gd name="T9" fmla="*/ 144 h 1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6"/>
                <a:gd name="T16" fmla="*/ 0 h 144"/>
                <a:gd name="T17" fmla="*/ 96 w 96"/>
                <a:gd name="T18" fmla="*/ 144 h 14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6" h="144">
                  <a:moveTo>
                    <a:pt x="0" y="144"/>
                  </a:moveTo>
                  <a:lnTo>
                    <a:pt x="48" y="144"/>
                  </a:lnTo>
                  <a:lnTo>
                    <a:pt x="48" y="0"/>
                  </a:lnTo>
                  <a:lnTo>
                    <a:pt x="96" y="0"/>
                  </a:lnTo>
                  <a:lnTo>
                    <a:pt x="96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Text Box 41"/>
          <p:cNvSpPr txBox="1">
            <a:spLocks noChangeArrowheads="1"/>
          </p:cNvSpPr>
          <p:nvPr/>
        </p:nvSpPr>
        <p:spPr bwMode="auto">
          <a:xfrm>
            <a:off x="4872711" y="2240809"/>
            <a:ext cx="958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600" i="1" dirty="0">
                <a:latin typeface="Arial" charset="0"/>
                <a:cs typeface="Arial" charset="0"/>
              </a:rPr>
              <a:t>Reload</a:t>
            </a:r>
          </a:p>
        </p:txBody>
      </p:sp>
      <p:sp>
        <p:nvSpPr>
          <p:cNvPr id="30" name="Text Box 17"/>
          <p:cNvSpPr txBox="1">
            <a:spLocks noChangeArrowheads="1"/>
          </p:cNvSpPr>
          <p:nvPr/>
        </p:nvSpPr>
        <p:spPr bwMode="auto">
          <a:xfrm>
            <a:off x="1828800" y="3005571"/>
            <a:ext cx="1313180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charset="0"/>
                <a:cs typeface="Arial" charset="0"/>
              </a:rPr>
              <a:t>TIMx_PSC</a:t>
            </a:r>
            <a:endParaRPr lang="en-US" sz="1800" b="1" dirty="0">
              <a:solidFill>
                <a:schemeClr val="bg1"/>
              </a:solidFill>
              <a:latin typeface="Arial" charset="0"/>
              <a:cs typeface="Arial" charset="0"/>
            </a:endParaRPr>
          </a:p>
        </p:txBody>
      </p:sp>
      <p:cxnSp>
        <p:nvCxnSpPr>
          <p:cNvPr id="31" name="AutoShape 21"/>
          <p:cNvCxnSpPr>
            <a:cxnSpLocks noChangeShapeType="1"/>
            <a:stCxn id="30" idx="3"/>
            <a:endCxn id="8" idx="1"/>
          </p:cNvCxnSpPr>
          <p:nvPr/>
        </p:nvCxnSpPr>
        <p:spPr bwMode="auto">
          <a:xfrm>
            <a:off x="3141980" y="3190237"/>
            <a:ext cx="688052" cy="317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 Box 17"/>
          <p:cNvSpPr txBox="1">
            <a:spLocks noChangeArrowheads="1"/>
          </p:cNvSpPr>
          <p:nvPr/>
        </p:nvSpPr>
        <p:spPr bwMode="auto">
          <a:xfrm>
            <a:off x="6092933" y="1750827"/>
            <a:ext cx="1338828" cy="369332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dirty="0" err="1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TIMx_ARR</a:t>
            </a:r>
            <a:endParaRPr lang="en-US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33" name="AutoShape 21"/>
          <p:cNvCxnSpPr>
            <a:cxnSpLocks noChangeShapeType="1"/>
          </p:cNvCxnSpPr>
          <p:nvPr/>
        </p:nvCxnSpPr>
        <p:spPr bwMode="auto">
          <a:xfrm flipV="1">
            <a:off x="6745961" y="2120159"/>
            <a:ext cx="0" cy="1066388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21"/>
          <p:cNvCxnSpPr>
            <a:cxnSpLocks noChangeShapeType="1"/>
            <a:stCxn id="32" idx="1"/>
            <a:endCxn id="6" idx="3"/>
          </p:cNvCxnSpPr>
          <p:nvPr/>
        </p:nvCxnSpPr>
        <p:spPr bwMode="auto">
          <a:xfrm flipH="1">
            <a:off x="5642363" y="1935493"/>
            <a:ext cx="450570" cy="16516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𝐶𝐾</m:t>
                          </m:r>
                          <m:r>
                            <a:rPr lang="en-US" sz="2400" i="1">
                              <a:latin typeface="Cambria Math"/>
                            </a:rPr>
                            <m:t>_</m:t>
                          </m:r>
                          <m:r>
                            <a:rPr lang="en-US" sz="2400" i="1">
                              <a:latin typeface="Cambria Math"/>
                            </a:rPr>
                            <m:t>𝐶𝑁𝑇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𝐶𝐿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_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𝑃𝑆𝐶</m:t>
                              </m:r>
                            </m:sub>
                          </m:sSub>
                        </m:num>
                        <m:den>
                          <m:r>
                            <a:rPr lang="en-US" sz="2400" i="1" smtClean="0">
                              <a:latin typeface="Cambria Math"/>
                            </a:rPr>
                            <m:t>𝑃𝑟𝑒𝑠𝑐𝑎𝑙𝑒𝑟</m:t>
                          </m:r>
                          <m:r>
                            <a:rPr lang="en-US" sz="2400" i="1">
                              <a:latin typeface="Cambria Math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2738" y="4876800"/>
                <a:ext cx="4187259" cy="84632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/>
          <p:cNvSpPr txBox="1"/>
          <p:nvPr/>
        </p:nvSpPr>
        <p:spPr>
          <a:xfrm>
            <a:off x="2216941" y="3554248"/>
            <a:ext cx="1039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Prescaler</a:t>
            </a:r>
          </a:p>
        </p:txBody>
      </p:sp>
      <p:sp>
        <p:nvSpPr>
          <p:cNvPr id="38" name="Text Box 7"/>
          <p:cNvSpPr txBox="1">
            <a:spLocks noChangeArrowheads="1"/>
          </p:cNvSpPr>
          <p:nvPr/>
        </p:nvSpPr>
        <p:spPr bwMode="auto">
          <a:xfrm>
            <a:off x="2971800" y="2672522"/>
            <a:ext cx="8675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b="1" i="1" dirty="0" err="1">
                <a:solidFill>
                  <a:srgbClr val="C00000"/>
                </a:solidFill>
                <a:latin typeface="Arial" charset="0"/>
                <a:cs typeface="Arial" charset="0"/>
              </a:rPr>
              <a:t>f</a:t>
            </a:r>
            <a:r>
              <a:rPr lang="en-US" sz="1800" b="1" i="1" baseline="-25000" dirty="0" err="1">
                <a:solidFill>
                  <a:srgbClr val="C00000"/>
                </a:solidFill>
                <a:latin typeface="Arial" charset="0"/>
                <a:cs typeface="Arial" charset="0"/>
              </a:rPr>
              <a:t>CL_CNT</a:t>
            </a:r>
            <a:endParaRPr lang="en-US" sz="1800" b="1" i="1" baseline="-25000" dirty="0">
              <a:solidFill>
                <a:srgbClr val="C00000"/>
              </a:solidFill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2996" y="3429000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clock</a:t>
            </a:r>
          </a:p>
        </p:txBody>
      </p:sp>
    </p:spTree>
    <p:extLst>
      <p:ext uri="{BB962C8B-B14F-4D97-AF65-F5344CB8AC3E}">
        <p14:creationId xmlns:p14="http://schemas.microsoft.com/office/powerpoint/2010/main" val="3570882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PWM Duty Cycle = Ton/Time Period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188" y="1543050"/>
            <a:ext cx="5381625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𝑑𝑢𝑡𝑦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𝑐𝑦𝑐𝑙𝑒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𝑜𝑛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𝑡𝑖𝑚𝑒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𝑝𝑢𝑙𝑠𝑒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𝑠𝑤𝑖𝑡𝑐h𝑖𝑛𝑔</m:t>
                          </m:r>
                          <m:r>
                            <a:rPr lang="en-US" i="1">
                              <a:latin typeface="Cambria Math"/>
                            </a:rPr>
                            <m:t> </m:t>
                          </m:r>
                          <m:r>
                            <a:rPr lang="en-US" i="1">
                              <a:latin typeface="Cambria Math"/>
                            </a:rPr>
                            <m:t>𝑝𝑒𝑟𝑖𝑜𝑑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×100%=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/>
                        </a:rPr>
                        <m:t>×100%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:mv="urn:schemas-microsoft-com:mac:vml"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486400"/>
                <a:ext cx="6705600" cy="66684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878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Capture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81200"/>
            <a:ext cx="7807976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1280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Successive-approximation (SAR) ADC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47874"/>
            <a:ext cx="837103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34693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Successive-approximation (SAR) ADC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03642"/>
            <a:ext cx="5934482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38800" y="1622348"/>
            <a:ext cx="32766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cs typeface="Arial" charset="0"/>
              </a:rPr>
              <a:t>Binary search </a:t>
            </a:r>
            <a:r>
              <a:rPr lang="en-US" sz="2000" dirty="0">
                <a:cs typeface="Arial" charset="0"/>
              </a:rPr>
              <a:t>algorithm to gradually approaches the input voltage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Settle into </a:t>
            </a:r>
            <a:r>
              <a:rPr lang="en-US" sz="2000" dirty="0">
                <a:cs typeface="Arial" charset="0"/>
              </a:rPr>
              <a:t>±</a:t>
            </a:r>
            <a:r>
              <a:rPr lang="en-US" sz="2000" dirty="0"/>
              <a:t>½ </a:t>
            </a:r>
            <a:r>
              <a:rPr lang="en-US" sz="2000" dirty="0" err="1"/>
              <a:t>LSB</a:t>
            </a:r>
            <a:r>
              <a:rPr lang="en-US" sz="2000" dirty="0"/>
              <a:t> bound within the time allowed</a:t>
            </a:r>
            <a:endParaRPr lang="en-US" sz="2000" dirty="0"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78268" y="3560391"/>
                <a:ext cx="3596562" cy="425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𝐴𝐷𝐶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𝑠𝑎𝑚𝑝𝑙𝑖𝑛𝑔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𝐶𝑜𝑛𝑣𝑒𝑟𝑠𝑖𝑜𝑛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8268" y="3560391"/>
                <a:ext cx="3596562" cy="425053"/>
              </a:xfrm>
              <a:prstGeom prst="rect">
                <a:avLst/>
              </a:prstGeom>
              <a:blipFill rotWithShape="1">
                <a:blip r:embed="rId3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562600" y="4139544"/>
                <a:ext cx="3317639" cy="4103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𝐶𝑜𝑛𝑣𝑒𝑟𝑠𝑖𝑜𝑛</m:t>
                          </m:r>
                        </m:sub>
                      </m:sSub>
                      <m:r>
                        <a:rPr lang="en-US" sz="2000" dirty="0">
                          <a:latin typeface="Cambria Math"/>
                          <a:ea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latin typeface="Cambria Math"/>
                          <a:ea typeface="Cambria Math"/>
                        </a:rPr>
                        <m:t>N</m:t>
                      </m:r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𝐴𝐷𝐶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_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𝐶𝑙𝑜𝑐𝑘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139544"/>
                <a:ext cx="3317639" cy="41030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562600" y="4800600"/>
                <a:ext cx="1162946" cy="3919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𝑠𝑎𝑚𝑝𝑙𝑖𝑛𝑔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4800600"/>
                <a:ext cx="1162946" cy="391902"/>
              </a:xfrm>
              <a:prstGeom prst="rect">
                <a:avLst/>
              </a:prstGeom>
              <a:blipFill rotWithShape="1"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598920" y="4823170"/>
            <a:ext cx="2395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is software configurable</a:t>
            </a:r>
          </a:p>
        </p:txBody>
      </p:sp>
    </p:spTree>
    <p:extLst>
      <p:ext uri="{BB962C8B-B14F-4D97-AF65-F5344CB8AC3E}">
        <p14:creationId xmlns:p14="http://schemas.microsoft.com/office/powerpoint/2010/main" val="18492411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3796</TotalTime>
  <Words>1651</Words>
  <Application>Microsoft Office PowerPoint</Application>
  <PresentationFormat>On-screen Show (4:3)</PresentationFormat>
  <Paragraphs>346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Bookman Old Style (Headings)</vt:lpstr>
      <vt:lpstr>Arial</vt:lpstr>
      <vt:lpstr>Bookman Old Style</vt:lpstr>
      <vt:lpstr>Calibri</vt:lpstr>
      <vt:lpstr>Cambria</vt:lpstr>
      <vt:lpstr>Cambria Math</vt:lpstr>
      <vt:lpstr>Consolas</vt:lpstr>
      <vt:lpstr>Gill Sans MT</vt:lpstr>
      <vt:lpstr>Palatino Linotype</vt:lpstr>
      <vt:lpstr>Symbol</vt:lpstr>
      <vt:lpstr>Wingdings</vt:lpstr>
      <vt:lpstr>Wingdings 3</vt:lpstr>
      <vt:lpstr>Origin</vt:lpstr>
      <vt:lpstr>Dr. Yifeng Zhu Electrical and Computer Engineering University of Maine</vt:lpstr>
      <vt:lpstr>Assembly Programs</vt:lpstr>
      <vt:lpstr>Why do we learn Assembly?</vt:lpstr>
      <vt:lpstr>Character String</vt:lpstr>
      <vt:lpstr>Data Representation</vt:lpstr>
      <vt:lpstr>Basic Assembly Programming</vt:lpstr>
      <vt:lpstr>Subroutine Without Floating Numbers</vt:lpstr>
      <vt:lpstr>Subroutine with Float Arguments</vt:lpstr>
      <vt:lpstr>Interrupt</vt:lpstr>
      <vt:lpstr>Stacking &amp; Unstacking</vt:lpstr>
      <vt:lpstr>Stacking &amp; Unstacking</vt:lpstr>
      <vt:lpstr>Stacking and Unstacking upon Interrupt with FPU</vt:lpstr>
      <vt:lpstr>Mixing C and Assembly</vt:lpstr>
      <vt:lpstr>Unsigned Fixed-point Representation UQm.n</vt:lpstr>
      <vt:lpstr>Signed Fixed-point Representation Qm.n</vt:lpstr>
      <vt:lpstr>Fixed-point Multiplication in Q15.16</vt:lpstr>
      <vt:lpstr>Fixed-point Division in UQ16.16 or Q15.16</vt:lpstr>
      <vt:lpstr>IEEE Std 754</vt:lpstr>
      <vt:lpstr>Decoding 0xC1FF0000  into a floating-point number</vt:lpstr>
      <vt:lpstr>Encoding 14.5 into IEEE Std 754 Single-Precision</vt:lpstr>
      <vt:lpstr>Single-precision comparisons</vt:lpstr>
      <vt:lpstr>Lab Components</vt:lpstr>
      <vt:lpstr>GPIO Input:  Pull Up and Pull Down</vt:lpstr>
      <vt:lpstr>GPIO Output Modes:  Push-Pull and Open-Drain</vt:lpstr>
      <vt:lpstr>GPIO Output Modes:  Push-Pull and Open-Drain</vt:lpstr>
      <vt:lpstr>Timer’s Clock</vt:lpstr>
      <vt:lpstr>PWM Duty Cycle = Ton/Time Period</vt:lpstr>
      <vt:lpstr>Input Capture</vt:lpstr>
      <vt:lpstr>Successive-approximation (SAR) ADC</vt:lpstr>
      <vt:lpstr>Successive-approximation (SAR) ADC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61</cp:revision>
  <dcterms:created xsi:type="dcterms:W3CDTF">2014-05-02T14:59:14Z</dcterms:created>
  <dcterms:modified xsi:type="dcterms:W3CDTF">2025-09-25T00:32:49Z</dcterms:modified>
</cp:coreProperties>
</file>