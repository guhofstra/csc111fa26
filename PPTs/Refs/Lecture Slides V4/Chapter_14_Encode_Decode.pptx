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4" r:id="rId3"/>
    <p:sldId id="257" r:id="rId4"/>
    <p:sldId id="262" r:id="rId5"/>
    <p:sldId id="258" r:id="rId6"/>
    <p:sldId id="259" r:id="rId7"/>
    <p:sldId id="260" r:id="rId8"/>
    <p:sldId id="261" r:id="rId9"/>
    <p:sldId id="263" r:id="rId10"/>
    <p:sldId id="266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86667" autoAdjust="0"/>
  </p:normalViewPr>
  <p:slideViewPr>
    <p:cSldViewPr>
      <p:cViewPr varScale="1">
        <p:scale>
          <a:sx n="138" d="100"/>
          <a:sy n="138" d="100"/>
        </p:scale>
        <p:origin x="396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9/24/2025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9/24/2025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Dr. Yifeng Zhu</a:t>
            </a:r>
            <a:br>
              <a:rPr lang="en-US" sz="2000" dirty="0"/>
            </a:br>
            <a:r>
              <a:rPr lang="en-US" sz="2000" dirty="0"/>
              <a:t>Electrical and Computer Engineering</a:t>
            </a:r>
            <a:br>
              <a:rPr lang="en-US" sz="2000" dirty="0"/>
            </a:br>
            <a:r>
              <a:rPr lang="en-US" sz="2000" dirty="0"/>
              <a:t>University of Maine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Fall 2025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648200" y="553819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</a:t>
            </a:r>
            <a:r>
              <a:rPr lang="en-US" b="1">
                <a:latin typeface="Bookman Old Style (Headings)"/>
              </a:rPr>
              <a:t>ARM Cortex-M </a:t>
            </a:r>
            <a:r>
              <a:rPr lang="en-US" b="1" dirty="0">
                <a:latin typeface="Bookman Old Style (Headings)"/>
              </a:rPr>
              <a:t>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67400" y="2057400"/>
            <a:ext cx="52261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14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Instruction Encoding and Decoding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077" y="1690688"/>
            <a:ext cx="8718297" cy="394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183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Sets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882775"/>
            <a:ext cx="67056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5355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Sets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pic>
        <p:nvPicPr>
          <p:cNvPr id="5" name="Picture 3" descr="Cortex-M ISA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143000"/>
            <a:ext cx="8077200" cy="5686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8382001" y="6581002"/>
            <a:ext cx="10039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from arm.com</a:t>
            </a:r>
          </a:p>
        </p:txBody>
      </p:sp>
    </p:spTree>
    <p:extLst>
      <p:ext uri="{BB962C8B-B14F-4D97-AF65-F5344CB8AC3E}">
        <p14:creationId xmlns:p14="http://schemas.microsoft.com/office/powerpoint/2010/main" val="605673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89867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Dividing Bit Stream Into </a:t>
            </a:r>
            <a:br>
              <a:rPr lang="en-US" dirty="0"/>
            </a:br>
            <a:r>
              <a:rPr lang="en-US" dirty="0"/>
              <a:t>Thumb Instructions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905000" y="3657600"/>
            <a:ext cx="8229600" cy="2423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Check bit [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15-11</a:t>
            </a:r>
            <a:r>
              <a:rPr lang="en-US" dirty="0"/>
              <a:t>]:  </a:t>
            </a:r>
          </a:p>
          <a:p>
            <a:r>
              <a:rPr lang="en-US" dirty="0"/>
              <a:t>If bit [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15-11</a:t>
            </a:r>
            <a:r>
              <a:rPr lang="en-US" dirty="0"/>
              <a:t>] =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11101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11110</a:t>
            </a:r>
            <a:r>
              <a:rPr lang="en-US" dirty="0"/>
              <a:t>, or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11111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   ⟹ </a:t>
            </a:r>
            <a:r>
              <a:rPr lang="en-US" dirty="0"/>
              <a:t>first half-word of a 32-bit </a:t>
            </a:r>
            <a:r>
              <a:rPr lang="en-US"/>
              <a:t>instruction. Otherwise</a:t>
            </a:r>
            <a:r>
              <a:rPr lang="en-US" dirty="0"/>
              <a:t>, a 16-bit instruction.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1" y="2146936"/>
            <a:ext cx="8817187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76401" y="1600200"/>
            <a:ext cx="2830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For Thumb Instructions: </a:t>
            </a:r>
          </a:p>
        </p:txBody>
      </p:sp>
    </p:spTree>
    <p:extLst>
      <p:ext uri="{BB962C8B-B14F-4D97-AF65-F5344CB8AC3E}">
        <p14:creationId xmlns:p14="http://schemas.microsoft.com/office/powerpoint/2010/main" val="1788350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16-bit Thumb Instructions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769365"/>
              </p:ext>
            </p:extLst>
          </p:nvPr>
        </p:nvGraphicFramePr>
        <p:xfrm>
          <a:off x="1981200" y="1463678"/>
          <a:ext cx="8378948" cy="457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7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7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97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74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16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16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91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10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2673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2673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2673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2673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2673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38559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038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15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14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12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3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minor opcode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 dirty="0">
                          <a:effectLst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>
                          <a:effectLst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>
                          <a:effectLst/>
                        </a:rPr>
                        <a:t>Shift, add, subtract, move, &amp; compare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8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minor opcode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Rm/Rn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Rd/Rn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>
                          <a:effectLst/>
                        </a:rPr>
                        <a:t>Data processing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8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minor opcode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Rm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Rd/Rn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>
                          <a:effectLst/>
                        </a:rPr>
                        <a:t>Special data instructions &amp; branch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8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minor opcode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>
                          <a:effectLst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 dirty="0">
                          <a:effectLst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>
                          <a:effectLst/>
                        </a:rPr>
                        <a:t>Load from Literal Pool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8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 dirty="0">
                          <a:effectLst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 dirty="0">
                          <a:effectLst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>
                          <a:effectLst/>
                        </a:rPr>
                        <a:t>Load/store single data item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8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 dirty="0">
                          <a:effectLst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>
                          <a:effectLst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>
                          <a:effectLst/>
                        </a:rPr>
                        <a:t>Load/store single data item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8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 dirty="0">
                          <a:effectLst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>
                          <a:effectLst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>
                          <a:effectLst/>
                        </a:rPr>
                        <a:t>Load/store single data item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8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imm8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>
                          <a:effectLst/>
                        </a:rPr>
                        <a:t>Generate PC-relative address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8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imm8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>
                          <a:effectLst/>
                        </a:rPr>
                        <a:t>Generate SP-relative address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8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7"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minor opcode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 dirty="0">
                          <a:effectLst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 dirty="0">
                          <a:effectLst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 dirty="0">
                          <a:effectLst/>
                        </a:rPr>
                        <a:t>Miscellaneous 16-bit instructions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38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register list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 dirty="0">
                          <a:effectLst/>
                        </a:rPr>
                        <a:t>Store multiple registers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38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register list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 dirty="0">
                          <a:effectLst/>
                        </a:rPr>
                        <a:t>Load multiple registers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38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minor opcode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offset-8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 dirty="0">
                          <a:effectLst/>
                        </a:rPr>
                        <a:t>Conditional branch, &amp; supervisor call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38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11">
                  <a:txBody>
                    <a:bodyPr/>
                    <a:lstStyle/>
                    <a:p>
                      <a:pPr algn="ctr" rtl="0" fontAlgn="ctr"/>
                      <a:r>
                        <a:rPr lang="en-US" sz="12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offset-11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200" b="1" u="none" strike="noStrike" dirty="0">
                          <a:effectLst/>
                        </a:rPr>
                        <a:t>Unconditional branch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Gill Sans M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324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Encoding: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ORR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688565886"/>
              </p:ext>
            </p:extLst>
          </p:nvPr>
        </p:nvGraphicFramePr>
        <p:xfrm>
          <a:off x="1676400" y="2209800"/>
          <a:ext cx="8915400" cy="1336740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510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0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04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04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9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79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79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79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79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79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799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799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799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97271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15</a:t>
                      </a:r>
                      <a:endParaRPr lang="en-US" sz="32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14</a:t>
                      </a:r>
                      <a:endParaRPr lang="en-US" sz="3200" b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</a:t>
                      </a:r>
                      <a:endParaRPr lang="en-US" sz="3200" b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12</a:t>
                      </a:r>
                      <a:endParaRPr lang="en-US" sz="3200" b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  <a:endParaRPr lang="en-US" sz="32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  <a:endParaRPr lang="en-US" sz="3200" b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</a:t>
                      </a:r>
                      <a:endParaRPr lang="en-US" sz="3200" b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en-US" sz="32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  <a:endParaRPr lang="en-US" sz="3200" b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3200" b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en-US" sz="3200" b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  <a:endParaRPr lang="en-US" sz="3200" b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en-US" sz="3200" b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US" sz="3200" b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3200" b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32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32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1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32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3200" b="1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3200" b="1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3200" b="1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3200" b="1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3200" b="1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1  1  0  0</a:t>
                      </a:r>
                      <a:endParaRPr lang="en-US" sz="3200" b="1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0  0  0 </a:t>
                      </a:r>
                      <a:endParaRPr lang="en-US" sz="3200" b="1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0  0  1</a:t>
                      </a:r>
                      <a:endParaRPr lang="en-US" sz="32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ORR </a:t>
                      </a: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endParaRPr lang="en-US" sz="32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 gridSpan="6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major </a:t>
                      </a:r>
                      <a:endParaRPr lang="en-US" sz="3200">
                        <a:effectLst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opcode</a:t>
                      </a:r>
                      <a:endParaRPr lang="en-US" sz="32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minor opcode</a:t>
                      </a:r>
                      <a:endParaRPr lang="en-US" sz="32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Rn</a:t>
                      </a:r>
                      <a:endParaRPr lang="en-US" sz="32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Rd</a:t>
                      </a:r>
                      <a:endParaRPr lang="en-US" sz="32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32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2536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Decoding: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0xF04F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0x0003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993338"/>
              </p:ext>
            </p:extLst>
          </p:nvPr>
        </p:nvGraphicFramePr>
        <p:xfrm>
          <a:off x="1600200" y="1981200"/>
          <a:ext cx="8915394" cy="2194560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53550712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63344533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7192768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418411512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14527329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54535479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24594618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58641785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28825849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984185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602991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92325409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78039645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065942713"/>
                    </a:ext>
                  </a:extLst>
                </a:gridCol>
                <a:gridCol w="457194">
                  <a:extLst>
                    <a:ext uri="{9D8B030D-6E8A-4147-A177-3AD203B41FA5}">
                      <a16:colId xmlns:a16="http://schemas.microsoft.com/office/drawing/2014/main" val="1215660797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15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14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12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56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 rowSpan="2"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</a:rPr>
                        <a:t>op1</a:t>
                      </a:r>
                      <a:endParaRPr lang="en-US" sz="24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</a:rPr>
                        <a:t>op2</a:t>
                      </a:r>
                      <a:endParaRPr lang="en-US" sz="24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</a:rPr>
                        <a:t>S</a:t>
                      </a:r>
                      <a:endParaRPr lang="en-US" sz="24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rowSpan="2" gridSpan="4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56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</a:rPr>
                        <a:t>i</a:t>
                      </a:r>
                      <a:endParaRPr lang="en-US" sz="24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0xF04F</a:t>
                      </a:r>
                      <a:endParaRPr lang="en-US" sz="2400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1  0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0   0   1   0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1  1  1  1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16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15</a:t>
                      </a:r>
                      <a:endParaRPr lang="en-US" sz="2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14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12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</a:rPr>
                        <a:t>op</a:t>
                      </a:r>
                      <a:endParaRPr lang="en-US" sz="24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</a:rPr>
                        <a:t>imm3</a:t>
                      </a:r>
                      <a:endParaRPr lang="en-US" sz="24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</a:rPr>
                        <a:t>Rd</a:t>
                      </a:r>
                      <a:endParaRPr lang="en-US" sz="24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</a:rPr>
                        <a:t>imm8</a:t>
                      </a:r>
                      <a:endParaRPr lang="en-US" sz="24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0x0003</a:t>
                      </a:r>
                      <a:endParaRPr lang="en-US" sz="2400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0 0 0 0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0 0 0 0 0 0 1 1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8211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32-bit Thumb Instructions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765208"/>
              </p:ext>
            </p:extLst>
          </p:nvPr>
        </p:nvGraphicFramePr>
        <p:xfrm>
          <a:off x="1676400" y="1219201"/>
          <a:ext cx="8915394" cy="4858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3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3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53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3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53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253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253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2535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253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2535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2535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2535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2535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2535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2535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2535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2535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2535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158146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158146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158146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158146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158146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2535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158146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158146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158146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158146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2308915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</a:tblGrid>
              <a:tr h="30403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31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30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29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28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27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26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25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24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23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22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21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20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19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18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17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16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15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14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12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u="none" strike="noStrike">
                          <a:effectLst/>
                        </a:rPr>
                        <a:t> 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34"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Rn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13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Register list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200"/>
                        </a:lnSpc>
                      </a:pPr>
                      <a:r>
                        <a:rPr lang="en-US" sz="900" b="1" u="none" strike="noStrike" dirty="0">
                          <a:effectLst/>
                        </a:rPr>
                        <a:t>Load/store multiple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027"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op1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Rn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op3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200"/>
                        </a:lnSpc>
                      </a:pPr>
                      <a:r>
                        <a:rPr lang="en-US" sz="900" b="1" u="none" strike="noStrike" dirty="0">
                          <a:effectLst/>
                        </a:rPr>
                        <a:t>Load/store dual or exclusive, table branch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080"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Rn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imm3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imm2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Rm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200"/>
                        </a:lnSpc>
                      </a:pPr>
                      <a:r>
                        <a:rPr lang="en-US" sz="900" b="1" u="none" strike="noStrike">
                          <a:effectLst/>
                        </a:rPr>
                        <a:t>Data processing (shifted register)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579"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6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op1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coproc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200"/>
                        </a:lnSpc>
                      </a:pPr>
                      <a:r>
                        <a:rPr lang="en-US" sz="900" b="1" u="none" strike="noStrike">
                          <a:effectLst/>
                        </a:rPr>
                        <a:t>Coprocessor instructions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632"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5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Rn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imm3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imm8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200"/>
                        </a:lnSpc>
                      </a:pPr>
                      <a:r>
                        <a:rPr lang="en-US" sz="900" b="1" u="none" strike="noStrike">
                          <a:effectLst/>
                        </a:rPr>
                        <a:t>Data processing (modified immediate)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825"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5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Rn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200"/>
                        </a:lnSpc>
                      </a:pPr>
                      <a:r>
                        <a:rPr lang="en-US" sz="900" b="1" u="none" strike="noStrike">
                          <a:effectLst/>
                        </a:rPr>
                        <a:t>Data processing (plain binary immediate)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8331"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7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200"/>
                        </a:lnSpc>
                      </a:pPr>
                      <a:r>
                        <a:rPr lang="en-US" sz="900" b="1" u="none" strike="noStrike" dirty="0">
                          <a:effectLst/>
                        </a:rPr>
                        <a:t>Branches and miscellaneous control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6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200"/>
                        </a:lnSpc>
                      </a:pPr>
                      <a:r>
                        <a:rPr lang="en-US" sz="900" b="1" u="none" strike="noStrike">
                          <a:effectLst/>
                        </a:rPr>
                        <a:t>Store single data item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034"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Rn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200"/>
                        </a:lnSpc>
                      </a:pPr>
                      <a:r>
                        <a:rPr lang="en-US" sz="900" b="1" u="none" strike="noStrike">
                          <a:effectLst/>
                        </a:rPr>
                        <a:t>Load byte, memory hints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Rn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200"/>
                        </a:lnSpc>
                      </a:pPr>
                      <a:r>
                        <a:rPr lang="en-US" sz="900" b="1" u="none" strike="noStrike" dirty="0">
                          <a:effectLst/>
                        </a:rPr>
                        <a:t>Load halfword, memory hints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034"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Rn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6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200"/>
                        </a:lnSpc>
                      </a:pPr>
                      <a:r>
                        <a:rPr lang="en-US" sz="900" b="1" u="none" strike="noStrike">
                          <a:effectLst/>
                        </a:rPr>
                        <a:t>Load world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625"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200"/>
                        </a:lnSpc>
                      </a:pPr>
                      <a:r>
                        <a:rPr lang="en-US" sz="900" b="1" u="none" strike="noStrike" dirty="0">
                          <a:effectLst/>
                        </a:rPr>
                        <a:t>Undefined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6434"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Rn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Rm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200"/>
                        </a:lnSpc>
                      </a:pPr>
                      <a:r>
                        <a:rPr lang="en-US" sz="900" b="1" u="none" strike="noStrike">
                          <a:effectLst/>
                        </a:rPr>
                        <a:t>Data processing (register)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2989"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Ra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Rm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200"/>
                        </a:lnSpc>
                      </a:pPr>
                      <a:r>
                        <a:rPr lang="en-US" sz="900" b="1" u="none" strike="noStrike">
                          <a:effectLst/>
                        </a:rPr>
                        <a:t>Multiply, multiply accumulate, and absolute difference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95392"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Rm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200"/>
                        </a:lnSpc>
                      </a:pPr>
                      <a:r>
                        <a:rPr lang="en-US" sz="900" b="1" u="none" strike="noStrike">
                          <a:effectLst/>
                        </a:rPr>
                        <a:t>Long multiply, long multiply accumulate, divide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62989"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6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gridSpan="4"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coproc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200"/>
                        </a:lnSpc>
                      </a:pPr>
                      <a:r>
                        <a:rPr lang="en-US" sz="24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ts val="1200"/>
                        </a:lnSpc>
                      </a:pPr>
                      <a:r>
                        <a:rPr lang="en-US" sz="1000" b="1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200"/>
                        </a:lnSpc>
                      </a:pPr>
                      <a:r>
                        <a:rPr lang="en-US" sz="900" b="1" u="none" strike="noStrike" dirty="0">
                          <a:effectLst/>
                        </a:rPr>
                        <a:t>Coprocessor instructions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3673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Decoding: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0xF04F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0x0003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00200" y="1981200"/>
          <a:ext cx="8915394" cy="2194560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53550712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63344533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7192768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418411512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14527329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54535479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24594618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58641785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28825849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984185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602991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92325409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78039645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065942713"/>
                    </a:ext>
                  </a:extLst>
                </a:gridCol>
                <a:gridCol w="457194">
                  <a:extLst>
                    <a:ext uri="{9D8B030D-6E8A-4147-A177-3AD203B41FA5}">
                      <a16:colId xmlns:a16="http://schemas.microsoft.com/office/drawing/2014/main" val="1215660797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15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14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12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56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 rowSpan="2"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</a:rPr>
                        <a:t>op1</a:t>
                      </a:r>
                      <a:endParaRPr lang="en-US" sz="24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</a:rPr>
                        <a:t>op2</a:t>
                      </a:r>
                      <a:endParaRPr lang="en-US" sz="24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</a:rPr>
                        <a:t>S</a:t>
                      </a:r>
                      <a:endParaRPr lang="en-US" sz="24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rowSpan="2" gridSpan="4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56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</a:rPr>
                        <a:t>i</a:t>
                      </a:r>
                      <a:endParaRPr lang="en-US" sz="24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0xF04F</a:t>
                      </a:r>
                      <a:endParaRPr lang="en-US" sz="2400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1  0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0   0   1   0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1  1  1  1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16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15</a:t>
                      </a:r>
                      <a:endParaRPr lang="en-US" sz="2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14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12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</a:rPr>
                        <a:t>op</a:t>
                      </a:r>
                      <a:endParaRPr lang="en-US" sz="24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</a:rPr>
                        <a:t>imm3</a:t>
                      </a:r>
                      <a:endParaRPr lang="en-US" sz="24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</a:rPr>
                        <a:t>Rd</a:t>
                      </a:r>
                      <a:endParaRPr lang="en-US" sz="24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</a:rPr>
                        <a:t>imm8</a:t>
                      </a:r>
                      <a:endParaRPr lang="en-US" sz="24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0x0003</a:t>
                      </a:r>
                      <a:endParaRPr lang="en-US" sz="2400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0 0 0 0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0 0 0 0 0 0 1 1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800601" y="5035223"/>
            <a:ext cx="20537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r0, #3 </a:t>
            </a:r>
          </a:p>
        </p:txBody>
      </p:sp>
    </p:spTree>
    <p:extLst>
      <p:ext uri="{BB962C8B-B14F-4D97-AF65-F5344CB8AC3E}">
        <p14:creationId xmlns:p14="http://schemas.microsoft.com/office/powerpoint/2010/main" val="47204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Immediate Integers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1981200" y="3657600"/>
            <a:ext cx="8229600" cy="249936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  <a:r>
              <a:rPr lang="en-US" sz="2400" dirty="0"/>
              <a:t>-bit Immediate =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i:imm3:imm8</a:t>
            </a:r>
          </a:p>
          <a:p>
            <a:r>
              <a:rPr lang="en-US" sz="2400" dirty="0">
                <a:cs typeface="Consolas" panose="020B0609020204030204" pitchFamily="49" charset="0"/>
              </a:rPr>
              <a:t>It is </a:t>
            </a:r>
            <a:r>
              <a:rPr lang="en-US" sz="2400" b="1" i="1" dirty="0">
                <a:solidFill>
                  <a:srgbClr val="FF0000"/>
                </a:solidFill>
                <a:cs typeface="Consolas" panose="020B0609020204030204" pitchFamily="49" charset="0"/>
              </a:rPr>
              <a:t>not</a:t>
            </a:r>
            <a:r>
              <a:rPr lang="en-US" sz="2400" dirty="0">
                <a:cs typeface="Consolas" panose="020B0609020204030204" pitchFamily="49" charset="0"/>
              </a:rPr>
              <a:t> a normal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  <a:r>
              <a:rPr lang="en-US" sz="2400" dirty="0">
                <a:cs typeface="Consolas" panose="020B0609020204030204" pitchFamily="49" charset="0"/>
              </a:rPr>
              <a:t>-bit number!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520584"/>
              </p:ext>
            </p:extLst>
          </p:nvPr>
        </p:nvGraphicFramePr>
        <p:xfrm>
          <a:off x="1990928" y="1692275"/>
          <a:ext cx="7772394" cy="1371600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53550712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63344533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7192768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418411512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14527329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54535479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24594618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58641785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28825849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984185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602991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92325409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78039645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065942713"/>
                    </a:ext>
                  </a:extLst>
                </a:gridCol>
                <a:gridCol w="457194">
                  <a:extLst>
                    <a:ext uri="{9D8B030D-6E8A-4147-A177-3AD203B41FA5}">
                      <a16:colId xmlns:a16="http://schemas.microsoft.com/office/drawing/2014/main" val="1215660797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15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14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12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565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 rowSpan="2"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</a:rPr>
                        <a:t>op1</a:t>
                      </a:r>
                      <a:endParaRPr lang="en-US" sz="24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</a:rPr>
                        <a:t>op2</a:t>
                      </a:r>
                      <a:endParaRPr lang="en-US" sz="24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</a:rPr>
                        <a:t>S</a:t>
                      </a:r>
                      <a:endParaRPr lang="en-US" sz="24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rowSpan="2" gridSpan="4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5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endParaRPr lang="en-US" sz="24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15</a:t>
                      </a:r>
                      <a:endParaRPr lang="en-US" sz="2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14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12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0" dirty="0">
                          <a:effectLst/>
                        </a:rPr>
                        <a:t>op</a:t>
                      </a:r>
                      <a:endParaRPr lang="en-US" sz="2400" b="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imm3</a:t>
                      </a:r>
                      <a:endParaRPr lang="en-US" sz="24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>
                          <a:effectLst/>
                        </a:rPr>
                        <a:t>Rd</a:t>
                      </a:r>
                      <a:endParaRPr lang="en-US" sz="24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438275" algn="l"/>
                        </a:tabLs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imm8</a:t>
                      </a:r>
                      <a:endParaRPr lang="en-US" sz="24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5534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Immediate Integers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248054"/>
              </p:ext>
            </p:extLst>
          </p:nvPr>
        </p:nvGraphicFramePr>
        <p:xfrm>
          <a:off x="3124200" y="1219200"/>
          <a:ext cx="6629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953">
                  <a:extLst>
                    <a:ext uri="{9D8B030D-6E8A-4147-A177-3AD203B41FA5}">
                      <a16:colId xmlns:a16="http://schemas.microsoft.com/office/drawing/2014/main" val="181246546"/>
                    </a:ext>
                  </a:extLst>
                </a:gridCol>
                <a:gridCol w="4723447">
                  <a:extLst>
                    <a:ext uri="{9D8B030D-6E8A-4147-A177-3AD203B41FA5}">
                      <a16:colId xmlns:a16="http://schemas.microsoft.com/office/drawing/2014/main" val="720755179"/>
                    </a:ext>
                  </a:extLst>
                </a:gridCol>
              </a:tblGrid>
              <a:tr h="277735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i:imm3:imm8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588039"/>
                  </a:ext>
                </a:extLst>
              </a:tr>
              <a:tr h="277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0000abcdefgh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00000000 00000000 00000000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abcdefgh</a:t>
                      </a:r>
                      <a:endParaRPr lang="en-US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79004"/>
                  </a:ext>
                </a:extLst>
              </a:tr>
              <a:tr h="277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0001abcdefgh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00000000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abcdefgh</a:t>
                      </a:r>
                      <a:r>
                        <a:rPr lang="en-US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00000000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abcdefgh</a:t>
                      </a:r>
                      <a:endParaRPr lang="en-US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197361"/>
                  </a:ext>
                </a:extLst>
              </a:tr>
              <a:tr h="277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0010abcdefgh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abcdefgh</a:t>
                      </a:r>
                      <a:r>
                        <a:rPr lang="en-US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00000000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abcdefgh</a:t>
                      </a:r>
                      <a:r>
                        <a:rPr lang="en-US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00000000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259822"/>
                  </a:ext>
                </a:extLst>
              </a:tr>
              <a:tr h="277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0011abcdefgh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abcdefgh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abcdefgh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abcdefgh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abcdefgh</a:t>
                      </a:r>
                      <a:endParaRPr lang="en-US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808753"/>
                  </a:ext>
                </a:extLst>
              </a:tr>
              <a:tr h="277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01000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bcdefgh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1bcdefgh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00000000 00000000 00000000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700649"/>
                  </a:ext>
                </a:extLst>
              </a:tr>
              <a:tr h="277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01001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bcdefgh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1bcdefg h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0000000 00000000 00000000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102268"/>
                  </a:ext>
                </a:extLst>
              </a:tr>
              <a:tr h="277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01010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bcdefgh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1bcdef gh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000000 00000000 00000000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855712"/>
                  </a:ext>
                </a:extLst>
              </a:tr>
              <a:tr h="277735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51556"/>
                  </a:ext>
                </a:extLst>
              </a:tr>
              <a:tr h="277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11101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bcdefgh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00000000 00000000 00000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1bc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defgh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</a:t>
                      </a:r>
                      <a:endParaRPr lang="en-US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602508"/>
                  </a:ext>
                </a:extLst>
              </a:tr>
              <a:tr h="277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11110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bcdefgh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00000000 00000000 000000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1b c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defgh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</a:t>
                      </a:r>
                      <a:endParaRPr lang="en-US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254972"/>
                  </a:ext>
                </a:extLst>
              </a:tr>
              <a:tr h="2777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11111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bcdefgh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00000000 00000000 0000000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bc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defgh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684755"/>
                  </a:ext>
                </a:extLst>
              </a:tr>
            </a:tbl>
          </a:graphicData>
        </a:graphic>
      </p:graphicFrame>
      <p:sp>
        <p:nvSpPr>
          <p:cNvPr id="6" name="Left Brace 5"/>
          <p:cNvSpPr/>
          <p:nvPr/>
        </p:nvSpPr>
        <p:spPr>
          <a:xfrm>
            <a:off x="2667000" y="3099223"/>
            <a:ext cx="304800" cy="2509097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731264" y="3810000"/>
            <a:ext cx="8778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8-bit values shifted</a:t>
            </a:r>
          </a:p>
        </p:txBody>
      </p:sp>
      <p:sp>
        <p:nvSpPr>
          <p:cNvPr id="8" name="Left Brace 7"/>
          <p:cNvSpPr/>
          <p:nvPr/>
        </p:nvSpPr>
        <p:spPr>
          <a:xfrm>
            <a:off x="2667000" y="1617114"/>
            <a:ext cx="304800" cy="1430886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653709" y="1881062"/>
            <a:ext cx="1182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8-bit values duplicated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7933" y="5678270"/>
            <a:ext cx="6769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0xFF000000,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0, imm3 = 000, imm8 = 01111111=0x7F </a:t>
            </a:r>
          </a:p>
        </p:txBody>
      </p:sp>
    </p:spTree>
    <p:extLst>
      <p:ext uri="{BB962C8B-B14F-4D97-AF65-F5344CB8AC3E}">
        <p14:creationId xmlns:p14="http://schemas.microsoft.com/office/powerpoint/2010/main" val="26718664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2742</TotalTime>
  <Words>1196</Words>
  <Application>Microsoft Office PowerPoint</Application>
  <PresentationFormat>Widescreen</PresentationFormat>
  <Paragraphs>860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Bookman Old Style (Headings)</vt:lpstr>
      <vt:lpstr>Bookman Old Style</vt:lpstr>
      <vt:lpstr>Calibri</vt:lpstr>
      <vt:lpstr>Cambria Math</vt:lpstr>
      <vt:lpstr>Consolas</vt:lpstr>
      <vt:lpstr>Gill Sans MT</vt:lpstr>
      <vt:lpstr>Palatino Linotype</vt:lpstr>
      <vt:lpstr>Wingdings</vt:lpstr>
      <vt:lpstr>Wingdings 3</vt:lpstr>
      <vt:lpstr>Origin</vt:lpstr>
      <vt:lpstr>Dr. Yifeng Zhu Electrical and Computer Engineering University of Maine</vt:lpstr>
      <vt:lpstr>History</vt:lpstr>
      <vt:lpstr>Instruction Sets</vt:lpstr>
      <vt:lpstr>Instruction Sets</vt:lpstr>
      <vt:lpstr>Dividing Bit Stream Into  Thumb Instructions</vt:lpstr>
      <vt:lpstr>Encoding 16-bit Thumb Instructions</vt:lpstr>
      <vt:lpstr>Encoding: ORR r1, r0</vt:lpstr>
      <vt:lpstr>Decoding: 0xF04F, 0x0003 </vt:lpstr>
      <vt:lpstr>32-bit Thumb Instructions</vt:lpstr>
      <vt:lpstr>Decoding: 0xF04F, 0x0003 </vt:lpstr>
      <vt:lpstr>Encoding Immediate Integers</vt:lpstr>
      <vt:lpstr>Encoding Immediate Integers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Yifeng Zhu</cp:lastModifiedBy>
  <cp:revision>260</cp:revision>
  <dcterms:created xsi:type="dcterms:W3CDTF">2013-02-03T05:36:57Z</dcterms:created>
  <dcterms:modified xsi:type="dcterms:W3CDTF">2025-09-25T00:30:44Z</dcterms:modified>
</cp:coreProperties>
</file>