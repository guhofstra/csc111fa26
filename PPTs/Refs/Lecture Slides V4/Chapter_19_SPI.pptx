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673" autoAdjust="0"/>
  </p:normalViewPr>
  <p:slideViewPr>
    <p:cSldViewPr>
      <p:cViewPr varScale="1">
        <p:scale>
          <a:sx n="133" d="100"/>
          <a:sy n="133" d="100"/>
        </p:scale>
        <p:origin x="356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5166C-7A25-4630-8419-832FB4507348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E2E33-EA0D-4510-A036-6EEBE60970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I2C originally defined data transfer rates at 100kbps, though we have seen it bump up to 400kbps or even up to 5Mbps in Ultra Fast-mode.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I2C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half-duplex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E2E33-EA0D-4510-A036-6EEBE609708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07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7DC9DE6-826B-4A6C-9759-9727F7A4C8A4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2FABA55-0640-49C2-9E8B-1599F639B853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98F1C1B1-EDDE-45C8-A2A2-4A961A39DF9A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3342350-A61E-4F48-9707-EE8A702AA69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EB447F2-E0CA-4130-85AA-BFC3483AB13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8CEA138-DBD4-450B-A9D1-B01324AEAB5C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C61B014-4081-4FB9-83F2-2DB52CBD069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AF425A6-F079-4943-AD17-9409ADEE8ED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A807E7-FEB1-41B1-AF46-629DC5106AE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CCC8B3A-6ACF-4AE2-A295-9BBDF78ED7C4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AFFAC0F-7A79-48B1-A5E9-2F5B84B616A2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FAD326F9-B406-40A1-8BA9-93AD3284A530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400" y="533400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40803"/>
            <a:ext cx="45854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19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 err="1">
                <a:solidFill>
                  <a:srgbClr val="C00000"/>
                </a:solidFill>
              </a:rPr>
              <a:t>SPI</a:t>
            </a:r>
            <a:r>
              <a:rPr lang="en-US" sz="2400" b="1" dirty="0">
                <a:solidFill>
                  <a:srgbClr val="C00000"/>
                </a:solidFill>
              </a:rPr>
              <a:t>: Serial Peripheral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Peripheral Interface (</a:t>
            </a:r>
            <a:r>
              <a:rPr lang="en-US" dirty="0" err="1"/>
              <a:t>SPI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9601200" cy="1413642"/>
          </a:xfrm>
        </p:spPr>
        <p:txBody>
          <a:bodyPr>
            <a:normAutofit fontScale="62500" lnSpcReduction="20000"/>
          </a:bodyPr>
          <a:lstStyle/>
          <a:p>
            <a:r>
              <a:rPr lang="en-US" sz="2400" dirty="0"/>
              <a:t>Synchronous full-duplex communication </a:t>
            </a:r>
          </a:p>
          <a:p>
            <a:r>
              <a:rPr lang="en-US" sz="2400" dirty="0"/>
              <a:t>Single master, multiple slaves</a:t>
            </a:r>
          </a:p>
          <a:p>
            <a:r>
              <a:rPr lang="en-US" sz="2400" dirty="0"/>
              <a:t>No hardware flow control or slave acknowledgment</a:t>
            </a:r>
          </a:p>
          <a:p>
            <a:r>
              <a:rPr lang="en-US" sz="2400" dirty="0"/>
              <a:t>Slave cannot communicate with slave directly</a:t>
            </a:r>
          </a:p>
          <a:p>
            <a:r>
              <a:rPr lang="en-US" sz="2400" dirty="0"/>
              <a:t>Higher throughput than I2C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048" y="2632842"/>
            <a:ext cx="6629400" cy="28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3"/>
          <p:cNvSpPr txBox="1">
            <a:spLocks/>
          </p:cNvSpPr>
          <p:nvPr/>
        </p:nvSpPr>
        <p:spPr>
          <a:xfrm>
            <a:off x="3411921" y="5485331"/>
            <a:ext cx="2724807" cy="67582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>
                <a:solidFill>
                  <a:srgbClr val="C00000"/>
                </a:solidFill>
              </a:rPr>
              <a:t>SCLK</a:t>
            </a:r>
            <a:r>
              <a:rPr lang="en-US" sz="1800" dirty="0"/>
              <a:t>: serial clock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SS</a:t>
            </a:r>
            <a:r>
              <a:rPr lang="en-US" sz="1800" dirty="0"/>
              <a:t>: slave select (active low)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157749" y="5496376"/>
            <a:ext cx="2724807" cy="75202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>
                <a:solidFill>
                  <a:srgbClr val="C00000"/>
                </a:solidFill>
              </a:rPr>
              <a:t>MOSI</a:t>
            </a:r>
            <a:r>
              <a:rPr lang="en-US" sz="1800" dirty="0"/>
              <a:t>: master out slave in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00000"/>
                </a:solidFill>
              </a:rPr>
              <a:t>MISO</a:t>
            </a:r>
            <a:r>
              <a:rPr lang="en-US" sz="1800" dirty="0"/>
              <a:t>: master in slave out</a:t>
            </a:r>
          </a:p>
        </p:txBody>
      </p:sp>
    </p:spTree>
    <p:extLst>
      <p:ext uri="{BB962C8B-B14F-4D97-AF65-F5344CB8AC3E}">
        <p14:creationId xmlns:p14="http://schemas.microsoft.com/office/powerpoint/2010/main" val="3791997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Synchronous Data Exchange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51099" y="4419600"/>
            <a:ext cx="8229600" cy="1813560"/>
          </a:xfrm>
        </p:spPr>
        <p:txBody>
          <a:bodyPr>
            <a:normAutofit/>
          </a:bodyPr>
          <a:lstStyle/>
          <a:p>
            <a:r>
              <a:rPr lang="en-US" sz="2000" dirty="0"/>
              <a:t>Master has to provide clock to slave</a:t>
            </a:r>
          </a:p>
          <a:p>
            <a:r>
              <a:rPr lang="en-US" sz="2000" i="1" dirty="0">
                <a:solidFill>
                  <a:srgbClr val="C00000"/>
                </a:solidFill>
              </a:rPr>
              <a:t>Synchronous exchange</a:t>
            </a:r>
            <a:r>
              <a:rPr lang="en-US" sz="2000" dirty="0"/>
              <a:t> </a:t>
            </a:r>
          </a:p>
          <a:p>
            <a:pPr lvl="1"/>
            <a:r>
              <a:rPr lang="en-US" sz="1700" dirty="0"/>
              <a:t>Master shift out a bit to slave, and shifts in a bit from slave.</a:t>
            </a:r>
          </a:p>
          <a:p>
            <a:r>
              <a:rPr lang="en-US" sz="2000" dirty="0"/>
              <a:t>Only master can start the data transfer.  Thus no arbitration required.</a:t>
            </a:r>
          </a:p>
          <a:p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896" y="1828800"/>
            <a:ext cx="8656006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465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Timing Diagram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793" y="2057400"/>
            <a:ext cx="8804260" cy="2497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728968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693180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628928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551926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466326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430538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366286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9289284" y="4419600"/>
            <a:ext cx="0" cy="38100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17219" y="4811282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Sample</a:t>
            </a:r>
          </a:p>
        </p:txBody>
      </p:sp>
    </p:spTree>
    <p:extLst>
      <p:ext uri="{BB962C8B-B14F-4D97-AF65-F5344CB8AC3E}">
        <p14:creationId xmlns:p14="http://schemas.microsoft.com/office/powerpoint/2010/main" val="372852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Clock Phase and Polarity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752600" y="4937970"/>
            <a:ext cx="8915400" cy="1418381"/>
          </a:xfrm>
        </p:spPr>
        <p:txBody>
          <a:bodyPr>
            <a:noAutofit/>
          </a:bodyPr>
          <a:lstStyle/>
          <a:p>
            <a:r>
              <a:rPr lang="en-US" sz="1800" dirty="0"/>
              <a:t>Combination of </a:t>
            </a:r>
            <a:r>
              <a:rPr lang="en-US" sz="1800" dirty="0">
                <a:latin typeface="Consolas" panose="020B0609020204030204" pitchFamily="49" charset="0"/>
              </a:rPr>
              <a:t>CPOL</a:t>
            </a:r>
            <a:r>
              <a:rPr lang="en-US" sz="1800" dirty="0"/>
              <a:t> and </a:t>
            </a:r>
            <a:r>
              <a:rPr lang="en-US" sz="1800" dirty="0">
                <a:latin typeface="Consolas" panose="020B0609020204030204" pitchFamily="49" charset="0"/>
              </a:rPr>
              <a:t>CPHA</a:t>
            </a:r>
            <a:r>
              <a:rPr lang="en-US" sz="1800" dirty="0"/>
              <a:t> determines the clock edge for transmitting and receiving.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CPOL = 0 </a:t>
            </a:r>
            <a:r>
              <a:rPr lang="en-US" sz="1800" dirty="0">
                <a:latin typeface="Cambria Math"/>
                <a:ea typeface="Cambria Math"/>
              </a:rPr>
              <a:t>⟶ </a:t>
            </a:r>
            <a:r>
              <a:rPr lang="en-US" sz="1800" dirty="0">
                <a:latin typeface="Consolas" panose="020B0609020204030204" pitchFamily="49" charset="0"/>
              </a:rPr>
              <a:t>SCLK</a:t>
            </a:r>
            <a:r>
              <a:rPr lang="en-US" sz="1800" dirty="0"/>
              <a:t> is pushed to low during idle. Otherwise, pulled to high during idle.</a:t>
            </a:r>
          </a:p>
          <a:p>
            <a:r>
              <a:rPr lang="en-US" sz="1800" dirty="0">
                <a:latin typeface="Consolas" panose="020B0609020204030204" pitchFamily="49" charset="0"/>
              </a:rPr>
              <a:t>CPHA = 0 </a:t>
            </a:r>
            <a:r>
              <a:rPr lang="en-US" sz="1800" dirty="0">
                <a:latin typeface="Cambria Math"/>
                <a:ea typeface="Cambria Math"/>
              </a:rPr>
              <a:t>⟶ </a:t>
            </a:r>
            <a:r>
              <a:rPr lang="en-US" sz="1800" dirty="0"/>
              <a:t>the first clock transition (either rising or falling) is the first data capture edge. Otherwise, the second clock transition is the first data capture edge.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3CB0D-1702-4B94-A1C0-58D0DF3C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793" y="1172689"/>
            <a:ext cx="7692414" cy="356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8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28D4-1E2A-4965-8C80-A4FC181A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Clock Phase and Polarity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3902E4-32B8-4B6E-8E3D-390DC6D0D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50E36-C0A9-46EE-8E8F-9D3AB302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124200"/>
            <a:ext cx="8610600" cy="3127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7E34B2-1248-4887-862C-7AFDE27CD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189621"/>
            <a:ext cx="4209842" cy="19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32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4F7D-2058-4309-BD46-10122C4BD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Gyro Sensors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21ADB-74C3-46E0-A77F-4785747A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EB04E-7FE8-4E95-BDC5-E68E1D767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1905000"/>
            <a:ext cx="2598767" cy="2940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79A32A-0351-4666-A7E9-7FA99DB09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057400"/>
            <a:ext cx="5387700" cy="235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23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E2C5-DE48-4EDB-9E33-25CF3C9C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L3GD20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7EEE8-C8BA-410E-99E8-0C58F4E0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C44EF-1F83-4EE2-BDBF-05530114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993" y="2238146"/>
            <a:ext cx="7126015" cy="212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96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 vs I2C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93596"/>
              </p:ext>
            </p:extLst>
          </p:nvPr>
        </p:nvGraphicFramePr>
        <p:xfrm>
          <a:off x="2438400" y="2667000"/>
          <a:ext cx="75438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7796412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665159118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97227027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I2C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60963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Faster speed. Can be 10 Mbps or more.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Full duplex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Simplicity. Commonly used as</a:t>
                      </a:r>
                      <a:r>
                        <a:rPr lang="en-US" baseline="0" dirty="0"/>
                        <a:t> a 2-wire bus.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Adding new slave is easy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12901"/>
                  </a:ext>
                </a:extLst>
              </a:tr>
            </a:tbl>
          </a:graphicData>
        </a:graphic>
      </p:graphicFrame>
      <p:sp>
        <p:nvSpPr>
          <p:cNvPr id="11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601200" cy="1219200"/>
          </a:xfrm>
        </p:spPr>
        <p:txBody>
          <a:bodyPr>
            <a:normAutofit/>
          </a:bodyPr>
          <a:lstStyle/>
          <a:p>
            <a:r>
              <a:rPr lang="en-US" sz="1800" dirty="0"/>
              <a:t>SPI by Motorola and I2C by Philips</a:t>
            </a:r>
          </a:p>
          <a:p>
            <a:r>
              <a:rPr lang="en-US" sz="1800" dirty="0"/>
              <a:t>Both are synchronous protocols for short distance communications</a:t>
            </a:r>
          </a:p>
          <a:p>
            <a:r>
              <a:rPr lang="en-US" sz="1800" dirty="0"/>
              <a:t>Generally, operates on 3.3 V or 5V</a:t>
            </a:r>
          </a:p>
        </p:txBody>
      </p:sp>
    </p:spTree>
    <p:extLst>
      <p:ext uri="{BB962C8B-B14F-4D97-AF65-F5344CB8AC3E}">
        <p14:creationId xmlns:p14="http://schemas.microsoft.com/office/powerpoint/2010/main" val="1298773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1596</TotalTime>
  <Words>310</Words>
  <Application>Microsoft Office PowerPoint</Application>
  <PresentationFormat>Widescreen</PresentationFormat>
  <Paragraphs>52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Dr. Yifeng Zhu Electrical and Computer Engineering University of Maine</vt:lpstr>
      <vt:lpstr>Serial Peripheral Interface (SPI)</vt:lpstr>
      <vt:lpstr>SPI Synchronous Data Exchange</vt:lpstr>
      <vt:lpstr>SPI Timing Diagram</vt:lpstr>
      <vt:lpstr>SPI Clock Phase and Polarity</vt:lpstr>
      <vt:lpstr>SPI Clock Phase and Polarity</vt:lpstr>
      <vt:lpstr>Gyro Sensors</vt:lpstr>
      <vt:lpstr>L3GD20</vt:lpstr>
      <vt:lpstr>SPI vs I2C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98</cp:revision>
  <dcterms:created xsi:type="dcterms:W3CDTF">2013-04-23T04:23:51Z</dcterms:created>
  <dcterms:modified xsi:type="dcterms:W3CDTF">2025-09-25T00:33:31Z</dcterms:modified>
</cp:coreProperties>
</file>