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4" r:id="rId3"/>
    <p:sldId id="266" r:id="rId4"/>
    <p:sldId id="275" r:id="rId5"/>
    <p:sldId id="280" r:id="rId6"/>
    <p:sldId id="265" r:id="rId7"/>
    <p:sldId id="276" r:id="rId8"/>
    <p:sldId id="277" r:id="rId9"/>
    <p:sldId id="279" r:id="rId10"/>
    <p:sldId id="278" r:id="rId11"/>
    <p:sldId id="270" r:id="rId12"/>
    <p:sldId id="269" r:id="rId13"/>
    <p:sldId id="268" r:id="rId14"/>
    <p:sldId id="273" r:id="rId15"/>
    <p:sldId id="274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6"/>
    <p:restoredTop sz="94694"/>
  </p:normalViewPr>
  <p:slideViewPr>
    <p:cSldViewPr>
      <p:cViewPr varScale="1">
        <p:scale>
          <a:sx n="150" d="100"/>
          <a:sy n="150" d="100"/>
        </p:scale>
        <p:origin x="347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D438B-6DDE-4FAA-9652-4082F72F61A0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07BFE-0E2C-40B3-BBEC-3C939684CC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F927073D-A961-4AD8-9080-FB272CDA6A54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9574503-4C7F-461C-B288-4B70C1AB58E2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AED033FB-53CF-49FD-A9E8-4AF27E297FC1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F1087F5-46AD-46C0-8020-B53D4780B99A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043304-DACD-4B87-9FDE-0B0797F37FA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90E37B9-3793-4B87-A2E0-459E821E51C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E23AAED-05CF-4E7B-A294-626B0C92F1FA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16BBE3C-8579-4789-B00A-44BA01763C4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27ABCC-E327-4FFC-BFEF-D6DB5D4BE908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7EC4B8-B8BF-4757-8E5C-CA9B2A7DB263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4E18119-E51A-4BDA-9B6A-583896360E6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8E06CF98-5EC5-4322-B129-26BE8EBDE603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65881" y="53637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3447" y="2057400"/>
            <a:ext cx="350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10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Mixing C and Assembly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Types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571140"/>
              </p:ext>
            </p:extLst>
          </p:nvPr>
        </p:nvGraphicFramePr>
        <p:xfrm>
          <a:off x="1981200" y="1371601"/>
          <a:ext cx="8382000" cy="4063646"/>
        </p:xfrm>
        <a:graphic>
          <a:graphicData uri="http://schemas.openxmlformats.org/drawingml/2006/table">
            <a:tbl>
              <a:tblPr firstRow="1" firstCol="1" bandRow="1" bandCol="1">
                <a:tableStyleId>{69012ECD-51FC-41F1-AA8D-1B2483CD663E}</a:tableStyleId>
              </a:tblPr>
              <a:tblGrid>
                <a:gridCol w="1147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6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Type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Data Size (bits)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Alignment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Range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byte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 or 1. Bits 1-7 are ignored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byte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-128 - 127(signed) or 0 - 255(unsigned)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-2,147,483,648 - 2,147,483,647(signed) or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0 - 4,294,967,296(unsigned)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short int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halfword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-32,768 - 32,767(signed) or 0 - 65,536(unsigned)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 int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same as int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86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 long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64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-9,223,372,036,854,775,808 - 9,223,372,036,854,775,807(signed) or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0 - 18,446,744,073,709,551,616(unsigned)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float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+/- 1.4023x10</a:t>
                      </a:r>
                      <a:r>
                        <a:rPr lang="en-US" sz="1600" baseline="30000">
                          <a:effectLst/>
                        </a:rPr>
                        <a:t>-45</a:t>
                      </a:r>
                      <a:r>
                        <a:rPr lang="en-US" sz="1600">
                          <a:effectLst/>
                        </a:rPr>
                        <a:t> to 3.4028x10</a:t>
                      </a:r>
                      <a:r>
                        <a:rPr lang="en-US" sz="1600" baseline="30000">
                          <a:effectLst/>
                        </a:rPr>
                        <a:t>+38</a:t>
                      </a:r>
                      <a:r>
                        <a:rPr lang="en-US" sz="1600">
                          <a:effectLst/>
                        </a:rPr>
                        <a:t>, always signed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64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+/- 4.9406x10</a:t>
                      </a:r>
                      <a:r>
                        <a:rPr lang="en-US" sz="1600" baseline="30000">
                          <a:effectLst/>
                        </a:rPr>
                        <a:t>-324</a:t>
                      </a:r>
                      <a:r>
                        <a:rPr lang="en-US" sz="1600">
                          <a:effectLst/>
                        </a:rPr>
                        <a:t> to 1.7977x10</a:t>
                      </a:r>
                      <a:r>
                        <a:rPr lang="en-US" sz="1600" baseline="30000">
                          <a:effectLst/>
                        </a:rPr>
                        <a:t>308</a:t>
                      </a:r>
                      <a:r>
                        <a:rPr lang="en-US" sz="1600">
                          <a:effectLst/>
                        </a:rPr>
                        <a:t>, always signed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65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 double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96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very large range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72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Store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487287"/>
              </p:ext>
            </p:extLst>
          </p:nvPr>
        </p:nvGraphicFramePr>
        <p:xfrm>
          <a:off x="3200400" y="1828800"/>
          <a:ext cx="4953000" cy="3657600"/>
        </p:xfrm>
        <a:graphic>
          <a:graphicData uri="http://schemas.openxmlformats.org/drawingml/2006/table">
            <a:tbl>
              <a:tblPr firstRow="1" firstCol="1" bandRow="1" bandCol="1">
                <a:tableStyleId>{69CF1AB2-1976-4502-BF36-3FF5EA218861}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unsigned char</a:t>
                      </a:r>
                      <a:endParaRPr lang="en-US" sz="24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LDRB/STRB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unsigned short</a:t>
                      </a:r>
                      <a:endParaRPr lang="en-US" sz="24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LDRH/STRH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unsigned int</a:t>
                      </a:r>
                      <a:endParaRPr lang="en-US" sz="24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LDR/STR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char</a:t>
                      </a:r>
                      <a:endParaRPr lang="en-US" sz="24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LDRSB/STRSB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short</a:t>
                      </a:r>
                      <a:endParaRPr lang="en-US" sz="24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LDRSH/STRSH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01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BF596-CF82-4A11-AB76-D95F66F0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0"/>
            <a:ext cx="282536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2592324" y="1210314"/>
            <a:ext cx="213360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61279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BF596-CF82-4A11-AB76-D95F66F0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0"/>
            <a:ext cx="282536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2592324" y="1210314"/>
            <a:ext cx="213360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5122E-CA10-0147-895F-B55AC56D504B}"/>
              </a:ext>
            </a:extLst>
          </p:cNvPr>
          <p:cNvSpPr txBox="1"/>
          <p:nvPr/>
        </p:nvSpPr>
        <p:spPr>
          <a:xfrm>
            <a:off x="7239000" y="6522325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5A5FC-1E8F-4D4D-B70D-16244B230061}"/>
              </a:ext>
            </a:extLst>
          </p:cNvPr>
          <p:cNvSpPr txBox="1"/>
          <p:nvPr/>
        </p:nvSpPr>
        <p:spPr>
          <a:xfrm>
            <a:off x="7239000" y="62484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76AA0-7171-B64B-9061-C1B6B83D6162}"/>
              </a:ext>
            </a:extLst>
          </p:cNvPr>
          <p:cNvSpPr txBox="1"/>
          <p:nvPr/>
        </p:nvSpPr>
        <p:spPr>
          <a:xfrm>
            <a:off x="7239000" y="598228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FB8DFBB-39FF-2341-B6AF-86259B5D1F3E}"/>
              </a:ext>
            </a:extLst>
          </p:cNvPr>
          <p:cNvSpPr/>
          <p:nvPr/>
        </p:nvSpPr>
        <p:spPr>
          <a:xfrm>
            <a:off x="8311764" y="5029200"/>
            <a:ext cx="146437" cy="9906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9737C4-C811-A641-A1C9-107E8421CF9F}"/>
              </a:ext>
            </a:extLst>
          </p:cNvPr>
          <p:cNvSpPr txBox="1"/>
          <p:nvPr/>
        </p:nvSpPr>
        <p:spPr>
          <a:xfrm>
            <a:off x="8311763" y="533983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6C9BF54-1BBD-0B40-BEB3-0CD5D8AA6EB3}"/>
              </a:ext>
            </a:extLst>
          </p:cNvPr>
          <p:cNvSpPr/>
          <p:nvPr/>
        </p:nvSpPr>
        <p:spPr>
          <a:xfrm>
            <a:off x="8311763" y="4451866"/>
            <a:ext cx="150584" cy="5334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1312D-B54E-AF41-AF6B-7622FB14AF32}"/>
              </a:ext>
            </a:extLst>
          </p:cNvPr>
          <p:cNvSpPr txBox="1"/>
          <p:nvPr/>
        </p:nvSpPr>
        <p:spPr>
          <a:xfrm>
            <a:off x="8326575" y="45339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C9AD007-4065-404E-82F3-3F65493BA54B}"/>
              </a:ext>
            </a:extLst>
          </p:cNvPr>
          <p:cNvSpPr/>
          <p:nvPr/>
        </p:nvSpPr>
        <p:spPr>
          <a:xfrm>
            <a:off x="9229145" y="4440985"/>
            <a:ext cx="146437" cy="229183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1D40D9-EEE3-7043-9D03-4DE2BD872644}"/>
              </a:ext>
            </a:extLst>
          </p:cNvPr>
          <p:cNvSpPr txBox="1"/>
          <p:nvPr/>
        </p:nvSpPr>
        <p:spPr>
          <a:xfrm>
            <a:off x="9322955" y="5340752"/>
            <a:ext cx="125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array[0]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1D55407-501B-7E47-8625-A035DC3C862C}"/>
              </a:ext>
            </a:extLst>
          </p:cNvPr>
          <p:cNvSpPr/>
          <p:nvPr/>
        </p:nvSpPr>
        <p:spPr>
          <a:xfrm>
            <a:off x="9229145" y="2116098"/>
            <a:ext cx="146437" cy="2291834"/>
          </a:xfrm>
          <a:prstGeom prst="rightBrace">
            <a:avLst/>
          </a:prstGeom>
          <a:ln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25360-98CD-3749-BEEC-6B64D17C8315}"/>
              </a:ext>
            </a:extLst>
          </p:cNvPr>
          <p:cNvSpPr txBox="1"/>
          <p:nvPr/>
        </p:nvSpPr>
        <p:spPr>
          <a:xfrm>
            <a:off x="9322955" y="3015865"/>
            <a:ext cx="125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array[1]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E23D78-A1BB-9546-9A83-A3F86B5770DB}"/>
              </a:ext>
            </a:extLst>
          </p:cNvPr>
          <p:cNvSpPr txBox="1"/>
          <p:nvPr/>
        </p:nvSpPr>
        <p:spPr>
          <a:xfrm>
            <a:off x="7297406" y="416005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69F98A-C48B-DC4D-B19A-DDAEB3822E3E}"/>
              </a:ext>
            </a:extLst>
          </p:cNvPr>
          <p:cNvSpPr txBox="1"/>
          <p:nvPr/>
        </p:nvSpPr>
        <p:spPr>
          <a:xfrm>
            <a:off x="7297406" y="388612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2DCB31-F380-B34F-BAEE-5C68FBF08481}"/>
              </a:ext>
            </a:extLst>
          </p:cNvPr>
          <p:cNvSpPr txBox="1"/>
          <p:nvPr/>
        </p:nvSpPr>
        <p:spPr>
          <a:xfrm>
            <a:off x="7297406" y="362001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D554A5C-1B33-7B4D-9789-C947104FB5B6}"/>
              </a:ext>
            </a:extLst>
          </p:cNvPr>
          <p:cNvSpPr/>
          <p:nvPr/>
        </p:nvSpPr>
        <p:spPr>
          <a:xfrm>
            <a:off x="8370170" y="2666928"/>
            <a:ext cx="146437" cy="990600"/>
          </a:xfrm>
          <a:prstGeom prst="rightBrace">
            <a:avLst/>
          </a:prstGeom>
          <a:ln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32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330BE6-5EA8-EA49-B15D-9CB8C5FE874D}"/>
              </a:ext>
            </a:extLst>
          </p:cNvPr>
          <p:cNvSpPr txBox="1"/>
          <p:nvPr/>
        </p:nvSpPr>
        <p:spPr>
          <a:xfrm>
            <a:off x="8370169" y="29775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0A53E481-9719-F543-9FE7-072AF0DF14CF}"/>
              </a:ext>
            </a:extLst>
          </p:cNvPr>
          <p:cNvSpPr/>
          <p:nvPr/>
        </p:nvSpPr>
        <p:spPr>
          <a:xfrm>
            <a:off x="8370169" y="2089594"/>
            <a:ext cx="150584" cy="533400"/>
          </a:xfrm>
          <a:prstGeom prst="rightBrace">
            <a:avLst/>
          </a:prstGeom>
          <a:ln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32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29B952-3D57-3845-BA3D-72B8744308F4}"/>
              </a:ext>
            </a:extLst>
          </p:cNvPr>
          <p:cNvSpPr txBox="1"/>
          <p:nvPr/>
        </p:nvSpPr>
        <p:spPr>
          <a:xfrm>
            <a:off x="8384981" y="217162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05FF1-38E0-6D44-812E-A3B266D518DB}"/>
              </a:ext>
            </a:extLst>
          </p:cNvPr>
          <p:cNvSpPr txBox="1"/>
          <p:nvPr/>
        </p:nvSpPr>
        <p:spPr>
          <a:xfrm>
            <a:off x="1905000" y="4534908"/>
            <a:ext cx="3859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Does the memory layout look like this?</a:t>
            </a:r>
          </a:p>
        </p:txBody>
      </p:sp>
    </p:spTree>
    <p:extLst>
      <p:ext uri="{BB962C8B-B14F-4D97-AF65-F5344CB8AC3E}">
        <p14:creationId xmlns:p14="http://schemas.microsoft.com/office/powerpoint/2010/main" val="413085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416031" y="3930184"/>
            <a:ext cx="25146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padding_1[1];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padding_2[2];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sp>
        <p:nvSpPr>
          <p:cNvPr id="7" name="Right Arrow 6"/>
          <p:cNvSpPr/>
          <p:nvPr/>
        </p:nvSpPr>
        <p:spPr>
          <a:xfrm rot="5400000">
            <a:off x="3486503" y="3487321"/>
            <a:ext cx="34524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C4204-7CB0-49A0-AAF0-7974F5E4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812" y="0"/>
            <a:ext cx="476024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1B8E0E-1737-43CB-B121-921B66D6A6FF}"/>
              </a:ext>
            </a:extLst>
          </p:cNvPr>
          <p:cNvSpPr/>
          <p:nvPr/>
        </p:nvSpPr>
        <p:spPr>
          <a:xfrm>
            <a:off x="2592324" y="1210314"/>
            <a:ext cx="213360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5493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BF596-CF82-4A11-AB76-D95F66F0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438" y="0"/>
            <a:ext cx="282536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987A52-1748-46F4-BF22-DBFA4979EBB1}"/>
              </a:ext>
            </a:extLst>
          </p:cNvPr>
          <p:cNvSpPr/>
          <p:nvPr/>
        </p:nvSpPr>
        <p:spPr>
          <a:xfrm>
            <a:off x="2136648" y="1524000"/>
            <a:ext cx="3275076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__packed 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struct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</p:spTree>
    <p:extLst>
      <p:ext uri="{BB962C8B-B14F-4D97-AF65-F5344CB8AC3E}">
        <p14:creationId xmlns:p14="http://schemas.microsoft.com/office/powerpoint/2010/main" val="241008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8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2136648" y="1524000"/>
            <a:ext cx="3275076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__packed 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struct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0832F-A089-4E7E-96CB-0A323C4C1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1" y="554770"/>
            <a:ext cx="4557057" cy="61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Unaligned Accesses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79717-1EFE-4CE9-8313-5E9E490C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56727"/>
            <a:ext cx="7549077" cy="3962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75EB62-3046-4BF5-9204-8244D6B1CD9E}"/>
              </a:ext>
            </a:extLst>
          </p:cNvPr>
          <p:cNvSpPr txBox="1"/>
          <p:nvPr/>
        </p:nvSpPr>
        <p:spPr>
          <a:xfrm>
            <a:off x="3581400" y="5669866"/>
            <a:ext cx="5723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Two memory accesses are required to fetch the unaligned word!</a:t>
            </a:r>
          </a:p>
        </p:txBody>
      </p:sp>
    </p:spTree>
    <p:extLst>
      <p:ext uri="{BB962C8B-B14F-4D97-AF65-F5344CB8AC3E}">
        <p14:creationId xmlns:p14="http://schemas.microsoft.com/office/powerpoint/2010/main" val="67747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10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6477000" y="1575624"/>
            <a:ext cx="3275076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__packed 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struct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FD2BD6-8B28-409C-8A60-84FA2B9A339D}"/>
              </a:ext>
            </a:extLst>
          </p:cNvPr>
          <p:cNvSpPr/>
          <p:nvPr/>
        </p:nvSpPr>
        <p:spPr>
          <a:xfrm>
            <a:off x="2514600" y="1441351"/>
            <a:ext cx="25146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padding_1[1];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padding_2[2];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E513C-303D-445B-A078-B99A5AE174E2}"/>
              </a:ext>
            </a:extLst>
          </p:cNvPr>
          <p:cNvSpPr txBox="1"/>
          <p:nvPr/>
        </p:nvSpPr>
        <p:spPr>
          <a:xfrm>
            <a:off x="2824665" y="3863361"/>
            <a:ext cx="1952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Optimized for speed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(default)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310E4-1078-4A76-8703-3CA30F306888}"/>
              </a:ext>
            </a:extLst>
          </p:cNvPr>
          <p:cNvSpPr txBox="1"/>
          <p:nvPr/>
        </p:nvSpPr>
        <p:spPr>
          <a:xfrm>
            <a:off x="7144593" y="3565009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Optimized for space</a:t>
            </a:r>
          </a:p>
        </p:txBody>
      </p:sp>
    </p:spTree>
    <p:extLst>
      <p:ext uri="{BB962C8B-B14F-4D97-AF65-F5344CB8AC3E}">
        <p14:creationId xmlns:p14="http://schemas.microsoft.com/office/powerpoint/2010/main" val="125807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928709"/>
              </p:ext>
            </p:extLst>
          </p:nvPr>
        </p:nvGraphicFramePr>
        <p:xfrm>
          <a:off x="2743200" y="1515547"/>
          <a:ext cx="3048000" cy="4191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8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1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14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09326"/>
              </p:ext>
            </p:extLst>
          </p:nvPr>
        </p:nvGraphicFramePr>
        <p:xfrm>
          <a:off x="6400800" y="1515548"/>
          <a:ext cx="3200400" cy="41994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1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97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static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14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492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982022"/>
              </p:ext>
            </p:extLst>
          </p:nvPr>
        </p:nvGraphicFramePr>
        <p:xfrm>
          <a:off x="2057400" y="1219201"/>
          <a:ext cx="8077200" cy="501588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7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6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Assembly Code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39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 // local variable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20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AREA </a:t>
                      </a: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static_demo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, CODE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EXPORT __main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ALIGN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ENTRY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__main  PROC	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stop    B   stop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	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	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foo     PROC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MOV  r0,#5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ADD  r0,r0,#1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BX   LR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</a:t>
                      </a:r>
                      <a:endParaRPr lang="en-US" sz="20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9691"/>
              </p:ext>
            </p:extLst>
          </p:nvPr>
        </p:nvGraphicFramePr>
        <p:xfrm>
          <a:off x="1981200" y="1189482"/>
          <a:ext cx="8229600" cy="543915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0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Assembly Code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7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8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// x is initialized only once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static </a:t>
                      </a:r>
                      <a:r>
                        <a:rPr lang="en-US" sz="1300" b="1" dirty="0" err="1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// a static variable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13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AREA </a:t>
                      </a: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static_demo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, CODE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EXPORT __main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ALIGN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ENTRY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__main  PROC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7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stop    B   stop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foo     PROC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LDR  r1,=x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LDR  r0,[r1]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ADD  r0,r0,#1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STR  r0,[r1]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BX   LR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AREA </a:t>
                      </a: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myData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, DATA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ALIGN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x       DCD   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</a:t>
                      </a:r>
                      <a:endParaRPr lang="en-US" sz="13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Calling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799452"/>
              </p:ext>
            </p:extLst>
          </p:nvPr>
        </p:nvGraphicFramePr>
        <p:xfrm>
          <a:off x="1676400" y="1752600"/>
          <a:ext cx="8915400" cy="3413760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3359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main.c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strlen.s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[25] = "Hello!";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void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(char* s);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main(void){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while(1);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stringLength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make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visible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ALIGN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PUSH {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preserve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and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6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#0  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initialize length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string address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CBZ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exit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branch if zero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ADD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length++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B    loop    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do it again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exit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place result in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POP  {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pc}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exit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77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967446"/>
              </p:ext>
            </p:extLst>
          </p:nvPr>
        </p:nvGraphicFramePr>
        <p:xfrm>
          <a:off x="2438400" y="1219200"/>
          <a:ext cx="7431088" cy="5334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7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main.c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(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count.s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counter;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void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increment();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main(void)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 = 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(1);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increment();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 =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while(1);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increment(){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counter += 2;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AREA count, CODE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IMPORT counter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ALIGN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EXPORT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BX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EXPORT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BX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increment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EXPORT increment [WEAK]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ADD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BX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END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49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Calling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67858"/>
              </p:ext>
            </p:extLst>
          </p:nvPr>
        </p:nvGraphicFramePr>
        <p:xfrm>
          <a:off x="2133600" y="1752601"/>
          <a:ext cx="7620000" cy="416244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90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00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main.s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strlen.c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5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my_strlen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EXPORT __main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ALIGN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ENTRY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stop    B     stop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ALIGN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     DCB   "12345678",0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END 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(char *s){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0;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while( s[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!= '\0')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++;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return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346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Accessing Data Defined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663800"/>
              </p:ext>
            </p:extLst>
          </p:nvPr>
        </p:nvGraphicFramePr>
        <p:xfrm>
          <a:off x="2137664" y="1321632"/>
          <a:ext cx="7391400" cy="474326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7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942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main, CODE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EXPORT  __main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increment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ALIGN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ENTRY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  MOVS  r0,#1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increment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stop    B     stop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EXPORT 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counter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0		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END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counter;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return counter;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increment()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counter++;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counter = c;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099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1246</TotalTime>
  <Words>1563</Words>
  <Application>Microsoft Office PowerPoint</Application>
  <PresentationFormat>Widescreen</PresentationFormat>
  <Paragraphs>412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Bookman Old Style (Headings)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Dr. Yifeng Zhu Electrical and Computer Engineering University of Maine</vt:lpstr>
      <vt:lpstr>Basic Data Types in C</vt:lpstr>
      <vt:lpstr>Load and Store Data</vt:lpstr>
      <vt:lpstr>Struct</vt:lpstr>
      <vt:lpstr>Struct</vt:lpstr>
      <vt:lpstr>Struct</vt:lpstr>
      <vt:lpstr>Struct</vt:lpstr>
      <vt:lpstr>Struct</vt:lpstr>
      <vt:lpstr>Unaligned Accesses </vt:lpstr>
      <vt:lpstr>Struct</vt:lpstr>
      <vt:lpstr>Static Variables</vt:lpstr>
      <vt:lpstr>Static Variables</vt:lpstr>
      <vt:lpstr>Static Variables</vt:lpstr>
      <vt:lpstr>C Calling Assembly</vt:lpstr>
      <vt:lpstr>Accessing C Variables</vt:lpstr>
      <vt:lpstr>Assembly Calling C</vt:lpstr>
      <vt:lpstr>Accessing Data Defined in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83</cp:revision>
  <dcterms:created xsi:type="dcterms:W3CDTF">2014-04-18T01:28:58Z</dcterms:created>
  <dcterms:modified xsi:type="dcterms:W3CDTF">2025-09-25T00:31:25Z</dcterms:modified>
</cp:coreProperties>
</file>