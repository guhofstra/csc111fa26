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2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77" r:id="rId11"/>
    <p:sldId id="278" r:id="rId12"/>
    <p:sldId id="257" r:id="rId13"/>
    <p:sldId id="268" r:id="rId14"/>
    <p:sldId id="258" r:id="rId15"/>
    <p:sldId id="270" r:id="rId16"/>
    <p:sldId id="260" r:id="rId17"/>
    <p:sldId id="279" r:id="rId18"/>
    <p:sldId id="273" r:id="rId19"/>
    <p:sldId id="275" r:id="rId20"/>
    <p:sldId id="272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86667" autoAdjust="0"/>
  </p:normalViewPr>
  <p:slideViewPr>
    <p:cSldViewPr>
      <p:cViewPr varScale="1">
        <p:scale>
          <a:sx n="138" d="100"/>
          <a:sy n="138" d="100"/>
        </p:scale>
        <p:origin x="397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F56A7-3CDE-194F-B9AF-D598FBBF198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1097CB-F954-3545-B5D0-357D0C1748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4066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AD58-60CE-E948-9CBA-0BD7030FC28E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24DF53-3DD3-9F45-9E7E-472B96F1AB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638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625600" y="3886200"/>
            <a:ext cx="9144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625600" y="5124450"/>
            <a:ext cx="9144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8E8B2B42-CBC2-7D4E-BA50-0E7F29B4DAAB}" type="datetime1">
              <a:rPr lang="en-US" smtClean="0"/>
              <a:t>9/24/2025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621536" y="6355080"/>
            <a:ext cx="16256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206500" y="3648075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3" name="Rectangle 32"/>
          <p:cNvSpPr/>
          <p:nvPr/>
        </p:nvSpPr>
        <p:spPr>
          <a:xfrm>
            <a:off x="1219200" y="5048250"/>
            <a:ext cx="97536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Rectangle 21"/>
          <p:cNvSpPr/>
          <p:nvPr/>
        </p:nvSpPr>
        <p:spPr>
          <a:xfrm>
            <a:off x="1206500" y="3648075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tangle 31"/>
          <p:cNvSpPr/>
          <p:nvPr/>
        </p:nvSpPr>
        <p:spPr>
          <a:xfrm>
            <a:off x="1219200" y="5048250"/>
            <a:ext cx="3048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A9E6F060-20EB-3246-9088-08BF5F1271DE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109728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600" y="2971800"/>
            <a:ext cx="9144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27200" y="4267200"/>
            <a:ext cx="90424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34400" y="6355080"/>
            <a:ext cx="3048000" cy="365760"/>
          </a:xfrm>
        </p:spPr>
        <p:txBody>
          <a:bodyPr/>
          <a:lstStyle/>
          <a:p>
            <a:pPr eaLnBrk="1" latinLnBrk="0" hangingPunct="1"/>
            <a:fld id="{34C82E41-DA7E-CA4C-823B-C759BEA16CE8}" type="datetime1">
              <a:rPr lang="en-US" smtClean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864864" y="6355080"/>
            <a:ext cx="463296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26464" y="6355080"/>
            <a:ext cx="2027936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1219200" y="2819400"/>
            <a:ext cx="97536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1219200" y="2819400"/>
            <a:ext cx="3048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500C8B0-EB1A-0A41-B839-C4B99CD2225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219200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176264" y="1216152"/>
            <a:ext cx="5388864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85875"/>
            <a:ext cx="5386917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7601" y="1295400"/>
            <a:ext cx="5389033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F16605B-D952-1149-A111-28A5633BAE4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197600" y="2133600"/>
            <a:ext cx="53848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91109A1C-29B2-B04E-8365-C9D22C4AE842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2CE417B6-A42B-064A-8677-46C55C4F613A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32800" y="304800"/>
            <a:ext cx="33528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8432800" y="1219201"/>
            <a:ext cx="33528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E76F5AD-3F1F-7141-BC8A-012C5728BE2D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5220033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406400" y="304800"/>
            <a:ext cx="7620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00856"/>
            <a:ext cx="109728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905000"/>
            <a:ext cx="109728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219200"/>
            <a:ext cx="109728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9FA12B8-739E-4D47-A14C-180C3BC1086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609600" y="500856"/>
            <a:ext cx="24384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97D1259-3A46-254C-ADDB-B5DA4F1DF3DA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CA104EC-54AA-E04F-BDC0-22B4E88926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5814836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09600" y="1219200"/>
            <a:ext cx="109728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534400" y="6356350"/>
            <a:ext cx="3052064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CDD18CD8-E404-844E-A4BD-DF69B8E5881E}" type="datetime1">
              <a:rPr lang="en-US" smtClean="0"/>
              <a:t>9/24/2025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864864" y="6356350"/>
            <a:ext cx="46736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6864" y="6356350"/>
            <a:ext cx="26416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609600" y="6353175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609600" y="1143000"/>
            <a:ext cx="109728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sz="1800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590609" y="6447423"/>
            <a:ext cx="190849" cy="160419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Dr. Yifeng Zhu</a:t>
            </a:r>
            <a:br>
              <a:rPr lang="en-US" sz="2000" dirty="0"/>
            </a:br>
            <a:r>
              <a:rPr lang="en-US" sz="2000" dirty="0"/>
              <a:t>Electrical and Computer Engineering</a:t>
            </a:r>
            <a:br>
              <a:rPr lang="en-US" sz="2000" dirty="0"/>
            </a:br>
            <a:r>
              <a:rPr lang="en-US" sz="2000" dirty="0"/>
              <a:t>University of Maine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Fall 2025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572000" y="553819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2140803"/>
            <a:ext cx="61800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>
                <a:solidFill>
                  <a:srgbClr val="C00000"/>
                </a:solidFill>
              </a:rPr>
              <a:t>Chapter 13</a:t>
            </a:r>
            <a:endParaRPr lang="en-US" sz="2400" b="1" dirty="0">
              <a:solidFill>
                <a:srgbClr val="C00000"/>
              </a:solidFill>
            </a:endParaRP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Fixed-point and Floating-point Arithmetic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683281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Precision/Resolution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286000" y="1752600"/>
            <a:ext cx="7924800" cy="35661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rgbClr val="C00000"/>
                </a:solidFill>
              </a:rPr>
              <a:t>There's no sense in being precise when you don't even know what you're talking about.</a:t>
            </a:r>
          </a:p>
          <a:p>
            <a:pPr marL="0" indent="0">
              <a:buNone/>
            </a:pPr>
            <a:endParaRPr lang="en-US" dirty="0">
              <a:solidFill>
                <a:srgbClr val="C00000"/>
              </a:solidFill>
            </a:endParaRPr>
          </a:p>
          <a:p>
            <a:pPr marL="0" indent="0" algn="r">
              <a:buNone/>
            </a:pPr>
            <a:r>
              <a:rPr lang="en-US" dirty="0"/>
              <a:t>John von Neumann</a:t>
            </a:r>
          </a:p>
          <a:p>
            <a:pPr marL="0" indent="0" algn="r">
              <a:buNone/>
            </a:pPr>
            <a:r>
              <a:rPr lang="en-US" dirty="0"/>
              <a:t>mathematician, computer scientist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3718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676400" y="4793158"/>
            <a:ext cx="678859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We can convert 10.746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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en-US" altLang="zh-CN" sz="2000" baseline="30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6</a:t>
            </a:r>
            <a:r>
              <a:rPr lang="en-US" altLang="zh-CN" sz="2000" dirty="0">
                <a:latin typeface="Palatino Linotype" pitchFamily="18" charset="0"/>
                <a:ea typeface="宋体" pitchFamily="2" charset="-122"/>
                <a:cs typeface="Times New Roman" pitchFamily="18" charset="0"/>
                <a:sym typeface="Symbol" pitchFamily="18" charset="2"/>
              </a:rPr>
              <a:t> to normalized format as follows:</a:t>
            </a:r>
            <a:endParaRPr lang="en-US" altLang="zh-CN" sz="1050" dirty="0">
              <a:latin typeface="Arial" pitchFamily="34" charset="0"/>
              <a:cs typeface="Arial" pitchFamily="34" charset="0"/>
              <a:sym typeface="Symbol" pitchFamily="18" charset="2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zh-CN" sz="2000" dirty="0">
              <a:latin typeface="Palatino Linotype" pitchFamily="18" charset="0"/>
              <a:ea typeface="宋体" pitchFamily="2" charset="-122"/>
              <a:cs typeface="Times New Roman" pitchFamily="18" charset="0"/>
              <a:sym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5"/>
              <p:cNvSpPr txBox="1"/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10.746×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10.746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×8×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solidFill>
                            <a:srgbClr val="FF00FF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34325</m:t>
                      </m:r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89325" y="5334000"/>
                <a:ext cx="4905375" cy="7112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117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9361" y="1219201"/>
            <a:ext cx="5396929" cy="3343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87797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35890"/>
            <a:ext cx="8487310" cy="990600"/>
          </a:xfrm>
        </p:spPr>
        <p:txBody>
          <a:bodyPr/>
          <a:lstStyle/>
          <a:p>
            <a:r>
              <a:rPr lang="en-US" dirty="0"/>
              <a:t>IEEE Standard 754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057400" y="4267200"/>
                <a:ext cx="8382000" cy="18585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IEEE 754 value: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×(1+</m:t>
                      </m:r>
                      <m:r>
                        <a:rPr lang="en-US" sz="2400" i="1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sz="2400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where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127</a:t>
                </a:r>
                <a:r>
                  <a:rPr lang="en-US" dirty="0"/>
                  <a:t> for single precision </a:t>
                </a:r>
              </a:p>
              <a:p>
                <a:r>
                  <a:rPr lang="en-US" dirty="0"/>
                  <a:t>          Bias = </a:t>
                </a:r>
                <a:r>
                  <a:rPr lang="en-US" b="1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1023</a:t>
                </a:r>
                <a:r>
                  <a:rPr lang="en-US" dirty="0"/>
                  <a:t> for double precision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4267200"/>
                <a:ext cx="8382000" cy="1858586"/>
              </a:xfrm>
              <a:prstGeom prst="rect">
                <a:avLst/>
              </a:prstGeom>
              <a:blipFill>
                <a:blip r:embed="rId2"/>
                <a:stretch>
                  <a:fillRect l="-756" t="-1361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7934" y="1600200"/>
            <a:ext cx="8771467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69434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524001"/>
            <a:ext cx="6353507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0065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3886200"/>
                <a:ext cx="8229600" cy="2270760"/>
              </a:xfrm>
            </p:spPr>
            <p:txBody>
              <a:bodyPr/>
              <a:lstStyle/>
              <a:p>
                <a:r>
                  <a:rPr lang="en-US" dirty="0"/>
                  <a:t>Sign = 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</a:p>
              <a:p>
                <a:r>
                  <a:rPr lang="en-US" dirty="0"/>
                  <a:t>Exponent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10000011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=131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Fraction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0.1111111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3886200"/>
                <a:ext cx="8229600" cy="2270760"/>
              </a:xfrm>
              <a:blipFill>
                <a:blip r:embed="rId2"/>
                <a:stretch>
                  <a:fillRect l="-770" t="-2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1" y="1524001"/>
            <a:ext cx="6353507" cy="166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6628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dirty="0"/>
                  <a:t>Fraction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>
                              <a:latin typeface="Cambria Math"/>
                            </a:rPr>
                            <m:t>0.1111111</m:t>
                          </m:r>
                        </m:e>
                        <m:sub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1900" i="1">
                          <a:latin typeface="Cambria Math"/>
                        </a:rPr>
                        <m:t>=</m:t>
                      </m:r>
                      <m:r>
                        <a:rPr lang="en-US" sz="1900" i="1">
                          <a:latin typeface="Cambria Math"/>
                        </a:rPr>
                        <m:t>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−1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−2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−3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−4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−5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−6</m:t>
                          </m:r>
                        </m:sup>
                      </m:sSup>
                      <m:r>
                        <a:rPr lang="en-US" sz="1900" i="1">
                          <a:latin typeface="Cambria Math"/>
                        </a:rPr>
                        <m:t>+1×</m:t>
                      </m:r>
                      <m:sSup>
                        <m:sSupPr>
                          <m:ctrlPr>
                            <a:rPr lang="en-US" sz="19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1900" i="1">
                              <a:latin typeface="Cambria Math"/>
                            </a:rPr>
                            <m:t>−7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1900" i="1">
                          <a:latin typeface="Cambria Math"/>
                        </a:rPr>
                        <m:t>=</m:t>
                      </m:r>
                      <m:r>
                        <a:rPr lang="en-US" sz="1900" i="1">
                          <a:latin typeface="Cambria Math"/>
                        </a:rPr>
                        <m:t>0.5+0.25+0.125+0.0625+0.03125+0.015625+0.078125</m:t>
                      </m:r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1900" i="1">
                          <a:latin typeface="Cambria Math"/>
                        </a:rPr>
                        <m:t>=</m:t>
                      </m:r>
                      <m:r>
                        <a:rPr lang="en-US" sz="1900" i="1">
                          <a:latin typeface="Cambria Math"/>
                        </a:rPr>
                        <m:t>0.9921875</m:t>
                      </m:r>
                    </m:oMath>
                  </m:oMathPara>
                </a14:m>
                <a:endParaRPr lang="en-US" sz="19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0" y="3962400"/>
                <a:ext cx="9144000" cy="2270760"/>
              </a:xfrm>
              <a:blipFill>
                <a:blip r:embed="rId2"/>
                <a:stretch>
                  <a:fillRect l="-555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314449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58537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Decoding </a:t>
            </a:r>
            <a:r>
              <a:rPr lang="en-US" sz="36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0xC1FF0000</a:t>
            </a:r>
            <a:r>
              <a:rPr lang="en-US" sz="3600" b="1" dirty="0"/>
              <a:t> </a:t>
            </a:r>
            <a:br>
              <a:rPr lang="en-US" b="1" dirty="0"/>
            </a:br>
            <a:r>
              <a:rPr lang="en-US" b="1" dirty="0"/>
              <a:t>into a floating-point number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0" y="3962400"/>
                <a:ext cx="9144000" cy="227076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/>
                        </a:rPr>
                        <m:t>𝑓</m:t>
                      </m:r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</m:t>
                          </m:r>
                          <m:r>
                            <a:rPr lang="en-US" sz="2400" i="1">
                              <a:latin typeface="Cambria Math"/>
                            </a:rPr>
                            <m:t>𝐹𝑟𝑎𝑐𝑡𝑖𝑜𝑛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sz="2400" i="1">
                              <a:latin typeface="Cambria Math"/>
                            </a:rPr>
                            <m:t>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1+0.9921875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131−127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−1×1.9921875×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4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i="1">
                          <a:latin typeface="Cambria Math"/>
                        </a:rPr>
                        <m:t>=</m:t>
                      </m:r>
                      <m:r>
                        <a:rPr lang="en-US" sz="2400" i="1">
                          <a:latin typeface="Cambria Math"/>
                        </a:rPr>
                        <m:t>−31.875</m:t>
                      </m:r>
                    </m:oMath>
                  </m:oMathPara>
                </a14:m>
                <a:endParaRPr lang="en-US" sz="2400" dirty="0"/>
              </a:p>
              <a:p>
                <a:endParaRPr lang="en-US" sz="1800" dirty="0"/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0" y="3962400"/>
                <a:ext cx="9144000" cy="227076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1314449"/>
            <a:ext cx="6705600" cy="1935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6248400" y="2590801"/>
            <a:ext cx="152400" cy="659465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791200" y="3250265"/>
            <a:ext cx="1258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0.9921875</a:t>
            </a:r>
          </a:p>
        </p:txBody>
      </p:sp>
    </p:spTree>
    <p:extLst>
      <p:ext uri="{BB962C8B-B14F-4D97-AF65-F5344CB8AC3E}">
        <p14:creationId xmlns:p14="http://schemas.microsoft.com/office/powerpoint/2010/main" val="1780392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Encoding </a:t>
            </a:r>
            <a:r>
              <a:rPr lang="en-US" b="1" dirty="0">
                <a:solidFill>
                  <a:srgbClr val="C00000"/>
                </a:solidFill>
              </a:rPr>
              <a:t>14.5</a:t>
            </a:r>
            <a:r>
              <a:rPr lang="en-US" b="1" dirty="0"/>
              <a:t> into IEEE </a:t>
            </a:r>
            <a:r>
              <a:rPr lang="en-US" b="1" dirty="0" err="1"/>
              <a:t>Std</a:t>
            </a:r>
            <a:r>
              <a:rPr lang="en-US" b="1" dirty="0"/>
              <a:t> 754 Single-Precision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981200" y="2819400"/>
                <a:ext cx="8229600" cy="3337560"/>
              </a:xfrm>
            </p:spPr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𝑆𝑖𝑔𝑛</m:t>
                    </m:r>
                    <m:r>
                      <a:rPr lang="en-US" b="0" i="1" smtClean="0">
                        <a:latin typeface="Cambria Math"/>
                      </a:rPr>
                      <m:t>=0</m:t>
                    </m:r>
                  </m:oMath>
                </a14:m>
                <a:endParaRPr lang="en-US" b="0" i="1" dirty="0">
                  <a:solidFill>
                    <a:srgbClr val="C00000"/>
                  </a:solidFill>
                  <a:latin typeface="Cambria Math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𝐸𝑥𝑝𝑜𝑛𝑒𝑛𝑡</m:t>
                    </m:r>
                    <m:r>
                      <m:rPr>
                        <m:aln/>
                      </m:rPr>
                      <a:rPr lang="en-US" i="1">
                        <a:latin typeface="Cambria Math"/>
                      </a:rPr>
                      <m:t>=</m:t>
                    </m:r>
                    <m:r>
                      <a:rPr lang="en-US" i="1">
                        <a:latin typeface="Cambria Math"/>
                      </a:rPr>
                      <m:t>3+127=130=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0000FF"/>
                            </a:solidFill>
                            <a:latin typeface="Cambria Math"/>
                          </a:rPr>
                          <m:t>1000010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𝐹𝑟𝑎𝑐𝑡𝑖𝑜𝑛</m:t>
                    </m:r>
                    <m:r>
                      <a:rPr lang="en-US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/>
                          </a:rPr>
                          <m:t>0.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1101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0.8125×2=1.625=1+0.625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0.625×2=1.25=1+0.25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0.25×2=0.5=0+0.5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0.5×2=1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14.5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C0000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en-US" dirty="0">
                    <a:solidFill>
                      <a:srgbClr val="0000FF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10000010</a:t>
                </a:r>
                <a:r>
                  <a:rPr lang="en-US" dirty="0">
                    <a:solidFill>
                      <a:srgbClr val="00B050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11010000000000000000000</a:t>
                </a:r>
                <a:r>
                  <a:rPr lang="en-US" dirty="0"/>
                  <a:t> in binary or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0x41680000</a:t>
                </a:r>
                <a:r>
                  <a:rPr lang="en-US" dirty="0"/>
                  <a:t> in hex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981200" y="2819400"/>
                <a:ext cx="8229600" cy="3337560"/>
              </a:xfrm>
              <a:blipFill>
                <a:blip r:embed="rId2"/>
                <a:stretch>
                  <a:fillRect l="-462" b="-3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505200" y="1524001"/>
                <a:ext cx="4572000" cy="523285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/>
                        </a:rPr>
                        <m:t>14.5=1.8125×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br>
                  <a:rPr lang="en-US" sz="2800" i="1" dirty="0">
                    <a:latin typeface="Cambria Math"/>
                  </a:rPr>
                </a:br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1524001"/>
                <a:ext cx="4572000" cy="523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905001" y="1211762"/>
            <a:ext cx="2095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Normalization: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4922899" y="2118842"/>
                <a:ext cx="326570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(1+0.8125)×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2899" y="2118842"/>
                <a:ext cx="3265702" cy="523220"/>
              </a:xfrm>
              <a:prstGeom prst="rect">
                <a:avLst/>
              </a:prstGeom>
              <a:blipFill>
                <a:blip r:embed="rId4"/>
                <a:stretch>
                  <a:fillRect b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386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Special Values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Exponents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00000000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111111111</a:t>
            </a:r>
            <a:r>
              <a:rPr lang="en-US" dirty="0"/>
              <a:t> are reserved.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905000"/>
            <a:ext cx="8687616" cy="269129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/>
              <p:cNvSpPr txBox="1">
                <a:spLocks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</p:spPr>
            <p:txBody>
              <a:bodyPr vert="horz">
                <a:normAutofit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Example of Not-A-Number (</a:t>
                </a:r>
                <a:r>
                  <a:rPr lang="en-US" dirty="0" err="1"/>
                  <a:t>NaN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log(-10.0), </a:t>
                </a:r>
                <a:r>
                  <a:rPr lang="en-US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sqrt</a:t>
                </a:r>
                <a:r>
                  <a:rPr lang="en-US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(-1.0), 0.0/0.0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∞+∞</m:t>
                    </m:r>
                  </m:oMath>
                </a14:m>
                <a:r>
                  <a:rPr lang="en-US" dirty="0"/>
                  <a:t>, </a:t>
                </a:r>
              </a:p>
            </p:txBody>
          </p:sp>
        </mc:Choice>
        <mc:Fallback xmlns="">
          <p:sp>
            <p:nvSpPr>
              <p:cNvPr id="8" name="Content Placeholder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3600" y="4795684"/>
                <a:ext cx="8229600" cy="1513676"/>
              </a:xfrm>
              <a:prstGeom prst="rect">
                <a:avLst/>
              </a:prstGeom>
              <a:blipFill>
                <a:blip r:embed="rId3"/>
                <a:stretch>
                  <a:fillRect l="-770" t="-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0635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Subnormalized</a:t>
            </a:r>
            <a:r>
              <a:rPr lang="en-US" dirty="0"/>
              <a:t> Float Number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 represent numbers between 0 and the minimum positive number that the normalized format can represent.</a:t>
            </a:r>
          </a:p>
          <a:p>
            <a:r>
              <a:rPr lang="en-US" b="1" dirty="0">
                <a:solidFill>
                  <a:srgbClr val="C00000"/>
                </a:solidFill>
              </a:rPr>
              <a:t>Normalized Format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Sub-normalized</a:t>
            </a:r>
            <a:r>
              <a:rPr lang="en-US" dirty="0"/>
              <a:t> Format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−126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1524" y="4609707"/>
                <a:ext cx="4721352" cy="52463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  <m:r>
                        <a:rPr lang="en-US" sz="280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800" b="1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𝐹𝑟𝑎𝑐𝑡𝑖𝑜𝑛</m:t>
                      </m:r>
                      <m:r>
                        <a:rPr lang="en-US" sz="2800">
                          <a:latin typeface="Cambria Math" panose="02040503050406030204" pitchFamily="18" charset="0"/>
                        </a:rPr>
                        <m:t>)×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Exponent</m:t>
                          </m:r>
                          <m:r>
                            <a:rPr lang="en-US" sz="28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−12</m:t>
                          </m:r>
                          <m: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3157166"/>
                <a:ext cx="6400800" cy="5309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5936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914400" y="3894599"/>
            <a:ext cx="4020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/>
                            </a:rPr>
                            <m:t>1+0</m:t>
                          </m:r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1−127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−126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≈1.18×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−38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0" y="4357457"/>
                <a:ext cx="7924800" cy="462884"/>
              </a:xfrm>
              <a:prstGeom prst="rect">
                <a:avLst/>
              </a:prstGeom>
              <a:blipFill>
                <a:blip r:embed="rId2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ED135A4-909F-AADF-12B6-5EC390DC68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667" y="3903066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0 00000001 00000000000000000000000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8DD6A-EABD-D849-E186-3BBF3A26889B}"/>
              </a:ext>
            </a:extLst>
          </p:cNvPr>
          <p:cNvSpPr/>
          <p:nvPr/>
        </p:nvSpPr>
        <p:spPr>
          <a:xfrm>
            <a:off x="986197" y="5133941"/>
            <a:ext cx="43486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Smallest Positive Subnormal Number: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/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p>
                          </m:sSup>
                        </m:e>
                      </m:d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1−127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49</m:t>
                          </m:r>
                        </m:sup>
                      </m:sSup>
                      <m:r>
                        <a:rPr lang="en-US" sz="2400" i="1">
                          <a:latin typeface="Cambria Math"/>
                        </a:rPr>
                        <m:t>≈1.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40</m:t>
                      </m:r>
                      <m:r>
                        <a:rPr lang="en-US" sz="24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400" i="1">
                              <a:latin typeface="Cambria Math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45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52E38EF7-3D4F-9C94-DA2E-235D2C83DE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97" y="5596799"/>
                <a:ext cx="7924800" cy="462884"/>
              </a:xfrm>
              <a:prstGeom prst="rect">
                <a:avLst/>
              </a:prstGeom>
              <a:blipFill>
                <a:blip r:embed="rId4"/>
                <a:stretch>
                  <a:fillRect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1">
            <a:extLst>
              <a:ext uri="{FF2B5EF4-FFF2-40B4-BE49-F238E27FC236}">
                <a16:creationId xmlns:a16="http://schemas.microsoft.com/office/drawing/2014/main" id="{AB9677DD-76A7-FE8E-2204-92013C8F3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5133941"/>
            <a:ext cx="4616970" cy="369332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Consolas" panose="020B0609020204030204" pitchFamily="49" charset="0"/>
              </a:rPr>
              <a:t>0 00000000 00000000000000000000001 </a:t>
            </a:r>
          </a:p>
        </p:txBody>
      </p:sp>
    </p:spTree>
    <p:extLst>
      <p:ext uri="{BB962C8B-B14F-4D97-AF65-F5344CB8AC3E}">
        <p14:creationId xmlns:p14="http://schemas.microsoft.com/office/powerpoint/2010/main" val="42187115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Overflow and Underflow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5" name="Rectangle 4"/>
          <p:cNvSpPr/>
          <p:nvPr/>
        </p:nvSpPr>
        <p:spPr>
          <a:xfrm>
            <a:off x="1981199" y="4565025"/>
            <a:ext cx="32412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Numbers farthest from zero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187539" y="5346328"/>
                <a:ext cx="8305800" cy="439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×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/>
                            </a:rPr>
                            <m:t>1+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latin typeface="Cambria Math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/>
                                    </a:rPr>
                                    <m:t>−23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000" i="1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254−127</m:t>
                          </m:r>
                        </m:sup>
                      </m:sSup>
                      <m:r>
                        <a:rPr lang="en-US" sz="2000" i="1">
                          <a:latin typeface="Cambria Math"/>
                        </a:rPr>
                        <m:t>=±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128</m:t>
                              </m:r>
                            </m:sup>
                          </m:sSup>
                          <m:r>
                            <a:rPr lang="en-US" sz="20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/>
                                </a:rPr>
                                <m:t>104</m:t>
                              </m:r>
                            </m:sup>
                          </m:sSup>
                        </m:e>
                      </m:d>
                      <m:r>
                        <a:rPr lang="en-US" sz="2000" i="1">
                          <a:latin typeface="Cambria Math"/>
                        </a:rPr>
                        <m:t>≈±3.40×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sz="2000" i="1">
                              <a:latin typeface="Cambria Math"/>
                            </a:rPr>
                            <m:t>38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539" y="5346328"/>
                <a:ext cx="8305800" cy="439736"/>
              </a:xfrm>
              <a:prstGeom prst="rect">
                <a:avLst/>
              </a:prstGeom>
              <a:blipFill>
                <a:blip r:embed="rId2"/>
                <a:stretch>
                  <a:fillRect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523036"/>
            <a:ext cx="7696200" cy="2251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96828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95400"/>
            <a:ext cx="11049000" cy="4023360"/>
          </a:xfrm>
        </p:spPr>
        <p:txBody>
          <a:bodyPr/>
          <a:lstStyle/>
          <a:p>
            <a:r>
              <a:rPr lang="en-US" dirty="0"/>
              <a:t>Given a hypothetical five-bit floating-point system (similar to IEEE 754). </a:t>
            </a:r>
          </a:p>
          <a:p>
            <a:pPr lvl="1"/>
            <a:r>
              <a:rPr lang="en-US" dirty="0"/>
              <a:t>the sign bit, an exponent (2 bits), and a fraction (2 bits) </a:t>
            </a:r>
          </a:p>
          <a:p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2895600"/>
            <a:ext cx="9118287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1405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53153"/>
            <a:ext cx="8229600" cy="18288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IEEE 754 defines four different rounding rules: </a:t>
            </a:r>
          </a:p>
          <a:p>
            <a:pPr lvl="1"/>
            <a:r>
              <a:rPr lang="en-US" sz="2000" dirty="0"/>
              <a:t>round to the nearest value, </a:t>
            </a:r>
          </a:p>
          <a:p>
            <a:pPr lvl="1"/>
            <a:r>
              <a:rPr lang="en-US" sz="2000" dirty="0"/>
              <a:t>round toward zero (truncation), </a:t>
            </a:r>
          </a:p>
          <a:p>
            <a:pPr lvl="1"/>
            <a:r>
              <a:rPr lang="en-US" sz="2000" dirty="0"/>
              <a:t>round toward plus infinity (rounding up), and </a:t>
            </a:r>
          </a:p>
          <a:p>
            <a:pPr lvl="1"/>
            <a:r>
              <a:rPr lang="en-US" sz="2000" dirty="0"/>
              <a:t>round toward negative infinity (rounding down). </a:t>
            </a:r>
          </a:p>
          <a:p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7421814"/>
              </p:ext>
            </p:extLst>
          </p:nvPr>
        </p:nvGraphicFramePr>
        <p:xfrm>
          <a:off x="3505201" y="3657600"/>
          <a:ext cx="4648201" cy="2438400"/>
        </p:xfrm>
        <a:graphic>
          <a:graphicData uri="http://schemas.openxmlformats.org/drawingml/2006/table">
            <a:tbl>
              <a:tblPr firstRow="1" firstCol="1" bandRow="1" bandCol="1">
                <a:tableStyleId>{5940675A-B579-460E-94D1-54222C63F5DA}</a:tableStyleId>
              </a:tblPr>
              <a:tblGrid>
                <a:gridCol w="1447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3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3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59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Rounding Rule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Data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Rounded Result</a:t>
                      </a:r>
                      <a:endParaRPr lang="en-US" sz="16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66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Nearest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59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Truncate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0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59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Rounding up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+0.12346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0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59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Rounding down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+0.12345</a:t>
                      </a:r>
                      <a:endParaRPr lang="en-US" sz="160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0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-0.12345</a:t>
                      </a:r>
                      <a:r>
                        <a:rPr lang="en-US" sz="16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  <a:endParaRPr lang="en-US" sz="1600" dirty="0"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-0.12346</a:t>
                      </a:r>
                      <a:endParaRPr lang="en-US" sz="1600" dirty="0"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752600" y="3192107"/>
            <a:ext cx="6705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Assume only 5 digits are allowed after the decimal point </a:t>
            </a:r>
          </a:p>
        </p:txBody>
      </p:sp>
    </p:spTree>
    <p:extLst>
      <p:ext uri="{BB962C8B-B14F-4D97-AF65-F5344CB8AC3E}">
        <p14:creationId xmlns:p14="http://schemas.microsoft.com/office/powerpoint/2010/main" val="3558897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Rounding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7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4038600"/>
            <a:ext cx="8229600" cy="205740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0, directly truncate and remove bits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m+2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m+2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···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endParaRPr 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1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1, round up</a:t>
            </a:r>
          </a:p>
          <a:p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1 and </a:t>
            </a:r>
            <a:r>
              <a:rPr lang="en-US" sz="18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8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S</a:t>
            </a:r>
            <a:r>
              <a:rPr lang="en-US" sz="18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= 0, round to even</a:t>
            </a: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 0,  directly truncate and remove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m+2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m+2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···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endParaRPr lang="en-US" sz="1600" baseline="-25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en-US" sz="1600" baseline="-25000" dirty="0" err="1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lang="en-US" sz="1600" baseline="-25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 1,  round up</a:t>
            </a:r>
          </a:p>
          <a:p>
            <a:endParaRPr lang="en-US" sz="18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328739"/>
            <a:ext cx="8077200" cy="2325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644441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0E44E-3998-7A98-277C-C3AF1B68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8B30C-B919-7609-E527-201569207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381000"/>
            <a:ext cx="8737718" cy="573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34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Rounding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3254810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Fraction of result has 25 bits. </a:t>
            </a:r>
          </a:p>
          <a:p>
            <a:r>
              <a:rPr lang="en-US" sz="2000" dirty="0"/>
              <a:t>Rounded to 23 bits by removing round bit and sticky bit</a:t>
            </a:r>
          </a:p>
          <a:p>
            <a:r>
              <a:rPr lang="en-US" sz="2000" dirty="0"/>
              <a:t>Example: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</a:t>
            </a: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698" y="1315642"/>
            <a:ext cx="5724603" cy="1666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276600" y="5247827"/>
            <a:ext cx="52629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1,01111111,11111111111111111111110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+ 1,01111101,00000000000000000000001</a:t>
            </a:r>
            <a:endParaRPr lang="en-US" sz="2000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 rot="16200000">
            <a:off x="6636571" y="3590020"/>
            <a:ext cx="304800" cy="3186056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019799" y="4661316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23-bit fraction</a:t>
            </a:r>
          </a:p>
        </p:txBody>
      </p:sp>
    </p:spTree>
    <p:extLst>
      <p:ext uri="{BB962C8B-B14F-4D97-AF65-F5344CB8AC3E}">
        <p14:creationId xmlns:p14="http://schemas.microsoft.com/office/powerpoint/2010/main" val="4138874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Rounding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03098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Example: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5145" y="2194426"/>
            <a:ext cx="4743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1,01111111,11111111111111111111110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+ 1,01111110,00000000000000000000001</a:t>
            </a:r>
          </a:p>
        </p:txBody>
      </p:sp>
      <p:sp>
        <p:nvSpPr>
          <p:cNvPr id="6" name="Right Brace 5"/>
          <p:cNvSpPr/>
          <p:nvPr/>
        </p:nvSpPr>
        <p:spPr>
          <a:xfrm rot="16200000">
            <a:off x="6248400" y="681846"/>
            <a:ext cx="304800" cy="28956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562600" y="1607914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23-bit fraction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438400" y="2956425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320540" y="3072095"/>
            <a:ext cx="44518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1.11111111111111111111111×2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127-127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+ 1.00000000000000000000001×2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126-127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2438400" y="3870825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320540" y="3947026"/>
            <a:ext cx="402706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1.11111111111111111111110×2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+ 1.00000000000000000000001×2</a:t>
            </a:r>
            <a:r>
              <a:rPr lang="en-US" baseline="30000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2438400" y="4632825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320541" y="4709026"/>
            <a:ext cx="40687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1.11111111111111111111110×2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+ 0.10000000000000000000000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438400" y="5394825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297149" y="5471025"/>
            <a:ext cx="40687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10.01111111111111111111110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dirty="0"/>
          </a:p>
        </p:txBody>
      </p:sp>
      <p:sp>
        <p:nvSpPr>
          <p:cNvPr id="18" name="Right Brace 17"/>
          <p:cNvSpPr/>
          <p:nvPr/>
        </p:nvSpPr>
        <p:spPr>
          <a:xfrm rot="16200000">
            <a:off x="4191000" y="1590542"/>
            <a:ext cx="304800" cy="10668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733800" y="1600200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 bit exponent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25554" y="5850044"/>
            <a:ext cx="4280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1.001111111111111111111111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2438400" y="5850044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rved Left Arrow 22"/>
          <p:cNvSpPr/>
          <p:nvPr/>
        </p:nvSpPr>
        <p:spPr>
          <a:xfrm>
            <a:off x="7347604" y="4392557"/>
            <a:ext cx="272396" cy="838200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39692" y="4662858"/>
            <a:ext cx="191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Shift Right to Align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6093860" y="152401"/>
                <a:ext cx="4267066" cy="3782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(−1)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𝑆</m:t>
                          </m:r>
                        </m:sup>
                      </m:sSup>
                      <m:r>
                        <a:rPr lang="en-US" i="1">
                          <a:latin typeface="Cambria Math"/>
                        </a:rPr>
                        <m:t>×(1+</m:t>
                      </m:r>
                      <m:r>
                        <a:rPr lang="en-US" i="1">
                          <a:solidFill>
                            <a:srgbClr val="C00000"/>
                          </a:solidFill>
                          <a:latin typeface="Cambria Math"/>
                        </a:rPr>
                        <m:t>𝐹𝑟𝑎𝑐𝑡𝑖𝑜𝑛</m:t>
                      </m:r>
                      <m:r>
                        <a:rPr lang="en-US" i="1">
                          <a:latin typeface="Cambria Math"/>
                        </a:rPr>
                        <m:t>)×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/>
                            </a:rPr>
                            <m:t>2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00FF"/>
                              </a:solidFill>
                              <a:latin typeface="Cambria Math"/>
                            </a:rPr>
                            <m:t>𝐸𝑥𝑝𝑜𝑛𝑒𝑛𝑡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latin typeface="Cambria Math"/>
                            </a:rPr>
                            <m:t>𝐵𝑖𝑎𝑠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860" y="152401"/>
                <a:ext cx="4267066" cy="378245"/>
              </a:xfrm>
              <a:prstGeom prst="rect">
                <a:avLst/>
              </a:prstGeom>
              <a:blipFill>
                <a:blip r:embed="rId2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/>
          <p:cNvSpPr txBox="1"/>
          <p:nvPr/>
        </p:nvSpPr>
        <p:spPr>
          <a:xfrm>
            <a:off x="7620000" y="588437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Re-normalize</a:t>
            </a:r>
          </a:p>
        </p:txBody>
      </p:sp>
      <p:sp>
        <p:nvSpPr>
          <p:cNvPr id="27" name="Right Brace 26"/>
          <p:cNvSpPr/>
          <p:nvPr/>
        </p:nvSpPr>
        <p:spPr>
          <a:xfrm rot="5400000">
            <a:off x="5372100" y="4610100"/>
            <a:ext cx="304800" cy="32766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132160" y="6400800"/>
            <a:ext cx="8114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25 bits</a:t>
            </a:r>
          </a:p>
        </p:txBody>
      </p:sp>
    </p:spTree>
    <p:extLst>
      <p:ext uri="{BB962C8B-B14F-4D97-AF65-F5344CB8AC3E}">
        <p14:creationId xmlns:p14="http://schemas.microsoft.com/office/powerpoint/2010/main" val="2103323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7" grpId="0"/>
      <p:bldP spid="20" grpId="0"/>
      <p:bldP spid="23" grpId="0" animBg="1"/>
      <p:bldP spid="24" grpId="0"/>
      <p:bldP spid="26" grpId="0"/>
      <p:bldP spid="27" grpId="0" animBg="1"/>
      <p:bldP spid="2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Rounding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82926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Fraction of result has 25 bits. </a:t>
            </a:r>
          </a:p>
          <a:p>
            <a:r>
              <a:rPr lang="en-US" sz="2000" dirty="0"/>
              <a:t>Rounded to 23 bits by removing round bit and sticky bit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3355806" y="2607913"/>
            <a:ext cx="5006502" cy="1269831"/>
            <a:chOff x="2232498" y="4267200"/>
            <a:chExt cx="5006502" cy="1269831"/>
          </a:xfrm>
        </p:grpSpPr>
        <p:sp>
          <p:nvSpPr>
            <p:cNvPr id="5" name="TextBox 4"/>
            <p:cNvSpPr txBox="1"/>
            <p:nvPr/>
          </p:nvSpPr>
          <p:spPr>
            <a:xfrm>
              <a:off x="2232498" y="4267200"/>
              <a:ext cx="45576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-1.</a:t>
              </a:r>
              <a:r>
                <a:rPr lang="en-US" sz="2000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0011111111111111111111</a:t>
              </a:r>
              <a:r>
                <a:rPr lang="en-US" sz="20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b="1" dirty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b="1" dirty="0">
                  <a:solidFill>
                    <a:srgbClr val="FF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</a:p>
          </p:txBody>
        </p:sp>
        <p:sp>
          <p:nvSpPr>
            <p:cNvPr id="6" name="Right Brace 5"/>
            <p:cNvSpPr/>
            <p:nvPr/>
          </p:nvSpPr>
          <p:spPr>
            <a:xfrm rot="5400000">
              <a:off x="4183828" y="3217859"/>
              <a:ext cx="304800" cy="3186056"/>
            </a:xfrm>
            <a:prstGeom prst="rightBrace">
              <a:avLst>
                <a:gd name="adj1" fmla="val 40098"/>
                <a:gd name="adj2" fmla="val 50000"/>
              </a:avLst>
            </a:prstGeom>
            <a:ln w="1905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588638" y="5029200"/>
              <a:ext cx="1516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FF"/>
                  </a:solidFill>
                </a:rPr>
                <a:t>23-bit fraction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791200" y="4890700"/>
              <a:ext cx="7447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0000FF"/>
                  </a:solidFill>
                </a:rPr>
                <a:t>round</a:t>
              </a:r>
            </a:p>
            <a:p>
              <a:pPr algn="ctr"/>
              <a:r>
                <a:rPr lang="en-US" dirty="0">
                  <a:solidFill>
                    <a:srgbClr val="0000FF"/>
                  </a:solidFill>
                </a:rPr>
                <a:t>bit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 flipV="1">
              <a:off x="6163578" y="4667310"/>
              <a:ext cx="8622" cy="223391"/>
            </a:xfrm>
            <a:prstGeom prst="straightConnector1">
              <a:avLst/>
            </a:prstGeom>
            <a:ln w="19050">
              <a:solidFill>
                <a:srgbClr val="0000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flipH="1" flipV="1">
              <a:off x="6535956" y="4658487"/>
              <a:ext cx="101774" cy="23221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6424973" y="4876800"/>
              <a:ext cx="814027" cy="6602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FF0000"/>
                  </a:solidFill>
                </a:rPr>
                <a:t>sticky</a:t>
              </a:r>
            </a:p>
            <a:p>
              <a:pPr algn="ctr"/>
              <a:r>
                <a:rPr lang="en-US" dirty="0">
                  <a:solidFill>
                    <a:srgbClr val="FF0000"/>
                  </a:solidFill>
                </a:rPr>
                <a:t>bit</a:t>
              </a:r>
            </a:p>
          </p:txBody>
        </p:sp>
      </p:grpSp>
      <p:sp>
        <p:nvSpPr>
          <p:cNvPr id="7" name="Rectangle 6"/>
          <p:cNvSpPr/>
          <p:nvPr/>
        </p:nvSpPr>
        <p:spPr>
          <a:xfrm>
            <a:off x="2316336" y="4130532"/>
            <a:ext cx="7559328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 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round bit b</a:t>
            </a:r>
            <a:r>
              <a:rPr lang="en-US" b="1" baseline="-25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m+1</a:t>
            </a:r>
            <a:r>
              <a:rPr lang="en-US" b="1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0, directly truncate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3398000" y="5169892"/>
            <a:ext cx="3993401" cy="1131332"/>
            <a:chOff x="1873999" y="4816867"/>
            <a:chExt cx="3993401" cy="1131332"/>
          </a:xfrm>
        </p:grpSpPr>
        <p:sp>
          <p:nvSpPr>
            <p:cNvPr id="17" name="TextBox 16"/>
            <p:cNvSpPr txBox="1"/>
            <p:nvPr/>
          </p:nvSpPr>
          <p:spPr>
            <a:xfrm>
              <a:off x="1873999" y="4816867"/>
              <a:ext cx="399340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-1.</a:t>
              </a:r>
              <a:r>
                <a:rPr lang="en-US" sz="2000" dirty="0">
                  <a:solidFill>
                    <a:srgbClr val="FF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0011111111111111111111</a:t>
              </a:r>
              <a:r>
                <a:rPr lang="en-US" sz="2000" b="1" dirty="0">
                  <a:solidFill>
                    <a:srgbClr val="00B05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en-US" sz="20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" name="Right Brace 17"/>
            <p:cNvSpPr/>
            <p:nvPr/>
          </p:nvSpPr>
          <p:spPr>
            <a:xfrm rot="5400000">
              <a:off x="3802828" y="3767526"/>
              <a:ext cx="304800" cy="3186056"/>
            </a:xfrm>
            <a:prstGeom prst="rightBrace">
              <a:avLst>
                <a:gd name="adj1" fmla="val 40098"/>
                <a:gd name="adj2" fmla="val 50000"/>
              </a:avLst>
            </a:prstGeom>
            <a:ln w="19050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3207638" y="5578867"/>
              <a:ext cx="15167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FF"/>
                  </a:solidFill>
                </a:rPr>
                <a:t>23-bit fraction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57DE8A2-03D4-494D-AA77-56D4BE12E683}"/>
              </a:ext>
            </a:extLst>
          </p:cNvPr>
          <p:cNvCxnSpPr>
            <a:cxnSpLocks/>
          </p:cNvCxnSpPr>
          <p:nvPr/>
        </p:nvCxnSpPr>
        <p:spPr>
          <a:xfrm flipH="1">
            <a:off x="7048294" y="2384523"/>
            <a:ext cx="247214" cy="277282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113C5F4-4E3A-D74B-8EDF-050005581DE7}"/>
              </a:ext>
            </a:extLst>
          </p:cNvPr>
          <p:cNvSpPr txBox="1"/>
          <p:nvPr/>
        </p:nvSpPr>
        <p:spPr>
          <a:xfrm>
            <a:off x="7225633" y="2057400"/>
            <a:ext cx="1008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guard bit</a:t>
            </a:r>
          </a:p>
        </p:txBody>
      </p:sp>
    </p:spTree>
    <p:extLst>
      <p:ext uri="{BB962C8B-B14F-4D97-AF65-F5344CB8AC3E}">
        <p14:creationId xmlns:p14="http://schemas.microsoft.com/office/powerpoint/2010/main" val="97416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Single-precision Rounding Example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09600" y="1296670"/>
            <a:ext cx="8229600" cy="2346960"/>
          </a:xfrm>
        </p:spPr>
        <p:txBody>
          <a:bodyPr>
            <a:normAutofit/>
          </a:bodyPr>
          <a:lstStyle/>
          <a:p>
            <a:r>
              <a:rPr lang="en-US" sz="2000" dirty="0"/>
              <a:t>Example: 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5145" y="2373869"/>
            <a:ext cx="4743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1,01111111,11111111111111111111110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+ 1,01111101,00000000000000000000001</a:t>
            </a:r>
            <a:endParaRPr lang="en-US" dirty="0">
              <a:solidFill>
                <a:srgbClr val="FF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6" name="Right Brace 5"/>
          <p:cNvSpPr/>
          <p:nvPr/>
        </p:nvSpPr>
        <p:spPr>
          <a:xfrm rot="16200000">
            <a:off x="6172200" y="861289"/>
            <a:ext cx="304800" cy="28956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562600" y="1787357"/>
            <a:ext cx="15167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23-bit fraction</a:t>
            </a:r>
          </a:p>
        </p:txBody>
      </p:sp>
      <p:sp>
        <p:nvSpPr>
          <p:cNvPr id="18" name="Right Brace 17"/>
          <p:cNvSpPr/>
          <p:nvPr/>
        </p:nvSpPr>
        <p:spPr>
          <a:xfrm rot="16200000">
            <a:off x="4152900" y="1731885"/>
            <a:ext cx="304800" cy="1143000"/>
          </a:xfrm>
          <a:prstGeom prst="rightBrace">
            <a:avLst>
              <a:gd name="adj1" fmla="val 40098"/>
              <a:gd name="adj2" fmla="val 50000"/>
            </a:avLst>
          </a:prstGeom>
          <a:ln w="19050"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3733800" y="1779643"/>
            <a:ext cx="1558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FF"/>
                </a:solidFill>
              </a:rPr>
              <a:t>8 bit exponent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9354" y="3135868"/>
            <a:ext cx="42803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1.001111111111111111111111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dirty="0"/>
          </a:p>
        </p:txBody>
      </p:sp>
      <p:cxnSp>
        <p:nvCxnSpPr>
          <p:cNvPr id="21" name="Straight Connector 20"/>
          <p:cNvCxnSpPr/>
          <p:nvPr/>
        </p:nvCxnSpPr>
        <p:spPr>
          <a:xfrm>
            <a:off x="2362200" y="3135868"/>
            <a:ext cx="723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52801" y="3581400"/>
            <a:ext cx="3815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1.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00111111111111111111111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×2</a:t>
            </a:r>
            <a:r>
              <a:rPr lang="en-US" baseline="30000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428998" y="4267200"/>
            <a:ext cx="4490332" cy="369332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1,10000000,00111111111111111111111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70780" y="4964668"/>
            <a:ext cx="74496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-2.49999976158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2109" y="5345668"/>
            <a:ext cx="19561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infinite precision: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38400" y="4659868"/>
            <a:ext cx="16788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precision: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17140" y="5615464"/>
            <a:ext cx="75556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–1.999999761581421 + (- 0.50000006) =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-2.499999821581421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38400" y="5984796"/>
            <a:ext cx="3865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Rounding error: 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6.00014212 × 10</a:t>
            </a:r>
            <a:r>
              <a:rPr lang="en-US" baseline="30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38401" y="3897868"/>
            <a:ext cx="30610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precision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2241758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/>
      <p:bldP spid="23" grpId="0"/>
      <p:bldP spid="24" grpId="0"/>
      <p:bldP spid="25" grpId="0"/>
      <p:bldP spid="26" grpId="0"/>
      <p:bldP spid="27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3719</TotalTime>
  <Words>786</Words>
  <Application>Microsoft Office PowerPoint</Application>
  <PresentationFormat>Widescreen</PresentationFormat>
  <Paragraphs>181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Bookman Old Style (Headings)</vt:lpstr>
      <vt:lpstr>Arial</vt:lpstr>
      <vt:lpstr>Bookman Old Style</vt:lpstr>
      <vt:lpstr>Calibri</vt:lpstr>
      <vt:lpstr>Cambria Math</vt:lpstr>
      <vt:lpstr>Consolas</vt:lpstr>
      <vt:lpstr>Gill Sans MT</vt:lpstr>
      <vt:lpstr>Palatino Linotype</vt:lpstr>
      <vt:lpstr>Wingdings</vt:lpstr>
      <vt:lpstr>Wingdings 3</vt:lpstr>
      <vt:lpstr>Origin</vt:lpstr>
      <vt:lpstr>Dr. Yifeng Zhu Electrical and Computer Engineering University of Maine</vt:lpstr>
      <vt:lpstr>Precision/Resolution</vt:lpstr>
      <vt:lpstr>Normalization</vt:lpstr>
      <vt:lpstr>IEEE Standard 754</vt:lpstr>
      <vt:lpstr>Decoding 0xC1FF0000  into a floating-point number</vt:lpstr>
      <vt:lpstr>Decoding 0xC1FF0000  into a floating-point number</vt:lpstr>
      <vt:lpstr>Decoding 0xC1FF0000  into a floating-point number</vt:lpstr>
      <vt:lpstr>Decoding 0xC1FF0000  into a floating-point number</vt:lpstr>
      <vt:lpstr>Encoding 14.5 into IEEE Std 754 Single-Precision</vt:lpstr>
      <vt:lpstr>Special Values</vt:lpstr>
      <vt:lpstr>Subnormalized Float Number</vt:lpstr>
      <vt:lpstr>Overflow and Underflow</vt:lpstr>
      <vt:lpstr>Overflow and Underflow</vt:lpstr>
      <vt:lpstr>Resolution</vt:lpstr>
      <vt:lpstr>Rounding</vt:lpstr>
      <vt:lpstr>Rounding</vt:lpstr>
      <vt:lpstr>PowerPoint Presentation</vt:lpstr>
      <vt:lpstr>Single-precision Rounding Example</vt:lpstr>
      <vt:lpstr>Single-precision Rounding Example</vt:lpstr>
      <vt:lpstr>Single-precision Rounding Example</vt:lpstr>
      <vt:lpstr>Single-precision Rounding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Yifeng Zhu</cp:lastModifiedBy>
  <cp:revision>292</cp:revision>
  <dcterms:created xsi:type="dcterms:W3CDTF">2013-02-03T05:36:57Z</dcterms:created>
  <dcterms:modified xsi:type="dcterms:W3CDTF">2025-09-25T00:30:49Z</dcterms:modified>
</cp:coreProperties>
</file>