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handoutMasterIdLst>
    <p:handoutMasterId r:id="rId46"/>
  </p:handoutMasterIdLst>
  <p:sldIdLst>
    <p:sldId id="256" r:id="rId2"/>
    <p:sldId id="368" r:id="rId3"/>
    <p:sldId id="369" r:id="rId4"/>
    <p:sldId id="406" r:id="rId5"/>
    <p:sldId id="371" r:id="rId6"/>
    <p:sldId id="374" r:id="rId7"/>
    <p:sldId id="363" r:id="rId8"/>
    <p:sldId id="375" r:id="rId9"/>
    <p:sldId id="315" r:id="rId10"/>
    <p:sldId id="316" r:id="rId11"/>
    <p:sldId id="372" r:id="rId12"/>
    <p:sldId id="358" r:id="rId13"/>
    <p:sldId id="373" r:id="rId14"/>
    <p:sldId id="408" r:id="rId15"/>
    <p:sldId id="558" r:id="rId16"/>
    <p:sldId id="557" r:id="rId17"/>
    <p:sldId id="559" r:id="rId18"/>
    <p:sldId id="547" r:id="rId19"/>
    <p:sldId id="548" r:id="rId20"/>
    <p:sldId id="362" r:id="rId21"/>
    <p:sldId id="551" r:id="rId22"/>
    <p:sldId id="561" r:id="rId23"/>
    <p:sldId id="407" r:id="rId24"/>
    <p:sldId id="378" r:id="rId25"/>
    <p:sldId id="552" r:id="rId26"/>
    <p:sldId id="377" r:id="rId27"/>
    <p:sldId id="376" r:id="rId28"/>
    <p:sldId id="390" r:id="rId29"/>
    <p:sldId id="396" r:id="rId30"/>
    <p:sldId id="549" r:id="rId31"/>
    <p:sldId id="389" r:id="rId32"/>
    <p:sldId id="403" r:id="rId33"/>
    <p:sldId id="404" r:id="rId34"/>
    <p:sldId id="300" r:id="rId35"/>
    <p:sldId id="405" r:id="rId36"/>
    <p:sldId id="273" r:id="rId37"/>
    <p:sldId id="381" r:id="rId38"/>
    <p:sldId id="391" r:id="rId39"/>
    <p:sldId id="393" r:id="rId40"/>
    <p:sldId id="392" r:id="rId41"/>
    <p:sldId id="560" r:id="rId42"/>
    <p:sldId id="550" r:id="rId43"/>
    <p:sldId id="554"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4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CC374-DE17-4134-B1B6-F1B517EDF42D}" v="115" dt="2026-02-03T17:26:20.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5"/>
    <p:restoredTop sz="96331" autoAdjust="0"/>
  </p:normalViewPr>
  <p:slideViewPr>
    <p:cSldViewPr>
      <p:cViewPr varScale="1">
        <p:scale>
          <a:sx n="103" d="100"/>
          <a:sy n="103" d="100"/>
        </p:scale>
        <p:origin x="762" y="102"/>
      </p:cViewPr>
      <p:guideLst>
        <p:guide orient="horz" pos="2160"/>
        <p:guide pos="3840"/>
      </p:guideLst>
    </p:cSldViewPr>
  </p:slideViewPr>
  <p:notesTextViewPr>
    <p:cViewPr>
      <p:scale>
        <a:sx n="1" d="1"/>
        <a:sy n="1" d="1"/>
      </p:scale>
      <p:origin x="0" y="0"/>
    </p:cViewPr>
  </p:notesTextViewPr>
  <p:sorterViewPr>
    <p:cViewPr>
      <p:scale>
        <a:sx n="150" d="100"/>
        <a:sy n="150" d="100"/>
      </p:scale>
      <p:origin x="0" y="-106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2-03T17:26:20.389" v="1290" actId="313"/>
      <pc:docMkLst>
        <pc:docMk/>
      </pc:docMkLst>
      <pc:sldChg chg="modSp mod">
        <pc:chgData name="Zonghua Gu" userId="9a7e1853e1951ef5" providerId="LiveId" clId="{CF1FAA12-072C-4ED5-BA76-0FFFAEFDB88A}" dt="2026-02-03T17:26:17.705" v="1287" actId="313"/>
        <pc:sldMkLst>
          <pc:docMk/>
          <pc:sldMk cId="3826356647" sldId="300"/>
        </pc:sldMkLst>
        <pc:spChg chg="mod">
          <ac:chgData name="Zonghua Gu" userId="9a7e1853e1951ef5" providerId="LiveId" clId="{CF1FAA12-072C-4ED5-BA76-0FFFAEFDB88A}" dt="2026-02-03T17:26:17.705" v="1287" actId="313"/>
          <ac:spMkLst>
            <pc:docMk/>
            <pc:sldMk cId="3826356647" sldId="300"/>
            <ac:spMk id="38917" creationId="{00000000-0000-0000-0000-000000000000}"/>
          </ac:spMkLst>
        </pc:spChg>
        <pc:graphicFrameChg chg="mod modGraphic">
          <ac:chgData name="Zonghua Gu" userId="9a7e1853e1951ef5" providerId="LiveId" clId="{CF1FAA12-072C-4ED5-BA76-0FFFAEFDB88A}" dt="2026-02-03T17:16:53.799" v="1284" actId="20577"/>
          <ac:graphicFrameMkLst>
            <pc:docMk/>
            <pc:sldMk cId="3826356647" sldId="300"/>
            <ac:graphicFrameMk id="39012" creationId="{00000000-0000-0000-0000-000000000000}"/>
          </ac:graphicFrameMkLst>
        </pc:graphicFrameChg>
      </pc:sldChg>
      <pc:sldChg chg="modSp mod">
        <pc:chgData name="Zonghua Gu" userId="9a7e1853e1951ef5" providerId="LiveId" clId="{CF1FAA12-072C-4ED5-BA76-0FFFAEFDB88A}" dt="2026-02-03T17:13:57.703" v="1263" actId="20577"/>
        <pc:sldMkLst>
          <pc:docMk/>
          <pc:sldMk cId="3705688228" sldId="392"/>
        </pc:sldMkLst>
        <pc:graphicFrameChg chg="mod modGraphic">
          <ac:chgData name="Zonghua Gu" userId="9a7e1853e1951ef5" providerId="LiveId" clId="{CF1FAA12-072C-4ED5-BA76-0FFFAEFDB88A}" dt="2026-02-03T17:13:57.703" v="1263" actId="20577"/>
          <ac:graphicFrameMkLst>
            <pc:docMk/>
            <pc:sldMk cId="3705688228" sldId="392"/>
            <ac:graphicFrameMk id="5" creationId="{00000000-0000-0000-0000-000000000000}"/>
          </ac:graphicFrameMkLst>
        </pc:graphicFrameChg>
      </pc:sldChg>
      <pc:sldChg chg="modSp mod">
        <pc:chgData name="Zonghua Gu" userId="9a7e1853e1951ef5" providerId="LiveId" clId="{CF1FAA12-072C-4ED5-BA76-0FFFAEFDB88A}" dt="2026-02-03T15:42:46.145" v="970" actId="20577"/>
        <pc:sldMkLst>
          <pc:docMk/>
          <pc:sldMk cId="1750637420" sldId="396"/>
        </pc:sldMkLst>
        <pc:spChg chg="mod">
          <ac:chgData name="Zonghua Gu" userId="9a7e1853e1951ef5" providerId="LiveId" clId="{CF1FAA12-072C-4ED5-BA76-0FFFAEFDB88A}" dt="2026-02-03T15:42:46.145" v="970" actId="20577"/>
          <ac:spMkLst>
            <pc:docMk/>
            <pc:sldMk cId="1750637420" sldId="396"/>
            <ac:spMk id="2" creationId="{00000000-0000-0000-0000-000000000000}"/>
          </ac:spMkLst>
        </pc:spChg>
      </pc:sldChg>
      <pc:sldChg chg="addSp modSp mod modAnim">
        <pc:chgData name="Zonghua Gu" userId="9a7e1853e1951ef5" providerId="LiveId" clId="{CF1FAA12-072C-4ED5-BA76-0FFFAEFDB88A}" dt="2026-02-03T17:09:57.181" v="1187" actId="20577"/>
        <pc:sldMkLst>
          <pc:docMk/>
          <pc:sldMk cId="798167026" sldId="403"/>
        </pc:sldMkLst>
        <pc:spChg chg="add mod">
          <ac:chgData name="Zonghua Gu" userId="9a7e1853e1951ef5" providerId="LiveId" clId="{CF1FAA12-072C-4ED5-BA76-0FFFAEFDB88A}" dt="2026-02-03T17:09:57.181" v="1187" actId="20577"/>
          <ac:spMkLst>
            <pc:docMk/>
            <pc:sldMk cId="798167026" sldId="403"/>
            <ac:spMk id="4" creationId="{80BD1B56-D534-2611-B43B-10E5EACB9FB7}"/>
          </ac:spMkLst>
        </pc:spChg>
      </pc:sldChg>
      <pc:sldChg chg="addSp modSp modAnim">
        <pc:chgData name="Zonghua Gu" userId="9a7e1853e1951ef5" providerId="LiveId" clId="{CF1FAA12-072C-4ED5-BA76-0FFFAEFDB88A}" dt="2026-02-03T17:10:16.565" v="1196" actId="20577"/>
        <pc:sldMkLst>
          <pc:docMk/>
          <pc:sldMk cId="2359258257" sldId="404"/>
        </pc:sldMkLst>
        <pc:spChg chg="add mod">
          <ac:chgData name="Zonghua Gu" userId="9a7e1853e1951ef5" providerId="LiveId" clId="{CF1FAA12-072C-4ED5-BA76-0FFFAEFDB88A}" dt="2026-02-03T17:10:16.565" v="1196" actId="20577"/>
          <ac:spMkLst>
            <pc:docMk/>
            <pc:sldMk cId="2359258257" sldId="404"/>
            <ac:spMk id="4" creationId="{B5897AC5-8D99-AD89-BAD3-ECE2B82BDB19}"/>
          </ac:spMkLst>
        </pc:spChg>
      </pc:sldChg>
      <pc:sldChg chg="modSp">
        <pc:chgData name="Zonghua Gu" userId="9a7e1853e1951ef5" providerId="LiveId" clId="{CF1FAA12-072C-4ED5-BA76-0FFFAEFDB88A}" dt="2026-02-03T17:26:20.389" v="1290" actId="313"/>
        <pc:sldMkLst>
          <pc:docMk/>
          <pc:sldMk cId="3353121865" sldId="405"/>
        </pc:sldMkLst>
        <pc:spChg chg="mod">
          <ac:chgData name="Zonghua Gu" userId="9a7e1853e1951ef5" providerId="LiveId" clId="{CF1FAA12-072C-4ED5-BA76-0FFFAEFDB88A}" dt="2026-02-03T17:26:20.389" v="1290" actId="313"/>
          <ac:spMkLst>
            <pc:docMk/>
            <pc:sldMk cId="3353121865" sldId="405"/>
            <ac:spMk id="4" creationId="{824E864B-2648-DE35-C235-B19BE5ED91AD}"/>
          </ac:spMkLst>
        </pc:spChg>
      </pc:sldChg>
      <pc:sldChg chg="modSp mod">
        <pc:chgData name="Zonghua Gu" userId="9a7e1853e1951ef5" providerId="LiveId" clId="{CF1FAA12-072C-4ED5-BA76-0FFFAEFDB88A}" dt="2026-02-03T17:10:48.673" v="1198" actId="20577"/>
        <pc:sldMkLst>
          <pc:docMk/>
          <pc:sldMk cId="3984964825" sldId="406"/>
        </pc:sldMkLst>
        <pc:graphicFrameChg chg="mod modGraphic">
          <ac:chgData name="Zonghua Gu" userId="9a7e1853e1951ef5" providerId="LiveId" clId="{CF1FAA12-072C-4ED5-BA76-0FFFAEFDB88A}" dt="2026-02-03T17:10:48.673" v="1198" actId="20577"/>
          <ac:graphicFrameMkLst>
            <pc:docMk/>
            <pc:sldMk cId="3984964825" sldId="406"/>
            <ac:graphicFrameMk id="5" creationId="{BC24311B-E1D8-904F-8F58-7536EEABD684}"/>
          </ac:graphicFrameMkLst>
        </pc:graphicFrameChg>
      </pc:sldChg>
      <pc:sldChg chg="modSp">
        <pc:chgData name="Zonghua Gu" userId="9a7e1853e1951ef5" providerId="LiveId" clId="{CF1FAA12-072C-4ED5-BA76-0FFFAEFDB88A}" dt="2026-02-03T17:10:44.212" v="1197"/>
        <pc:sldMkLst>
          <pc:docMk/>
          <pc:sldMk cId="3109495620" sldId="407"/>
        </pc:sldMkLst>
        <pc:graphicFrameChg chg="mod">
          <ac:chgData name="Zonghua Gu" userId="9a7e1853e1951ef5" providerId="LiveId" clId="{CF1FAA12-072C-4ED5-BA76-0FFFAEFDB88A}" dt="2026-02-03T17:10:44.212" v="1197"/>
          <ac:graphicFrameMkLst>
            <pc:docMk/>
            <pc:sldMk cId="3109495620" sldId="407"/>
            <ac:graphicFrameMk id="5" creationId="{BC24311B-E1D8-904F-8F58-7536EEABD684}"/>
          </ac:graphicFrameMkLst>
        </pc:graphicFrameChg>
      </pc:sldChg>
      <pc:sldChg chg="addSp modSp add mod">
        <pc:chgData name="Zonghua Gu" userId="9a7e1853e1951ef5" providerId="LiveId" clId="{CF1FAA12-072C-4ED5-BA76-0FFFAEFDB88A}" dt="2026-02-03T15:20:11.089" v="873" actId="1076"/>
        <pc:sldMkLst>
          <pc:docMk/>
          <pc:sldMk cId="2586784592" sldId="547"/>
        </pc:sldMkLst>
        <pc:spChg chg="mod">
          <ac:chgData name="Zonghua Gu" userId="9a7e1853e1951ef5" providerId="LiveId" clId="{CF1FAA12-072C-4ED5-BA76-0FFFAEFDB88A}" dt="2026-02-03T15:20:00.635" v="870" actId="1076"/>
          <ac:spMkLst>
            <pc:docMk/>
            <pc:sldMk cId="2586784592" sldId="547"/>
            <ac:spMk id="8" creationId="{00000000-0000-0000-0000-000000000000}"/>
          </ac:spMkLst>
        </pc:spChg>
        <pc:spChg chg="mod">
          <ac:chgData name="Zonghua Gu" userId="9a7e1853e1951ef5" providerId="LiveId" clId="{CF1FAA12-072C-4ED5-BA76-0FFFAEFDB88A}" dt="2026-02-03T15:20:00.635" v="870" actId="1076"/>
          <ac:spMkLst>
            <pc:docMk/>
            <pc:sldMk cId="2586784592" sldId="547"/>
            <ac:spMk id="13" creationId="{00000000-0000-0000-0000-000000000000}"/>
          </ac:spMkLst>
        </pc:spChg>
        <pc:graphicFrameChg chg="mod">
          <ac:chgData name="Zonghua Gu" userId="9a7e1853e1951ef5" providerId="LiveId" clId="{CF1FAA12-072C-4ED5-BA76-0FFFAEFDB88A}" dt="2026-02-03T15:20:00.635" v="870" actId="1076"/>
          <ac:graphicFrameMkLst>
            <pc:docMk/>
            <pc:sldMk cId="2586784592" sldId="547"/>
            <ac:graphicFrameMk id="6" creationId="{00000000-0000-0000-0000-000000000000}"/>
          </ac:graphicFrameMkLst>
        </pc:graphicFrameChg>
        <pc:picChg chg="add mod">
          <ac:chgData name="Zonghua Gu" userId="9a7e1853e1951ef5" providerId="LiveId" clId="{CF1FAA12-072C-4ED5-BA76-0FFFAEFDB88A}" dt="2026-02-03T15:20:11.089" v="873" actId="1076"/>
          <ac:picMkLst>
            <pc:docMk/>
            <pc:sldMk cId="2586784592" sldId="547"/>
            <ac:picMk id="3" creationId="{CC188A21-6E71-7905-3E22-6F056E14BE2B}"/>
          </ac:picMkLst>
        </pc:picChg>
      </pc:sldChg>
      <pc:sldChg chg="modSp mod modAnim">
        <pc:chgData name="Zonghua Gu" userId="9a7e1853e1951ef5" providerId="LiveId" clId="{CF1FAA12-072C-4ED5-BA76-0FFFAEFDB88A}" dt="2026-02-03T15:42:54.324" v="973" actId="20577"/>
        <pc:sldMkLst>
          <pc:docMk/>
          <pc:sldMk cId="2452229118" sldId="549"/>
        </pc:sldMkLst>
        <pc:spChg chg="mod">
          <ac:chgData name="Zonghua Gu" userId="9a7e1853e1951ef5" providerId="LiveId" clId="{CF1FAA12-072C-4ED5-BA76-0FFFAEFDB88A}" dt="2026-02-03T15:42:54.324" v="973" actId="20577"/>
          <ac:spMkLst>
            <pc:docMk/>
            <pc:sldMk cId="2452229118" sldId="549"/>
            <ac:spMk id="2" creationId="{00000000-0000-0000-0000-000000000000}"/>
          </ac:spMkLst>
        </pc:spChg>
        <pc:spChg chg="mod">
          <ac:chgData name="Zonghua Gu" userId="9a7e1853e1951ef5" providerId="LiveId" clId="{CF1FAA12-072C-4ED5-BA76-0FFFAEFDB88A}" dt="2026-02-03T15:41:27.625" v="954" actId="20577"/>
          <ac:spMkLst>
            <pc:docMk/>
            <pc:sldMk cId="2452229118" sldId="549"/>
            <ac:spMk id="4" creationId="{00000000-0000-0000-0000-000000000000}"/>
          </ac:spMkLst>
        </pc:spChg>
      </pc:sldChg>
      <pc:sldChg chg="modSp mod">
        <pc:chgData name="Zonghua Gu" userId="9a7e1853e1951ef5" providerId="LiveId" clId="{CF1FAA12-072C-4ED5-BA76-0FFFAEFDB88A}" dt="2026-02-03T17:12:42.808" v="1246" actId="20577"/>
        <pc:sldMkLst>
          <pc:docMk/>
          <pc:sldMk cId="3344429198" sldId="550"/>
        </pc:sldMkLst>
        <pc:spChg chg="mod">
          <ac:chgData name="Zonghua Gu" userId="9a7e1853e1951ef5" providerId="LiveId" clId="{CF1FAA12-072C-4ED5-BA76-0FFFAEFDB88A}" dt="2026-02-03T17:12:42.808" v="1246" actId="20577"/>
          <ac:spMkLst>
            <pc:docMk/>
            <pc:sldMk cId="3344429198" sldId="550"/>
            <ac:spMk id="3" creationId="{00000000-0000-0000-0000-000000000000}"/>
          </ac:spMkLst>
        </pc:spChg>
      </pc:sldChg>
      <pc:sldChg chg="modSp mod">
        <pc:chgData name="Zonghua Gu" userId="9a7e1853e1951ef5" providerId="LiveId" clId="{CF1FAA12-072C-4ED5-BA76-0FFFAEFDB88A}" dt="2026-02-03T15:27:37.626" v="880" actId="6549"/>
        <pc:sldMkLst>
          <pc:docMk/>
          <pc:sldMk cId="1562305934" sldId="551"/>
        </pc:sldMkLst>
        <pc:graphicFrameChg chg="mod modGraphic">
          <ac:chgData name="Zonghua Gu" userId="9a7e1853e1951ef5" providerId="LiveId" clId="{CF1FAA12-072C-4ED5-BA76-0FFFAEFDB88A}" dt="2026-02-03T15:27:37.626" v="880" actId="6549"/>
          <ac:graphicFrameMkLst>
            <pc:docMk/>
            <pc:sldMk cId="1562305934" sldId="551"/>
            <ac:graphicFrameMk id="4" creationId="{9CADBB08-95E4-B063-989E-5381B2268DF2}"/>
          </ac:graphicFrameMkLst>
        </pc:graphicFrameChg>
      </pc:sldChg>
      <pc:sldChg chg="modSp mod">
        <pc:chgData name="Zonghua Gu" userId="9a7e1853e1951ef5" providerId="LiveId" clId="{CF1FAA12-072C-4ED5-BA76-0FFFAEFDB88A}" dt="2026-02-03T16:07:56.755" v="977" actId="20577"/>
        <pc:sldMkLst>
          <pc:docMk/>
          <pc:sldMk cId="2604975384" sldId="552"/>
        </pc:sldMkLst>
        <pc:spChg chg="mod">
          <ac:chgData name="Zonghua Gu" userId="9a7e1853e1951ef5" providerId="LiveId" clId="{CF1FAA12-072C-4ED5-BA76-0FFFAEFDB88A}" dt="2026-02-03T16:07:56.755" v="977" actId="20577"/>
          <ac:spMkLst>
            <pc:docMk/>
            <pc:sldMk cId="2604975384" sldId="552"/>
            <ac:spMk id="4" creationId="{00000000-0000-0000-0000-000000000000}"/>
          </ac:spMkLst>
        </pc:spChg>
      </pc:sldChg>
      <pc:sldChg chg="modSp">
        <pc:chgData name="Zonghua Gu" userId="9a7e1853e1951ef5" providerId="LiveId" clId="{CF1FAA12-072C-4ED5-BA76-0FFFAEFDB88A}" dt="2026-02-03T17:03:16.172" v="979" actId="20577"/>
        <pc:sldMkLst>
          <pc:docMk/>
          <pc:sldMk cId="795827474" sldId="557"/>
        </pc:sldMkLst>
        <pc:spChg chg="mod">
          <ac:chgData name="Zonghua Gu" userId="9a7e1853e1951ef5" providerId="LiveId" clId="{CF1FAA12-072C-4ED5-BA76-0FFFAEFDB88A}" dt="2026-02-03T17:03:16.172" v="979" actId="20577"/>
          <ac:spMkLst>
            <pc:docMk/>
            <pc:sldMk cId="795827474" sldId="557"/>
            <ac:spMk id="3" creationId="{CF93CA2C-6BF3-F8F5-A739-069BC284E551}"/>
          </ac:spMkLst>
        </pc:spChg>
      </pc:sldChg>
      <pc:sldChg chg="modSp">
        <pc:chgData name="Zonghua Gu" userId="9a7e1853e1951ef5" providerId="LiveId" clId="{CF1FAA12-072C-4ED5-BA76-0FFFAEFDB88A}" dt="2026-02-03T17:03:14.941" v="978" actId="20577"/>
        <pc:sldMkLst>
          <pc:docMk/>
          <pc:sldMk cId="143234136" sldId="558"/>
        </pc:sldMkLst>
        <pc:spChg chg="mod">
          <ac:chgData name="Zonghua Gu" userId="9a7e1853e1951ef5" providerId="LiveId" clId="{CF1FAA12-072C-4ED5-BA76-0FFFAEFDB88A}" dt="2026-02-03T17:03:14.941" v="978" actId="20577"/>
          <ac:spMkLst>
            <pc:docMk/>
            <pc:sldMk cId="143234136" sldId="558"/>
            <ac:spMk id="3" creationId="{6A0F2E71-EAA4-A9FD-04A3-E7673819EF1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a:t>
            </a:fld>
            <a:endParaRPr lang="en-US"/>
          </a:p>
        </p:txBody>
      </p:sp>
    </p:spTree>
    <p:extLst>
      <p:ext uri="{BB962C8B-B14F-4D97-AF65-F5344CB8AC3E}">
        <p14:creationId xmlns:p14="http://schemas.microsoft.com/office/powerpoint/2010/main" val="3912167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xml:space="preserve">For unsigned numbers, the carry flag is set when adding two numbers and the result is larger than the maximum that can be represented. For subtraction, the carry flag is set (C = 1, i.e., borrow = 0) when the result is non-negative, representing that no borrowing occurs. The carry flag is cleared (C = 0, i.e., borrow = 1)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xml:space="preserve">For unsigned numbers, the carry flag is set when adding two numbers and the result is larger than the maximum that can be represented. For subtraction, the carry flag is set (C = 1, i.e., borrow = 0) when the result is non-negative, representing that no borrowing occurs. The carry flag is cleared (C = 0, i.e., borrow = 1)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C167F7-1B06-44DE-A83B-5844B4E34198}" type="slidenum">
              <a:rPr lang="en-US"/>
              <a:pPr/>
              <a:t>9</a:t>
            </a:fld>
            <a:endParaRPr lang="en-US"/>
          </a:p>
        </p:txBody>
      </p:sp>
      <p:sp>
        <p:nvSpPr>
          <p:cNvPr id="186370" name="Rectangle 2"/>
          <p:cNvSpPr>
            <a:spLocks noGrp="1" noRot="1" noChangeAspect="1" noChangeArrowheads="1" noTextEdit="1"/>
          </p:cNvSpPr>
          <p:nvPr>
            <p:ph type="sldImg"/>
          </p:nvPr>
        </p:nvSpPr>
        <p:spPr>
          <a:xfrm>
            <a:off x="381000" y="685800"/>
            <a:ext cx="6096000" cy="3429000"/>
          </a:xfrm>
          <a:ln/>
        </p:spPr>
      </p:sp>
      <p:sp>
        <p:nvSpPr>
          <p:cNvPr id="1863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47798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7A2E23-6A31-4B03-9F0A-B60919A3DF29}" type="slidenum">
              <a:rPr lang="en-US"/>
              <a:pPr/>
              <a:t>10</a:t>
            </a:fld>
            <a:endParaRPr lang="en-US"/>
          </a:p>
        </p:txBody>
      </p:sp>
      <p:sp>
        <p:nvSpPr>
          <p:cNvPr id="188418" name="Rectangle 2"/>
          <p:cNvSpPr>
            <a:spLocks noGrp="1" noRot="1" noChangeAspect="1" noChangeArrowheads="1" noTextEdit="1"/>
          </p:cNvSpPr>
          <p:nvPr>
            <p:ph type="sldImg"/>
          </p:nvPr>
        </p:nvSpPr>
        <p:spPr>
          <a:xfrm>
            <a:off x="381000" y="685800"/>
            <a:ext cx="6096000" cy="3429000"/>
          </a:xfrm>
          <a:ln/>
        </p:spPr>
      </p:sp>
      <p:sp>
        <p:nvSpPr>
          <p:cNvPr id="188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15489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508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03528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39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3ED1-8CF1-275F-C7E5-B5164F952413}"/>
            </a:ext>
          </a:extLst>
        </p:cNvPr>
        <p:cNvGrpSpPr/>
        <p:nvPr/>
      </p:nvGrpSpPr>
      <p:grpSpPr>
        <a:xfrm>
          <a:off x="0" y="0"/>
          <a:ext cx="0" cy="0"/>
          <a:chOff x="0" y="0"/>
          <a:chExt cx="0" cy="0"/>
        </a:xfrm>
      </p:grpSpPr>
      <p:sp>
        <p:nvSpPr>
          <p:cNvPr id="1324034" name="Rectangle 2">
            <a:extLst>
              <a:ext uri="{FF2B5EF4-FFF2-40B4-BE49-F238E27FC236}">
                <a16:creationId xmlns:a16="http://schemas.microsoft.com/office/drawing/2014/main" id="{20E1EC96-74D6-76F1-A55C-C27BEFA6F0FB}"/>
              </a:ext>
            </a:extLst>
          </p:cNvPr>
          <p:cNvSpPr>
            <a:spLocks noGrp="1" noRot="1" noChangeAspect="1" noChangeArrowheads="1" noTextEdit="1"/>
          </p:cNvSpPr>
          <p:nvPr>
            <p:ph type="sldImg"/>
          </p:nvPr>
        </p:nvSpPr>
        <p:spPr>
          <a:xfrm>
            <a:off x="381000" y="685800"/>
            <a:ext cx="6096000" cy="3429000"/>
          </a:xfrm>
        </p:spPr>
      </p:sp>
      <p:sp>
        <p:nvSpPr>
          <p:cNvPr id="1324035" name="Rectangle 3">
            <a:extLst>
              <a:ext uri="{FF2B5EF4-FFF2-40B4-BE49-F238E27FC236}">
                <a16:creationId xmlns:a16="http://schemas.microsoft.com/office/drawing/2014/main" id="{2CEE6E43-BB97-503B-7797-6B520C8CF3D2}"/>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01083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4375-E5B8-A106-3250-244BD0022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373DF-005A-38DD-0420-9E21ED62A89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5B527C1-B562-C6AE-EE6D-4027147D800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32</m:t>
                    </m:r>
                  </m:oMath>
                </a14:m>
                <a:r>
                  <a:rPr lang="en-US" sz="1200" b="0" i="0" kern="1200" dirty="0">
                    <a:solidFill>
                      <a:schemeClr val="tx1"/>
                    </a:solidFill>
                    <a:effectLst/>
                    <a:latin typeface="+mn-lt"/>
                    <a:ea typeface="+mn-ea"/>
                    <a:cs typeface="+mn-cs"/>
                  </a:rPr>
                  <a:t> to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a:t>
                </a:r>
                <a14:m>
                  <m:oMath xmlns:m="http://schemas.openxmlformats.org/officeDocument/2006/math">
                    <m:r>
                      <a:rPr lang="en-US" sz="1200" kern="1200">
                        <a:solidFill>
                          <a:schemeClr val="tx1"/>
                        </a:solidFill>
                        <a:latin typeface="Cambria Math" panose="02040503050406030204" pitchFamily="18" charset="0"/>
                        <a:ea typeface="+mn-ea"/>
                        <a:cs typeface="+mn-cs"/>
                      </a:rPr>
                      <m:t>010000</m:t>
                    </m:r>
                  </m:oMath>
                </a14:m>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oMath>
                </a14:m>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r>
                      <a:rPr lang="en-US" sz="1200" i="0" kern="1200">
                        <a:solidFill>
                          <a:schemeClr val="tx1"/>
                        </a:solidFill>
                        <a:latin typeface="Cambria Math" panose="02040503050406030204" pitchFamily="18" charset="0"/>
                        <a:ea typeface="+mn-ea"/>
                        <a:cs typeface="+mn-cs"/>
                      </a:rPr>
                      <m:t>+1=110000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6-bit two's complement is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r>
                      <a:rPr lang="en-US" sz="1200" i="0" kern="1200">
                        <a:solidFill>
                          <a:schemeClr val="tx1"/>
                        </a:solidFill>
                        <a:latin typeface="Cambria Math" panose="02040503050406030204" pitchFamily="18" charset="0"/>
                        <a:ea typeface="+mn-ea"/>
                        <a:cs typeface="+mn-cs"/>
                      </a:rPr>
                      <m:t>+1=010000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so the negation of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the minimum and its negation wraps onto itself, in 6 bits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behaves normally with correct negation.</a:t>
                </a:r>
              </a:p>
              <a:p>
                <a:endParaRPr lang="en-US"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r>
                  <a:rPr lang="en-US" sz="1200" i="0" kern="1200">
                    <a:solidFill>
                      <a:schemeClr val="tx1"/>
                    </a:solidFill>
                    <a:latin typeface="+mn-lt"/>
                    <a:ea typeface="+mn-ea"/>
                    <a:cs typeface="+mn-cs"/>
                  </a:rPr>
                  <a:t>−32</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+31</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a:t>
                </a:r>
                <a:r>
                  <a:rPr lang="en-US" sz="1200" i="0" kern="1200">
                    <a:solidFill>
                      <a:schemeClr val="tx1"/>
                    </a:solidFill>
                    <a:latin typeface="+mn-lt"/>
                    <a:ea typeface="+mn-ea"/>
                    <a:cs typeface="+mn-cs"/>
                  </a:rPr>
                  <a:t>010000</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101111</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101111+1=110000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6-bit two's complement is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001111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001111+1=010000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so the negation of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the minimum and its negation wraps onto itself, in 6 bits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behaves normally with correct negation.</a:t>
                </a:r>
              </a:p>
              <a:p>
                <a:endParaRPr lang="en-US" dirty="0"/>
              </a:p>
            </p:txBody>
          </p:sp>
        </mc:Fallback>
      </mc:AlternateContent>
      <p:sp>
        <p:nvSpPr>
          <p:cNvPr id="4" name="Slide Number Placeholder 3">
            <a:extLst>
              <a:ext uri="{FF2B5EF4-FFF2-40B4-BE49-F238E27FC236}">
                <a16:creationId xmlns:a16="http://schemas.microsoft.com/office/drawing/2014/main" id="{89A21CAA-90BD-A44F-8469-E4744F6044F2}"/>
              </a:ext>
            </a:extLst>
          </p:cNvPr>
          <p:cNvSpPr>
            <a:spLocks noGrp="1"/>
          </p:cNvSpPr>
          <p:nvPr>
            <p:ph type="sldNum" sz="quarter" idx="5"/>
          </p:nvPr>
        </p:nvSpPr>
        <p:spPr/>
        <p:txBody>
          <a:bodyPr/>
          <a:lstStyle/>
          <a:p>
            <a:fld id="{633BBA0F-9BBE-41FE-A859-D6EE6CD9FB52}" type="slidenum">
              <a:rPr lang="en-US" smtClean="0"/>
              <a:t>15</a:t>
            </a:fld>
            <a:endParaRPr lang="en-US"/>
          </a:p>
        </p:txBody>
      </p:sp>
    </p:spTree>
    <p:extLst>
      <p:ext uri="{BB962C8B-B14F-4D97-AF65-F5344CB8AC3E}">
        <p14:creationId xmlns:p14="http://schemas.microsoft.com/office/powerpoint/2010/main" val="4224579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32</m:t>
                    </m:r>
                  </m:oMath>
                </a14:m>
                <a:r>
                  <a:rPr lang="en-US" sz="1200" b="0" i="0" kern="1200" dirty="0">
                    <a:solidFill>
                      <a:schemeClr val="tx1"/>
                    </a:solidFill>
                    <a:effectLst/>
                    <a:latin typeface="+mn-lt"/>
                    <a:ea typeface="+mn-ea"/>
                    <a:cs typeface="+mn-cs"/>
                  </a:rPr>
                  <a:t> to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a:t>
                </a:r>
                <a14:m>
                  <m:oMath xmlns:m="http://schemas.openxmlformats.org/officeDocument/2006/math">
                    <m:r>
                      <a:rPr lang="en-US" sz="1200" kern="1200">
                        <a:solidFill>
                          <a:schemeClr val="tx1"/>
                        </a:solidFill>
                        <a:latin typeface="Cambria Math" panose="02040503050406030204" pitchFamily="18" charset="0"/>
                        <a:ea typeface="+mn-ea"/>
                        <a:cs typeface="+mn-cs"/>
                      </a:rPr>
                      <m:t>010000</m:t>
                    </m:r>
                  </m:oMath>
                </a14:m>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oMath>
                </a14:m>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r>
                      <a:rPr lang="en-US" sz="1200" i="0" kern="1200">
                        <a:solidFill>
                          <a:schemeClr val="tx1"/>
                        </a:solidFill>
                        <a:latin typeface="Cambria Math" panose="02040503050406030204" pitchFamily="18" charset="0"/>
                        <a:ea typeface="+mn-ea"/>
                        <a:cs typeface="+mn-cs"/>
                      </a:rPr>
                      <m:t>+1=110000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6-bit two's complement is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r>
                      <a:rPr lang="en-US" sz="1200" i="0" kern="1200">
                        <a:solidFill>
                          <a:schemeClr val="tx1"/>
                        </a:solidFill>
                        <a:latin typeface="Cambria Math" panose="02040503050406030204" pitchFamily="18" charset="0"/>
                        <a:ea typeface="+mn-ea"/>
                        <a:cs typeface="+mn-cs"/>
                      </a:rPr>
                      <m:t>+1=010000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so the negation of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the minimum and its negation wraps onto itself, in 6 bits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behaves normally with correct negation.</a:t>
                </a:r>
              </a:p>
              <a:p>
                <a:endParaRPr lang="en-US"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r>
                  <a:rPr lang="en-US" sz="1200" i="0" kern="1200">
                    <a:solidFill>
                      <a:schemeClr val="tx1"/>
                    </a:solidFill>
                    <a:latin typeface="+mn-lt"/>
                    <a:ea typeface="+mn-ea"/>
                    <a:cs typeface="+mn-cs"/>
                  </a:rPr>
                  <a:t>−32</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+31</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a:t>
                </a:r>
                <a:r>
                  <a:rPr lang="en-US" sz="1200" i="0" kern="1200">
                    <a:solidFill>
                      <a:schemeClr val="tx1"/>
                    </a:solidFill>
                    <a:latin typeface="+mn-lt"/>
                    <a:ea typeface="+mn-ea"/>
                    <a:cs typeface="+mn-cs"/>
                  </a:rPr>
                  <a:t>010000</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101111</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101111+1=110000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6-bit two's complement is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001111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001111+1=010000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so the negation of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the minimum and its negation wraps onto itself, in 6 bits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behaves normally with correct negation.</a:t>
                </a:r>
              </a:p>
              <a:p>
                <a:endParaRPr lang="en-US" dirty="0"/>
              </a:p>
            </p:txBody>
          </p:sp>
        </mc:Fallback>
      </mc:AlternateContent>
      <p:sp>
        <p:nvSpPr>
          <p:cNvPr id="4" name="Slide Number Placeholder 3"/>
          <p:cNvSpPr>
            <a:spLocks noGrp="1"/>
          </p:cNvSpPr>
          <p:nvPr>
            <p:ph type="sldNum" sz="quarter" idx="5"/>
          </p:nvPr>
        </p:nvSpPr>
        <p:spPr/>
        <p:txBody>
          <a:bodyPr/>
          <a:lstStyle/>
          <a:p>
            <a:fld id="{633BBA0F-9BBE-41FE-A859-D6EE6CD9FB52}" type="slidenum">
              <a:rPr lang="en-US" smtClean="0"/>
              <a:t>16</a:t>
            </a:fld>
            <a:endParaRPr lang="en-US"/>
          </a:p>
        </p:txBody>
      </p:sp>
    </p:spTree>
    <p:extLst>
      <p:ext uri="{BB962C8B-B14F-4D97-AF65-F5344CB8AC3E}">
        <p14:creationId xmlns:p14="http://schemas.microsoft.com/office/powerpoint/2010/main" val="2459963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Signed number x = 10000 = -16, TC(x) = 10000 = -16, so their </a:t>
            </a:r>
            <a:r>
              <a:rPr lang="en-US" dirty="0">
                <a:solidFill>
                  <a:srgbClr val="FF0000"/>
                </a:solidFill>
              </a:rPr>
              <a:t>signed sum</a:t>
            </a:r>
            <a:r>
              <a:rPr lang="en-US" dirty="0"/>
              <a:t> is 10000 + 10000 = 00000 (in decimal -16 + (-16) = 0).  The result is incorrect as Overflow flag =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Unsigned number 10000 = 16, 10000 = 16, so their </a:t>
            </a:r>
            <a:r>
              <a:rPr lang="en-US" dirty="0">
                <a:solidFill>
                  <a:srgbClr val="FF0000"/>
                </a:solidFill>
              </a:rPr>
              <a:t>unsigned sum</a:t>
            </a:r>
            <a:r>
              <a:rPr lang="en-US" dirty="0"/>
              <a:t> is 10000 + 10000 = 00000 (in decimal 16 + 16 = 32), Carry flag = 1</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601734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0BD9A7-939F-844E-AA9E-BD9AA15527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37806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mn-lt"/>
              </a:rPr>
              <a:t>Different assembly instructions for copying signed/unsigned data</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946840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1638021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{{Pause=1}} Similarly, the same subtraction hardware works correctly for both signed and unsigned subtraction, even though the sign of input operands is not examined. {{Pause=0.3}} This example subtracts 6 from negative 9. The hardware ignores the sign of the inputs, and subtracts 6 from 23. The result is 17, in decimal, {{Pause=0.3}} or one, zero, zero, zero, one, in binary.  If the result represents a signed integer in two’s complement, then the result is negative 15. This is exactly the result of subtracting the original signed integers.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342321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xfrm>
            <a:off x="381000" y="685800"/>
            <a:ext cx="6096000" cy="3429000"/>
          </a:xfrm>
          <a:ln/>
        </p:spPr>
      </p:sp>
      <p:sp>
        <p:nvSpPr>
          <p:cNvPr id="32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58841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set when the true unsigned result exceeds the representable range.</a:t>
            </a:r>
          </a:p>
        </p:txBody>
      </p:sp>
      <p:sp>
        <p:nvSpPr>
          <p:cNvPr id="4" name="Slide Number Placeholder 3"/>
          <p:cNvSpPr>
            <a:spLocks noGrp="1"/>
          </p:cNvSpPr>
          <p:nvPr>
            <p:ph type="sldNum" sz="quarter" idx="5"/>
          </p:nvPr>
        </p:nvSpPr>
        <p:spPr/>
        <p:txBody>
          <a:bodyPr/>
          <a:lstStyle/>
          <a:p>
            <a:fld id="{D624DF53-3DD3-9F45-9E7E-472B96F1AB81}" type="slidenum">
              <a:rPr lang="en-US" smtClean="0"/>
              <a:pPr/>
              <a:t>35</a:t>
            </a:fld>
            <a:endParaRPr lang="en-US"/>
          </a:p>
        </p:txBody>
      </p:sp>
    </p:spTree>
    <p:extLst>
      <p:ext uri="{BB962C8B-B14F-4D97-AF65-F5344CB8AC3E}">
        <p14:creationId xmlns:p14="http://schemas.microsoft.com/office/powerpoint/2010/main" val="3047184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9/22/2026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9/22/2026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9/22/2026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9/22/2026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9/22/2026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9/22/2026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9/22/2026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9/22/2026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9/22/2026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9/22/2026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9/22/2026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9/22/2026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youtube.com/watch?v=MxGW2WurKuM&amp;list=PLRJhV4hUhIymmp5CCeIFPyxbknsdcXCc8&amp;index=2" TargetMode="External"/><Relationship Id="rId2" Type="http://schemas.openxmlformats.org/officeDocument/2006/relationships/hyperlink" Target="https://www.youtube.com/watch?v=lJCefqV80ck&amp;list=PLRJhV4hUhIymmp5CCeIFPyxbknsdcXCc8&amp;index=1" TargetMode="External"/><Relationship Id="rId1" Type="http://schemas.openxmlformats.org/officeDocument/2006/relationships/slideLayout" Target="../slideLayouts/slideLayout2.xml"/><Relationship Id="rId4" Type="http://schemas.openxmlformats.org/officeDocument/2006/relationships/hyperlink" Target="https://www.youtube.com/watch?v=BIn6iyYIGio&amp;list=PLRJhV4hUhIymmp5CCeIFPyxbknsdcXCc8&amp;index=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 Gu</a:t>
            </a:r>
            <a:br>
              <a:rPr lang="en-US" sz="2000" dirty="0"/>
            </a:br>
            <a:r>
              <a:rPr lang="en-US" sz="2000" dirty="0"/>
              <a:t>Hofstra University</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572000" y="279233"/>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601489" y="1743875"/>
            <a:ext cx="3168111" cy="830997"/>
          </a:xfrm>
          <a:prstGeom prst="rect">
            <a:avLst/>
          </a:prstGeom>
          <a:noFill/>
        </p:spPr>
        <p:txBody>
          <a:bodyPr wrap="none" rtlCol="0">
            <a:spAutoFit/>
          </a:bodyPr>
          <a:lstStyle/>
          <a:p>
            <a:pPr algn="r"/>
            <a:r>
              <a:rPr lang="en-US" sz="2400" b="1" dirty="0">
                <a:solidFill>
                  <a:srgbClr val="C00000"/>
                </a:solidFill>
              </a:rPr>
              <a:t>Chapter 2</a:t>
            </a:r>
          </a:p>
          <a:p>
            <a:pPr algn="r"/>
            <a:r>
              <a:rPr lang="en-US" sz="2400" b="1" dirty="0">
                <a:solidFill>
                  <a:srgbClr val="C00000"/>
                </a:solidFill>
              </a:rPr>
              <a:t>Data Representation</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Bit, Byte, Half-word, Word, Double-Word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62174"/>
            <a:ext cx="8774494"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554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Decimal and Hex</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170717742"/>
              </p:ext>
            </p:extLst>
          </p:nvPr>
        </p:nvGraphicFramePr>
        <p:xfrm>
          <a:off x="2743200" y="1447800"/>
          <a:ext cx="3886200" cy="474472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3"/>
                    </a:ext>
                  </a:extLst>
                </a:gridCol>
              </a:tblGrid>
              <a:tr h="50006">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2</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3</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4</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6</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7</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4" name="TextBox 3">
            <a:extLst>
              <a:ext uri="{FF2B5EF4-FFF2-40B4-BE49-F238E27FC236}">
                <a16:creationId xmlns:a16="http://schemas.microsoft.com/office/drawing/2014/main" id="{72554E20-D18F-D64B-A69C-5F17997B1631}"/>
              </a:ext>
            </a:extLst>
          </p:cNvPr>
          <p:cNvSpPr txBox="1"/>
          <p:nvPr/>
        </p:nvSpPr>
        <p:spPr>
          <a:xfrm>
            <a:off x="8458200" y="2895600"/>
            <a:ext cx="924612" cy="369332"/>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0x</a:t>
            </a:r>
            <a:r>
              <a:rPr lang="en-US" dirty="0"/>
              <a:t>: Hex</a:t>
            </a:r>
          </a:p>
        </p:txBody>
      </p:sp>
    </p:spTree>
    <p:extLst>
      <p:ext uri="{BB962C8B-B14F-4D97-AF65-F5344CB8AC3E}">
        <p14:creationId xmlns:p14="http://schemas.microsoft.com/office/powerpoint/2010/main" val="378836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lstStyle/>
          <a:p>
            <a:r>
              <a:rPr lang="en-US" dirty="0"/>
              <a:t>Range of Unsigned Integers</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1370085427"/>
              </p:ext>
            </p:extLst>
          </p:nvPr>
        </p:nvGraphicFramePr>
        <p:xfrm>
          <a:off x="1905000" y="4059698"/>
          <a:ext cx="8458200" cy="2112500"/>
        </p:xfrm>
        <a:graphic>
          <a:graphicData uri="http://schemas.openxmlformats.org/drawingml/2006/table">
            <a:tbl>
              <a:tblPr firstRow="1" bandRow="1">
                <a:tableStyleId>{5C22544A-7EE6-4342-B048-85BDC9FD1C3A}</a:tableStyleId>
              </a:tblPr>
              <a:tblGrid>
                <a:gridCol w="2608604">
                  <a:extLst>
                    <a:ext uri="{9D8B030D-6E8A-4147-A177-3AD203B41FA5}">
                      <a16:colId xmlns:a16="http://schemas.microsoft.com/office/drawing/2014/main" val="3190717045"/>
                    </a:ext>
                  </a:extLst>
                </a:gridCol>
                <a:gridCol w="4175577">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Unsigned Byte</a:t>
                      </a:r>
                    </a:p>
                  </a:txBody>
                  <a:tcPr/>
                </a:tc>
                <a:tc>
                  <a:txBody>
                    <a:bodyPr/>
                    <a:lstStyle/>
                    <a:p>
                      <a:r>
                        <a:rPr lang="en-US" dirty="0">
                          <a:latin typeface="Consolas" panose="020B0609020204030204" pitchFamily="49" charset="0"/>
                          <a:cs typeface="Consolas" panose="020B0609020204030204" pitchFamily="49" charset="0"/>
                        </a:rPr>
                        <a:t>0 to 255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8</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Unsigned Half-word</a:t>
                      </a:r>
                    </a:p>
                  </a:txBody>
                  <a:tcPr/>
                </a:tc>
                <a:tc>
                  <a:txBody>
                    <a:bodyPr/>
                    <a:lstStyle/>
                    <a:p>
                      <a:r>
                        <a:rPr lang="en-US" dirty="0">
                          <a:latin typeface="Consolas" panose="020B0609020204030204" pitchFamily="49" charset="0"/>
                          <a:cs typeface="Consolas" panose="020B0609020204030204" pitchFamily="49" charset="0"/>
                        </a:rPr>
                        <a:t>0 to 65,535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16</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Unsigned Word</a:t>
                      </a:r>
                    </a:p>
                  </a:txBody>
                  <a:tcPr/>
                </a:tc>
                <a:tc>
                  <a:txBody>
                    <a:bodyPr/>
                    <a:lstStyle/>
                    <a:p>
                      <a:r>
                        <a:rPr lang="en-US" dirty="0">
                          <a:latin typeface="Consolas" panose="020B0609020204030204" pitchFamily="49" charset="0"/>
                          <a:cs typeface="Consolas" panose="020B0609020204030204" pitchFamily="49" charset="0"/>
                        </a:rPr>
                        <a:t>0 to 4,294,967,295 </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32</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Unsigned Double-word</a:t>
                      </a:r>
                    </a:p>
                  </a:txBody>
                  <a:tcPr/>
                </a:tc>
                <a:tc>
                  <a:txBody>
                    <a:bodyPr/>
                    <a:lstStyle/>
                    <a:p>
                      <a:r>
                        <a:rPr lang="en-US" dirty="0">
                          <a:latin typeface="Consolas" panose="020B0609020204030204" pitchFamily="49" charset="0"/>
                          <a:cs typeface="Consolas" panose="020B0609020204030204" pitchFamily="49" charset="0"/>
                        </a:rPr>
                        <a:t>0 to 18,446,744,073,709,551,615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64</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1321897"/>
            <a:ext cx="730746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496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6" name="TextBox 5"/>
          <p:cNvSpPr txBox="1"/>
          <p:nvPr/>
        </p:nvSpPr>
        <p:spPr>
          <a:xfrm>
            <a:off x="1828801" y="1302199"/>
            <a:ext cx="3159839" cy="369332"/>
          </a:xfrm>
          <a:prstGeom prst="rect">
            <a:avLst/>
          </a:prstGeom>
          <a:noFill/>
        </p:spPr>
        <p:txBody>
          <a:bodyPr wrap="none" rtlCol="0">
            <a:spAutoFit/>
          </a:bodyPr>
          <a:lstStyle/>
          <a:p>
            <a:r>
              <a:rPr lang="en-US" b="1" dirty="0">
                <a:solidFill>
                  <a:srgbClr val="C00000"/>
                </a:solidFill>
              </a:rPr>
              <a:t>Convert Decimal to Binary </a:t>
            </a:r>
          </a:p>
        </p:txBody>
      </p:sp>
      <p:pic>
        <p:nvPicPr>
          <p:cNvPr id="399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744" y="2514600"/>
            <a:ext cx="3810857" cy="3088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3155265" y="5794087"/>
            <a:ext cx="1715534" cy="369332"/>
          </a:xfrm>
          <a:prstGeom prst="rect">
            <a:avLst/>
          </a:prstGeom>
        </p:spPr>
        <p:txBody>
          <a:bodyPr wrap="none">
            <a:spAutoFit/>
          </a:bodyPr>
          <a:lstStyle/>
          <a:p>
            <a:r>
              <a:rPr lang="en-US" b="1" dirty="0">
                <a:solidFill>
                  <a:srgbClr val="0000FF"/>
                </a:solidFill>
              </a:rPr>
              <a:t>52</a:t>
            </a:r>
            <a:r>
              <a:rPr lang="en-US" b="1" baseline="-25000" dirty="0"/>
              <a:t>10</a:t>
            </a:r>
            <a:r>
              <a:rPr lang="en-US" b="1" dirty="0"/>
              <a:t> = </a:t>
            </a:r>
            <a:r>
              <a:rPr lang="en-US" b="1" dirty="0">
                <a:solidFill>
                  <a:srgbClr val="C00000"/>
                </a:solidFill>
              </a:rPr>
              <a:t>110100</a:t>
            </a:r>
            <a:r>
              <a:rPr lang="en-US" b="1" baseline="-25000" dirty="0"/>
              <a:t>2</a:t>
            </a:r>
            <a:endParaRPr lang="en-US" b="1" dirty="0"/>
          </a:p>
        </p:txBody>
      </p:sp>
      <p:sp>
        <p:nvSpPr>
          <p:cNvPr id="11" name="Rectangle 10"/>
          <p:cNvSpPr/>
          <p:nvPr/>
        </p:nvSpPr>
        <p:spPr>
          <a:xfrm>
            <a:off x="3323580" y="1920654"/>
            <a:ext cx="1378904" cy="369332"/>
          </a:xfrm>
          <a:prstGeom prst="rect">
            <a:avLst/>
          </a:prstGeom>
        </p:spPr>
        <p:txBody>
          <a:bodyPr wrap="none">
            <a:spAutoFit/>
          </a:bodyPr>
          <a:lstStyle/>
          <a:p>
            <a:r>
              <a:rPr lang="en-US" b="1" dirty="0"/>
              <a:t>Example 1 </a:t>
            </a:r>
          </a:p>
        </p:txBody>
      </p:sp>
      <p:grpSp>
        <p:nvGrpSpPr>
          <p:cNvPr id="13" name="Group 12"/>
          <p:cNvGrpSpPr/>
          <p:nvPr/>
        </p:nvGrpSpPr>
        <p:grpSpPr>
          <a:xfrm>
            <a:off x="6324601" y="1302200"/>
            <a:ext cx="4272503" cy="5022401"/>
            <a:chOff x="4800600" y="1302199"/>
            <a:chExt cx="4272503" cy="5022401"/>
          </a:xfrm>
        </p:grpSpPr>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171" y="2289986"/>
              <a:ext cx="4144932" cy="327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4800600" y="1302199"/>
              <a:ext cx="0" cy="502240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203659" y="5799224"/>
              <a:ext cx="1715534" cy="369332"/>
            </a:xfrm>
            <a:prstGeom prst="rect">
              <a:avLst/>
            </a:prstGeom>
          </p:spPr>
          <p:txBody>
            <a:bodyPr wrap="none">
              <a:spAutoFit/>
            </a:bodyPr>
            <a:lstStyle/>
            <a:p>
              <a:r>
                <a:rPr lang="en-US" b="1" dirty="0">
                  <a:solidFill>
                    <a:srgbClr val="0000FF"/>
                  </a:solidFill>
                </a:rPr>
                <a:t>32</a:t>
              </a:r>
              <a:r>
                <a:rPr lang="en-US" b="1" baseline="-25000" dirty="0"/>
                <a:t>10</a:t>
              </a:r>
              <a:r>
                <a:rPr lang="en-US" b="1" dirty="0"/>
                <a:t> = </a:t>
              </a:r>
              <a:r>
                <a:rPr lang="en-US" b="1" dirty="0">
                  <a:solidFill>
                    <a:srgbClr val="C00000"/>
                  </a:solidFill>
                </a:rPr>
                <a:t>100000</a:t>
              </a:r>
              <a:r>
                <a:rPr lang="en-US" b="1" baseline="-25000" dirty="0"/>
                <a:t>2</a:t>
              </a:r>
              <a:endParaRPr lang="en-US" b="1" dirty="0"/>
            </a:p>
          </p:txBody>
        </p:sp>
        <p:sp>
          <p:nvSpPr>
            <p:cNvPr id="12" name="Rectangle 11"/>
            <p:cNvSpPr/>
            <p:nvPr/>
          </p:nvSpPr>
          <p:spPr>
            <a:xfrm>
              <a:off x="6311185" y="1956101"/>
              <a:ext cx="1378904" cy="369332"/>
            </a:xfrm>
            <a:prstGeom prst="rect">
              <a:avLst/>
            </a:prstGeom>
          </p:spPr>
          <p:txBody>
            <a:bodyPr wrap="none">
              <a:spAutoFit/>
            </a:bodyPr>
            <a:lstStyle/>
            <a:p>
              <a:r>
                <a:rPr lang="en-US" b="1" dirty="0"/>
                <a:t>Example 2 </a:t>
              </a:r>
            </a:p>
          </p:txBody>
        </p:sp>
      </p:grpSp>
    </p:spTree>
    <p:extLst>
      <p:ext uri="{BB962C8B-B14F-4D97-AF65-F5344CB8AC3E}">
        <p14:creationId xmlns:p14="http://schemas.microsoft.com/office/powerpoint/2010/main" val="146790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arithmetic</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6</a:t>
            </a:fld>
            <a:endParaRPr kumimoji="0" lang="en-US"/>
          </a:p>
        </p:txBody>
      </p:sp>
      <mc:AlternateContent xmlns:mc="http://schemas.openxmlformats.org/markup-compatibility/2006" xmlns:a14="http://schemas.microsoft.com/office/drawing/2010/main">
        <mc:Choice Requires="a14">
          <p:sp>
            <p:nvSpPr>
              <p:cNvPr id="7" name="Rectangle 6"/>
              <p:cNvSpPr/>
              <p:nvPr/>
            </p:nvSpPr>
            <p:spPr>
              <a:xfrm>
                <a:off x="813400" y="1524000"/>
                <a:ext cx="8382000" cy="4154984"/>
              </a:xfrm>
              <a:prstGeom prst="rect">
                <a:avLst/>
              </a:prstGeom>
              <a:ln>
                <a:noFill/>
              </a:ln>
            </p:spPr>
            <p:txBody>
              <a:bodyPr wrap="square">
                <a:spAutoFit/>
              </a:bodyPr>
              <a:lstStyle/>
              <a:p>
                <a:pPr marL="342900" indent="-342900">
                  <a:buFont typeface="Arial" panose="020B0604020202020204" pitchFamily="34" charset="0"/>
                  <a:buChar char="•"/>
                </a:pPr>
                <a:r>
                  <a:rPr lang="en-US" sz="2400" dirty="0"/>
                  <a:t>Given </a:t>
                </a:r>
                <a:r>
                  <a:rPr lang="en-US" sz="2400" dirty="0">
                    <a:solidFill>
                      <a:srgbClr val="C00000"/>
                    </a:solidFill>
                  </a:rPr>
                  <a:t>unsigned</a:t>
                </a:r>
                <a:r>
                  <a:rPr lang="en-US" sz="2400" dirty="0"/>
                  <a:t> integers </a:t>
                </a:r>
                <a14:m>
                  <m:oMath xmlns:m="http://schemas.openxmlformats.org/officeDocument/2006/math">
                    <m:r>
                      <a:rPr lang="en-US" sz="2400" i="1">
                        <a:latin typeface="Cambria Math" panose="02040503050406030204" pitchFamily="18" charset="0"/>
                      </a:rPr>
                      <m:t>𝑎</m:t>
                    </m:r>
                  </m:oMath>
                </a14:m>
                <a:r>
                  <a:rPr lang="en-US" sz="2400" dirty="0"/>
                  <a:t> and </a:t>
                </a:r>
                <a14:m>
                  <m:oMath xmlns:m="http://schemas.openxmlformats.org/officeDocument/2006/math">
                    <m:r>
                      <a:rPr lang="en-US" sz="2400" i="1">
                        <a:latin typeface="Cambria Math" panose="02040503050406030204" pitchFamily="18" charset="0"/>
                      </a:rPr>
                      <m:t>𝑏</m:t>
                    </m:r>
                  </m:oMath>
                </a14:m>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Carry happens if </a:t>
                </a:r>
                <a:r>
                  <a:rPr lang="en-US" sz="2400" dirty="0">
                    <a:solidFill>
                      <a:srgbClr val="C00000"/>
                    </a:solidFill>
                  </a:rPr>
                  <a:t>c is too big to fit in </a:t>
                </a:r>
                <a:r>
                  <a:rPr lang="en-US" sz="2400" i="1" dirty="0">
                    <a:solidFill>
                      <a:srgbClr val="C00000"/>
                    </a:solidFill>
                  </a:rPr>
                  <a:t>n</a:t>
                </a:r>
                <a:r>
                  <a:rPr lang="en-US" sz="2400" dirty="0">
                    <a:solidFill>
                      <a:srgbClr val="C00000"/>
                    </a:solidFill>
                  </a:rPr>
                  <a:t> bits </a:t>
                </a:r>
                <a:r>
                  <a:rPr lang="en-US" sz="2400" dirty="0"/>
                  <a:t>(</a:t>
                </a:r>
                <a:r>
                  <a:rPr lang="en-US" sz="2400" i="1" dirty="0"/>
                  <a:t>i.e.</a:t>
                </a:r>
                <a:r>
                  <a:rPr lang="en-US" sz="2400" dirty="0"/>
                  <a:t>, </a:t>
                </a:r>
                <a14:m>
                  <m:oMath xmlns:m="http://schemas.openxmlformats.org/officeDocument/2006/math">
                    <m:r>
                      <m:rPr>
                        <m:sty m:val="p"/>
                      </m:rPr>
                      <a:rPr lang="en-US" sz="2400">
                        <a:latin typeface="Cambria Math" panose="02040503050406030204" pitchFamily="18" charset="0"/>
                      </a:rPr>
                      <m:t>c</m:t>
                    </m:r>
                    <m:sSup>
                      <m:sSupPr>
                        <m:ctrlPr>
                          <a:rPr lang="en-US" sz="2400" i="1">
                            <a:latin typeface="Cambria Math" panose="02040503050406030204" pitchFamily="18" charset="0"/>
                          </a:rPr>
                        </m:ctrlPr>
                      </m:sSupPr>
                      <m:e>
                        <m:r>
                          <a:rPr lang="en-US" sz="2400" i="1">
                            <a:latin typeface="Cambria Math" panose="02040503050406030204" pitchFamily="18" charset="0"/>
                          </a:rPr>
                          <m:t>&gt;</m:t>
                        </m:r>
                        <m:r>
                          <a:rPr lang="en-US" sz="2400" i="1">
                            <a:latin typeface="Cambria Math"/>
                          </a:rPr>
                          <m:t>2</m:t>
                        </m:r>
                      </m:e>
                      <m:sup>
                        <m:r>
                          <a:rPr lang="en-US" sz="2400" i="1">
                            <a:latin typeface="Cambria Math"/>
                          </a:rPr>
                          <m:t>𝑛</m:t>
                        </m:r>
                      </m:sup>
                    </m:sSup>
                    <m:r>
                      <a:rPr lang="en-US" sz="2400" i="1">
                        <a:latin typeface="Cambria Math"/>
                      </a:rPr>
                      <m:t>−1</m:t>
                    </m:r>
                  </m:oMath>
                </a14:m>
                <a:r>
                  <a:rPr lang="en-US" sz="2400" dirty="0"/>
                  <a:t>).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Borrow happens if </a:t>
                </a:r>
                <a14:m>
                  <m:oMath xmlns:m="http://schemas.openxmlformats.org/officeDocument/2006/math">
                    <m:r>
                      <a:rPr lang="en-US" sz="2400" i="1">
                        <a:latin typeface="Cambria Math" panose="02040503050406030204" pitchFamily="18" charset="0"/>
                      </a:rPr>
                      <m:t>𝑐</m:t>
                    </m:r>
                    <m:r>
                      <a:rPr lang="en-US" sz="2400" i="1">
                        <a:latin typeface="Cambria Math" panose="02040503050406030204" pitchFamily="18" charset="0"/>
                      </a:rPr>
                      <m:t>&lt;0</m:t>
                    </m:r>
                  </m:oMath>
                </a14:m>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On ARM Cortex-M processors, the carry flag and the borrow flag are physically the same flag bit in the status register. </a:t>
                </a:r>
              </a:p>
              <a:p>
                <a:pPr marL="800100" lvl="1" indent="-342900">
                  <a:buFont typeface="Arial" panose="020B0604020202020204" pitchFamily="34" charset="0"/>
                  <a:buChar char="•"/>
                </a:pPr>
                <a:r>
                  <a:rPr lang="en-US" sz="2400" dirty="0">
                    <a:solidFill>
                      <a:srgbClr val="C00000"/>
                    </a:solidFill>
                  </a:rPr>
                  <a:t>For an unsigned subtraction, Carry = NOT Borrow</a:t>
                </a:r>
              </a:p>
            </p:txBody>
          </p:sp>
        </mc:Choice>
        <mc:Fallback xmlns="">
          <p:sp>
            <p:nvSpPr>
              <p:cNvPr id="7" name="Rectangle 6"/>
              <p:cNvSpPr>
                <a:spLocks noRot="1" noChangeAspect="1" noMove="1" noResize="1" noEditPoints="1" noAdjustHandles="1" noChangeArrowheads="1" noChangeShapeType="1" noTextEdit="1"/>
              </p:cNvSpPr>
              <p:nvPr/>
            </p:nvSpPr>
            <p:spPr>
              <a:xfrm>
                <a:off x="813400" y="1524000"/>
                <a:ext cx="8382000" cy="4154984"/>
              </a:xfrm>
              <a:prstGeom prst="rect">
                <a:avLst/>
              </a:prstGeom>
              <a:blipFill>
                <a:blip r:embed="rId3"/>
                <a:stretch>
                  <a:fillRect l="-908" t="-1220" r="-1210" b="-243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98972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7</a:t>
            </a:fld>
            <a:endParaRPr kumimoji="0" lang="en-US"/>
          </a:p>
        </p:txBody>
      </p:sp>
      <p:pic>
        <p:nvPicPr>
          <p:cNvPr id="378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986418"/>
            <a:ext cx="4210404" cy="38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828800" y="5867400"/>
            <a:ext cx="3676776" cy="369332"/>
          </a:xfrm>
          <a:prstGeom prst="rect">
            <a:avLst/>
          </a:prstGeom>
        </p:spPr>
        <p:txBody>
          <a:bodyPr wrap="none">
            <a:spAutoFit/>
          </a:bodyPr>
          <a:lstStyle/>
          <a:p>
            <a:r>
              <a:rPr lang="en-US" dirty="0"/>
              <a:t>A carry occurs when adding 28 and 6</a:t>
            </a:r>
          </a:p>
        </p:txBody>
      </p:sp>
      <mc:AlternateContent xmlns:mc="http://schemas.openxmlformats.org/markup-compatibility/2006" xmlns:a14="http://schemas.microsoft.com/office/drawing/2010/main">
        <mc:Choice Requires="a14">
          <p:sp>
            <p:nvSpPr>
              <p:cNvPr id="8" name="Rectangle 7"/>
              <p:cNvSpPr/>
              <p:nvPr/>
            </p:nvSpPr>
            <p:spPr>
              <a:xfrm>
                <a:off x="609600" y="1219201"/>
                <a:ext cx="98709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𝟑𝟏</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𝟓</m:t>
                    </m:r>
                    <m:r>
                      <a:rPr lang="en-US" b="1" i="1" smtClean="0">
                        <a:solidFill>
                          <a:srgbClr val="C00000"/>
                        </a:solidFill>
                        <a:latin typeface="Cambria Math" panose="02040503050406030204" pitchFamily="18" charset="0"/>
                      </a:rPr>
                      <m:t>)</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19201"/>
                <a:ext cx="9870934" cy="646331"/>
              </a:xfrm>
              <a:prstGeom prst="rect">
                <a:avLst/>
              </a:prstGeom>
              <a:blipFill>
                <a:blip r:embed="rId4"/>
                <a:stretch>
                  <a:fillRect l="-494" t="-4717" r="-309" b="-14151"/>
                </a:stretch>
              </a:blipFill>
            </p:spPr>
            <p:txBody>
              <a:bodyPr/>
              <a:lstStyle/>
              <a:p>
                <a:r>
                  <a:rPr lang="zh-CN" altLang="en-US">
                    <a:noFill/>
                  </a:rPr>
                  <a:t> </a:t>
                </a:r>
              </a:p>
            </p:txBody>
          </p:sp>
        </mc:Fallback>
      </mc:AlternateContent>
      <p:sp>
        <p:nvSpPr>
          <p:cNvPr id="9" name="Rectangle 8"/>
          <p:cNvSpPr/>
          <p:nvPr/>
        </p:nvSpPr>
        <p:spPr>
          <a:xfrm>
            <a:off x="6047225" y="4724401"/>
            <a:ext cx="4572000" cy="1200329"/>
          </a:xfrm>
          <a:prstGeom prst="rect">
            <a:avLst/>
          </a:prstGeom>
        </p:spPr>
        <p:txBody>
          <a:bodyPr>
            <a:spAutoFit/>
          </a:bodyPr>
          <a:lstStyle/>
          <a:p>
            <a:pPr marL="285750" indent="-28575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1</a:t>
            </a:r>
            <a:r>
              <a:rPr lang="en-US" dirty="0"/>
              <a:t>, indicating carry has occurred on unsigned addition. </a:t>
            </a:r>
          </a:p>
          <a:p>
            <a:pPr marL="285750" indent="-285750">
              <a:buFont typeface="Arial" panose="020B0604020202020204" pitchFamily="34" charset="0"/>
              <a:buChar char="•"/>
            </a:pPr>
            <a:r>
              <a:rPr lang="en-US" dirty="0"/>
              <a:t>Carry flag is </a:t>
            </a:r>
            <a:r>
              <a:rPr lang="en-US" dirty="0">
                <a:latin typeface="Consolas" panose="020B0609020204030204" pitchFamily="49" charset="0"/>
                <a:cs typeface="Consolas" panose="020B0609020204030204" pitchFamily="49" charset="0"/>
              </a:rPr>
              <a:t>1</a:t>
            </a:r>
            <a:r>
              <a:rPr lang="en-US" dirty="0"/>
              <a:t> because the result crosses the boundary between </a:t>
            </a:r>
            <a:r>
              <a:rPr lang="en-US" dirty="0">
                <a:latin typeface="Consolas" panose="020B0609020204030204" pitchFamily="49" charset="0"/>
                <a:cs typeface="Consolas" panose="020B0609020204030204" pitchFamily="49" charset="0"/>
              </a:rPr>
              <a:t>31</a:t>
            </a:r>
            <a:r>
              <a:rPr lang="en-US" dirty="0"/>
              <a:t> and 0.</a:t>
            </a:r>
          </a:p>
        </p:txBody>
      </p:sp>
      <p:pic>
        <p:nvPicPr>
          <p:cNvPr id="4" name="Picture 3"/>
          <p:cNvPicPr>
            <a:picLocks noChangeAspect="1"/>
          </p:cNvPicPr>
          <p:nvPr/>
        </p:nvPicPr>
        <p:blipFill>
          <a:blip r:embed="rId5"/>
          <a:stretch>
            <a:fillRect/>
          </a:stretch>
        </p:blipFill>
        <p:spPr>
          <a:xfrm>
            <a:off x="6477000" y="2133601"/>
            <a:ext cx="3851134" cy="2316133"/>
          </a:xfrm>
          <a:prstGeom prst="rect">
            <a:avLst/>
          </a:prstGeom>
        </p:spPr>
      </p:pic>
    </p:spTree>
    <p:extLst>
      <p:ext uri="{BB962C8B-B14F-4D97-AF65-F5344CB8AC3E}">
        <p14:creationId xmlns:p14="http://schemas.microsoft.com/office/powerpoint/2010/main" val="138885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8</a:t>
            </a:fld>
            <a:endParaRPr kumimoji="0" lang="en-US"/>
          </a:p>
        </p:txBody>
      </p:sp>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763" y="1931458"/>
            <a:ext cx="4114801" cy="388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963220" y="5834413"/>
            <a:ext cx="4384534" cy="369332"/>
          </a:xfrm>
          <a:prstGeom prst="rect">
            <a:avLst/>
          </a:prstGeom>
        </p:spPr>
        <p:txBody>
          <a:bodyPr wrap="none">
            <a:spAutoFit/>
          </a:bodyPr>
          <a:lstStyle/>
          <a:p>
            <a:r>
              <a:rPr lang="en-US" dirty="0"/>
              <a:t>A borrow occurs when subtracting 5 from 3.</a:t>
            </a:r>
          </a:p>
        </p:txBody>
      </p:sp>
      <mc:AlternateContent xmlns:mc="http://schemas.openxmlformats.org/markup-compatibility/2006" xmlns:a14="http://schemas.microsoft.com/office/drawing/2010/main">
        <mc:Choice Requires="a14">
          <p:sp>
            <p:nvSpPr>
              <p:cNvPr id="8" name="Rectangle 7"/>
              <p:cNvSpPr/>
              <p:nvPr/>
            </p:nvSpPr>
            <p:spPr>
              <a:xfrm>
                <a:off x="609600" y="1241928"/>
                <a:ext cx="84993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41928"/>
                <a:ext cx="8499334" cy="646331"/>
              </a:xfrm>
              <a:prstGeom prst="rect">
                <a:avLst/>
              </a:prstGeom>
              <a:blipFill>
                <a:blip r:embed="rId4"/>
                <a:stretch>
                  <a:fillRect l="-597" t="-3846" b="-13462"/>
                </a:stretch>
              </a:blipFill>
            </p:spPr>
            <p:txBody>
              <a:bodyPr/>
              <a:lstStyle/>
              <a:p>
                <a:r>
                  <a:rPr lang="en-US">
                    <a:noFill/>
                  </a:rPr>
                  <a:t> </a:t>
                </a:r>
              </a:p>
            </p:txBody>
          </p:sp>
        </mc:Fallback>
      </mc:AlternateContent>
      <p:sp>
        <p:nvSpPr>
          <p:cNvPr id="4" name="Rectangle 3"/>
          <p:cNvSpPr/>
          <p:nvPr/>
        </p:nvSpPr>
        <p:spPr>
          <a:xfrm>
            <a:off x="6242854" y="4648200"/>
            <a:ext cx="4147412" cy="923330"/>
          </a:xfrm>
          <a:prstGeom prst="rect">
            <a:avLst/>
          </a:prstGeom>
        </p:spPr>
        <p:txBody>
          <a:bodyPr wrap="square">
            <a:spAutoFit/>
          </a:bodyPr>
          <a:lstStyle/>
          <a:p>
            <a:pPr marL="342900" indent="-34290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0</a:t>
            </a:r>
            <a:r>
              <a:rPr lang="en-US" dirty="0"/>
              <a:t>, indicating borrow has occurred on unsigned subtraction.</a:t>
            </a:r>
          </a:p>
          <a:p>
            <a:pPr marL="342900" indent="-342900">
              <a:buFont typeface="Arial" panose="020B0604020202020204" pitchFamily="34" charset="0"/>
              <a:buChar char="•"/>
            </a:pPr>
            <a:r>
              <a:rPr lang="en-US" dirty="0"/>
              <a:t>For subtraction, carry = NOT borrow.</a:t>
            </a:r>
          </a:p>
        </p:txBody>
      </p:sp>
      <p:pic>
        <p:nvPicPr>
          <p:cNvPr id="5" name="Picture 4"/>
          <p:cNvPicPr>
            <a:picLocks noChangeAspect="1"/>
          </p:cNvPicPr>
          <p:nvPr/>
        </p:nvPicPr>
        <p:blipFill>
          <a:blip r:embed="rId5"/>
          <a:stretch>
            <a:fillRect/>
          </a:stretch>
        </p:blipFill>
        <p:spPr>
          <a:xfrm>
            <a:off x="6525656" y="2240637"/>
            <a:ext cx="3864610" cy="2144681"/>
          </a:xfrm>
          <a:prstGeom prst="rect">
            <a:avLst/>
          </a:prstGeom>
        </p:spPr>
      </p:pic>
    </p:spTree>
    <p:extLst>
      <p:ext uri="{BB962C8B-B14F-4D97-AF65-F5344CB8AC3E}">
        <p14:creationId xmlns:p14="http://schemas.microsoft.com/office/powerpoint/2010/main" val="543366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A0CDAA7F-72E9-4BAF-9D1D-807702175D95}" type="slidenum">
              <a:rPr lang="en-US"/>
              <a:pPr/>
              <a:t>9</a:t>
            </a:fld>
            <a:endParaRPr lang="en-US"/>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609600" y="1295400"/>
                <a:ext cx="7696200" cy="4572000"/>
              </a:xfrm>
              <a:noFill/>
              <a:extLst>
                <a:ext uri="{909E8E84-426E-40DD-AFC4-6F175D3DCCD1}">
                  <a14:hiddenFill>
                    <a:solidFill>
                      <a:srgbClr val="E4F5FF"/>
                    </a:solidFill>
                  </a14:hiddenFill>
                </a:ext>
              </a:extLst>
            </p:spPr>
            <p:txBody>
              <a:bodyPr/>
              <a:lstStyle/>
              <a:p>
                <a:r>
                  <a:rPr lang="en-US" dirty="0">
                    <a:latin typeface="Arial" charset="0"/>
                  </a:rPr>
                  <a:t>Three ways to represent signed binary integers:  </a:t>
                </a:r>
              </a:p>
              <a:p>
                <a:pPr lvl="1"/>
                <a:r>
                  <a:rPr lang="en-US" sz="2200" dirty="0">
                    <a:latin typeface="Arial" charset="0"/>
                  </a:rPr>
                  <a:t>Signed magnitude </a:t>
                </a:r>
              </a:p>
              <a:p>
                <a:pPr lvl="2"/>
                <a14:m>
                  <m:oMath xmlns:m="http://schemas.openxmlformats.org/officeDocument/2006/math">
                    <m:r>
                      <a:rPr lang="en-US" sz="1800" b="1" i="1">
                        <a:latin typeface="Cambria Math"/>
                      </a:rPr>
                      <m:t>𝒗𝒂𝒍𝒖𝒆</m:t>
                    </m:r>
                    <m:r>
                      <a:rPr lang="en-US" sz="1800" b="1" i="1">
                        <a:latin typeface="Cambria Math"/>
                      </a:rPr>
                      <m:t>=</m:t>
                    </m:r>
                    <m:sSup>
                      <m:sSupPr>
                        <m:ctrlPr>
                          <a:rPr lang="en-US" sz="1800" b="1" i="1">
                            <a:latin typeface="Cambria Math"/>
                          </a:rPr>
                        </m:ctrlPr>
                      </m:sSupPr>
                      <m:e>
                        <m:r>
                          <a:rPr lang="en-US" sz="1800" b="1" i="1">
                            <a:latin typeface="Cambria Math"/>
                          </a:rPr>
                          <m:t>(−</m:t>
                        </m:r>
                        <m:r>
                          <a:rPr lang="en-US" sz="1800" b="1" i="1">
                            <a:latin typeface="Cambria Math"/>
                          </a:rPr>
                          <m:t>𝟏</m:t>
                        </m:r>
                        <m:r>
                          <a:rPr lang="en-US" sz="1800" b="1" i="1">
                            <a:latin typeface="Cambria Math"/>
                          </a:rPr>
                          <m:t>)</m:t>
                        </m:r>
                      </m:e>
                      <m:sup>
                        <m:r>
                          <a:rPr lang="en-US" sz="1800" b="1" i="1">
                            <a:solidFill>
                              <a:srgbClr val="FF0000"/>
                            </a:solidFill>
                            <a:latin typeface="Cambria Math"/>
                          </a:rPr>
                          <m:t>𝒔𝒊𝒈𝒏</m:t>
                        </m:r>
                      </m:sup>
                    </m:sSup>
                    <m:r>
                      <a:rPr lang="en-US" sz="1800" b="1" i="1">
                        <a:latin typeface="Cambria Math"/>
                      </a:rPr>
                      <m:t>×</m:t>
                    </m:r>
                    <m:r>
                      <a:rPr lang="en-US" sz="1800" b="1" i="1">
                        <a:solidFill>
                          <a:srgbClr val="0000FF"/>
                        </a:solidFill>
                        <a:latin typeface="Cambria Math"/>
                      </a:rPr>
                      <m:t>𝑴𝒂𝒈𝒏𝒊𝒕𝒖𝒅𝒆</m:t>
                    </m:r>
                  </m:oMath>
                </a14:m>
                <a:endParaRPr lang="en-US" sz="1900" dirty="0">
                  <a:latin typeface="Arial" charset="0"/>
                </a:endParaRPr>
              </a:p>
              <a:p>
                <a:pPr lvl="1"/>
                <a:r>
                  <a:rPr lang="en-US" sz="2200" dirty="0">
                    <a:latin typeface="Arial" charset="0"/>
                  </a:rPr>
                  <a:t>One’s complement (</a:t>
                </a:r>
                <a14:m>
                  <m:oMath xmlns:m="http://schemas.openxmlformats.org/officeDocument/2006/math">
                    <m:acc>
                      <m:accPr>
                        <m:chr m:val="̃"/>
                        <m:ctrlPr>
                          <a:rPr lang="en-US" sz="2400" b="1" i="1">
                            <a:latin typeface="Cambria Math"/>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a:rPr>
                        </m:ctrlPr>
                      </m:accPr>
                      <m:e>
                        <m:r>
                          <a:rPr lang="en-US" sz="1800" b="1" i="1">
                            <a:latin typeface="Cambria Math"/>
                          </a:rPr>
                          <m:t>𝜶</m:t>
                        </m:r>
                      </m:e>
                    </m:acc>
                    <m:r>
                      <a:rPr lang="en-US" sz="1800" b="1" i="1">
                        <a:latin typeface="Cambria Math"/>
                      </a:rPr>
                      <m:t>=</m:t>
                    </m:r>
                    <m:sSup>
                      <m:sSupPr>
                        <m:ctrlPr>
                          <a:rPr lang="en-US" sz="1800" b="1" i="1">
                            <a:latin typeface="Cambria Math"/>
                          </a:rPr>
                        </m:ctrlPr>
                      </m:sSupPr>
                      <m:e>
                        <m:r>
                          <a:rPr lang="en-US" sz="1800" b="1" i="1">
                            <a:latin typeface="Cambria Math"/>
                          </a:rPr>
                          <m:t>𝟐</m:t>
                        </m:r>
                      </m:e>
                      <m:sup>
                        <m:r>
                          <a:rPr lang="en-US" sz="1800" b="1" i="1">
                            <a:latin typeface="Cambria Math"/>
                          </a:rPr>
                          <m:t>𝒏</m:t>
                        </m:r>
                      </m:sup>
                    </m:sSup>
                    <m:r>
                      <a:rPr lang="en-US" sz="1800" b="1" i="1">
                        <a:latin typeface="Cambria Math"/>
                      </a:rPr>
                      <m:t>−</m:t>
                    </m:r>
                    <m:r>
                      <a:rPr lang="en-US" sz="1800" b="1" i="1">
                        <a:latin typeface="Cambria Math"/>
                      </a:rPr>
                      <m:t>𝟏</m:t>
                    </m:r>
                  </m:oMath>
                </a14:m>
                <a:endParaRPr lang="en-US" sz="1900" dirty="0">
                  <a:latin typeface="Arial" charset="0"/>
                </a:endParaRPr>
              </a:p>
              <a:p>
                <a:pPr lvl="1"/>
                <a:r>
                  <a:rPr lang="en-US" sz="2200" dirty="0">
                    <a:latin typeface="Arial" charset="0"/>
                  </a:rPr>
                  <a:t>Two’s complement (</a:t>
                </a:r>
                <a14:m>
                  <m:oMath xmlns:m="http://schemas.openxmlformats.org/officeDocument/2006/math">
                    <m:acc>
                      <m:accPr>
                        <m:chr m:val="̅"/>
                        <m:ctrlPr>
                          <a:rPr lang="en-US" sz="2400" b="1" i="1">
                            <a:latin typeface="Cambria Math"/>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a:rPr>
                        </m:ctrlPr>
                      </m:accPr>
                      <m:e>
                        <m:r>
                          <a:rPr lang="en-US" sz="1800" b="1" i="1">
                            <a:latin typeface="Cambria Math"/>
                          </a:rPr>
                          <m:t>𝜶</m:t>
                        </m:r>
                      </m:e>
                    </m:acc>
                    <m:r>
                      <a:rPr lang="en-US" sz="1800" b="1" i="1">
                        <a:latin typeface="Cambria Math"/>
                      </a:rPr>
                      <m:t>=</m:t>
                    </m:r>
                    <m:sSup>
                      <m:sSupPr>
                        <m:ctrlPr>
                          <a:rPr lang="en-US" sz="1800" b="1" i="1">
                            <a:latin typeface="Cambria Math"/>
                          </a:rPr>
                        </m:ctrlPr>
                      </m:sSupPr>
                      <m:e>
                        <m:r>
                          <a:rPr lang="en-US" sz="1800" b="1" i="1">
                            <a:latin typeface="Cambria Math"/>
                          </a:rPr>
                          <m:t>𝟐</m:t>
                        </m:r>
                      </m:e>
                      <m:sup>
                        <m:r>
                          <a:rPr lang="en-US" sz="1800" b="1" i="1">
                            <a:latin typeface="Cambria Math"/>
                          </a:rPr>
                          <m:t>𝒏</m:t>
                        </m:r>
                      </m:sup>
                    </m:sSup>
                  </m:oMath>
                </a14:m>
                <a:endParaRPr lang="en-US" sz="1800" dirty="0"/>
              </a:p>
              <a:p>
                <a:pPr marL="594360" lvl="2" indent="0">
                  <a:buNone/>
                </a:pPr>
                <a:endParaRPr lang="en-US" sz="1900" dirty="0">
                  <a:latin typeface="Arial" charset="0"/>
                </a:endParaRPr>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609600" y="1295400"/>
                <a:ext cx="7696200" cy="4572000"/>
              </a:xfrm>
              <a:blipFill>
                <a:blip r:embed="rId3"/>
                <a:stretch>
                  <a:fillRect l="-824" t="-1385" r="-494"/>
                </a:stretch>
              </a:blipFill>
              <a:extLst>
                <a:ext uri="{909E8E84-426E-40DD-AFC4-6F175D3DCCD1}">
                  <a14:hiddenFill xmlns:a14="http://schemas.microsoft.com/office/drawing/2010/main">
                    <a:solidFill>
                      <a:srgbClr val="E4F5FF"/>
                    </a:solidFill>
                  </a14:hiddenFill>
                </a:ext>
              </a:extLst>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US" dirty="0"/>
              <a:t>Signed Integer Representation</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r>
                                  <a:rPr lang="en-US" sz="1800">
                                    <a:effectLst/>
                                    <a:latin typeface="Cambria Math"/>
                                  </a:rPr>
                                  <m:t>[−</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r>
                                  <a:rPr lang="en-US" sz="1800">
                                    <a:effectLst/>
                                    <a:latin typeface="Cambria Math"/>
                                  </a:rPr>
                                  <m:t>[−</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r>
                                  <a:rPr lang="en-US" sz="1800">
                                    <a:effectLst/>
                                    <a:latin typeface="Cambria Math"/>
                                  </a:rPr>
                                  <m:t> [−</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 </m:t>
                                </m:r>
                                <m:sSup>
                                  <m:sSupPr>
                                    <m:ctrlPr>
                                      <a:rPr lang="en-US" sz="1800">
                                        <a:effectLst/>
                                        <a:latin typeface="Cambria Math"/>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 zeroes (</a:t>
                          </a:r>
                          <a14:m>
                            <m:oMath xmlns:m="http://schemas.openxmlformats.org/officeDocument/2006/math">
                              <m:r>
                                <a:rPr lang="en-US" sz="1800">
                                  <a:effectLst/>
                                  <a:latin typeface="Cambria Math"/>
                                </a:rPr>
                                <m:t>±0</m:t>
                              </m:r>
                            </m:oMath>
                          </a14:m>
                          <a:r>
                            <a:rPr lang="en-US" sz="1800" dirty="0">
                              <a:effectLst/>
                            </a:rPr>
                            <a: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 zeroes (</a:t>
                          </a:r>
                          <a14:m>
                            <m:oMath xmlns:m="http://schemas.openxmlformats.org/officeDocument/2006/math">
                              <m:r>
                                <a:rPr lang="en-US" sz="1800">
                                  <a:effectLst/>
                                  <a:latin typeface="Cambria Math"/>
                                </a:rPr>
                                <m:t>±0</m:t>
                              </m:r>
                            </m:oMath>
                          </a14:m>
                          <a:r>
                            <a:rPr lang="en-US" sz="1800">
                              <a:effectLst/>
                            </a:rPr>
                            <a:t>)</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sSup>
                                  <m:sSupPr>
                                    <m:ctrlPr>
                                      <a:rPr lang="en-US" sz="1800">
                                        <a:effectLst/>
                                        <a:latin typeface="Cambria Math"/>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sSup>
                                  <m:sSupPr>
                                    <m:ctrlPr>
                                      <a:rPr lang="en-US" sz="1800">
                                        <a:effectLst/>
                                        <a:latin typeface="Cambria Math"/>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sSup>
                                  <m:sSupPr>
                                    <m:ctrlPr>
                                      <a:rPr lang="en-US" sz="1800">
                                        <a:effectLst/>
                                        <a:latin typeface="Cambria Math"/>
                                      </a:rPr>
                                    </m:ctrlPr>
                                  </m:sSupPr>
                                  <m:e>
                                    <m:r>
                                      <a:rPr lang="en-US" sz="1800">
                                        <a:effectLst/>
                                        <a:latin typeface="Cambria Math"/>
                                      </a:rPr>
                                      <m:t>2</m:t>
                                    </m:r>
                                  </m:e>
                                  <m:sup>
                                    <m:r>
                                      <a:rPr lang="en-US" sz="1800">
                                        <a:effectLst/>
                                        <a:latin typeface="Cambria Math"/>
                                      </a:rPr>
                                      <m:t>𝑛</m:t>
                                    </m:r>
                                  </m:sup>
                                </m:sSup>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54864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140000" r="-175714" b="-217143"/>
                          </a:stretch>
                        </a:blipFill>
                      </a:tcPr>
                    </a:tc>
                    <a:tc>
                      <a:txBody>
                        <a:bodyPr/>
                        <a:lstStyle/>
                        <a:p>
                          <a:endParaRPr lang="en-US"/>
                        </a:p>
                      </a:txBody>
                      <a:tcPr marL="68580" marR="68580" marT="0" marB="0" anchor="ctr">
                        <a:blipFill>
                          <a:blip r:embed="rId4"/>
                          <a:stretch>
                            <a:fillRect l="-158537" t="-140000" r="-80000" b="-217143"/>
                          </a:stretch>
                        </a:blipFill>
                      </a:tcPr>
                    </a:tc>
                    <a:tc>
                      <a:txBody>
                        <a:bodyPr/>
                        <a:lstStyle/>
                        <a:p>
                          <a:endParaRPr lang="en-US"/>
                        </a:p>
                      </a:txBody>
                      <a:tcPr marL="68580" marR="68580" marT="0" marB="0" anchor="ctr">
                        <a:blipFill>
                          <a:blip r:embed="rId4"/>
                          <a:stretch>
                            <a:fillRect l="-327160" t="-140000" r="-1235" b="-217143"/>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381818" r="-175714" b="-245455"/>
                          </a:stretch>
                        </a:blipFill>
                      </a:tcPr>
                    </a:tc>
                    <a:tc>
                      <a:txBody>
                        <a:bodyPr/>
                        <a:lstStyle/>
                        <a:p>
                          <a:endParaRPr lang="en-US"/>
                        </a:p>
                      </a:txBody>
                      <a:tcPr marL="68580" marR="68580" marT="0" marB="0" anchor="ctr">
                        <a:blipFill>
                          <a:blip r:embed="rId4"/>
                          <a:stretch>
                            <a:fillRect l="-158537" t="-381818" r="-80000" b="-245455"/>
                          </a:stretch>
                        </a:blipFill>
                      </a:tcP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246512" r="-175714" b="-25581"/>
                          </a:stretch>
                        </a:blipFill>
                      </a:tcPr>
                    </a:tc>
                    <a:tc>
                      <a:txBody>
                        <a:bodyPr/>
                        <a:lstStyle/>
                        <a:p>
                          <a:endParaRPr lang="en-US"/>
                        </a:p>
                      </a:txBody>
                      <a:tcPr marL="68580" marR="68580" marT="0" marB="0" anchor="ctr">
                        <a:blipFill>
                          <a:blip r:embed="rId4"/>
                          <a:stretch>
                            <a:fillRect l="-158537" t="-246512" r="-80000" b="-25581"/>
                          </a:stretch>
                        </a:blipFill>
                      </a:tcPr>
                    </a:tc>
                    <a:tc>
                      <a:txBody>
                        <a:bodyPr/>
                        <a:lstStyle/>
                        <a:p>
                          <a:endParaRPr lang="en-US"/>
                        </a:p>
                      </a:txBody>
                      <a:tcPr marL="68580" marR="68580" marT="0" marB="0" anchor="ctr">
                        <a:blipFill>
                          <a:blip r:embed="rId4"/>
                          <a:stretch>
                            <a:fillRect l="-327160" t="-246512" r="-1235" b="-25581"/>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877060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3C89448-AD74-4018-9305-3850ACD33B3A}" type="slidenum">
              <a:rPr lang="en-US"/>
              <a:pPr/>
              <a:t>10</a:t>
            </a:fld>
            <a:endParaRPr lang="en-US" dirty="0"/>
          </a:p>
        </p:txBody>
      </p:sp>
      <p:sp>
        <p:nvSpPr>
          <p:cNvPr id="187395" name="Rectangle 3"/>
          <p:cNvSpPr>
            <a:spLocks noGrp="1" noChangeArrowheads="1"/>
          </p:cNvSpPr>
          <p:nvPr>
            <p:ph type="body" idx="1"/>
          </p:nvPr>
        </p:nvSpPr>
        <p:spPr>
          <a:xfrm>
            <a:off x="732698" y="3039948"/>
            <a:ext cx="4419600" cy="3352800"/>
          </a:xfrm>
          <a:noFill/>
          <a:extLst>
            <a:ext uri="{909E8E84-426E-40DD-AFC4-6F175D3DCCD1}">
              <a14:hiddenFill xmlns:a14="http://schemas.microsoft.com/office/drawing/2010/main">
                <a:solidFill>
                  <a:srgbClr val="E4F5FF"/>
                </a:solidFill>
              </a14:hiddenFill>
            </a:ext>
          </a:extLst>
        </p:spPr>
        <p:txBody>
          <a:bodyPr>
            <a:normAutofit fontScale="77500" lnSpcReduction="20000"/>
          </a:bodyPr>
          <a:lstStyle/>
          <a:p>
            <a:r>
              <a:rPr lang="en-US" dirty="0"/>
              <a:t>Example:  in a 5-bit system</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endParaRPr lang="en-US" dirty="0">
              <a:solidFill>
                <a:srgbClr val="0000FF"/>
              </a:solidFill>
              <a:latin typeface="Consolas" panose="020B0609020204030204" pitchFamily="49" charset="0"/>
              <a:cs typeface="Consolas" panose="020B0609020204030204" pitchFamily="49" charset="0"/>
            </a:endParaRPr>
          </a:p>
          <a:p>
            <a:r>
              <a:rPr lang="en-US" dirty="0"/>
              <a:t>Two ways to represent zero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endParaRPr lang="en-US" dirty="0">
              <a:solidFill>
                <a:schemeClr val="tx1"/>
              </a:solidFill>
              <a:latin typeface="Consolas" panose="020B0609020204030204" pitchFamily="49" charset="0"/>
              <a:cs typeface="Consolas" panose="020B0609020204030204" pitchFamily="49" charset="0"/>
            </a:endParaRPr>
          </a:p>
          <a:p>
            <a:pPr lvl="1"/>
            <a:endParaRPr lang="en-US" baseline="-25000" dirty="0">
              <a:solidFill>
                <a:schemeClr val="tx1"/>
              </a:solidFill>
              <a:latin typeface="Consolas" panose="020B0609020204030204" pitchFamily="49" charset="0"/>
              <a:cs typeface="Consolas" panose="020B0609020204030204" pitchFamily="49" charset="0"/>
            </a:endParaRPr>
          </a:p>
          <a:p>
            <a:r>
              <a:rPr lang="en-US" dirty="0">
                <a:cs typeface="Consolas" panose="020B0609020204030204" pitchFamily="49" charset="0"/>
              </a:rPr>
              <a:t>Not used in modern systems</a:t>
            </a:r>
          </a:p>
          <a:p>
            <a:pPr lvl="1"/>
            <a:r>
              <a:rPr lang="en-US" dirty="0">
                <a:cs typeface="Consolas" panose="020B0609020204030204" pitchFamily="49" charset="0"/>
              </a:rPr>
              <a:t>Hardware complexity</a:t>
            </a:r>
          </a:p>
          <a:p>
            <a:pPr lvl="1"/>
            <a:r>
              <a:rPr lang="en-US" dirty="0">
                <a:cs typeface="Consolas" panose="020B0609020204030204" pitchFamily="49" charset="0"/>
              </a:rPr>
              <a:t>Two zeros </a:t>
            </a:r>
            <a:endParaRPr lang="en-US" dirty="0">
              <a:solidFill>
                <a:schemeClr val="tx1"/>
              </a:solidFill>
              <a:cs typeface="Consolas" panose="020B0609020204030204" pitchFamily="49" charset="0"/>
            </a:endParaRPr>
          </a:p>
        </p:txBody>
      </p:sp>
      <p:sp>
        <p:nvSpPr>
          <p:cNvPr id="2" name="Title 1"/>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1: Signed Magnitude </a:t>
            </a:r>
          </a:p>
        </p:txBody>
      </p:sp>
      <mc:AlternateContent xmlns:mc="http://schemas.openxmlformats.org/markup-compatibility/2006" xmlns:a14="http://schemas.microsoft.com/office/drawing/2010/main">
        <mc:Choice Requires="a14">
          <p:sp>
            <p:nvSpPr>
              <p:cNvPr id="3" name="Rectangle 2"/>
              <p:cNvSpPr/>
              <p:nvPr/>
            </p:nvSpPr>
            <p:spPr>
              <a:xfrm>
                <a:off x="609600" y="1209354"/>
                <a:ext cx="5181600" cy="840423"/>
              </a:xfrm>
              <a:prstGeom prst="rect">
                <a:avLst/>
              </a:prstGeom>
            </p:spPr>
            <p:txBody>
              <a:bodyPr wrap="square">
                <a:spAutoFit/>
              </a:bodyPr>
              <a:lstStyle/>
              <a:p>
                <a:r>
                  <a:rPr lang="en-US" sz="2400" b="1" i="1" dirty="0"/>
                  <a:t>Sign-and-Magnitude:</a:t>
                </a:r>
                <a:endParaRPr lang="en-US" sz="2400" dirty="0"/>
              </a:p>
              <a:p>
                <a:pPr/>
                <a14:m>
                  <m:oMathPara xmlns:m="http://schemas.openxmlformats.org/officeDocument/2006/math">
                    <m:oMath>
                      <m:r>
                        <a:rPr lang="en-US" sz="2400" b="1" i="1">
                          <a:latin typeface="Cambria Math"/>
                        </a:rPr>
                        <m:t>𝒗𝒂𝒍𝒖𝒆</m:t>
                      </m:r>
                      <m:r>
                        <a:rPr lang="en-US" sz="2400" b="1" i="1">
                          <a:latin typeface="Cambria Math"/>
                        </a:rPr>
                        <m:t>=</m:t>
                      </m:r>
                      <m:sSup>
                        <m:sSupPr>
                          <m:ctrlPr>
                            <a:rPr lang="en-US" sz="2400" b="1" i="1">
                              <a:latin typeface="Cambria Math"/>
                            </a:rPr>
                          </m:ctrlPr>
                        </m:sSupPr>
                        <m:e>
                          <m:r>
                            <a:rPr lang="en-US" sz="2400" b="1" i="1">
                              <a:latin typeface="Cambria Math"/>
                            </a:rPr>
                            <m:t>(−</m:t>
                          </m:r>
                          <m:r>
                            <a:rPr lang="en-US" sz="2400" b="1" i="1">
                              <a:latin typeface="Cambria Math"/>
                            </a:rPr>
                            <m:t>𝟏</m:t>
                          </m:r>
                          <m:r>
                            <a:rPr lang="en-US" sz="2400" b="1" i="1">
                              <a:latin typeface="Cambria Math"/>
                            </a:rPr>
                            <m:t>)</m:t>
                          </m:r>
                        </m:e>
                        <m:sup>
                          <m:r>
                            <a:rPr lang="en-US" sz="2400" b="1" i="1">
                              <a:solidFill>
                                <a:srgbClr val="FF0000"/>
                              </a:solidFill>
                              <a:latin typeface="Cambria Math"/>
                            </a:rPr>
                            <m:t>𝒔𝒊𝒈𝒏</m:t>
                          </m:r>
                        </m:sup>
                      </m:sSup>
                      <m:r>
                        <a:rPr lang="en-US" sz="2400" b="1" i="1">
                          <a:latin typeface="Cambria Math"/>
                        </a:rPr>
                        <m:t>×</m:t>
                      </m:r>
                      <m:r>
                        <a:rPr lang="en-US" sz="2400" b="1" i="1">
                          <a:solidFill>
                            <a:srgbClr val="0000FF"/>
                          </a:solidFill>
                          <a:latin typeface="Cambria Math"/>
                        </a:rPr>
                        <m:t>𝑴𝒂𝒈𝒏𝒊𝒕𝒖𝒅𝒆</m:t>
                      </m:r>
                    </m:oMath>
                  </m:oMathPara>
                </a14:m>
                <a:endParaRPr lang="en-US" sz="2400" dirty="0">
                  <a:solidFill>
                    <a:srgbClr val="0000FF"/>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09600" y="1209354"/>
                <a:ext cx="5181600" cy="840423"/>
              </a:xfrm>
              <a:prstGeom prst="rect">
                <a:avLst/>
              </a:prstGeom>
              <a:blipFill>
                <a:blip r:embed="rId3"/>
                <a:stretch>
                  <a:fillRect l="-1956" t="-5970" b="-8955"/>
                </a:stretch>
              </a:blipFill>
            </p:spPr>
            <p:txBody>
              <a:bodyPr/>
              <a:lstStyle/>
              <a:p>
                <a:r>
                  <a:rPr lang="en-US">
                    <a:noFill/>
                  </a:rPr>
                  <a:t> </a:t>
                </a:r>
              </a:p>
            </p:txBody>
          </p:sp>
        </mc:Fallback>
      </mc:AlternateContent>
      <p:sp>
        <p:nvSpPr>
          <p:cNvPr id="5" name="TextBox 4"/>
          <p:cNvSpPr txBox="1"/>
          <p:nvPr/>
        </p:nvSpPr>
        <p:spPr>
          <a:xfrm>
            <a:off x="1222430" y="2116131"/>
            <a:ext cx="3744936" cy="646331"/>
          </a:xfrm>
          <a:prstGeom prst="rect">
            <a:avLst/>
          </a:prstGeom>
          <a:noFill/>
        </p:spPr>
        <p:txBody>
          <a:bodyPr wrap="none" rtlCol="0">
            <a:spAutoFit/>
          </a:bodyPr>
          <a:lstStyle/>
          <a:p>
            <a:pPr marL="342900" indent="-342900">
              <a:buFont typeface="Arial" panose="020B0604020202020204" pitchFamily="34" charset="0"/>
              <a:buChar char="•"/>
            </a:pPr>
            <a:r>
              <a:rPr lang="en-US" dirty="0"/>
              <a:t>The most significant bit is the sign.</a:t>
            </a:r>
          </a:p>
          <a:p>
            <a:pPr marL="342900" indent="-342900">
              <a:buFont typeface="Arial" panose="020B0604020202020204" pitchFamily="34" charset="0"/>
              <a:buChar char="•"/>
            </a:pPr>
            <a:r>
              <a:rPr lang="en-US" dirty="0"/>
              <a:t>The rest bits are magnitude.</a:t>
            </a:r>
          </a:p>
        </p:txBody>
      </p:sp>
      <p:pic>
        <p:nvPicPr>
          <p:cNvPr id="419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0216" y="2181627"/>
            <a:ext cx="4343400" cy="4099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rot="636563">
            <a:off x="6100221" y="37360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20917649">
            <a:off x="9593218" y="3755591"/>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6200000">
            <a:off x="7816268" y="2242132"/>
            <a:ext cx="979064"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864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2: One’s Complement</a:t>
            </a:r>
          </a:p>
        </p:txBody>
      </p:sp>
      <mc:AlternateContent xmlns:mc="http://schemas.openxmlformats.org/markup-compatibility/2006" xmlns:a14="http://schemas.microsoft.com/office/drawing/2010/main">
        <mc:Choice Requires="a14">
          <p:sp>
            <p:nvSpPr>
              <p:cNvPr id="5" name="Rectangle 4"/>
              <p:cNvSpPr/>
              <p:nvPr/>
            </p:nvSpPr>
            <p:spPr>
              <a:xfrm>
                <a:off x="609600" y="1262270"/>
                <a:ext cx="3962400" cy="707886"/>
              </a:xfrm>
              <a:prstGeom prst="rect">
                <a:avLst/>
              </a:prstGeom>
            </p:spPr>
            <p:txBody>
              <a:bodyPr wrap="square">
                <a:spAutoFit/>
              </a:bodyPr>
              <a:lstStyle/>
              <a:p>
                <a:r>
                  <a:rPr lang="en-US" sz="2000" b="1" i="1" dirty="0"/>
                  <a:t>One’s Complement (</a:t>
                </a:r>
                <a14:m>
                  <m:oMath xmlns:m="http://schemas.openxmlformats.org/officeDocument/2006/math">
                    <m:acc>
                      <m:accPr>
                        <m:chr m:val="̃"/>
                        <m:ctrlPr>
                          <a:rPr lang="en-US" sz="2000" b="1" i="1">
                            <a:latin typeface="Cambria Math"/>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
                      <m:r>
                        <a:rPr lang="en-US" sz="2000" b="1" i="1">
                          <a:latin typeface="Cambria Math"/>
                        </a:rPr>
                        <m:t>𝜶</m:t>
                      </m:r>
                      <m:r>
                        <a:rPr lang="en-US" sz="2000" b="1" i="1">
                          <a:latin typeface="Cambria Math"/>
                        </a:rPr>
                        <m:t>+</m:t>
                      </m:r>
                      <m:acc>
                        <m:accPr>
                          <m:chr m:val="̃"/>
                          <m:ctrlPr>
                            <a:rPr lang="en-US" sz="2000" b="1" i="1">
                              <a:latin typeface="Cambria Math"/>
                            </a:rPr>
                          </m:ctrlPr>
                        </m:accPr>
                        <m:e>
                          <m:r>
                            <a:rPr lang="en-US" sz="2000" b="1" i="1">
                              <a:latin typeface="Cambria Math"/>
                            </a:rPr>
                            <m:t>𝜶</m:t>
                          </m:r>
                        </m:e>
                      </m:acc>
                      <m:r>
                        <a:rPr lang="en-US" sz="2000" b="1" i="1">
                          <a:latin typeface="Cambria Math"/>
                        </a:rPr>
                        <m:t>=</m:t>
                      </m:r>
                      <m:sSup>
                        <m:sSupPr>
                          <m:ctrlPr>
                            <a:rPr lang="en-US" sz="2000" b="1" i="1">
                              <a:latin typeface="Cambria Math"/>
                            </a:rPr>
                          </m:ctrlPr>
                        </m:sSupPr>
                        <m:e>
                          <m:r>
                            <a:rPr lang="en-US" sz="2000" b="1" i="1">
                              <a:latin typeface="Cambria Math"/>
                            </a:rPr>
                            <m:t>𝟐</m:t>
                          </m:r>
                        </m:e>
                        <m:sup>
                          <m:r>
                            <a:rPr lang="en-US" sz="2000" b="1" i="1">
                              <a:latin typeface="Cambria Math"/>
                            </a:rPr>
                            <m:t>𝒏</m:t>
                          </m:r>
                        </m:sup>
                      </m:sSup>
                      <m:r>
                        <a:rPr lang="en-US" sz="2000" b="1" i="1">
                          <a:latin typeface="Cambria Math"/>
                        </a:rPr>
                        <m:t>−</m:t>
                      </m:r>
                      <m:r>
                        <a:rPr lang="en-US" sz="2000" b="1" i="1">
                          <a:latin typeface="Cambria Math"/>
                        </a:rPr>
                        <m:t>𝟏</m:t>
                      </m:r>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62270"/>
                <a:ext cx="3962400" cy="707886"/>
              </a:xfrm>
              <a:prstGeom prst="rect">
                <a:avLst/>
              </a:prstGeom>
              <a:blipFill>
                <a:blip r:embed="rId3"/>
                <a:stretch>
                  <a:fillRect l="-1603" t="-5263"/>
                </a:stretch>
              </a:blipFill>
            </p:spPr>
            <p:txBody>
              <a:bodyPr/>
              <a:lstStyle/>
              <a:p>
                <a:r>
                  <a:rPr lang="en-US">
                    <a:noFill/>
                  </a:rPr>
                  <a:t> </a:t>
                </a:r>
              </a:p>
            </p:txBody>
          </p:sp>
        </mc:Fallback>
      </mc:AlternateContent>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166536"/>
            <a:ext cx="3967537" cy="3744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6886759" y="3330618"/>
            <a:ext cx="2743200" cy="923330"/>
          </a:xfrm>
          <a:prstGeom prst="rect">
            <a:avLst/>
          </a:prstGeom>
        </p:spPr>
        <p:txBody>
          <a:bodyPr wrap="square">
            <a:spAutoFit/>
          </a:bodyPr>
          <a:lstStyle/>
          <a:p>
            <a:r>
              <a:rPr lang="en-US" dirty="0"/>
              <a:t>Example:  in a 5-bit system</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11000</a:t>
            </a:r>
            <a:r>
              <a:rPr lang="en-US" baseline="-25000" dirty="0">
                <a:latin typeface="Consolas" panose="020B0609020204030204" pitchFamily="49" charset="0"/>
                <a:cs typeface="Consolas" panose="020B0609020204030204" pitchFamily="49" charset="0"/>
              </a:rPr>
              <a:t>2</a:t>
            </a:r>
          </a:p>
        </p:txBody>
      </p:sp>
      <p:sp>
        <p:nvSpPr>
          <p:cNvPr id="7" name="Rectangle 6"/>
          <p:cNvSpPr/>
          <p:nvPr/>
        </p:nvSpPr>
        <p:spPr>
          <a:xfrm>
            <a:off x="6781800" y="1445833"/>
            <a:ext cx="3657601" cy="1200329"/>
          </a:xfrm>
          <a:prstGeom prst="rect">
            <a:avLst/>
          </a:prstGeom>
        </p:spPr>
        <p:txBody>
          <a:bodyPr wrap="square">
            <a:spAutoFit/>
          </a:bodyPr>
          <a:lstStyle/>
          <a:p>
            <a:r>
              <a:rPr lang="en-US" b="1" dirty="0">
                <a:solidFill>
                  <a:srgbClr val="C00000"/>
                </a:solidFill>
              </a:rPr>
              <a:t>The one's complement representation of a negative binary number is the bitwise NOT of its positive counterpart. </a:t>
            </a:r>
          </a:p>
        </p:txBody>
      </p:sp>
      <p:sp>
        <p:nvSpPr>
          <p:cNvPr id="8" name="Rectangle 7"/>
          <p:cNvSpPr/>
          <p:nvPr/>
        </p:nvSpPr>
        <p:spPr>
          <a:xfrm>
            <a:off x="6477000" y="4938404"/>
            <a:ext cx="4724400" cy="923330"/>
          </a:xfrm>
          <a:prstGeom prst="rect">
            <a:avLst/>
          </a:prstGeom>
        </p:spPr>
        <p:txBody>
          <a:bodyPr wrap="square">
            <a:spAutoFit/>
          </a:bodyPr>
          <a:lstStyle/>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+ 11000</a:t>
            </a:r>
            <a:r>
              <a:rPr lang="en-US" baseline="-25000" dirty="0">
                <a:latin typeface="Consolas" panose="020B0609020204030204" pitchFamily="49" charset="0"/>
                <a:cs typeface="Consolas" panose="020B0609020204030204" pitchFamily="49" charset="0"/>
              </a:rPr>
              <a:t>2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a:t>
            </a:r>
            <a:r>
              <a:rPr lang="en-US" dirty="0">
                <a:solidFill>
                  <a:srgbClr val="0000FF"/>
                </a:solidFill>
                <a:latin typeface="Consolas" panose="020B0609020204030204" pitchFamily="49" charset="0"/>
                <a:cs typeface="Consolas" panose="020B0609020204030204" pitchFamily="49" charset="0"/>
              </a:rPr>
              <a:t> 11111</a:t>
            </a:r>
            <a:r>
              <a:rPr lang="en-US" baseline="-25000" dirty="0">
                <a:latin typeface="Consolas" panose="020B0609020204030204" pitchFamily="49" charset="0"/>
                <a:cs typeface="Consolas" panose="020B0609020204030204" pitchFamily="49" charset="0"/>
              </a:rPr>
              <a:t>2</a:t>
            </a:r>
            <a:r>
              <a:rPr lang="en-US" dirty="0">
                <a:latin typeface="Consolas" panose="020B0609020204030204" pitchFamily="49" charset="0"/>
                <a:cs typeface="Consolas" panose="020B0609020204030204" pitchFamily="49" charset="0"/>
              </a:rPr>
              <a:t>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 2</a:t>
            </a:r>
            <a:r>
              <a:rPr lang="en-US" baseline="30000" dirty="0">
                <a:latin typeface="Consolas" panose="020B0609020204030204" pitchFamily="49" charset="0"/>
                <a:cs typeface="Consolas" panose="020B0609020204030204" pitchFamily="49" charset="0"/>
              </a:rPr>
              <a:t>5</a:t>
            </a:r>
            <a:r>
              <a:rPr lang="en-US" dirty="0">
                <a:latin typeface="Consolas" panose="020B0609020204030204" pitchFamily="49" charset="0"/>
                <a:cs typeface="Consolas" panose="020B0609020204030204" pitchFamily="49" charset="0"/>
              </a:rPr>
              <a:t> - 1</a:t>
            </a:r>
            <a:endParaRPr lang="en-US" baseline="-25000" dirty="0">
              <a:latin typeface="Consolas" panose="020B0609020204030204" pitchFamily="49" charset="0"/>
              <a:cs typeface="Consolas" panose="020B0609020204030204" pitchFamily="49" charset="0"/>
            </a:endParaRPr>
          </a:p>
        </p:txBody>
      </p:sp>
      <p:sp>
        <p:nvSpPr>
          <p:cNvPr id="9" name="Oval 8"/>
          <p:cNvSpPr/>
          <p:nvPr/>
        </p:nvSpPr>
        <p:spPr>
          <a:xfrm rot="636563">
            <a:off x="1097288" y="358476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20917649">
            <a:off x="4322879" y="359014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9211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2853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90259"/>
                <a:ext cx="3352800" cy="707886"/>
              </a:xfrm>
              <a:prstGeom prst="rect">
                <a:avLst/>
              </a:prstGeom>
            </p:spPr>
            <p:txBody>
              <a:bodyPr wrap="square">
                <a:spAutoFit/>
              </a:bodyPr>
              <a:lstStyle/>
              <a:p>
                <a:r>
                  <a:rPr lang="en-US" sz="2000" b="1" i="1" dirty="0"/>
                  <a:t>Two’s Complement (</a:t>
                </a:r>
                <a14:m>
                  <m:oMath xmlns:m="http://schemas.openxmlformats.org/officeDocument/2006/math">
                    <m:acc>
                      <m:accPr>
                        <m:chr m:val="̅"/>
                        <m:ctrlPr>
                          <a:rPr lang="en-US" sz="2000" b="1" i="1">
                            <a:latin typeface="Cambria Math"/>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
                      <m:r>
                        <a:rPr lang="en-US" sz="2000" b="1" i="1">
                          <a:latin typeface="Cambria Math"/>
                        </a:rPr>
                        <m:t>𝜶</m:t>
                      </m:r>
                      <m:r>
                        <a:rPr lang="en-US" sz="2000" b="1" i="1">
                          <a:latin typeface="Cambria Math"/>
                        </a:rPr>
                        <m:t>+</m:t>
                      </m:r>
                      <m:acc>
                        <m:accPr>
                          <m:chr m:val="̅"/>
                          <m:ctrlPr>
                            <a:rPr lang="en-US" sz="2000" b="1" i="1">
                              <a:latin typeface="Cambria Math"/>
                            </a:rPr>
                          </m:ctrlPr>
                        </m:accPr>
                        <m:e>
                          <m:r>
                            <a:rPr lang="en-US" sz="2000" b="1" i="1">
                              <a:latin typeface="Cambria Math"/>
                            </a:rPr>
                            <m:t>𝜶</m:t>
                          </m:r>
                        </m:e>
                      </m:acc>
                      <m:r>
                        <a:rPr lang="en-US" sz="2000" b="1" i="1">
                          <a:latin typeface="Cambria Math"/>
                        </a:rPr>
                        <m:t>=</m:t>
                      </m:r>
                      <m:sSup>
                        <m:sSupPr>
                          <m:ctrlPr>
                            <a:rPr lang="en-US" sz="2000" b="1" i="1">
                              <a:latin typeface="Cambria Math"/>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90259"/>
                <a:ext cx="3352800" cy="707886"/>
              </a:xfrm>
              <a:prstGeom prst="rect">
                <a:avLst/>
              </a:prstGeom>
              <a:blipFill>
                <a:blip r:embed="rId4"/>
                <a:stretch>
                  <a:fillRect l="-1894" t="-5263"/>
                </a:stretch>
              </a:blipFill>
            </p:spPr>
            <p:txBody>
              <a:bodyPr/>
              <a:lstStyle/>
              <a:p>
                <a:r>
                  <a:rPr lang="en-US">
                    <a:noFill/>
                  </a:rPr>
                  <a:t> </a:t>
                </a:r>
              </a:p>
            </p:txBody>
          </p:sp>
        </mc:Fallback>
      </mc:AlternateContent>
      <p:sp>
        <p:nvSpPr>
          <p:cNvPr id="6" name="Rectangle 5"/>
          <p:cNvSpPr/>
          <p:nvPr/>
        </p:nvSpPr>
        <p:spPr>
          <a:xfrm>
            <a:off x="6337317" y="153874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graphicFrame>
        <p:nvGraphicFramePr>
          <p:cNvPr id="8" name="Table 7"/>
          <p:cNvGraphicFramePr>
            <a:graphicFrameLocks noGrp="1"/>
          </p:cNvGraphicFramePr>
          <p:nvPr>
            <p:extLst>
              <p:ext uri="{D42A27DB-BD31-4B8C-83A1-F6EECF244321}">
                <p14:modId xmlns:p14="http://schemas.microsoft.com/office/powerpoint/2010/main" val="1435606154"/>
              </p:ext>
            </p:extLst>
          </p:nvPr>
        </p:nvGraphicFramePr>
        <p:xfrm>
          <a:off x="6998978" y="3673163"/>
          <a:ext cx="4090718" cy="1745926"/>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30199">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5348">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7069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06821">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77386">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6395772" y="2882951"/>
            <a:ext cx="2270480" cy="369332"/>
          </a:xfrm>
          <a:prstGeom prst="rect">
            <a:avLst/>
          </a:prstGeom>
          <a:noFill/>
        </p:spPr>
        <p:txBody>
          <a:bodyPr wrap="square" rtlCol="0">
            <a:spAutoFit/>
          </a:bodyPr>
          <a:lstStyle/>
          <a:p>
            <a:r>
              <a:rPr lang="en-US" dirty="0"/>
              <a:t>Example </a:t>
            </a:r>
            <a:r>
              <a:rPr lang="en-US" b="1" dirty="0">
                <a:latin typeface="Consolas" panose="020B0609020204030204" pitchFamily="49" charset="0"/>
                <a:cs typeface="Consolas" panose="020B0609020204030204" pitchFamily="49" charset="0"/>
              </a:rPr>
              <a:t>1</a:t>
            </a:r>
            <a:r>
              <a:rPr lang="en-US" dirty="0"/>
              <a:t>:  </a:t>
            </a:r>
            <a:r>
              <a:rPr lang="en-US" dirty="0">
                <a:solidFill>
                  <a:srgbClr val="C00000"/>
                </a:solidFill>
              </a:rPr>
              <a:t>TC(3)</a:t>
            </a:r>
          </a:p>
        </p:txBody>
      </p:sp>
      <p:sp>
        <p:nvSpPr>
          <p:cNvPr id="10" name="Oval 9"/>
          <p:cNvSpPr/>
          <p:nvPr/>
        </p:nvSpPr>
        <p:spPr>
          <a:xfrm rot="18357225">
            <a:off x="3613456" y="258448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681987" y="25709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19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4666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19200"/>
                <a:ext cx="3352800" cy="707886"/>
              </a:xfrm>
              <a:prstGeom prst="rect">
                <a:avLst/>
              </a:prstGeom>
            </p:spPr>
            <p:txBody>
              <a:bodyPr wrap="square">
                <a:spAutoFit/>
              </a:bodyPr>
              <a:lstStyle/>
              <a:p>
                <a:r>
                  <a:rPr lang="en-US" sz="2000" b="1" i="1" dirty="0"/>
                  <a:t>Two’s Complement (TC)</a:t>
                </a:r>
                <a:endParaRPr lang="en-US" sz="2000" dirty="0"/>
              </a:p>
              <a:p>
                <a:pPr/>
                <a14:m>
                  <m:oMathPara xmlns:m="http://schemas.openxmlformats.org/officeDocument/2006/math">
                    <m:oMath>
                      <m:r>
                        <a:rPr lang="en-US" sz="2000" b="1" i="1">
                          <a:latin typeface="Cambria Math"/>
                        </a:rPr>
                        <m:t>𝜶</m:t>
                      </m:r>
                      <m:r>
                        <a:rPr lang="en-US" sz="2000" b="1" i="1">
                          <a:latin typeface="Cambria Math"/>
                        </a:rPr>
                        <m:t>+</m:t>
                      </m:r>
                      <m:acc>
                        <m:accPr>
                          <m:chr m:val="̅"/>
                          <m:ctrlPr>
                            <a:rPr lang="en-US" sz="2000" b="1" i="1">
                              <a:latin typeface="Cambria Math"/>
                            </a:rPr>
                          </m:ctrlPr>
                        </m:accPr>
                        <m:e>
                          <m:r>
                            <a:rPr lang="en-US" sz="2000" b="1" i="1">
                              <a:latin typeface="Cambria Math"/>
                            </a:rPr>
                            <m:t>𝜶</m:t>
                          </m:r>
                        </m:e>
                      </m:acc>
                      <m:r>
                        <a:rPr lang="en-US" sz="2000" b="1" i="1">
                          <a:latin typeface="Cambria Math"/>
                        </a:rPr>
                        <m:t>=</m:t>
                      </m:r>
                      <m:sSup>
                        <m:sSupPr>
                          <m:ctrlPr>
                            <a:rPr lang="en-US" sz="2000" b="1" i="1">
                              <a:latin typeface="Cambria Math"/>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19200"/>
                <a:ext cx="3352800" cy="707886"/>
              </a:xfrm>
              <a:prstGeom prst="rect">
                <a:avLst/>
              </a:prstGeom>
              <a:blipFill>
                <a:blip r:embed="rId4"/>
                <a:stretch>
                  <a:fillRect l="-1894" t="-5357"/>
                </a:stretch>
              </a:blipFill>
            </p:spPr>
            <p:txBody>
              <a:bodyPr/>
              <a:lstStyle/>
              <a:p>
                <a:r>
                  <a:rPr lang="en-US">
                    <a:noFill/>
                  </a:rPr>
                  <a:t> </a:t>
                </a:r>
              </a:p>
            </p:txBody>
          </p:sp>
        </mc:Fallback>
      </mc:AlternateContent>
      <p:sp>
        <p:nvSpPr>
          <p:cNvPr id="6" name="Rectangle 5"/>
          <p:cNvSpPr/>
          <p:nvPr/>
        </p:nvSpPr>
        <p:spPr>
          <a:xfrm>
            <a:off x="6274009" y="146542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sp>
        <p:nvSpPr>
          <p:cNvPr id="9" name="TextBox 8"/>
          <p:cNvSpPr txBox="1"/>
          <p:nvPr/>
        </p:nvSpPr>
        <p:spPr>
          <a:xfrm>
            <a:off x="6585174" y="2985747"/>
            <a:ext cx="1855957" cy="369332"/>
          </a:xfrm>
          <a:prstGeom prst="rect">
            <a:avLst/>
          </a:prstGeom>
          <a:noFill/>
        </p:spPr>
        <p:txBody>
          <a:bodyPr wrap="none" rtlCol="0">
            <a:spAutoFit/>
          </a:bodyPr>
          <a:lstStyle/>
          <a:p>
            <a:r>
              <a:rPr lang="en-US" dirty="0"/>
              <a:t>Example 2: </a:t>
            </a:r>
            <a:r>
              <a:rPr lang="en-US" dirty="0">
                <a:solidFill>
                  <a:srgbClr val="C00000"/>
                </a:solidFill>
              </a:rPr>
              <a:t>TC(-3)</a:t>
            </a:r>
          </a:p>
        </p:txBody>
      </p:sp>
      <p:graphicFrame>
        <p:nvGraphicFramePr>
          <p:cNvPr id="3" name="Table 2"/>
          <p:cNvGraphicFramePr>
            <a:graphicFrameLocks noGrp="1"/>
          </p:cNvGraphicFramePr>
          <p:nvPr>
            <p:extLst>
              <p:ext uri="{D42A27DB-BD31-4B8C-83A1-F6EECF244321}">
                <p14:modId xmlns:p14="http://schemas.microsoft.com/office/powerpoint/2010/main" val="1975676079"/>
              </p:ext>
            </p:extLst>
          </p:nvPr>
        </p:nvGraphicFramePr>
        <p:xfrm>
          <a:off x="6947023" y="3820154"/>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0b11101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0b00010</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Oval 9"/>
          <p:cNvSpPr/>
          <p:nvPr/>
        </p:nvSpPr>
        <p:spPr>
          <a:xfrm rot="18357225">
            <a:off x="3689656" y="250261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758187" y="248912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929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FADC1-C918-B972-FCCF-04B3E51C79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97DFAC-63E4-6C20-1EAB-8D656EC743E6}"/>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Title 3">
            <a:extLst>
              <a:ext uri="{FF2B5EF4-FFF2-40B4-BE49-F238E27FC236}">
                <a16:creationId xmlns:a16="http://schemas.microsoft.com/office/drawing/2014/main" id="{3396E152-0275-EB5C-F3F7-9D684FC94C08}"/>
              </a:ext>
            </a:extLst>
          </p:cNvPr>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a:extLst>
              <a:ext uri="{FF2B5EF4-FFF2-40B4-BE49-F238E27FC236}">
                <a16:creationId xmlns:a16="http://schemas.microsoft.com/office/drawing/2014/main" id="{9B0C11F7-974F-AE43-C1C4-45BB225CC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4666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2E97754-B66B-661A-EEE0-5B8975072625}"/>
                  </a:ext>
                </a:extLst>
              </p:cNvPr>
              <p:cNvSpPr/>
              <p:nvPr/>
            </p:nvSpPr>
            <p:spPr>
              <a:xfrm>
                <a:off x="609600" y="1219200"/>
                <a:ext cx="3352800" cy="707886"/>
              </a:xfrm>
              <a:prstGeom prst="rect">
                <a:avLst/>
              </a:prstGeom>
            </p:spPr>
            <p:txBody>
              <a:bodyPr wrap="square">
                <a:spAutoFit/>
              </a:bodyPr>
              <a:lstStyle/>
              <a:p>
                <a:r>
                  <a:rPr lang="en-US" sz="2000" b="1" i="1" dirty="0"/>
                  <a:t>Two’s Complement (TC)</a:t>
                </a:r>
                <a:endParaRPr lang="en-US" sz="2000" dirty="0"/>
              </a:p>
              <a:p>
                <a:pPr/>
                <a14:m>
                  <m:oMathPara xmlns:m="http://schemas.openxmlformats.org/officeDocument/2006/math">
                    <m:oMath>
                      <m:r>
                        <a:rPr lang="en-US" sz="2000" b="1" i="1">
                          <a:latin typeface="Cambria Math"/>
                        </a:rPr>
                        <m:t>𝜶</m:t>
                      </m:r>
                      <m:r>
                        <a:rPr lang="en-US" sz="2000" b="1" i="1">
                          <a:latin typeface="Cambria Math"/>
                        </a:rPr>
                        <m:t>+</m:t>
                      </m:r>
                      <m:acc>
                        <m:accPr>
                          <m:chr m:val="̅"/>
                          <m:ctrlPr>
                            <a:rPr lang="en-US" sz="2000" b="1" i="1">
                              <a:latin typeface="Cambria Math"/>
                            </a:rPr>
                          </m:ctrlPr>
                        </m:accPr>
                        <m:e>
                          <m:r>
                            <a:rPr lang="en-US" sz="2000" b="1" i="1">
                              <a:latin typeface="Cambria Math"/>
                            </a:rPr>
                            <m:t>𝜶</m:t>
                          </m:r>
                        </m:e>
                      </m:acc>
                      <m:r>
                        <a:rPr lang="en-US" sz="2000" b="1" i="1">
                          <a:latin typeface="Cambria Math"/>
                        </a:rPr>
                        <m:t>=</m:t>
                      </m:r>
                      <m:sSup>
                        <m:sSupPr>
                          <m:ctrlPr>
                            <a:rPr lang="en-US" sz="2000" b="1" i="1">
                              <a:latin typeface="Cambria Math"/>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19200"/>
                <a:ext cx="3352800" cy="707886"/>
              </a:xfrm>
              <a:prstGeom prst="rect">
                <a:avLst/>
              </a:prstGeom>
              <a:blipFill>
                <a:blip r:embed="rId4"/>
                <a:stretch>
                  <a:fillRect l="-1894" t="-5357"/>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A34C67AE-562B-7BCF-B832-98B5303242D5}"/>
              </a:ext>
            </a:extLst>
          </p:cNvPr>
          <p:cNvSpPr/>
          <p:nvPr/>
        </p:nvSpPr>
        <p:spPr>
          <a:xfrm>
            <a:off x="6274009" y="146542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sp>
        <p:nvSpPr>
          <p:cNvPr id="9" name="TextBox 8">
            <a:extLst>
              <a:ext uri="{FF2B5EF4-FFF2-40B4-BE49-F238E27FC236}">
                <a16:creationId xmlns:a16="http://schemas.microsoft.com/office/drawing/2014/main" id="{4DF0318C-A284-13AE-EAD6-46754BE65DE2}"/>
              </a:ext>
            </a:extLst>
          </p:cNvPr>
          <p:cNvSpPr txBox="1"/>
          <p:nvPr/>
        </p:nvSpPr>
        <p:spPr>
          <a:xfrm>
            <a:off x="6585174" y="2985747"/>
            <a:ext cx="1971374" cy="369332"/>
          </a:xfrm>
          <a:prstGeom prst="rect">
            <a:avLst/>
          </a:prstGeom>
          <a:noFill/>
        </p:spPr>
        <p:txBody>
          <a:bodyPr wrap="none" rtlCol="0">
            <a:spAutoFit/>
          </a:bodyPr>
          <a:lstStyle/>
          <a:p>
            <a:r>
              <a:rPr lang="en-US" dirty="0"/>
              <a:t>Example 3: </a:t>
            </a:r>
            <a:r>
              <a:rPr lang="en-US" dirty="0">
                <a:solidFill>
                  <a:srgbClr val="C00000"/>
                </a:solidFill>
              </a:rPr>
              <a:t>TC(-16)</a:t>
            </a:r>
          </a:p>
        </p:txBody>
      </p:sp>
      <p:sp>
        <p:nvSpPr>
          <p:cNvPr id="11" name="Oval 10">
            <a:extLst>
              <a:ext uri="{FF2B5EF4-FFF2-40B4-BE49-F238E27FC236}">
                <a16:creationId xmlns:a16="http://schemas.microsoft.com/office/drawing/2014/main" id="{9BB10471-CBF6-9663-C93D-A81832120989}"/>
              </a:ext>
            </a:extLst>
          </p:cNvPr>
          <p:cNvSpPr/>
          <p:nvPr/>
        </p:nvSpPr>
        <p:spPr>
          <a:xfrm rot="5400000">
            <a:off x="2720892" y="569740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C2AB44CB-67F7-D4A2-503D-347E3363F7BE}"/>
              </a:ext>
            </a:extLst>
          </p:cNvPr>
          <p:cNvGraphicFramePr>
            <a:graphicFrameLocks noGrp="1"/>
          </p:cNvGraphicFramePr>
          <p:nvPr>
            <p:extLst>
              <p:ext uri="{D42A27DB-BD31-4B8C-83A1-F6EECF244321}">
                <p14:modId xmlns:p14="http://schemas.microsoft.com/office/powerpoint/2010/main" val="2113608196"/>
              </p:ext>
            </p:extLst>
          </p:nvPr>
        </p:nvGraphicFramePr>
        <p:xfrm>
          <a:off x="6400800" y="3502922"/>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01111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5C2F0DF3-5559-76CD-49B5-03D4C2C11228}"/>
              </a:ext>
            </a:extLst>
          </p:cNvPr>
          <p:cNvSpPr/>
          <p:nvPr/>
        </p:nvSpPr>
        <p:spPr>
          <a:xfrm>
            <a:off x="6184188" y="5114836"/>
            <a:ext cx="4744720" cy="1200329"/>
          </a:xfrm>
          <a:prstGeom prst="rect">
            <a:avLst/>
          </a:prstGeom>
        </p:spPr>
        <p:txBody>
          <a:bodyPr wrap="square">
            <a:spAutoFit/>
          </a:bodyPr>
          <a:lstStyle/>
          <a:p>
            <a:pPr lvl="0" eaLnBrk="1" fontAlgn="auto" hangingPunct="1">
              <a:spcBef>
                <a:spcPts val="0"/>
              </a:spcBef>
              <a:spcAft>
                <a:spcPts val="0"/>
              </a:spcAft>
              <a:defRPr/>
            </a:pPr>
            <a:r>
              <a:rPr lang="en-US" sz="1800" b="0" dirty="0">
                <a:solidFill>
                  <a:schemeClr val="tx1"/>
                </a:solidFill>
                <a:latin typeface="Gill Sans MT"/>
              </a:rPr>
              <a:t>Negation of -16 in 5-bit two's complement wraps back to itself, meaning the most negative number's two's complement is itself. (Number range is [-16, 15], so 16 is out of range)</a:t>
            </a:r>
          </a:p>
        </p:txBody>
      </p:sp>
    </p:spTree>
    <p:extLst>
      <p:ext uri="{BB962C8B-B14F-4D97-AF65-F5344CB8AC3E}">
        <p14:creationId xmlns:p14="http://schemas.microsoft.com/office/powerpoint/2010/main" val="399630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AAFE-F5E4-326B-6C7D-7CB2E544F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35905-A870-4427-B7AC-B23717217DC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6A0F2E71-EAA4-A9FD-04A3-E7673819EF12}"/>
              </a:ext>
            </a:extLst>
          </p:cNvPr>
          <p:cNvSpPr>
            <a:spLocks noGrp="1"/>
          </p:cNvSpPr>
          <p:nvPr>
            <p:ph sz="quarter" idx="1"/>
          </p:nvPr>
        </p:nvSpPr>
        <p:spPr/>
        <p:txBody>
          <a:bodyPr>
            <a:normAutofit/>
          </a:bodyPr>
          <a:lstStyle/>
          <a:p>
            <a:r>
              <a:rPr lang="en-US" dirty="0"/>
              <a:t>Calculate TC(-16) for a </a:t>
            </a:r>
            <a:r>
              <a:rPr lang="en-US" dirty="0">
                <a:solidFill>
                  <a:srgbClr val="FF0000"/>
                </a:solidFill>
              </a:rPr>
              <a:t>6-bit</a:t>
            </a:r>
            <a:r>
              <a:rPr lang="en-US" dirty="0"/>
              <a:t> system</a:t>
            </a:r>
          </a:p>
        </p:txBody>
      </p:sp>
    </p:spTree>
    <p:extLst>
      <p:ext uri="{BB962C8B-B14F-4D97-AF65-F5344CB8AC3E}">
        <p14:creationId xmlns:p14="http://schemas.microsoft.com/office/powerpoint/2010/main" val="14323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B121-E546-7A53-7CE3-60CAA65C9F79}"/>
              </a:ext>
            </a:extLst>
          </p:cNvPr>
          <p:cNvSpPr>
            <a:spLocks noGrp="1"/>
          </p:cNvSpPr>
          <p:nvPr>
            <p:ph type="title"/>
          </p:nvPr>
        </p:nvSpPr>
        <p:spPr/>
        <p:txBody>
          <a:bodyPr/>
          <a:lstStyle/>
          <a:p>
            <a:r>
              <a:rPr lang="en-US" dirty="0"/>
              <a:t>Quiz ANS</a:t>
            </a:r>
          </a:p>
        </p:txBody>
      </p:sp>
      <p:sp>
        <p:nvSpPr>
          <p:cNvPr id="3" name="Content Placeholder 2">
            <a:extLst>
              <a:ext uri="{FF2B5EF4-FFF2-40B4-BE49-F238E27FC236}">
                <a16:creationId xmlns:a16="http://schemas.microsoft.com/office/drawing/2014/main" id="{CF93CA2C-6BF3-F8F5-A739-069BC284E551}"/>
              </a:ext>
            </a:extLst>
          </p:cNvPr>
          <p:cNvSpPr>
            <a:spLocks noGrp="1"/>
          </p:cNvSpPr>
          <p:nvPr>
            <p:ph sz="quarter" idx="1"/>
          </p:nvPr>
        </p:nvSpPr>
        <p:spPr/>
        <p:txBody>
          <a:bodyPr>
            <a:normAutofit fontScale="92500" lnSpcReduction="10000"/>
          </a:bodyPr>
          <a:lstStyle/>
          <a:p>
            <a:r>
              <a:rPr lang="en-US" dirty="0"/>
              <a:t>Calculate TC(-16) for a </a:t>
            </a:r>
            <a:r>
              <a:rPr lang="en-US" dirty="0">
                <a:solidFill>
                  <a:srgbClr val="FF0000"/>
                </a:solidFill>
              </a:rPr>
              <a:t>6-bit</a:t>
            </a:r>
            <a:r>
              <a:rPr lang="en-US" dirty="0"/>
              <a:t> system</a:t>
            </a:r>
          </a:p>
          <a:p>
            <a:r>
              <a:rPr lang="en-US" dirty="0"/>
              <a:t>For a 6-bit two's complement number: the range of representable integers is from −32 to +31.</a:t>
            </a:r>
          </a:p>
          <a:p>
            <a:r>
              <a:rPr lang="en-US" dirty="0"/>
              <a:t>−16 in 6-bit two's complement is 110000</a:t>
            </a:r>
          </a:p>
          <a:p>
            <a:pPr lvl="1"/>
            <a:r>
              <a:rPr lang="en-US" dirty="0"/>
              <a:t>Write 16 in binary: 010000</a:t>
            </a:r>
          </a:p>
          <a:p>
            <a:pPr lvl="1"/>
            <a:r>
              <a:rPr lang="en-US" dirty="0"/>
              <a:t>Take the two's complement (invert bits and add 1):</a:t>
            </a:r>
          </a:p>
          <a:p>
            <a:pPr lvl="1"/>
            <a:r>
              <a:rPr lang="en-US" dirty="0"/>
              <a:t>Invert bits: 101111,  Add 1: 101111+1=110000</a:t>
            </a:r>
          </a:p>
          <a:p>
            <a:r>
              <a:rPr lang="en-US" dirty="0"/>
              <a:t>To take the negation of this (i.e., find the two's complement of 110000):</a:t>
            </a:r>
          </a:p>
          <a:p>
            <a:pPr lvl="1"/>
            <a:r>
              <a:rPr lang="en-US" dirty="0"/>
              <a:t>Invert bits: 001111,  Add 1: 001111+1=010000</a:t>
            </a:r>
          </a:p>
          <a:p>
            <a:pPr lvl="1"/>
            <a:r>
              <a:rPr lang="en-US" dirty="0"/>
              <a:t>This is 16 in binary, so the negation of −16 is +16 as expected</a:t>
            </a:r>
          </a:p>
          <a:p>
            <a:r>
              <a:rPr lang="en-US" dirty="0"/>
              <a:t>Unlike the 5-bit case where −16 is the minimum and its negation wraps onto itself, in 6 bits −16 behaves normally with correct negation</a:t>
            </a:r>
          </a:p>
          <a:p>
            <a:r>
              <a:rPr lang="en-US" dirty="0"/>
              <a:t>TC(-32) for a 6-bit system is itself (since +32 is out of range </a:t>
            </a:r>
            <a:r>
              <a:rPr lang="en-US"/>
              <a:t>of [-32, 31])</a:t>
            </a:r>
            <a:endParaRPr lang="en-US" dirty="0"/>
          </a:p>
        </p:txBody>
      </p:sp>
    </p:spTree>
    <p:extLst>
      <p:ext uri="{BB962C8B-B14F-4D97-AF65-F5344CB8AC3E}">
        <p14:creationId xmlns:p14="http://schemas.microsoft.com/office/powerpoint/2010/main" val="79582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E7446-ED72-DC54-7DEE-56C1B0A7393B}"/>
              </a:ext>
            </a:extLst>
          </p:cNvPr>
          <p:cNvSpPr>
            <a:spLocks noGrp="1"/>
          </p:cNvSpPr>
          <p:nvPr>
            <p:ph type="title"/>
          </p:nvPr>
        </p:nvSpPr>
        <p:spPr/>
        <p:txBody>
          <a:bodyPr/>
          <a:lstStyle/>
          <a:p>
            <a:r>
              <a:rPr lang="en-US" dirty="0"/>
              <a:t>Two’s Complement (TC)</a:t>
            </a:r>
          </a:p>
        </p:txBody>
      </p:sp>
      <p:sp>
        <p:nvSpPr>
          <p:cNvPr id="3" name="Slide Number Placeholder 2">
            <a:extLst>
              <a:ext uri="{FF2B5EF4-FFF2-40B4-BE49-F238E27FC236}">
                <a16:creationId xmlns:a16="http://schemas.microsoft.com/office/drawing/2014/main" id="{4C5C60A0-BF32-D61F-C84F-5B32E39E2805}"/>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7BA853F-27BD-1C35-EF40-A7E663CB7CD1}"/>
                  </a:ext>
                </a:extLst>
              </p:cNvPr>
              <p:cNvSpPr>
                <a:spLocks noGrp="1"/>
              </p:cNvSpPr>
              <p:nvPr>
                <p:ph sz="quarter" idx="1"/>
              </p:nvPr>
            </p:nvSpPr>
            <p:spPr/>
            <p:txBody>
              <a:bodyPr>
                <a:normAutofit/>
              </a:bodyPr>
              <a:lstStyle/>
              <a:p>
                <a:r>
                  <a:rPr lang="en-US" dirty="0"/>
                  <a:t>Two's complement gets its name from the rule that “</a:t>
                </a:r>
                <a:r>
                  <a:rPr lang="en-US" i="1" dirty="0"/>
                  <a:t>the unsigned sum of an n-bit number and its n-bit negative is </a:t>
                </a:r>
                <a14:m>
                  <m:oMath xmlns:m="http://schemas.openxmlformats.org/officeDocument/2006/math">
                    <m:sSup>
                      <m:sSupPr>
                        <m:ctrlPr>
                          <a:rPr lang="en-US" sz="2400" i="1">
                            <a:latin typeface="Cambria Math"/>
                          </a:rPr>
                        </m:ctrlPr>
                      </m:sSupPr>
                      <m:e>
                        <m:r>
                          <a:rPr lang="en-US" sz="2400" i="1">
                            <a:latin typeface="Cambria Math"/>
                          </a:rPr>
                          <m:t>2</m:t>
                        </m:r>
                      </m:e>
                      <m:sup>
                        <m:r>
                          <a:rPr lang="en-US" sz="2400" i="1">
                            <a:latin typeface="Cambria Math"/>
                          </a:rPr>
                          <m:t>𝑛</m:t>
                        </m:r>
                      </m:sup>
                    </m:sSup>
                  </m:oMath>
                </a14:m>
                <a:r>
                  <a:rPr lang="en-US" dirty="0"/>
                  <a:t>”; hence, the negation or complement of a number x is </a:t>
                </a:r>
                <a14:m>
                  <m:oMath xmlns:m="http://schemas.openxmlformats.org/officeDocument/2006/math">
                    <m:sSup>
                      <m:sSupPr>
                        <m:ctrlPr>
                          <a:rPr lang="en-US" sz="2400">
                            <a:latin typeface="Cambria Math"/>
                          </a:rPr>
                        </m:ctrlPr>
                      </m:sSupPr>
                      <m:e>
                        <m:r>
                          <a:rPr lang="en-US" sz="2400">
                            <a:latin typeface="Cambria Math"/>
                          </a:rPr>
                          <m:t>2</m:t>
                        </m:r>
                      </m:e>
                      <m:sup>
                        <m:r>
                          <a:rPr lang="en-US" sz="2400">
                            <a:latin typeface="Cambria Math"/>
                          </a:rPr>
                          <m:t>𝑛</m:t>
                        </m:r>
                      </m:sup>
                    </m:sSup>
                    <m:r>
                      <a:rPr lang="en-US" sz="2400" i="1">
                        <a:latin typeface="Cambria Math" panose="02040503050406030204" pitchFamily="18" charset="0"/>
                      </a:rPr>
                      <m:t>−</m:t>
                    </m:r>
                    <m:r>
                      <a:rPr lang="en-US" sz="2400" i="1">
                        <a:latin typeface="Cambria Math" panose="02040503050406030204" pitchFamily="18" charset="0"/>
                      </a:rPr>
                      <m:t>𝑥</m:t>
                    </m:r>
                  </m:oMath>
                </a14:m>
                <a:r>
                  <a:rPr lang="en-US" dirty="0"/>
                  <a:t>, or its “Two's complement”</a:t>
                </a:r>
              </a:p>
              <a:p>
                <a:r>
                  <a:rPr lang="en-US" dirty="0"/>
                  <a:t>Signed arithmetic:</a:t>
                </a:r>
              </a:p>
              <a:p>
                <a:pPr lvl="1"/>
                <a:r>
                  <a:rPr lang="en-US" dirty="0"/>
                  <a:t>For 5-bit system, signed number x = 00011 = 3, TC(x) = 11101 = -3, so their </a:t>
                </a:r>
                <a:r>
                  <a:rPr lang="en-US" dirty="0">
                    <a:solidFill>
                      <a:srgbClr val="FF0000"/>
                    </a:solidFill>
                  </a:rPr>
                  <a:t>signed sum</a:t>
                </a:r>
                <a:r>
                  <a:rPr lang="en-US" dirty="0"/>
                  <a:t> is 00011 + 11101 = 00000 (in decimal 3 + (-3) = 0)</a:t>
                </a:r>
              </a:p>
              <a:p>
                <a:r>
                  <a:rPr lang="en-US" dirty="0"/>
                  <a:t>Unsigned arithmetic:</a:t>
                </a:r>
              </a:p>
              <a:p>
                <a:pPr lvl="1"/>
                <a:r>
                  <a:rPr lang="en-US" dirty="0"/>
                  <a:t>Unsigned number 00011=3, 11101=29, so their </a:t>
                </a:r>
                <a:r>
                  <a:rPr lang="en-US" dirty="0">
                    <a:solidFill>
                      <a:srgbClr val="FF0000"/>
                    </a:solidFill>
                  </a:rPr>
                  <a:t>unsigned sum </a:t>
                </a:r>
                <a:r>
                  <a:rPr lang="en-US" dirty="0"/>
                  <a:t>is 00011 + 11101 = 00000 (in decimal 3 + 29 = 32 = </a:t>
                </a:r>
                <a14:m>
                  <m:oMath xmlns:m="http://schemas.openxmlformats.org/officeDocument/2006/math">
                    <m:sSup>
                      <m:sSupPr>
                        <m:ctrlPr>
                          <a:rPr lang="en-US" sz="2400">
                            <a:latin typeface="Cambria Math"/>
                          </a:rPr>
                        </m:ctrlPr>
                      </m:sSupPr>
                      <m:e>
                        <m:r>
                          <a:rPr lang="en-US" sz="2400">
                            <a:latin typeface="Cambria Math"/>
                          </a:rPr>
                          <m:t>2</m:t>
                        </m:r>
                      </m:e>
                      <m:sup>
                        <m:r>
                          <a:rPr lang="en-US" sz="2400">
                            <a:latin typeface="Cambria Math" panose="02040503050406030204" pitchFamily="18" charset="0"/>
                          </a:rPr>
                          <m:t>5</m:t>
                        </m:r>
                      </m:sup>
                    </m:sSup>
                  </m:oMath>
                </a14:m>
                <a:r>
                  <a:rPr lang="en-US" dirty="0"/>
                  <a:t>). The result is incorrect as Carry flag = 1: 32 cannot be represented in 5 bits since it exceeds the largest unsigned value of </a:t>
                </a:r>
                <a14:m>
                  <m:oMath xmlns:m="http://schemas.openxmlformats.org/officeDocument/2006/math">
                    <m:sSup>
                      <m:sSupPr>
                        <m:ctrlPr>
                          <a:rPr lang="en-US">
                            <a:latin typeface="Cambria Math"/>
                          </a:rPr>
                        </m:ctrlPr>
                      </m:sSupPr>
                      <m:e>
                        <m:r>
                          <a:rPr lang="en-US">
                            <a:latin typeface="Cambria Math"/>
                          </a:rPr>
                          <m:t>2</m:t>
                        </m:r>
                      </m:e>
                      <m:sup>
                        <m:r>
                          <a:rPr lang="en-US">
                            <a:latin typeface="Cambria Math" panose="02040503050406030204" pitchFamily="18" charset="0"/>
                          </a:rPr>
                          <m:t>5</m:t>
                        </m:r>
                      </m:sup>
                    </m:sSup>
                    <m:r>
                      <a:rPr lang="en-US" i="1">
                        <a:latin typeface="Cambria Math" panose="02040503050406030204" pitchFamily="18" charset="0"/>
                      </a:rPr>
                      <m:t>−1</m:t>
                    </m:r>
                  </m:oMath>
                </a14:m>
                <a:endParaRPr lang="en-US" dirty="0"/>
              </a:p>
              <a:p>
                <a:endParaRPr lang="en-US" dirty="0"/>
              </a:p>
            </p:txBody>
          </p:sp>
        </mc:Choice>
        <mc:Fallback xmlns="">
          <p:sp>
            <p:nvSpPr>
              <p:cNvPr id="4" name="Content Placeholder 3">
                <a:extLst>
                  <a:ext uri="{FF2B5EF4-FFF2-40B4-BE49-F238E27FC236}">
                    <a16:creationId xmlns:a16="http://schemas.microsoft.com/office/drawing/2014/main" id="{87BA853F-27BD-1C35-EF40-A7E663CB7CD1}"/>
                  </a:ext>
                </a:extLst>
              </p:cNvPr>
              <p:cNvSpPr>
                <a:spLocks noGrp="1" noRot="1" noChangeAspect="1" noMove="1" noResize="1" noEditPoints="1" noAdjustHandles="1" noChangeArrowheads="1" noChangeShapeType="1" noTextEdit="1"/>
              </p:cNvSpPr>
              <p:nvPr>
                <p:ph sz="quarter" idx="1"/>
              </p:nvPr>
            </p:nvSpPr>
            <p:spPr>
              <a:blipFill>
                <a:blip r:embed="rId3"/>
                <a:stretch>
                  <a:fillRect l="-500" t="-1111" r="-333"/>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80BB3004-47FB-364F-4C09-4CB4030EC349}"/>
              </a:ext>
            </a:extLst>
          </p:cNvPr>
          <p:cNvSpPr txBox="1">
            <a:spLocks/>
          </p:cNvSpPr>
          <p:nvPr/>
        </p:nvSpPr>
        <p:spPr>
          <a:xfrm>
            <a:off x="457200" y="3069770"/>
            <a:ext cx="8229600" cy="3087189"/>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lvl="2"/>
            <a:endParaRPr lang="en-US" dirty="0"/>
          </a:p>
        </p:txBody>
      </p:sp>
    </p:spTree>
    <p:extLst>
      <p:ext uri="{BB962C8B-B14F-4D97-AF65-F5344CB8AC3E}">
        <p14:creationId xmlns:p14="http://schemas.microsoft.com/office/powerpoint/2010/main" val="1687699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Two’s Complement for 8-bit System</a:t>
            </a:r>
          </a:p>
        </p:txBody>
      </p:sp>
      <p:graphicFrame>
        <p:nvGraphicFramePr>
          <p:cNvPr id="6" name="Table 5"/>
          <p:cNvGraphicFramePr>
            <a:graphicFrameLocks noGrp="1"/>
          </p:cNvGraphicFramePr>
          <p:nvPr>
            <p:extLst>
              <p:ext uri="{D42A27DB-BD31-4B8C-83A1-F6EECF244321}">
                <p14:modId xmlns:p14="http://schemas.microsoft.com/office/powerpoint/2010/main" val="1705948353"/>
              </p:ext>
            </p:extLst>
          </p:nvPr>
        </p:nvGraphicFramePr>
        <p:xfrm>
          <a:off x="3124200" y="1808379"/>
          <a:ext cx="6338230" cy="3611880"/>
        </p:xfrm>
        <a:graphic>
          <a:graphicData uri="http://schemas.openxmlformats.org/drawingml/2006/table">
            <a:tbl>
              <a:tblPr firstRow="1" bandRow="1">
                <a:tableStyleId>{5C22544A-7EE6-4342-B048-85BDC9FD1C3A}</a:tableStyleId>
              </a:tblPr>
              <a:tblGrid>
                <a:gridCol w="1859279">
                  <a:extLst>
                    <a:ext uri="{9D8B030D-6E8A-4147-A177-3AD203B41FA5}">
                      <a16:colId xmlns:a16="http://schemas.microsoft.com/office/drawing/2014/main" val="20001"/>
                    </a:ext>
                  </a:extLst>
                </a:gridCol>
                <a:gridCol w="1852967">
                  <a:extLst>
                    <a:ext uri="{9D8B030D-6E8A-4147-A177-3AD203B41FA5}">
                      <a16:colId xmlns:a16="http://schemas.microsoft.com/office/drawing/2014/main" val="20000"/>
                    </a:ext>
                  </a:extLst>
                </a:gridCol>
                <a:gridCol w="2625984">
                  <a:extLst>
                    <a:ext uri="{9D8B030D-6E8A-4147-A177-3AD203B41FA5}">
                      <a16:colId xmlns:a16="http://schemas.microsoft.com/office/drawing/2014/main" val="20002"/>
                    </a:ext>
                  </a:extLst>
                </a:gridCol>
              </a:tblGrid>
              <a:tr h="278130">
                <a:tc>
                  <a:txBody>
                    <a:bodyPr/>
                    <a:lstStyle/>
                    <a:p>
                      <a:pPr algn="ctr"/>
                      <a:r>
                        <a:rPr lang="en-US" sz="1600" b="1" kern="1200" baseline="0" dirty="0">
                          <a:solidFill>
                            <a:schemeClr val="lt1"/>
                          </a:solidFill>
                          <a:latin typeface="+mn-lt"/>
                          <a:ea typeface="+mn-ea"/>
                          <a:cs typeface="+mn-cs"/>
                        </a:rPr>
                        <a:t>8-bit signed</a:t>
                      </a:r>
                      <a:r>
                        <a:rPr lang="en-US" sz="1050" dirty="0"/>
                        <a:t> </a:t>
                      </a:r>
                      <a:r>
                        <a:rPr lang="en-US" sz="1600" b="1" kern="1200" baseline="0" dirty="0" err="1">
                          <a:solidFill>
                            <a:schemeClr val="lt1"/>
                          </a:solidFill>
                          <a:latin typeface="+mn-lt"/>
                          <a:ea typeface="+mn-ea"/>
                          <a:cs typeface="+mn-cs"/>
                        </a:rPr>
                        <a:t>Int</a:t>
                      </a:r>
                      <a:r>
                        <a:rPr lang="en-US" sz="1600" b="1" kern="1200" baseline="0" dirty="0">
                          <a:solidFill>
                            <a:schemeClr val="lt1"/>
                          </a:solidFill>
                          <a:latin typeface="+mn-lt"/>
                          <a:ea typeface="+mn-ea"/>
                          <a:cs typeface="+mn-cs"/>
                        </a:rPr>
                        <a:t> </a:t>
                      </a:r>
                      <a:r>
                        <a:rPr lang="en-US" altLang="zh-CN" sz="1600" b="1" kern="1200" baseline="0" dirty="0">
                          <a:solidFill>
                            <a:schemeClr val="lt1"/>
                          </a:solidFill>
                          <a:latin typeface="+mn-lt"/>
                          <a:ea typeface="+mn-ea"/>
                          <a:cs typeface="+mn-cs"/>
                        </a:rPr>
                        <a:t>(</a:t>
                      </a:r>
                      <a:r>
                        <a:rPr lang="en-US" sz="1600" b="1" kern="1200" baseline="0" dirty="0">
                          <a:solidFill>
                            <a:schemeClr val="lt1"/>
                          </a:solidFill>
                          <a:latin typeface="+mn-lt"/>
                          <a:ea typeface="+mn-ea"/>
                          <a:cs typeface="+mn-cs"/>
                        </a:rPr>
                        <a:t>Two’s</a:t>
                      </a:r>
                      <a:r>
                        <a:rPr lang="en-US" sz="1050" dirty="0"/>
                        <a:t> </a:t>
                      </a:r>
                      <a:r>
                        <a:rPr lang="en-US" sz="1600" b="1" kern="1200" baseline="0" dirty="0">
                          <a:solidFill>
                            <a:schemeClr val="lt1"/>
                          </a:solidFill>
                          <a:latin typeface="+mn-lt"/>
                          <a:ea typeface="+mn-ea"/>
                          <a:cs typeface="+mn-cs"/>
                        </a:rPr>
                        <a:t>Complement)</a:t>
                      </a:r>
                    </a:p>
                  </a:txBody>
                  <a:tcPr marL="68580" marR="68580" marT="34290" marB="34290"/>
                </a:tc>
                <a:tc>
                  <a:txBody>
                    <a:bodyPr/>
                    <a:lstStyle/>
                    <a:p>
                      <a:pPr algn="ctr"/>
                      <a:r>
                        <a:rPr lang="en-US" sz="1600" b="1" kern="1200" baseline="0" dirty="0">
                          <a:solidFill>
                            <a:schemeClr val="lt1"/>
                          </a:solidFill>
                          <a:latin typeface="+mn-lt"/>
                          <a:ea typeface="+mn-ea"/>
                          <a:cs typeface="+mn-cs"/>
                        </a:rPr>
                        <a:t>8-bit unsigned</a:t>
                      </a:r>
                      <a:r>
                        <a:rPr lang="en-US" sz="1050" dirty="0"/>
                        <a:t> </a:t>
                      </a:r>
                      <a:r>
                        <a:rPr lang="en-US" sz="1600" b="1" kern="1200" baseline="0" dirty="0" err="1">
                          <a:solidFill>
                            <a:schemeClr val="lt1"/>
                          </a:solidFill>
                          <a:latin typeface="+mn-lt"/>
                          <a:ea typeface="+mn-ea"/>
                          <a:cs typeface="+mn-cs"/>
                        </a:rPr>
                        <a:t>Int</a:t>
                      </a:r>
                      <a:endParaRPr lang="en-US" sz="1600" b="1" kern="1200" baseline="0" dirty="0">
                        <a:solidFill>
                          <a:schemeClr val="lt1"/>
                        </a:solidFill>
                        <a:latin typeface="+mn-lt"/>
                        <a:ea typeface="+mn-ea"/>
                        <a:cs typeface="+mn-cs"/>
                      </a:endParaRPr>
                    </a:p>
                  </a:txBody>
                  <a:tcPr marL="68580" marR="68580" marT="34290" marB="34290"/>
                </a:tc>
                <a:tc>
                  <a:txBody>
                    <a:bodyPr/>
                    <a:lstStyle/>
                    <a:p>
                      <a:pPr algn="ctr"/>
                      <a:r>
                        <a:rPr lang="en-US" sz="1600" b="1" kern="1200" baseline="0" dirty="0">
                          <a:solidFill>
                            <a:schemeClr val="lt1"/>
                          </a:solidFill>
                          <a:latin typeface="+mn-lt"/>
                          <a:ea typeface="+mn-ea"/>
                          <a:cs typeface="+mn-cs"/>
                        </a:rPr>
                        <a:t>Binary</a:t>
                      </a:r>
                    </a:p>
                  </a:txBody>
                  <a:tcPr marL="68580" marR="68580" marT="34290" marB="34290"/>
                </a:tc>
                <a:extLst>
                  <a:ext uri="{0D108BD9-81ED-4DB2-BD59-A6C34878D82A}">
                    <a16:rowId xmlns:a16="http://schemas.microsoft.com/office/drawing/2014/main" val="10000"/>
                  </a:ext>
                </a:extLst>
              </a:tr>
              <a:tr h="278130">
                <a:tc>
                  <a:txBody>
                    <a:bodyPr/>
                    <a:lstStyle/>
                    <a:p>
                      <a:pPr algn="ctr"/>
                      <a:r>
                        <a:rPr lang="en-US" sz="1600" baseline="0" dirty="0">
                          <a:solidFill>
                            <a:srgbClr val="FF0000"/>
                          </a:solidFill>
                        </a:rPr>
                        <a:t>-128</a:t>
                      </a:r>
                    </a:p>
                  </a:txBody>
                  <a:tcPr marL="68580" marR="68580" marT="34290" marB="34290"/>
                </a:tc>
                <a:tc>
                  <a:txBody>
                    <a:bodyPr/>
                    <a:lstStyle/>
                    <a:p>
                      <a:pPr algn="ctr"/>
                      <a:r>
                        <a:rPr lang="en-US" sz="1600" baseline="0" dirty="0">
                          <a:solidFill>
                            <a:srgbClr val="7030A0"/>
                          </a:solidFill>
                        </a:rPr>
                        <a:t>128</a:t>
                      </a:r>
                    </a:p>
                  </a:txBody>
                  <a:tcPr marL="68580" marR="68580" marT="34290" marB="34290"/>
                </a:tc>
                <a:tc>
                  <a:txBody>
                    <a:bodyPr/>
                    <a:lstStyle/>
                    <a:p>
                      <a:pPr algn="ctr"/>
                      <a:r>
                        <a:rPr lang="en-US" sz="1600" spc="500" baseline="0" dirty="0">
                          <a:solidFill>
                            <a:srgbClr val="FF0000"/>
                          </a:solidFill>
                        </a:rPr>
                        <a:t>1000 0000</a:t>
                      </a:r>
                    </a:p>
                  </a:txBody>
                  <a:tcPr marL="68580" marR="68580" marT="34290" marB="34290"/>
                </a:tc>
                <a:extLst>
                  <a:ext uri="{0D108BD9-81ED-4DB2-BD59-A6C34878D82A}">
                    <a16:rowId xmlns:a16="http://schemas.microsoft.com/office/drawing/2014/main" val="10001"/>
                  </a:ext>
                </a:extLst>
              </a:tr>
              <a:tr h="278130">
                <a:tc>
                  <a:txBody>
                    <a:bodyPr/>
                    <a:lstStyle/>
                    <a:p>
                      <a:pPr algn="ctr"/>
                      <a:r>
                        <a:rPr lang="en-US" sz="1600" baseline="0" dirty="0">
                          <a:solidFill>
                            <a:srgbClr val="FF0000"/>
                          </a:solidFill>
                        </a:rPr>
                        <a:t>-127</a:t>
                      </a:r>
                    </a:p>
                  </a:txBody>
                  <a:tcPr marL="68580" marR="68580" marT="34290" marB="34290"/>
                </a:tc>
                <a:tc>
                  <a:txBody>
                    <a:bodyPr/>
                    <a:lstStyle/>
                    <a:p>
                      <a:pPr algn="ctr"/>
                      <a:r>
                        <a:rPr lang="en-US" sz="1600" baseline="0" dirty="0">
                          <a:solidFill>
                            <a:srgbClr val="7030A0"/>
                          </a:solidFill>
                        </a:rPr>
                        <a:t>129</a:t>
                      </a:r>
                    </a:p>
                  </a:txBody>
                  <a:tcPr marL="68580" marR="68580" marT="34290" marB="34290"/>
                </a:tc>
                <a:tc>
                  <a:txBody>
                    <a:bodyPr/>
                    <a:lstStyle/>
                    <a:p>
                      <a:pPr algn="ctr"/>
                      <a:r>
                        <a:rPr lang="en-US" sz="1600" spc="500" baseline="0" dirty="0">
                          <a:solidFill>
                            <a:srgbClr val="FF0000"/>
                          </a:solidFill>
                        </a:rPr>
                        <a:t>1000 0001</a:t>
                      </a:r>
                    </a:p>
                  </a:txBody>
                  <a:tcPr marL="68580" marR="68580" marT="34290" marB="34290"/>
                </a:tc>
                <a:extLst>
                  <a:ext uri="{0D108BD9-81ED-4DB2-BD59-A6C34878D82A}">
                    <a16:rowId xmlns:a16="http://schemas.microsoft.com/office/drawing/2014/main" val="10002"/>
                  </a:ext>
                </a:extLst>
              </a:tr>
              <a:tr h="278130">
                <a:tc>
                  <a:txBody>
                    <a:bodyPr/>
                    <a:lstStyle/>
                    <a:p>
                      <a:pPr algn="ctr"/>
                      <a:r>
                        <a:rPr lang="is-IS" sz="1600" baseline="0" dirty="0">
                          <a:solidFill>
                            <a:srgbClr val="FF0000"/>
                          </a:solidFill>
                        </a:rPr>
                        <a:t>…</a:t>
                      </a:r>
                      <a:endParaRPr lang="en-US" sz="1600" baseline="0" dirty="0">
                        <a:solidFill>
                          <a:srgbClr val="FF0000"/>
                        </a:solidFill>
                      </a:endParaRPr>
                    </a:p>
                  </a:txBody>
                  <a:tcPr marL="68580" marR="68580" marT="34290" marB="34290"/>
                </a:tc>
                <a:tc>
                  <a:txBody>
                    <a:bodyPr/>
                    <a:lstStyle/>
                    <a:p>
                      <a:pPr algn="ctr"/>
                      <a:r>
                        <a:rPr lang="is-IS" sz="1600" baseline="0" dirty="0">
                          <a:solidFill>
                            <a:srgbClr val="7030A0"/>
                          </a:solidFill>
                        </a:rPr>
                        <a:t>…</a:t>
                      </a:r>
                      <a:endParaRPr lang="en-US" sz="1600" baseline="0" dirty="0">
                        <a:solidFill>
                          <a:srgbClr val="7030A0"/>
                        </a:solidFill>
                      </a:endParaRPr>
                    </a:p>
                  </a:txBody>
                  <a:tcPr marL="68580" marR="68580" marT="34290" marB="34290"/>
                </a:tc>
                <a:tc>
                  <a:txBody>
                    <a:bodyPr/>
                    <a:lstStyle/>
                    <a:p>
                      <a:pPr algn="ctr"/>
                      <a:r>
                        <a:rPr lang="is-IS" sz="1600" spc="500" baseline="0" dirty="0">
                          <a:solidFill>
                            <a:srgbClr val="FF0000"/>
                          </a:solidFill>
                        </a:rPr>
                        <a:t>…</a:t>
                      </a:r>
                      <a:endParaRPr lang="en-US" sz="1600" spc="500" baseline="0" dirty="0">
                        <a:solidFill>
                          <a:srgbClr val="FF0000"/>
                        </a:solidFill>
                      </a:endParaRPr>
                    </a:p>
                  </a:txBody>
                  <a:tcPr marL="68580" marR="68580" marT="34290" marB="34290"/>
                </a:tc>
                <a:extLst>
                  <a:ext uri="{0D108BD9-81ED-4DB2-BD59-A6C34878D82A}">
                    <a16:rowId xmlns:a16="http://schemas.microsoft.com/office/drawing/2014/main" val="10003"/>
                  </a:ext>
                </a:extLst>
              </a:tr>
              <a:tr h="278130">
                <a:tc>
                  <a:txBody>
                    <a:bodyPr/>
                    <a:lstStyle/>
                    <a:p>
                      <a:pPr algn="ctr"/>
                      <a:r>
                        <a:rPr lang="en-US" sz="1600" baseline="0" dirty="0">
                          <a:solidFill>
                            <a:srgbClr val="FF0000"/>
                          </a:solidFill>
                        </a:rPr>
                        <a:t>-2</a:t>
                      </a:r>
                    </a:p>
                  </a:txBody>
                  <a:tcPr marL="68580" marR="68580" marT="34290" marB="34290"/>
                </a:tc>
                <a:tc>
                  <a:txBody>
                    <a:bodyPr/>
                    <a:lstStyle/>
                    <a:p>
                      <a:pPr algn="ctr"/>
                      <a:r>
                        <a:rPr lang="en-US" sz="1600" baseline="0" dirty="0">
                          <a:solidFill>
                            <a:srgbClr val="7030A0"/>
                          </a:solidFill>
                        </a:rPr>
                        <a:t>254</a:t>
                      </a:r>
                    </a:p>
                  </a:txBody>
                  <a:tcPr marL="68580" marR="68580" marT="34290" marB="34290"/>
                </a:tc>
                <a:tc>
                  <a:txBody>
                    <a:bodyPr/>
                    <a:lstStyle/>
                    <a:p>
                      <a:pPr algn="ctr"/>
                      <a:r>
                        <a:rPr lang="en-US" sz="1600" spc="500" baseline="0" dirty="0">
                          <a:solidFill>
                            <a:srgbClr val="FF0000"/>
                          </a:solidFill>
                        </a:rPr>
                        <a:t>1111 1110</a:t>
                      </a:r>
                    </a:p>
                  </a:txBody>
                  <a:tcPr marL="68580" marR="68580" marT="34290" marB="34290"/>
                </a:tc>
                <a:extLst>
                  <a:ext uri="{0D108BD9-81ED-4DB2-BD59-A6C34878D82A}">
                    <a16:rowId xmlns:a16="http://schemas.microsoft.com/office/drawing/2014/main" val="10004"/>
                  </a:ext>
                </a:extLst>
              </a:tr>
              <a:tr h="278130">
                <a:tc>
                  <a:txBody>
                    <a:bodyPr/>
                    <a:lstStyle/>
                    <a:p>
                      <a:pPr algn="ctr"/>
                      <a:r>
                        <a:rPr lang="en-US" sz="1600" baseline="0" dirty="0">
                          <a:solidFill>
                            <a:srgbClr val="FF0000"/>
                          </a:solidFill>
                        </a:rPr>
                        <a:t>-1</a:t>
                      </a:r>
                    </a:p>
                  </a:txBody>
                  <a:tcPr marL="68580" marR="68580" marT="34290" marB="34290"/>
                </a:tc>
                <a:tc>
                  <a:txBody>
                    <a:bodyPr/>
                    <a:lstStyle/>
                    <a:p>
                      <a:pPr algn="ctr"/>
                      <a:r>
                        <a:rPr lang="en-US" sz="1600" baseline="0" dirty="0">
                          <a:solidFill>
                            <a:srgbClr val="7030A0"/>
                          </a:solidFill>
                        </a:rPr>
                        <a:t>255</a:t>
                      </a:r>
                    </a:p>
                  </a:txBody>
                  <a:tcPr marL="68580" marR="68580" marT="34290" marB="34290"/>
                </a:tc>
                <a:tc>
                  <a:txBody>
                    <a:bodyPr/>
                    <a:lstStyle/>
                    <a:p>
                      <a:pPr algn="ctr"/>
                      <a:r>
                        <a:rPr lang="en-US" sz="1600" spc="500" baseline="0" dirty="0">
                          <a:solidFill>
                            <a:srgbClr val="FF0000"/>
                          </a:solidFill>
                        </a:rPr>
                        <a:t>1111 1111</a:t>
                      </a:r>
                    </a:p>
                  </a:txBody>
                  <a:tcPr marL="68580" marR="68580" marT="34290" marB="34290"/>
                </a:tc>
                <a:extLst>
                  <a:ext uri="{0D108BD9-81ED-4DB2-BD59-A6C34878D82A}">
                    <a16:rowId xmlns:a16="http://schemas.microsoft.com/office/drawing/2014/main" val="10005"/>
                  </a:ext>
                </a:extLst>
              </a:tr>
              <a:tr h="278130">
                <a:tc>
                  <a:txBody>
                    <a:bodyPr/>
                    <a:lstStyle/>
                    <a:p>
                      <a:pPr algn="ctr"/>
                      <a:r>
                        <a:rPr lang="en-US" sz="1600" baseline="0" dirty="0">
                          <a:solidFill>
                            <a:srgbClr val="00B050"/>
                          </a:solidFill>
                        </a:rPr>
                        <a:t>0</a:t>
                      </a:r>
                    </a:p>
                  </a:txBody>
                  <a:tcPr marL="68580" marR="68580" marT="34290" marB="34290"/>
                </a:tc>
                <a:tc>
                  <a:txBody>
                    <a:bodyPr/>
                    <a:lstStyle/>
                    <a:p>
                      <a:pPr algn="ctr"/>
                      <a:r>
                        <a:rPr lang="en-US" sz="1600" baseline="0" dirty="0">
                          <a:solidFill>
                            <a:srgbClr val="00B050"/>
                          </a:solidFill>
                        </a:rPr>
                        <a:t>0</a:t>
                      </a:r>
                    </a:p>
                  </a:txBody>
                  <a:tcPr marL="68580" marR="68580" marT="34290" marB="34290"/>
                </a:tc>
                <a:tc>
                  <a:txBody>
                    <a:bodyPr/>
                    <a:lstStyle/>
                    <a:p>
                      <a:pPr algn="ctr"/>
                      <a:r>
                        <a:rPr lang="en-US" sz="1600" spc="500" baseline="0" dirty="0">
                          <a:solidFill>
                            <a:srgbClr val="00B050"/>
                          </a:solidFill>
                        </a:rPr>
                        <a:t>0000 0000</a:t>
                      </a:r>
                    </a:p>
                  </a:txBody>
                  <a:tcPr marL="68580" marR="68580" marT="34290" marB="34290"/>
                </a:tc>
                <a:extLst>
                  <a:ext uri="{0D108BD9-81ED-4DB2-BD59-A6C34878D82A}">
                    <a16:rowId xmlns:a16="http://schemas.microsoft.com/office/drawing/2014/main" val="10006"/>
                  </a:ext>
                </a:extLst>
              </a:tr>
              <a:tr h="278130">
                <a:tc>
                  <a:txBody>
                    <a:bodyPr/>
                    <a:lstStyle/>
                    <a:p>
                      <a:pPr algn="ctr"/>
                      <a:r>
                        <a:rPr lang="en-US" sz="1600" baseline="0" dirty="0">
                          <a:solidFill>
                            <a:srgbClr val="00B050"/>
                          </a:solidFill>
                        </a:rPr>
                        <a:t>1</a:t>
                      </a:r>
                    </a:p>
                  </a:txBody>
                  <a:tcPr marL="68580" marR="68580" marT="34290" marB="34290"/>
                </a:tc>
                <a:tc>
                  <a:txBody>
                    <a:bodyPr/>
                    <a:lstStyle/>
                    <a:p>
                      <a:pPr algn="ctr"/>
                      <a:r>
                        <a:rPr lang="en-US" sz="1600" baseline="0" dirty="0">
                          <a:solidFill>
                            <a:srgbClr val="00B050"/>
                          </a:solidFill>
                        </a:rPr>
                        <a:t>1</a:t>
                      </a:r>
                    </a:p>
                  </a:txBody>
                  <a:tcPr marL="68580" marR="68580" marT="34290" marB="34290"/>
                </a:tc>
                <a:tc>
                  <a:txBody>
                    <a:bodyPr/>
                    <a:lstStyle/>
                    <a:p>
                      <a:pPr algn="ctr"/>
                      <a:r>
                        <a:rPr lang="en-US" sz="1600" spc="500" baseline="0" dirty="0">
                          <a:solidFill>
                            <a:srgbClr val="00B050"/>
                          </a:solidFill>
                        </a:rPr>
                        <a:t>0000 0001</a:t>
                      </a:r>
                    </a:p>
                  </a:txBody>
                  <a:tcPr marL="68580" marR="68580" marT="34290" marB="34290"/>
                </a:tc>
                <a:extLst>
                  <a:ext uri="{0D108BD9-81ED-4DB2-BD59-A6C34878D82A}">
                    <a16:rowId xmlns:a16="http://schemas.microsoft.com/office/drawing/2014/main" val="10007"/>
                  </a:ext>
                </a:extLst>
              </a:tr>
              <a:tr h="278130">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en-US" sz="1600" spc="500" baseline="0" dirty="0">
                          <a:solidFill>
                            <a:srgbClr val="00B050"/>
                          </a:solidFill>
                        </a:rPr>
                        <a:t>...</a:t>
                      </a:r>
                    </a:p>
                  </a:txBody>
                  <a:tcPr marL="68580" marR="68580" marT="34290" marB="34290"/>
                </a:tc>
                <a:extLst>
                  <a:ext uri="{0D108BD9-81ED-4DB2-BD59-A6C34878D82A}">
                    <a16:rowId xmlns:a16="http://schemas.microsoft.com/office/drawing/2014/main" val="10008"/>
                  </a:ext>
                </a:extLst>
              </a:tr>
              <a:tr h="278130">
                <a:tc>
                  <a:txBody>
                    <a:bodyPr/>
                    <a:lstStyle/>
                    <a:p>
                      <a:pPr algn="ctr"/>
                      <a:r>
                        <a:rPr lang="en-US" sz="1600" baseline="0" dirty="0">
                          <a:solidFill>
                            <a:srgbClr val="00B050"/>
                          </a:solidFill>
                        </a:rPr>
                        <a:t>127</a:t>
                      </a:r>
                    </a:p>
                  </a:txBody>
                  <a:tcPr marL="68580" marR="68580" marT="34290" marB="34290"/>
                </a:tc>
                <a:tc>
                  <a:txBody>
                    <a:bodyPr/>
                    <a:lstStyle/>
                    <a:p>
                      <a:pPr algn="ctr"/>
                      <a:r>
                        <a:rPr lang="en-US" sz="1600" baseline="0" dirty="0">
                          <a:solidFill>
                            <a:srgbClr val="00B050"/>
                          </a:solidFill>
                        </a:rPr>
                        <a:t>127</a:t>
                      </a:r>
                    </a:p>
                  </a:txBody>
                  <a:tcPr marL="68580" marR="68580" marT="34290" marB="34290"/>
                </a:tc>
                <a:tc>
                  <a:txBody>
                    <a:bodyPr/>
                    <a:lstStyle/>
                    <a:p>
                      <a:pPr algn="ctr"/>
                      <a:r>
                        <a:rPr lang="en-US" sz="1600" spc="500" baseline="0" dirty="0">
                          <a:solidFill>
                            <a:srgbClr val="00B050"/>
                          </a:solidFill>
                        </a:rPr>
                        <a:t>0111 1111</a:t>
                      </a:r>
                    </a:p>
                  </a:txBody>
                  <a:tcPr marL="68580" marR="68580" marT="34290" marB="34290"/>
                </a:tc>
                <a:extLst>
                  <a:ext uri="{0D108BD9-81ED-4DB2-BD59-A6C34878D82A}">
                    <a16:rowId xmlns:a16="http://schemas.microsoft.com/office/drawing/2014/main" val="10009"/>
                  </a:ext>
                </a:extLst>
              </a:tr>
            </a:tbl>
          </a:graphicData>
        </a:graphic>
      </p:graphicFrame>
      <p:sp>
        <p:nvSpPr>
          <p:cNvPr id="8" name="TextBox 7"/>
          <p:cNvSpPr txBox="1"/>
          <p:nvPr/>
        </p:nvSpPr>
        <p:spPr>
          <a:xfrm>
            <a:off x="2936867" y="5334567"/>
            <a:ext cx="6677277" cy="415498"/>
          </a:xfrm>
          <a:prstGeom prst="rect">
            <a:avLst/>
          </a:prstGeom>
          <a:noFill/>
        </p:spPr>
        <p:txBody>
          <a:bodyPr wrap="none" rtlCol="0">
            <a:spAutoFit/>
          </a:bodyPr>
          <a:lstStyle/>
          <a:p>
            <a:pPr defTabSz="342900"/>
            <a:r>
              <a:rPr lang="en-US" sz="2100" u="sng" dirty="0">
                <a:solidFill>
                  <a:srgbClr val="3064C0"/>
                </a:solidFill>
                <a:latin typeface="Calibri"/>
              </a:rPr>
              <a:t>Note</a:t>
            </a:r>
            <a:r>
              <a:rPr lang="en-US" sz="2100" dirty="0">
                <a:solidFill>
                  <a:srgbClr val="3064C0"/>
                </a:solidFill>
                <a:latin typeface="Calibri"/>
              </a:rPr>
              <a:t>: Most significant bit (MSB) is the sign bit for signed int</a:t>
            </a:r>
          </a:p>
        </p:txBody>
      </p:sp>
      <p:sp>
        <p:nvSpPr>
          <p:cNvPr id="13" name="Rectangle 12"/>
          <p:cNvSpPr/>
          <p:nvPr/>
        </p:nvSpPr>
        <p:spPr>
          <a:xfrm>
            <a:off x="7400088" y="2623760"/>
            <a:ext cx="162700" cy="2794394"/>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400">
              <a:solidFill>
                <a:prstClr val="white"/>
              </a:solidFill>
              <a:latin typeface="Calibri"/>
            </a:endParaRPr>
          </a:p>
        </p:txBody>
      </p:sp>
      <p:sp>
        <p:nvSpPr>
          <p:cNvPr id="27" name="Slide Number Placeholder 2"/>
          <p:cNvSpPr txBox="1">
            <a:spLocks/>
          </p:cNvSpPr>
          <p:nvPr/>
        </p:nvSpPr>
        <p:spPr>
          <a:xfrm>
            <a:off x="2136648" y="6356350"/>
            <a:ext cx="1981200"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900" b="1" kern="1200">
                <a:solidFill>
                  <a:schemeClr val="tx1">
                    <a:tint val="75000"/>
                  </a:schemeClr>
                </a:solidFill>
                <a:latin typeface="Tahoma" pitchFamily="34" charset="0"/>
                <a:ea typeface="+mn-ea"/>
                <a:cs typeface="+mn-cs"/>
              </a:defRPr>
            </a:lvl1pPr>
            <a:lvl2pPr marL="457200" algn="l" rtl="0" eaLnBrk="0" fontAlgn="base" hangingPunct="0">
              <a:spcBef>
                <a:spcPct val="0"/>
              </a:spcBef>
              <a:spcAft>
                <a:spcPct val="0"/>
              </a:spcAft>
              <a:defRPr sz="2000" b="1" kern="1200">
                <a:solidFill>
                  <a:schemeClr val="bg1"/>
                </a:solidFill>
                <a:latin typeface="Tahoma" pitchFamily="34" charset="0"/>
                <a:ea typeface="+mn-ea"/>
                <a:cs typeface="+mn-cs"/>
              </a:defRPr>
            </a:lvl2pPr>
            <a:lvl3pPr marL="914400" algn="l" rtl="0" eaLnBrk="0" fontAlgn="base" hangingPunct="0">
              <a:spcBef>
                <a:spcPct val="0"/>
              </a:spcBef>
              <a:spcAft>
                <a:spcPct val="0"/>
              </a:spcAft>
              <a:defRPr sz="2000" b="1" kern="1200">
                <a:solidFill>
                  <a:schemeClr val="bg1"/>
                </a:solidFill>
                <a:latin typeface="Tahoma" pitchFamily="34" charset="0"/>
                <a:ea typeface="+mn-ea"/>
                <a:cs typeface="+mn-cs"/>
              </a:defRPr>
            </a:lvl3pPr>
            <a:lvl4pPr marL="1371600" algn="l" rtl="0" eaLnBrk="0" fontAlgn="base" hangingPunct="0">
              <a:spcBef>
                <a:spcPct val="0"/>
              </a:spcBef>
              <a:spcAft>
                <a:spcPct val="0"/>
              </a:spcAft>
              <a:defRPr sz="2000" b="1" kern="1200">
                <a:solidFill>
                  <a:schemeClr val="bg1"/>
                </a:solidFill>
                <a:latin typeface="Tahoma" pitchFamily="34" charset="0"/>
                <a:ea typeface="+mn-ea"/>
                <a:cs typeface="+mn-cs"/>
              </a:defRPr>
            </a:lvl4pPr>
            <a:lvl5pPr marL="1828800" algn="l" rtl="0" eaLnBrk="0" fontAlgn="base" hangingPunct="0">
              <a:spcBef>
                <a:spcPct val="0"/>
              </a:spcBef>
              <a:spcAft>
                <a:spcPct val="0"/>
              </a:spcAft>
              <a:defRPr sz="2000" b="1" kern="1200">
                <a:solidFill>
                  <a:schemeClr val="bg1"/>
                </a:solidFill>
                <a:latin typeface="Tahoma" pitchFamily="34" charset="0"/>
                <a:ea typeface="+mn-ea"/>
                <a:cs typeface="+mn-cs"/>
              </a:defRPr>
            </a:lvl5pPr>
            <a:lvl6pPr marL="2286000" algn="l" defTabSz="914400" rtl="0" eaLnBrk="1" latinLnBrk="0" hangingPunct="1">
              <a:defRPr sz="2000" b="1" kern="1200">
                <a:solidFill>
                  <a:schemeClr val="bg1"/>
                </a:solidFill>
                <a:latin typeface="Tahoma" pitchFamily="34" charset="0"/>
                <a:ea typeface="+mn-ea"/>
                <a:cs typeface="+mn-cs"/>
              </a:defRPr>
            </a:lvl6pPr>
            <a:lvl7pPr marL="2743200" algn="l" defTabSz="914400" rtl="0" eaLnBrk="1" latinLnBrk="0" hangingPunct="1">
              <a:defRPr sz="2000" b="1" kern="1200">
                <a:solidFill>
                  <a:schemeClr val="bg1"/>
                </a:solidFill>
                <a:latin typeface="Tahoma" pitchFamily="34" charset="0"/>
                <a:ea typeface="+mn-ea"/>
                <a:cs typeface="+mn-cs"/>
              </a:defRPr>
            </a:lvl7pPr>
            <a:lvl8pPr marL="3200400" algn="l" defTabSz="914400" rtl="0" eaLnBrk="1" latinLnBrk="0" hangingPunct="1">
              <a:defRPr sz="2000" b="1" kern="1200">
                <a:solidFill>
                  <a:schemeClr val="bg1"/>
                </a:solidFill>
                <a:latin typeface="Tahoma" pitchFamily="34" charset="0"/>
                <a:ea typeface="+mn-ea"/>
                <a:cs typeface="+mn-cs"/>
              </a:defRPr>
            </a:lvl8pPr>
            <a:lvl9pPr marL="3657600" algn="l" defTabSz="914400" rtl="0" eaLnBrk="1" latinLnBrk="0" hangingPunct="1">
              <a:defRPr sz="2000" b="1" kern="1200">
                <a:solidFill>
                  <a:schemeClr val="bg1"/>
                </a:solidFill>
                <a:latin typeface="Tahoma" pitchFamily="34" charset="0"/>
                <a:ea typeface="+mn-ea"/>
                <a:cs typeface="+mn-cs"/>
              </a:defRPr>
            </a:lvl9pPr>
          </a:lstStyle>
          <a:p>
            <a:pPr algn="l" eaLnBrk="1" fontAlgn="auto" hangingPunct="1">
              <a:spcBef>
                <a:spcPts val="0"/>
              </a:spcBef>
              <a:spcAft>
                <a:spcPts val="0"/>
              </a:spcAft>
            </a:pPr>
            <a:r>
              <a:rPr lang="en-US" sz="1400" b="0" dirty="0">
                <a:solidFill>
                  <a:srgbClr val="1F497D"/>
                </a:solidFill>
                <a:latin typeface="Gill Sans MT"/>
              </a:rPr>
              <a:t>18</a:t>
            </a:r>
          </a:p>
        </p:txBody>
      </p:sp>
    </p:spTree>
    <p:extLst>
      <p:ext uri="{BB962C8B-B14F-4D97-AF65-F5344CB8AC3E}">
        <p14:creationId xmlns:p14="http://schemas.microsoft.com/office/powerpoint/2010/main" val="258678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Extension</a:t>
            </a:r>
          </a:p>
        </p:txBody>
      </p:sp>
      <p:sp>
        <p:nvSpPr>
          <p:cNvPr id="12" name="TextBox 11"/>
          <p:cNvSpPr txBox="1"/>
          <p:nvPr/>
        </p:nvSpPr>
        <p:spPr>
          <a:xfrm>
            <a:off x="1745681" y="3831240"/>
            <a:ext cx="8778240" cy="830997"/>
          </a:xfrm>
          <a:prstGeom prst="rect">
            <a:avLst/>
          </a:prstGeom>
          <a:noFill/>
        </p:spPr>
        <p:txBody>
          <a:bodyPr wrap="square" rtlCol="0">
            <a:spAutoFit/>
          </a:bodyPr>
          <a:lstStyle/>
          <a:p>
            <a:pPr marL="257175" indent="-257175" defTabSz="342900">
              <a:buFont typeface="Arial" charset="0"/>
              <a:buChar char="•"/>
            </a:pPr>
            <a:r>
              <a:rPr lang="en-US" sz="2400" dirty="0">
                <a:solidFill>
                  <a:prstClr val="black"/>
                </a:solidFill>
                <a:latin typeface="Calibri"/>
              </a:rPr>
              <a:t>Sign extension for unsigned int: fill in 0’s from the left</a:t>
            </a:r>
          </a:p>
          <a:p>
            <a:pPr marL="257175" indent="-257175" defTabSz="342900">
              <a:buFont typeface="Arial" charset="0"/>
              <a:buChar char="•"/>
            </a:pPr>
            <a:r>
              <a:rPr lang="en-US" sz="2400" dirty="0">
                <a:solidFill>
                  <a:prstClr val="black"/>
                </a:solidFill>
                <a:latin typeface="Calibri"/>
              </a:rPr>
              <a:t>Sign extension for signed int: fill in the sign bit from the left</a:t>
            </a:r>
          </a:p>
        </p:txBody>
      </p:sp>
      <p:graphicFrame>
        <p:nvGraphicFramePr>
          <p:cNvPr id="19" name="Content Placeholder 10"/>
          <p:cNvGraphicFramePr>
            <a:graphicFrameLocks noGrp="1"/>
          </p:cNvGraphicFramePr>
          <p:nvPr>
            <p:ph idx="1"/>
          </p:nvPr>
        </p:nvGraphicFramePr>
        <p:xfrm>
          <a:off x="1791629" y="1680489"/>
          <a:ext cx="8778240" cy="1887900"/>
        </p:xfrm>
        <a:graphic>
          <a:graphicData uri="http://schemas.openxmlformats.org/drawingml/2006/table">
            <a:tbl>
              <a:tblPr firstRow="1" bandRow="1">
                <a:tableStyleId>{5C22544A-7EE6-4342-B048-85BDC9FD1C3A}</a:tableStyleId>
              </a:tblPr>
              <a:tblGrid>
                <a:gridCol w="1157675">
                  <a:extLst>
                    <a:ext uri="{9D8B030D-6E8A-4147-A177-3AD203B41FA5}">
                      <a16:colId xmlns:a16="http://schemas.microsoft.com/office/drawing/2014/main" val="20000"/>
                    </a:ext>
                  </a:extLst>
                </a:gridCol>
                <a:gridCol w="1905141">
                  <a:extLst>
                    <a:ext uri="{9D8B030D-6E8A-4147-A177-3AD203B41FA5}">
                      <a16:colId xmlns:a16="http://schemas.microsoft.com/office/drawing/2014/main" val="20001"/>
                    </a:ext>
                  </a:extLst>
                </a:gridCol>
                <a:gridCol w="2297056">
                  <a:extLst>
                    <a:ext uri="{9D8B030D-6E8A-4147-A177-3AD203B41FA5}">
                      <a16:colId xmlns:a16="http://schemas.microsoft.com/office/drawing/2014/main" val="20002"/>
                    </a:ext>
                  </a:extLst>
                </a:gridCol>
                <a:gridCol w="3418368">
                  <a:extLst>
                    <a:ext uri="{9D8B030D-6E8A-4147-A177-3AD203B41FA5}">
                      <a16:colId xmlns:a16="http://schemas.microsoft.com/office/drawing/2014/main" val="20003"/>
                    </a:ext>
                  </a:extLst>
                </a:gridCol>
              </a:tblGrid>
              <a:tr h="471975">
                <a:tc>
                  <a:txBody>
                    <a:bodyPr/>
                    <a:lstStyle/>
                    <a:p>
                      <a:pPr algn="ctr"/>
                      <a:r>
                        <a:rPr lang="en-US" sz="1800" dirty="0"/>
                        <a:t>Decimal</a:t>
                      </a:r>
                    </a:p>
                  </a:txBody>
                  <a:tcPr marL="115651" marR="115651"/>
                </a:tc>
                <a:tc gridSpan="3">
                  <a:txBody>
                    <a:bodyPr/>
                    <a:lstStyle/>
                    <a:p>
                      <a:pPr algn="ctr"/>
                      <a:r>
                        <a:rPr lang="en-US" sz="1800" dirty="0"/>
                        <a:t>Binary</a:t>
                      </a:r>
                    </a:p>
                  </a:txBody>
                  <a:tcPr marL="115651" marR="115651"/>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471975">
                <a:tc>
                  <a:txBody>
                    <a:bodyPr/>
                    <a:lstStyle/>
                    <a:p>
                      <a:pPr algn="ctr"/>
                      <a:endParaRPr lang="en-US" dirty="0"/>
                    </a:p>
                  </a:txBody>
                  <a:tcPr marL="115651" marR="115651">
                    <a:solidFill>
                      <a:schemeClr val="accent1">
                        <a:lumMod val="40000"/>
                        <a:lumOff val="60000"/>
                      </a:schemeClr>
                    </a:solidFill>
                  </a:tcPr>
                </a:tc>
                <a:tc>
                  <a:txBody>
                    <a:bodyPr/>
                    <a:lstStyle/>
                    <a:p>
                      <a:pPr algn="ctr"/>
                      <a:r>
                        <a:rPr lang="en-US" sz="1800" dirty="0"/>
                        <a:t>4-bit</a:t>
                      </a:r>
                    </a:p>
                  </a:txBody>
                  <a:tcPr marL="115651" marR="115651">
                    <a:solidFill>
                      <a:schemeClr val="accent1">
                        <a:lumMod val="40000"/>
                        <a:lumOff val="60000"/>
                      </a:schemeClr>
                    </a:solidFill>
                  </a:tcPr>
                </a:tc>
                <a:tc>
                  <a:txBody>
                    <a:bodyPr/>
                    <a:lstStyle/>
                    <a:p>
                      <a:pPr algn="ctr"/>
                      <a:r>
                        <a:rPr lang="en-US" sz="1800" dirty="0"/>
                        <a:t>8-bit</a:t>
                      </a:r>
                    </a:p>
                  </a:txBody>
                  <a:tcPr marL="115651" marR="115651">
                    <a:solidFill>
                      <a:schemeClr val="accent1">
                        <a:lumMod val="40000"/>
                        <a:lumOff val="60000"/>
                      </a:schemeClr>
                    </a:solidFill>
                  </a:tcPr>
                </a:tc>
                <a:tc>
                  <a:txBody>
                    <a:bodyPr/>
                    <a:lstStyle/>
                    <a:p>
                      <a:pPr algn="ctr"/>
                      <a:r>
                        <a:rPr lang="en-US" sz="1800" dirty="0"/>
                        <a:t>32-bit</a:t>
                      </a:r>
                    </a:p>
                  </a:txBody>
                  <a:tcPr marL="115651" marR="115651">
                    <a:solidFill>
                      <a:schemeClr val="accent1">
                        <a:lumMod val="40000"/>
                        <a:lumOff val="60000"/>
                      </a:schemeClr>
                    </a:solidFill>
                  </a:tcPr>
                </a:tc>
                <a:extLst>
                  <a:ext uri="{0D108BD9-81ED-4DB2-BD59-A6C34878D82A}">
                    <a16:rowId xmlns:a16="http://schemas.microsoft.com/office/drawing/2014/main" val="10001"/>
                  </a:ext>
                </a:extLst>
              </a:tr>
              <a:tr h="471975">
                <a:tc>
                  <a:txBody>
                    <a:bodyPr/>
                    <a:lstStyle/>
                    <a:p>
                      <a:pPr algn="ctr"/>
                      <a:r>
                        <a:rPr lang="en-US" sz="1800" dirty="0"/>
                        <a:t>3</a:t>
                      </a:r>
                      <a:r>
                        <a:rPr lang="en-US" sz="1800" baseline="-25000" dirty="0"/>
                        <a:t>ten</a:t>
                      </a:r>
                    </a:p>
                  </a:txBody>
                  <a:tcPr marL="115651" marR="115651"/>
                </a:tc>
                <a:tc>
                  <a:txBody>
                    <a:bodyPr/>
                    <a:lstStyle/>
                    <a:p>
                      <a:pPr algn="ctr"/>
                      <a:r>
                        <a:rPr lang="en-US" sz="1800" dirty="0"/>
                        <a:t>0011</a:t>
                      </a:r>
                      <a:r>
                        <a:rPr lang="en-US" sz="1800" baseline="-25000" dirty="0"/>
                        <a:t>two</a:t>
                      </a:r>
                    </a:p>
                  </a:txBody>
                  <a:tcPr marL="115651" marR="115651"/>
                </a:tc>
                <a:tc>
                  <a:txBody>
                    <a:bodyPr/>
                    <a:lstStyle/>
                    <a:p>
                      <a:pPr algn="ctr"/>
                      <a:r>
                        <a:rPr lang="en-US" sz="1800" dirty="0"/>
                        <a:t>0000 0011</a:t>
                      </a:r>
                      <a:r>
                        <a:rPr lang="en-US" sz="1800" baseline="-25000" dirty="0"/>
                        <a:t>two</a:t>
                      </a:r>
                    </a:p>
                  </a:txBody>
                  <a:tcPr marL="115651" marR="115651"/>
                </a:tc>
                <a:tc>
                  <a:txBody>
                    <a:bodyPr/>
                    <a:lstStyle/>
                    <a:p>
                      <a:pPr algn="ctr"/>
                      <a:r>
                        <a:rPr lang="en-US" sz="1800" dirty="0"/>
                        <a:t>0000 0000 0000 0011</a:t>
                      </a:r>
                      <a:r>
                        <a:rPr lang="en-US" sz="1800" baseline="-25000" dirty="0"/>
                        <a:t>two</a:t>
                      </a:r>
                    </a:p>
                  </a:txBody>
                  <a:tcPr marL="115651" marR="115651"/>
                </a:tc>
                <a:extLst>
                  <a:ext uri="{0D108BD9-81ED-4DB2-BD59-A6C34878D82A}">
                    <a16:rowId xmlns:a16="http://schemas.microsoft.com/office/drawing/2014/main" val="10002"/>
                  </a:ext>
                </a:extLst>
              </a:tr>
              <a:tr h="4719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-3</a:t>
                      </a:r>
                      <a:r>
                        <a:rPr lang="en-US" sz="1800" baseline="-25000" dirty="0"/>
                        <a:t>ten</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1111 1111 1111 1101</a:t>
                      </a:r>
                      <a:r>
                        <a:rPr lang="en-US" sz="1800" baseline="-25000" dirty="0"/>
                        <a:t>two</a:t>
                      </a:r>
                    </a:p>
                  </a:txBody>
                  <a:tcPr marL="115651" marR="11565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852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305800" y="1284376"/>
            <a:ext cx="3428999" cy="4629329"/>
          </a:xfrm>
          <a:prstGeom prst="roundRect">
            <a:avLst/>
          </a:prstGeom>
          <a:solidFill>
            <a:schemeClr val="accent1">
              <a:lumMod val="20000"/>
              <a:lumOff val="8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1450"/>
            <a:ext cx="3146886" cy="28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140" y="1371600"/>
            <a:ext cx="3148061"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p:nvPr/>
        </p:nvPicPr>
        <p:blipFill>
          <a:blip r:embed="rId4"/>
          <a:srcRect/>
          <a:stretch>
            <a:fillRect/>
          </a:stretch>
        </p:blipFill>
        <p:spPr bwMode="auto">
          <a:xfrm>
            <a:off x="8433433" y="1430425"/>
            <a:ext cx="3079750" cy="2825750"/>
          </a:xfrm>
          <a:prstGeom prst="rect">
            <a:avLst/>
          </a:prstGeom>
          <a:noFill/>
          <a:ln w="9525">
            <a:noFill/>
            <a:miter lim="800000"/>
            <a:headEnd/>
            <a:tailEnd/>
          </a:ln>
        </p:spPr>
      </p:pic>
      <p:sp>
        <p:nvSpPr>
          <p:cNvPr id="6" name="Rectangle 5"/>
          <p:cNvSpPr/>
          <p:nvPr/>
        </p:nvSpPr>
        <p:spPr>
          <a:xfrm>
            <a:off x="5048785" y="4672358"/>
            <a:ext cx="2227780" cy="1200329"/>
          </a:xfrm>
          <a:prstGeom prst="rect">
            <a:avLst/>
          </a:prstGeom>
        </p:spPr>
        <p:txBody>
          <a:bodyPr wrap="square">
            <a:spAutoFit/>
          </a:bodyPr>
          <a:lstStyle/>
          <a:p>
            <a:r>
              <a:rPr lang="en-US" dirty="0"/>
              <a:t>One’s complement representation</a:t>
            </a:r>
          </a:p>
          <a:p>
            <a:r>
              <a:rPr lang="en-US" dirty="0">
                <a:solidFill>
                  <a:srgbClr val="C00000"/>
                </a:solidFill>
              </a:rPr>
              <a:t>Negative = invert all bits of a positive</a:t>
            </a:r>
          </a:p>
        </p:txBody>
      </p:sp>
      <p:sp>
        <p:nvSpPr>
          <p:cNvPr id="8" name="Rectangle 7"/>
          <p:cNvSpPr/>
          <p:nvPr/>
        </p:nvSpPr>
        <p:spPr>
          <a:xfrm>
            <a:off x="9074784" y="4661333"/>
            <a:ext cx="2016359" cy="1200329"/>
          </a:xfrm>
          <a:prstGeom prst="rect">
            <a:avLst/>
          </a:prstGeom>
        </p:spPr>
        <p:txBody>
          <a:bodyPr wrap="square">
            <a:spAutoFit/>
          </a:bodyPr>
          <a:lstStyle/>
          <a:p>
            <a:r>
              <a:rPr lang="en-US" dirty="0"/>
              <a:t>Two’s Complement representation</a:t>
            </a:r>
          </a:p>
          <a:p>
            <a:r>
              <a:rPr lang="en-US" dirty="0">
                <a:solidFill>
                  <a:srgbClr val="C00000"/>
                </a:solidFill>
              </a:rPr>
              <a:t>TC = invert all bits, then plus </a:t>
            </a:r>
            <a:r>
              <a:rPr lang="en-US" dirty="0">
                <a:solidFill>
                  <a:srgbClr val="C00000"/>
                </a:solidFill>
                <a:latin typeface="Consolas" pitchFamily="49" charset="0"/>
                <a:cs typeface="Consolas" pitchFamily="49" charset="0"/>
              </a:rPr>
              <a:t>1</a:t>
            </a:r>
          </a:p>
        </p:txBody>
      </p:sp>
      <p:sp>
        <p:nvSpPr>
          <p:cNvPr id="4" name="Rectangle 3"/>
          <p:cNvSpPr/>
          <p:nvPr/>
        </p:nvSpPr>
        <p:spPr>
          <a:xfrm>
            <a:off x="1077349" y="4730131"/>
            <a:ext cx="2675673" cy="1200329"/>
          </a:xfrm>
          <a:prstGeom prst="rect">
            <a:avLst/>
          </a:prstGeom>
        </p:spPr>
        <p:txBody>
          <a:bodyPr wrap="square">
            <a:spAutoFit/>
          </a:bodyPr>
          <a:lstStyle/>
          <a:p>
            <a:r>
              <a:rPr lang="en-US" dirty="0"/>
              <a:t>Signed magnitude representation</a:t>
            </a:r>
          </a:p>
          <a:p>
            <a:r>
              <a:rPr lang="en-US" dirty="0">
                <a:solidFill>
                  <a:srgbClr val="C00000"/>
                </a:solidFill>
                <a:latin typeface="Consolas" pitchFamily="49" charset="0"/>
                <a:cs typeface="Consolas" pitchFamily="49" charset="0"/>
              </a:rPr>
              <a:t>0</a:t>
            </a:r>
            <a:r>
              <a:rPr lang="en-US" dirty="0">
                <a:solidFill>
                  <a:srgbClr val="C00000"/>
                </a:solidFill>
              </a:rPr>
              <a:t> = positive</a:t>
            </a:r>
          </a:p>
          <a:p>
            <a:r>
              <a:rPr lang="en-US" dirty="0">
                <a:solidFill>
                  <a:srgbClr val="C00000"/>
                </a:solidFill>
                <a:latin typeface="Consolas" pitchFamily="49" charset="0"/>
                <a:cs typeface="Consolas" pitchFamily="49" charset="0"/>
              </a:rPr>
              <a:t>1</a:t>
            </a:r>
            <a:r>
              <a:rPr lang="en-US" dirty="0">
                <a:solidFill>
                  <a:srgbClr val="C00000"/>
                </a:solidFill>
              </a:rPr>
              <a:t> = negative</a:t>
            </a:r>
          </a:p>
        </p:txBody>
      </p:sp>
      <p:sp>
        <p:nvSpPr>
          <p:cNvPr id="9" name="TextBox 8"/>
          <p:cNvSpPr txBox="1"/>
          <p:nvPr/>
        </p:nvSpPr>
        <p:spPr>
          <a:xfrm>
            <a:off x="8663669" y="5983554"/>
            <a:ext cx="2828018" cy="369332"/>
          </a:xfrm>
          <a:prstGeom prst="rect">
            <a:avLst/>
          </a:prstGeom>
          <a:noFill/>
        </p:spPr>
        <p:txBody>
          <a:bodyPr wrap="none" rtlCol="0">
            <a:spAutoFit/>
          </a:bodyPr>
          <a:lstStyle/>
          <a:p>
            <a:r>
              <a:rPr lang="en-US" dirty="0">
                <a:solidFill>
                  <a:srgbClr val="0000FF"/>
                </a:solidFill>
              </a:rPr>
              <a:t>Used in modern computers!</a:t>
            </a:r>
          </a:p>
        </p:txBody>
      </p:sp>
    </p:spTree>
    <p:extLst>
      <p:ext uri="{BB962C8B-B14F-4D97-AF65-F5344CB8AC3E}">
        <p14:creationId xmlns:p14="http://schemas.microsoft.com/office/powerpoint/2010/main" val="72719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unsigned vs. signed</a:t>
            </a:r>
          </a:p>
        </p:txBody>
      </p:sp>
      <p:sp>
        <p:nvSpPr>
          <p:cNvPr id="3" name="Slide Number Placeholder 2"/>
          <p:cNvSpPr>
            <a:spLocks noGrp="1"/>
          </p:cNvSpPr>
          <p:nvPr>
            <p:ph type="sldNum" sz="quarter" idx="4294967295"/>
          </p:nvPr>
        </p:nvSpPr>
        <p:spPr>
          <a:xfrm>
            <a:off x="762000" y="635213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21</a:t>
            </a:fld>
            <a:endParaRPr lang="en-US" dirty="0">
              <a:solidFill>
                <a:srgbClr val="1F497D"/>
              </a:solidFill>
              <a:latin typeface="Gill Sans MT"/>
            </a:endParaRPr>
          </a:p>
        </p:txBody>
      </p:sp>
      <p:pic>
        <p:nvPicPr>
          <p:cNvPr id="7" name="Picture 6"/>
          <p:cNvPicPr/>
          <p:nvPr/>
        </p:nvPicPr>
        <p:blipFill>
          <a:blip r:embed="rId2"/>
          <a:srcRect/>
          <a:stretch>
            <a:fillRect/>
          </a:stretch>
        </p:blipFill>
        <p:spPr bwMode="auto">
          <a:xfrm>
            <a:off x="3810000" y="1433076"/>
            <a:ext cx="3079750" cy="2825750"/>
          </a:xfrm>
          <a:prstGeom prst="rect">
            <a:avLst/>
          </a:prstGeom>
          <a:noFill/>
          <a:ln w="9525">
            <a:noFill/>
            <a:miter lim="800000"/>
            <a:headEnd/>
            <a:tailEnd/>
          </a:ln>
        </p:spPr>
      </p:pic>
      <p:sp>
        <p:nvSpPr>
          <p:cNvPr id="6" name="Rectangle 5"/>
          <p:cNvSpPr/>
          <p:nvPr/>
        </p:nvSpPr>
        <p:spPr>
          <a:xfrm>
            <a:off x="1270535" y="4663983"/>
            <a:ext cx="2227780" cy="923330"/>
          </a:xfrm>
          <a:prstGeom prst="rect">
            <a:avLst/>
          </a:prstGeom>
        </p:spPr>
        <p:txBody>
          <a:bodyPr wrap="square">
            <a:spAutoFit/>
          </a:bodyPr>
          <a:lstStyle/>
          <a:p>
            <a:pPr>
              <a:defRPr/>
            </a:pPr>
            <a:r>
              <a:rPr lang="en-US" dirty="0">
                <a:solidFill>
                  <a:prstClr val="black"/>
                </a:solidFill>
                <a:latin typeface="Gill Sans MT"/>
              </a:rPr>
              <a:t>Unsigned </a:t>
            </a:r>
            <a:r>
              <a:rPr lang="en-US" dirty="0" err="1">
                <a:solidFill>
                  <a:prstClr val="black"/>
                </a:solidFill>
                <a:latin typeface="Gill Sans MT"/>
              </a:rPr>
              <a:t>int</a:t>
            </a:r>
            <a:r>
              <a:rPr lang="en-US" dirty="0">
                <a:solidFill>
                  <a:prstClr val="black"/>
                </a:solidFill>
                <a:latin typeface="Gill Sans MT"/>
              </a:rPr>
              <a:t> representation</a:t>
            </a:r>
          </a:p>
          <a:p>
            <a:pPr>
              <a:defRPr/>
            </a:pPr>
            <a:r>
              <a:rPr lang="en-US" dirty="0">
                <a:solidFill>
                  <a:prstClr val="black"/>
                </a:solidFill>
                <a:latin typeface="Gill Sans MT"/>
              </a:rPr>
              <a:t>Range [0, 31]</a:t>
            </a:r>
          </a:p>
        </p:txBody>
      </p:sp>
      <p:sp>
        <p:nvSpPr>
          <p:cNvPr id="8" name="Rectangle 7"/>
          <p:cNvSpPr/>
          <p:nvPr/>
        </p:nvSpPr>
        <p:spPr>
          <a:xfrm>
            <a:off x="4451351" y="4663983"/>
            <a:ext cx="2016359" cy="1477328"/>
          </a:xfrm>
          <a:prstGeom prst="rect">
            <a:avLst/>
          </a:prstGeom>
        </p:spPr>
        <p:txBody>
          <a:bodyPr wrap="square">
            <a:spAutoFit/>
          </a:bodyPr>
          <a:lstStyle/>
          <a:p>
            <a:pPr>
              <a:defRPr/>
            </a:pPr>
            <a:r>
              <a:rPr lang="en-US" dirty="0">
                <a:solidFill>
                  <a:prstClr val="black"/>
                </a:solidFill>
                <a:latin typeface="Gill Sans MT"/>
              </a:rPr>
              <a:t>Two’s Complement representation</a:t>
            </a:r>
          </a:p>
          <a:p>
            <a:pPr>
              <a:defRPr/>
            </a:pPr>
            <a:r>
              <a:rPr lang="en-US" dirty="0">
                <a:solidFill>
                  <a:prstClr val="black"/>
                </a:solidFill>
                <a:latin typeface="Gill Sans MT"/>
              </a:rPr>
              <a:t>Range [-16,15]</a:t>
            </a:r>
          </a:p>
          <a:p>
            <a:pPr>
              <a:defRPr/>
            </a:pPr>
            <a:r>
              <a:rPr lang="en-US" dirty="0">
                <a:solidFill>
                  <a:srgbClr val="C00000"/>
                </a:solidFill>
                <a:latin typeface="Gill Sans MT"/>
              </a:rPr>
              <a:t>TC = invert all bits, then add </a:t>
            </a:r>
            <a:r>
              <a:rPr lang="en-US" dirty="0">
                <a:solidFill>
                  <a:srgbClr val="C00000"/>
                </a:solidFill>
                <a:latin typeface="Consolas" pitchFamily="49" charset="0"/>
                <a:cs typeface="Consolas" pitchFamily="49" charset="0"/>
              </a:rPr>
              <a:t>1</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683" y="1303961"/>
            <a:ext cx="3100299" cy="2984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CADBB08-95E4-B063-989E-5381B2268DF2}"/>
                  </a:ext>
                </a:extLst>
              </p:cNvPr>
              <p:cNvGraphicFramePr>
                <a:graphicFrameLocks noGrp="1"/>
              </p:cNvGraphicFramePr>
              <p:nvPr>
                <p:extLst>
                  <p:ext uri="{D42A27DB-BD31-4B8C-83A1-F6EECF244321}">
                    <p14:modId xmlns:p14="http://schemas.microsoft.com/office/powerpoint/2010/main" val="2037262524"/>
                  </p:ext>
                </p:extLst>
              </p:nvPr>
            </p:nvGraphicFramePr>
            <p:xfrm>
              <a:off x="6467710" y="3828994"/>
              <a:ext cx="5466080" cy="1539240"/>
            </p:xfrm>
            <a:graphic>
              <a:graphicData uri="http://schemas.openxmlformats.org/drawingml/2006/table">
                <a:tbl>
                  <a:tblPr firstRow="1" firstCol="1" bandRow="1">
                    <a:tableStyleId>{5C22544A-7EE6-4342-B048-85BDC9FD1C3A}</a:tableStyleId>
                  </a:tblPr>
                  <a:tblGrid>
                    <a:gridCol w="1181070">
                      <a:extLst>
                        <a:ext uri="{9D8B030D-6E8A-4147-A177-3AD203B41FA5}">
                          <a16:colId xmlns:a16="http://schemas.microsoft.com/office/drawing/2014/main" val="20000"/>
                        </a:ext>
                      </a:extLst>
                    </a:gridCol>
                    <a:gridCol w="1266620">
                      <a:extLst>
                        <a:ext uri="{9D8B030D-6E8A-4147-A177-3AD203B41FA5}">
                          <a16:colId xmlns:a16="http://schemas.microsoft.com/office/drawing/2014/main" val="20001"/>
                        </a:ext>
                      </a:extLst>
                    </a:gridCol>
                    <a:gridCol w="3018390">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Unsigned</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 Signed</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r>
                                  <a:rPr lang="en-US" sz="1800" smtClean="0">
                                    <a:solidFill>
                                      <a:schemeClr val="tx1"/>
                                    </a:solidFill>
                                    <a:effectLst/>
                                    <a:latin typeface="Cambria Math"/>
                                  </a:rPr>
                                  <m:t>[</m:t>
                                </m:r>
                                <m:r>
                                  <a:rPr lang="en-US" sz="1800" b="0" i="1" smtClean="0">
                                    <a:solidFill>
                                      <a:schemeClr val="tx1"/>
                                    </a:solidFill>
                                    <a:effectLst/>
                                    <a:latin typeface="Cambria Math" panose="02040503050406030204" pitchFamily="18" charset="0"/>
                                  </a:rPr>
                                  <m:t>0</m:t>
                                </m:r>
                                <m:r>
                                  <a:rPr lang="en-US" sz="1800">
                                    <a:solidFill>
                                      <a:schemeClr val="tx1"/>
                                    </a:solidFill>
                                    <a:effectLst/>
                                    <a:latin typeface="Cambria Math"/>
                                  </a:rPr>
                                  <m:t>, </m:t>
                                </m:r>
                                <m:sSup>
                                  <m:sSupPr>
                                    <m:ctrlPr>
                                      <a:rPr lang="en-US" sz="1800">
                                        <a:solidFill>
                                          <a:schemeClr val="tx1"/>
                                        </a:solidFill>
                                        <a:effectLst/>
                                        <a:latin typeface="Cambria Math"/>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r>
                                  <a:rPr lang="en-US" sz="1800" b="0" i="0" smtClean="0">
                                    <a:solidFill>
                                      <a:schemeClr val="tx1"/>
                                    </a:solidFill>
                                    <a:effectLst/>
                                    <a:latin typeface="Cambria Math" panose="02040503050406030204" pitchFamily="18" charset="0"/>
                                  </a:rPr>
                                  <m:t>−1</m:t>
                                </m:r>
                                <m:r>
                                  <a:rPr lang="en-US" sz="1800">
                                    <a:solidFill>
                                      <a:schemeClr val="tx1"/>
                                    </a:solidFill>
                                    <a:effectLst/>
                                    <a:latin typeface="Cambria Math"/>
                                  </a:rPr>
                                  <m:t>]</m:t>
                                </m:r>
                              </m:oMath>
                            </m:oMathPara>
                          </a14:m>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r>
                                  <a:rPr lang="en-US" sz="1800" smtClean="0">
                                    <a:solidFill>
                                      <a:schemeClr val="tx1"/>
                                    </a:solidFill>
                                    <a:effectLst/>
                                    <a:latin typeface="Cambria Math"/>
                                  </a:rPr>
                                  <m:t> [−</m:t>
                                </m:r>
                                <m:sSup>
                                  <m:sSupPr>
                                    <m:ctrlPr>
                                      <a:rPr lang="en-US" sz="1800">
                                        <a:solidFill>
                                          <a:schemeClr val="tx1"/>
                                        </a:solidFill>
                                        <a:effectLst/>
                                        <a:latin typeface="Cambria Math"/>
                                      </a:rPr>
                                    </m:ctrlPr>
                                  </m:sSupPr>
                                  <m:e>
                                    <m:r>
                                      <a:rPr lang="en-US" sz="1800">
                                        <a:solidFill>
                                          <a:schemeClr val="tx1"/>
                                        </a:solidFill>
                                        <a:effectLst/>
                                        <a:latin typeface="Cambria Math"/>
                                      </a:rPr>
                                      <m:t>2</m:t>
                                    </m:r>
                                  </m:e>
                                  <m:sup>
                                    <m:r>
                                      <a:rPr lang="en-US" sz="1800">
                                        <a:solidFill>
                                          <a:schemeClr val="tx1"/>
                                        </a:solidFill>
                                        <a:effectLst/>
                                        <a:latin typeface="Cambria Math"/>
                                      </a:rPr>
                                      <m:t>𝑛</m:t>
                                    </m:r>
                                    <m:r>
                                      <a:rPr lang="en-US" sz="1800">
                                        <a:solidFill>
                                          <a:schemeClr val="tx1"/>
                                        </a:solidFill>
                                        <a:effectLst/>
                                        <a:latin typeface="Cambria Math"/>
                                      </a:rPr>
                                      <m:t>−1</m:t>
                                    </m:r>
                                  </m:sup>
                                </m:sSup>
                                <m:r>
                                  <a:rPr lang="en-US" sz="1800">
                                    <a:solidFill>
                                      <a:schemeClr val="tx1"/>
                                    </a:solidFill>
                                    <a:effectLst/>
                                    <a:latin typeface="Cambria Math"/>
                                  </a:rPr>
                                  <m:t>, </m:t>
                                </m:r>
                                <m:sSup>
                                  <m:sSupPr>
                                    <m:ctrlPr>
                                      <a:rPr lang="en-US" sz="1800">
                                        <a:solidFill>
                                          <a:schemeClr val="tx1"/>
                                        </a:solidFill>
                                        <a:effectLst/>
                                        <a:latin typeface="Cambria Math"/>
                                      </a:rPr>
                                    </m:ctrlPr>
                                  </m:sSupPr>
                                  <m:e>
                                    <m:r>
                                      <a:rPr lang="en-US" sz="1800">
                                        <a:solidFill>
                                          <a:schemeClr val="tx1"/>
                                        </a:solidFill>
                                        <a:effectLst/>
                                        <a:latin typeface="Cambria Math"/>
                                      </a:rPr>
                                      <m:t>2</m:t>
                                    </m:r>
                                  </m:e>
                                  <m:sup>
                                    <m:r>
                                      <a:rPr lang="en-US" sz="1800">
                                        <a:solidFill>
                                          <a:schemeClr val="tx1"/>
                                        </a:solidFill>
                                        <a:effectLst/>
                                        <a:latin typeface="Cambria Math"/>
                                      </a:rPr>
                                      <m:t>𝑛</m:t>
                                    </m:r>
                                    <m:r>
                                      <a:rPr lang="en-US" sz="1800">
                                        <a:solidFill>
                                          <a:schemeClr val="tx1"/>
                                        </a:solidFill>
                                        <a:effectLst/>
                                        <a:latin typeface="Cambria Math"/>
                                      </a:rPr>
                                      <m:t>−1</m:t>
                                    </m:r>
                                  </m:sup>
                                </m:sSup>
                                <m:r>
                                  <a:rPr lang="en-US" sz="1800">
                                    <a:solidFill>
                                      <a:schemeClr val="tx1"/>
                                    </a:solidFill>
                                    <a:effectLst/>
                                    <a:latin typeface="Cambria Math"/>
                                  </a:rPr>
                                  <m:t>−1]</m:t>
                                </m:r>
                              </m:oMath>
                            </m:oMathPara>
                          </a14:m>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sSup>
                                  <m:sSupPr>
                                    <m:ctrlPr>
                                      <a:rPr lang="en-US" sz="1800">
                                        <a:solidFill>
                                          <a:schemeClr val="tx1"/>
                                        </a:solidFill>
                                        <a:effectLst/>
                                        <a:latin typeface="Cambria Math"/>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oMath>
                            </m:oMathPara>
                          </a14:m>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
                                <m:sSup>
                                  <m:sSupPr>
                                    <m:ctrlPr>
                                      <a:rPr lang="en-US" sz="1800">
                                        <a:solidFill>
                                          <a:schemeClr val="tx1"/>
                                        </a:solidFill>
                                        <a:effectLst/>
                                        <a:latin typeface="Cambria Math"/>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oMath>
                            </m:oMathPara>
                          </a14:m>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4" name="Table 3">
                <a:extLst>
                  <a:ext uri="{FF2B5EF4-FFF2-40B4-BE49-F238E27FC236}">
                    <a16:creationId xmlns:a16="http://schemas.microsoft.com/office/drawing/2014/main" id="{9CADBB08-95E4-B063-989E-5381B2268DF2}"/>
                  </a:ext>
                </a:extLst>
              </p:cNvPr>
              <p:cNvGraphicFramePr>
                <a:graphicFrameLocks noGrp="1"/>
              </p:cNvGraphicFramePr>
              <p:nvPr>
                <p:extLst>
                  <p:ext uri="{D42A27DB-BD31-4B8C-83A1-F6EECF244321}">
                    <p14:modId xmlns:p14="http://schemas.microsoft.com/office/powerpoint/2010/main" val="2037262524"/>
                  </p:ext>
                </p:extLst>
              </p:nvPr>
            </p:nvGraphicFramePr>
            <p:xfrm>
              <a:off x="6467710" y="3828994"/>
              <a:ext cx="5466080" cy="1539240"/>
            </p:xfrm>
            <a:graphic>
              <a:graphicData uri="http://schemas.openxmlformats.org/drawingml/2006/table">
                <a:tbl>
                  <a:tblPr firstRow="1" firstCol="1" bandRow="1">
                    <a:tableStyleId>{5C22544A-7EE6-4342-B048-85BDC9FD1C3A}</a:tableStyleId>
                  </a:tblPr>
                  <a:tblGrid>
                    <a:gridCol w="1181070">
                      <a:extLst>
                        <a:ext uri="{9D8B030D-6E8A-4147-A177-3AD203B41FA5}">
                          <a16:colId xmlns:a16="http://schemas.microsoft.com/office/drawing/2014/main" val="20000"/>
                        </a:ext>
                      </a:extLst>
                    </a:gridCol>
                    <a:gridCol w="1266620">
                      <a:extLst>
                        <a:ext uri="{9D8B030D-6E8A-4147-A177-3AD203B41FA5}">
                          <a16:colId xmlns:a16="http://schemas.microsoft.com/office/drawing/2014/main" val="20001"/>
                        </a:ext>
                      </a:extLst>
                    </a:gridCol>
                    <a:gridCol w="3018390">
                      <a:extLst>
                        <a:ext uri="{9D8B030D-6E8A-4147-A177-3AD203B41FA5}">
                          <a16:colId xmlns:a16="http://schemas.microsoft.com/office/drawing/2014/main" val="20003"/>
                        </a:ext>
                      </a:extLst>
                    </a:gridCol>
                  </a:tblGrid>
                  <a:tr h="27432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Unsigned</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 Signed</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93750" t="-80822" r="-240385" b="-215068"/>
                          </a:stretch>
                        </a:blipFill>
                      </a:tcPr>
                    </a:tc>
                    <a:tc>
                      <a:txBody>
                        <a:bodyPr/>
                        <a:lstStyle/>
                        <a:p>
                          <a:endParaRPr lang="en-US"/>
                        </a:p>
                      </a:txBody>
                      <a:tcPr marL="68580" marR="68580" marT="0" marB="0" anchor="ctr">
                        <a:blipFill>
                          <a:blip r:embed="rId4"/>
                          <a:stretch>
                            <a:fillRect l="-81250" t="-80822" r="-806" b="-215068"/>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93750" t="-196667" r="-240385" b="-24444"/>
                          </a:stretch>
                        </a:blipFill>
                      </a:tcPr>
                    </a:tc>
                    <a:tc>
                      <a:txBody>
                        <a:bodyPr/>
                        <a:lstStyle/>
                        <a:p>
                          <a:endParaRPr lang="en-US"/>
                        </a:p>
                      </a:txBody>
                      <a:tcPr marL="68580" marR="68580" marT="0" marB="0" anchor="ctr">
                        <a:blipFill>
                          <a:blip r:embed="rId4"/>
                          <a:stretch>
                            <a:fillRect l="-81250" t="-196667" r="-806" b="-24444"/>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56230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10309-6A0A-ECFF-C128-DA4DE024C51F}"/>
              </a:ext>
            </a:extLst>
          </p:cNvPr>
          <p:cNvSpPr>
            <a:spLocks noGrp="1"/>
          </p:cNvSpPr>
          <p:nvPr>
            <p:ph type="title"/>
          </p:nvPr>
        </p:nvSpPr>
        <p:spPr/>
        <p:txBody>
          <a:bodyPr/>
          <a:lstStyle/>
          <a:p>
            <a:r>
              <a:rPr lang="en-US" altLang="zh-CN" dirty="0"/>
              <a:t>Binary to Decimal Conversion</a:t>
            </a:r>
            <a:endParaRPr lang="zh-CN" altLang="en-US" dirty="0"/>
          </a:p>
        </p:txBody>
      </p:sp>
      <p:sp>
        <p:nvSpPr>
          <p:cNvPr id="3" name="Slide Number Placeholder 2">
            <a:extLst>
              <a:ext uri="{FF2B5EF4-FFF2-40B4-BE49-F238E27FC236}">
                <a16:creationId xmlns:a16="http://schemas.microsoft.com/office/drawing/2014/main" id="{1FAAF90B-08D2-03D3-C761-0FE9EF998557}"/>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E2E1F63-AEF4-F940-C204-403140AE0A22}"/>
                  </a:ext>
                </a:extLst>
              </p:cNvPr>
              <p:cNvSpPr>
                <a:spLocks noGrp="1"/>
              </p:cNvSpPr>
              <p:nvPr>
                <p:ph sz="quarter" idx="1"/>
              </p:nvPr>
            </p:nvSpPr>
            <p:spPr/>
            <p:txBody>
              <a:bodyPr/>
              <a:lstStyle/>
              <a:p>
                <a:r>
                  <a:rPr lang="en-US" altLang="zh-CN" dirty="0"/>
                  <a:t>If the MSB sign bit is 0, then convert as usual. If the MSB sign bit is 1, then two methods. Example: Convert 1011 1011 to signed int in decimal</a:t>
                </a:r>
              </a:p>
              <a:p>
                <a:r>
                  <a:rPr lang="en-US" altLang="zh-CN" dirty="0"/>
                  <a:t>Method 1:  Multiply the leading term for the sign bit by −1:</a:t>
                </a:r>
              </a:p>
              <a:p>
                <a:pPr lvl="1"/>
                <a:r>
                  <a:rPr lang="en-US" altLang="zh-CN" sz="2400" b="0" dirty="0"/>
                  <a:t>Decimal </a:t>
                </a:r>
                <a:r>
                  <a:rPr lang="en-US" altLang="zh-CN" sz="2400" dirty="0"/>
                  <a:t>for 1011 1011 is: </a:t>
                </a:r>
                <a14:m>
                  <m:oMath xmlns:m="http://schemas.openxmlformats.org/officeDocument/2006/math">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7</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5</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4</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3</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1</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0</m:t>
                        </m:r>
                      </m:sup>
                    </m:sSup>
                    <m:r>
                      <a:rPr lang="en-US" altLang="zh-CN" sz="2400" i="1" smtClean="0">
                        <a:latin typeface="Cambria Math" panose="02040503050406030204" pitchFamily="18" charset="0"/>
                      </a:rPr>
                      <m:t>=</m:t>
                    </m:r>
                    <m:r>
                      <a:rPr lang="en-US" altLang="zh-CN" sz="2400" b="0" i="1" smtClean="0">
                        <a:latin typeface="Cambria Math" panose="02040503050406030204" pitchFamily="18" charset="0"/>
                      </a:rPr>
                      <m:t>−69</m:t>
                    </m:r>
                  </m:oMath>
                </a14:m>
                <a:endParaRPr lang="en-US" altLang="zh-CN" sz="2400" dirty="0"/>
              </a:p>
              <a:p>
                <a:r>
                  <a:rPr lang="en-US" altLang="zh-CN" dirty="0"/>
                  <a:t>Method 2: Find its two's complement, then convert it to a decimal, and take its negation:</a:t>
                </a:r>
              </a:p>
              <a:p>
                <a:pPr lvl="1"/>
                <a:r>
                  <a:rPr lang="en-US" altLang="zh-CN" sz="2400" dirty="0"/>
                  <a:t>TC(1011 1011) = 0100 0101</a:t>
                </a:r>
              </a:p>
              <a:p>
                <a:pPr lvl="1"/>
                <a:r>
                  <a:rPr lang="en-US" altLang="zh-CN" sz="2400" dirty="0"/>
                  <a:t>Decimal for 0100 0101 is: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6</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2</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b="0" i="1" smtClean="0">
                            <a:latin typeface="Cambria Math" panose="02040503050406030204" pitchFamily="18" charset="0"/>
                          </a:rPr>
                          <m:t>0</m:t>
                        </m:r>
                      </m:sup>
                    </m:sSup>
                    <m:r>
                      <a:rPr lang="en-US" altLang="zh-CN" sz="2400" b="0" i="1" smtClean="0">
                        <a:latin typeface="Cambria Math" panose="02040503050406030204" pitchFamily="18" charset="0"/>
                      </a:rPr>
                      <m:t>=69</m:t>
                    </m:r>
                  </m:oMath>
                </a14:m>
                <a:endParaRPr lang="en-US" altLang="zh-CN" sz="2400" dirty="0"/>
              </a:p>
              <a:p>
                <a:pPr lvl="1"/>
                <a:r>
                  <a:rPr lang="en-US" altLang="zh-CN" sz="2400" dirty="0"/>
                  <a:t>Decimal for 1011 1011 is thus: </a:t>
                </a:r>
                <a14:m>
                  <m:oMath xmlns:m="http://schemas.openxmlformats.org/officeDocument/2006/math">
                    <m:r>
                      <a:rPr lang="en-US" altLang="zh-CN" sz="2400" i="1">
                        <a:latin typeface="Cambria Math" panose="02040503050406030204" pitchFamily="18" charset="0"/>
                      </a:rPr>
                      <m:t>−69</m:t>
                    </m:r>
                  </m:oMath>
                </a14:m>
                <a:br>
                  <a:rPr lang="zh-CN" altLang="zh-CN" dirty="0"/>
                </a:br>
                <a:endParaRPr lang="en-US" altLang="zh-CN" dirty="0"/>
              </a:p>
              <a:p>
                <a:endParaRPr lang="zh-CN" altLang="en-US" dirty="0"/>
              </a:p>
            </p:txBody>
          </p:sp>
        </mc:Choice>
        <mc:Fallback>
          <p:sp>
            <p:nvSpPr>
              <p:cNvPr id="4" name="Content Placeholder 3">
                <a:extLst>
                  <a:ext uri="{FF2B5EF4-FFF2-40B4-BE49-F238E27FC236}">
                    <a16:creationId xmlns:a16="http://schemas.microsoft.com/office/drawing/2014/main" id="{FE2E1F63-AEF4-F940-C204-403140AE0A22}"/>
                  </a:ext>
                </a:extLst>
              </p:cNvPr>
              <p:cNvSpPr>
                <a:spLocks noGrp="1" noRot="1" noChangeAspect="1" noMove="1" noResize="1" noEditPoints="1" noAdjustHandles="1" noChangeArrowheads="1" noChangeShapeType="1" noTextEdit="1"/>
              </p:cNvSpPr>
              <p:nvPr>
                <p:ph sz="quarter" idx="1"/>
              </p:nvPr>
            </p:nvSpPr>
            <p:spPr>
              <a:blipFill>
                <a:blip r:embed="rId2"/>
                <a:stretch>
                  <a:fillRect l="-500" t="-1111" r="-13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1549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normAutofit fontScale="90000"/>
          </a:bodyPr>
          <a:lstStyle/>
          <a:p>
            <a:r>
              <a:rPr lang="en-US" dirty="0"/>
              <a:t>Range of Signed Integers</a:t>
            </a:r>
            <a:br>
              <a:rPr lang="en-US" dirty="0"/>
            </a:br>
            <a:r>
              <a:rPr lang="en-US" dirty="0"/>
              <a:t>(Two’s Complement)</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3092357538"/>
              </p:ext>
            </p:extLst>
          </p:nvPr>
        </p:nvGraphicFramePr>
        <p:xfrm>
          <a:off x="1932071" y="4084077"/>
          <a:ext cx="8458200" cy="2330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3190717045"/>
                    </a:ext>
                  </a:extLst>
                </a:gridCol>
                <a:gridCol w="4421981">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Signed Byte</a:t>
                      </a:r>
                    </a:p>
                  </a:txBody>
                  <a:tcPr/>
                </a:tc>
                <a:tc>
                  <a:txBody>
                    <a:bodyPr/>
                    <a:lstStyle/>
                    <a:p>
                      <a:r>
                        <a:rPr lang="en-US" dirty="0">
                          <a:latin typeface="Consolas" panose="020B0609020204030204" pitchFamily="49" charset="0"/>
                          <a:cs typeface="Consolas" panose="020B0609020204030204" pitchFamily="49" charset="0"/>
                        </a:rPr>
                        <a:t>-128 to +127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Signed half-word</a:t>
                      </a:r>
                    </a:p>
                  </a:txBody>
                  <a:tcPr/>
                </a:tc>
                <a:tc>
                  <a:txBody>
                    <a:bodyPr/>
                    <a:lstStyle/>
                    <a:p>
                      <a:r>
                        <a:rPr lang="en-US" dirty="0">
                          <a:latin typeface="Consolas" panose="020B0609020204030204" pitchFamily="49" charset="0"/>
                          <a:cs typeface="Consolas" panose="020B0609020204030204" pitchFamily="49" charset="0"/>
                        </a:rPr>
                        <a:t>-32,768 to +32,767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Signed Word</a:t>
                      </a:r>
                    </a:p>
                  </a:txBody>
                  <a:tcPr/>
                </a:tc>
                <a:tc>
                  <a:txBody>
                    <a:bodyPr/>
                    <a:lstStyle/>
                    <a:p>
                      <a:r>
                        <a:rPr lang="en-US" dirty="0">
                          <a:latin typeface="Consolas" panose="020B0609020204030204" pitchFamily="49" charset="0"/>
                          <a:cs typeface="Consolas" panose="020B0609020204030204" pitchFamily="49" charset="0"/>
                        </a:rPr>
                        <a:t>-2,147,483,648 to +2,147,483,647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Signed Double-word</a:t>
                      </a:r>
                    </a:p>
                  </a:txBody>
                  <a:tcPr/>
                </a:tc>
                <a:tc>
                  <a:txBody>
                    <a:bodyPr/>
                    <a:lstStyle/>
                    <a:p>
                      <a:r>
                        <a:rPr lang="en-US" dirty="0">
                          <a:latin typeface="Consolas" panose="020B0609020204030204" pitchFamily="49" charset="0"/>
                          <a:cs typeface="Consolas" panose="020B0609020204030204" pitchFamily="49" charset="0"/>
                        </a:rPr>
                        <a:t>-9,223,372,036,854,775,808 to   </a:t>
                      </a:r>
                    </a:p>
                    <a:p>
                      <a:r>
                        <a:rPr lang="en-US" dirty="0">
                          <a:latin typeface="Consolas" panose="020B0609020204030204" pitchFamily="49" charset="0"/>
                          <a:cs typeface="Consolas" panose="020B0609020204030204" pitchFamily="49" charset="0"/>
                        </a:rPr>
                        <a:t>+9,223,372,036,854,775,807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95400"/>
            <a:ext cx="7750342"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9495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a:t>
            </a:r>
            <a:r>
              <a:rPr lang="en-US" altLang="zh-CN" dirty="0"/>
              <a:t>F</a:t>
            </a:r>
            <a:r>
              <a:rPr lang="en-US" dirty="0"/>
              <a:t>lag for Signed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sp>
        <p:nvSpPr>
          <p:cNvPr id="4" name="Content Placeholder 3"/>
          <p:cNvSpPr>
            <a:spLocks noGrp="1"/>
          </p:cNvSpPr>
          <p:nvPr>
            <p:ph sz="quarter" idx="1"/>
          </p:nvPr>
        </p:nvSpPr>
        <p:spPr/>
        <p:txBody>
          <a:bodyPr>
            <a:normAutofit fontScale="92500"/>
          </a:bodyPr>
          <a:lstStyle/>
          <a:p>
            <a:r>
              <a:rPr lang="en-US" dirty="0"/>
              <a:t>When adding signed numbers represented in two’s complement, overflow occurs only in two scenarios: </a:t>
            </a:r>
          </a:p>
          <a:p>
            <a:pPr marL="731520" lvl="1" indent="-457200">
              <a:buFont typeface="+mj-lt"/>
              <a:buAutoNum type="arabicPeriod"/>
            </a:pPr>
            <a:r>
              <a:rPr lang="en-US" dirty="0"/>
              <a:t xml:space="preserve">adding two positive numbers but getting a negative result, or </a:t>
            </a:r>
          </a:p>
          <a:p>
            <a:pPr marL="731520" lvl="1" indent="-457200">
              <a:buFont typeface="+mj-lt"/>
              <a:buAutoNum type="arabicPeriod"/>
            </a:pPr>
            <a:r>
              <a:rPr lang="en-US" dirty="0"/>
              <a:t>adding two negative numbers but yielding a non-negative result. </a:t>
            </a:r>
          </a:p>
          <a:p>
            <a:endParaRPr lang="en-US" dirty="0"/>
          </a:p>
          <a:p>
            <a:r>
              <a:rPr lang="en-US" dirty="0"/>
              <a:t>Similarly, when subtracting signed numbers, overflow occurs in two scenarios: </a:t>
            </a:r>
          </a:p>
          <a:p>
            <a:pPr marL="731520" lvl="1" indent="-457200">
              <a:buFont typeface="+mj-lt"/>
              <a:buAutoNum type="arabicPeriod"/>
            </a:pPr>
            <a:r>
              <a:rPr lang="en-US" dirty="0"/>
              <a:t>subtracting a positive number from a negative number but getting a positive result, or </a:t>
            </a:r>
          </a:p>
          <a:p>
            <a:pPr marL="731520" lvl="1" indent="-457200">
              <a:buFont typeface="+mj-lt"/>
              <a:buAutoNum type="arabicPeriod"/>
            </a:pPr>
            <a:r>
              <a:rPr lang="en-US" dirty="0"/>
              <a:t>subtracting a negative number from a positive number but producing a negative result.</a:t>
            </a:r>
          </a:p>
          <a:p>
            <a:endParaRPr lang="en-US" dirty="0"/>
          </a:p>
          <a:p>
            <a:r>
              <a:rPr lang="en-US" dirty="0"/>
              <a:t>Overflow cannot occur when adding operands with different signs or when subtracting operands with the same signs. </a:t>
            </a:r>
          </a:p>
          <a:p>
            <a:pPr lvl="1"/>
            <a:r>
              <a:rPr lang="en-US" dirty="0"/>
              <a:t>Why?</a:t>
            </a:r>
          </a:p>
        </p:txBody>
      </p:sp>
    </p:spTree>
    <p:extLst>
      <p:ext uri="{BB962C8B-B14F-4D97-AF65-F5344CB8AC3E}">
        <p14:creationId xmlns:p14="http://schemas.microsoft.com/office/powerpoint/2010/main" val="2518806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a:t>
            </a:r>
            <a:r>
              <a:rPr lang="en-US" altLang="zh-CN" dirty="0"/>
              <a:t>F</a:t>
            </a:r>
            <a:r>
              <a:rPr lang="en-US" dirty="0"/>
              <a:t>lag for Signed Arithmetic</a:t>
            </a:r>
          </a:p>
        </p:txBody>
      </p:sp>
      <p:sp>
        <p:nvSpPr>
          <p:cNvPr id="3" name="Slide Number Placeholder 2"/>
          <p:cNvSpPr>
            <a:spLocks noGrp="1"/>
          </p:cNvSpPr>
          <p:nvPr>
            <p:ph type="sldNum" sz="quarter" idx="4294967295"/>
          </p:nvPr>
        </p:nvSpPr>
        <p:spPr>
          <a:xfrm>
            <a:off x="2136648" y="635635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25</a:t>
            </a:fld>
            <a:endParaRPr lang="en-US" dirty="0">
              <a:solidFill>
                <a:srgbClr val="1F497D"/>
              </a:solidFill>
              <a:latin typeface="Gill Sans MT"/>
            </a:endParaRPr>
          </a:p>
        </p:txBody>
      </p:sp>
      <p:sp>
        <p:nvSpPr>
          <p:cNvPr id="4" name="Content Placeholder 3"/>
          <p:cNvSpPr>
            <a:spLocks noGrp="1"/>
          </p:cNvSpPr>
          <p:nvPr>
            <p:ph sz="quarter" idx="1"/>
          </p:nvPr>
        </p:nvSpPr>
        <p:spPr/>
        <p:txBody>
          <a:bodyPr>
            <a:normAutofit fontScale="85000" lnSpcReduction="20000"/>
          </a:bodyPr>
          <a:lstStyle/>
          <a:p>
            <a:r>
              <a:rPr lang="en-US" dirty="0"/>
              <a:t>Overflow cannot occur when adding 2 operands with different signs or when subtracting 2 operands with the same sign. Proof:</a:t>
            </a:r>
          </a:p>
          <a:p>
            <a:r>
              <a:rPr lang="en-US" dirty="0"/>
              <a:t>An n-bit signed int has the range [-2</a:t>
            </a:r>
            <a:r>
              <a:rPr lang="en-US" baseline="30000" dirty="0"/>
              <a:t>n-1</a:t>
            </a:r>
            <a:r>
              <a:rPr lang="en-US" dirty="0"/>
              <a:t>, 2</a:t>
            </a:r>
            <a:r>
              <a:rPr lang="en-US" baseline="30000" dirty="0"/>
              <a:t>n-1</a:t>
            </a:r>
            <a:r>
              <a:rPr lang="en-US" dirty="0"/>
              <a:t>-1]</a:t>
            </a:r>
          </a:p>
          <a:p>
            <a:pPr lvl="1"/>
            <a:r>
              <a:rPr lang="en-US" dirty="0"/>
              <a:t>n = 5, number range </a:t>
            </a:r>
            <a:r>
              <a:rPr lang="en-US" altLang="zh-CN" dirty="0"/>
              <a:t>[-16, 15]</a:t>
            </a:r>
            <a:endParaRPr lang="en-US" dirty="0"/>
          </a:p>
          <a:p>
            <a:r>
              <a:rPr lang="en-US" dirty="0"/>
              <a:t>2 </a:t>
            </a:r>
            <a:r>
              <a:rPr lang="en-US" altLang="zh-CN" dirty="0"/>
              <a:t>operands with different signs: positive one in the range of [0, 2</a:t>
            </a:r>
            <a:r>
              <a:rPr lang="en-US" altLang="zh-CN" baseline="30000" dirty="0"/>
              <a:t>n-1</a:t>
            </a:r>
            <a:r>
              <a:rPr lang="en-US" altLang="zh-CN" dirty="0"/>
              <a:t>-1], negative one in the range of [-2</a:t>
            </a:r>
            <a:r>
              <a:rPr lang="en-US" altLang="zh-CN" baseline="30000" dirty="0"/>
              <a:t>n-1</a:t>
            </a:r>
            <a:r>
              <a:rPr lang="en-US" altLang="zh-CN" dirty="0"/>
              <a:t>, -1]. So the range of their sum must </a:t>
            </a:r>
            <a:r>
              <a:rPr lang="en-US" altLang="zh-CN"/>
              <a:t>be within range [</a:t>
            </a:r>
            <a:r>
              <a:rPr lang="en-US" altLang="zh-CN" dirty="0"/>
              <a:t>0-2</a:t>
            </a:r>
            <a:r>
              <a:rPr lang="en-US" altLang="zh-CN" baseline="30000" dirty="0"/>
              <a:t>n-1</a:t>
            </a:r>
            <a:r>
              <a:rPr lang="en-US" altLang="zh-CN" dirty="0"/>
              <a:t>, 2</a:t>
            </a:r>
            <a:r>
              <a:rPr lang="en-US" altLang="zh-CN" baseline="30000" dirty="0"/>
              <a:t>n-1</a:t>
            </a:r>
            <a:r>
              <a:rPr lang="en-US" altLang="zh-CN" dirty="0"/>
              <a:t>-1+(-1)]=[-2</a:t>
            </a:r>
            <a:r>
              <a:rPr lang="en-US" altLang="zh-CN" baseline="30000" dirty="0"/>
              <a:t>n-1</a:t>
            </a:r>
            <a:r>
              <a:rPr lang="en-US" altLang="zh-CN" dirty="0"/>
              <a:t>, 2</a:t>
            </a:r>
            <a:r>
              <a:rPr lang="en-US" altLang="zh-CN" baseline="30000" dirty="0"/>
              <a:t>n-1</a:t>
            </a:r>
            <a:r>
              <a:rPr lang="en-US" altLang="zh-CN" dirty="0"/>
              <a:t>-2] </a:t>
            </a:r>
            <a:r>
              <a:rPr lang="en-US" sz="2700" dirty="0">
                <a:solidFill>
                  <a:srgbClr val="56127A"/>
                </a:solidFill>
                <a:latin typeface="Symbol" charset="2"/>
              </a:rPr>
              <a:t>Î</a:t>
            </a:r>
            <a:r>
              <a:rPr lang="en-US" dirty="0"/>
              <a:t>[-2</a:t>
            </a:r>
            <a:r>
              <a:rPr lang="en-US" baseline="30000" dirty="0"/>
              <a:t>n-1</a:t>
            </a:r>
            <a:r>
              <a:rPr lang="en-US" dirty="0"/>
              <a:t>, 2</a:t>
            </a:r>
            <a:r>
              <a:rPr lang="en-US" baseline="30000" dirty="0"/>
              <a:t>n-1</a:t>
            </a:r>
            <a:r>
              <a:rPr lang="en-US" dirty="0"/>
              <a:t>-1] </a:t>
            </a:r>
            <a:r>
              <a:rPr lang="en-US" dirty="0">
                <a:sym typeface="Wingdings" panose="05000000000000000000" pitchFamily="2" charset="2"/>
              </a:rPr>
              <a:t> No overflow!</a:t>
            </a:r>
            <a:endParaRPr lang="en-US" dirty="0"/>
          </a:p>
          <a:p>
            <a:pPr lvl="1"/>
            <a:r>
              <a:rPr lang="en-US" altLang="zh-CN" dirty="0"/>
              <a:t>Positive number range [0, 15], negative number range [-16, -1]. Range of their sum [0-16, 15-1]=[-16, 14]</a:t>
            </a:r>
          </a:p>
          <a:p>
            <a:r>
              <a:rPr lang="en-US" dirty="0"/>
              <a:t>2 </a:t>
            </a:r>
            <a:r>
              <a:rPr lang="en-US" altLang="zh-CN" dirty="0"/>
              <a:t>operands with the same sign: if both are positive and in the range of [0, 2</a:t>
            </a:r>
            <a:r>
              <a:rPr lang="en-US" altLang="zh-CN" baseline="30000" dirty="0"/>
              <a:t>n-1</a:t>
            </a:r>
            <a:r>
              <a:rPr lang="en-US" altLang="zh-CN" dirty="0"/>
              <a:t>-1], then the range of their difference must be within range [0-(2</a:t>
            </a:r>
            <a:r>
              <a:rPr lang="en-US" altLang="zh-CN" baseline="30000" dirty="0"/>
              <a:t>n-1</a:t>
            </a:r>
            <a:r>
              <a:rPr lang="en-US" altLang="zh-CN" dirty="0"/>
              <a:t>-1), 2</a:t>
            </a:r>
            <a:r>
              <a:rPr lang="en-US" altLang="zh-CN" baseline="30000" dirty="0"/>
              <a:t>n-1</a:t>
            </a:r>
            <a:r>
              <a:rPr lang="en-US" altLang="zh-CN" dirty="0"/>
              <a:t>-1-0]=[-(2</a:t>
            </a:r>
            <a:r>
              <a:rPr lang="en-US" altLang="zh-CN" baseline="30000" dirty="0"/>
              <a:t>n-1</a:t>
            </a:r>
            <a:r>
              <a:rPr lang="en-US" altLang="zh-CN" dirty="0"/>
              <a:t>-1), 2</a:t>
            </a:r>
            <a:r>
              <a:rPr lang="en-US" altLang="zh-CN" baseline="30000" dirty="0"/>
              <a:t>n-1</a:t>
            </a:r>
            <a:r>
              <a:rPr lang="en-US" altLang="zh-CN" dirty="0"/>
              <a:t>-1]; if both are negative and in the range of [-2</a:t>
            </a:r>
            <a:r>
              <a:rPr lang="en-US" altLang="zh-CN" baseline="30000" dirty="0"/>
              <a:t>n-1</a:t>
            </a:r>
            <a:r>
              <a:rPr lang="en-US" altLang="zh-CN" dirty="0"/>
              <a:t>, -1], then the range of their difference must be within range [-2</a:t>
            </a:r>
            <a:r>
              <a:rPr lang="en-US" altLang="zh-CN" baseline="30000" dirty="0"/>
              <a:t>n-1</a:t>
            </a:r>
            <a:r>
              <a:rPr lang="en-US" altLang="zh-CN" dirty="0"/>
              <a:t>-(-1), -1-(-2</a:t>
            </a:r>
            <a:r>
              <a:rPr lang="en-US" altLang="zh-CN" baseline="30000" dirty="0"/>
              <a:t>n-1</a:t>
            </a:r>
            <a:r>
              <a:rPr lang="en-US" altLang="zh-CN" dirty="0"/>
              <a:t>)]=[-2</a:t>
            </a:r>
            <a:r>
              <a:rPr lang="en-US" altLang="zh-CN" baseline="30000" dirty="0"/>
              <a:t>n-1</a:t>
            </a:r>
            <a:r>
              <a:rPr lang="en-US" altLang="zh-CN" dirty="0"/>
              <a:t>+1, 2</a:t>
            </a:r>
            <a:r>
              <a:rPr lang="en-US" altLang="zh-CN" baseline="30000" dirty="0"/>
              <a:t>n-1</a:t>
            </a:r>
            <a:r>
              <a:rPr lang="en-US" altLang="zh-CN" dirty="0"/>
              <a:t>-1] </a:t>
            </a:r>
            <a:r>
              <a:rPr lang="en-US" sz="2300" dirty="0">
                <a:solidFill>
                  <a:srgbClr val="56127A"/>
                </a:solidFill>
                <a:latin typeface="Symbol" charset="2"/>
              </a:rPr>
              <a:t>Î </a:t>
            </a:r>
            <a:r>
              <a:rPr lang="en-US" dirty="0"/>
              <a:t>[-2</a:t>
            </a:r>
            <a:r>
              <a:rPr lang="en-US" baseline="30000" dirty="0"/>
              <a:t>n-1</a:t>
            </a:r>
            <a:r>
              <a:rPr lang="en-US" dirty="0"/>
              <a:t>, 2</a:t>
            </a:r>
            <a:r>
              <a:rPr lang="en-US" baseline="30000" dirty="0"/>
              <a:t>n-1</a:t>
            </a:r>
            <a:r>
              <a:rPr lang="en-US" dirty="0"/>
              <a:t>-1] </a:t>
            </a:r>
            <a:r>
              <a:rPr lang="en-US" dirty="0">
                <a:sym typeface="Wingdings" panose="05000000000000000000" pitchFamily="2" charset="2"/>
              </a:rPr>
              <a:t> No overflow!</a:t>
            </a:r>
            <a:endParaRPr lang="en-US" dirty="0"/>
          </a:p>
          <a:p>
            <a:pPr lvl="1"/>
            <a:r>
              <a:rPr lang="en-US" dirty="0"/>
              <a:t>Both positive numbers </a:t>
            </a:r>
            <a:r>
              <a:rPr lang="en-US" altLang="zh-CN" dirty="0"/>
              <a:t>[0, 15], range of difference [0-15, 15-0]=[-15, 15]</a:t>
            </a:r>
          </a:p>
          <a:p>
            <a:pPr lvl="1"/>
            <a:r>
              <a:rPr lang="en-US" dirty="0"/>
              <a:t>Both negative numbers </a:t>
            </a:r>
            <a:r>
              <a:rPr lang="en-US" altLang="zh-CN" dirty="0"/>
              <a:t>[-16, -1], range of difference [-16-(-1), -1-(-16)]=[-15, 15]</a:t>
            </a:r>
            <a:endParaRPr lang="en-US" dirty="0"/>
          </a:p>
        </p:txBody>
      </p:sp>
    </p:spTree>
    <p:extLst>
      <p:ext uri="{BB962C8B-B14F-4D97-AF65-F5344CB8AC3E}">
        <p14:creationId xmlns:p14="http://schemas.microsoft.com/office/powerpoint/2010/main" val="2604975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t>
            </a:r>
            <a:r>
              <a:rPr lang="en-US" altLang="zh-CN" dirty="0"/>
              <a:t>Add</a:t>
            </a:r>
            <a:endParaRPr lang="en-US" dirty="0"/>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26</a:t>
            </a:fld>
            <a:endParaRPr kumimoji="0" lang="en-US"/>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429000" cy="3347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209800" y="4805231"/>
            <a:ext cx="2819400" cy="923330"/>
          </a:xfrm>
          <a:prstGeom prst="rect">
            <a:avLst/>
          </a:prstGeom>
        </p:spPr>
        <p:txBody>
          <a:bodyPr wrap="square">
            <a:spAutoFit/>
          </a:bodyPr>
          <a:lstStyle/>
          <a:p>
            <a:r>
              <a:rPr lang="en-US" dirty="0"/>
              <a:t>Overflow occurs when adding two positive integers but getting a negative result.</a:t>
            </a:r>
          </a:p>
        </p:txBody>
      </p:sp>
      <p:pic>
        <p:nvPicPr>
          <p:cNvPr id="4813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1" y="1899056"/>
            <a:ext cx="3193883" cy="195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6016541" y="4185056"/>
                <a:ext cx="4572000" cy="1225144"/>
              </a:xfrm>
              <a:prstGeom prst="rect">
                <a:avLst/>
              </a:prstGeom>
            </p:spPr>
            <p:txBody>
              <a:bodyPr>
                <a:spAutoFit/>
              </a:bodyPr>
              <a:lstStyle/>
              <a:p>
                <a:pPr marL="342900" indent="-342900">
                  <a:buFont typeface="+mj-lt"/>
                  <a:buAutoNum type="arabicPeriod"/>
                </a:pPr>
                <a:r>
                  <a:rPr lang="en-US" dirty="0"/>
                  <a:t>On addition, overflow occurs if </a:t>
                </a:r>
                <a14:m>
                  <m:oMath xmlns:m="http://schemas.openxmlformats.org/officeDocument/2006/math">
                    <m:r>
                      <a:rPr lang="en-US" i="1">
                        <a:latin typeface="Cambria Math"/>
                      </a:rPr>
                      <m:t>𝑠𝑢𝑚</m:t>
                    </m:r>
                    <m:r>
                      <a:rPr lang="en-US" i="1">
                        <a:latin typeface="Cambria Math"/>
                      </a:rPr>
                      <m:t>≥</m:t>
                    </m:r>
                    <m:sSup>
                      <m:sSupPr>
                        <m:ctrlPr>
                          <a:rPr lang="en-US" i="1">
                            <a:latin typeface="Cambria Math"/>
                          </a:rPr>
                        </m:ctrlPr>
                      </m:sSupPr>
                      <m:e>
                        <m:r>
                          <a:rPr lang="en-US" i="1">
                            <a:latin typeface="Cambria Math"/>
                          </a:rPr>
                          <m:t>2</m:t>
                        </m:r>
                      </m:e>
                      <m:sup>
                        <m:r>
                          <a:rPr lang="en-US" i="1">
                            <a:latin typeface="Cambria Math"/>
                          </a:rPr>
                          <m:t>4</m:t>
                        </m:r>
                      </m:sup>
                    </m:sSup>
                  </m:oMath>
                </a14:m>
                <a:r>
                  <a:rPr lang="en-US" dirty="0"/>
                  <a:t>  when adding two positives.</a:t>
                </a:r>
              </a:p>
              <a:p>
                <a:pPr marL="342900" indent="-342900">
                  <a:buFont typeface="+mj-lt"/>
                  <a:buAutoNum type="arabicPeriod"/>
                </a:pPr>
                <a:r>
                  <a:rPr lang="en-US" dirty="0"/>
                  <a:t>Overflow never occurs when adding two numbers with different signs.</a:t>
                </a:r>
              </a:p>
            </p:txBody>
          </p:sp>
        </mc:Choice>
        <mc:Fallback xmlns="">
          <p:sp>
            <p:nvSpPr>
              <p:cNvPr id="4" name="Rectangle 3"/>
              <p:cNvSpPr>
                <a:spLocks noRot="1" noChangeAspect="1" noMove="1" noResize="1" noEditPoints="1" noAdjustHandles="1" noChangeArrowheads="1" noChangeShapeType="1" noTextEdit="1"/>
              </p:cNvSpPr>
              <p:nvPr/>
            </p:nvSpPr>
            <p:spPr>
              <a:xfrm>
                <a:off x="6016541" y="4185056"/>
                <a:ext cx="4572000" cy="1225144"/>
              </a:xfrm>
              <a:prstGeom prst="rect">
                <a:avLst/>
              </a:prstGeom>
              <a:blipFill>
                <a:blip r:embed="rId5"/>
                <a:stretch>
                  <a:fillRect l="-831" t="-2041" b="-4082"/>
                </a:stretch>
              </a:blipFill>
            </p:spPr>
            <p:txBody>
              <a:bodyPr/>
              <a:lstStyle/>
              <a:p>
                <a:r>
                  <a:rPr lang="en-US">
                    <a:noFill/>
                  </a:rPr>
                  <a:t> </a:t>
                </a:r>
              </a:p>
            </p:txBody>
          </p:sp>
        </mc:Fallback>
      </mc:AlternateContent>
    </p:spTree>
    <p:extLst>
      <p:ext uri="{BB962C8B-B14F-4D97-AF65-F5344CB8AC3E}">
        <p14:creationId xmlns:p14="http://schemas.microsoft.com/office/powerpoint/2010/main" val="319654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Add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27</a:t>
            </a:fld>
            <a:endParaRPr kumimoji="0" lang="en-US"/>
          </a:p>
        </p:txBody>
      </p:sp>
      <p:pic>
        <p:nvPicPr>
          <p:cNvPr id="38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782" y="1295399"/>
            <a:ext cx="343497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541562" y="4876800"/>
            <a:ext cx="2944839" cy="923330"/>
          </a:xfrm>
          <a:prstGeom prst="rect">
            <a:avLst/>
          </a:prstGeom>
        </p:spPr>
        <p:txBody>
          <a:bodyPr wrap="square">
            <a:spAutoFit/>
          </a:bodyPr>
          <a:lstStyle/>
          <a:p>
            <a:r>
              <a:rPr lang="en-US" dirty="0"/>
              <a:t>Overflow occurs when adding two negative integers but getting a positive result.</a:t>
            </a:r>
          </a:p>
        </p:txBody>
      </p:sp>
      <p:pic>
        <p:nvPicPr>
          <p:cNvPr id="4915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1" y="1752600"/>
            <a:ext cx="4006791" cy="2166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7391401" y="4251821"/>
                <a:ext cx="3108723" cy="948145"/>
              </a:xfrm>
              <a:prstGeom prst="rect">
                <a:avLst/>
              </a:prstGeom>
            </p:spPr>
            <p:txBody>
              <a:bodyPr wrap="square">
                <a:spAutoFit/>
              </a:bodyPr>
              <a:lstStyle/>
              <a:p>
                <a:r>
                  <a:rPr lang="en-US" dirty="0"/>
                  <a:t>On addition, overflow occurs if </a:t>
                </a:r>
                <a14:m>
                  <m:oMath xmlns:m="http://schemas.openxmlformats.org/officeDocument/2006/math">
                    <m:r>
                      <a:rPr lang="en-US" i="1">
                        <a:latin typeface="Cambria Math"/>
                      </a:rPr>
                      <m:t>𝑠𝑢𝑚</m:t>
                    </m:r>
                    <m:r>
                      <a:rPr lang="en-US" i="1">
                        <a:latin typeface="Cambria Math"/>
                      </a:rPr>
                      <m:t>&lt;−</m:t>
                    </m:r>
                    <m:sSup>
                      <m:sSupPr>
                        <m:ctrlPr>
                          <a:rPr lang="en-US" i="1">
                            <a:latin typeface="Cambria Math"/>
                          </a:rPr>
                        </m:ctrlPr>
                      </m:sSupPr>
                      <m:e>
                        <m:r>
                          <a:rPr lang="en-US" i="1">
                            <a:latin typeface="Cambria Math"/>
                          </a:rPr>
                          <m:t>2</m:t>
                        </m:r>
                      </m:e>
                      <m:sup>
                        <m:r>
                          <a:rPr lang="en-US" i="1">
                            <a:latin typeface="Cambria Math"/>
                          </a:rPr>
                          <m:t>4</m:t>
                        </m:r>
                      </m:sup>
                    </m:sSup>
                  </m:oMath>
                </a14:m>
                <a:r>
                  <a:rPr lang="en-US" dirty="0"/>
                  <a:t> when adding two negatives.</a:t>
                </a:r>
              </a:p>
            </p:txBody>
          </p:sp>
        </mc:Choice>
        <mc:Fallback xmlns="">
          <p:sp>
            <p:nvSpPr>
              <p:cNvPr id="4" name="Rectangle 3"/>
              <p:cNvSpPr>
                <a:spLocks noRot="1" noChangeAspect="1" noMove="1" noResize="1" noEditPoints="1" noAdjustHandles="1" noChangeArrowheads="1" noChangeShapeType="1" noTextEdit="1"/>
              </p:cNvSpPr>
              <p:nvPr/>
            </p:nvSpPr>
            <p:spPr>
              <a:xfrm>
                <a:off x="7391401" y="4251821"/>
                <a:ext cx="3108723" cy="948145"/>
              </a:xfrm>
              <a:prstGeom prst="rect">
                <a:avLst/>
              </a:prstGeom>
              <a:blipFill>
                <a:blip r:embed="rId5"/>
                <a:stretch>
                  <a:fillRect l="-2041" t="-2632" r="-2041" b="-6579"/>
                </a:stretch>
              </a:blipFill>
            </p:spPr>
            <p:txBody>
              <a:bodyPr/>
              <a:lstStyle/>
              <a:p>
                <a:r>
                  <a:rPr lang="en-US">
                    <a:noFill/>
                  </a:rPr>
                  <a:t> </a:t>
                </a:r>
              </a:p>
            </p:txBody>
          </p:sp>
        </mc:Fallback>
      </mc:AlternateContent>
    </p:spTree>
    <p:extLst>
      <p:ext uri="{BB962C8B-B14F-4D97-AF65-F5344CB8AC3E}">
        <p14:creationId xmlns:p14="http://schemas.microsoft.com/office/powerpoint/2010/main" val="401109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4" name="Content Placeholder 3"/>
          <p:cNvSpPr>
            <a:spLocks noGrp="1"/>
          </p:cNvSpPr>
          <p:nvPr>
            <p:ph sz="quarter" idx="1"/>
          </p:nvPr>
        </p:nvSpPr>
        <p:spPr>
          <a:xfrm>
            <a:off x="604837" y="1273259"/>
            <a:ext cx="11358563" cy="914400"/>
          </a:xfrm>
        </p:spPr>
        <p:txBody>
          <a:bodyPr>
            <a:normAutofit/>
          </a:bodyPr>
          <a:lstStyle/>
          <a:p>
            <a:r>
              <a:rPr lang="en-US" sz="2000" dirty="0"/>
              <a:t>Whether the carry flag or the overflow flag should be used depends on the programmer’s intention. </a:t>
            </a:r>
          </a:p>
        </p:txBody>
      </p:sp>
      <p:sp>
        <p:nvSpPr>
          <p:cNvPr id="6" name="Content Placeholder 3"/>
          <p:cNvSpPr txBox="1">
            <a:spLocks/>
          </p:cNvSpPr>
          <p:nvPr/>
        </p:nvSpPr>
        <p:spPr>
          <a:xfrm>
            <a:off x="457200" y="5222324"/>
            <a:ext cx="11506200" cy="112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When programming in high-level languages such as C, the compiler automatically chooses to use the carry or overflow flag based on how this integer is declared in source code (“</a:t>
            </a:r>
            <a:r>
              <a:rPr lang="en-US" sz="2000" dirty="0" err="1">
                <a:solidFill>
                  <a:srgbClr val="C00000"/>
                </a:solidFill>
                <a:latin typeface="Consolas" panose="020B0609020204030204" pitchFamily="49" charset="0"/>
                <a:cs typeface="Consolas" panose="020B0609020204030204" pitchFamily="49" charset="0"/>
              </a:rPr>
              <a:t>int</a:t>
            </a:r>
            <a:r>
              <a:rPr lang="en-US" sz="2000" dirty="0"/>
              <a:t>” or “</a:t>
            </a:r>
            <a:r>
              <a:rPr lang="en-US" sz="2000" dirty="0">
                <a:solidFill>
                  <a:srgbClr val="C00000"/>
                </a:solidFill>
                <a:latin typeface="Consolas" panose="020B0609020204030204" pitchFamily="49" charset="0"/>
                <a:cs typeface="Consolas" panose="020B0609020204030204" pitchFamily="49" charset="0"/>
              </a:rPr>
              <a:t>unsigned </a:t>
            </a:r>
            <a:r>
              <a:rPr lang="en-US" sz="2000" dirty="0" err="1">
                <a:solidFill>
                  <a:srgbClr val="C00000"/>
                </a:solidFill>
                <a:latin typeface="Consolas" panose="020B0609020204030204" pitchFamily="49" charset="0"/>
                <a:cs typeface="Consolas" panose="020B0609020204030204" pitchFamily="49" charset="0"/>
              </a:rPr>
              <a:t>int</a:t>
            </a:r>
            <a:r>
              <a:rPr lang="en-US" sz="2000" dirty="0"/>
              <a:t>”).</a:t>
            </a:r>
          </a:p>
          <a:p>
            <a:endParaRPr lang="en-US" sz="20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5003" y="2096219"/>
            <a:ext cx="6526795" cy="2867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3884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 (5-bit System)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8" name="Rounded Rectangle 7"/>
          <p:cNvSpPr/>
          <p:nvPr/>
        </p:nvSpPr>
        <p:spPr>
          <a:xfrm>
            <a:off x="2002216" y="3617466"/>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9" name="TextBox 8"/>
          <p:cNvSpPr txBox="1"/>
          <p:nvPr/>
        </p:nvSpPr>
        <p:spPr>
          <a:xfrm>
            <a:off x="2161006" y="5598666"/>
            <a:ext cx="1206421" cy="369332"/>
          </a:xfrm>
          <a:prstGeom prst="rect">
            <a:avLst/>
          </a:prstGeom>
          <a:noFill/>
        </p:spPr>
        <p:txBody>
          <a:bodyPr wrap="none" rtlCol="0">
            <a:spAutoFit/>
          </a:bodyPr>
          <a:lstStyle/>
          <a:p>
            <a:r>
              <a:rPr lang="en-US" dirty="0"/>
              <a:t>C Program</a:t>
            </a:r>
          </a:p>
        </p:txBody>
      </p:sp>
      <p:sp>
        <p:nvSpPr>
          <p:cNvPr id="10" name="TextBox 9"/>
          <p:cNvSpPr txBox="1"/>
          <p:nvPr/>
        </p:nvSpPr>
        <p:spPr>
          <a:xfrm>
            <a:off x="3491803" y="4464050"/>
            <a:ext cx="2417200" cy="369332"/>
          </a:xfrm>
          <a:prstGeom prst="rect">
            <a:avLst/>
          </a:prstGeom>
          <a:noFill/>
        </p:spPr>
        <p:txBody>
          <a:bodyPr wrap="none" rtlCol="0">
            <a:spAutoFit/>
          </a:bodyPr>
          <a:lstStyle/>
          <a:p>
            <a:r>
              <a:rPr lang="en-US" b="1" dirty="0">
                <a:solidFill>
                  <a:srgbClr val="0000FF"/>
                </a:solidFill>
              </a:rPr>
              <a:t>Check the carry flag!</a:t>
            </a:r>
          </a:p>
        </p:txBody>
      </p:sp>
      <p:sp>
        <p:nvSpPr>
          <p:cNvPr id="11" name="Rectangle 10">
            <a:extLst>
              <a:ext uri="{FF2B5EF4-FFF2-40B4-BE49-F238E27FC236}">
                <a16:creationId xmlns:a16="http://schemas.microsoft.com/office/drawing/2014/main" id="{2D300D7E-285E-094B-A55F-553C7C2B8B31}"/>
              </a:ext>
            </a:extLst>
          </p:cNvPr>
          <p:cNvSpPr/>
          <p:nvPr/>
        </p:nvSpPr>
        <p:spPr>
          <a:xfrm>
            <a:off x="1295400" y="1358205"/>
            <a:ext cx="4191000" cy="1384995"/>
          </a:xfrm>
          <a:prstGeom prst="rect">
            <a:avLst/>
          </a:prstGeom>
        </p:spPr>
        <p:txBody>
          <a:bodyPr wrap="square">
            <a:spAutoFit/>
          </a:bodyPr>
          <a:lstStyle/>
          <a:p>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12" name="Content Placeholder 3">
            <a:extLst>
              <a:ext uri="{FF2B5EF4-FFF2-40B4-BE49-F238E27FC236}">
                <a16:creationId xmlns:a16="http://schemas.microsoft.com/office/drawing/2014/main" id="{A987C625-583A-A944-8098-1EBD6B0BBE85}"/>
              </a:ext>
            </a:extLst>
          </p:cNvPr>
          <p:cNvSpPr txBox="1">
            <a:spLocks/>
          </p:cNvSpPr>
          <p:nvPr/>
        </p:nvSpPr>
        <p:spPr>
          <a:xfrm>
            <a:off x="609600" y="2777613"/>
            <a:ext cx="10668000" cy="762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Whether the carry flag or the overflow flag should be used depends on the programmer’s intention: Are </a:t>
            </a:r>
            <a:r>
              <a:rPr lang="en-US" i="1" dirty="0">
                <a:latin typeface="Consolas" panose="020B0609020204030204" pitchFamily="49" charset="0"/>
                <a:cs typeface="Consolas" panose="020B0609020204030204" pitchFamily="49" charset="0"/>
              </a:rPr>
              <a:t>a</a:t>
            </a:r>
            <a:r>
              <a:rPr lang="en-US" dirty="0"/>
              <a:t> and </a:t>
            </a:r>
            <a:r>
              <a:rPr lang="en-US" i="1" dirty="0">
                <a:latin typeface="Consolas" panose="020B0609020204030204" pitchFamily="49" charset="0"/>
                <a:cs typeface="Consolas" panose="020B0609020204030204" pitchFamily="49" charset="0"/>
              </a:rPr>
              <a:t>b</a:t>
            </a:r>
            <a:r>
              <a:rPr lang="en-US" dirty="0"/>
              <a:t> signed or unsigned numbers?</a:t>
            </a:r>
          </a:p>
        </p:txBody>
      </p:sp>
      <p:sp>
        <p:nvSpPr>
          <p:cNvPr id="4" name="Rounded Rectangle 7"/>
          <p:cNvSpPr/>
          <p:nvPr/>
        </p:nvSpPr>
        <p:spPr>
          <a:xfrm>
            <a:off x="6878152" y="3655665"/>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5" name="TextBox 4"/>
          <p:cNvSpPr txBox="1"/>
          <p:nvPr/>
        </p:nvSpPr>
        <p:spPr>
          <a:xfrm>
            <a:off x="7036942" y="5636865"/>
            <a:ext cx="1206421" cy="369332"/>
          </a:xfrm>
          <a:prstGeom prst="rect">
            <a:avLst/>
          </a:prstGeom>
          <a:noFill/>
        </p:spPr>
        <p:txBody>
          <a:bodyPr wrap="none" rtlCol="0">
            <a:spAutoFit/>
          </a:bodyPr>
          <a:lstStyle/>
          <a:p>
            <a:r>
              <a:rPr lang="en-US" dirty="0"/>
              <a:t>C Program</a:t>
            </a:r>
          </a:p>
        </p:txBody>
      </p:sp>
      <p:sp>
        <p:nvSpPr>
          <p:cNvPr id="6" name="TextBox 5"/>
          <p:cNvSpPr txBox="1"/>
          <p:nvPr/>
        </p:nvSpPr>
        <p:spPr>
          <a:xfrm>
            <a:off x="8382000" y="4464050"/>
            <a:ext cx="2762488" cy="369332"/>
          </a:xfrm>
          <a:prstGeom prst="rect">
            <a:avLst/>
          </a:prstGeom>
          <a:noFill/>
        </p:spPr>
        <p:txBody>
          <a:bodyPr wrap="none" rtlCol="0">
            <a:spAutoFit/>
          </a:bodyPr>
          <a:lstStyle/>
          <a:p>
            <a:r>
              <a:rPr lang="en-US" b="1" dirty="0">
                <a:solidFill>
                  <a:srgbClr val="0000FF"/>
                </a:solidFill>
              </a:rPr>
              <a:t>Check the overflow flag!</a:t>
            </a:r>
          </a:p>
        </p:txBody>
      </p:sp>
    </p:spTree>
    <p:extLst>
      <p:ext uri="{BB962C8B-B14F-4D97-AF65-F5344CB8AC3E}">
        <p14:creationId xmlns:p14="http://schemas.microsoft.com/office/powerpoint/2010/main" val="1750637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 (5-bit System)</a:t>
            </a:r>
          </a:p>
        </p:txBody>
      </p:sp>
      <p:sp>
        <p:nvSpPr>
          <p:cNvPr id="3" name="Slide Number Placeholder 2"/>
          <p:cNvSpPr>
            <a:spLocks noGrp="1"/>
          </p:cNvSpPr>
          <p:nvPr>
            <p:ph type="sldNum" sz="quarter" idx="4294967295"/>
          </p:nvPr>
        </p:nvSpPr>
        <p:spPr>
          <a:xfrm>
            <a:off x="2136648" y="635635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30</a:t>
            </a:fld>
            <a:endParaRPr lang="en-US" dirty="0">
              <a:solidFill>
                <a:srgbClr val="1F497D"/>
              </a:solidFill>
              <a:latin typeface="Gill Sans MT"/>
            </a:endParaRPr>
          </a:p>
        </p:txBody>
      </p:sp>
      <p:sp>
        <p:nvSpPr>
          <p:cNvPr id="4" name="Content Placeholder 3"/>
          <p:cNvSpPr>
            <a:spLocks noGrp="1"/>
          </p:cNvSpPr>
          <p:nvPr>
            <p:ph sz="quarter" idx="1"/>
          </p:nvPr>
        </p:nvSpPr>
        <p:spPr>
          <a:xfrm>
            <a:off x="381000" y="3502675"/>
            <a:ext cx="8153400" cy="2703799"/>
          </a:xfrm>
        </p:spPr>
        <p:txBody>
          <a:bodyPr>
            <a:normAutofit fontScale="92500" lnSpcReduction="10000"/>
          </a:bodyPr>
          <a:lstStyle/>
          <a:p>
            <a:r>
              <a:rPr lang="en-US" dirty="0"/>
              <a:t>CPU does not know and does not care; it sets up both carry flag and overflow flags.</a:t>
            </a:r>
          </a:p>
          <a:p>
            <a:pPr lvl="1"/>
            <a:r>
              <a:rPr lang="en-US" dirty="0"/>
              <a:t>10000 + 10000 = 00000, and carry/overflow flags.</a:t>
            </a:r>
          </a:p>
          <a:p>
            <a:r>
              <a:rPr lang="en-US" dirty="0"/>
              <a:t>It is software’s (programmer/compiler) responsibility to interpret the flags.</a:t>
            </a:r>
          </a:p>
          <a:p>
            <a:pPr lvl="1"/>
            <a:r>
              <a:rPr lang="en-US" altLang="zh-CN" dirty="0">
                <a:solidFill>
                  <a:srgbClr val="000000"/>
                </a:solidFill>
              </a:rPr>
              <a:t>T</a:t>
            </a:r>
            <a:r>
              <a:rPr lang="en-US" dirty="0">
                <a:solidFill>
                  <a:srgbClr val="000000"/>
                </a:solidFill>
              </a:rPr>
              <a:t>he C compiler uses either the carry or the overflow flag based on how this integer is declared in source code ( “</a:t>
            </a:r>
            <a:r>
              <a:rPr lang="en-US" dirty="0" err="1">
                <a:solidFill>
                  <a:srgbClr val="000000"/>
                </a:solidFill>
              </a:rPr>
              <a:t>uint</a:t>
            </a:r>
            <a:r>
              <a:rPr lang="en-US" dirty="0">
                <a:solidFill>
                  <a:srgbClr val="000000"/>
                </a:solidFill>
              </a:rPr>
              <a:t>” or “</a:t>
            </a:r>
            <a:r>
              <a:rPr lang="en-US" dirty="0" err="1">
                <a:solidFill>
                  <a:srgbClr val="000000"/>
                </a:solidFill>
              </a:rPr>
              <a:t>int</a:t>
            </a:r>
            <a:r>
              <a:rPr lang="en-US" dirty="0">
                <a:solidFill>
                  <a:srgbClr val="000000"/>
                </a:solidFill>
              </a:rPr>
              <a:t>”).</a:t>
            </a:r>
          </a:p>
          <a:p>
            <a:pPr lvl="1"/>
            <a:endParaRPr lang="en-US" dirty="0"/>
          </a:p>
          <a:p>
            <a:pPr lvl="1"/>
            <a:endParaRPr lang="en-US" dirty="0"/>
          </a:p>
        </p:txBody>
      </p:sp>
      <p:sp>
        <p:nvSpPr>
          <p:cNvPr id="5" name="Rectangle 4"/>
          <p:cNvSpPr/>
          <p:nvPr/>
        </p:nvSpPr>
        <p:spPr>
          <a:xfrm>
            <a:off x="914400" y="1292876"/>
            <a:ext cx="4191000" cy="1384995"/>
          </a:xfrm>
          <a:prstGeom prst="rect">
            <a:avLst/>
          </a:prstGeom>
        </p:spPr>
        <p:txBody>
          <a:bodyPr wrap="square">
            <a:spAutoFit/>
          </a:bodyPr>
          <a:lstStyle/>
          <a:p>
            <a:pPr>
              <a:defRPr/>
            </a:pP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pPr>
              <a:defRPr/>
            </a:pPr>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pPr>
              <a:defRPr/>
            </a:pPr>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7" name="Content Placeholder 3"/>
          <p:cNvSpPr txBox="1">
            <a:spLocks/>
          </p:cNvSpPr>
          <p:nvPr/>
        </p:nvSpPr>
        <p:spPr>
          <a:xfrm>
            <a:off x="381000" y="2740675"/>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Clr>
                <a:srgbClr val="4F81BD"/>
              </a:buClr>
              <a:defRPr/>
            </a:pPr>
            <a:r>
              <a:rPr lang="en-US" dirty="0">
                <a:solidFill>
                  <a:prstClr val="black"/>
                </a:solidFill>
                <a:latin typeface="Gill Sans MT"/>
              </a:rPr>
              <a:t>Are </a:t>
            </a:r>
            <a:r>
              <a:rPr lang="en-US" i="1" dirty="0">
                <a:solidFill>
                  <a:prstClr val="black"/>
                </a:solidFill>
                <a:latin typeface="Consolas" panose="020B0609020204030204" pitchFamily="49" charset="0"/>
                <a:cs typeface="Consolas" panose="020B0609020204030204" pitchFamily="49" charset="0"/>
              </a:rPr>
              <a:t>a</a:t>
            </a:r>
            <a:r>
              <a:rPr lang="en-US" dirty="0">
                <a:solidFill>
                  <a:prstClr val="black"/>
                </a:solidFill>
                <a:latin typeface="Gill Sans MT"/>
              </a:rPr>
              <a:t> and </a:t>
            </a:r>
            <a:r>
              <a:rPr lang="en-US" i="1" dirty="0">
                <a:solidFill>
                  <a:prstClr val="black"/>
                </a:solidFill>
                <a:latin typeface="Consolas" panose="020B0609020204030204" pitchFamily="49" charset="0"/>
                <a:cs typeface="Consolas" panose="020B0609020204030204" pitchFamily="49" charset="0"/>
              </a:rPr>
              <a:t>b</a:t>
            </a:r>
            <a:r>
              <a:rPr lang="en-US" dirty="0">
                <a:solidFill>
                  <a:prstClr val="black"/>
                </a:solidFill>
                <a:latin typeface="Gill Sans MT"/>
              </a:rPr>
              <a:t> signed or unsigned numbers?</a:t>
            </a:r>
          </a:p>
        </p:txBody>
      </p:sp>
      <p:sp>
        <p:nvSpPr>
          <p:cNvPr id="6" name="Content Placeholder 3"/>
          <p:cNvSpPr txBox="1">
            <a:spLocks/>
          </p:cNvSpPr>
          <p:nvPr/>
        </p:nvSpPr>
        <p:spPr>
          <a:xfrm>
            <a:off x="8610600" y="1205804"/>
            <a:ext cx="2824976" cy="2209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spcBef>
                <a:spcPts val="0"/>
              </a:spcBef>
              <a:buClrTx/>
              <a:buSzTx/>
              <a:buFont typeface="Wingdings 3"/>
              <a:buNone/>
              <a:defRPr/>
            </a:pPr>
            <a:r>
              <a:rPr lang="en-US" sz="2400" dirty="0">
                <a:solidFill>
                  <a:srgbClr val="000000"/>
                </a:solidFill>
                <a:latin typeface="Consolas" panose="020B0609020204030204" pitchFamily="49" charset="0"/>
                <a:cs typeface="Consolas" panose="020B0609020204030204" pitchFamily="49" charset="0"/>
              </a:rPr>
              <a:t>If unsigned:</a:t>
            </a:r>
          </a:p>
          <a:p>
            <a:pPr marL="0" indent="0">
              <a:spcBef>
                <a:spcPts val="0"/>
              </a:spcBef>
              <a:buClrTx/>
              <a:buSzTx/>
              <a:buFont typeface="Wingdings 3"/>
              <a:buNone/>
              <a:defRPr/>
            </a:pPr>
            <a:r>
              <a:rPr lang="en-US" sz="2400" i="1" dirty="0" err="1">
                <a:solidFill>
                  <a:srgbClr val="C00000"/>
                </a:solidFill>
                <a:latin typeface="Consolas" panose="020B0609020204030204" pitchFamily="49" charset="0"/>
                <a:cs typeface="Consolas" panose="020B0609020204030204" pitchFamily="49" charset="0"/>
              </a:rPr>
              <a:t>uint</a:t>
            </a:r>
            <a:r>
              <a:rPr lang="en-US" sz="2400" i="1" dirty="0">
                <a:solidFill>
                  <a:srgbClr val="C00000"/>
                </a:solidFill>
                <a:latin typeface="Consolas" panose="020B0609020204030204" pitchFamily="49" charset="0"/>
                <a:cs typeface="Consolas" panose="020B0609020204030204" pitchFamily="49" charset="0"/>
              </a:rPr>
              <a:t> a, b;</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16</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b </a:t>
            </a:r>
            <a:r>
              <a:rPr lang="en-US" sz="2400" dirty="0">
                <a:solidFill>
                  <a:srgbClr val="C00000"/>
                </a:solidFill>
                <a:latin typeface="Consolas" panose="020B0609020204030204" pitchFamily="49" charset="0"/>
                <a:cs typeface="Consolas" panose="020B0609020204030204" pitchFamily="49" charset="0"/>
              </a:rPr>
              <a:t>= 16</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c</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b</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  = </a:t>
            </a:r>
            <a:r>
              <a:rPr lang="en-US" sz="2400" dirty="0">
                <a:solidFill>
                  <a:srgbClr val="C00000"/>
                </a:solidFill>
                <a:latin typeface="Consolas" panose="020B0609020204030204" pitchFamily="49" charset="0"/>
                <a:cs typeface="Consolas" panose="020B0609020204030204" pitchFamily="49" charset="0"/>
              </a:rPr>
              <a:t>32 &gt; 2</a:t>
            </a:r>
            <a:r>
              <a:rPr lang="en-US" sz="2400" baseline="30000" dirty="0">
                <a:solidFill>
                  <a:srgbClr val="C00000"/>
                </a:solidFill>
                <a:latin typeface="Consolas" panose="020B0609020204030204" pitchFamily="49" charset="0"/>
                <a:cs typeface="Consolas" panose="020B0609020204030204" pitchFamily="49" charset="0"/>
              </a:rPr>
              <a:t>5</a:t>
            </a:r>
            <a:r>
              <a:rPr lang="en-US" sz="2400" dirty="0">
                <a:solidFill>
                  <a:srgbClr val="C00000"/>
                </a:solidFill>
                <a:latin typeface="Consolas" panose="020B0609020204030204" pitchFamily="49" charset="0"/>
                <a:cs typeface="Consolas" panose="020B0609020204030204" pitchFamily="49" charset="0"/>
              </a:rPr>
              <a:t>-1</a:t>
            </a:r>
          </a:p>
          <a:p>
            <a:pPr marL="0" indent="0">
              <a:spcBef>
                <a:spcPts val="0"/>
              </a:spcBef>
              <a:buClrTx/>
              <a:buSzTx/>
              <a:buFont typeface="Wingdings 3"/>
              <a:buNone/>
              <a:defRPr/>
            </a:pPr>
            <a:r>
              <a:rPr lang="en-US" sz="2400" dirty="0">
                <a:solidFill>
                  <a:srgbClr val="000000"/>
                </a:solidFill>
                <a:latin typeface="Consolas" panose="020B0609020204030204" pitchFamily="49" charset="0"/>
                <a:cs typeface="Consolas" panose="020B0609020204030204" pitchFamily="49" charset="0"/>
              </a:rPr>
              <a:t>Carry flag set</a:t>
            </a:r>
          </a:p>
        </p:txBody>
      </p:sp>
      <p:sp>
        <p:nvSpPr>
          <p:cNvPr id="8" name="Content Placeholder 3"/>
          <p:cNvSpPr txBox="1">
            <a:spLocks/>
          </p:cNvSpPr>
          <p:nvPr/>
        </p:nvSpPr>
        <p:spPr>
          <a:xfrm>
            <a:off x="8610600" y="3752132"/>
            <a:ext cx="3123086" cy="2209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If signed:</a:t>
            </a:r>
          </a:p>
          <a:p>
            <a:pPr marL="0" indent="0">
              <a:spcBef>
                <a:spcPts val="0"/>
              </a:spcBef>
              <a:buClrTx/>
              <a:buSzTx/>
              <a:buNone/>
              <a:defRPr/>
            </a:pPr>
            <a:r>
              <a:rPr lang="en-US" sz="2400" i="1" dirty="0" err="1">
                <a:solidFill>
                  <a:srgbClr val="C00000"/>
                </a:solidFill>
                <a:latin typeface="Consolas" panose="020B0609020204030204" pitchFamily="49" charset="0"/>
                <a:cs typeface="Consolas" panose="020B0609020204030204" pitchFamily="49" charset="0"/>
              </a:rPr>
              <a:t>int</a:t>
            </a:r>
            <a:r>
              <a:rPr lang="en-US" sz="2400" i="1" dirty="0">
                <a:solidFill>
                  <a:srgbClr val="C00000"/>
                </a:solidFill>
                <a:latin typeface="Consolas" panose="020B0609020204030204" pitchFamily="49" charset="0"/>
                <a:cs typeface="Consolas" panose="020B0609020204030204" pitchFamily="49" charset="0"/>
              </a:rPr>
              <a:t> a, b;</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-16</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b </a:t>
            </a:r>
            <a:r>
              <a:rPr lang="en-US" sz="2400" dirty="0">
                <a:solidFill>
                  <a:srgbClr val="C00000"/>
                </a:solidFill>
                <a:latin typeface="Consolas" panose="020B0609020204030204" pitchFamily="49" charset="0"/>
                <a:cs typeface="Consolas" panose="020B0609020204030204" pitchFamily="49" charset="0"/>
              </a:rPr>
              <a:t>= -16</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c</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b</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  = -</a:t>
            </a:r>
            <a:r>
              <a:rPr lang="en-US" sz="2400" dirty="0">
                <a:solidFill>
                  <a:srgbClr val="C00000"/>
                </a:solidFill>
                <a:latin typeface="Consolas" panose="020B0609020204030204" pitchFamily="49" charset="0"/>
                <a:cs typeface="Consolas" panose="020B0609020204030204" pitchFamily="49" charset="0"/>
              </a:rPr>
              <a:t>32 &lt; -2</a:t>
            </a:r>
            <a:r>
              <a:rPr lang="en-US" sz="2400" baseline="30000" dirty="0">
                <a:solidFill>
                  <a:srgbClr val="C00000"/>
                </a:solidFill>
                <a:latin typeface="Consolas" panose="020B0609020204030204" pitchFamily="49" charset="0"/>
                <a:cs typeface="Consolas" panose="020B0609020204030204" pitchFamily="49" charset="0"/>
              </a:rPr>
              <a:t>4</a:t>
            </a:r>
            <a:endParaRPr lang="en-US" sz="2400" dirty="0">
              <a:solidFill>
                <a:srgbClr val="C00000"/>
              </a:solidFill>
              <a:latin typeface="Consolas" panose="020B0609020204030204" pitchFamily="49" charset="0"/>
              <a:cs typeface="Consolas" panose="020B0609020204030204" pitchFamily="49" charset="0"/>
            </a:endParaRPr>
          </a:p>
          <a:p>
            <a:pPr mar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Overflow flag set</a:t>
            </a:r>
          </a:p>
        </p:txBody>
      </p:sp>
    </p:spTree>
    <p:extLst>
      <p:ext uri="{BB962C8B-B14F-4D97-AF65-F5344CB8AC3E}">
        <p14:creationId xmlns:p14="http://schemas.microsoft.com/office/powerpoint/2010/main" val="245222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Two’s Complement Simplifies Hardware Implementation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p:cNvSpPr>
            <a:spLocks noGrp="1"/>
          </p:cNvSpPr>
          <p:nvPr>
            <p:ph sz="quarter" idx="1"/>
          </p:nvPr>
        </p:nvSpPr>
        <p:spPr/>
        <p:txBody>
          <a:bodyPr/>
          <a:lstStyle/>
          <a:p>
            <a:r>
              <a:rPr lang="en-US" dirty="0"/>
              <a:t>In two’s complement, </a:t>
            </a:r>
            <a:r>
              <a:rPr lang="en-US" dirty="0">
                <a:solidFill>
                  <a:srgbClr val="C00000"/>
                </a:solidFill>
              </a:rPr>
              <a:t>the same hardware </a:t>
            </a:r>
            <a:r>
              <a:rPr lang="en-US" dirty="0"/>
              <a:t>works correctly for both signed and unsigned addition/subtraction.</a:t>
            </a:r>
          </a:p>
          <a:p>
            <a:r>
              <a:rPr lang="en-US" dirty="0"/>
              <a:t>If the product is required to keep the same number of bits as operands, unsigned multiplication hardware works correctly for signed numbers.</a:t>
            </a:r>
          </a:p>
          <a:p>
            <a:r>
              <a:rPr lang="en-US" dirty="0"/>
              <a:t>However, this is not true for division. (not discussed in this course)</a:t>
            </a:r>
          </a:p>
        </p:txBody>
      </p:sp>
      <p:graphicFrame>
        <p:nvGraphicFramePr>
          <p:cNvPr id="6" name="Table 5"/>
          <p:cNvGraphicFramePr>
            <a:graphicFrameLocks noGrp="1"/>
          </p:cNvGraphicFramePr>
          <p:nvPr>
            <p:extLst>
              <p:ext uri="{D42A27DB-BD31-4B8C-83A1-F6EECF244321}">
                <p14:modId xmlns:p14="http://schemas.microsoft.com/office/powerpoint/2010/main" val="4065423302"/>
              </p:ext>
            </p:extLst>
          </p:nvPr>
        </p:nvGraphicFramePr>
        <p:xfrm>
          <a:off x="914400" y="3962400"/>
          <a:ext cx="10155936" cy="1981200"/>
        </p:xfrm>
        <a:graphic>
          <a:graphicData uri="http://schemas.openxmlformats.org/drawingml/2006/table">
            <a:tbl>
              <a:tblPr firstRow="1" bandRow="1">
                <a:tableStyleId>{5C22544A-7EE6-4342-B048-85BDC9FD1C3A}</a:tableStyleId>
              </a:tblPr>
              <a:tblGrid>
                <a:gridCol w="2002536">
                  <a:extLst>
                    <a:ext uri="{9D8B030D-6E8A-4147-A177-3AD203B41FA5}">
                      <a16:colId xmlns:a16="http://schemas.microsoft.com/office/drawing/2014/main" val="3168468172"/>
                    </a:ext>
                  </a:extLst>
                </a:gridCol>
                <a:gridCol w="8153400">
                  <a:extLst>
                    <a:ext uri="{9D8B030D-6E8A-4147-A177-3AD203B41FA5}">
                      <a16:colId xmlns:a16="http://schemas.microsoft.com/office/drawing/2014/main" val="578747247"/>
                    </a:ext>
                  </a:extLst>
                </a:gridCol>
              </a:tblGrid>
              <a:tr h="370840">
                <a:tc>
                  <a:txBody>
                    <a:bodyPr/>
                    <a:lstStyle/>
                    <a:p>
                      <a:r>
                        <a:rPr lang="en-US" sz="2000" dirty="0"/>
                        <a:t>Operation</a:t>
                      </a:r>
                    </a:p>
                  </a:txBody>
                  <a:tcPr/>
                </a:tc>
                <a:tc>
                  <a:txBody>
                    <a:bodyPr/>
                    <a:lstStyle/>
                    <a:p>
                      <a:r>
                        <a:rPr lang="en-US" sz="2000" dirty="0"/>
                        <a:t>Are</a:t>
                      </a:r>
                      <a:r>
                        <a:rPr lang="en-US" sz="2000" baseline="0" dirty="0"/>
                        <a:t> signed and unsigned operations the same?</a:t>
                      </a:r>
                      <a:endParaRPr lang="en-US" sz="2000" dirty="0"/>
                    </a:p>
                  </a:txBody>
                  <a:tcPr/>
                </a:tc>
                <a:extLst>
                  <a:ext uri="{0D108BD9-81ED-4DB2-BD59-A6C34878D82A}">
                    <a16:rowId xmlns:a16="http://schemas.microsoft.com/office/drawing/2014/main" val="533090278"/>
                  </a:ext>
                </a:extLst>
              </a:tr>
              <a:tr h="370840">
                <a:tc>
                  <a:txBody>
                    <a:bodyPr/>
                    <a:lstStyle/>
                    <a:p>
                      <a:r>
                        <a:rPr lang="en-US" sz="2000" dirty="0"/>
                        <a:t>Addition</a:t>
                      </a:r>
                    </a:p>
                  </a:txBody>
                  <a:tcPr/>
                </a:tc>
                <a:tc>
                  <a:txBody>
                    <a:bodyPr/>
                    <a:lstStyle/>
                    <a:p>
                      <a:r>
                        <a:rPr lang="en-US" sz="2000" dirty="0"/>
                        <a:t>Yes</a:t>
                      </a:r>
                    </a:p>
                  </a:txBody>
                  <a:tcPr/>
                </a:tc>
                <a:extLst>
                  <a:ext uri="{0D108BD9-81ED-4DB2-BD59-A6C34878D82A}">
                    <a16:rowId xmlns:a16="http://schemas.microsoft.com/office/drawing/2014/main" val="812262497"/>
                  </a:ext>
                </a:extLst>
              </a:tr>
              <a:tr h="370840">
                <a:tc>
                  <a:txBody>
                    <a:bodyPr/>
                    <a:lstStyle/>
                    <a:p>
                      <a:r>
                        <a:rPr lang="en-US" sz="2000" dirty="0"/>
                        <a:t>Subtraction</a:t>
                      </a:r>
                    </a:p>
                  </a:txBody>
                  <a:tcPr/>
                </a:tc>
                <a:tc>
                  <a:txBody>
                    <a:bodyPr/>
                    <a:lstStyle/>
                    <a:p>
                      <a:r>
                        <a:rPr lang="en-US" sz="2000" dirty="0"/>
                        <a:t>Yes</a:t>
                      </a:r>
                    </a:p>
                  </a:txBody>
                  <a:tcPr/>
                </a:tc>
                <a:extLst>
                  <a:ext uri="{0D108BD9-81ED-4DB2-BD59-A6C34878D82A}">
                    <a16:rowId xmlns:a16="http://schemas.microsoft.com/office/drawing/2014/main" val="4197344616"/>
                  </a:ext>
                </a:extLst>
              </a:tr>
              <a:tr h="370840">
                <a:tc>
                  <a:txBody>
                    <a:bodyPr/>
                    <a:lstStyle/>
                    <a:p>
                      <a:r>
                        <a:rPr lang="en-US" sz="2000" dirty="0"/>
                        <a:t>Multiplication</a:t>
                      </a:r>
                    </a:p>
                  </a:txBody>
                  <a:tcPr/>
                </a:tc>
                <a:tc>
                  <a:txBody>
                    <a:bodyPr/>
                    <a:lstStyle/>
                    <a:p>
                      <a:r>
                        <a:rPr lang="en-US" sz="2000" dirty="0"/>
                        <a:t>Yes</a:t>
                      </a:r>
                      <a:r>
                        <a:rPr lang="en-US" sz="2000" baseline="0" dirty="0"/>
                        <a:t> if </a:t>
                      </a:r>
                      <a:r>
                        <a:rPr lang="en-US" sz="2000" dirty="0"/>
                        <a:t>the product is required to keep the same number of bits as operands</a:t>
                      </a:r>
                    </a:p>
                  </a:txBody>
                  <a:tcPr/>
                </a:tc>
                <a:extLst>
                  <a:ext uri="{0D108BD9-81ED-4DB2-BD59-A6C34878D82A}">
                    <a16:rowId xmlns:a16="http://schemas.microsoft.com/office/drawing/2014/main" val="532458979"/>
                  </a:ext>
                </a:extLst>
              </a:tr>
              <a:tr h="370840">
                <a:tc>
                  <a:txBody>
                    <a:bodyPr/>
                    <a:lstStyle/>
                    <a:p>
                      <a:r>
                        <a:rPr lang="en-US" sz="2000" dirty="0"/>
                        <a:t>Division</a:t>
                      </a:r>
                    </a:p>
                  </a:txBody>
                  <a:tcPr/>
                </a:tc>
                <a:tc>
                  <a:txBody>
                    <a:bodyPr/>
                    <a:lstStyle/>
                    <a:p>
                      <a:r>
                        <a:rPr lang="en-US" sz="2000" dirty="0"/>
                        <a:t>No</a:t>
                      </a:r>
                    </a:p>
                  </a:txBody>
                  <a:tcPr/>
                </a:tc>
                <a:extLst>
                  <a:ext uri="{0D108BD9-81ED-4DB2-BD59-A6C34878D82A}">
                    <a16:rowId xmlns:a16="http://schemas.microsoft.com/office/drawing/2014/main" val="507733041"/>
                  </a:ext>
                </a:extLst>
              </a:tr>
            </a:tbl>
          </a:graphicData>
        </a:graphic>
      </p:graphicFrame>
    </p:spTree>
    <p:extLst>
      <p:ext uri="{BB962C8B-B14F-4D97-AF65-F5344CB8AC3E}">
        <p14:creationId xmlns:p14="http://schemas.microsoft.com/office/powerpoint/2010/main" val="2078770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7950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Adding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971298" y="5177136"/>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-3</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grpSp>
        <p:nvGrpSpPr>
          <p:cNvPr id="39" name="Group 38"/>
          <p:cNvGrpSpPr/>
          <p:nvPr/>
        </p:nvGrpSpPr>
        <p:grpSpPr>
          <a:xfrm>
            <a:off x="4959312" y="4396738"/>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r>
                <a:rPr lang="en-US" dirty="0"/>
                <a:t>flip</a:t>
              </a:r>
            </a:p>
          </p:txBody>
        </p:sp>
        <p:sp>
          <p:nvSpPr>
            <p:cNvPr id="46" name="TextBox 45"/>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r>
                <a:rPr lang="en-US" b="1">
                  <a:latin typeface="Consolas" panose="020B0609020204030204" pitchFamily="49" charset="0"/>
                  <a:cs typeface="Consolas" panose="020B0609020204030204" pitchFamily="49" charset="0"/>
                </a:rPr>
                <a:t>3</a:t>
              </a:r>
              <a:endParaRPr lang="en-US" b="1" dirty="0">
                <a:latin typeface="Consolas" panose="020B0609020204030204" pitchFamily="49" charset="0"/>
                <a:cs typeface="Consolas" panose="020B0609020204030204" pitchFamily="49" charset="0"/>
              </a:endParaRP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3582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Adder</a:t>
            </a:r>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29</a:t>
            </a:r>
          </a:p>
        </p:txBody>
      </p:sp>
      <p:sp>
        <p:nvSpPr>
          <p:cNvPr id="19" name="TextBox 18"/>
          <p:cNvSpPr txBox="1"/>
          <p:nvPr/>
        </p:nvSpPr>
        <p:spPr>
          <a:xfrm>
            <a:off x="4038600" y="1295401"/>
            <a:ext cx="354584" cy="461665"/>
          </a:xfrm>
          <a:prstGeom prst="rect">
            <a:avLst/>
          </a:prstGeom>
          <a:noFill/>
        </p:spPr>
        <p:txBody>
          <a:bodyPr wrap="none" rtlCol="0">
            <a:spAutoFit/>
          </a:bodyPr>
          <a:lstStyle/>
          <a:p>
            <a:r>
              <a:rPr lang="en-US" sz="2400" b="1">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3590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7543800" y="5039380"/>
            <a:ext cx="1629984" cy="523220"/>
          </a:xfrm>
          <a:prstGeom prst="rect">
            <a:avLst/>
          </a:prstGeom>
          <a:noFill/>
        </p:spPr>
        <p:txBody>
          <a:bodyPr wrap="square" rtlCol="0">
            <a:spAutoFit/>
          </a:bodyPr>
          <a:lstStyle/>
          <a:p>
            <a:pPr algn="ctr"/>
            <a:r>
              <a:rPr lang="en-US" sz="1400"/>
              <a:t>Two’s Complement Counterpart</a:t>
            </a:r>
            <a:endParaRPr lang="en-US" sz="1400" dirty="0"/>
          </a:p>
        </p:txBody>
      </p:sp>
      <p:sp>
        <p:nvSpPr>
          <p:cNvPr id="4" name="Content Placeholder 3">
            <a:extLst>
              <a:ext uri="{FF2B5EF4-FFF2-40B4-BE49-F238E27FC236}">
                <a16:creationId xmlns:a16="http://schemas.microsoft.com/office/drawing/2014/main" id="{80BD1B56-D534-2611-B43B-10E5EACB9FB7}"/>
              </a:ext>
            </a:extLst>
          </p:cNvPr>
          <p:cNvSpPr>
            <a:spLocks noGrp="1"/>
          </p:cNvSpPr>
          <p:nvPr>
            <p:ph sz="quarter" idx="1"/>
          </p:nvPr>
        </p:nvSpPr>
        <p:spPr>
          <a:xfrm>
            <a:off x="6417313" y="2847441"/>
            <a:ext cx="5180078" cy="1497566"/>
          </a:xfrm>
          <a:solidFill>
            <a:schemeClr val="bg1">
              <a:lumMod val="85000"/>
            </a:schemeClr>
          </a:solidFill>
        </p:spPr>
        <p:style>
          <a:lnRef idx="1">
            <a:schemeClr val="dk1"/>
          </a:lnRef>
          <a:fillRef idx="2">
            <a:schemeClr val="dk1"/>
          </a:fillRef>
          <a:effectRef idx="1">
            <a:schemeClr val="dk1"/>
          </a:effectRef>
          <a:fontRef idx="minor">
            <a:schemeClr val="dk1"/>
          </a:fontRef>
        </p:style>
        <p:txBody>
          <a:bodyPr>
            <a:normAutofit lnSpcReduction="10000"/>
          </a:bodyPr>
          <a:lstStyle/>
          <a:p>
            <a:r>
              <a:rPr lang="en-US" sz="2400" dirty="0"/>
              <a:t>Same binary arithmetic: 10111 + 00110 = 11101 can represent:</a:t>
            </a:r>
          </a:p>
          <a:p>
            <a:pPr lvl="1"/>
            <a:r>
              <a:rPr lang="en-US" sz="2000" dirty="0"/>
              <a:t>Either signed arithmetic : (-9) + 6 = -3</a:t>
            </a:r>
          </a:p>
          <a:p>
            <a:pPr lvl="1"/>
            <a:r>
              <a:rPr lang="en-US" sz="2000" dirty="0"/>
              <a:t>Or unsigned arithmetic : 23 + 6 = 29</a:t>
            </a:r>
          </a:p>
        </p:txBody>
      </p:sp>
    </p:spTree>
    <p:custDataLst>
      <p:tags r:id="rId1"/>
    </p:custDataLst>
    <p:extLst>
      <p:ext uri="{BB962C8B-B14F-4D97-AF65-F5344CB8AC3E}">
        <p14:creationId xmlns:p14="http://schemas.microsoft.com/office/powerpoint/2010/main" val="79816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Subtracting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877580" y="5177136"/>
            <a:ext cx="694421"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-15</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t>
            </a:r>
            <a:r>
              <a:rPr lang="en-US" dirty="0" err="1"/>
              <a:t>Subtractor</a:t>
            </a:r>
            <a:endParaRPr lang="en-US" dirty="0"/>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17</a:t>
            </a:r>
          </a:p>
        </p:txBody>
      </p:sp>
      <p:sp>
        <p:nvSpPr>
          <p:cNvPr id="19" name="TextBox 18"/>
          <p:cNvSpPr txBox="1"/>
          <p:nvPr/>
        </p:nvSpPr>
        <p:spPr>
          <a:xfrm>
            <a:off x="4038600" y="1295400"/>
            <a:ext cx="381836" cy="523220"/>
          </a:xfrm>
          <a:prstGeom prst="rect">
            <a:avLst/>
          </a:prstGeom>
          <a:noFill/>
        </p:spPr>
        <p:txBody>
          <a:bodyPr wrap="none" rtlCol="0">
            <a:spAutoFit/>
          </a:bodyPr>
          <a:lstStyle/>
          <a:p>
            <a:r>
              <a:rPr lang="en-US" sz="2800" b="1" dirty="0">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7" name="Rectangle 46"/>
          <p:cNvSpPr/>
          <p:nvPr/>
        </p:nvSpPr>
        <p:spPr>
          <a:xfrm>
            <a:off x="8882018" y="4419601"/>
            <a:ext cx="802182" cy="61251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p:cNvGrpSpPr/>
          <p:nvPr/>
        </p:nvGrpSpPr>
        <p:grpSpPr>
          <a:xfrm>
            <a:off x="6508412" y="4421833"/>
            <a:ext cx="3183625" cy="632463"/>
            <a:chOff x="5388736" y="1565669"/>
            <a:chExt cx="3183625" cy="632463"/>
          </a:xfrm>
        </p:grpSpPr>
        <p:sp>
          <p:nvSpPr>
            <p:cNvPr id="64" name="Rectangle 63"/>
            <p:cNvSpPr/>
            <p:nvPr/>
          </p:nvSpPr>
          <p:spPr>
            <a:xfrm>
              <a:off x="5388736"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01111</a:t>
              </a:r>
              <a:endParaRPr lang="en-US" dirty="0">
                <a:solidFill>
                  <a:srgbClr val="FF00FF"/>
                </a:solidFill>
              </a:endParaRPr>
            </a:p>
          </p:txBody>
        </p:sp>
        <p:cxnSp>
          <p:nvCxnSpPr>
            <p:cNvPr id="65" name="Straight Arrow Connector 64"/>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10000</a:t>
              </a:r>
            </a:p>
          </p:txBody>
        </p:sp>
        <p:sp>
          <p:nvSpPr>
            <p:cNvPr id="67" name="Rectangle 66"/>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10001</a:t>
              </a:r>
            </a:p>
          </p:txBody>
        </p:sp>
        <p:cxnSp>
          <p:nvCxnSpPr>
            <p:cNvPr id="68" name="Straight Arrow Connector 67"/>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70" name="TextBox 69"/>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71" name="TextBox 70"/>
            <p:cNvSpPr txBox="1"/>
            <p:nvPr/>
          </p:nvSpPr>
          <p:spPr>
            <a:xfrm>
              <a:off x="5560396" y="1585615"/>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sp>
          <p:nvSpPr>
            <p:cNvPr id="72" name="TextBox 71"/>
            <p:cNvSpPr txBox="1"/>
            <p:nvPr/>
          </p:nvSpPr>
          <p:spPr>
            <a:xfrm>
              <a:off x="7827136" y="1565669"/>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grpSp>
      <p:graphicFrame>
        <p:nvGraphicFramePr>
          <p:cNvPr id="83" name="Table 82"/>
          <p:cNvGraphicFramePr>
            <a:graphicFrameLocks noGrp="1"/>
          </p:cNvGraphicFramePr>
          <p:nvPr/>
        </p:nvGraphicFramePr>
        <p:xfrm>
          <a:off x="3581400"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4" name="Table 83"/>
          <p:cNvGraphicFramePr>
            <a:graphicFrameLocks noGrp="1"/>
          </p:cNvGraphicFramePr>
          <p:nvPr/>
        </p:nvGraphicFramePr>
        <p:xfrm>
          <a:off x="3609583"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152400">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 name="Content Placeholder 3">
            <a:extLst>
              <a:ext uri="{FF2B5EF4-FFF2-40B4-BE49-F238E27FC236}">
                <a16:creationId xmlns:a16="http://schemas.microsoft.com/office/drawing/2014/main" id="{B5897AC5-8D99-AD89-BAD3-ECE2B82BDB19}"/>
              </a:ext>
            </a:extLst>
          </p:cNvPr>
          <p:cNvSpPr>
            <a:spLocks noGrp="1"/>
          </p:cNvSpPr>
          <p:nvPr>
            <p:ph sz="quarter" idx="1"/>
          </p:nvPr>
        </p:nvSpPr>
        <p:spPr>
          <a:xfrm>
            <a:off x="6417313" y="2847441"/>
            <a:ext cx="5180078" cy="1497566"/>
          </a:xfrm>
          <a:solidFill>
            <a:schemeClr val="bg1">
              <a:lumMod val="85000"/>
            </a:schemeClr>
          </a:solidFill>
        </p:spPr>
        <p:style>
          <a:lnRef idx="1">
            <a:schemeClr val="dk1"/>
          </a:lnRef>
          <a:fillRef idx="2">
            <a:schemeClr val="dk1"/>
          </a:fillRef>
          <a:effectRef idx="1">
            <a:schemeClr val="dk1"/>
          </a:effectRef>
          <a:fontRef idx="minor">
            <a:schemeClr val="dk1"/>
          </a:fontRef>
        </p:style>
        <p:txBody>
          <a:bodyPr>
            <a:normAutofit lnSpcReduction="10000"/>
          </a:bodyPr>
          <a:lstStyle/>
          <a:p>
            <a:r>
              <a:rPr lang="en-US" sz="2400" dirty="0"/>
              <a:t>Same binary arithmetic: 10111 - 00110 = 10001 can represent:</a:t>
            </a:r>
          </a:p>
          <a:p>
            <a:pPr lvl="1"/>
            <a:r>
              <a:rPr lang="en-US" sz="2000" dirty="0"/>
              <a:t>Either signed arithmetic : (-9) - 6 = -15</a:t>
            </a:r>
          </a:p>
          <a:p>
            <a:pPr lvl="1"/>
            <a:r>
              <a:rPr lang="en-US" sz="2000" dirty="0"/>
              <a:t>Or unsigned arithmetic : 23 - 6 = 17</a:t>
            </a:r>
          </a:p>
        </p:txBody>
      </p:sp>
    </p:spTree>
    <p:extLst>
      <p:ext uri="{BB962C8B-B14F-4D97-AF65-F5344CB8AC3E}">
        <p14:creationId xmlns:p14="http://schemas.microsoft.com/office/powerpoint/2010/main" val="235925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sz="3600"/>
              <a:t>Condition Codes</a:t>
            </a:r>
          </a:p>
        </p:txBody>
      </p:sp>
      <p:sp>
        <p:nvSpPr>
          <p:cNvPr id="8" name="Slide Number Placeholder 3"/>
          <p:cNvSpPr>
            <a:spLocks noGrp="1"/>
          </p:cNvSpPr>
          <p:nvPr>
            <p:ph type="sldNum" sz="quarter" idx="12"/>
          </p:nvPr>
        </p:nvSpPr>
        <p:spPr/>
        <p:txBody>
          <a:bodyPr/>
          <a:lstStyle/>
          <a:p>
            <a:fld id="{3D56C4D0-D1DD-434F-9E39-17578F101405}" type="slidenum">
              <a:rPr lang="en-US"/>
              <a:pPr/>
              <a:t>34</a:t>
            </a:fld>
            <a:endParaRPr lang="en-US"/>
          </a:p>
        </p:txBody>
      </p:sp>
      <p:sp>
        <p:nvSpPr>
          <p:cNvPr id="323586" name="Date Placeholder 3"/>
          <p:cNvSpPr txBox="1">
            <a:spLocks noGrp="1"/>
          </p:cNvSpPr>
          <p:nvPr/>
        </p:nvSpPr>
        <p:spPr bwMode="auto">
          <a:xfrm>
            <a:off x="1981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endParaRPr lang="en-US" sz="1400">
              <a:solidFill>
                <a:schemeClr val="bg2"/>
              </a:solidFill>
            </a:endParaRP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fld id="{433D14BE-FE52-4332-969F-3696FB65ED39}" type="slidenum">
              <a:rPr lang="en-US" sz="1400">
                <a:solidFill>
                  <a:schemeClr val="bg2"/>
                </a:solidFill>
              </a:rPr>
              <a:pPr algn="r"/>
              <a:t>34</a:t>
            </a:fld>
            <a:endParaRPr lang="en-US" sz="1400">
              <a:solidFill>
                <a:schemeClr val="bg2"/>
              </a:solidFill>
            </a:endParaRPr>
          </a:p>
        </p:txBody>
      </p:sp>
      <p:sp>
        <p:nvSpPr>
          <p:cNvPr id="38917" name="Rectangle 5"/>
          <p:cNvSpPr>
            <a:spLocks noChangeArrowheads="1"/>
          </p:cNvSpPr>
          <p:nvPr/>
        </p:nvSpPr>
        <p:spPr bwMode="auto">
          <a:xfrm>
            <a:off x="3112008" y="3946647"/>
            <a:ext cx="701675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en-US" sz="600" dirty="0"/>
          </a:p>
          <a:p>
            <a:pPr marL="285750" indent="-285750" eaLnBrk="0" hangingPunct="0">
              <a:buFont typeface="Arial" panose="020B0604020202020204" pitchFamily="34" charset="0"/>
              <a:buChar char="•"/>
            </a:pPr>
            <a:r>
              <a:rPr lang="en-US" dirty="0">
                <a:cs typeface="Times New Roman" pitchFamily="18" charset="0"/>
              </a:rPr>
              <a:t>C is set upon an </a:t>
            </a:r>
            <a:r>
              <a:rPr lang="en-US" b="1" u="sng" dirty="0">
                <a:solidFill>
                  <a:srgbClr val="800000"/>
                </a:solidFill>
                <a:cs typeface="Times New Roman" pitchFamily="18" charset="0"/>
              </a:rPr>
              <a:t>unsigned</a:t>
            </a:r>
            <a:r>
              <a:rPr lang="en-US" dirty="0">
                <a:cs typeface="Times New Roman" pitchFamily="18" charset="0"/>
              </a:rPr>
              <a:t> addition if the result is out of range</a:t>
            </a:r>
          </a:p>
          <a:p>
            <a:pPr marL="285750" indent="-285750" eaLnBrk="0" hangingPunct="0">
              <a:buFont typeface="Arial" panose="020B0604020202020204" pitchFamily="34" charset="0"/>
              <a:buChar char="•"/>
            </a:pPr>
            <a:r>
              <a:rPr lang="en-US" dirty="0"/>
              <a:t>C is cleared </a:t>
            </a:r>
            <a:r>
              <a:rPr lang="en-US" dirty="0">
                <a:cs typeface="Times New Roman" pitchFamily="18" charset="0"/>
              </a:rPr>
              <a:t>upon </a:t>
            </a:r>
            <a:r>
              <a:rPr lang="en-US" dirty="0"/>
              <a:t>an </a:t>
            </a:r>
            <a:r>
              <a:rPr lang="en-US" b="1" u="sng" dirty="0">
                <a:solidFill>
                  <a:srgbClr val="800000"/>
                </a:solidFill>
              </a:rPr>
              <a:t>unsigned</a:t>
            </a:r>
            <a:r>
              <a:rPr lang="en-US" dirty="0"/>
              <a:t> subtract if the result is out of range</a:t>
            </a:r>
            <a:endParaRPr lang="en-US" sz="600" dirty="0"/>
          </a:p>
          <a:p>
            <a:pPr marL="285750" indent="-285750" eaLnBrk="0" hangingPunct="0">
              <a:buFont typeface="Arial" panose="020B0604020202020204" pitchFamily="34" charset="0"/>
              <a:buChar char="•"/>
            </a:pPr>
            <a:r>
              <a:rPr lang="en-US" dirty="0">
                <a:cs typeface="Times New Roman" pitchFamily="18" charset="0"/>
              </a:rPr>
              <a:t>V is set upon a </a:t>
            </a:r>
            <a:r>
              <a:rPr lang="en-US" b="1" u="sng" dirty="0">
                <a:solidFill>
                  <a:srgbClr val="800000"/>
                </a:solidFill>
                <a:cs typeface="Times New Roman" pitchFamily="18" charset="0"/>
              </a:rPr>
              <a:t>signed</a:t>
            </a:r>
            <a:r>
              <a:rPr lang="en-US" dirty="0">
                <a:cs typeface="Times New Roman" pitchFamily="18" charset="0"/>
              </a:rPr>
              <a:t> addition or subtraction if the result is out of range </a:t>
            </a:r>
          </a:p>
          <a:p>
            <a:pPr eaLnBrk="0" hangingPunct="0"/>
            <a:endParaRPr lang="en-US" dirty="0">
              <a:cs typeface="Times New Roman" pitchFamily="18" charset="0"/>
            </a:endParaRPr>
          </a:p>
          <a:p>
            <a:pPr eaLnBrk="0" hangingPunct="0"/>
            <a:r>
              <a:rPr lang="en-US" sz="3200" dirty="0">
                <a:solidFill>
                  <a:srgbClr val="C00000"/>
                </a:solidFill>
                <a:cs typeface="Times New Roman" pitchFamily="18" charset="0"/>
              </a:rPr>
              <a:t>Why do we care about these bits?</a:t>
            </a:r>
            <a:endParaRPr lang="en-US" sz="1100" dirty="0">
              <a:solidFill>
                <a:srgbClr val="C00000"/>
              </a:solidFill>
            </a:endParaRPr>
          </a:p>
          <a:p>
            <a:pPr eaLnBrk="0" hangingPunct="0"/>
            <a:endParaRPr lang="en-US" dirty="0"/>
          </a:p>
        </p:txBody>
      </p:sp>
      <p:graphicFrame>
        <p:nvGraphicFramePr>
          <p:cNvPr id="39012" name="Group 100"/>
          <p:cNvGraphicFramePr>
            <a:graphicFrameLocks noGrp="1"/>
          </p:cNvGraphicFramePr>
          <p:nvPr>
            <p:extLst>
              <p:ext uri="{D42A27DB-BD31-4B8C-83A1-F6EECF244321}">
                <p14:modId xmlns:p14="http://schemas.microsoft.com/office/powerpoint/2010/main" val="2244330101"/>
              </p:ext>
            </p:extLst>
          </p:nvPr>
        </p:nvGraphicFramePr>
        <p:xfrm>
          <a:off x="2971800" y="1524001"/>
          <a:ext cx="5715000" cy="2363788"/>
        </p:xfrm>
        <a:graphic>
          <a:graphicData uri="http://schemas.openxmlformats.org/drawingml/2006/table">
            <a:tbl>
              <a:tblPr>
                <a:tableStyleId>{BC89EF96-8CEA-46FF-86C4-4CE0E7609802}</a:tableStyleId>
              </a:tblPr>
              <a:tblGrid>
                <a:gridCol w="585788">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3849687">
                  <a:extLst>
                    <a:ext uri="{9D8B030D-6E8A-4147-A177-3AD203B41FA5}">
                      <a16:colId xmlns:a16="http://schemas.microsoft.com/office/drawing/2014/main" val="20002"/>
                    </a:ext>
                  </a:extLst>
                </a:gridCol>
              </a:tblGrid>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Bit</a:t>
                      </a:r>
                      <a:endParaRPr kumimoji="0" lang="en-US" sz="2000" b="1" i="0" u="none" strike="noStrike" cap="none" normalizeH="0" baseline="0" dirty="0">
                        <a:ln>
                          <a:noFill/>
                        </a:ln>
                        <a:solidFill>
                          <a:schemeClr val="bg1"/>
                        </a:solidFill>
                        <a:effectLst/>
                        <a:latin typeface="+mn-lt"/>
                      </a:endParaRPr>
                    </a:p>
                  </a:txBody>
                  <a:tcPr horzOverflow="overflow">
                    <a:lnR w="3175" cap="flat" cmpd="sng" algn="ctr">
                      <a:solidFill>
                        <a:schemeClr val="tx2"/>
                      </a:solidFill>
                      <a:prstDash val="solid"/>
                      <a:round/>
                      <a:headEnd type="none" w="med" len="med"/>
                      <a:tailEnd type="none" w="med" len="med"/>
                    </a:lnR>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Name</a:t>
                      </a:r>
                      <a:endParaRPr kumimoji="0" lang="en-US" sz="2000" b="1" i="0" u="none" strike="noStrike" cap="none" normalizeH="0" baseline="0" dirty="0">
                        <a:ln>
                          <a:noFill/>
                        </a:ln>
                        <a:solidFill>
                          <a:schemeClr val="bg1"/>
                        </a:solidFill>
                        <a:effectLst/>
                        <a:latin typeface="+mn-lt"/>
                      </a:endParaRPr>
                    </a:p>
                  </a:txBody>
                  <a:tcPr horzOverflow="overflow">
                    <a:lnL w="3175" cap="flat" cmpd="sng" algn="ctr">
                      <a:solidFill>
                        <a:schemeClr val="tx2"/>
                      </a:solidFill>
                      <a:prstDash val="solid"/>
                      <a:round/>
                      <a:headEnd type="none" w="med" len="med"/>
                      <a:tailEnd type="none" w="med" len="med"/>
                    </a:lnL>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Meaning after add or sub</a:t>
                      </a:r>
                      <a:endParaRPr kumimoji="0" lang="en-US" sz="2000" b="1" i="0" u="none" strike="noStrike" cap="none" normalizeH="0" baseline="0" dirty="0">
                        <a:ln>
                          <a:noFill/>
                        </a:ln>
                        <a:solidFill>
                          <a:schemeClr val="bg1"/>
                        </a:solidFill>
                        <a:effectLst/>
                        <a:latin typeface="+mn-lt"/>
                      </a:endParaRPr>
                    </a:p>
                  </a:txBody>
                  <a:tcPr horzOverflow="overflow">
                    <a:solidFill>
                      <a:schemeClr val="tx2"/>
                    </a:solidFill>
                  </a:tcPr>
                </a:tc>
                <a:extLst>
                  <a:ext uri="{0D108BD9-81ED-4DB2-BD59-A6C34878D82A}">
                    <a16:rowId xmlns:a16="http://schemas.microsoft.com/office/drawing/2014/main" val="10000"/>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N</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negative</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Result’s MSB = 1 (signed result &lt; 0)</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1"/>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Z</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zero</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Result == 0</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2"/>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C</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carry</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Unsigned arithmetic out of range</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4"/>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V</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overflow</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rPr>
                        <a:t>Signed arithmetic out of range</a:t>
                      </a:r>
                    </a:p>
                  </a:txBody>
                  <a:tcPr horzOverflow="overflow"/>
                </a:tc>
                <a:extLst>
                  <a:ext uri="{0D108BD9-81ED-4DB2-BD59-A6C34878D82A}">
                    <a16:rowId xmlns:a16="http://schemas.microsoft.com/office/drawing/2014/main" val="1303120599"/>
                  </a:ext>
                </a:extLst>
              </a:tr>
            </a:tbl>
          </a:graphicData>
        </a:graphic>
      </p:graphicFrame>
      <p:sp>
        <p:nvSpPr>
          <p:cNvPr id="11" name="Rectangle 20">
            <a:extLst>
              <a:ext uri="{FF2B5EF4-FFF2-40B4-BE49-F238E27FC236}">
                <a16:creationId xmlns:a16="http://schemas.microsoft.com/office/drawing/2014/main" id="{3567137F-4E5B-38F2-E5A9-A30F3D321638}"/>
              </a:ext>
            </a:extLst>
          </p:cNvPr>
          <p:cNvSpPr>
            <a:spLocks noChangeArrowheads="1"/>
          </p:cNvSpPr>
          <p:nvPr/>
        </p:nvSpPr>
        <p:spPr bwMode="auto">
          <a:xfrm>
            <a:off x="9372600" y="2322337"/>
            <a:ext cx="1943100" cy="40005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defTabSz="342900"/>
            <a:endParaRPr lang="en-US" sz="1350" dirty="0">
              <a:solidFill>
                <a:prstClr val="black"/>
              </a:solidFill>
              <a:latin typeface="Calibri"/>
            </a:endParaRPr>
          </a:p>
        </p:txBody>
      </p:sp>
      <p:sp>
        <p:nvSpPr>
          <p:cNvPr id="12" name="Text Box 21">
            <a:extLst>
              <a:ext uri="{FF2B5EF4-FFF2-40B4-BE49-F238E27FC236}">
                <a16:creationId xmlns:a16="http://schemas.microsoft.com/office/drawing/2014/main" id="{06EAFE48-8982-1087-E8AE-039866BE1E15}"/>
              </a:ext>
            </a:extLst>
          </p:cNvPr>
          <p:cNvSpPr txBox="1">
            <a:spLocks noChangeArrowheads="1"/>
          </p:cNvSpPr>
          <p:nvPr/>
        </p:nvSpPr>
        <p:spPr bwMode="auto">
          <a:xfrm>
            <a:off x="9303544" y="2083543"/>
            <a:ext cx="380232" cy="323165"/>
          </a:xfrm>
          <a:prstGeom prst="rect">
            <a:avLst/>
          </a:prstGeom>
          <a:noFill/>
          <a:ln w="12700">
            <a:noFill/>
            <a:miter lim="800000"/>
            <a:headEnd type="none" w="sm" len="sm"/>
            <a:tailEnd type="none" w="sm" len="sm"/>
          </a:ln>
        </p:spPr>
        <p:txBody>
          <a:bodyPr wrap="none">
            <a:spAutoFit/>
          </a:bodyPr>
          <a:lstStyle/>
          <a:p>
            <a:pPr defTabSz="342900"/>
            <a:r>
              <a:rPr lang="en-US" sz="1500">
                <a:solidFill>
                  <a:prstClr val="black"/>
                </a:solidFill>
                <a:latin typeface="Calibri"/>
              </a:rPr>
              <a:t>31</a:t>
            </a:r>
          </a:p>
        </p:txBody>
      </p:sp>
      <p:sp>
        <p:nvSpPr>
          <p:cNvPr id="13" name="Text Box 22">
            <a:extLst>
              <a:ext uri="{FF2B5EF4-FFF2-40B4-BE49-F238E27FC236}">
                <a16:creationId xmlns:a16="http://schemas.microsoft.com/office/drawing/2014/main" id="{451919BE-4298-9C2B-1D8D-22FDFDA53A00}"/>
              </a:ext>
            </a:extLst>
          </p:cNvPr>
          <p:cNvSpPr txBox="1">
            <a:spLocks noChangeArrowheads="1"/>
          </p:cNvSpPr>
          <p:nvPr/>
        </p:nvSpPr>
        <p:spPr bwMode="auto">
          <a:xfrm>
            <a:off x="11029950" y="2072827"/>
            <a:ext cx="282450" cy="323165"/>
          </a:xfrm>
          <a:prstGeom prst="rect">
            <a:avLst/>
          </a:prstGeom>
          <a:noFill/>
          <a:ln w="12700">
            <a:noFill/>
            <a:miter lim="800000"/>
            <a:headEnd type="none" w="sm" len="sm"/>
            <a:tailEnd type="none" w="sm" len="sm"/>
          </a:ln>
        </p:spPr>
        <p:txBody>
          <a:bodyPr wrap="none">
            <a:spAutoFit/>
          </a:bodyPr>
          <a:lstStyle/>
          <a:p>
            <a:pPr defTabSz="342900"/>
            <a:r>
              <a:rPr lang="en-US" sz="1500" dirty="0">
                <a:solidFill>
                  <a:prstClr val="black"/>
                </a:solidFill>
                <a:latin typeface="Calibri"/>
              </a:rPr>
              <a:t>0</a:t>
            </a:r>
          </a:p>
        </p:txBody>
      </p:sp>
      <p:sp>
        <p:nvSpPr>
          <p:cNvPr id="14" name="Rectangle 13">
            <a:extLst>
              <a:ext uri="{FF2B5EF4-FFF2-40B4-BE49-F238E27FC236}">
                <a16:creationId xmlns:a16="http://schemas.microsoft.com/office/drawing/2014/main" id="{812AB5DC-5C03-5A22-311C-2453FF108940}"/>
              </a:ext>
            </a:extLst>
          </p:cNvPr>
          <p:cNvSpPr/>
          <p:nvPr/>
        </p:nvSpPr>
        <p:spPr>
          <a:xfrm>
            <a:off x="9372601" y="2322337"/>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N</a:t>
            </a:r>
          </a:p>
        </p:txBody>
      </p:sp>
      <p:sp>
        <p:nvSpPr>
          <p:cNvPr id="15" name="Rectangle 14">
            <a:extLst>
              <a:ext uri="{FF2B5EF4-FFF2-40B4-BE49-F238E27FC236}">
                <a16:creationId xmlns:a16="http://schemas.microsoft.com/office/drawing/2014/main" id="{9C6861D9-08DC-079D-4F5A-241FCBE5B340}"/>
              </a:ext>
            </a:extLst>
          </p:cNvPr>
          <p:cNvSpPr/>
          <p:nvPr/>
        </p:nvSpPr>
        <p:spPr>
          <a:xfrm>
            <a:off x="9534723" y="2322059"/>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Z</a:t>
            </a:r>
          </a:p>
        </p:txBody>
      </p:sp>
      <p:sp>
        <p:nvSpPr>
          <p:cNvPr id="16" name="Rectangle 15">
            <a:extLst>
              <a:ext uri="{FF2B5EF4-FFF2-40B4-BE49-F238E27FC236}">
                <a16:creationId xmlns:a16="http://schemas.microsoft.com/office/drawing/2014/main" id="{64F9C2CF-5E3E-748B-AEEC-4D8B447C277D}"/>
              </a:ext>
            </a:extLst>
          </p:cNvPr>
          <p:cNvSpPr/>
          <p:nvPr/>
        </p:nvSpPr>
        <p:spPr>
          <a:xfrm>
            <a:off x="9696846" y="2321502"/>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C</a:t>
            </a:r>
          </a:p>
        </p:txBody>
      </p:sp>
      <p:sp>
        <p:nvSpPr>
          <p:cNvPr id="17" name="Rectangle 16">
            <a:extLst>
              <a:ext uri="{FF2B5EF4-FFF2-40B4-BE49-F238E27FC236}">
                <a16:creationId xmlns:a16="http://schemas.microsoft.com/office/drawing/2014/main" id="{DC29B2E9-FB7E-A9D5-6981-2C31D01154AC}"/>
              </a:ext>
            </a:extLst>
          </p:cNvPr>
          <p:cNvSpPr/>
          <p:nvPr/>
        </p:nvSpPr>
        <p:spPr>
          <a:xfrm>
            <a:off x="9856587" y="2321501"/>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V</a:t>
            </a:r>
          </a:p>
        </p:txBody>
      </p:sp>
      <p:sp>
        <p:nvSpPr>
          <p:cNvPr id="18" name="Rectangle 17">
            <a:extLst>
              <a:ext uri="{FF2B5EF4-FFF2-40B4-BE49-F238E27FC236}">
                <a16:creationId xmlns:a16="http://schemas.microsoft.com/office/drawing/2014/main" id="{B2CA3B14-8DE0-8221-4648-DA185ABF1B22}"/>
              </a:ext>
            </a:extLst>
          </p:cNvPr>
          <p:cNvSpPr/>
          <p:nvPr/>
        </p:nvSpPr>
        <p:spPr>
          <a:xfrm>
            <a:off x="8744261" y="2767825"/>
            <a:ext cx="3447739" cy="338554"/>
          </a:xfrm>
          <a:prstGeom prst="rect">
            <a:avLst/>
          </a:prstGeom>
        </p:spPr>
        <p:txBody>
          <a:bodyPr wrap="none">
            <a:spAutoFit/>
          </a:bodyPr>
          <a:lstStyle/>
          <a:p>
            <a:pPr defTabSz="342900"/>
            <a:r>
              <a:rPr lang="en-US" sz="1600" dirty="0">
                <a:solidFill>
                  <a:prstClr val="black"/>
                </a:solidFill>
                <a:latin typeface="Calibri"/>
              </a:rPr>
              <a:t>CPSR (Current Program Status Register)</a:t>
            </a:r>
          </a:p>
        </p:txBody>
      </p:sp>
    </p:spTree>
    <p:extLst>
      <p:ext uri="{BB962C8B-B14F-4D97-AF65-F5344CB8AC3E}">
        <p14:creationId xmlns:p14="http://schemas.microsoft.com/office/powerpoint/2010/main" val="3826356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Carry and Overflow Flags</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634307560"/>
                  </p:ext>
                </p:extLst>
              </p:nvPr>
            </p:nvGraphicFramePr>
            <p:xfrm>
              <a:off x="3266090" y="2778967"/>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=1</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𝑐</m:t>
                              </m:r>
                            </m:oMath>
                          </a14:m>
                          <a:r>
                            <a:rPr lang="en-US" dirty="0"/>
                            <a:t> is too large to fit in. </a:t>
                          </a:r>
                        </a:p>
                      </a:txBody>
                      <a:tcPr/>
                    </a:tc>
                    <a:tc rowSpan="2">
                      <a:txBody>
                        <a:bodyPr/>
                        <a:lstStyle/>
                        <a:p>
                          <a14:m>
                            <m:oMath xmlns:m="http://schemas.openxmlformats.org/officeDocument/2006/math">
                              <m:r>
                                <a:rPr lang="en-US" b="0" i="1" smtClean="0">
                                  <a:solidFill>
                                    <a:srgbClr val="C00000"/>
                                  </a:solidFill>
                                  <a:latin typeface="Cambria Math" panose="02040503050406030204" pitchFamily="18" charset="0"/>
                                </a:rPr>
                                <m:t>𝑂𝑣𝑒𝑟𝑓𝑙𝑜𝑤</m:t>
                              </m:r>
                              <m:r>
                                <a:rPr lang="en-US" b="0" i="1" smtClean="0">
                                  <a:solidFill>
                                    <a:srgbClr val="C00000"/>
                                  </a:solidFill>
                                  <a:latin typeface="Cambria Math" panose="02040503050406030204" pitchFamily="18" charset="0"/>
                                </a:rPr>
                                <m:t>=1</m:t>
                              </m:r>
                            </m:oMath>
                          </a14:m>
                          <a:r>
                            <a:rPr lang="en-US" dirty="0">
                              <a:solidFill>
                                <a:srgbClr val="C00000"/>
                              </a:solidFill>
                            </a:rPr>
                            <a:t> </a:t>
                          </a:r>
                          <a:r>
                            <a:rPr lang="en-US" dirty="0"/>
                            <a:t>if </a:t>
                          </a:r>
                          <a14:m>
                            <m:oMath xmlns:m="http://schemas.openxmlformats.org/officeDocument/2006/math">
                              <m:r>
                                <a:rPr lang="en-US" b="0" i="1" smtClean="0">
                                  <a:latin typeface="Cambria Math" panose="02040503050406030204" pitchFamily="18" charset="0"/>
                                </a:rPr>
                                <m:t>𝑐</m:t>
                              </m:r>
                            </m:oMath>
                          </a14:m>
                          <a:r>
                            <a:rPr lang="en-US" dirty="0"/>
                            <a:t> is too large or too small to fit in</a:t>
                          </a:r>
                        </a:p>
                      </a:txBody>
                      <a:tcPr anchor="ctr"/>
                    </a:tc>
                    <a:extLst>
                      <a:ext uri="{0D108BD9-81ED-4DB2-BD59-A6C34878D82A}">
                        <a16:rowId xmlns:a16="http://schemas.microsoft.com/office/drawing/2014/main" val="4067339836"/>
                      </a:ext>
                    </a:extLst>
                  </a:tr>
                  <a:tr h="519452">
                    <a:tc>
                      <a:txBody>
                        <a:bodyPr/>
                        <a:lstStyle/>
                        <a:p>
                          <a:r>
                            <a:rPr lang="en-US" dirty="0"/>
                            <a:t>Subtract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dirty="0" smtClean="0">
                                  <a:latin typeface="Cambria Math" panose="02040503050406030204" pitchFamily="18" charset="0"/>
                                </a:rPr>
                                <m:t>𝐵𝑜𝑟𝑟𝑜𝑤</m:t>
                              </m:r>
                              <m:r>
                                <a:rPr lang="en-US" b="0" i="1" dirty="0" smtClean="0">
                                  <a:latin typeface="Cambria Math" panose="02040503050406030204" pitchFamily="18" charset="0"/>
                                </a:rPr>
                                <m:t>=1</m:t>
                              </m:r>
                            </m:oMath>
                          </a14:m>
                          <a:r>
                            <a:rPr lang="en-US" b="0" dirty="0"/>
                            <a:t>, </a:t>
                          </a:r>
                          <a:r>
                            <a:rPr lang="en-US" b="0" i="1" dirty="0"/>
                            <a:t>i.e.</a:t>
                          </a:r>
                          <a:r>
                            <a:rPr lang="en-US" b="0" dirty="0"/>
                            <a:t> </a:t>
                          </a:r>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=0</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𝑏</m:t>
                              </m:r>
                            </m:oMath>
                          </a14:m>
                          <a:r>
                            <a:rPr lang="en-US" dirty="0"/>
                            <a:t>. </a:t>
                          </a:r>
                        </a:p>
                      </a:txBody>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634307560"/>
                  </p:ext>
                </p:extLst>
              </p:nvPr>
            </p:nvGraphicFramePr>
            <p:xfrm>
              <a:off x="3266090" y="2778967"/>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endParaRPr lang="en-US"/>
                        </a:p>
                      </a:txBody>
                      <a:tcPr>
                        <a:blipFill>
                          <a:blip r:embed="rId3"/>
                          <a:stretch>
                            <a:fillRect l="-42051" t="-96721" r="-110256" b="-99180"/>
                          </a:stretch>
                        </a:blipFill>
                      </a:tcPr>
                    </a:tc>
                    <a:tc rowSpan="2">
                      <a:txBody>
                        <a:bodyPr/>
                        <a:lstStyle/>
                        <a:p>
                          <a:endParaRPr lang="en-US"/>
                        </a:p>
                      </a:txBody>
                      <a:tcPr anchor="ctr">
                        <a:blipFill>
                          <a:blip r:embed="rId3"/>
                          <a:stretch>
                            <a:fillRect l="-130047" t="-51982" r="-939" b="-7048"/>
                          </a:stretch>
                        </a:blipFill>
                      </a:tcPr>
                    </a:tc>
                    <a:extLst>
                      <a:ext uri="{0D108BD9-81ED-4DB2-BD59-A6C34878D82A}">
                        <a16:rowId xmlns:a16="http://schemas.microsoft.com/office/drawing/2014/main" val="4067339836"/>
                      </a:ext>
                    </a:extLst>
                  </a:tr>
                  <a:tr h="640080">
                    <a:tc>
                      <a:txBody>
                        <a:bodyPr/>
                        <a:lstStyle/>
                        <a:p>
                          <a:r>
                            <a:rPr lang="en-US" dirty="0"/>
                            <a:t>Subtract</a:t>
                          </a:r>
                        </a:p>
                      </a:txBody>
                      <a:tcPr/>
                    </a:tc>
                    <a:tc>
                      <a:txBody>
                        <a:bodyPr/>
                        <a:lstStyle/>
                        <a:p>
                          <a:endParaRPr lang="en-US"/>
                        </a:p>
                      </a:txBody>
                      <a:tcPr>
                        <a:blipFill>
                          <a:blip r:embed="rId3"/>
                          <a:stretch>
                            <a:fillRect l="-42051" t="-228571" r="-110256" b="-15238"/>
                          </a:stretch>
                        </a:blipFill>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5647364" y="2383537"/>
                <a:ext cx="1354473" cy="369332"/>
              </a:xfrm>
              <a:prstGeom prst="rect">
                <a:avLst/>
              </a:prstGeom>
              <a:noFill/>
            </p:spPr>
            <p:txBody>
              <a:bodyPr wrap="none" lIns="0" tIns="0" rIns="0" bIns="0" rtlCol="0">
                <a:spAutoFit/>
              </a:bodyPr>
              <a:lstStyle/>
              <a:p>
                <a:pPr/>
                <a14:m>
                  <m:oMathPara xmlns:m="http://schemas.openxmlformats.org/officeDocument/2006/math">
                    <m:oMath>
                      <m:r>
                        <a:rPr lang="en-US" sz="2400" i="1">
                          <a:latin typeface="Cambria Math" panose="02040503050406030204" pitchFamily="18" charset="0"/>
                        </a:rPr>
                        <m:t>𝑐</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𝑏</m:t>
                      </m:r>
                    </m:oMath>
                  </m:oMathPara>
                </a14:m>
                <a:endParaRPr lang="en-US" sz="2400" i="1" dirty="0"/>
              </a:p>
            </p:txBody>
          </p:sp>
        </mc:Choice>
        <mc:Fallback xmlns="">
          <p:sp>
            <p:nvSpPr>
              <p:cNvPr id="6" name="TextBox 5"/>
              <p:cNvSpPr txBox="1">
                <a:spLocks noRot="1" noChangeAspect="1" noMove="1" noResize="1" noEditPoints="1" noAdjustHandles="1" noChangeArrowheads="1" noChangeShapeType="1" noTextEdit="1"/>
              </p:cNvSpPr>
              <p:nvPr/>
            </p:nvSpPr>
            <p:spPr>
              <a:xfrm>
                <a:off x="5647364" y="2383537"/>
                <a:ext cx="1354473" cy="369332"/>
              </a:xfrm>
              <a:prstGeom prst="rect">
                <a:avLst/>
              </a:prstGeom>
              <a:blipFill>
                <a:blip r:embed="rId4"/>
                <a:stretch>
                  <a:fillRect l="-1794" r="-3587" b="-163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94490" y="5384381"/>
                <a:ext cx="3743917" cy="7391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ARM Cortex-M has no dedicated borrow flag, carry flag is reused.</a:t>
                </a:r>
              </a:p>
              <a:p>
                <a:pPr marL="285750" indent="-285750">
                  <a:buFont typeface="Arial" panose="020B0604020202020204" pitchFamily="34" charset="0"/>
                  <a:buChar char="•"/>
                </a:pPr>
                <a:r>
                  <a:rPr lang="en-US" sz="1400" dirty="0"/>
                  <a:t>For unsigned subtract, </a:t>
                </a:r>
                <a14:m>
                  <m:oMath xmlns:m="http://schemas.openxmlformats.org/officeDocument/2006/math">
                    <m:r>
                      <a:rPr lang="en-US" sz="1400" i="1">
                        <a:latin typeface="Cambria Math" panose="02040503050406030204" pitchFamily="18" charset="0"/>
                      </a:rPr>
                      <m:t>𝐵𝑜𝑟𝑟𝑜𝑤</m:t>
                    </m:r>
                    <m:r>
                      <a:rPr lang="en-US" sz="1400" i="1">
                        <a:latin typeface="Cambria Math" panose="02040503050406030204" pitchFamily="18" charset="0"/>
                      </a:rPr>
                      <m:t>= </m:t>
                    </m:r>
                    <m:acc>
                      <m:accPr>
                        <m:chr m:val="̅"/>
                        <m:ctrlPr>
                          <a:rPr lang="en-US" sz="1400" i="1">
                            <a:latin typeface="Cambria Math" panose="02040503050406030204" pitchFamily="18" charset="0"/>
                          </a:rPr>
                        </m:ctrlPr>
                      </m:accPr>
                      <m:e>
                        <m:r>
                          <a:rPr lang="en-US" sz="1400" i="1">
                            <a:latin typeface="Cambria Math" panose="02040503050406030204" pitchFamily="18" charset="0"/>
                          </a:rPr>
                          <m:t>𝐶𝑎𝑟𝑟𝑦</m:t>
                        </m:r>
                      </m:e>
                    </m:acc>
                  </m:oMath>
                </a14:m>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1894490" y="5384381"/>
                <a:ext cx="3743917" cy="739113"/>
              </a:xfrm>
              <a:prstGeom prst="rect">
                <a:avLst/>
              </a:prstGeom>
              <a:blipFill>
                <a:blip r:embed="rId5"/>
                <a:stretch>
                  <a:fillRect l="-162" b="-5600"/>
                </a:stretch>
              </a:blipFill>
            </p:spPr>
            <p:txBody>
              <a:bodyPr/>
              <a:lstStyle/>
              <a:p>
                <a:r>
                  <a:rPr lang="en-US">
                    <a:noFill/>
                  </a:rPr>
                  <a:t> </a:t>
                </a:r>
              </a:p>
            </p:txBody>
          </p:sp>
        </mc:Fallback>
      </mc:AlternateContent>
      <p:cxnSp>
        <p:nvCxnSpPr>
          <p:cNvPr id="9" name="Straight Arrow Connector 8"/>
          <p:cNvCxnSpPr>
            <a:cxnSpLocks/>
          </p:cNvCxnSpPr>
          <p:nvPr/>
        </p:nvCxnSpPr>
        <p:spPr>
          <a:xfrm flipH="1">
            <a:off x="4768511" y="4760167"/>
            <a:ext cx="369537" cy="5878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F07229-0F8A-3147-BC0F-5B26950511F2}"/>
              </a:ext>
            </a:extLst>
          </p:cNvPr>
          <p:cNvCxnSpPr>
            <a:cxnSpLocks/>
          </p:cNvCxnSpPr>
          <p:nvPr/>
        </p:nvCxnSpPr>
        <p:spPr>
          <a:xfrm>
            <a:off x="7159530" y="4760167"/>
            <a:ext cx="416511" cy="5878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406BF9-00EE-9643-940B-55867FB0DF7F}"/>
                  </a:ext>
                </a:extLst>
              </p:cNvPr>
              <p:cNvSpPr txBox="1"/>
              <p:nvPr/>
            </p:nvSpPr>
            <p:spPr>
              <a:xfrm>
                <a:off x="6324600" y="5389635"/>
                <a:ext cx="3743917"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Signed Subtraction is converted to sign addition</a:t>
                </a:r>
              </a:p>
              <a:p>
                <a:pPr marL="285750" indent="-285750">
                  <a:buFont typeface="Arial" panose="020B0604020202020204" pitchFamily="34" charset="0"/>
                  <a:buChar char="•"/>
                </a:pPr>
                <a14:m>
                  <m:oMath xmlns:m="http://schemas.openxmlformats.org/officeDocument/2006/math">
                    <m:r>
                      <a:rPr lang="en-US" sz="1400" i="1">
                        <a:latin typeface="Cambria Math" panose="02040503050406030204" pitchFamily="18" charset="0"/>
                      </a:rPr>
                      <m:t>𝑎</m:t>
                    </m:r>
                    <m:r>
                      <a:rPr lang="en-US" sz="1400" i="1">
                        <a:latin typeface="Cambria Math" panose="02040503050406030204" pitchFamily="18" charset="0"/>
                      </a:rPr>
                      <m:t> −</m:t>
                    </m:r>
                    <m:r>
                      <a:rPr lang="en-US" sz="1400" i="1">
                        <a:latin typeface="Cambria Math" panose="02040503050406030204" pitchFamily="18" charset="0"/>
                      </a:rPr>
                      <m:t>𝑏</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r>
                      <a:rPr lang="en-US" sz="1400" i="1">
                        <a:latin typeface="Cambria Math" panose="02040503050406030204" pitchFamily="18" charset="0"/>
                      </a:rPr>
                      <m:t>𝑏</m:t>
                    </m:r>
                    <m:r>
                      <a:rPr lang="en-US" sz="1400" i="1">
                        <a:latin typeface="Cambria Math" panose="02040503050406030204" pitchFamily="18" charset="0"/>
                      </a:rPr>
                      <m:t>)</m:t>
                    </m:r>
                  </m:oMath>
                </a14:m>
                <a:endParaRPr lang="en-US" sz="1400" dirty="0"/>
              </a:p>
            </p:txBody>
          </p:sp>
        </mc:Choice>
        <mc:Fallback xmlns="">
          <p:sp>
            <p:nvSpPr>
              <p:cNvPr id="12" name="TextBox 11">
                <a:extLst>
                  <a:ext uri="{FF2B5EF4-FFF2-40B4-BE49-F238E27FC236}">
                    <a16:creationId xmlns:a16="http://schemas.microsoft.com/office/drawing/2014/main" id="{68406BF9-00EE-9643-940B-55867FB0DF7F}"/>
                  </a:ext>
                </a:extLst>
              </p:cNvPr>
              <p:cNvSpPr txBox="1">
                <a:spLocks noRot="1" noChangeAspect="1" noMove="1" noResize="1" noEditPoints="1" noAdjustHandles="1" noChangeArrowheads="1" noChangeShapeType="1" noTextEdit="1"/>
              </p:cNvSpPr>
              <p:nvPr/>
            </p:nvSpPr>
            <p:spPr>
              <a:xfrm>
                <a:off x="6324600" y="5389635"/>
                <a:ext cx="3743917" cy="738664"/>
              </a:xfrm>
              <a:prstGeom prst="rect">
                <a:avLst/>
              </a:prstGeom>
              <a:blipFill>
                <a:blip r:embed="rId6"/>
                <a:stretch>
                  <a:fillRect l="-162" t="-806" b="-4032"/>
                </a:stretch>
              </a:blipFill>
            </p:spPr>
            <p:txBody>
              <a:bodyPr/>
              <a:lstStyle/>
              <a:p>
                <a:r>
                  <a:rPr lang="en-US">
                    <a:noFill/>
                  </a:rPr>
                  <a:t> </a:t>
                </a:r>
              </a:p>
            </p:txBody>
          </p:sp>
        </mc:Fallback>
      </mc:AlternateContent>
      <p:sp>
        <p:nvSpPr>
          <p:cNvPr id="4" name="Rectangle 5">
            <a:extLst>
              <a:ext uri="{FF2B5EF4-FFF2-40B4-BE49-F238E27FC236}">
                <a16:creationId xmlns:a16="http://schemas.microsoft.com/office/drawing/2014/main" id="{824E864B-2648-DE35-C235-B19BE5ED91AD}"/>
              </a:ext>
            </a:extLst>
          </p:cNvPr>
          <p:cNvSpPr>
            <a:spLocks noChangeArrowheads="1"/>
          </p:cNvSpPr>
          <p:nvPr/>
        </p:nvSpPr>
        <p:spPr bwMode="auto">
          <a:xfrm>
            <a:off x="789147" y="1099033"/>
            <a:ext cx="10765536"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Carry flag C = 1 </a:t>
            </a:r>
            <a:r>
              <a:rPr lang="en-US" dirty="0">
                <a:solidFill>
                  <a:prstClr val="black"/>
                </a:solidFill>
                <a:latin typeface="Gill Sans MT"/>
              </a:rPr>
              <a:t>(Borrow flag = 0) </a:t>
            </a:r>
            <a:r>
              <a:rPr lang="en-US" dirty="0">
                <a:solidFill>
                  <a:prstClr val="black"/>
                </a:solidFill>
                <a:latin typeface="Gill Sans MT"/>
                <a:cs typeface="Times New Roman" pitchFamily="18" charset="0"/>
              </a:rPr>
              <a:t>upon an </a:t>
            </a:r>
            <a:r>
              <a:rPr lang="en-US" b="1" u="sng" dirty="0">
                <a:solidFill>
                  <a:srgbClr val="800000"/>
                </a:solidFill>
                <a:latin typeface="Gill Sans MT"/>
                <a:cs typeface="Times New Roman" pitchFamily="18" charset="0"/>
              </a:rPr>
              <a:t>unsigned</a:t>
            </a:r>
            <a:r>
              <a:rPr lang="en-US" dirty="0">
                <a:solidFill>
                  <a:prstClr val="black"/>
                </a:solidFill>
                <a:latin typeface="Gill Sans MT"/>
                <a:cs typeface="Times New Roman" pitchFamily="18" charset="0"/>
              </a:rPr>
              <a:t> addition if the result is out of range (true result &gt; 2</a:t>
            </a:r>
            <a:r>
              <a:rPr lang="en-US" baseline="30000" dirty="0">
                <a:solidFill>
                  <a:prstClr val="black"/>
                </a:solidFill>
                <a:latin typeface="Gill Sans MT"/>
                <a:cs typeface="Times New Roman" pitchFamily="18" charset="0"/>
              </a:rPr>
              <a:t>n</a:t>
            </a:r>
            <a:r>
              <a:rPr lang="en-US" dirty="0">
                <a:solidFill>
                  <a:prstClr val="black"/>
                </a:solidFill>
                <a:latin typeface="Gill Sans MT"/>
                <a:cs typeface="Times New Roman" pitchFamily="18" charset="0"/>
              </a:rPr>
              <a:t>-1)</a:t>
            </a:r>
          </a:p>
          <a:p>
            <a:r>
              <a:rPr lang="en-US" dirty="0">
                <a:solidFill>
                  <a:prstClr val="black"/>
                </a:solidFill>
                <a:latin typeface="Gill Sans MT"/>
                <a:cs typeface="Times New Roman" pitchFamily="18" charset="0"/>
              </a:rPr>
              <a:t>Carry flag </a:t>
            </a:r>
            <a:r>
              <a:rPr lang="en-US" dirty="0">
                <a:solidFill>
                  <a:prstClr val="black"/>
                </a:solidFill>
                <a:latin typeface="Gill Sans MT"/>
              </a:rPr>
              <a:t>C = 0 (Borrow flag = 1) </a:t>
            </a:r>
            <a:r>
              <a:rPr lang="en-US" dirty="0">
                <a:solidFill>
                  <a:prstClr val="black"/>
                </a:solidFill>
                <a:latin typeface="Gill Sans MT"/>
                <a:cs typeface="Times New Roman" pitchFamily="18" charset="0"/>
              </a:rPr>
              <a:t>upon </a:t>
            </a:r>
            <a:r>
              <a:rPr lang="en-US" dirty="0">
                <a:solidFill>
                  <a:prstClr val="black"/>
                </a:solidFill>
                <a:latin typeface="Gill Sans MT"/>
              </a:rPr>
              <a:t>an </a:t>
            </a:r>
            <a:r>
              <a:rPr lang="en-US" u="sng" dirty="0">
                <a:solidFill>
                  <a:srgbClr val="800000"/>
                </a:solidFill>
                <a:latin typeface="Gill Sans MT"/>
              </a:rPr>
              <a:t>unsigned</a:t>
            </a:r>
            <a:r>
              <a:rPr lang="en-US" dirty="0">
                <a:solidFill>
                  <a:prstClr val="black"/>
                </a:solidFill>
                <a:latin typeface="Gill Sans MT"/>
              </a:rPr>
              <a:t> subtraction </a:t>
            </a:r>
            <a:r>
              <a:rPr lang="en-US" dirty="0">
                <a:solidFill>
                  <a:prstClr val="black"/>
                </a:solidFill>
                <a:latin typeface="Gill Sans MT"/>
                <a:cs typeface="Times New Roman" pitchFamily="18" charset="0"/>
              </a:rPr>
              <a:t>if the result is out of range </a:t>
            </a:r>
            <a:r>
              <a:rPr lang="en-US" dirty="0">
                <a:solidFill>
                  <a:prstClr val="black"/>
                </a:solidFill>
                <a:latin typeface="Gill Sans MT"/>
              </a:rPr>
              <a:t> (</a:t>
            </a:r>
            <a:r>
              <a:rPr lang="en-US" dirty="0">
                <a:solidFill>
                  <a:prstClr val="black"/>
                </a:solidFill>
                <a:latin typeface="Gill Sans MT"/>
                <a:cs typeface="Times New Roman" pitchFamily="18" charset="0"/>
              </a:rPr>
              <a:t>true result &lt; 0)</a:t>
            </a: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Overflow flag V =1 upon a </a:t>
            </a:r>
            <a:r>
              <a:rPr lang="en-US" b="1" u="sng" dirty="0">
                <a:solidFill>
                  <a:srgbClr val="800000"/>
                </a:solidFill>
                <a:latin typeface="Gill Sans MT"/>
                <a:cs typeface="Times New Roman" pitchFamily="18" charset="0"/>
              </a:rPr>
              <a:t>signed</a:t>
            </a:r>
            <a:r>
              <a:rPr lang="en-US" dirty="0">
                <a:solidFill>
                  <a:prstClr val="black"/>
                </a:solidFill>
                <a:latin typeface="Gill Sans MT"/>
                <a:cs typeface="Times New Roman" pitchFamily="18" charset="0"/>
              </a:rPr>
              <a:t> addition or subtraction if the result is out of range (true result &gt; 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dirty="0">
                <a:solidFill>
                  <a:prstClr val="black"/>
                </a:solidFill>
                <a:latin typeface="Gill Sans MT"/>
                <a:cs typeface="Times New Roman" pitchFamily="18" charset="0"/>
              </a:rPr>
              <a:t>-1 </a:t>
            </a:r>
            <a:r>
              <a:rPr lang="en-US" altLang="zh-CN" dirty="0">
                <a:solidFill>
                  <a:prstClr val="black"/>
                </a:solidFill>
                <a:latin typeface="Gill Sans MT"/>
                <a:cs typeface="Times New Roman" pitchFamily="18" charset="0"/>
              </a:rPr>
              <a:t>or true result &lt; -</a:t>
            </a:r>
            <a:r>
              <a:rPr lang="en-US" dirty="0">
                <a:solidFill>
                  <a:prstClr val="black"/>
                </a:solidFill>
                <a:latin typeface="Gill Sans MT"/>
                <a:cs typeface="Times New Roman" pitchFamily="18" charset="0"/>
              </a:rPr>
              <a:t>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altLang="zh-CN" dirty="0">
                <a:solidFill>
                  <a:prstClr val="black"/>
                </a:solidFill>
                <a:latin typeface="Gill Sans MT"/>
                <a:cs typeface="Times New Roman" pitchFamily="18" charset="0"/>
              </a:rPr>
              <a:t>)</a:t>
            </a:r>
            <a:endParaRPr lang="en-US" dirty="0">
              <a:solidFill>
                <a:prstClr val="black"/>
              </a:solidFill>
              <a:latin typeface="Gill Sans MT"/>
              <a:cs typeface="Times New Roman" pitchFamily="18" charset="0"/>
            </a:endParaRPr>
          </a:p>
          <a:p>
            <a:pPr eaLnBrk="0" hangingPunct="0">
              <a:defRPr/>
            </a:pPr>
            <a:endParaRPr lang="en-US" dirty="0">
              <a:solidFill>
                <a:prstClr val="black"/>
              </a:solidFill>
              <a:latin typeface="Gill Sans MT"/>
              <a:cs typeface="Times New Roman" pitchFamily="18" charset="0"/>
            </a:endParaRPr>
          </a:p>
        </p:txBody>
      </p:sp>
      <p:sp>
        <p:nvSpPr>
          <p:cNvPr id="13" name="TextBox 12">
            <a:extLst>
              <a:ext uri="{FF2B5EF4-FFF2-40B4-BE49-F238E27FC236}">
                <a16:creationId xmlns:a16="http://schemas.microsoft.com/office/drawing/2014/main" id="{1DAD1EAA-4829-82A1-65A0-A5E637DE2D0D}"/>
              </a:ext>
            </a:extLst>
          </p:cNvPr>
          <p:cNvSpPr txBox="1"/>
          <p:nvPr/>
        </p:nvSpPr>
        <p:spPr>
          <a:xfrm>
            <a:off x="10093098" y="102497"/>
            <a:ext cx="1991251"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a:defRPr/>
            </a:pPr>
            <a:r>
              <a:rPr lang="en-US" sz="2800" kern="0" dirty="0">
                <a:solidFill>
                  <a:prstClr val="white"/>
                </a:solidFill>
                <a:latin typeface="Calibri" panose="020F0502020204030204"/>
              </a:rPr>
              <a:t>IMPORTANT</a:t>
            </a:r>
            <a:endParaRPr lang="en-SE" sz="2800" kern="0" dirty="0">
              <a:solidFill>
                <a:prstClr val="white"/>
              </a:solidFill>
              <a:latin typeface="Calibri" panose="020F0502020204030204"/>
            </a:endParaRPr>
          </a:p>
        </p:txBody>
      </p:sp>
    </p:spTree>
    <p:extLst>
      <p:ext uri="{BB962C8B-B14F-4D97-AF65-F5344CB8AC3E}">
        <p14:creationId xmlns:p14="http://schemas.microsoft.com/office/powerpoint/2010/main" val="335312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483AF59-47E8-4491-9292-0A604585B532}" type="slidenum">
              <a:rPr lang="en-US"/>
              <a:pPr/>
              <a:t>36</a:t>
            </a:fld>
            <a:endParaRPr lang="en-US"/>
          </a:p>
        </p:txBody>
      </p:sp>
      <p:sp>
        <p:nvSpPr>
          <p:cNvPr id="260098" name="Rectangle 2"/>
          <p:cNvSpPr>
            <a:spLocks noGrp="1" noChangeArrowheads="1"/>
          </p:cNvSpPr>
          <p:nvPr>
            <p:ph type="title"/>
          </p:nvPr>
        </p:nvSpPr>
        <p:spPr/>
        <p:txBody>
          <a:bodyPr>
            <a:normAutofit/>
          </a:bodyPr>
          <a:lstStyle/>
          <a:p>
            <a:r>
              <a:rPr lang="en-US" sz="2800" dirty="0"/>
              <a:t>Characters</a:t>
            </a:r>
          </a:p>
        </p:txBody>
      </p:sp>
      <p:graphicFrame>
        <p:nvGraphicFramePr>
          <p:cNvPr id="3" name="Table 2"/>
          <p:cNvGraphicFramePr>
            <a:graphicFrameLocks noGrp="1"/>
          </p:cNvGraphicFramePr>
          <p:nvPr>
            <p:extLst>
              <p:ext uri="{D42A27DB-BD31-4B8C-83A1-F6EECF244321}">
                <p14:modId xmlns:p14="http://schemas.microsoft.com/office/powerpoint/2010/main" val="1669918260"/>
              </p:ext>
            </p:extLst>
          </p:nvPr>
        </p:nvGraphicFramePr>
        <p:xfrm>
          <a:off x="4117849" y="321310"/>
          <a:ext cx="6077787" cy="6035040"/>
        </p:xfrm>
        <a:graphic>
          <a:graphicData uri="http://schemas.openxmlformats.org/drawingml/2006/table">
            <a:tbl>
              <a:tblPr firstRow="1" firstCol="1" bandRow="1">
                <a:tableStyleId>{5C22544A-7EE6-4342-B048-85BDC9FD1C3A}</a:tableStyleId>
              </a:tblPr>
              <a:tblGrid>
                <a:gridCol w="507198">
                  <a:extLst>
                    <a:ext uri="{9D8B030D-6E8A-4147-A177-3AD203B41FA5}">
                      <a16:colId xmlns:a16="http://schemas.microsoft.com/office/drawing/2014/main" val="20000"/>
                    </a:ext>
                  </a:extLst>
                </a:gridCol>
                <a:gridCol w="485707">
                  <a:extLst>
                    <a:ext uri="{9D8B030D-6E8A-4147-A177-3AD203B41FA5}">
                      <a16:colId xmlns:a16="http://schemas.microsoft.com/office/drawing/2014/main" val="20001"/>
                    </a:ext>
                  </a:extLst>
                </a:gridCol>
                <a:gridCol w="563936">
                  <a:extLst>
                    <a:ext uri="{9D8B030D-6E8A-4147-A177-3AD203B41FA5}">
                      <a16:colId xmlns:a16="http://schemas.microsoft.com/office/drawing/2014/main" val="20002"/>
                    </a:ext>
                  </a:extLst>
                </a:gridCol>
                <a:gridCol w="482268">
                  <a:extLst>
                    <a:ext uri="{9D8B030D-6E8A-4147-A177-3AD203B41FA5}">
                      <a16:colId xmlns:a16="http://schemas.microsoft.com/office/drawing/2014/main" val="20003"/>
                    </a:ext>
                  </a:extLst>
                </a:gridCol>
                <a:gridCol w="469374">
                  <a:extLst>
                    <a:ext uri="{9D8B030D-6E8A-4147-A177-3AD203B41FA5}">
                      <a16:colId xmlns:a16="http://schemas.microsoft.com/office/drawing/2014/main" val="20004"/>
                    </a:ext>
                  </a:extLst>
                </a:gridCol>
                <a:gridCol w="563936">
                  <a:extLst>
                    <a:ext uri="{9D8B030D-6E8A-4147-A177-3AD203B41FA5}">
                      <a16:colId xmlns:a16="http://schemas.microsoft.com/office/drawing/2014/main" val="20005"/>
                    </a:ext>
                  </a:extLst>
                </a:gridCol>
                <a:gridCol w="469374">
                  <a:extLst>
                    <a:ext uri="{9D8B030D-6E8A-4147-A177-3AD203B41FA5}">
                      <a16:colId xmlns:a16="http://schemas.microsoft.com/office/drawing/2014/main" val="20006"/>
                    </a:ext>
                  </a:extLst>
                </a:gridCol>
                <a:gridCol w="469374">
                  <a:extLst>
                    <a:ext uri="{9D8B030D-6E8A-4147-A177-3AD203B41FA5}">
                      <a16:colId xmlns:a16="http://schemas.microsoft.com/office/drawing/2014/main" val="20007"/>
                    </a:ext>
                  </a:extLst>
                </a:gridCol>
                <a:gridCol w="563936">
                  <a:extLst>
                    <a:ext uri="{9D8B030D-6E8A-4147-A177-3AD203B41FA5}">
                      <a16:colId xmlns:a16="http://schemas.microsoft.com/office/drawing/2014/main" val="20008"/>
                    </a:ext>
                  </a:extLst>
                </a:gridCol>
                <a:gridCol w="469374">
                  <a:extLst>
                    <a:ext uri="{9D8B030D-6E8A-4147-A177-3AD203B41FA5}">
                      <a16:colId xmlns:a16="http://schemas.microsoft.com/office/drawing/2014/main" val="20009"/>
                    </a:ext>
                  </a:extLst>
                </a:gridCol>
                <a:gridCol w="469374">
                  <a:extLst>
                    <a:ext uri="{9D8B030D-6E8A-4147-A177-3AD203B41FA5}">
                      <a16:colId xmlns:a16="http://schemas.microsoft.com/office/drawing/2014/main" val="20010"/>
                    </a:ext>
                  </a:extLst>
                </a:gridCol>
                <a:gridCol w="563936">
                  <a:extLst>
                    <a:ext uri="{9D8B030D-6E8A-4147-A177-3AD203B41FA5}">
                      <a16:colId xmlns:a16="http://schemas.microsoft.com/office/drawing/2014/main" val="20011"/>
                    </a:ext>
                  </a:extLst>
                </a:gridCol>
              </a:tblGrid>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Hex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NUL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 SP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40</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SOH</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41</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61</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B</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98</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43</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99</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EOT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ENQ</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E</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6"/>
                  </a:ext>
                </a:extLst>
              </a:tr>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ACK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&amp;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F</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BEL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G</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67</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J</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j</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VT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N</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SI</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DLE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30</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0</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r</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SYN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EM</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SUB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122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7A</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ESC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US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_</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2"/>
                  </a:ext>
                </a:extLst>
              </a:tr>
            </a:tbl>
          </a:graphicData>
        </a:graphic>
      </p:graphicFrame>
      <p:sp>
        <p:nvSpPr>
          <p:cNvPr id="2" name="Rectangle 1"/>
          <p:cNvSpPr/>
          <p:nvPr/>
        </p:nvSpPr>
        <p:spPr>
          <a:xfrm>
            <a:off x="2184365" y="1219200"/>
            <a:ext cx="1447800" cy="1477328"/>
          </a:xfrm>
          <a:prstGeom prst="rect">
            <a:avLst/>
          </a:prstGeom>
        </p:spPr>
        <p:txBody>
          <a:bodyPr wrap="square">
            <a:spAutoFit/>
          </a:bodyPr>
          <a:lstStyle/>
          <a:p>
            <a:r>
              <a:rPr lang="en-US" b="1" dirty="0">
                <a:solidFill>
                  <a:srgbClr val="C00000"/>
                </a:solidFill>
              </a:rPr>
              <a:t>A</a:t>
            </a:r>
            <a:r>
              <a:rPr lang="en-US" dirty="0"/>
              <a:t>merican</a:t>
            </a:r>
          </a:p>
          <a:p>
            <a:r>
              <a:rPr lang="en-US" b="1" dirty="0">
                <a:solidFill>
                  <a:srgbClr val="C00000"/>
                </a:solidFill>
              </a:rPr>
              <a:t>S</a:t>
            </a:r>
            <a:r>
              <a:rPr lang="en-US" dirty="0"/>
              <a:t>tandard</a:t>
            </a:r>
          </a:p>
          <a:p>
            <a:r>
              <a:rPr lang="en-US" b="1" dirty="0">
                <a:solidFill>
                  <a:srgbClr val="C00000"/>
                </a:solidFill>
              </a:rPr>
              <a:t>C</a:t>
            </a:r>
            <a:r>
              <a:rPr lang="en-US" dirty="0"/>
              <a:t>ode for</a:t>
            </a:r>
          </a:p>
          <a:p>
            <a:r>
              <a:rPr lang="en-US" b="1" dirty="0">
                <a:solidFill>
                  <a:srgbClr val="C00000"/>
                </a:solidFill>
              </a:rPr>
              <a:t>I</a:t>
            </a:r>
            <a:r>
              <a:rPr lang="en-US" dirty="0"/>
              <a:t>nformation</a:t>
            </a:r>
          </a:p>
          <a:p>
            <a:r>
              <a:rPr lang="en-US" b="1" dirty="0">
                <a:solidFill>
                  <a:srgbClr val="C00000"/>
                </a:solidFill>
              </a:rPr>
              <a:t>I</a:t>
            </a:r>
            <a:r>
              <a:rPr lang="en-US" dirty="0"/>
              <a:t>nterchange</a:t>
            </a:r>
          </a:p>
        </p:txBody>
      </p:sp>
      <p:sp>
        <p:nvSpPr>
          <p:cNvPr id="4" name="Rectangle 3"/>
          <p:cNvSpPr/>
          <p:nvPr/>
        </p:nvSpPr>
        <p:spPr>
          <a:xfrm>
            <a:off x="5334000" y="6383556"/>
            <a:ext cx="3580596" cy="338554"/>
          </a:xfrm>
          <a:prstGeom prst="rect">
            <a:avLst/>
          </a:prstGeom>
        </p:spPr>
        <p:txBody>
          <a:bodyPr wrap="none">
            <a:spAutoFit/>
          </a:bodyPr>
          <a:lstStyle/>
          <a:p>
            <a:r>
              <a:rPr lang="en-US" sz="1600" dirty="0"/>
              <a:t>Standard ASCII: Encoding </a:t>
            </a:r>
            <a:r>
              <a:rPr lang="en-US" sz="1600" dirty="0">
                <a:latin typeface="Consolas" panose="020B0609020204030204" pitchFamily="49" charset="0"/>
                <a:cs typeface="Consolas" panose="020B0609020204030204" pitchFamily="49" charset="0"/>
              </a:rPr>
              <a:t>128</a:t>
            </a:r>
            <a:r>
              <a:rPr lang="en-US" sz="1600" dirty="0"/>
              <a:t> characters</a:t>
            </a:r>
          </a:p>
        </p:txBody>
      </p:sp>
      <p:sp>
        <p:nvSpPr>
          <p:cNvPr id="6" name="TextBox 5">
            <a:extLst>
              <a:ext uri="{FF2B5EF4-FFF2-40B4-BE49-F238E27FC236}">
                <a16:creationId xmlns:a16="http://schemas.microsoft.com/office/drawing/2014/main" id="{825171B8-59A4-1447-8B71-6B1352F0D4B0}"/>
              </a:ext>
            </a:extLst>
          </p:cNvPr>
          <p:cNvSpPr txBox="1"/>
          <p:nvPr/>
        </p:nvSpPr>
        <p:spPr>
          <a:xfrm>
            <a:off x="1676400" y="3276600"/>
            <a:ext cx="2362200" cy="2492990"/>
          </a:xfrm>
          <a:prstGeom prst="rect">
            <a:avLst/>
          </a:prstGeom>
          <a:noFill/>
        </p:spPr>
        <p:txBody>
          <a:bodyPr wrap="square" rtlCol="0">
            <a:spAutoFit/>
          </a:bodyPr>
          <a:lstStyle/>
          <a:p>
            <a:pPr marL="285750" indent="-285750">
              <a:buFont typeface="Arial" panose="020B0604020202020204" pitchFamily="34" charset="0"/>
              <a:buChar char="•"/>
            </a:pPr>
            <a:r>
              <a:rPr lang="en-US" dirty="0"/>
              <a:t>Standard ASCII</a:t>
            </a:r>
          </a:p>
          <a:p>
            <a:pPr lvl="1"/>
            <a:r>
              <a:rPr lang="en-US" sz="1600" dirty="0"/>
              <a:t>0 - 127</a:t>
            </a:r>
          </a:p>
          <a:p>
            <a:pPr marL="285750" indent="-285750">
              <a:buFont typeface="Arial" panose="020B0604020202020204" pitchFamily="34" charset="0"/>
              <a:buChar char="•"/>
            </a:pPr>
            <a:r>
              <a:rPr lang="en-US" dirty="0"/>
              <a:t>Extended ASCII</a:t>
            </a:r>
          </a:p>
          <a:p>
            <a:r>
              <a:rPr lang="en-US" sz="1600" dirty="0"/>
              <a:t>        0 - 255</a:t>
            </a:r>
            <a:endParaRPr lang="en-US" dirty="0"/>
          </a:p>
          <a:p>
            <a:pPr marL="285750" indent="-285750">
              <a:buFont typeface="Arial" panose="020B0604020202020204" pitchFamily="34" charset="0"/>
              <a:buChar char="•"/>
            </a:pPr>
            <a:r>
              <a:rPr lang="en-US" dirty="0"/>
              <a:t>ANSI</a:t>
            </a:r>
          </a:p>
          <a:p>
            <a:r>
              <a:rPr lang="en-US" sz="1600" dirty="0"/>
              <a:t>        0 - 255</a:t>
            </a:r>
            <a:endParaRPr lang="en-US" dirty="0"/>
          </a:p>
          <a:p>
            <a:pPr marL="285750" indent="-285750">
              <a:buFont typeface="Arial" panose="020B0604020202020204" pitchFamily="34" charset="0"/>
              <a:buChar char="•"/>
            </a:pPr>
            <a:r>
              <a:rPr lang="en-US" dirty="0"/>
              <a:t>Unicode</a:t>
            </a:r>
          </a:p>
          <a:p>
            <a:r>
              <a:rPr lang="en-US" dirty="0"/>
              <a:t>       </a:t>
            </a:r>
            <a:r>
              <a:rPr lang="en-US" sz="1600" dirty="0"/>
              <a:t>0 - 65535</a:t>
            </a:r>
          </a:p>
          <a:p>
            <a:endParaRPr lang="en-US" dirty="0"/>
          </a:p>
        </p:txBody>
      </p:sp>
    </p:spTree>
    <p:extLst>
      <p:ext uri="{BB962C8B-B14F-4D97-AF65-F5344CB8AC3E}">
        <p14:creationId xmlns:p14="http://schemas.microsoft.com/office/powerpoint/2010/main" val="3224147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Null-terminated String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751002506"/>
              </p:ext>
            </p:extLst>
          </p:nvPr>
        </p:nvGraphicFramePr>
        <p:xfrm>
          <a:off x="6629400" y="1905000"/>
          <a:ext cx="3048000" cy="3307080"/>
        </p:xfrm>
        <a:graphic>
          <a:graphicData uri="http://schemas.openxmlformats.org/drawingml/2006/table">
            <a:tbl>
              <a:tblPr firstRow="1" firstCol="1" bandRow="1" bandCol="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57200">
                <a:tc>
                  <a:txBody>
                    <a:bodyPr/>
                    <a:lstStyle/>
                    <a:p>
                      <a:pPr marL="0" marR="0" algn="r">
                        <a:spcBef>
                          <a:spcPts val="0"/>
                        </a:spcBef>
                        <a:spcAft>
                          <a:spcPts val="0"/>
                        </a:spcAft>
                      </a:pPr>
                      <a:r>
                        <a:rPr lang="en-US" sz="1400" b="1" dirty="0">
                          <a:effectLst/>
                          <a:latin typeface="Consolas" panose="020B0609020204030204" pitchFamily="49" charset="0"/>
                          <a:cs typeface="Consolas" panose="020B0609020204030204" pitchFamily="49" charset="0"/>
                        </a:rPr>
                        <a:t>Memory Address</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Memory Content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Letter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0"/>
                  </a:ext>
                </a:extLst>
              </a:tr>
              <a:tr h="23691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0x00</a:t>
                      </a:r>
                      <a:endParaRPr lang="en-US" sz="1600" b="1">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\0</a:t>
                      </a:r>
                      <a:endParaRPr lang="en-US" sz="1600" b="1" dirty="0">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1"/>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0x79</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2"/>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+ 10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0x6C</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3"/>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+ 9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4"/>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+ 8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5"/>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+ 7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0x65</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6"/>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+ 6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7"/>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+ 5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8"/>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+ 4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A</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9"/>
                  </a:ext>
                </a:extLst>
              </a:tr>
              <a:tr h="266001">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+ 3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0x20</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space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0"/>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1"/>
                  </a:ext>
                </a:extLst>
              </a:tr>
              <a:tr h="11845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0x52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2"/>
                  </a:ext>
                </a:extLst>
              </a:tr>
              <a:tr h="135735">
                <a:tc>
                  <a:txBody>
                    <a:bodyPr/>
                    <a:lstStyle/>
                    <a:p>
                      <a:pPr marL="0" marR="0" algn="r">
                        <a:spcBef>
                          <a:spcPts val="0"/>
                        </a:spcBef>
                        <a:spcAft>
                          <a:spcPts val="0"/>
                        </a:spcAft>
                      </a:pPr>
                      <a:r>
                        <a:rPr lang="en-US" sz="1400" b="1" dirty="0" err="1">
                          <a:effectLst/>
                          <a:latin typeface="Consolas" panose="020B0609020204030204" pitchFamily="49" charset="0"/>
                          <a:cs typeface="Consolas" panose="020B0609020204030204" pitchFamily="49" charset="0"/>
                        </a:rPr>
                        <a:t>str</a:t>
                      </a:r>
                      <a:r>
                        <a:rPr lang="en-US" sz="1400" b="1" dirty="0">
                          <a:effectLst/>
                          <a:latin typeface="Consolas" panose="020B0609020204030204" pitchFamily="49" charset="0"/>
                          <a:cs typeface="Consolas" panose="020B0609020204030204" pitchFamily="49" charset="0"/>
                        </a:rPr>
                        <a:t> </a:t>
                      </a:r>
                      <a:r>
                        <a:rPr lang="en-US" sz="1400" b="1" dirty="0">
                          <a:effectLst/>
                          <a:latin typeface="Consolas" panose="020B0609020204030204" pitchFamily="49" charset="0"/>
                          <a:cs typeface="Consolas" panose="020B0609020204030204" pitchFamily="49" charset="0"/>
                          <a:sym typeface="Symbol"/>
                        </a:rPr>
                        <a:t></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A</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98299410"/>
              </p:ext>
            </p:extLst>
          </p:nvPr>
        </p:nvGraphicFramePr>
        <p:xfrm>
          <a:off x="647700" y="2324100"/>
          <a:ext cx="4419600" cy="2468880"/>
        </p:xfrm>
        <a:graphic>
          <a:graphicData uri="http://schemas.openxmlformats.org/drawingml/2006/table">
            <a:tbl>
              <a:tblPr firstRow="1" firstCol="1" bandRow="1" bandCol="1">
                <a:tableStyleId>{5C22544A-7EE6-4342-B048-85BDC9FD1C3A}</a:tableStyleId>
              </a:tblPr>
              <a:tblGrid>
                <a:gridCol w="4419600">
                  <a:extLst>
                    <a:ext uri="{9D8B030D-6E8A-4147-A177-3AD203B41FA5}">
                      <a16:colId xmlns:a16="http://schemas.microsoft.com/office/drawing/2014/main" val="20000"/>
                    </a:ext>
                  </a:extLst>
                </a:gridCol>
              </a:tblGrid>
              <a:tr h="1219200">
                <a:tc>
                  <a:txBody>
                    <a:bodyPr/>
                    <a:lstStyle/>
                    <a:p>
                      <a:pPr marL="0" marR="0" algn="l">
                        <a:spcBef>
                          <a:spcPts val="0"/>
                        </a:spcBef>
                        <a:spcAft>
                          <a:spcPts val="0"/>
                        </a:spcAft>
                      </a:pPr>
                      <a:r>
                        <a:rPr lang="en-US" sz="1800" dirty="0">
                          <a:solidFill>
                            <a:srgbClr val="C00000"/>
                          </a:solidFill>
                          <a:effectLst/>
                          <a:latin typeface="Consolas" panose="020B0609020204030204" pitchFamily="49" charset="0"/>
                        </a:rPr>
                        <a:t xml:space="preserve">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[13] = "ARM Assembly";</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The length has to be at least // 13 even though it has 12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letters. The NULL terminator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should be included.</a:t>
                      </a:r>
                    </a:p>
                    <a:p>
                      <a:pPr marL="0" marR="0" algn="l">
                        <a:spcBef>
                          <a:spcPts val="0"/>
                        </a:spcBef>
                        <a:spcAft>
                          <a:spcPts val="0"/>
                        </a:spcAft>
                      </a:pPr>
                      <a:endParaRPr lang="en-US" sz="1800" dirty="0">
                        <a:solidFill>
                          <a:sysClr val="windowText" lastClr="000000"/>
                        </a:solidFill>
                        <a:effectLst/>
                      </a:endParaRPr>
                    </a:p>
                    <a:p>
                      <a:pPr marL="0" marR="0" algn="l">
                        <a:spcBef>
                          <a:spcPts val="0"/>
                        </a:spcBef>
                        <a:spcAft>
                          <a:spcPts val="0"/>
                        </a:spcAft>
                      </a:pPr>
                      <a:r>
                        <a:rPr lang="en-US" sz="1800" dirty="0">
                          <a:solidFill>
                            <a:sysClr val="windowText" lastClr="000000"/>
                          </a:solidFill>
                          <a:effectLst/>
                        </a:rPr>
                        <a:t>or simply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C00000"/>
                          </a:solidFill>
                          <a:effectLst/>
                          <a:latin typeface="Consolas" panose="020B0609020204030204" pitchFamily="49" charset="0"/>
                        </a:rPr>
                        <a:t xml:space="preserve">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 = "ARM Assembly";</a:t>
                      </a:r>
                    </a:p>
                    <a:p>
                      <a:pPr marL="0" marR="0" algn="l">
                        <a:spcBef>
                          <a:spcPts val="0"/>
                        </a:spcBef>
                        <a:spcAft>
                          <a:spcPts val="0"/>
                        </a:spcAft>
                      </a:pPr>
                      <a:endParaRPr lang="en-US" sz="1800" dirty="0">
                        <a:solidFill>
                          <a:sysClr val="windowText" lastClr="000000"/>
                        </a:solidFill>
                        <a:effectLst/>
                        <a:latin typeface="Palatino Linotype"/>
                        <a:ea typeface="宋体"/>
                        <a:cs typeface="Times New Roman"/>
                      </a:endParaRPr>
                    </a:p>
                  </a:txBody>
                  <a:tcPr marL="53307" marR="53307" marT="0" marB="0"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5678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sp>
        <p:nvSpPr>
          <p:cNvPr id="4" name="Content Placeholder 3"/>
          <p:cNvSpPr>
            <a:spLocks noGrp="1"/>
          </p:cNvSpPr>
          <p:nvPr>
            <p:ph sz="quarter" idx="1"/>
          </p:nvPr>
        </p:nvSpPr>
        <p:spPr/>
        <p:txBody>
          <a:bodyPr/>
          <a:lstStyle/>
          <a:p>
            <a:pPr marL="0" indent="0">
              <a:buNone/>
            </a:pPr>
            <a:r>
              <a:rPr lang="en-US" dirty="0"/>
              <a:t>Strings are compared based on their ASCII values</a:t>
            </a:r>
          </a:p>
          <a:p>
            <a:pPr lvl="0"/>
            <a:r>
              <a:rPr lang="en-US" dirty="0"/>
              <a:t>“j” &lt; “jar” &lt; “jargon” &lt; “jargonize”</a:t>
            </a:r>
          </a:p>
          <a:p>
            <a:pPr lvl="0"/>
            <a:r>
              <a:rPr lang="en-US" dirty="0"/>
              <a:t>“CAT” &lt; “Cat” &lt; “DOG” &lt; “Dog” &lt; “cat” &lt; “dog”</a:t>
            </a:r>
          </a:p>
          <a:p>
            <a:pPr lvl="0"/>
            <a:r>
              <a:rPr lang="en-US" dirty="0"/>
              <a:t> “12” &lt; “123” &lt; “2”&lt; “AB” &lt; “Ab” &lt; “ab” &lt; “</a:t>
            </a:r>
            <a:r>
              <a:rPr lang="en-US" dirty="0" err="1"/>
              <a:t>abc</a:t>
            </a:r>
            <a:r>
              <a:rPr lang="en-US" dirty="0"/>
              <a:t>”</a:t>
            </a:r>
          </a:p>
          <a:p>
            <a:pPr marL="0" indent="0">
              <a:buNone/>
            </a:pPr>
            <a:endParaRPr lang="en-US" dirty="0"/>
          </a:p>
        </p:txBody>
      </p:sp>
    </p:spTree>
    <p:extLst>
      <p:ext uri="{BB962C8B-B14F-4D97-AF65-F5344CB8AC3E}">
        <p14:creationId xmlns:p14="http://schemas.microsoft.com/office/powerpoint/2010/main" val="1880513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Length</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6" name="Table 5"/>
          <p:cNvGraphicFramePr>
            <a:graphicFrameLocks noGrp="1"/>
          </p:cNvGraphicFramePr>
          <p:nvPr>
            <p:extLst>
              <p:ext uri="{D42A27DB-BD31-4B8C-83A1-F6EECF244321}">
                <p14:modId xmlns:p14="http://schemas.microsoft.com/office/powerpoint/2010/main" val="354547878"/>
              </p:ext>
            </p:extLst>
          </p:nvPr>
        </p:nvGraphicFramePr>
        <p:xfrm>
          <a:off x="6172200" y="2438401"/>
          <a:ext cx="4038600" cy="2963423"/>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582423">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i</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75798938"/>
              </p:ext>
            </p:extLst>
          </p:nvPr>
        </p:nvGraphicFramePr>
        <p:xfrm>
          <a:off x="1872883" y="2438401"/>
          <a:ext cx="4038600" cy="2991659"/>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p>
                  </a:txBody>
                  <a:tcPr marL="68580" marR="68580" marT="0" marB="0" anchor="ctr"/>
                </a:tc>
                <a:extLst>
                  <a:ext uri="{0D108BD9-81ED-4DB2-BD59-A6C34878D82A}">
                    <a16:rowId xmlns:a16="http://schemas.microsoft.com/office/drawing/2014/main" val="10000"/>
                  </a:ext>
                </a:extLst>
              </a:tr>
              <a:tr h="2610659">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8" name="Content Placeholder 3"/>
          <p:cNvSpPr>
            <a:spLocks noGrp="1"/>
          </p:cNvSpPr>
          <p:nvPr>
            <p:ph sz="quarter" idx="1"/>
          </p:nvPr>
        </p:nvSpPr>
        <p:spPr>
          <a:xfrm>
            <a:off x="609600" y="1512111"/>
            <a:ext cx="8229600" cy="762000"/>
          </a:xfrm>
        </p:spPr>
        <p:txBody>
          <a:bodyPr>
            <a:normAutofit/>
          </a:bodyPr>
          <a:lstStyle/>
          <a:p>
            <a:pPr lvl="0"/>
            <a:r>
              <a:rPr lang="en-US" sz="2000" dirty="0"/>
              <a:t xml:space="preserve">Strings are terminated with a </a:t>
            </a:r>
            <a:r>
              <a:rPr lang="en-US" sz="2000" dirty="0">
                <a:solidFill>
                  <a:srgbClr val="C00000"/>
                </a:solidFill>
              </a:rPr>
              <a:t>null</a:t>
            </a:r>
            <a:r>
              <a:rPr lang="en-US" sz="2000" dirty="0"/>
              <a:t xml:space="preserve"> character (</a:t>
            </a:r>
            <a:r>
              <a:rPr lang="en-US" sz="2000" dirty="0" err="1"/>
              <a:t>NUL</a:t>
            </a:r>
            <a:r>
              <a:rPr lang="en-US" sz="2000" dirty="0"/>
              <a:t xml:space="preserve">, ASCII value </a:t>
            </a:r>
            <a:r>
              <a:rPr lang="en-US" sz="2000" dirty="0" err="1">
                <a:latin typeface="Consolas" panose="020B0609020204030204" pitchFamily="49" charset="0"/>
                <a:cs typeface="Consolas" panose="020B0609020204030204" pitchFamily="49" charset="0"/>
              </a:rPr>
              <a:t>0x00</a:t>
            </a:r>
            <a:r>
              <a:rPr lang="en-US" sz="2000" dirty="0"/>
              <a:t>)</a:t>
            </a:r>
          </a:p>
          <a:p>
            <a:pPr marL="0" indent="0">
              <a:buNone/>
            </a:pPr>
            <a:endParaRPr lang="en-US" sz="2000" dirty="0"/>
          </a:p>
        </p:txBody>
      </p:sp>
    </p:spTree>
    <p:extLst>
      <p:ext uri="{BB962C8B-B14F-4D97-AF65-F5344CB8AC3E}">
        <p14:creationId xmlns:p14="http://schemas.microsoft.com/office/powerpoint/2010/main" val="195466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Upper Case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048896696"/>
              </p:ext>
            </p:extLst>
          </p:nvPr>
        </p:nvGraphicFramePr>
        <p:xfrm>
          <a:off x="1676400" y="3645932"/>
          <a:ext cx="4038600" cy="2362200"/>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26614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096060">
                <a:tc>
                  <a:txBody>
                    <a:bodyPr/>
                    <a:lstStyle/>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void </a:t>
                      </a:r>
                      <a:r>
                        <a:rPr lang="en-US" sz="1600" b="1" dirty="0" err="1">
                          <a:solidFill>
                            <a:sysClr val="windowText" lastClr="000000"/>
                          </a:solidFill>
                          <a:effectLst/>
                          <a:latin typeface="Consolas" panose="020B0609020204030204" pitchFamily="49" charset="0"/>
                          <a:cs typeface="Consolas" panose="020B0609020204030204" pitchFamily="49" charset="0"/>
                        </a:rPr>
                        <a:t>toUpper</a:t>
                      </a:r>
                      <a:r>
                        <a:rPr lang="en-US" sz="1600" b="1" dirty="0">
                          <a:solidFill>
                            <a:sysClr val="windowText" lastClr="000000"/>
                          </a:solidFill>
                          <a:effectLst/>
                          <a:latin typeface="Consolas" panose="020B0609020204030204" pitchFamily="49" charset="0"/>
                          <a:cs typeface="Consolas" panose="020B0609020204030204" pitchFamily="49" charset="0"/>
                        </a:rPr>
                        <a:t>(char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baseline="0" dirty="0">
                          <a:solidFill>
                            <a:sysClr val="windowText" lastClr="000000"/>
                          </a:solidFill>
                          <a:effectLst/>
                          <a:latin typeface="Consolas" panose="020B0609020204030204" pitchFamily="49" charset="0"/>
                          <a:cs typeface="Consolas" panose="020B0609020204030204" pitchFamily="49" charset="0"/>
                        </a:rPr>
                        <a:t>  </a:t>
                      </a:r>
                      <a:r>
                        <a:rPr lang="nn-NO" sz="1600" b="1" baseline="0" dirty="0">
                          <a:solidFill>
                            <a:sysClr val="windowText" lastClr="000000"/>
                          </a:solidFill>
                          <a:effectLst/>
                          <a:latin typeface="Consolas" panose="020B0609020204030204" pitchFamily="49" charset="0"/>
                          <a:cs typeface="Consolas" panose="020B0609020204030204" pitchFamily="49" charset="0"/>
                        </a:rPr>
                        <a:t>char *p = pStr;</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for(; *p; ++p){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xml:space="preserve">    if(*p &gt;= 'a' &amp;&amp; *p &lt;= 'z')</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xml:space="preserve">      </a:t>
                      </a:r>
                      <a:r>
                        <a:rPr lang="en-US" sz="1600" b="1" dirty="0">
                          <a:solidFill>
                            <a:srgbClr val="C00000"/>
                          </a:solidFill>
                          <a:effectLst/>
                          <a:latin typeface="Consolas" panose="020B0609020204030204" pitchFamily="49" charset="0"/>
                          <a:cs typeface="Consolas" panose="020B0609020204030204" pitchFamily="49" charset="0"/>
                        </a:rPr>
                        <a:t>*p -= 'a' - 'A';</a:t>
                      </a:r>
                      <a:endParaRPr lang="en-US" sz="2000" b="1" dirty="0">
                        <a:solidFill>
                          <a:srgbClr val="C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//or: *p -= 32;</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endParaRPr lang="en-US" sz="2000" b="1" dirty="0">
                        <a:solidFill>
                          <a:sysClr val="windowText" lastClr="000000"/>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20952490"/>
              </p:ext>
            </p:extLst>
          </p:nvPr>
        </p:nvGraphicFramePr>
        <p:xfrm>
          <a:off x="5943600" y="3645932"/>
          <a:ext cx="4267200" cy="2521660"/>
        </p:xfrm>
        <a:graphic>
          <a:graphicData uri="http://schemas.openxmlformats.org/drawingml/2006/table">
            <a:tbl>
              <a:tblPr firstRow="1" firstCol="1" bandRow="1">
                <a:tableStyleId>{5C22544A-7EE6-4342-B048-85BDC9FD1C3A}</a:tableStyleId>
              </a:tblPr>
              <a:tblGrid>
                <a:gridCol w="4267200">
                  <a:extLst>
                    <a:ext uri="{9D8B030D-6E8A-4147-A177-3AD203B41FA5}">
                      <a16:colId xmlns:a16="http://schemas.microsoft.com/office/drawing/2014/main" val="20000"/>
                    </a:ext>
                  </a:extLst>
                </a:gridCol>
              </a:tblGrid>
              <a:tr h="272733">
                <a:tc>
                  <a:txBody>
                    <a:bodyPr/>
                    <a:lstStyle/>
                    <a:p>
                      <a:pPr marL="0" marR="0" algn="just">
                        <a:spcBef>
                          <a:spcPts val="0"/>
                        </a:spcBef>
                        <a:spcAft>
                          <a:spcPts val="0"/>
                        </a:spcAft>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248927">
                <a:tc>
                  <a:txBody>
                    <a:bodyPr/>
                    <a:lstStyle/>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void </a:t>
                      </a:r>
                      <a:r>
                        <a:rPr lang="en-US" sz="1600" dirty="0" err="1">
                          <a:solidFill>
                            <a:schemeClr val="tx1"/>
                          </a:solidFill>
                          <a:effectLst/>
                          <a:latin typeface="Consolas" panose="020B0609020204030204" pitchFamily="49" charset="0"/>
                          <a:cs typeface="Consolas" panose="020B0609020204030204" pitchFamily="49" charset="0"/>
                        </a:rPr>
                        <a:t>toUpper</a:t>
                      </a:r>
                      <a:r>
                        <a:rPr lang="en-US" sz="1600" dirty="0">
                          <a:solidFill>
                            <a:schemeClr val="tx1"/>
                          </a:solidFill>
                          <a:effectLst/>
                          <a:latin typeface="Consolas" panose="020B0609020204030204" pitchFamily="49" charset="0"/>
                          <a:cs typeface="Consolas" panose="020B0609020204030204" pitchFamily="49" charset="0"/>
                        </a:rPr>
                        <a:t>(char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int</a:t>
                      </a: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char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[0];</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xml:space="preserve">  for(</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xml:space="preserve"> = 0; c;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xml:space="preserve">++,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xml:space="preserve">    if(c &gt;= 'a' &amp;&amp; c &lt;= 'z')</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xml:space="preserve">      </a:t>
                      </a:r>
                      <a:r>
                        <a:rPr lang="en-US" sz="1600" dirty="0" err="1">
                          <a:solidFill>
                            <a:srgbClr val="C00000"/>
                          </a:solidFill>
                          <a:effectLst/>
                          <a:latin typeface="Consolas" panose="020B0609020204030204" pitchFamily="49" charset="0"/>
                          <a:cs typeface="Consolas" panose="020B0609020204030204" pitchFamily="49" charset="0"/>
                        </a:rPr>
                        <a:t>pStr</a:t>
                      </a:r>
                      <a:r>
                        <a:rPr lang="en-US" sz="1600" dirty="0">
                          <a:solidFill>
                            <a:srgbClr val="C00000"/>
                          </a:solidFill>
                          <a:effectLst/>
                          <a:latin typeface="Consolas" panose="020B0609020204030204" pitchFamily="49" charset="0"/>
                          <a:cs typeface="Consolas" panose="020B0609020204030204" pitchFamily="49" charset="0"/>
                        </a:rPr>
                        <a:t>[</a:t>
                      </a:r>
                      <a:r>
                        <a:rPr lang="en-US" sz="1600" dirty="0" err="1">
                          <a:solidFill>
                            <a:srgbClr val="C00000"/>
                          </a:solidFill>
                          <a:effectLst/>
                          <a:latin typeface="Consolas" panose="020B0609020204030204" pitchFamily="49" charset="0"/>
                          <a:cs typeface="Consolas" panose="020B0609020204030204" pitchFamily="49" charset="0"/>
                        </a:rPr>
                        <a:t>i</a:t>
                      </a:r>
                      <a:r>
                        <a:rPr lang="en-US" sz="1600" dirty="0">
                          <a:solidFill>
                            <a:srgbClr val="C00000"/>
                          </a:solidFill>
                          <a:effectLst/>
                          <a:latin typeface="Consolas" panose="020B0609020204030204" pitchFamily="49" charset="0"/>
                          <a:cs typeface="Consolas" panose="020B0609020204030204" pitchFamily="49" charset="0"/>
                        </a:rPr>
                        <a:t>] -= 'a' - 'A';</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 or: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32;</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a:t>
                      </a:r>
                      <a:endParaRPr lang="en-US" sz="1600"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367866548"/>
              </p:ext>
            </p:extLst>
          </p:nvPr>
        </p:nvGraphicFramePr>
        <p:xfrm>
          <a:off x="1600190" y="1244600"/>
          <a:ext cx="8991606" cy="58420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210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a:latin typeface="Arial" panose="020B0604020202020204" pitchFamily="34" charset="0"/>
                          <a:cs typeface="Arial" panose="020B0604020202020204" pitchFamily="34" charset="0"/>
                        </a:rPr>
                        <a:t>I</a:t>
                      </a: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2100">
                <a:tc>
                  <a:txBody>
                    <a:bodyPr/>
                    <a:lstStyle/>
                    <a:p>
                      <a:pPr algn="ctr"/>
                      <a:r>
                        <a:rPr lang="en-US" sz="1200" b="1" dirty="0">
                          <a:latin typeface="Arial Narrow" panose="020B0606020202030204" pitchFamily="34" charset="0"/>
                          <a:cs typeface="Arial" panose="020B0604020202020204" pitchFamily="34" charset="0"/>
                        </a:rPr>
                        <a:t>41</a:t>
                      </a:r>
                    </a:p>
                  </a:txBody>
                  <a:tcPr anchor="ctr"/>
                </a:tc>
                <a:tc>
                  <a:txBody>
                    <a:bodyPr/>
                    <a:lstStyle/>
                    <a:p>
                      <a:pPr algn="ctr"/>
                      <a:r>
                        <a:rPr lang="en-US" sz="1200" b="1" dirty="0">
                          <a:latin typeface="Arial Narrow" panose="020B0606020202030204" pitchFamily="34" charset="0"/>
                          <a:cs typeface="Arial" panose="020B0604020202020204" pitchFamily="34" charset="0"/>
                        </a:rPr>
                        <a:t>42</a:t>
                      </a:r>
                    </a:p>
                  </a:txBody>
                  <a:tcPr anchor="ctr"/>
                </a:tc>
                <a:tc>
                  <a:txBody>
                    <a:bodyPr/>
                    <a:lstStyle/>
                    <a:p>
                      <a:pPr algn="ctr"/>
                      <a:r>
                        <a:rPr lang="en-US" sz="1200" b="1" dirty="0">
                          <a:latin typeface="Arial Narrow" panose="020B0606020202030204" pitchFamily="34" charset="0"/>
                          <a:cs typeface="Arial" panose="020B0604020202020204" pitchFamily="34" charset="0"/>
                        </a:rPr>
                        <a:t>43</a:t>
                      </a:r>
                    </a:p>
                  </a:txBody>
                  <a:tcPr anchor="ctr"/>
                </a:tc>
                <a:tc>
                  <a:txBody>
                    <a:bodyPr/>
                    <a:lstStyle/>
                    <a:p>
                      <a:pPr algn="ctr"/>
                      <a:r>
                        <a:rPr lang="en-US" sz="1200" b="1" dirty="0">
                          <a:latin typeface="Arial Narrow" panose="020B0606020202030204" pitchFamily="34" charset="0"/>
                          <a:cs typeface="Arial" panose="020B0604020202020204" pitchFamily="34" charset="0"/>
                        </a:rPr>
                        <a:t>44</a:t>
                      </a:r>
                    </a:p>
                  </a:txBody>
                  <a:tcPr anchor="ctr"/>
                </a:tc>
                <a:tc>
                  <a:txBody>
                    <a:bodyPr/>
                    <a:lstStyle/>
                    <a:p>
                      <a:pPr algn="ctr"/>
                      <a:r>
                        <a:rPr lang="en-US" sz="1200" b="1" dirty="0">
                          <a:latin typeface="Arial Narrow" panose="020B0606020202030204" pitchFamily="34" charset="0"/>
                          <a:cs typeface="Arial" panose="020B0604020202020204" pitchFamily="34" charset="0"/>
                        </a:rPr>
                        <a:t>45</a:t>
                      </a:r>
                    </a:p>
                  </a:txBody>
                  <a:tcPr anchor="ctr"/>
                </a:tc>
                <a:tc>
                  <a:txBody>
                    <a:bodyPr/>
                    <a:lstStyle/>
                    <a:p>
                      <a:pPr algn="ctr"/>
                      <a:r>
                        <a:rPr lang="en-US" sz="1200" b="1" dirty="0">
                          <a:latin typeface="Arial Narrow" panose="020B0606020202030204" pitchFamily="34" charset="0"/>
                          <a:cs typeface="Arial" panose="020B0604020202020204" pitchFamily="34" charset="0"/>
                        </a:rPr>
                        <a:t>46</a:t>
                      </a:r>
                    </a:p>
                  </a:txBody>
                  <a:tcPr anchor="ctr"/>
                </a:tc>
                <a:tc>
                  <a:txBody>
                    <a:bodyPr/>
                    <a:lstStyle/>
                    <a:p>
                      <a:pPr algn="ctr"/>
                      <a:r>
                        <a:rPr lang="en-US" sz="1200" b="1" dirty="0">
                          <a:latin typeface="Arial Narrow" panose="020B0606020202030204" pitchFamily="34" charset="0"/>
                          <a:cs typeface="Arial" panose="020B0604020202020204" pitchFamily="34" charset="0"/>
                        </a:rPr>
                        <a:t>47</a:t>
                      </a:r>
                    </a:p>
                  </a:txBody>
                  <a:tcPr anchor="ctr"/>
                </a:tc>
                <a:tc>
                  <a:txBody>
                    <a:bodyPr/>
                    <a:lstStyle/>
                    <a:p>
                      <a:pPr algn="ctr"/>
                      <a:r>
                        <a:rPr lang="en-US" sz="1200" b="1" dirty="0">
                          <a:latin typeface="Arial Narrow" panose="020B0606020202030204" pitchFamily="34" charset="0"/>
                          <a:cs typeface="Arial" panose="020B0604020202020204" pitchFamily="34" charset="0"/>
                        </a:rPr>
                        <a:t>48</a:t>
                      </a:r>
                    </a:p>
                  </a:txBody>
                  <a:tcPr anchor="ctr"/>
                </a:tc>
                <a:tc>
                  <a:txBody>
                    <a:bodyPr/>
                    <a:lstStyle/>
                    <a:p>
                      <a:pPr algn="ctr"/>
                      <a:r>
                        <a:rPr lang="en-US" sz="1200" b="1" dirty="0">
                          <a:latin typeface="Arial Narrow" panose="020B0606020202030204" pitchFamily="34" charset="0"/>
                          <a:cs typeface="Arial" panose="020B0604020202020204" pitchFamily="34" charset="0"/>
                        </a:rPr>
                        <a:t>49</a:t>
                      </a:r>
                    </a:p>
                  </a:txBody>
                  <a:tcPr anchor="ctr"/>
                </a:tc>
                <a:tc>
                  <a:txBody>
                    <a:bodyPr/>
                    <a:lstStyle/>
                    <a:p>
                      <a:r>
                        <a:rPr lang="en-US" sz="1200" b="1" dirty="0" err="1">
                          <a:latin typeface="Arial Narrow" panose="020B0606020202030204" pitchFamily="34" charset="0"/>
                        </a:rPr>
                        <a:t>4A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50</a:t>
                      </a:r>
                    </a:p>
                  </a:txBody>
                  <a:tcPr anchor="ctr"/>
                </a:tc>
                <a:tc>
                  <a:txBody>
                    <a:bodyPr/>
                    <a:lstStyle/>
                    <a:p>
                      <a:pPr algn="ctr"/>
                      <a:r>
                        <a:rPr lang="en-US" sz="1200" b="1" dirty="0">
                          <a:latin typeface="Arial Narrow" panose="020B0606020202030204" pitchFamily="34" charset="0"/>
                          <a:cs typeface="Arial" panose="020B0604020202020204" pitchFamily="34" charset="0"/>
                        </a:rPr>
                        <a:t>51</a:t>
                      </a:r>
                    </a:p>
                  </a:txBody>
                  <a:tcPr anchor="ctr"/>
                </a:tc>
                <a:tc>
                  <a:txBody>
                    <a:bodyPr/>
                    <a:lstStyle/>
                    <a:p>
                      <a:pPr algn="ctr"/>
                      <a:r>
                        <a:rPr lang="en-US" sz="1200" b="1" dirty="0">
                          <a:latin typeface="Arial Narrow" panose="020B0606020202030204" pitchFamily="34" charset="0"/>
                          <a:cs typeface="Arial" panose="020B0604020202020204" pitchFamily="34" charset="0"/>
                        </a:rPr>
                        <a:t>52</a:t>
                      </a:r>
                    </a:p>
                  </a:txBody>
                  <a:tcPr anchor="ctr"/>
                </a:tc>
                <a:tc>
                  <a:txBody>
                    <a:bodyPr/>
                    <a:lstStyle/>
                    <a:p>
                      <a:pPr algn="ctr"/>
                      <a:r>
                        <a:rPr lang="en-US" sz="1200" b="1" dirty="0">
                          <a:latin typeface="Arial Narrow" panose="020B0606020202030204" pitchFamily="34" charset="0"/>
                          <a:cs typeface="Arial" panose="020B0604020202020204" pitchFamily="34" charset="0"/>
                        </a:rPr>
                        <a:t>53</a:t>
                      </a:r>
                    </a:p>
                  </a:txBody>
                  <a:tcPr anchor="ctr"/>
                </a:tc>
                <a:tc>
                  <a:txBody>
                    <a:bodyPr/>
                    <a:lstStyle/>
                    <a:p>
                      <a:pPr algn="ctr"/>
                      <a:r>
                        <a:rPr lang="en-US" sz="1200" b="1" dirty="0">
                          <a:latin typeface="Arial Narrow" panose="020B0606020202030204" pitchFamily="34" charset="0"/>
                          <a:cs typeface="Arial" panose="020B0604020202020204" pitchFamily="34" charset="0"/>
                        </a:rPr>
                        <a:t>54</a:t>
                      </a:r>
                    </a:p>
                  </a:txBody>
                  <a:tcPr anchor="ctr"/>
                </a:tc>
                <a:tc>
                  <a:txBody>
                    <a:bodyPr/>
                    <a:lstStyle/>
                    <a:p>
                      <a:pPr algn="ctr"/>
                      <a:r>
                        <a:rPr lang="en-US" sz="1200" b="1" dirty="0">
                          <a:latin typeface="Arial Narrow" panose="020B0606020202030204" pitchFamily="34" charset="0"/>
                          <a:cs typeface="Arial" panose="020B0604020202020204" pitchFamily="34" charset="0"/>
                        </a:rPr>
                        <a:t>55</a:t>
                      </a:r>
                    </a:p>
                  </a:txBody>
                  <a:tcPr anchor="ctr"/>
                </a:tc>
                <a:tc>
                  <a:txBody>
                    <a:bodyPr/>
                    <a:lstStyle/>
                    <a:p>
                      <a:pPr algn="ctr"/>
                      <a:r>
                        <a:rPr lang="en-US" sz="1200" b="1" dirty="0">
                          <a:latin typeface="Arial Narrow" panose="020B0606020202030204" pitchFamily="34" charset="0"/>
                          <a:cs typeface="Arial" panose="020B0604020202020204" pitchFamily="34" charset="0"/>
                        </a:rPr>
                        <a:t>56</a:t>
                      </a:r>
                    </a:p>
                  </a:txBody>
                  <a:tcPr anchor="ctr"/>
                </a:tc>
                <a:tc>
                  <a:txBody>
                    <a:bodyPr/>
                    <a:lstStyle/>
                    <a:p>
                      <a:pPr algn="ctr"/>
                      <a:r>
                        <a:rPr lang="en-US" sz="1200" b="1" dirty="0">
                          <a:latin typeface="Arial Narrow" panose="020B0606020202030204" pitchFamily="34" charset="0"/>
                          <a:cs typeface="Arial" panose="020B0604020202020204" pitchFamily="34" charset="0"/>
                        </a:rPr>
                        <a:t>57</a:t>
                      </a:r>
                    </a:p>
                  </a:txBody>
                  <a:tcPr anchor="ctr"/>
                </a:tc>
                <a:tc>
                  <a:txBody>
                    <a:bodyPr/>
                    <a:lstStyle/>
                    <a:p>
                      <a:pPr algn="ctr"/>
                      <a:r>
                        <a:rPr lang="en-US" sz="1200" b="1" dirty="0">
                          <a:latin typeface="Arial Narrow" panose="020B0606020202030204" pitchFamily="34" charset="0"/>
                          <a:cs typeface="Arial" panose="020B0604020202020204" pitchFamily="34" charset="0"/>
                        </a:rPr>
                        <a:t>58</a:t>
                      </a:r>
                    </a:p>
                  </a:txBody>
                  <a:tcPr anchor="ctr"/>
                </a:tc>
                <a:tc>
                  <a:txBody>
                    <a:bodyPr/>
                    <a:lstStyle/>
                    <a:p>
                      <a:pPr algn="ctr"/>
                      <a:r>
                        <a:rPr lang="en-US" sz="1200" b="1" dirty="0">
                          <a:latin typeface="Arial Narrow" panose="020B0606020202030204" pitchFamily="34" charset="0"/>
                          <a:cs typeface="Arial" panose="020B0604020202020204" pitchFamily="34" charset="0"/>
                        </a:rPr>
                        <a:t>59</a:t>
                      </a:r>
                    </a:p>
                  </a:txBody>
                  <a:tcPr anchor="ctr"/>
                </a:tc>
                <a:tc>
                  <a:txBody>
                    <a:bodyPr/>
                    <a:lstStyle/>
                    <a:p>
                      <a:pPr algn="ctr"/>
                      <a:r>
                        <a:rPr lang="en-US" sz="1200" b="1" dirty="0" err="1">
                          <a:latin typeface="Arial Narrow" panose="020B0606020202030204" pitchFamily="34" charset="0"/>
                          <a:cs typeface="Arial" panose="020B0604020202020204" pitchFamily="34" charset="0"/>
                        </a:rPr>
                        <a:t>5A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78243730"/>
              </p:ext>
            </p:extLst>
          </p:nvPr>
        </p:nvGraphicFramePr>
        <p:xfrm>
          <a:off x="1600200" y="2077720"/>
          <a:ext cx="8991606" cy="58928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464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err="1">
                          <a:latin typeface="Arial" panose="020B0604020202020204" pitchFamily="34" charset="0"/>
                          <a:cs typeface="Arial" panose="020B0604020202020204" pitchFamily="34" charset="0"/>
                        </a:rPr>
                        <a:t>i</a:t>
                      </a:r>
                      <a:endParaRPr lang="en-US" sz="1200" dirty="0">
                        <a:latin typeface="Arial" panose="020B0604020202020204" pitchFamily="34" charset="0"/>
                        <a:cs typeface="Arial" panose="020B0604020202020204" pitchFamily="34" charset="0"/>
                      </a:endParaRP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4640">
                <a:tc>
                  <a:txBody>
                    <a:bodyPr/>
                    <a:lstStyle/>
                    <a:p>
                      <a:pPr algn="ctr"/>
                      <a:r>
                        <a:rPr lang="en-US" sz="1200" b="1" dirty="0">
                          <a:latin typeface="Arial Narrow" panose="020B0606020202030204" pitchFamily="34" charset="0"/>
                          <a:cs typeface="Arial" panose="020B0604020202020204" pitchFamily="34" charset="0"/>
                        </a:rPr>
                        <a:t>61</a:t>
                      </a:r>
                    </a:p>
                  </a:txBody>
                  <a:tcPr anchor="ctr"/>
                </a:tc>
                <a:tc>
                  <a:txBody>
                    <a:bodyPr/>
                    <a:lstStyle/>
                    <a:p>
                      <a:pPr algn="ctr"/>
                      <a:r>
                        <a:rPr lang="en-US" sz="1200" b="1" dirty="0">
                          <a:latin typeface="Arial Narrow" panose="020B0606020202030204" pitchFamily="34" charset="0"/>
                          <a:cs typeface="Arial" panose="020B0604020202020204" pitchFamily="34" charset="0"/>
                        </a:rPr>
                        <a:t>62</a:t>
                      </a:r>
                    </a:p>
                  </a:txBody>
                  <a:tcPr anchor="ctr"/>
                </a:tc>
                <a:tc>
                  <a:txBody>
                    <a:bodyPr/>
                    <a:lstStyle/>
                    <a:p>
                      <a:pPr algn="ctr"/>
                      <a:r>
                        <a:rPr lang="en-US" sz="1200" b="1" dirty="0">
                          <a:latin typeface="Arial Narrow" panose="020B0606020202030204" pitchFamily="34" charset="0"/>
                          <a:cs typeface="Arial" panose="020B0604020202020204" pitchFamily="34" charset="0"/>
                        </a:rPr>
                        <a:t>63</a:t>
                      </a:r>
                    </a:p>
                  </a:txBody>
                  <a:tcPr anchor="ctr"/>
                </a:tc>
                <a:tc>
                  <a:txBody>
                    <a:bodyPr/>
                    <a:lstStyle/>
                    <a:p>
                      <a:pPr algn="ctr"/>
                      <a:r>
                        <a:rPr lang="en-US" sz="1200" b="1" dirty="0">
                          <a:latin typeface="Arial Narrow" panose="020B0606020202030204" pitchFamily="34" charset="0"/>
                          <a:cs typeface="Arial" panose="020B0604020202020204" pitchFamily="34" charset="0"/>
                        </a:rPr>
                        <a:t>64</a:t>
                      </a:r>
                    </a:p>
                  </a:txBody>
                  <a:tcPr anchor="ctr"/>
                </a:tc>
                <a:tc>
                  <a:txBody>
                    <a:bodyPr/>
                    <a:lstStyle/>
                    <a:p>
                      <a:pPr algn="ctr"/>
                      <a:r>
                        <a:rPr lang="en-US" sz="1200" b="1" dirty="0">
                          <a:latin typeface="Arial Narrow" panose="020B0606020202030204" pitchFamily="34" charset="0"/>
                          <a:cs typeface="Arial" panose="020B0604020202020204" pitchFamily="34" charset="0"/>
                        </a:rPr>
                        <a:t>65</a:t>
                      </a:r>
                    </a:p>
                  </a:txBody>
                  <a:tcPr anchor="ctr"/>
                </a:tc>
                <a:tc>
                  <a:txBody>
                    <a:bodyPr/>
                    <a:lstStyle/>
                    <a:p>
                      <a:pPr algn="ctr"/>
                      <a:r>
                        <a:rPr lang="en-US" sz="1200" b="1" dirty="0">
                          <a:latin typeface="Arial Narrow" panose="020B0606020202030204" pitchFamily="34" charset="0"/>
                          <a:cs typeface="Arial" panose="020B0604020202020204" pitchFamily="34" charset="0"/>
                        </a:rPr>
                        <a:t>66</a:t>
                      </a:r>
                    </a:p>
                  </a:txBody>
                  <a:tcPr anchor="ctr"/>
                </a:tc>
                <a:tc>
                  <a:txBody>
                    <a:bodyPr/>
                    <a:lstStyle/>
                    <a:p>
                      <a:pPr algn="ctr"/>
                      <a:r>
                        <a:rPr lang="en-US" sz="1200" b="1" dirty="0">
                          <a:latin typeface="Arial Narrow" panose="020B0606020202030204" pitchFamily="34" charset="0"/>
                          <a:cs typeface="Arial" panose="020B0604020202020204" pitchFamily="34" charset="0"/>
                        </a:rPr>
                        <a:t>67</a:t>
                      </a:r>
                    </a:p>
                  </a:txBody>
                  <a:tcPr anchor="ctr"/>
                </a:tc>
                <a:tc>
                  <a:txBody>
                    <a:bodyPr/>
                    <a:lstStyle/>
                    <a:p>
                      <a:pPr algn="ctr"/>
                      <a:r>
                        <a:rPr lang="en-US" sz="1200" b="1" dirty="0">
                          <a:latin typeface="Arial Narrow" panose="020B0606020202030204" pitchFamily="34" charset="0"/>
                          <a:cs typeface="Arial" panose="020B0604020202020204" pitchFamily="34" charset="0"/>
                        </a:rPr>
                        <a:t>68</a:t>
                      </a:r>
                    </a:p>
                  </a:txBody>
                  <a:tcPr anchor="ctr"/>
                </a:tc>
                <a:tc>
                  <a:txBody>
                    <a:bodyPr/>
                    <a:lstStyle/>
                    <a:p>
                      <a:pPr algn="ctr"/>
                      <a:r>
                        <a:rPr lang="en-US" sz="1200" b="1" dirty="0">
                          <a:latin typeface="Arial Narrow" panose="020B0606020202030204" pitchFamily="34" charset="0"/>
                          <a:cs typeface="Arial" panose="020B0604020202020204" pitchFamily="34" charset="0"/>
                        </a:rPr>
                        <a:t>69</a:t>
                      </a:r>
                    </a:p>
                  </a:txBody>
                  <a:tcPr anchor="ctr"/>
                </a:tc>
                <a:tc>
                  <a:txBody>
                    <a:bodyPr/>
                    <a:lstStyle/>
                    <a:p>
                      <a:r>
                        <a:rPr lang="en-US" sz="1200" b="1" dirty="0" err="1">
                          <a:latin typeface="Arial Narrow" panose="020B0606020202030204" pitchFamily="34" charset="0"/>
                        </a:rPr>
                        <a:t>6A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70</a:t>
                      </a:r>
                    </a:p>
                  </a:txBody>
                  <a:tcPr anchor="ctr"/>
                </a:tc>
                <a:tc>
                  <a:txBody>
                    <a:bodyPr/>
                    <a:lstStyle/>
                    <a:p>
                      <a:pPr algn="ctr"/>
                      <a:r>
                        <a:rPr lang="en-US" sz="1200" b="1" dirty="0">
                          <a:latin typeface="Arial Narrow" panose="020B0606020202030204" pitchFamily="34" charset="0"/>
                          <a:cs typeface="Arial" panose="020B0604020202020204" pitchFamily="34" charset="0"/>
                        </a:rPr>
                        <a:t>71</a:t>
                      </a:r>
                    </a:p>
                  </a:txBody>
                  <a:tcPr anchor="ctr"/>
                </a:tc>
                <a:tc>
                  <a:txBody>
                    <a:bodyPr/>
                    <a:lstStyle/>
                    <a:p>
                      <a:pPr algn="ctr"/>
                      <a:r>
                        <a:rPr lang="en-US" sz="1200" b="1" dirty="0">
                          <a:latin typeface="Arial Narrow" panose="020B0606020202030204" pitchFamily="34" charset="0"/>
                          <a:cs typeface="Arial" panose="020B0604020202020204" pitchFamily="34" charset="0"/>
                        </a:rPr>
                        <a:t>72</a:t>
                      </a:r>
                    </a:p>
                  </a:txBody>
                  <a:tcPr anchor="ctr"/>
                </a:tc>
                <a:tc>
                  <a:txBody>
                    <a:bodyPr/>
                    <a:lstStyle/>
                    <a:p>
                      <a:pPr algn="ctr"/>
                      <a:r>
                        <a:rPr lang="en-US" sz="1200" b="1" dirty="0">
                          <a:latin typeface="Arial Narrow" panose="020B0606020202030204" pitchFamily="34" charset="0"/>
                          <a:cs typeface="Arial" panose="020B0604020202020204" pitchFamily="34" charset="0"/>
                        </a:rPr>
                        <a:t>73</a:t>
                      </a:r>
                    </a:p>
                  </a:txBody>
                  <a:tcPr anchor="ctr"/>
                </a:tc>
                <a:tc>
                  <a:txBody>
                    <a:bodyPr/>
                    <a:lstStyle/>
                    <a:p>
                      <a:pPr algn="ctr"/>
                      <a:r>
                        <a:rPr lang="en-US" sz="1200" b="1" dirty="0">
                          <a:latin typeface="Arial Narrow" panose="020B0606020202030204" pitchFamily="34" charset="0"/>
                          <a:cs typeface="Arial" panose="020B0604020202020204" pitchFamily="34" charset="0"/>
                        </a:rPr>
                        <a:t>74</a:t>
                      </a:r>
                    </a:p>
                  </a:txBody>
                  <a:tcPr anchor="ctr"/>
                </a:tc>
                <a:tc>
                  <a:txBody>
                    <a:bodyPr/>
                    <a:lstStyle/>
                    <a:p>
                      <a:pPr algn="ctr"/>
                      <a:r>
                        <a:rPr lang="en-US" sz="1200" b="1" dirty="0">
                          <a:latin typeface="Arial Narrow" panose="020B0606020202030204" pitchFamily="34" charset="0"/>
                          <a:cs typeface="Arial" panose="020B0604020202020204" pitchFamily="34" charset="0"/>
                        </a:rPr>
                        <a:t>75</a:t>
                      </a:r>
                    </a:p>
                  </a:txBody>
                  <a:tcPr anchor="ctr"/>
                </a:tc>
                <a:tc>
                  <a:txBody>
                    <a:bodyPr/>
                    <a:lstStyle/>
                    <a:p>
                      <a:pPr algn="ctr"/>
                      <a:r>
                        <a:rPr lang="en-US" sz="1200" b="1" dirty="0">
                          <a:latin typeface="Arial Narrow" panose="020B0606020202030204" pitchFamily="34" charset="0"/>
                          <a:cs typeface="Arial" panose="020B0604020202020204" pitchFamily="34" charset="0"/>
                        </a:rPr>
                        <a:t>76</a:t>
                      </a:r>
                    </a:p>
                  </a:txBody>
                  <a:tcPr anchor="ctr"/>
                </a:tc>
                <a:tc>
                  <a:txBody>
                    <a:bodyPr/>
                    <a:lstStyle/>
                    <a:p>
                      <a:pPr algn="ctr"/>
                      <a:r>
                        <a:rPr lang="en-US" sz="1200" b="1" dirty="0">
                          <a:latin typeface="Arial Narrow" panose="020B0606020202030204" pitchFamily="34" charset="0"/>
                          <a:cs typeface="Arial" panose="020B0604020202020204" pitchFamily="34" charset="0"/>
                        </a:rPr>
                        <a:t>77</a:t>
                      </a:r>
                    </a:p>
                  </a:txBody>
                  <a:tcPr anchor="ctr"/>
                </a:tc>
                <a:tc>
                  <a:txBody>
                    <a:bodyPr/>
                    <a:lstStyle/>
                    <a:p>
                      <a:pPr algn="ctr"/>
                      <a:r>
                        <a:rPr lang="en-US" sz="1200" b="1" dirty="0">
                          <a:latin typeface="Arial Narrow" panose="020B0606020202030204" pitchFamily="34" charset="0"/>
                          <a:cs typeface="Arial" panose="020B0604020202020204" pitchFamily="34" charset="0"/>
                        </a:rPr>
                        <a:t>78</a:t>
                      </a:r>
                    </a:p>
                  </a:txBody>
                  <a:tcPr anchor="ctr"/>
                </a:tc>
                <a:tc>
                  <a:txBody>
                    <a:bodyPr/>
                    <a:lstStyle/>
                    <a:p>
                      <a:pPr algn="ctr"/>
                      <a:r>
                        <a:rPr lang="en-US" sz="1200" b="1" dirty="0">
                          <a:latin typeface="Arial Narrow" panose="020B0606020202030204" pitchFamily="34" charset="0"/>
                          <a:cs typeface="Arial" panose="020B0604020202020204" pitchFamily="34" charset="0"/>
                        </a:rPr>
                        <a:t>79</a:t>
                      </a:r>
                    </a:p>
                  </a:txBody>
                  <a:tcPr anchor="ctr"/>
                </a:tc>
                <a:tc>
                  <a:txBody>
                    <a:bodyPr/>
                    <a:lstStyle/>
                    <a:p>
                      <a:pPr algn="ctr"/>
                      <a:r>
                        <a:rPr lang="en-US" sz="1200" b="1" dirty="0" err="1">
                          <a:latin typeface="Arial Narrow" panose="020B0606020202030204" pitchFamily="34" charset="0"/>
                          <a:cs typeface="Arial" panose="020B0604020202020204" pitchFamily="34" charset="0"/>
                        </a:rPr>
                        <a:t>7A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sp>
        <p:nvSpPr>
          <p:cNvPr id="11" name="TextBox 10"/>
          <p:cNvSpPr txBox="1"/>
          <p:nvPr/>
        </p:nvSpPr>
        <p:spPr>
          <a:xfrm>
            <a:off x="3505200" y="2971800"/>
            <a:ext cx="4616970"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‘a’ – ‘A’ = </a:t>
            </a:r>
            <a:r>
              <a:rPr lang="en-US" b="1" dirty="0" err="1">
                <a:solidFill>
                  <a:srgbClr val="C00000"/>
                </a:solidFill>
                <a:latin typeface="Consolas" panose="020B0609020204030204" pitchFamily="49" charset="0"/>
                <a:cs typeface="Consolas" panose="020B0609020204030204" pitchFamily="49" charset="0"/>
              </a:rPr>
              <a:t>0x61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0x41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0x20</a:t>
            </a:r>
            <a:r>
              <a:rPr lang="en-US" b="1" dirty="0">
                <a:solidFill>
                  <a:srgbClr val="C00000"/>
                </a:solidFill>
                <a:latin typeface="Consolas" panose="020B0609020204030204" pitchFamily="49" charset="0"/>
                <a:cs typeface="Consolas" panose="020B0609020204030204" pitchFamily="49" charset="0"/>
              </a:rPr>
              <a:t> = 32</a:t>
            </a:r>
          </a:p>
        </p:txBody>
      </p:sp>
    </p:spTree>
    <p:extLst>
      <p:ext uri="{BB962C8B-B14F-4D97-AF65-F5344CB8AC3E}">
        <p14:creationId xmlns:p14="http://schemas.microsoft.com/office/powerpoint/2010/main" val="370568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0391-9D8B-B9EB-AFDC-D5D3E66D508A}"/>
              </a:ext>
            </a:extLst>
          </p:cNvPr>
          <p:cNvSpPr>
            <a:spLocks noGrp="1"/>
          </p:cNvSpPr>
          <p:nvPr>
            <p:ph type="title"/>
          </p:nvPr>
        </p:nvSpPr>
        <p:spPr/>
        <p:txBody>
          <a:bodyPr/>
          <a:lstStyle/>
          <a:p>
            <a:endParaRPr lang="zh-CN" altLang="en-US"/>
          </a:p>
        </p:txBody>
      </p:sp>
      <p:sp>
        <p:nvSpPr>
          <p:cNvPr id="3" name="Slide Number Placeholder 2">
            <a:extLst>
              <a:ext uri="{FF2B5EF4-FFF2-40B4-BE49-F238E27FC236}">
                <a16:creationId xmlns:a16="http://schemas.microsoft.com/office/drawing/2014/main" id="{A599C9BE-0896-1187-1CE8-1E59634D9354}"/>
              </a:ext>
            </a:extLst>
          </p:cNvPr>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a:extLst>
              <a:ext uri="{FF2B5EF4-FFF2-40B4-BE49-F238E27FC236}">
                <a16:creationId xmlns:a16="http://schemas.microsoft.com/office/drawing/2014/main" id="{83476E13-C797-1D51-1ABE-CF02FF6FD796}"/>
              </a:ext>
            </a:extLst>
          </p:cNvPr>
          <p:cNvSpPr>
            <a:spLocks noGrp="1"/>
          </p:cNvSpPr>
          <p:nvPr>
            <p:ph sz="quarter" idx="1"/>
          </p:nvPr>
        </p:nvSpPr>
        <p:spPr/>
        <p:txBody>
          <a:bodyPr/>
          <a:lstStyle/>
          <a:p>
            <a:endParaRPr lang="zh-CN" altLang="en-US"/>
          </a:p>
        </p:txBody>
      </p:sp>
    </p:spTree>
    <p:extLst>
      <p:ext uri="{BB962C8B-B14F-4D97-AF65-F5344CB8AC3E}">
        <p14:creationId xmlns:p14="http://schemas.microsoft.com/office/powerpoint/2010/main" val="1569546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noAutofit/>
          </a:bodyPr>
          <a:lstStyle/>
          <a:p>
            <a:r>
              <a:rPr lang="en-GB" sz="2800" dirty="0"/>
              <a:t>Unsigned integer arithmetic</a:t>
            </a:r>
          </a:p>
          <a:p>
            <a:r>
              <a:rPr lang="en-GB" sz="2800" dirty="0"/>
              <a:t>Signed integer arithmetic</a:t>
            </a:r>
          </a:p>
          <a:p>
            <a:pPr lvl="1"/>
            <a:r>
              <a:rPr lang="en-GB" sz="2500" dirty="0"/>
              <a:t>2’s complement</a:t>
            </a:r>
          </a:p>
          <a:p>
            <a:r>
              <a:rPr lang="en-US" sz="2800" dirty="0"/>
              <a:t>Carry and Overflow Flags</a:t>
            </a:r>
          </a:p>
          <a:p>
            <a:pPr lvl="1"/>
            <a:r>
              <a:rPr lang="en-US" sz="2500" dirty="0"/>
              <a:t>Carry answers: “Did unsigned math overflow?”</a:t>
            </a:r>
          </a:p>
          <a:p>
            <a:pPr lvl="1"/>
            <a:r>
              <a:rPr lang="en-US" sz="2500" dirty="0"/>
              <a:t>Overflow answers: “Did signed math overflow?”</a:t>
            </a:r>
          </a:p>
          <a:p>
            <a:pPr lvl="1"/>
            <a:r>
              <a:rPr lang="en-US" sz="2500" dirty="0"/>
              <a:t>Hardware sets both. Software decides which one is used</a:t>
            </a:r>
            <a:endParaRPr lang="en-GB" sz="2500" dirty="0"/>
          </a:p>
          <a:p>
            <a:r>
              <a:rPr lang="en-GB" sz="2800" dirty="0"/>
              <a:t>ASCII strings</a:t>
            </a:r>
          </a:p>
          <a:p>
            <a:endParaRPr lang="en-GB" sz="2500" dirty="0"/>
          </a:p>
        </p:txBody>
      </p:sp>
      <p:sp>
        <p:nvSpPr>
          <p:cNvPr id="4" name="Slide Number Placeholder 3"/>
          <p:cNvSpPr>
            <a:spLocks noGrp="1"/>
          </p:cNvSpPr>
          <p:nvPr>
            <p:ph type="sldNum" sz="quarter" idx="4294967295"/>
          </p:nvPr>
        </p:nvSpPr>
        <p:spPr/>
        <p:txBody>
          <a:bodyPr/>
          <a:lstStyle/>
          <a:p>
            <a:fld id="{EA7C8D44-3667-46F6-9772-CC52308E2A7F}" type="slidenum">
              <a:rPr kumimoji="0" lang="en-US" smtClean="0"/>
              <a:pPr/>
              <a:t>42</a:t>
            </a:fld>
            <a:endParaRPr kumimoji="0" lang="en-US" dirty="0"/>
          </a:p>
        </p:txBody>
      </p:sp>
    </p:spTree>
    <p:extLst>
      <p:ext uri="{BB962C8B-B14F-4D97-AF65-F5344CB8AC3E}">
        <p14:creationId xmlns:p14="http://schemas.microsoft.com/office/powerpoint/2010/main" val="3344429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CB23D-EFE6-FA45-DAF9-9FF26087AA9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8866A56-D44E-D648-C861-46FA398FDE43}"/>
              </a:ext>
            </a:extLst>
          </p:cNvPr>
          <p:cNvSpPr>
            <a:spLocks noGrp="1"/>
          </p:cNvSpPr>
          <p:nvPr>
            <p:ph sz="quarter" idx="1"/>
          </p:nvPr>
        </p:nvSpPr>
        <p:spPr/>
        <p:txBody>
          <a:bodyPr/>
          <a:lstStyle/>
          <a:p>
            <a:r>
              <a:rPr lang="en-US" dirty="0"/>
              <a:t>Lecture 1. Why use two's complement?</a:t>
            </a:r>
          </a:p>
          <a:p>
            <a:pPr lvl="1"/>
            <a:r>
              <a:rPr lang="en-US" dirty="0">
                <a:hlinkClick r:id="rId2"/>
              </a:rPr>
              <a:t>https://www.youtube.com/watch?v=lJCefqV80ck&amp;list=PLRJhV4hUhIymmp5CCeIFPyxbknsdcXCc8&amp;index=1</a:t>
            </a:r>
            <a:r>
              <a:rPr lang="en-US" dirty="0"/>
              <a:t> </a:t>
            </a:r>
          </a:p>
          <a:p>
            <a:r>
              <a:rPr lang="en-US" dirty="0"/>
              <a:t>Lecture 2: Carry flag for unsigned addition and subtraction</a:t>
            </a:r>
          </a:p>
          <a:p>
            <a:pPr lvl="1"/>
            <a:r>
              <a:rPr lang="en-US" dirty="0">
                <a:hlinkClick r:id="rId3"/>
              </a:rPr>
              <a:t>https://www.youtube.com/watch?v=MxGW2WurKuM&amp;list=PLRJhV4hUhIymmp5CCeIFPyxbknsdcXCc8&amp;index=2</a:t>
            </a:r>
            <a:endParaRPr lang="en-US" dirty="0"/>
          </a:p>
          <a:p>
            <a:r>
              <a:rPr lang="en-US" dirty="0"/>
              <a:t>Lecture 3: Overflow flag for signed addition and subtraction</a:t>
            </a:r>
          </a:p>
          <a:p>
            <a:pPr lvl="1"/>
            <a:r>
              <a:rPr lang="en-US" dirty="0">
                <a:hlinkClick r:id="rId4"/>
              </a:rPr>
              <a:t>https://www.youtube.com/watch?v=BIn6iyYIGio&amp;list=PLRJhV4hUhIymmp5CCeIFPyxbknsdcXCc8&amp;index=3</a:t>
            </a:r>
            <a:r>
              <a:rPr lang="en-US" dirty="0"/>
              <a:t> </a:t>
            </a:r>
          </a:p>
        </p:txBody>
      </p:sp>
    </p:spTree>
    <p:extLst>
      <p:ext uri="{BB962C8B-B14F-4D97-AF65-F5344CB8AC3E}">
        <p14:creationId xmlns:p14="http://schemas.microsoft.com/office/powerpoint/2010/main" val="40097541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3138</TotalTime>
  <Words>5092</Words>
  <Application>Microsoft Office PowerPoint</Application>
  <PresentationFormat>Widescreen</PresentationFormat>
  <Paragraphs>1289</Paragraphs>
  <Slides>43</Slides>
  <Notes>21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43</vt:i4>
      </vt:variant>
    </vt:vector>
  </HeadingPairs>
  <TitlesOfParts>
    <vt:vector size="57" baseType="lpstr">
      <vt:lpstr>Bookman Old Style (Headings)</vt:lpstr>
      <vt:lpstr>Arial</vt:lpstr>
      <vt:lpstr>Arial Narrow</vt:lpstr>
      <vt:lpstr>Bookman Old Style</vt:lpstr>
      <vt:lpstr>Calibri</vt:lpstr>
      <vt:lpstr>Cambria Math</vt:lpstr>
      <vt:lpstr>Consolas</vt:lpstr>
      <vt:lpstr>Gill Sans MT</vt:lpstr>
      <vt:lpstr>Palatino Linotype</vt:lpstr>
      <vt:lpstr>Symbol</vt:lpstr>
      <vt:lpstr>Times New Roman</vt:lpstr>
      <vt:lpstr>Wingdings</vt:lpstr>
      <vt:lpstr>Wingdings 3</vt:lpstr>
      <vt:lpstr>Origin</vt:lpstr>
      <vt:lpstr>Z. Gu Hofstra University</vt:lpstr>
      <vt:lpstr>Bit, Byte, Half-word, Word, Double-Word</vt:lpstr>
      <vt:lpstr>Binary, Decimal and Hex</vt:lpstr>
      <vt:lpstr>Range of Unsigned Integers</vt:lpstr>
      <vt:lpstr>Unsigned Integers</vt:lpstr>
      <vt:lpstr>Carry/borrow flag bit for unsigned arithmetic</vt:lpstr>
      <vt:lpstr>Carry/borrow flag bit for unsigned numbers</vt:lpstr>
      <vt:lpstr>Carry/borrow flag bit for unsigned numbers</vt:lpstr>
      <vt:lpstr>Signed Integer Representation</vt:lpstr>
      <vt:lpstr>Signed Integers Method 1: Signed Magnitude </vt:lpstr>
      <vt:lpstr>Signed Integers Method 2: One’s Complement</vt:lpstr>
      <vt:lpstr>Signed Integers Method 3: Two’s Complement (TC)</vt:lpstr>
      <vt:lpstr>Signed Integers Method 3: Two’s Complement (TC)</vt:lpstr>
      <vt:lpstr>Signed Integers Method 3: Two’s Complement (TC)</vt:lpstr>
      <vt:lpstr>Quiz</vt:lpstr>
      <vt:lpstr>Quiz ANS</vt:lpstr>
      <vt:lpstr>Two’s Complement (TC)</vt:lpstr>
      <vt:lpstr>Two’s Complement for 8-bit System</vt:lpstr>
      <vt:lpstr>Sign Extension</vt:lpstr>
      <vt:lpstr>Comparison</vt:lpstr>
      <vt:lpstr>Comparison: unsigned vs. signed</vt:lpstr>
      <vt:lpstr>Binary to Decimal Conversion</vt:lpstr>
      <vt:lpstr>Range of Signed Integers (Two’s Complement)</vt:lpstr>
      <vt:lpstr>Overflow Flag for Signed Arithmetic</vt:lpstr>
      <vt:lpstr>Overflow Flag for Signed Arithmetic</vt:lpstr>
      <vt:lpstr>Overflow for Signed Add</vt:lpstr>
      <vt:lpstr>Overflow for Signed Add</vt:lpstr>
      <vt:lpstr>Signed or unsigned</vt:lpstr>
      <vt:lpstr>Signed or Unsigned (5-bit System)</vt:lpstr>
      <vt:lpstr>Signed or Unsigned (5-bit System)</vt:lpstr>
      <vt:lpstr>Two’s Complement Simplifies Hardware Implementation</vt:lpstr>
      <vt:lpstr>Adding two signed integers:  (-9) + 6</vt:lpstr>
      <vt:lpstr>Subtracting two signed integers:  (-9) - 6</vt:lpstr>
      <vt:lpstr>Condition Codes</vt:lpstr>
      <vt:lpstr>Carry and Overflow Flags</vt:lpstr>
      <vt:lpstr>Characters</vt:lpstr>
      <vt:lpstr>Null-terminated String</vt:lpstr>
      <vt:lpstr>String Comparison</vt:lpstr>
      <vt:lpstr>String Length</vt:lpstr>
      <vt:lpstr>Convert to Upper Case</vt:lpstr>
      <vt:lpstr>PowerPoint Presentation</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322</cp:revision>
  <dcterms:created xsi:type="dcterms:W3CDTF">2013-02-03T05:36:57Z</dcterms:created>
  <dcterms:modified xsi:type="dcterms:W3CDTF">2026-09-23T00:00:06Z</dcterms:modified>
</cp:coreProperties>
</file>