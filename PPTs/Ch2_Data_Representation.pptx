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tags/tag1.xml" ContentType="application/vnd.openxmlformats-officedocument.presentationml.tag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3"/>
  </p:notesMasterIdLst>
  <p:handoutMasterIdLst>
    <p:handoutMasterId r:id="rId44"/>
  </p:handoutMasterIdLst>
  <p:sldIdLst>
    <p:sldId id="256" r:id="rId2"/>
    <p:sldId id="368" r:id="rId3"/>
    <p:sldId id="369" r:id="rId4"/>
    <p:sldId id="406" r:id="rId5"/>
    <p:sldId id="371" r:id="rId6"/>
    <p:sldId id="374" r:id="rId7"/>
    <p:sldId id="363" r:id="rId8"/>
    <p:sldId id="375" r:id="rId9"/>
    <p:sldId id="315" r:id="rId10"/>
    <p:sldId id="316" r:id="rId11"/>
    <p:sldId id="372" r:id="rId12"/>
    <p:sldId id="358" r:id="rId13"/>
    <p:sldId id="373" r:id="rId14"/>
    <p:sldId id="408" r:id="rId15"/>
    <p:sldId id="558" r:id="rId16"/>
    <p:sldId id="557" r:id="rId17"/>
    <p:sldId id="559" r:id="rId18"/>
    <p:sldId id="547" r:id="rId19"/>
    <p:sldId id="548" r:id="rId20"/>
    <p:sldId id="362" r:id="rId21"/>
    <p:sldId id="551" r:id="rId22"/>
    <p:sldId id="407" r:id="rId23"/>
    <p:sldId id="378" r:id="rId24"/>
    <p:sldId id="552" r:id="rId25"/>
    <p:sldId id="377" r:id="rId26"/>
    <p:sldId id="376" r:id="rId27"/>
    <p:sldId id="390" r:id="rId28"/>
    <p:sldId id="396" r:id="rId29"/>
    <p:sldId id="549" r:id="rId30"/>
    <p:sldId id="389" r:id="rId31"/>
    <p:sldId id="403" r:id="rId32"/>
    <p:sldId id="404" r:id="rId33"/>
    <p:sldId id="300" r:id="rId34"/>
    <p:sldId id="405" r:id="rId35"/>
    <p:sldId id="273" r:id="rId36"/>
    <p:sldId id="381" r:id="rId37"/>
    <p:sldId id="391" r:id="rId38"/>
    <p:sldId id="393" r:id="rId39"/>
    <p:sldId id="392" r:id="rId40"/>
    <p:sldId id="550" r:id="rId41"/>
    <p:sldId id="554"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ECC374-DE17-4134-B1B6-F1B517EDF42D}" v="115" dt="2026-02-03T17:26:20.38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95"/>
    <p:restoredTop sz="96331" autoAdjust="0"/>
  </p:normalViewPr>
  <p:slideViewPr>
    <p:cSldViewPr>
      <p:cViewPr varScale="1">
        <p:scale>
          <a:sx n="103" d="100"/>
          <a:sy n="103" d="100"/>
        </p:scale>
        <p:origin x="762" y="102"/>
      </p:cViewPr>
      <p:guideLst>
        <p:guide orient="horz" pos="2160"/>
        <p:guide pos="3840"/>
      </p:guideLst>
    </p:cSldViewPr>
  </p:slideViewPr>
  <p:notesTextViewPr>
    <p:cViewPr>
      <p:scale>
        <a:sx n="1" d="1"/>
        <a:sy n="1" d="1"/>
      </p:scale>
      <p:origin x="0" y="0"/>
    </p:cViewPr>
  </p:notesTextViewPr>
  <p:sorterViewPr>
    <p:cViewPr>
      <p:scale>
        <a:sx n="150" d="100"/>
        <a:sy n="150" d="100"/>
      </p:scale>
      <p:origin x="0" y="-8059"/>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6-02-03T17:26:20.389" v="1290" actId="313"/>
      <pc:docMkLst>
        <pc:docMk/>
      </pc:docMkLst>
      <pc:sldChg chg="modSp mod">
        <pc:chgData name="Zonghua Gu" userId="9a7e1853e1951ef5" providerId="LiveId" clId="{CF1FAA12-072C-4ED5-BA76-0FFFAEFDB88A}" dt="2026-02-03T17:26:17.705" v="1287" actId="313"/>
        <pc:sldMkLst>
          <pc:docMk/>
          <pc:sldMk cId="3826356647" sldId="300"/>
        </pc:sldMkLst>
        <pc:spChg chg="mod">
          <ac:chgData name="Zonghua Gu" userId="9a7e1853e1951ef5" providerId="LiveId" clId="{CF1FAA12-072C-4ED5-BA76-0FFFAEFDB88A}" dt="2026-02-03T17:26:17.705" v="1287" actId="313"/>
          <ac:spMkLst>
            <pc:docMk/>
            <pc:sldMk cId="3826356647" sldId="300"/>
            <ac:spMk id="38917" creationId="{00000000-0000-0000-0000-000000000000}"/>
          </ac:spMkLst>
        </pc:spChg>
        <pc:graphicFrameChg chg="mod modGraphic">
          <ac:chgData name="Zonghua Gu" userId="9a7e1853e1951ef5" providerId="LiveId" clId="{CF1FAA12-072C-4ED5-BA76-0FFFAEFDB88A}" dt="2026-02-03T17:16:53.799" v="1284" actId="20577"/>
          <ac:graphicFrameMkLst>
            <pc:docMk/>
            <pc:sldMk cId="3826356647" sldId="300"/>
            <ac:graphicFrameMk id="39012" creationId="{00000000-0000-0000-0000-000000000000}"/>
          </ac:graphicFrameMkLst>
        </pc:graphicFrameChg>
      </pc:sldChg>
      <pc:sldChg chg="modSp mod">
        <pc:chgData name="Zonghua Gu" userId="9a7e1853e1951ef5" providerId="LiveId" clId="{CF1FAA12-072C-4ED5-BA76-0FFFAEFDB88A}" dt="2026-02-03T17:13:57.703" v="1263" actId="20577"/>
        <pc:sldMkLst>
          <pc:docMk/>
          <pc:sldMk cId="3705688228" sldId="392"/>
        </pc:sldMkLst>
        <pc:graphicFrameChg chg="mod modGraphic">
          <ac:chgData name="Zonghua Gu" userId="9a7e1853e1951ef5" providerId="LiveId" clId="{CF1FAA12-072C-4ED5-BA76-0FFFAEFDB88A}" dt="2026-02-03T17:13:57.703" v="1263" actId="20577"/>
          <ac:graphicFrameMkLst>
            <pc:docMk/>
            <pc:sldMk cId="3705688228" sldId="392"/>
            <ac:graphicFrameMk id="5" creationId="{00000000-0000-0000-0000-000000000000}"/>
          </ac:graphicFrameMkLst>
        </pc:graphicFrameChg>
      </pc:sldChg>
      <pc:sldChg chg="modSp mod">
        <pc:chgData name="Zonghua Gu" userId="9a7e1853e1951ef5" providerId="LiveId" clId="{CF1FAA12-072C-4ED5-BA76-0FFFAEFDB88A}" dt="2026-02-03T15:42:46.145" v="970" actId="20577"/>
        <pc:sldMkLst>
          <pc:docMk/>
          <pc:sldMk cId="1750637420" sldId="396"/>
        </pc:sldMkLst>
        <pc:spChg chg="mod">
          <ac:chgData name="Zonghua Gu" userId="9a7e1853e1951ef5" providerId="LiveId" clId="{CF1FAA12-072C-4ED5-BA76-0FFFAEFDB88A}" dt="2026-02-03T15:42:46.145" v="970" actId="20577"/>
          <ac:spMkLst>
            <pc:docMk/>
            <pc:sldMk cId="1750637420" sldId="396"/>
            <ac:spMk id="2" creationId="{00000000-0000-0000-0000-000000000000}"/>
          </ac:spMkLst>
        </pc:spChg>
      </pc:sldChg>
      <pc:sldChg chg="addSp modSp mod modAnim">
        <pc:chgData name="Zonghua Gu" userId="9a7e1853e1951ef5" providerId="LiveId" clId="{CF1FAA12-072C-4ED5-BA76-0FFFAEFDB88A}" dt="2026-02-03T17:09:57.181" v="1187" actId="20577"/>
        <pc:sldMkLst>
          <pc:docMk/>
          <pc:sldMk cId="798167026" sldId="403"/>
        </pc:sldMkLst>
        <pc:spChg chg="add mod">
          <ac:chgData name="Zonghua Gu" userId="9a7e1853e1951ef5" providerId="LiveId" clId="{CF1FAA12-072C-4ED5-BA76-0FFFAEFDB88A}" dt="2026-02-03T17:09:57.181" v="1187" actId="20577"/>
          <ac:spMkLst>
            <pc:docMk/>
            <pc:sldMk cId="798167026" sldId="403"/>
            <ac:spMk id="4" creationId="{80BD1B56-D534-2611-B43B-10E5EACB9FB7}"/>
          </ac:spMkLst>
        </pc:spChg>
      </pc:sldChg>
      <pc:sldChg chg="addSp modSp modAnim">
        <pc:chgData name="Zonghua Gu" userId="9a7e1853e1951ef5" providerId="LiveId" clId="{CF1FAA12-072C-4ED5-BA76-0FFFAEFDB88A}" dt="2026-02-03T17:10:16.565" v="1196" actId="20577"/>
        <pc:sldMkLst>
          <pc:docMk/>
          <pc:sldMk cId="2359258257" sldId="404"/>
        </pc:sldMkLst>
        <pc:spChg chg="add mod">
          <ac:chgData name="Zonghua Gu" userId="9a7e1853e1951ef5" providerId="LiveId" clId="{CF1FAA12-072C-4ED5-BA76-0FFFAEFDB88A}" dt="2026-02-03T17:10:16.565" v="1196" actId="20577"/>
          <ac:spMkLst>
            <pc:docMk/>
            <pc:sldMk cId="2359258257" sldId="404"/>
            <ac:spMk id="4" creationId="{B5897AC5-8D99-AD89-BAD3-ECE2B82BDB19}"/>
          </ac:spMkLst>
        </pc:spChg>
      </pc:sldChg>
      <pc:sldChg chg="modSp">
        <pc:chgData name="Zonghua Gu" userId="9a7e1853e1951ef5" providerId="LiveId" clId="{CF1FAA12-072C-4ED5-BA76-0FFFAEFDB88A}" dt="2026-02-03T17:26:20.389" v="1290" actId="313"/>
        <pc:sldMkLst>
          <pc:docMk/>
          <pc:sldMk cId="3353121865" sldId="405"/>
        </pc:sldMkLst>
        <pc:spChg chg="mod">
          <ac:chgData name="Zonghua Gu" userId="9a7e1853e1951ef5" providerId="LiveId" clId="{CF1FAA12-072C-4ED5-BA76-0FFFAEFDB88A}" dt="2026-02-03T17:26:20.389" v="1290" actId="313"/>
          <ac:spMkLst>
            <pc:docMk/>
            <pc:sldMk cId="3353121865" sldId="405"/>
            <ac:spMk id="4" creationId="{824E864B-2648-DE35-C235-B19BE5ED91AD}"/>
          </ac:spMkLst>
        </pc:spChg>
      </pc:sldChg>
      <pc:sldChg chg="modSp mod">
        <pc:chgData name="Zonghua Gu" userId="9a7e1853e1951ef5" providerId="LiveId" clId="{CF1FAA12-072C-4ED5-BA76-0FFFAEFDB88A}" dt="2026-02-03T17:10:48.673" v="1198" actId="20577"/>
        <pc:sldMkLst>
          <pc:docMk/>
          <pc:sldMk cId="3984964825" sldId="406"/>
        </pc:sldMkLst>
        <pc:graphicFrameChg chg="mod modGraphic">
          <ac:chgData name="Zonghua Gu" userId="9a7e1853e1951ef5" providerId="LiveId" clId="{CF1FAA12-072C-4ED5-BA76-0FFFAEFDB88A}" dt="2026-02-03T17:10:48.673" v="1198" actId="20577"/>
          <ac:graphicFrameMkLst>
            <pc:docMk/>
            <pc:sldMk cId="3984964825" sldId="406"/>
            <ac:graphicFrameMk id="5" creationId="{BC24311B-E1D8-904F-8F58-7536EEABD684}"/>
          </ac:graphicFrameMkLst>
        </pc:graphicFrameChg>
      </pc:sldChg>
      <pc:sldChg chg="modSp">
        <pc:chgData name="Zonghua Gu" userId="9a7e1853e1951ef5" providerId="LiveId" clId="{CF1FAA12-072C-4ED5-BA76-0FFFAEFDB88A}" dt="2026-02-03T17:10:44.212" v="1197"/>
        <pc:sldMkLst>
          <pc:docMk/>
          <pc:sldMk cId="3109495620" sldId="407"/>
        </pc:sldMkLst>
        <pc:graphicFrameChg chg="mod">
          <ac:chgData name="Zonghua Gu" userId="9a7e1853e1951ef5" providerId="LiveId" clId="{CF1FAA12-072C-4ED5-BA76-0FFFAEFDB88A}" dt="2026-02-03T17:10:44.212" v="1197"/>
          <ac:graphicFrameMkLst>
            <pc:docMk/>
            <pc:sldMk cId="3109495620" sldId="407"/>
            <ac:graphicFrameMk id="5" creationId="{BC24311B-E1D8-904F-8F58-7536EEABD684}"/>
          </ac:graphicFrameMkLst>
        </pc:graphicFrameChg>
      </pc:sldChg>
      <pc:sldChg chg="addSp modSp add mod">
        <pc:chgData name="Zonghua Gu" userId="9a7e1853e1951ef5" providerId="LiveId" clId="{CF1FAA12-072C-4ED5-BA76-0FFFAEFDB88A}" dt="2026-02-03T15:20:11.089" v="873" actId="1076"/>
        <pc:sldMkLst>
          <pc:docMk/>
          <pc:sldMk cId="2586784592" sldId="547"/>
        </pc:sldMkLst>
        <pc:spChg chg="mod">
          <ac:chgData name="Zonghua Gu" userId="9a7e1853e1951ef5" providerId="LiveId" clId="{CF1FAA12-072C-4ED5-BA76-0FFFAEFDB88A}" dt="2026-02-03T15:20:00.635" v="870" actId="1076"/>
          <ac:spMkLst>
            <pc:docMk/>
            <pc:sldMk cId="2586784592" sldId="547"/>
            <ac:spMk id="8" creationId="{00000000-0000-0000-0000-000000000000}"/>
          </ac:spMkLst>
        </pc:spChg>
        <pc:spChg chg="mod">
          <ac:chgData name="Zonghua Gu" userId="9a7e1853e1951ef5" providerId="LiveId" clId="{CF1FAA12-072C-4ED5-BA76-0FFFAEFDB88A}" dt="2026-02-03T15:20:00.635" v="870" actId="1076"/>
          <ac:spMkLst>
            <pc:docMk/>
            <pc:sldMk cId="2586784592" sldId="547"/>
            <ac:spMk id="13" creationId="{00000000-0000-0000-0000-000000000000}"/>
          </ac:spMkLst>
        </pc:spChg>
        <pc:graphicFrameChg chg="mod">
          <ac:chgData name="Zonghua Gu" userId="9a7e1853e1951ef5" providerId="LiveId" clId="{CF1FAA12-072C-4ED5-BA76-0FFFAEFDB88A}" dt="2026-02-03T15:20:00.635" v="870" actId="1076"/>
          <ac:graphicFrameMkLst>
            <pc:docMk/>
            <pc:sldMk cId="2586784592" sldId="547"/>
            <ac:graphicFrameMk id="6" creationId="{00000000-0000-0000-0000-000000000000}"/>
          </ac:graphicFrameMkLst>
        </pc:graphicFrameChg>
        <pc:picChg chg="add mod">
          <ac:chgData name="Zonghua Gu" userId="9a7e1853e1951ef5" providerId="LiveId" clId="{CF1FAA12-072C-4ED5-BA76-0FFFAEFDB88A}" dt="2026-02-03T15:20:11.089" v="873" actId="1076"/>
          <ac:picMkLst>
            <pc:docMk/>
            <pc:sldMk cId="2586784592" sldId="547"/>
            <ac:picMk id="3" creationId="{CC188A21-6E71-7905-3E22-6F056E14BE2B}"/>
          </ac:picMkLst>
        </pc:picChg>
      </pc:sldChg>
      <pc:sldChg chg="modSp mod modAnim">
        <pc:chgData name="Zonghua Gu" userId="9a7e1853e1951ef5" providerId="LiveId" clId="{CF1FAA12-072C-4ED5-BA76-0FFFAEFDB88A}" dt="2026-02-03T15:42:54.324" v="973" actId="20577"/>
        <pc:sldMkLst>
          <pc:docMk/>
          <pc:sldMk cId="2452229118" sldId="549"/>
        </pc:sldMkLst>
        <pc:spChg chg="mod">
          <ac:chgData name="Zonghua Gu" userId="9a7e1853e1951ef5" providerId="LiveId" clId="{CF1FAA12-072C-4ED5-BA76-0FFFAEFDB88A}" dt="2026-02-03T15:42:54.324" v="973" actId="20577"/>
          <ac:spMkLst>
            <pc:docMk/>
            <pc:sldMk cId="2452229118" sldId="549"/>
            <ac:spMk id="2" creationId="{00000000-0000-0000-0000-000000000000}"/>
          </ac:spMkLst>
        </pc:spChg>
        <pc:spChg chg="mod">
          <ac:chgData name="Zonghua Gu" userId="9a7e1853e1951ef5" providerId="LiveId" clId="{CF1FAA12-072C-4ED5-BA76-0FFFAEFDB88A}" dt="2026-02-03T15:41:27.625" v="954" actId="20577"/>
          <ac:spMkLst>
            <pc:docMk/>
            <pc:sldMk cId="2452229118" sldId="549"/>
            <ac:spMk id="4" creationId="{00000000-0000-0000-0000-000000000000}"/>
          </ac:spMkLst>
        </pc:spChg>
      </pc:sldChg>
      <pc:sldChg chg="modSp mod">
        <pc:chgData name="Zonghua Gu" userId="9a7e1853e1951ef5" providerId="LiveId" clId="{CF1FAA12-072C-4ED5-BA76-0FFFAEFDB88A}" dt="2026-02-03T17:12:42.808" v="1246" actId="20577"/>
        <pc:sldMkLst>
          <pc:docMk/>
          <pc:sldMk cId="3344429198" sldId="550"/>
        </pc:sldMkLst>
        <pc:spChg chg="mod">
          <ac:chgData name="Zonghua Gu" userId="9a7e1853e1951ef5" providerId="LiveId" clId="{CF1FAA12-072C-4ED5-BA76-0FFFAEFDB88A}" dt="2026-02-03T17:12:42.808" v="1246" actId="20577"/>
          <ac:spMkLst>
            <pc:docMk/>
            <pc:sldMk cId="3344429198" sldId="550"/>
            <ac:spMk id="3" creationId="{00000000-0000-0000-0000-000000000000}"/>
          </ac:spMkLst>
        </pc:spChg>
      </pc:sldChg>
      <pc:sldChg chg="modSp mod">
        <pc:chgData name="Zonghua Gu" userId="9a7e1853e1951ef5" providerId="LiveId" clId="{CF1FAA12-072C-4ED5-BA76-0FFFAEFDB88A}" dt="2026-02-03T15:27:37.626" v="880" actId="6549"/>
        <pc:sldMkLst>
          <pc:docMk/>
          <pc:sldMk cId="1562305934" sldId="551"/>
        </pc:sldMkLst>
        <pc:graphicFrameChg chg="mod modGraphic">
          <ac:chgData name="Zonghua Gu" userId="9a7e1853e1951ef5" providerId="LiveId" clId="{CF1FAA12-072C-4ED5-BA76-0FFFAEFDB88A}" dt="2026-02-03T15:27:37.626" v="880" actId="6549"/>
          <ac:graphicFrameMkLst>
            <pc:docMk/>
            <pc:sldMk cId="1562305934" sldId="551"/>
            <ac:graphicFrameMk id="4" creationId="{9CADBB08-95E4-B063-989E-5381B2268DF2}"/>
          </ac:graphicFrameMkLst>
        </pc:graphicFrameChg>
      </pc:sldChg>
      <pc:sldChg chg="modSp mod">
        <pc:chgData name="Zonghua Gu" userId="9a7e1853e1951ef5" providerId="LiveId" clId="{CF1FAA12-072C-4ED5-BA76-0FFFAEFDB88A}" dt="2026-02-03T16:07:56.755" v="977" actId="20577"/>
        <pc:sldMkLst>
          <pc:docMk/>
          <pc:sldMk cId="2604975384" sldId="552"/>
        </pc:sldMkLst>
        <pc:spChg chg="mod">
          <ac:chgData name="Zonghua Gu" userId="9a7e1853e1951ef5" providerId="LiveId" clId="{CF1FAA12-072C-4ED5-BA76-0FFFAEFDB88A}" dt="2026-02-03T16:07:56.755" v="977" actId="20577"/>
          <ac:spMkLst>
            <pc:docMk/>
            <pc:sldMk cId="2604975384" sldId="552"/>
            <ac:spMk id="4" creationId="{00000000-0000-0000-0000-000000000000}"/>
          </ac:spMkLst>
        </pc:spChg>
      </pc:sldChg>
      <pc:sldChg chg="modSp">
        <pc:chgData name="Zonghua Gu" userId="9a7e1853e1951ef5" providerId="LiveId" clId="{CF1FAA12-072C-4ED5-BA76-0FFFAEFDB88A}" dt="2026-02-03T17:03:16.172" v="979" actId="20577"/>
        <pc:sldMkLst>
          <pc:docMk/>
          <pc:sldMk cId="795827474" sldId="557"/>
        </pc:sldMkLst>
        <pc:spChg chg="mod">
          <ac:chgData name="Zonghua Gu" userId="9a7e1853e1951ef5" providerId="LiveId" clId="{CF1FAA12-072C-4ED5-BA76-0FFFAEFDB88A}" dt="2026-02-03T17:03:16.172" v="979" actId="20577"/>
          <ac:spMkLst>
            <pc:docMk/>
            <pc:sldMk cId="795827474" sldId="557"/>
            <ac:spMk id="3" creationId="{CF93CA2C-6BF3-F8F5-A739-069BC284E551}"/>
          </ac:spMkLst>
        </pc:spChg>
      </pc:sldChg>
      <pc:sldChg chg="modSp">
        <pc:chgData name="Zonghua Gu" userId="9a7e1853e1951ef5" providerId="LiveId" clId="{CF1FAA12-072C-4ED5-BA76-0FFFAEFDB88A}" dt="2026-02-03T17:03:14.941" v="978" actId="20577"/>
        <pc:sldMkLst>
          <pc:docMk/>
          <pc:sldMk cId="143234136" sldId="558"/>
        </pc:sldMkLst>
        <pc:spChg chg="mod">
          <ac:chgData name="Zonghua Gu" userId="9a7e1853e1951ef5" providerId="LiveId" clId="{CF1FAA12-072C-4ED5-BA76-0FFFAEFDB88A}" dt="2026-02-03T17:03:14.941" v="978" actId="20577"/>
          <ac:spMkLst>
            <pc:docMk/>
            <pc:sldMk cId="143234136" sldId="558"/>
            <ac:spMk id="3" creationId="{6A0F2E71-EAA4-A9FD-04A3-E7673819EF1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D4F56A7-3CDE-194F-B9AF-D598FBBF1989}" type="datetimeFigureOut">
              <a:rPr lang="en-US" smtClean="0"/>
              <a:pPr/>
              <a:t>9/2/2026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E1097CB-F954-3545-B5D0-357D0C1748E3}" type="slidenum">
              <a:rPr lang="en-US" smtClean="0"/>
              <a:pPr/>
              <a:t>‹#›</a:t>
            </a:fld>
            <a:endParaRPr lang="en-US"/>
          </a:p>
        </p:txBody>
      </p:sp>
    </p:spTree>
    <p:extLst>
      <p:ext uri="{BB962C8B-B14F-4D97-AF65-F5344CB8AC3E}">
        <p14:creationId xmlns:p14="http://schemas.microsoft.com/office/powerpoint/2010/main" val="31766406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E52AD58-60CE-E948-9CBA-0BD7030FC28E}" type="datetimeFigureOut">
              <a:rPr lang="en-US" smtClean="0"/>
              <a:pPr/>
              <a:t>9/2/2026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624DF53-3DD3-9F45-9E7E-472B96F1AB81}" type="slidenum">
              <a:rPr lang="en-US" smtClean="0"/>
              <a:pPr/>
              <a:t>‹#›</a:t>
            </a:fld>
            <a:endParaRPr lang="en-US"/>
          </a:p>
        </p:txBody>
      </p:sp>
    </p:spTree>
    <p:extLst>
      <p:ext uri="{BB962C8B-B14F-4D97-AF65-F5344CB8AC3E}">
        <p14:creationId xmlns:p14="http://schemas.microsoft.com/office/powerpoint/2010/main" val="168176388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a:t>
            </a:fld>
            <a:endParaRPr lang="en-US"/>
          </a:p>
        </p:txBody>
      </p:sp>
    </p:spTree>
    <p:extLst>
      <p:ext uri="{BB962C8B-B14F-4D97-AF65-F5344CB8AC3E}">
        <p14:creationId xmlns:p14="http://schemas.microsoft.com/office/powerpoint/2010/main" val="39121671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D624DF53-3DD3-9F45-9E7E-472B96F1AB81}" type="slidenum">
              <a:rPr lang="en-US" smtClean="0"/>
              <a:pPr/>
              <a:t>6</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unsigned numbers, the carry flag is set when adding two numbers and the result is larger than the maximum that can represented. For subtraction, the borrow bit is set when the result is positive, representing no borrowing occurs. The borrow bit is cleared when the result is negative. On the ARM processor, the carry bit and borrow bit are the same flag bit in the status register. </a:t>
            </a:r>
          </a:p>
        </p:txBody>
      </p:sp>
      <p:sp>
        <p:nvSpPr>
          <p:cNvPr id="4" name="Slide Number Placeholder 3"/>
          <p:cNvSpPr>
            <a:spLocks noGrp="1"/>
          </p:cNvSpPr>
          <p:nvPr>
            <p:ph type="sldNum" sz="quarter" idx="10"/>
          </p:nvPr>
        </p:nvSpPr>
        <p:spPr/>
        <p:txBody>
          <a:bodyPr/>
          <a:lstStyle/>
          <a:p>
            <a:fld id="{D624DF53-3DD3-9F45-9E7E-472B96F1AB81}" type="slidenum">
              <a:rPr lang="en-US" smtClean="0"/>
              <a:pPr/>
              <a:t>7</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unsigned numbers, the carry flag is set when adding two numbers and the result is larger than the maximum that can represented. For subtraction, the borrow bit is set when the result is positive, representing no borrowing occurs. The borrow bit is cleared when the result is negative. On the ARM processor, the carry bit and borrow bit are the same flag bit in the status register. </a:t>
            </a:r>
          </a:p>
        </p:txBody>
      </p:sp>
      <p:sp>
        <p:nvSpPr>
          <p:cNvPr id="4" name="Slide Number Placeholder 3"/>
          <p:cNvSpPr>
            <a:spLocks noGrp="1"/>
          </p:cNvSpPr>
          <p:nvPr>
            <p:ph type="sldNum" sz="quarter" idx="10"/>
          </p:nvPr>
        </p:nvSpPr>
        <p:spPr/>
        <p:txBody>
          <a:bodyPr/>
          <a:lstStyle/>
          <a:p>
            <a:fld id="{D624DF53-3DD3-9F45-9E7E-472B96F1AB81}" type="slidenum">
              <a:rPr lang="en-US" smtClean="0"/>
              <a:pPr/>
              <a:t>8</a:t>
            </a:fld>
            <a:endParaRPr lang="en-US"/>
          </a:p>
        </p:txBody>
      </p:sp>
    </p:spTree>
    <p:extLst>
      <p:ext uri="{BB962C8B-B14F-4D97-AF65-F5344CB8AC3E}">
        <p14:creationId xmlns:p14="http://schemas.microsoft.com/office/powerpoint/2010/main" val="26382853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9C167F7-1B06-44DE-A83B-5844B4E34198}" type="slidenum">
              <a:rPr lang="en-US"/>
              <a:pPr/>
              <a:t>9</a:t>
            </a:fld>
            <a:endParaRPr lang="en-US"/>
          </a:p>
        </p:txBody>
      </p:sp>
      <p:sp>
        <p:nvSpPr>
          <p:cNvPr id="186370" name="Rectangle 2"/>
          <p:cNvSpPr>
            <a:spLocks noGrp="1" noRot="1" noChangeAspect="1" noChangeArrowheads="1" noTextEdit="1"/>
          </p:cNvSpPr>
          <p:nvPr>
            <p:ph type="sldImg"/>
          </p:nvPr>
        </p:nvSpPr>
        <p:spPr>
          <a:xfrm>
            <a:off x="381000" y="685800"/>
            <a:ext cx="6096000" cy="3429000"/>
          </a:xfrm>
          <a:ln/>
        </p:spPr>
      </p:sp>
      <p:sp>
        <p:nvSpPr>
          <p:cNvPr id="186371"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8477988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77A2E23-6A31-4B03-9F0A-B60919A3DF29}" type="slidenum">
              <a:rPr lang="en-US"/>
              <a:pPr/>
              <a:t>10</a:t>
            </a:fld>
            <a:endParaRPr lang="en-US"/>
          </a:p>
        </p:txBody>
      </p:sp>
      <p:sp>
        <p:nvSpPr>
          <p:cNvPr id="188418" name="Rectangle 2"/>
          <p:cNvSpPr>
            <a:spLocks noGrp="1" noRot="1" noChangeAspect="1" noChangeArrowheads="1" noTextEdit="1"/>
          </p:cNvSpPr>
          <p:nvPr>
            <p:ph type="sldImg"/>
          </p:nvPr>
        </p:nvSpPr>
        <p:spPr>
          <a:xfrm>
            <a:off x="381000" y="685800"/>
            <a:ext cx="6096000" cy="3429000"/>
          </a:xfrm>
          <a:ln/>
        </p:spPr>
      </p:sp>
      <p:sp>
        <p:nvSpPr>
          <p:cNvPr id="18841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4154892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575089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9035280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034" name="Rectangle 2"/>
          <p:cNvSpPr>
            <a:spLocks noGrp="1" noRot="1" noChangeAspect="1" noChangeArrowheads="1" noTextEdit="1"/>
          </p:cNvSpPr>
          <p:nvPr>
            <p:ph type="sldImg"/>
          </p:nvPr>
        </p:nvSpPr>
        <p:spPr>
          <a:xfrm>
            <a:off x="381000" y="685800"/>
            <a:ext cx="6096000" cy="3429000"/>
          </a:xfrm>
        </p:spPr>
      </p:sp>
      <p:sp>
        <p:nvSpPr>
          <p:cNvPr id="13240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039883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53ED1-8CF1-275F-C7E5-B5164F952413}"/>
            </a:ext>
          </a:extLst>
        </p:cNvPr>
        <p:cNvGrpSpPr/>
        <p:nvPr/>
      </p:nvGrpSpPr>
      <p:grpSpPr>
        <a:xfrm>
          <a:off x="0" y="0"/>
          <a:ext cx="0" cy="0"/>
          <a:chOff x="0" y="0"/>
          <a:chExt cx="0" cy="0"/>
        </a:xfrm>
      </p:grpSpPr>
      <p:sp>
        <p:nvSpPr>
          <p:cNvPr id="1324034" name="Rectangle 2">
            <a:extLst>
              <a:ext uri="{FF2B5EF4-FFF2-40B4-BE49-F238E27FC236}">
                <a16:creationId xmlns:a16="http://schemas.microsoft.com/office/drawing/2014/main" id="{20E1EC96-74D6-76F1-A55C-C27BEFA6F0FB}"/>
              </a:ext>
            </a:extLst>
          </p:cNvPr>
          <p:cNvSpPr>
            <a:spLocks noGrp="1" noRot="1" noChangeAspect="1" noChangeArrowheads="1" noTextEdit="1"/>
          </p:cNvSpPr>
          <p:nvPr>
            <p:ph type="sldImg"/>
          </p:nvPr>
        </p:nvSpPr>
        <p:spPr>
          <a:xfrm>
            <a:off x="381000" y="685800"/>
            <a:ext cx="6096000" cy="3429000"/>
          </a:xfrm>
        </p:spPr>
      </p:sp>
      <p:sp>
        <p:nvSpPr>
          <p:cNvPr id="1324035" name="Rectangle 3">
            <a:extLst>
              <a:ext uri="{FF2B5EF4-FFF2-40B4-BE49-F238E27FC236}">
                <a16:creationId xmlns:a16="http://schemas.microsoft.com/office/drawing/2014/main" id="{2CEE6E43-BB97-503B-7797-6B520C8CF3D2}"/>
              </a:ext>
            </a:extLst>
          </p:cNvPr>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8010831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44375-E5B8-A106-3250-244BD00228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8373DF-005A-38DD-0420-9E21ED62A89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75B527C1-B562-C6AE-EE6D-4027147D8004}"/>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32</m:t>
                    </m:r>
                  </m:oMath>
                </a14:m>
                <a:r>
                  <a:rPr lang="en-US" sz="1200" b="0" i="0" kern="1200" dirty="0">
                    <a:solidFill>
                      <a:schemeClr val="tx1"/>
                    </a:solidFill>
                    <a:effectLst/>
                    <a:latin typeface="+mn-lt"/>
                    <a:ea typeface="+mn-ea"/>
                    <a:cs typeface="+mn-cs"/>
                  </a:rPr>
                  <a:t> to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31</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a:t>
                </a:r>
                <a14:m>
                  <m:oMath xmlns:m="http://schemas.openxmlformats.org/officeDocument/2006/math">
                    <m:r>
                      <a:rPr lang="en-US" sz="1200" kern="1200">
                        <a:solidFill>
                          <a:schemeClr val="tx1"/>
                        </a:solidFill>
                        <a:latin typeface="Cambria Math" panose="02040503050406030204" pitchFamily="18" charset="0"/>
                        <a:ea typeface="+mn-ea"/>
                        <a:cs typeface="+mn-cs"/>
                      </a:rPr>
                      <m:t>010000</m:t>
                    </m:r>
                  </m:oMath>
                </a14:m>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oMath>
                </a14:m>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r>
                      <a:rPr lang="en-US" sz="1200" i="0" kern="1200">
                        <a:solidFill>
                          <a:schemeClr val="tx1"/>
                        </a:solidFill>
                        <a:latin typeface="Cambria Math" panose="02040503050406030204" pitchFamily="18" charset="0"/>
                        <a:ea typeface="+mn-ea"/>
                        <a:cs typeface="+mn-cs"/>
                      </a:rPr>
                      <m:t>+1=110000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6-bit two's complement is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r>
                      <a:rPr lang="en-US" sz="1200" i="0" kern="1200">
                        <a:solidFill>
                          <a:schemeClr val="tx1"/>
                        </a:solidFill>
                        <a:latin typeface="Cambria Math" panose="02040503050406030204" pitchFamily="18" charset="0"/>
                        <a:ea typeface="+mn-ea"/>
                        <a:cs typeface="+mn-cs"/>
                      </a:rPr>
                      <m:t>+1=010000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so the negation of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the minimum and its negation wraps onto itself, in 6 bits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behaves normally with correct negation.</a:t>
                </a:r>
              </a:p>
              <a:p>
                <a:endParaRPr lang="en-US" dirty="0"/>
              </a:p>
            </p:txBody>
          </p:sp>
        </mc:Choice>
        <mc:Fallback xmlns="">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r>
                  <a:rPr lang="en-US" sz="1200" i="0" kern="1200">
                    <a:solidFill>
                      <a:schemeClr val="tx1"/>
                    </a:solidFill>
                    <a:latin typeface="+mn-lt"/>
                    <a:ea typeface="+mn-ea"/>
                    <a:cs typeface="+mn-cs"/>
                  </a:rPr>
                  <a:t>−32</a:t>
                </a:r>
                <a:r>
                  <a:rPr lang="en-US" sz="1200" b="0" i="0" kern="1200" dirty="0">
                    <a:solidFill>
                      <a:schemeClr val="tx1"/>
                    </a:solidFill>
                    <a:effectLst/>
                    <a:latin typeface="+mn-lt"/>
                    <a:ea typeface="+mn-ea"/>
                    <a:cs typeface="+mn-cs"/>
                  </a:rPr>
                  <a:t> to </a:t>
                </a:r>
                <a:r>
                  <a:rPr lang="en-US" sz="1200" i="0" kern="1200">
                    <a:solidFill>
                      <a:schemeClr val="tx1"/>
                    </a:solidFill>
                    <a:latin typeface="+mn-lt"/>
                    <a:ea typeface="+mn-ea"/>
                    <a:cs typeface="+mn-cs"/>
                  </a:rPr>
                  <a:t>+31</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a:t>
                </a:r>
                <a:r>
                  <a:rPr lang="en-US" sz="1200" i="0" kern="1200">
                    <a:solidFill>
                      <a:schemeClr val="tx1"/>
                    </a:solidFill>
                    <a:latin typeface="+mn-lt"/>
                    <a:ea typeface="+mn-ea"/>
                    <a:cs typeface="+mn-cs"/>
                  </a:rPr>
                  <a:t>010000</a:t>
                </a:r>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101111</a:t>
                </a:r>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101111+1=110000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6-bit two's complement is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001111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001111+1=010000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so the negation of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the minimum and its negation wraps onto itself, in 6 bits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behaves normally with correct negation.</a:t>
                </a:r>
              </a:p>
              <a:p>
                <a:endParaRPr lang="en-US" dirty="0"/>
              </a:p>
            </p:txBody>
          </p:sp>
        </mc:Fallback>
      </mc:AlternateContent>
      <p:sp>
        <p:nvSpPr>
          <p:cNvPr id="4" name="Slide Number Placeholder 3">
            <a:extLst>
              <a:ext uri="{FF2B5EF4-FFF2-40B4-BE49-F238E27FC236}">
                <a16:creationId xmlns:a16="http://schemas.microsoft.com/office/drawing/2014/main" id="{89A21CAA-90BD-A44F-8469-E4744F6044F2}"/>
              </a:ext>
            </a:extLst>
          </p:cNvPr>
          <p:cNvSpPr>
            <a:spLocks noGrp="1"/>
          </p:cNvSpPr>
          <p:nvPr>
            <p:ph type="sldNum" sz="quarter" idx="5"/>
          </p:nvPr>
        </p:nvSpPr>
        <p:spPr/>
        <p:txBody>
          <a:bodyPr/>
          <a:lstStyle/>
          <a:p>
            <a:fld id="{633BBA0F-9BBE-41FE-A859-D6EE6CD9FB52}" type="slidenum">
              <a:rPr lang="en-US" smtClean="0"/>
              <a:t>15</a:t>
            </a:fld>
            <a:endParaRPr lang="en-US"/>
          </a:p>
        </p:txBody>
      </p:sp>
    </p:spTree>
    <p:extLst>
      <p:ext uri="{BB962C8B-B14F-4D97-AF65-F5344CB8AC3E}">
        <p14:creationId xmlns:p14="http://schemas.microsoft.com/office/powerpoint/2010/main" val="42245790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32</m:t>
                    </m:r>
                  </m:oMath>
                </a14:m>
                <a:r>
                  <a:rPr lang="en-US" sz="1200" b="0" i="0" kern="1200" dirty="0">
                    <a:solidFill>
                      <a:schemeClr val="tx1"/>
                    </a:solidFill>
                    <a:effectLst/>
                    <a:latin typeface="+mn-lt"/>
                    <a:ea typeface="+mn-ea"/>
                    <a:cs typeface="+mn-cs"/>
                  </a:rPr>
                  <a:t> to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31</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a:t>
                </a:r>
                <a14:m>
                  <m:oMath xmlns:m="http://schemas.openxmlformats.org/officeDocument/2006/math">
                    <m:r>
                      <a:rPr lang="en-US" sz="1200" kern="1200">
                        <a:solidFill>
                          <a:schemeClr val="tx1"/>
                        </a:solidFill>
                        <a:latin typeface="Cambria Math" panose="02040503050406030204" pitchFamily="18" charset="0"/>
                        <a:ea typeface="+mn-ea"/>
                        <a:cs typeface="+mn-cs"/>
                      </a:rPr>
                      <m:t>010000</m:t>
                    </m:r>
                  </m:oMath>
                </a14:m>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oMath>
                </a14:m>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101111</m:t>
                    </m:r>
                    <m:r>
                      <a:rPr lang="en-US" sz="1200" i="0" kern="1200">
                        <a:solidFill>
                          <a:schemeClr val="tx1"/>
                        </a:solidFill>
                        <a:latin typeface="Cambria Math" panose="02040503050406030204" pitchFamily="18" charset="0"/>
                        <a:ea typeface="+mn-ea"/>
                        <a:cs typeface="+mn-cs"/>
                      </a:rPr>
                      <m:t>+1=110000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6-bit two's complement is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14:m>
                  <m:oMath xmlns:m="http://schemas.openxmlformats.org/officeDocument/2006/math">
                    <m:r>
                      <a:rPr lang="en-US" sz="1200" kern="1200">
                        <a:solidFill>
                          <a:schemeClr val="tx1"/>
                        </a:solidFill>
                        <a:latin typeface="Cambria Math" panose="02040503050406030204" pitchFamily="18" charset="0"/>
                        <a:ea typeface="+mn-ea"/>
                        <a:cs typeface="+mn-cs"/>
                      </a:rPr>
                      <m:t>110000</m:t>
                    </m:r>
                  </m:oMath>
                </a14:m>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14:m>
                  <m:oMath xmlns:m="http://schemas.openxmlformats.org/officeDocument/2006/math">
                    <m:r>
                      <a:rPr lang="en-US" sz="1200" kern="1200">
                        <a:solidFill>
                          <a:schemeClr val="tx1"/>
                        </a:solidFill>
                        <a:latin typeface="Cambria Math" panose="02040503050406030204" pitchFamily="18" charset="0"/>
                        <a:ea typeface="+mn-ea"/>
                        <a:cs typeface="+mn-cs"/>
                      </a:rPr>
                      <m:t>001111</m:t>
                    </m:r>
                    <m:r>
                      <a:rPr lang="en-US" sz="1200" i="0" kern="1200">
                        <a:solidFill>
                          <a:schemeClr val="tx1"/>
                        </a:solidFill>
                        <a:latin typeface="Cambria Math" panose="02040503050406030204" pitchFamily="18" charset="0"/>
                        <a:ea typeface="+mn-ea"/>
                        <a:cs typeface="+mn-cs"/>
                      </a:rPr>
                      <m:t>+1=010000</m:t>
                    </m:r>
                  </m:oMath>
                </a14:m>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14:m>
                  <m:oMath xmlns:m="http://schemas.openxmlformats.org/officeDocument/2006/math">
                    <m:r>
                      <a:rPr lang="en-US" sz="120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in binary, so the negation of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is the minimum and its negation wraps onto itself, in 6 bits </a:t>
                </a:r>
                <a14:m>
                  <m:oMath xmlns:m="http://schemas.openxmlformats.org/officeDocument/2006/math">
                    <m:r>
                      <a:rPr lang="en-US" sz="120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16</m:t>
                    </m:r>
                  </m:oMath>
                </a14:m>
                <a:r>
                  <a:rPr lang="en-US" sz="1200" b="0" i="0" kern="1200" dirty="0">
                    <a:solidFill>
                      <a:schemeClr val="tx1"/>
                    </a:solidFill>
                    <a:effectLst/>
                    <a:latin typeface="+mn-lt"/>
                    <a:ea typeface="+mn-ea"/>
                    <a:cs typeface="+mn-cs"/>
                  </a:rPr>
                  <a:t> behaves normally with correct negation.</a:t>
                </a:r>
              </a:p>
              <a:p>
                <a:endParaRPr lang="en-US" dirty="0"/>
              </a:p>
            </p:txBody>
          </p:sp>
        </mc:Choice>
        <mc:Fallback xmlns="">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a 6-bit two's complement number:</a:t>
                </a:r>
              </a:p>
              <a:p>
                <a:r>
                  <a:rPr lang="en-US" sz="1200" b="0" i="0" kern="1200" dirty="0">
                    <a:solidFill>
                      <a:schemeClr val="tx1"/>
                    </a:solidFill>
                    <a:effectLst/>
                    <a:latin typeface="+mn-lt"/>
                    <a:ea typeface="+mn-ea"/>
                    <a:cs typeface="+mn-cs"/>
                  </a:rPr>
                  <a:t>The range of representable integers is from </a:t>
                </a:r>
                <a:r>
                  <a:rPr lang="en-US" sz="1200" i="0" kern="1200">
                    <a:solidFill>
                      <a:schemeClr val="tx1"/>
                    </a:solidFill>
                    <a:latin typeface="+mn-lt"/>
                    <a:ea typeface="+mn-ea"/>
                    <a:cs typeface="+mn-cs"/>
                  </a:rPr>
                  <a:t>−32</a:t>
                </a:r>
                <a:r>
                  <a:rPr lang="en-US" sz="1200" b="0" i="0" kern="1200" dirty="0">
                    <a:solidFill>
                      <a:schemeClr val="tx1"/>
                    </a:solidFill>
                    <a:effectLst/>
                    <a:latin typeface="+mn-lt"/>
                    <a:ea typeface="+mn-ea"/>
                    <a:cs typeface="+mn-cs"/>
                  </a:rPr>
                  <a:t> to </a:t>
                </a:r>
                <a:r>
                  <a:rPr lang="en-US" sz="1200" i="0" kern="1200">
                    <a:solidFill>
                      <a:schemeClr val="tx1"/>
                    </a:solidFill>
                    <a:latin typeface="+mn-lt"/>
                    <a:ea typeface="+mn-ea"/>
                    <a:cs typeface="+mn-cs"/>
                  </a:rPr>
                  <a:t>+31</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represent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 bits:</a:t>
                </a:r>
              </a:p>
              <a:p>
                <a:pPr lvl="1"/>
                <a:r>
                  <a:rPr lang="en-US" sz="1200" b="0" i="0" kern="1200" dirty="0">
                    <a:solidFill>
                      <a:schemeClr val="tx1"/>
                    </a:solidFill>
                    <a:effectLst/>
                    <a:latin typeface="+mn-lt"/>
                    <a:ea typeface="+mn-ea"/>
                    <a:cs typeface="+mn-cs"/>
                  </a:rPr>
                  <a:t>Write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a:t>
                </a:r>
                <a:r>
                  <a:rPr lang="en-US" sz="1200" i="0" kern="1200">
                    <a:solidFill>
                      <a:schemeClr val="tx1"/>
                    </a:solidFill>
                    <a:latin typeface="+mn-lt"/>
                    <a:ea typeface="+mn-ea"/>
                    <a:cs typeface="+mn-cs"/>
                  </a:rPr>
                  <a:t>010000</a:t>
                </a:r>
                <a:endParaRPr lang="en-US" sz="1200" b="0" i="0" kern="1200" dirty="0">
                  <a:solidFill>
                    <a:schemeClr val="tx1"/>
                  </a:solidFill>
                  <a:effectLst/>
                  <a:latin typeface="+mn-lt"/>
                  <a:ea typeface="+mn-ea"/>
                  <a:cs typeface="+mn-cs"/>
                </a:endParaRPr>
              </a:p>
              <a:p>
                <a:pPr lvl="1"/>
                <a:r>
                  <a:rPr lang="en-US" sz="1200" b="0" i="0" kern="1200" dirty="0">
                    <a:solidFill>
                      <a:schemeClr val="tx1"/>
                    </a:solidFill>
                    <a:effectLst/>
                    <a:latin typeface="+mn-lt"/>
                    <a:ea typeface="+mn-ea"/>
                    <a:cs typeface="+mn-cs"/>
                  </a:rPr>
                  <a:t>Take the two's complement (invert bits and add 1):</a:t>
                </a:r>
              </a:p>
              <a:p>
                <a:pPr lvl="2"/>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101111</a:t>
                </a:r>
                <a:endParaRPr lang="en-US" sz="1200" b="0" i="0" kern="1200" dirty="0">
                  <a:solidFill>
                    <a:schemeClr val="tx1"/>
                  </a:solidFill>
                  <a:effectLst/>
                  <a:latin typeface="+mn-lt"/>
                  <a:ea typeface="+mn-ea"/>
                  <a:cs typeface="+mn-cs"/>
                </a:endParaRPr>
              </a:p>
              <a:p>
                <a:pPr lvl="2"/>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101111+1=110000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6-bit two's complement is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To take the negation of this (i.e., find the two's complement of </a:t>
                </a:r>
                <a:r>
                  <a:rPr lang="en-US" sz="1200" i="0" kern="1200">
                    <a:solidFill>
                      <a:schemeClr val="tx1"/>
                    </a:solidFill>
                    <a:latin typeface="+mn-lt"/>
                    <a:ea typeface="+mn-ea"/>
                    <a:cs typeface="+mn-cs"/>
                  </a:rPr>
                  <a:t>110000</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Invert bits: </a:t>
                </a:r>
                <a:r>
                  <a:rPr lang="en-US" sz="1200" i="0" kern="1200">
                    <a:solidFill>
                      <a:schemeClr val="tx1"/>
                    </a:solidFill>
                    <a:latin typeface="+mn-lt"/>
                    <a:ea typeface="+mn-ea"/>
                    <a:cs typeface="+mn-cs"/>
                  </a:rPr>
                  <a:t>001111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 1: </a:t>
                </a:r>
                <a:r>
                  <a:rPr lang="en-US" sz="1200" i="0" kern="1200">
                    <a:solidFill>
                      <a:schemeClr val="tx1"/>
                    </a:solidFill>
                    <a:latin typeface="+mn-lt"/>
                    <a:ea typeface="+mn-ea"/>
                    <a:cs typeface="+mn-cs"/>
                  </a:rPr>
                  <a:t>001111+1=010000</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in binary, so the negation of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as expected.</a:t>
                </a:r>
              </a:p>
              <a:p>
                <a:r>
                  <a:rPr lang="en-US" sz="1200" b="0" i="0" kern="1200" dirty="0">
                    <a:solidFill>
                      <a:schemeClr val="tx1"/>
                    </a:solidFill>
                    <a:effectLst/>
                    <a:latin typeface="+mn-lt"/>
                    <a:ea typeface="+mn-ea"/>
                    <a:cs typeface="+mn-cs"/>
                  </a:rPr>
                  <a:t>Unlike the 5-bit case where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is the minimum and its negation wraps onto itself, in 6 bits </a:t>
                </a:r>
                <a:r>
                  <a:rPr lang="en-US" sz="1200" i="0" kern="1200">
                    <a:solidFill>
                      <a:schemeClr val="tx1"/>
                    </a:solidFill>
                    <a:latin typeface="+mn-lt"/>
                    <a:ea typeface="+mn-ea"/>
                    <a:cs typeface="+mn-cs"/>
                  </a:rPr>
                  <a:t>−16</a:t>
                </a:r>
                <a:r>
                  <a:rPr lang="en-US" sz="1200" b="0" i="0" kern="1200" dirty="0">
                    <a:solidFill>
                      <a:schemeClr val="tx1"/>
                    </a:solidFill>
                    <a:effectLst/>
                    <a:latin typeface="+mn-lt"/>
                    <a:ea typeface="+mn-ea"/>
                    <a:cs typeface="+mn-cs"/>
                  </a:rPr>
                  <a:t> behaves normally with correct negation.</a:t>
                </a:r>
              </a:p>
              <a:p>
                <a:endParaRPr lang="en-US" dirty="0"/>
              </a:p>
            </p:txBody>
          </p:sp>
        </mc:Fallback>
      </mc:AlternateContent>
      <p:sp>
        <p:nvSpPr>
          <p:cNvPr id="4" name="Slide Number Placeholder 3"/>
          <p:cNvSpPr>
            <a:spLocks noGrp="1"/>
          </p:cNvSpPr>
          <p:nvPr>
            <p:ph type="sldNum" sz="quarter" idx="5"/>
          </p:nvPr>
        </p:nvSpPr>
        <p:spPr/>
        <p:txBody>
          <a:bodyPr/>
          <a:lstStyle/>
          <a:p>
            <a:fld id="{633BBA0F-9BBE-41FE-A859-D6EE6CD9FB52}" type="slidenum">
              <a:rPr lang="en-US" smtClean="0"/>
              <a:t>16</a:t>
            </a:fld>
            <a:endParaRPr lang="en-US"/>
          </a:p>
        </p:txBody>
      </p:sp>
    </p:spTree>
    <p:extLst>
      <p:ext uri="{BB962C8B-B14F-4D97-AF65-F5344CB8AC3E}">
        <p14:creationId xmlns:p14="http://schemas.microsoft.com/office/powerpoint/2010/main" val="24599632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Signed number x = 10000 = -16, TC(x) = 10000 = -16, so their </a:t>
            </a:r>
            <a:r>
              <a:rPr lang="en-US" dirty="0">
                <a:solidFill>
                  <a:srgbClr val="FF0000"/>
                </a:solidFill>
              </a:rPr>
              <a:t>signed sum</a:t>
            </a:r>
            <a:r>
              <a:rPr lang="en-US" dirty="0"/>
              <a:t> is 10000 + 10000 = 00000 (in decimal -16 + (-16) = 0).  The result is incorrect as Overflow flag = 1</a:t>
            </a: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Unsigned number 10000 = 16, 10000 = 16, so their </a:t>
            </a:r>
            <a:r>
              <a:rPr lang="en-US" dirty="0">
                <a:solidFill>
                  <a:srgbClr val="FF0000"/>
                </a:solidFill>
              </a:rPr>
              <a:t>unsigned sum</a:t>
            </a:r>
            <a:r>
              <a:rPr lang="en-US" dirty="0"/>
              <a:t> is 10000 + 10000 = 00000 (in decimal 16 + 16 = 32), Carry flag = 1</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17</a:t>
            </a:fld>
            <a:endParaRPr lang="en-US"/>
          </a:p>
        </p:txBody>
      </p:sp>
    </p:spTree>
    <p:extLst>
      <p:ext uri="{BB962C8B-B14F-4D97-AF65-F5344CB8AC3E}">
        <p14:creationId xmlns:p14="http://schemas.microsoft.com/office/powerpoint/2010/main" val="6017344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0" y="514350"/>
            <a:ext cx="4572000" cy="25717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F90BD9A7-939F-844E-AA9E-BD9AA155276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378062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mn-lt"/>
              </a:rPr>
              <a:t>Different assembly instructions for copying signed/unsigned data</a:t>
            </a:r>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19</a:t>
            </a:fld>
            <a:endParaRPr lang="en-US"/>
          </a:p>
        </p:txBody>
      </p:sp>
    </p:spTree>
    <p:extLst>
      <p:ext uri="{BB962C8B-B14F-4D97-AF65-F5344CB8AC3E}">
        <p14:creationId xmlns:p14="http://schemas.microsoft.com/office/powerpoint/2010/main" val="19468404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For signed numbers represented in two’s complement, an overflow occurs only in two scenarios: </a:t>
            </a:r>
          </a:p>
          <a:p>
            <a:pPr marL="228600" lvl="0" indent="-228600">
              <a:buFont typeface="+mj-lt"/>
              <a:buAutoNum type="arabicPeriod"/>
            </a:pPr>
            <a:r>
              <a:rPr lang="en-US" sz="1200" kern="1200" dirty="0">
                <a:solidFill>
                  <a:schemeClr val="tx1"/>
                </a:solidFill>
                <a:effectLst/>
                <a:latin typeface="+mn-lt"/>
                <a:ea typeface="+mn-ea"/>
                <a:cs typeface="+mn-cs"/>
              </a:rPr>
              <a:t>Add two positive numbers and get a negative result</a:t>
            </a:r>
          </a:p>
          <a:p>
            <a:pPr marL="228600" lvl="0" indent="-228600">
              <a:buFont typeface="+mj-lt"/>
              <a:buAutoNum type="arabicPeriod"/>
            </a:pPr>
            <a:r>
              <a:rPr lang="en-US" sz="1200" kern="1200" dirty="0">
                <a:solidFill>
                  <a:schemeClr val="tx1"/>
                </a:solidFill>
                <a:effectLst/>
                <a:latin typeface="+mn-lt"/>
                <a:ea typeface="+mn-ea"/>
                <a:cs typeface="+mn-cs"/>
              </a:rPr>
              <a:t>Add two negative numbers and get a positive result</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25</a:t>
            </a:fld>
            <a:endParaRPr lang="en-US"/>
          </a:p>
        </p:txBody>
      </p:sp>
    </p:spTree>
    <p:extLst>
      <p:ext uri="{BB962C8B-B14F-4D97-AF65-F5344CB8AC3E}">
        <p14:creationId xmlns:p14="http://schemas.microsoft.com/office/powerpoint/2010/main" val="38833639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For signed numbers represented in two’s complement, an overflow occurs only in two scenarios: </a:t>
            </a:r>
          </a:p>
          <a:p>
            <a:pPr marL="228600" lvl="0" indent="-228600">
              <a:buFont typeface="+mj-lt"/>
              <a:buAutoNum type="arabicPeriod"/>
            </a:pPr>
            <a:r>
              <a:rPr lang="en-US" sz="1200" kern="1200" dirty="0">
                <a:solidFill>
                  <a:schemeClr val="tx1"/>
                </a:solidFill>
                <a:effectLst/>
                <a:latin typeface="+mn-lt"/>
                <a:ea typeface="+mn-ea"/>
                <a:cs typeface="+mn-cs"/>
              </a:rPr>
              <a:t>Add two positive numbers and get a negative result</a:t>
            </a:r>
          </a:p>
          <a:p>
            <a:pPr marL="228600" lvl="0" indent="-228600">
              <a:buFont typeface="+mj-lt"/>
              <a:buAutoNum type="arabicPeriod"/>
            </a:pPr>
            <a:r>
              <a:rPr lang="en-US" sz="1200" kern="1200" dirty="0">
                <a:solidFill>
                  <a:schemeClr val="tx1"/>
                </a:solidFill>
                <a:effectLst/>
                <a:latin typeface="+mn-lt"/>
                <a:ea typeface="+mn-ea"/>
                <a:cs typeface="+mn-cs"/>
              </a:rPr>
              <a:t>Add two negative numbers and get a positive result</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26</a:t>
            </a:fld>
            <a:endParaRPr lang="en-US"/>
          </a:p>
        </p:txBody>
      </p:sp>
    </p:spTree>
    <p:extLst>
      <p:ext uri="{BB962C8B-B14F-4D97-AF65-F5344CB8AC3E}">
        <p14:creationId xmlns:p14="http://schemas.microsoft.com/office/powerpoint/2010/main" val="38833639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dirty="0"/>
              <a:t> {{Pause=1}}  We will use a very simple example to show that, the hardware adder  for adding unsigned numbers, also works correctly for adding signed numbers.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Suppose we are adding  negative nine and six. {{Pause=0.5}}  These two signed numbers are represented in two’s complement in computers.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Specifically, we can obtain the two’s complement representation of negative nine by flipping all bits and adding one. {{Pause=0.5}} The two’s complement of a positive number is itself.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Let’s see what will happen if the hardware treats these two inputs as unsigned numbers. If these binary bits represent unsigned numbers,  they are 23 and 6, respectively. Therefore, the hardware adds 23 and 6, and produces 29, in decimal,  {{Pause=0.3}} or one, one, one, zero, one, in binary.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If the output represents a signed integer in two’s complement, it actually represents negative 3. This can be proved by inverting all the bits and adding one. The result, negative three, is exactly the sum of the original signed inputs. {{Pause=0.5}}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pPr marL="0" marR="0" indent="0" algn="l" defTabSz="457200" rtl="0" eaLnBrk="1" fontAlgn="auto" latinLnBrk="0" hangingPunct="1">
              <a:lnSpc>
                <a:spcPct val="100000"/>
              </a:lnSpc>
              <a:spcBef>
                <a:spcPts val="0"/>
              </a:spcBef>
              <a:spcAft>
                <a:spcPts val="0"/>
              </a:spcAft>
              <a:buClrTx/>
              <a:buSzTx/>
              <a:buFontTx/>
              <a:buNone/>
              <a:tabLst/>
              <a:defRPr/>
            </a:pPr>
            <a:r>
              <a:rPr lang="en-US" dirty="0"/>
              <a:t>This example shows that, without any modification, the hardware adder designed for adding unsigned numbers,  works correctly for adding signed numbers. </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31</a:t>
            </a:fld>
            <a:endParaRPr lang="en-US"/>
          </a:p>
        </p:txBody>
      </p:sp>
    </p:spTree>
    <p:extLst>
      <p:ext uri="{BB962C8B-B14F-4D97-AF65-F5344CB8AC3E}">
        <p14:creationId xmlns:p14="http://schemas.microsoft.com/office/powerpoint/2010/main" val="16380219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baseline="0" dirty="0"/>
              <a:t>{{Pause=1}} Similarly, the same subtraction hardware works correctly for both signed and unsigned subtraction, even though the sign of input operands is not examined. {{Pause=0.3}} This example subtracts 6 from negative 9. The hardware ignores the sign of the inputs, and subtracts 6 from 23. The result is 17, in decimal, {{Pause=0.3}} or one, zero, zero, zero, one, in binary.  If the result represents a signed integer in two’s complement, then the result is negative 15. This is exactly the result of subtracting the original signed integers.</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32</a:t>
            </a:fld>
            <a:endParaRPr lang="en-US"/>
          </a:p>
        </p:txBody>
      </p:sp>
    </p:spTree>
    <p:extLst>
      <p:ext uri="{BB962C8B-B14F-4D97-AF65-F5344CB8AC3E}">
        <p14:creationId xmlns:p14="http://schemas.microsoft.com/office/powerpoint/2010/main" val="34232166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xfrm>
            <a:off x="381000" y="685800"/>
            <a:ext cx="6096000" cy="3429000"/>
          </a:xfrm>
          <a:ln/>
        </p:spPr>
      </p:sp>
      <p:sp>
        <p:nvSpPr>
          <p:cNvPr id="32461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3588412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is set when the true unsigned result exceeds the representable range.</a:t>
            </a:r>
          </a:p>
        </p:txBody>
      </p:sp>
      <p:sp>
        <p:nvSpPr>
          <p:cNvPr id="4" name="Slide Number Placeholder 3"/>
          <p:cNvSpPr>
            <a:spLocks noGrp="1"/>
          </p:cNvSpPr>
          <p:nvPr>
            <p:ph type="sldNum" sz="quarter" idx="5"/>
          </p:nvPr>
        </p:nvSpPr>
        <p:spPr/>
        <p:txBody>
          <a:bodyPr/>
          <a:lstStyle/>
          <a:p>
            <a:fld id="{D624DF53-3DD3-9F45-9E7E-472B96F1AB81}" type="slidenum">
              <a:rPr lang="en-US" smtClean="0"/>
              <a:pPr/>
              <a:t>34</a:t>
            </a:fld>
            <a:endParaRPr lang="en-US"/>
          </a:p>
        </p:txBody>
      </p:sp>
    </p:spTree>
    <p:extLst>
      <p:ext uri="{BB962C8B-B14F-4D97-AF65-F5344CB8AC3E}">
        <p14:creationId xmlns:p14="http://schemas.microsoft.com/office/powerpoint/2010/main" val="30471845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8E8B2B42-CBC2-7D4E-BA50-0E7F29B4DAAB}" type="datetime1">
              <a:rPr lang="en-US" smtClean="0"/>
              <a:t>9/2/2026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A9E6F060-20EB-3246-9088-08BF5F1271DE}" type="datetime1">
              <a:rPr lang="en-US" smtClean="0"/>
              <a:t>9/2/2026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34C82E41-DA7E-CA4C-823B-C759BEA16CE8}" type="datetime1">
              <a:rPr lang="en-US" smtClean="0"/>
              <a:t>9/2/2026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2500C8B0-EB1A-0A41-B839-C4B99CD2225A}" type="datetime1">
              <a:rPr lang="en-US" smtClean="0"/>
              <a:t>9/2/2026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4F16605B-D952-1149-A111-28A5633BAE48}" type="datetime1">
              <a:rPr lang="en-US" smtClean="0"/>
              <a:t>9/2/2026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91109A1C-29B2-B04E-8365-C9D22C4AE842}" type="datetime1">
              <a:rPr lang="en-US" smtClean="0"/>
              <a:t>9/2/2026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CE417B6-A42B-064A-8677-46C55C4F613A}" type="datetime1">
              <a:rPr lang="en-US" smtClean="0"/>
              <a:t>9/2/2026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E76F5AD-3F1F-7141-BC8A-012C5728BE2D}" type="datetime1">
              <a:rPr lang="en-US" smtClean="0"/>
              <a:t>9/2/2026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09FA12B8-739E-4D47-A14C-180C3BC10865}" type="datetime1">
              <a:rPr lang="en-US" smtClean="0"/>
              <a:t>9/2/2026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597D1259-3A46-254C-ADDB-B5DA4F1DF3DA}" type="datetime1">
              <a:rPr lang="en-US" smtClean="0"/>
              <a:t>9/2/2026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CCA104EC-54AA-E04F-BDC0-22B4E8892699}" type="datetime1">
              <a:rPr lang="en-US" smtClean="0"/>
              <a:t>9/2/2026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CDD18CD8-E404-844E-A4BD-DF69B8E5881E}" type="datetime1">
              <a:rPr lang="en-US" smtClean="0"/>
              <a:t>9/2/2026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emf"/><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emf"/><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17.emf"/><Relationship Id="rId1" Type="http://schemas.openxmlformats.org/officeDocument/2006/relationships/slideLayout" Target="../slideLayouts/slideLayout2.xml"/><Relationship Id="rId4" Type="http://schemas.openxmlformats.org/officeDocument/2006/relationships/image" Target="../media/image19.emf"/></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9.emf"/><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www.youtube.com/watch?v=MxGW2WurKuM&amp;list=PLRJhV4hUhIymmp5CCeIFPyxbknsdcXCc8&amp;index=2" TargetMode="External"/><Relationship Id="rId2" Type="http://schemas.openxmlformats.org/officeDocument/2006/relationships/hyperlink" Target="https://www.youtube.com/watch?v=lJCefqV80ck&amp;list=PLRJhV4hUhIymmp5CCeIFPyxbknsdcXCc8&amp;index=1" TargetMode="External"/><Relationship Id="rId1" Type="http://schemas.openxmlformats.org/officeDocument/2006/relationships/slideLayout" Target="../slideLayouts/slideLayout2.xml"/><Relationship Id="rId4" Type="http://schemas.openxmlformats.org/officeDocument/2006/relationships/hyperlink" Target="https://www.youtube.com/watch?v=BIn6iyYIGio&amp;list=PLRJhV4hUhIymmp5CCeIFPyxbknsdcXCc8&amp;index=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altLang="zh-CN" sz="2000" dirty="0"/>
              <a:t>Z. Gu</a:t>
            </a:r>
            <a:br>
              <a:rPr lang="en-US" sz="2000" dirty="0"/>
            </a:br>
            <a:r>
              <a:rPr lang="en-US" sz="2000" dirty="0"/>
              <a:t>Hofstra University</a:t>
            </a:r>
          </a:p>
        </p:txBody>
      </p:sp>
      <p:sp>
        <p:nvSpPr>
          <p:cNvPr id="3" name="Subtitle 2"/>
          <p:cNvSpPr>
            <a:spLocks noGrp="1"/>
          </p:cNvSpPr>
          <p:nvPr>
            <p:ph type="subTitle" idx="1"/>
          </p:nvPr>
        </p:nvSpPr>
        <p:spPr/>
        <p:txBody>
          <a:bodyPr/>
          <a:lstStyle/>
          <a:p>
            <a:r>
              <a:rPr lang="en-US" dirty="0"/>
              <a:t>Spring 2026</a:t>
            </a:r>
          </a:p>
        </p:txBody>
      </p:sp>
      <p:sp>
        <p:nvSpPr>
          <p:cNvPr id="5" name="TextBox 4"/>
          <p:cNvSpPr txBox="1"/>
          <p:nvPr/>
        </p:nvSpPr>
        <p:spPr>
          <a:xfrm>
            <a:off x="4572000" y="279233"/>
            <a:ext cx="6477000" cy="646331"/>
          </a:xfrm>
          <a:prstGeom prst="rect">
            <a:avLst/>
          </a:prstGeom>
          <a:noFill/>
        </p:spPr>
        <p:txBody>
          <a:bodyPr wrap="square" rtlCol="0">
            <a:spAutoFit/>
          </a:bodyPr>
          <a:lstStyle/>
          <a:p>
            <a:pPr algn="r"/>
            <a:r>
              <a:rPr lang="en-US" b="1" dirty="0">
                <a:latin typeface="Bookman Old Style (Headings)"/>
              </a:rPr>
              <a:t>Embedded Systems with ARM Cortex-M Microcontrollers in Assembly Language and C</a:t>
            </a:r>
          </a:p>
        </p:txBody>
      </p:sp>
      <p:sp>
        <p:nvSpPr>
          <p:cNvPr id="6" name="TextBox 5"/>
          <p:cNvSpPr txBox="1"/>
          <p:nvPr/>
        </p:nvSpPr>
        <p:spPr>
          <a:xfrm>
            <a:off x="7601489" y="1743875"/>
            <a:ext cx="3168111" cy="830997"/>
          </a:xfrm>
          <a:prstGeom prst="rect">
            <a:avLst/>
          </a:prstGeom>
          <a:noFill/>
        </p:spPr>
        <p:txBody>
          <a:bodyPr wrap="none" rtlCol="0">
            <a:spAutoFit/>
          </a:bodyPr>
          <a:lstStyle/>
          <a:p>
            <a:pPr algn="r"/>
            <a:r>
              <a:rPr lang="en-US" sz="2400" b="1" dirty="0">
                <a:solidFill>
                  <a:srgbClr val="C00000"/>
                </a:solidFill>
              </a:rPr>
              <a:t>Chapter 2</a:t>
            </a:r>
          </a:p>
          <a:p>
            <a:pPr algn="r"/>
            <a:r>
              <a:rPr lang="en-US" sz="2400" b="1" dirty="0">
                <a:solidFill>
                  <a:srgbClr val="C00000"/>
                </a:solidFill>
              </a:rPr>
              <a:t>Data Representation</a:t>
            </a:r>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Bit, Byte, Half-word, Word, Double-Word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pic>
        <p:nvPicPr>
          <p:cNvPr id="368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2162174"/>
            <a:ext cx="8774494" cy="30194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545540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Binary, Decimal and Hex</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170717742"/>
              </p:ext>
            </p:extLst>
          </p:nvPr>
        </p:nvGraphicFramePr>
        <p:xfrm>
          <a:off x="2743200" y="1447800"/>
          <a:ext cx="3886200" cy="4744720"/>
        </p:xfrm>
        <a:graphic>
          <a:graphicData uri="http://schemas.openxmlformats.org/drawingml/2006/table">
            <a:tbl>
              <a:tblPr firstRow="1" firstCol="1" bandRow="1">
                <a:tableStyleId>{B301B821-A1FF-4177-AEE7-76D212191A09}</a:tableStyleId>
              </a:tblPr>
              <a:tblGrid>
                <a:gridCol w="1223175">
                  <a:extLst>
                    <a:ext uri="{9D8B030D-6E8A-4147-A177-3AD203B41FA5}">
                      <a16:colId xmlns:a16="http://schemas.microsoft.com/office/drawing/2014/main" val="20000"/>
                    </a:ext>
                  </a:extLst>
                </a:gridCol>
                <a:gridCol w="1215225">
                  <a:extLst>
                    <a:ext uri="{9D8B030D-6E8A-4147-A177-3AD203B41FA5}">
                      <a16:colId xmlns:a16="http://schemas.microsoft.com/office/drawing/2014/main" val="20001"/>
                    </a:ext>
                  </a:extLst>
                </a:gridCol>
                <a:gridCol w="1447800">
                  <a:extLst>
                    <a:ext uri="{9D8B030D-6E8A-4147-A177-3AD203B41FA5}">
                      <a16:colId xmlns:a16="http://schemas.microsoft.com/office/drawing/2014/main" val="20003"/>
                    </a:ext>
                  </a:extLst>
                </a:gridCol>
              </a:tblGrid>
              <a:tr h="50006">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Decimal</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Binary</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Hex</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7940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0000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27940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2</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0010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2</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3</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0011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3</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4</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0100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4</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5"/>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5</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5</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6"/>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6</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0110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6</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7"/>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7</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0111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solidFill>
                            <a:srgbClr val="C00000"/>
                          </a:solidFill>
                          <a:effectLst/>
                          <a:latin typeface="Consolas" panose="020B0609020204030204" pitchFamily="49" charset="0"/>
                          <a:cs typeface="Consolas" panose="020B0609020204030204" pitchFamily="49" charset="0"/>
                        </a:rPr>
                        <a:t>0x</a:t>
                      </a:r>
                      <a:r>
                        <a:rPr lang="en-US" sz="1800" dirty="0">
                          <a:effectLst/>
                          <a:latin typeface="Consolas" panose="020B0609020204030204" pitchFamily="49" charset="0"/>
                          <a:cs typeface="Consolas" panose="020B0609020204030204" pitchFamily="49" charset="0"/>
                        </a:rPr>
                        <a:t>7</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8"/>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8</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1000</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8</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9"/>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9</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1001</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9</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0"/>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A</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1"/>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1011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B</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2"/>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12</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1100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C</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3"/>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13</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1101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D</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4"/>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14</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1110</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E</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5"/>
                  </a:ext>
                </a:extLst>
              </a:tr>
              <a:tr h="279400">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15</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1111</a:t>
                      </a:r>
                      <a:endParaRPr lang="en-US" sz="24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dirty="0" err="1">
                          <a:solidFill>
                            <a:srgbClr val="C00000"/>
                          </a:solidFill>
                          <a:effectLst/>
                          <a:latin typeface="Consolas" panose="020B0609020204030204" pitchFamily="49" charset="0"/>
                          <a:cs typeface="Consolas" panose="020B0609020204030204" pitchFamily="49" charset="0"/>
                        </a:rPr>
                        <a:t>0x</a:t>
                      </a:r>
                      <a:r>
                        <a:rPr lang="en-US" sz="1800" dirty="0" err="1">
                          <a:effectLst/>
                          <a:latin typeface="Consolas" panose="020B0609020204030204" pitchFamily="49" charset="0"/>
                          <a:cs typeface="Consolas" panose="020B0609020204030204" pitchFamily="49" charset="0"/>
                        </a:rPr>
                        <a:t>F</a:t>
                      </a:r>
                      <a:endParaRPr lang="en-US" sz="24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16"/>
                  </a:ext>
                </a:extLst>
              </a:tr>
            </a:tbl>
          </a:graphicData>
        </a:graphic>
      </p:graphicFrame>
      <p:sp>
        <p:nvSpPr>
          <p:cNvPr id="4" name="TextBox 3">
            <a:extLst>
              <a:ext uri="{FF2B5EF4-FFF2-40B4-BE49-F238E27FC236}">
                <a16:creationId xmlns:a16="http://schemas.microsoft.com/office/drawing/2014/main" id="{72554E20-D18F-D64B-A69C-5F17997B1631}"/>
              </a:ext>
            </a:extLst>
          </p:cNvPr>
          <p:cNvSpPr txBox="1"/>
          <p:nvPr/>
        </p:nvSpPr>
        <p:spPr>
          <a:xfrm>
            <a:off x="8458200" y="2895600"/>
            <a:ext cx="924612" cy="369332"/>
          </a:xfrm>
          <a:prstGeom prst="rect">
            <a:avLst/>
          </a:prstGeom>
          <a:noFill/>
        </p:spPr>
        <p:txBody>
          <a:bodyPr wrap="none" rtlCol="0">
            <a:spAutoFit/>
          </a:bodyPr>
          <a:lstStyle/>
          <a:p>
            <a:r>
              <a:rPr lang="en-US" dirty="0">
                <a:solidFill>
                  <a:srgbClr val="C00000"/>
                </a:solidFill>
                <a:latin typeface="Consolas" panose="020B0609020204030204" pitchFamily="49" charset="0"/>
                <a:cs typeface="Consolas" panose="020B0609020204030204" pitchFamily="49" charset="0"/>
              </a:rPr>
              <a:t>0x</a:t>
            </a:r>
            <a:r>
              <a:rPr lang="en-US" dirty="0"/>
              <a:t>: Hex</a:t>
            </a:r>
          </a:p>
        </p:txBody>
      </p:sp>
    </p:spTree>
    <p:extLst>
      <p:ext uri="{BB962C8B-B14F-4D97-AF65-F5344CB8AC3E}">
        <p14:creationId xmlns:p14="http://schemas.microsoft.com/office/powerpoint/2010/main" val="378836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15B04-437F-474A-B7BE-D630BA3FEA18}"/>
              </a:ext>
            </a:extLst>
          </p:cNvPr>
          <p:cNvSpPr>
            <a:spLocks noGrp="1"/>
          </p:cNvSpPr>
          <p:nvPr>
            <p:ph type="title"/>
          </p:nvPr>
        </p:nvSpPr>
        <p:spPr/>
        <p:txBody>
          <a:bodyPr/>
          <a:lstStyle/>
          <a:p>
            <a:r>
              <a:rPr lang="en-US" dirty="0"/>
              <a:t>Range of Unsigned Integers</a:t>
            </a:r>
          </a:p>
        </p:txBody>
      </p:sp>
      <p:sp>
        <p:nvSpPr>
          <p:cNvPr id="3" name="Slide Number Placeholder 2">
            <a:extLst>
              <a:ext uri="{FF2B5EF4-FFF2-40B4-BE49-F238E27FC236}">
                <a16:creationId xmlns:a16="http://schemas.microsoft.com/office/drawing/2014/main" id="{CD769408-F06B-B447-9D5C-D530E6861A14}"/>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graphicFrame>
        <p:nvGraphicFramePr>
          <p:cNvPr id="5" name="Table 4">
            <a:extLst>
              <a:ext uri="{FF2B5EF4-FFF2-40B4-BE49-F238E27FC236}">
                <a16:creationId xmlns:a16="http://schemas.microsoft.com/office/drawing/2014/main" id="{BC24311B-E1D8-904F-8F58-7536EEABD684}"/>
              </a:ext>
            </a:extLst>
          </p:cNvPr>
          <p:cNvGraphicFramePr>
            <a:graphicFrameLocks noGrp="1"/>
          </p:cNvGraphicFramePr>
          <p:nvPr>
            <p:extLst>
              <p:ext uri="{D42A27DB-BD31-4B8C-83A1-F6EECF244321}">
                <p14:modId xmlns:p14="http://schemas.microsoft.com/office/powerpoint/2010/main" val="1370085427"/>
              </p:ext>
            </p:extLst>
          </p:nvPr>
        </p:nvGraphicFramePr>
        <p:xfrm>
          <a:off x="1905000" y="4059698"/>
          <a:ext cx="8458200" cy="2112500"/>
        </p:xfrm>
        <a:graphic>
          <a:graphicData uri="http://schemas.openxmlformats.org/drawingml/2006/table">
            <a:tbl>
              <a:tblPr firstRow="1" bandRow="1">
                <a:tableStyleId>{5C22544A-7EE6-4342-B048-85BDC9FD1C3A}</a:tableStyleId>
              </a:tblPr>
              <a:tblGrid>
                <a:gridCol w="2608604">
                  <a:extLst>
                    <a:ext uri="{9D8B030D-6E8A-4147-A177-3AD203B41FA5}">
                      <a16:colId xmlns:a16="http://schemas.microsoft.com/office/drawing/2014/main" val="3190717045"/>
                    </a:ext>
                  </a:extLst>
                </a:gridCol>
                <a:gridCol w="4175577">
                  <a:extLst>
                    <a:ext uri="{9D8B030D-6E8A-4147-A177-3AD203B41FA5}">
                      <a16:colId xmlns:a16="http://schemas.microsoft.com/office/drawing/2014/main" val="1430391139"/>
                    </a:ext>
                  </a:extLst>
                </a:gridCol>
                <a:gridCol w="1674019">
                  <a:extLst>
                    <a:ext uri="{9D8B030D-6E8A-4147-A177-3AD203B41FA5}">
                      <a16:colId xmlns:a16="http://schemas.microsoft.com/office/drawing/2014/main" val="2800719782"/>
                    </a:ext>
                  </a:extLst>
                </a:gridCol>
              </a:tblGrid>
              <a:tr h="422500">
                <a:tc>
                  <a:txBody>
                    <a:bodyPr/>
                    <a:lstStyle/>
                    <a:p>
                      <a:r>
                        <a:rPr lang="en-US" dirty="0"/>
                        <a:t>Storage Size</a:t>
                      </a:r>
                    </a:p>
                  </a:txBody>
                  <a:tcPr/>
                </a:tc>
                <a:tc>
                  <a:txBody>
                    <a:bodyPr/>
                    <a:lstStyle/>
                    <a:p>
                      <a:r>
                        <a:rPr lang="en-US" dirty="0"/>
                        <a:t>Range</a:t>
                      </a:r>
                    </a:p>
                  </a:txBody>
                  <a:tcPr/>
                </a:tc>
                <a:tc>
                  <a:txBody>
                    <a:bodyPr/>
                    <a:lstStyle/>
                    <a:p>
                      <a:r>
                        <a:rPr lang="en-US" dirty="0"/>
                        <a:t>Powers of 2</a:t>
                      </a:r>
                    </a:p>
                  </a:txBody>
                  <a:tcPr/>
                </a:tc>
                <a:extLst>
                  <a:ext uri="{0D108BD9-81ED-4DB2-BD59-A6C34878D82A}">
                    <a16:rowId xmlns:a16="http://schemas.microsoft.com/office/drawing/2014/main" val="620067711"/>
                  </a:ext>
                </a:extLst>
              </a:tr>
              <a:tr h="422500">
                <a:tc>
                  <a:txBody>
                    <a:bodyPr/>
                    <a:lstStyle/>
                    <a:p>
                      <a:r>
                        <a:rPr lang="en-US" dirty="0"/>
                        <a:t>Unsigned Byte</a:t>
                      </a:r>
                    </a:p>
                  </a:txBody>
                  <a:tcPr/>
                </a:tc>
                <a:tc>
                  <a:txBody>
                    <a:bodyPr/>
                    <a:lstStyle/>
                    <a:p>
                      <a:r>
                        <a:rPr lang="en-US" dirty="0">
                          <a:latin typeface="Consolas" panose="020B0609020204030204" pitchFamily="49" charset="0"/>
                          <a:cs typeface="Consolas" panose="020B0609020204030204" pitchFamily="49" charset="0"/>
                        </a:rPr>
                        <a:t>0 to 255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8</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1374279697"/>
                  </a:ext>
                </a:extLst>
              </a:tr>
              <a:tr h="422500">
                <a:tc>
                  <a:txBody>
                    <a:bodyPr/>
                    <a:lstStyle/>
                    <a:p>
                      <a:r>
                        <a:rPr lang="en-US" dirty="0"/>
                        <a:t>Unsigned Half-word</a:t>
                      </a:r>
                    </a:p>
                  </a:txBody>
                  <a:tcPr/>
                </a:tc>
                <a:tc>
                  <a:txBody>
                    <a:bodyPr/>
                    <a:lstStyle/>
                    <a:p>
                      <a:r>
                        <a:rPr lang="en-US" dirty="0">
                          <a:latin typeface="Consolas" panose="020B0609020204030204" pitchFamily="49" charset="0"/>
                          <a:cs typeface="Consolas" panose="020B0609020204030204" pitchFamily="49" charset="0"/>
                        </a:rPr>
                        <a:t>0 to 65,535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16</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695154742"/>
                  </a:ext>
                </a:extLst>
              </a:tr>
              <a:tr h="422500">
                <a:tc>
                  <a:txBody>
                    <a:bodyPr/>
                    <a:lstStyle/>
                    <a:p>
                      <a:r>
                        <a:rPr lang="en-US" dirty="0"/>
                        <a:t>Unsigned Word</a:t>
                      </a:r>
                    </a:p>
                  </a:txBody>
                  <a:tcPr/>
                </a:tc>
                <a:tc>
                  <a:txBody>
                    <a:bodyPr/>
                    <a:lstStyle/>
                    <a:p>
                      <a:r>
                        <a:rPr lang="en-US" dirty="0">
                          <a:latin typeface="Consolas" panose="020B0609020204030204" pitchFamily="49" charset="0"/>
                          <a:cs typeface="Consolas" panose="020B0609020204030204" pitchFamily="49" charset="0"/>
                        </a:rPr>
                        <a:t>0 to 4,294,967,295 </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32</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261474874"/>
                  </a:ext>
                </a:extLst>
              </a:tr>
              <a:tr h="422500">
                <a:tc>
                  <a:txBody>
                    <a:bodyPr/>
                    <a:lstStyle/>
                    <a:p>
                      <a:r>
                        <a:rPr lang="en-US" dirty="0"/>
                        <a:t>Unsigned Double-word</a:t>
                      </a:r>
                    </a:p>
                  </a:txBody>
                  <a:tcPr/>
                </a:tc>
                <a:tc>
                  <a:txBody>
                    <a:bodyPr/>
                    <a:lstStyle/>
                    <a:p>
                      <a:r>
                        <a:rPr lang="en-US" dirty="0">
                          <a:latin typeface="Consolas" panose="020B0609020204030204" pitchFamily="49" charset="0"/>
                          <a:cs typeface="Consolas" panose="020B0609020204030204" pitchFamily="49" charset="0"/>
                        </a:rPr>
                        <a:t>0 to 18,446,744,073,709,551,615</a:t>
                      </a:r>
                    </a:p>
                  </a:txBody>
                  <a:tcPr/>
                </a:tc>
                <a:tc>
                  <a:txBody>
                    <a:bodyPr/>
                    <a:lstStyle/>
                    <a:p>
                      <a:r>
                        <a:rPr lang="en-US" dirty="0">
                          <a:latin typeface="Consolas" panose="020B0609020204030204" pitchFamily="49" charset="0"/>
                          <a:cs typeface="Consolas" panose="020B0609020204030204" pitchFamily="49" charset="0"/>
                        </a:rPr>
                        <a:t>0 to 2</a:t>
                      </a:r>
                      <a:r>
                        <a:rPr lang="en-US" baseline="30000" dirty="0">
                          <a:latin typeface="Consolas" panose="020B0609020204030204" pitchFamily="49" charset="0"/>
                          <a:cs typeface="Consolas" panose="020B0609020204030204" pitchFamily="49" charset="0"/>
                        </a:rPr>
                        <a:t>64</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2526923844"/>
                  </a:ext>
                </a:extLst>
              </a:tr>
            </a:tbl>
          </a:graphicData>
        </a:graphic>
      </p:graphicFrame>
      <p:pic>
        <p:nvPicPr>
          <p:cNvPr id="6" name="Picture 2">
            <a:extLst>
              <a:ext uri="{FF2B5EF4-FFF2-40B4-BE49-F238E27FC236}">
                <a16:creationId xmlns:a16="http://schemas.microsoft.com/office/drawing/2014/main" id="{7ED386D6-DCF5-5F49-B79D-9DCD839335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4601" y="1321897"/>
            <a:ext cx="7307465" cy="2514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849648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Unsigned Integers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6" name="TextBox 5"/>
          <p:cNvSpPr txBox="1"/>
          <p:nvPr/>
        </p:nvSpPr>
        <p:spPr>
          <a:xfrm>
            <a:off x="1828801" y="1302199"/>
            <a:ext cx="3159839" cy="369332"/>
          </a:xfrm>
          <a:prstGeom prst="rect">
            <a:avLst/>
          </a:prstGeom>
          <a:noFill/>
        </p:spPr>
        <p:txBody>
          <a:bodyPr wrap="none" rtlCol="0">
            <a:spAutoFit/>
          </a:bodyPr>
          <a:lstStyle/>
          <a:p>
            <a:r>
              <a:rPr lang="en-US" b="1" dirty="0">
                <a:solidFill>
                  <a:srgbClr val="C00000"/>
                </a:solidFill>
              </a:rPr>
              <a:t>Convert Decimal to Binary </a:t>
            </a:r>
          </a:p>
        </p:txBody>
      </p:sp>
      <p:pic>
        <p:nvPicPr>
          <p:cNvPr id="3994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2744" y="2514600"/>
            <a:ext cx="3810857" cy="30887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Rectangle 7"/>
          <p:cNvSpPr/>
          <p:nvPr/>
        </p:nvSpPr>
        <p:spPr>
          <a:xfrm>
            <a:off x="3155265" y="5794087"/>
            <a:ext cx="1715534" cy="369332"/>
          </a:xfrm>
          <a:prstGeom prst="rect">
            <a:avLst/>
          </a:prstGeom>
        </p:spPr>
        <p:txBody>
          <a:bodyPr wrap="none">
            <a:spAutoFit/>
          </a:bodyPr>
          <a:lstStyle/>
          <a:p>
            <a:r>
              <a:rPr lang="en-US" b="1" dirty="0">
                <a:solidFill>
                  <a:srgbClr val="0000FF"/>
                </a:solidFill>
              </a:rPr>
              <a:t>52</a:t>
            </a:r>
            <a:r>
              <a:rPr lang="en-US" b="1" baseline="-25000" dirty="0"/>
              <a:t>10</a:t>
            </a:r>
            <a:r>
              <a:rPr lang="en-US" b="1" dirty="0"/>
              <a:t> = </a:t>
            </a:r>
            <a:r>
              <a:rPr lang="en-US" b="1" dirty="0">
                <a:solidFill>
                  <a:srgbClr val="C00000"/>
                </a:solidFill>
              </a:rPr>
              <a:t>110100</a:t>
            </a:r>
            <a:r>
              <a:rPr lang="en-US" b="1" baseline="-25000" dirty="0"/>
              <a:t>2</a:t>
            </a:r>
            <a:endParaRPr lang="en-US" b="1" dirty="0"/>
          </a:p>
        </p:txBody>
      </p:sp>
      <p:sp>
        <p:nvSpPr>
          <p:cNvPr id="11" name="Rectangle 10"/>
          <p:cNvSpPr/>
          <p:nvPr/>
        </p:nvSpPr>
        <p:spPr>
          <a:xfrm>
            <a:off x="3323580" y="1920654"/>
            <a:ext cx="1378904" cy="369332"/>
          </a:xfrm>
          <a:prstGeom prst="rect">
            <a:avLst/>
          </a:prstGeom>
        </p:spPr>
        <p:txBody>
          <a:bodyPr wrap="none">
            <a:spAutoFit/>
          </a:bodyPr>
          <a:lstStyle/>
          <a:p>
            <a:r>
              <a:rPr lang="en-US" b="1" dirty="0"/>
              <a:t>Example 1 </a:t>
            </a:r>
          </a:p>
        </p:txBody>
      </p:sp>
      <p:grpSp>
        <p:nvGrpSpPr>
          <p:cNvPr id="13" name="Group 12"/>
          <p:cNvGrpSpPr/>
          <p:nvPr/>
        </p:nvGrpSpPr>
        <p:grpSpPr>
          <a:xfrm>
            <a:off x="6324601" y="1302200"/>
            <a:ext cx="4272503" cy="5022401"/>
            <a:chOff x="4800600" y="1302199"/>
            <a:chExt cx="4272503" cy="5022401"/>
          </a:xfrm>
        </p:grpSpPr>
        <p:pic>
          <p:nvPicPr>
            <p:cNvPr id="3994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28171" y="2289986"/>
              <a:ext cx="4144932" cy="32748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cxnSp>
          <p:nvCxnSpPr>
            <p:cNvPr id="7" name="Straight Connector 6"/>
            <p:cNvCxnSpPr/>
            <p:nvPr/>
          </p:nvCxnSpPr>
          <p:spPr>
            <a:xfrm>
              <a:off x="4800600" y="1302199"/>
              <a:ext cx="0" cy="5022401"/>
            </a:xfrm>
            <a:prstGeom prst="line">
              <a:avLst/>
            </a:prstGeom>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6203659" y="5799224"/>
              <a:ext cx="1715534" cy="369332"/>
            </a:xfrm>
            <a:prstGeom prst="rect">
              <a:avLst/>
            </a:prstGeom>
          </p:spPr>
          <p:txBody>
            <a:bodyPr wrap="none">
              <a:spAutoFit/>
            </a:bodyPr>
            <a:lstStyle/>
            <a:p>
              <a:r>
                <a:rPr lang="en-US" b="1" dirty="0">
                  <a:solidFill>
                    <a:srgbClr val="0000FF"/>
                  </a:solidFill>
                </a:rPr>
                <a:t>32</a:t>
              </a:r>
              <a:r>
                <a:rPr lang="en-US" b="1" baseline="-25000" dirty="0"/>
                <a:t>10</a:t>
              </a:r>
              <a:r>
                <a:rPr lang="en-US" b="1" dirty="0"/>
                <a:t> = </a:t>
              </a:r>
              <a:r>
                <a:rPr lang="en-US" b="1" dirty="0">
                  <a:solidFill>
                    <a:srgbClr val="C00000"/>
                  </a:solidFill>
                </a:rPr>
                <a:t>100000</a:t>
              </a:r>
              <a:r>
                <a:rPr lang="en-US" b="1" baseline="-25000" dirty="0"/>
                <a:t>2</a:t>
              </a:r>
              <a:endParaRPr lang="en-US" b="1" dirty="0"/>
            </a:p>
          </p:txBody>
        </p:sp>
        <p:sp>
          <p:nvSpPr>
            <p:cNvPr id="12" name="Rectangle 11"/>
            <p:cNvSpPr/>
            <p:nvPr/>
          </p:nvSpPr>
          <p:spPr>
            <a:xfrm>
              <a:off x="6311185" y="1956101"/>
              <a:ext cx="1378904" cy="369332"/>
            </a:xfrm>
            <a:prstGeom prst="rect">
              <a:avLst/>
            </a:prstGeom>
          </p:spPr>
          <p:txBody>
            <a:bodyPr wrap="none">
              <a:spAutoFit/>
            </a:bodyPr>
            <a:lstStyle/>
            <a:p>
              <a:r>
                <a:rPr lang="en-US" b="1" dirty="0"/>
                <a:t>Example 2 </a:t>
              </a:r>
            </a:p>
          </p:txBody>
        </p:sp>
      </p:grpSp>
    </p:spTree>
    <p:extLst>
      <p:ext uri="{BB962C8B-B14F-4D97-AF65-F5344CB8AC3E}">
        <p14:creationId xmlns:p14="http://schemas.microsoft.com/office/powerpoint/2010/main" val="1467900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arithmetic</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6</a:t>
            </a:fld>
            <a:endParaRPr kumimoji="0" lang="en-US"/>
          </a:p>
        </p:txBody>
      </p:sp>
      <mc:AlternateContent xmlns:mc="http://schemas.openxmlformats.org/markup-compatibility/2006" xmlns:a14="http://schemas.microsoft.com/office/drawing/2010/main">
        <mc:Choice Requires="a14">
          <p:sp>
            <p:nvSpPr>
              <p:cNvPr id="7" name="Rectangle 6"/>
              <p:cNvSpPr/>
              <p:nvPr/>
            </p:nvSpPr>
            <p:spPr>
              <a:xfrm>
                <a:off x="813400" y="1524000"/>
                <a:ext cx="8382000" cy="4154984"/>
              </a:xfrm>
              <a:prstGeom prst="rect">
                <a:avLst/>
              </a:prstGeom>
              <a:ln>
                <a:noFill/>
              </a:ln>
            </p:spPr>
            <p:txBody>
              <a:bodyPr wrap="square">
                <a:spAutoFit/>
              </a:bodyPr>
              <a:lstStyle/>
              <a:p>
                <a:pPr marL="342900" indent="-342900">
                  <a:buFont typeface="Arial" panose="020B0604020202020204" pitchFamily="34" charset="0"/>
                  <a:buChar char="•"/>
                </a:pPr>
                <a:r>
                  <a:rPr lang="en-US" sz="2400" dirty="0"/>
                  <a:t>Given </a:t>
                </a:r>
                <a:r>
                  <a:rPr lang="en-US" sz="2400" dirty="0">
                    <a:solidFill>
                      <a:srgbClr val="C00000"/>
                    </a:solidFill>
                  </a:rPr>
                  <a:t>unsigned</a:t>
                </a:r>
                <a:r>
                  <a:rPr lang="en-US" sz="2400" dirty="0"/>
                  <a:t> integers </a:t>
                </a:r>
                <a14:m>
                  <m:oMath xmlns:m="http://schemas.openxmlformats.org/officeDocument/2006/math">
                    <m:r>
                      <a:rPr lang="en-US" sz="2400" i="1">
                        <a:latin typeface="Cambria Math" panose="02040503050406030204" pitchFamily="18" charset="0"/>
                      </a:rPr>
                      <m:t>𝑎</m:t>
                    </m:r>
                  </m:oMath>
                </a14:m>
                <a:r>
                  <a:rPr lang="en-US" sz="2400" dirty="0"/>
                  <a:t> and </a:t>
                </a:r>
                <a14:m>
                  <m:oMath xmlns:m="http://schemas.openxmlformats.org/officeDocument/2006/math">
                    <m:r>
                      <a:rPr lang="en-US" sz="2400" i="1">
                        <a:latin typeface="Cambria Math" panose="02040503050406030204" pitchFamily="18" charset="0"/>
                      </a:rPr>
                      <m:t>𝑏</m:t>
                    </m:r>
                  </m:oMath>
                </a14:m>
                <a:endParaRPr lang="en-US" sz="2400" dirty="0"/>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14:m>
                  <m:oMath xmlns:m="http://schemas.openxmlformats.org/officeDocument/2006/math">
                    <m:r>
                      <a:rPr lang="en-US" sz="2400" b="1" i="1">
                        <a:latin typeface="Cambria Math" panose="02040503050406030204" pitchFamily="18" charset="0"/>
                      </a:rPr>
                      <m:t>𝒄</m:t>
                    </m:r>
                    <m:r>
                      <a:rPr lang="en-US" sz="2400" b="1" i="1">
                        <a:latin typeface="Cambria Math" panose="02040503050406030204" pitchFamily="18" charset="0"/>
                      </a:rPr>
                      <m:t>=</m:t>
                    </m:r>
                    <m:r>
                      <a:rPr lang="en-US" sz="2400" b="1" i="1">
                        <a:latin typeface="Cambria Math" panose="02040503050406030204" pitchFamily="18" charset="0"/>
                      </a:rPr>
                      <m:t>𝒂</m:t>
                    </m:r>
                    <m:r>
                      <a:rPr lang="en-US" sz="2400" b="1" i="1">
                        <a:latin typeface="Cambria Math" panose="02040503050406030204" pitchFamily="18" charset="0"/>
                      </a:rPr>
                      <m:t>+</m:t>
                    </m:r>
                    <m:r>
                      <a:rPr lang="en-US" sz="2400" b="1" i="1">
                        <a:latin typeface="Cambria Math" panose="02040503050406030204" pitchFamily="18" charset="0"/>
                      </a:rPr>
                      <m:t>𝒃</m:t>
                    </m:r>
                  </m:oMath>
                </a14:m>
                <a:endParaRPr lang="en-US" sz="2400" b="1" dirty="0"/>
              </a:p>
              <a:p>
                <a:pPr marL="800100" lvl="1" indent="-342900">
                  <a:buFont typeface="Arial" panose="020B0604020202020204" pitchFamily="34" charset="0"/>
                  <a:buChar char="•"/>
                </a:pPr>
                <a:r>
                  <a:rPr lang="en-US" sz="2400" dirty="0"/>
                  <a:t>Carry happens if </a:t>
                </a:r>
                <a:r>
                  <a:rPr lang="en-US" sz="2400" dirty="0">
                    <a:solidFill>
                      <a:srgbClr val="C00000"/>
                    </a:solidFill>
                  </a:rPr>
                  <a:t>c is too big to fit in </a:t>
                </a:r>
                <a:r>
                  <a:rPr lang="en-US" sz="2400" i="1" dirty="0">
                    <a:solidFill>
                      <a:srgbClr val="C00000"/>
                    </a:solidFill>
                  </a:rPr>
                  <a:t>n</a:t>
                </a:r>
                <a:r>
                  <a:rPr lang="en-US" sz="2400" dirty="0">
                    <a:solidFill>
                      <a:srgbClr val="C00000"/>
                    </a:solidFill>
                  </a:rPr>
                  <a:t> bits </a:t>
                </a:r>
                <a:r>
                  <a:rPr lang="en-US" sz="2400" dirty="0"/>
                  <a:t>(</a:t>
                </a:r>
                <a:r>
                  <a:rPr lang="en-US" sz="2400" i="1" dirty="0"/>
                  <a:t>i.e.</a:t>
                </a:r>
                <a:r>
                  <a:rPr lang="en-US" sz="2400" dirty="0"/>
                  <a:t>, </a:t>
                </a:r>
                <a14:m>
                  <m:oMath xmlns:m="http://schemas.openxmlformats.org/officeDocument/2006/math">
                    <m:r>
                      <m:rPr>
                        <m:sty m:val="p"/>
                      </m:rPr>
                      <a:rPr lang="en-US" sz="2400">
                        <a:latin typeface="Cambria Math" panose="02040503050406030204" pitchFamily="18" charset="0"/>
                      </a:rPr>
                      <m:t>c</m:t>
                    </m:r>
                    <m:sSup>
                      <m:sSupPr>
                        <m:ctrlPr>
                          <a:rPr lang="en-US" sz="2400" i="1">
                            <a:latin typeface="Cambria Math" panose="02040503050406030204" pitchFamily="18" charset="0"/>
                          </a:rPr>
                        </m:ctrlPr>
                      </m:sSupPr>
                      <m:e>
                        <m:r>
                          <a:rPr lang="en-US" sz="2400" i="1">
                            <a:latin typeface="Cambria Math" panose="02040503050406030204" pitchFamily="18" charset="0"/>
                          </a:rPr>
                          <m:t>&gt;</m:t>
                        </m:r>
                        <m:r>
                          <a:rPr lang="en-US" sz="2400" i="1">
                            <a:latin typeface="Cambria Math"/>
                          </a:rPr>
                          <m:t>2</m:t>
                        </m:r>
                      </m:e>
                      <m:sup>
                        <m:r>
                          <a:rPr lang="en-US" sz="2400" i="1">
                            <a:latin typeface="Cambria Math"/>
                          </a:rPr>
                          <m:t>𝑛</m:t>
                        </m:r>
                      </m:sup>
                    </m:sSup>
                    <m:r>
                      <a:rPr lang="en-US" sz="2400" i="1">
                        <a:latin typeface="Cambria Math"/>
                      </a:rPr>
                      <m:t>−1</m:t>
                    </m:r>
                  </m:oMath>
                </a14:m>
                <a:r>
                  <a:rPr lang="en-US" sz="2400" dirty="0"/>
                  <a:t>).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14:m>
                  <m:oMath xmlns:m="http://schemas.openxmlformats.org/officeDocument/2006/math">
                    <m:r>
                      <a:rPr lang="en-US" sz="2400" b="1" i="1">
                        <a:latin typeface="Cambria Math" panose="02040503050406030204" pitchFamily="18" charset="0"/>
                      </a:rPr>
                      <m:t>𝒄</m:t>
                    </m:r>
                    <m:r>
                      <a:rPr lang="en-US" sz="2400" b="1" i="1">
                        <a:latin typeface="Cambria Math" panose="02040503050406030204" pitchFamily="18" charset="0"/>
                      </a:rPr>
                      <m:t>=</m:t>
                    </m:r>
                    <m:r>
                      <a:rPr lang="en-US" sz="2400" b="1" i="1">
                        <a:latin typeface="Cambria Math" panose="02040503050406030204" pitchFamily="18" charset="0"/>
                      </a:rPr>
                      <m:t>𝒂</m:t>
                    </m:r>
                    <m:r>
                      <a:rPr lang="en-US" sz="2400" b="1" i="1">
                        <a:latin typeface="Cambria Math" panose="02040503050406030204" pitchFamily="18" charset="0"/>
                      </a:rPr>
                      <m:t>−</m:t>
                    </m:r>
                    <m:r>
                      <a:rPr lang="en-US" sz="2400" b="1" i="1">
                        <a:latin typeface="Cambria Math" panose="02040503050406030204" pitchFamily="18" charset="0"/>
                      </a:rPr>
                      <m:t>𝒃</m:t>
                    </m:r>
                  </m:oMath>
                </a14:m>
                <a:endParaRPr lang="en-US" sz="2400" b="1" dirty="0"/>
              </a:p>
              <a:p>
                <a:pPr marL="800100" lvl="1" indent="-342900">
                  <a:buFont typeface="Arial" panose="020B0604020202020204" pitchFamily="34" charset="0"/>
                  <a:buChar char="•"/>
                </a:pPr>
                <a:r>
                  <a:rPr lang="en-US" sz="2400" dirty="0"/>
                  <a:t>Borrow happens if </a:t>
                </a:r>
                <a14:m>
                  <m:oMath xmlns:m="http://schemas.openxmlformats.org/officeDocument/2006/math">
                    <m:r>
                      <a:rPr lang="en-US" sz="2400" i="1">
                        <a:latin typeface="Cambria Math" panose="02040503050406030204" pitchFamily="18" charset="0"/>
                      </a:rPr>
                      <m:t>𝑐</m:t>
                    </m:r>
                    <m:r>
                      <a:rPr lang="en-US" sz="2400" i="1">
                        <a:latin typeface="Cambria Math" panose="02040503050406030204" pitchFamily="18" charset="0"/>
                      </a:rPr>
                      <m:t>&lt;0</m:t>
                    </m:r>
                  </m:oMath>
                </a14:m>
                <a:r>
                  <a:rPr lang="en-US" sz="2400" dirty="0"/>
                  <a:t>.</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On ARM Cortex-M processors, the carry flag and the borrow flag are physically the same flag bit in the status register. </a:t>
                </a:r>
              </a:p>
              <a:p>
                <a:pPr marL="800100" lvl="1" indent="-342900">
                  <a:buFont typeface="Arial" panose="020B0604020202020204" pitchFamily="34" charset="0"/>
                  <a:buChar char="•"/>
                </a:pPr>
                <a:r>
                  <a:rPr lang="en-US" sz="2400" dirty="0">
                    <a:solidFill>
                      <a:srgbClr val="C00000"/>
                    </a:solidFill>
                  </a:rPr>
                  <a:t>For an unsigned subtraction, Carry = NOT Borrow</a:t>
                </a:r>
              </a:p>
            </p:txBody>
          </p:sp>
        </mc:Choice>
        <mc:Fallback xmlns="">
          <p:sp>
            <p:nvSpPr>
              <p:cNvPr id="7" name="Rectangle 6"/>
              <p:cNvSpPr>
                <a:spLocks noRot="1" noChangeAspect="1" noMove="1" noResize="1" noEditPoints="1" noAdjustHandles="1" noChangeArrowheads="1" noChangeShapeType="1" noTextEdit="1"/>
              </p:cNvSpPr>
              <p:nvPr/>
            </p:nvSpPr>
            <p:spPr>
              <a:xfrm>
                <a:off x="813400" y="1524000"/>
                <a:ext cx="8382000" cy="4154984"/>
              </a:xfrm>
              <a:prstGeom prst="rect">
                <a:avLst/>
              </a:prstGeom>
              <a:blipFill>
                <a:blip r:embed="rId3"/>
                <a:stretch>
                  <a:fillRect l="-908" t="-1220" r="-1210" b="-2439"/>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989724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numbers</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7</a:t>
            </a:fld>
            <a:endParaRPr kumimoji="0" lang="en-US"/>
          </a:p>
        </p:txBody>
      </p:sp>
      <p:pic>
        <p:nvPicPr>
          <p:cNvPr id="3789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0" y="1986418"/>
            <a:ext cx="4210404" cy="3880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p:cNvSpPr/>
          <p:nvPr/>
        </p:nvSpPr>
        <p:spPr>
          <a:xfrm>
            <a:off x="1828800" y="5867400"/>
            <a:ext cx="3676776" cy="369332"/>
          </a:xfrm>
          <a:prstGeom prst="rect">
            <a:avLst/>
          </a:prstGeom>
        </p:spPr>
        <p:txBody>
          <a:bodyPr wrap="none">
            <a:spAutoFit/>
          </a:bodyPr>
          <a:lstStyle/>
          <a:p>
            <a:r>
              <a:rPr lang="en-US" dirty="0"/>
              <a:t>A carry occurs when adding 28 and 6</a:t>
            </a:r>
          </a:p>
        </p:txBody>
      </p:sp>
      <mc:AlternateContent xmlns:mc="http://schemas.openxmlformats.org/markup-compatibility/2006">
        <mc:Choice xmlns:a14="http://schemas.microsoft.com/office/drawing/2010/main" Requires="a14">
          <p:sp>
            <p:nvSpPr>
              <p:cNvPr id="8" name="Rectangle 7"/>
              <p:cNvSpPr/>
              <p:nvPr/>
            </p:nvSpPr>
            <p:spPr>
              <a:xfrm>
                <a:off x="609600" y="1219201"/>
                <a:ext cx="9870934" cy="646331"/>
              </a:xfrm>
              <a:prstGeom prst="rect">
                <a:avLst/>
              </a:prstGeom>
            </p:spPr>
            <p:txBody>
              <a:bodyPr wrap="square">
                <a:spAutoFit/>
              </a:bodyPr>
              <a:lstStyle/>
              <a:p>
                <a:r>
                  <a:rPr lang="en-US" b="1" i="1" dirty="0">
                    <a:solidFill>
                      <a:srgbClr val="C00000"/>
                    </a:solidFill>
                  </a:rPr>
                  <a:t>If the traverse crosses the boundary between 0 and  </a:t>
                </a:r>
                <a14:m>
                  <m:oMath xmlns:m="http://schemas.openxmlformats.org/officeDocument/2006/math">
                    <m:sSup>
                      <m:sSupPr>
                        <m:ctrlPr>
                          <a:rPr lang="en-US" b="1" i="1">
                            <a:solidFill>
                              <a:srgbClr val="C00000"/>
                            </a:solidFill>
                            <a:latin typeface="Cambria Math"/>
                          </a:rPr>
                        </m:ctrlPr>
                      </m:sSupPr>
                      <m:e>
                        <m:r>
                          <a:rPr lang="en-US" b="1" i="1">
                            <a:solidFill>
                              <a:srgbClr val="C00000"/>
                            </a:solidFill>
                            <a:latin typeface="Cambria Math"/>
                          </a:rPr>
                          <m:t>𝟐</m:t>
                        </m:r>
                      </m:e>
                      <m:sup>
                        <m:r>
                          <a:rPr lang="en-US" b="1" i="1">
                            <a:solidFill>
                              <a:srgbClr val="C00000"/>
                            </a:solidFill>
                            <a:latin typeface="Cambria Math"/>
                          </a:rPr>
                          <m:t>𝒏</m:t>
                        </m:r>
                      </m:sup>
                    </m:sSup>
                    <m:r>
                      <a:rPr lang="en-US" b="1" i="1">
                        <a:solidFill>
                          <a:srgbClr val="C00000"/>
                        </a:solidFill>
                        <a:latin typeface="Cambria Math"/>
                      </a:rPr>
                      <m:t>−</m:t>
                    </m:r>
                    <m:r>
                      <a:rPr lang="en-US" b="1" i="1">
                        <a:solidFill>
                          <a:srgbClr val="C00000"/>
                        </a:solidFill>
                        <a:latin typeface="Cambria Math"/>
                      </a:rPr>
                      <m:t>𝟏</m:t>
                    </m:r>
                    <m:r>
                      <a:rPr lang="en-US" b="1" i="1" smtClean="0">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𝟑𝟏</m:t>
                    </m:r>
                    <m:r>
                      <a:rPr lang="en-US" b="1" i="1" smtClean="0">
                        <a:solidFill>
                          <a:srgbClr val="C00000"/>
                        </a:solidFill>
                        <a:latin typeface="Cambria Math" panose="02040503050406030204" pitchFamily="18" charset="0"/>
                      </a:rPr>
                      <m:t> (</m:t>
                    </m:r>
                    <m:r>
                      <a:rPr lang="en-US" b="1" i="1" smtClean="0">
                        <a:solidFill>
                          <a:srgbClr val="C00000"/>
                        </a:solidFill>
                        <a:latin typeface="Cambria Math" panose="02040503050406030204" pitchFamily="18" charset="0"/>
                      </a:rPr>
                      <m:t>𝒏</m:t>
                    </m:r>
                    <m:r>
                      <a:rPr lang="en-US" b="1" i="1" smtClean="0">
                        <a:solidFill>
                          <a:srgbClr val="C00000"/>
                        </a:solidFill>
                        <a:latin typeface="Cambria Math" panose="02040503050406030204" pitchFamily="18" charset="0"/>
                      </a:rPr>
                      <m:t>=</m:t>
                    </m:r>
                    <m:r>
                      <a:rPr lang="en-US" b="1" i="1" smtClean="0">
                        <a:solidFill>
                          <a:srgbClr val="C00000"/>
                        </a:solidFill>
                        <a:latin typeface="Cambria Math" panose="02040503050406030204" pitchFamily="18" charset="0"/>
                      </a:rPr>
                      <m:t>𝟓</m:t>
                    </m:r>
                    <m:r>
                      <a:rPr lang="en-US" b="1" i="1" smtClean="0">
                        <a:solidFill>
                          <a:srgbClr val="C00000"/>
                        </a:solidFill>
                        <a:latin typeface="Cambria Math" panose="02040503050406030204" pitchFamily="18" charset="0"/>
                      </a:rPr>
                      <m:t>)</m:t>
                    </m:r>
                  </m:oMath>
                </a14:m>
                <a:r>
                  <a:rPr lang="en-US" b="1" i="1" dirty="0">
                    <a:solidFill>
                      <a:srgbClr val="C00000"/>
                    </a:solidFill>
                  </a:rPr>
                  <a:t>, the carry flag is set on addition and is cleared on subtraction</a:t>
                </a:r>
                <a:r>
                  <a:rPr lang="en-US" b="1" dirty="0">
                    <a:solidFill>
                      <a:srgbClr val="C00000"/>
                    </a:solidFill>
                  </a:rPr>
                  <a:t>. </a:t>
                </a:r>
              </a:p>
            </p:txBody>
          </p:sp>
        </mc:Choice>
        <mc:Fallback>
          <p:sp>
            <p:nvSpPr>
              <p:cNvPr id="8" name="Rectangle 7"/>
              <p:cNvSpPr>
                <a:spLocks noRot="1" noChangeAspect="1" noMove="1" noResize="1" noEditPoints="1" noAdjustHandles="1" noChangeArrowheads="1" noChangeShapeType="1" noTextEdit="1"/>
              </p:cNvSpPr>
              <p:nvPr/>
            </p:nvSpPr>
            <p:spPr>
              <a:xfrm>
                <a:off x="609600" y="1219201"/>
                <a:ext cx="9870934" cy="646331"/>
              </a:xfrm>
              <a:prstGeom prst="rect">
                <a:avLst/>
              </a:prstGeom>
              <a:blipFill>
                <a:blip r:embed="rId4"/>
                <a:stretch>
                  <a:fillRect l="-494" t="-4717" r="-309" b="-14151"/>
                </a:stretch>
              </a:blipFill>
            </p:spPr>
            <p:txBody>
              <a:bodyPr/>
              <a:lstStyle/>
              <a:p>
                <a:r>
                  <a:rPr lang="zh-CN" altLang="en-US">
                    <a:noFill/>
                  </a:rPr>
                  <a:t> </a:t>
                </a:r>
              </a:p>
            </p:txBody>
          </p:sp>
        </mc:Fallback>
      </mc:AlternateContent>
      <p:sp>
        <p:nvSpPr>
          <p:cNvPr id="9" name="Rectangle 8"/>
          <p:cNvSpPr/>
          <p:nvPr/>
        </p:nvSpPr>
        <p:spPr>
          <a:xfrm>
            <a:off x="6047225" y="4724401"/>
            <a:ext cx="4572000" cy="1200329"/>
          </a:xfrm>
          <a:prstGeom prst="rect">
            <a:avLst/>
          </a:prstGeom>
        </p:spPr>
        <p:txBody>
          <a:bodyPr>
            <a:spAutoFit/>
          </a:bodyPr>
          <a:lstStyle/>
          <a:p>
            <a:pPr marL="285750" indent="-285750">
              <a:buFont typeface="Arial" panose="020B0604020202020204" pitchFamily="34" charset="0"/>
              <a:buChar char="•"/>
            </a:pPr>
            <a:r>
              <a:rPr lang="en-US" dirty="0"/>
              <a:t>Carry flag = </a:t>
            </a:r>
            <a:r>
              <a:rPr lang="en-US" dirty="0">
                <a:latin typeface="Consolas" panose="020B0609020204030204" pitchFamily="49" charset="0"/>
                <a:cs typeface="Consolas" panose="020B0609020204030204" pitchFamily="49" charset="0"/>
              </a:rPr>
              <a:t>1</a:t>
            </a:r>
            <a:r>
              <a:rPr lang="en-US" dirty="0"/>
              <a:t>, indicating carry has occurred on unsigned addition. </a:t>
            </a:r>
          </a:p>
          <a:p>
            <a:pPr marL="285750" indent="-285750">
              <a:buFont typeface="Arial" panose="020B0604020202020204" pitchFamily="34" charset="0"/>
              <a:buChar char="•"/>
            </a:pPr>
            <a:r>
              <a:rPr lang="en-US" dirty="0"/>
              <a:t>Carry flag is </a:t>
            </a:r>
            <a:r>
              <a:rPr lang="en-US" dirty="0">
                <a:latin typeface="Consolas" panose="020B0609020204030204" pitchFamily="49" charset="0"/>
                <a:cs typeface="Consolas" panose="020B0609020204030204" pitchFamily="49" charset="0"/>
              </a:rPr>
              <a:t>1</a:t>
            </a:r>
            <a:r>
              <a:rPr lang="en-US" dirty="0"/>
              <a:t> because the result crosses the boundary between </a:t>
            </a:r>
            <a:r>
              <a:rPr lang="en-US" dirty="0">
                <a:latin typeface="Consolas" panose="020B0609020204030204" pitchFamily="49" charset="0"/>
                <a:cs typeface="Consolas" panose="020B0609020204030204" pitchFamily="49" charset="0"/>
              </a:rPr>
              <a:t>31</a:t>
            </a:r>
            <a:r>
              <a:rPr lang="en-US" dirty="0"/>
              <a:t> and 0.</a:t>
            </a:r>
          </a:p>
        </p:txBody>
      </p:sp>
      <p:pic>
        <p:nvPicPr>
          <p:cNvPr id="4" name="Picture 3"/>
          <p:cNvPicPr>
            <a:picLocks noChangeAspect="1"/>
          </p:cNvPicPr>
          <p:nvPr/>
        </p:nvPicPr>
        <p:blipFill>
          <a:blip r:embed="rId5"/>
          <a:stretch>
            <a:fillRect/>
          </a:stretch>
        </p:blipFill>
        <p:spPr>
          <a:xfrm>
            <a:off x="6477000" y="2133601"/>
            <a:ext cx="3851134" cy="2316133"/>
          </a:xfrm>
          <a:prstGeom prst="rect">
            <a:avLst/>
          </a:prstGeom>
        </p:spPr>
      </p:pic>
    </p:spTree>
    <p:extLst>
      <p:ext uri="{BB962C8B-B14F-4D97-AF65-F5344CB8AC3E}">
        <p14:creationId xmlns:p14="http://schemas.microsoft.com/office/powerpoint/2010/main" val="13888527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Carry/borrow flag bit for unsigned numbers</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8</a:t>
            </a:fld>
            <a:endParaRPr kumimoji="0" lang="en-US"/>
          </a:p>
        </p:txBody>
      </p:sp>
      <p:pic>
        <p:nvPicPr>
          <p:cNvPr id="3789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9763" y="1931458"/>
            <a:ext cx="4114801" cy="38862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p:cNvSpPr/>
          <p:nvPr/>
        </p:nvSpPr>
        <p:spPr>
          <a:xfrm>
            <a:off x="1963220" y="5834413"/>
            <a:ext cx="4384534" cy="369332"/>
          </a:xfrm>
          <a:prstGeom prst="rect">
            <a:avLst/>
          </a:prstGeom>
        </p:spPr>
        <p:txBody>
          <a:bodyPr wrap="none">
            <a:spAutoFit/>
          </a:bodyPr>
          <a:lstStyle/>
          <a:p>
            <a:r>
              <a:rPr lang="en-US" dirty="0"/>
              <a:t>A borrow occurs when subtracting 5 from 3.</a:t>
            </a:r>
          </a:p>
        </p:txBody>
      </p:sp>
      <mc:AlternateContent xmlns:mc="http://schemas.openxmlformats.org/markup-compatibility/2006" xmlns:a14="http://schemas.microsoft.com/office/drawing/2010/main">
        <mc:Choice Requires="a14">
          <p:sp>
            <p:nvSpPr>
              <p:cNvPr id="8" name="Rectangle 7"/>
              <p:cNvSpPr/>
              <p:nvPr/>
            </p:nvSpPr>
            <p:spPr>
              <a:xfrm>
                <a:off x="609600" y="1241928"/>
                <a:ext cx="8499334" cy="646331"/>
              </a:xfrm>
              <a:prstGeom prst="rect">
                <a:avLst/>
              </a:prstGeom>
            </p:spPr>
            <p:txBody>
              <a:bodyPr wrap="square">
                <a:spAutoFit/>
              </a:bodyPr>
              <a:lstStyle/>
              <a:p>
                <a:r>
                  <a:rPr lang="en-US" b="1" i="1" dirty="0">
                    <a:solidFill>
                      <a:srgbClr val="C00000"/>
                    </a:solidFill>
                  </a:rPr>
                  <a:t>If the traverse crosses the boundary between 0 and  </a:t>
                </a:r>
                <a14:m>
                  <m:oMath xmlns:m="http://schemas.openxmlformats.org/officeDocument/2006/math">
                    <m:sSup>
                      <m:sSupPr>
                        <m:ctrlPr>
                          <a:rPr lang="en-US" b="1" i="1">
                            <a:solidFill>
                              <a:srgbClr val="C00000"/>
                            </a:solidFill>
                            <a:latin typeface="Cambria Math"/>
                          </a:rPr>
                        </m:ctrlPr>
                      </m:sSupPr>
                      <m:e>
                        <m:r>
                          <a:rPr lang="en-US" b="1" i="1">
                            <a:solidFill>
                              <a:srgbClr val="C00000"/>
                            </a:solidFill>
                            <a:latin typeface="Cambria Math"/>
                          </a:rPr>
                          <m:t>𝟐</m:t>
                        </m:r>
                      </m:e>
                      <m:sup>
                        <m:r>
                          <a:rPr lang="en-US" b="1" i="1">
                            <a:solidFill>
                              <a:srgbClr val="C00000"/>
                            </a:solidFill>
                            <a:latin typeface="Cambria Math"/>
                          </a:rPr>
                          <m:t>𝒏</m:t>
                        </m:r>
                      </m:sup>
                    </m:sSup>
                    <m:r>
                      <a:rPr lang="en-US" b="1" i="1">
                        <a:solidFill>
                          <a:srgbClr val="C00000"/>
                        </a:solidFill>
                        <a:latin typeface="Cambria Math"/>
                      </a:rPr>
                      <m:t>−</m:t>
                    </m:r>
                    <m:r>
                      <a:rPr lang="en-US" b="1" i="1">
                        <a:solidFill>
                          <a:srgbClr val="C00000"/>
                        </a:solidFill>
                        <a:latin typeface="Cambria Math"/>
                      </a:rPr>
                      <m:t>𝟏</m:t>
                    </m:r>
                  </m:oMath>
                </a14:m>
                <a:r>
                  <a:rPr lang="en-US" b="1" i="1" dirty="0">
                    <a:solidFill>
                      <a:srgbClr val="C00000"/>
                    </a:solidFill>
                  </a:rPr>
                  <a:t>, the carry flag is set on addition and is cleared on subtraction</a:t>
                </a:r>
                <a:r>
                  <a:rPr lang="en-US" b="1" dirty="0">
                    <a:solidFill>
                      <a:srgbClr val="C00000"/>
                    </a:solidFill>
                  </a:rPr>
                  <a:t>. </a:t>
                </a:r>
              </a:p>
            </p:txBody>
          </p:sp>
        </mc:Choice>
        <mc:Fallback xmlns="">
          <p:sp>
            <p:nvSpPr>
              <p:cNvPr id="8" name="Rectangle 7"/>
              <p:cNvSpPr>
                <a:spLocks noRot="1" noChangeAspect="1" noMove="1" noResize="1" noEditPoints="1" noAdjustHandles="1" noChangeArrowheads="1" noChangeShapeType="1" noTextEdit="1"/>
              </p:cNvSpPr>
              <p:nvPr/>
            </p:nvSpPr>
            <p:spPr>
              <a:xfrm>
                <a:off x="609600" y="1241928"/>
                <a:ext cx="8499334" cy="646331"/>
              </a:xfrm>
              <a:prstGeom prst="rect">
                <a:avLst/>
              </a:prstGeom>
              <a:blipFill>
                <a:blip r:embed="rId4"/>
                <a:stretch>
                  <a:fillRect l="-597" t="-3846" b="-13462"/>
                </a:stretch>
              </a:blipFill>
            </p:spPr>
            <p:txBody>
              <a:bodyPr/>
              <a:lstStyle/>
              <a:p>
                <a:r>
                  <a:rPr lang="en-US">
                    <a:noFill/>
                  </a:rPr>
                  <a:t> </a:t>
                </a:r>
              </a:p>
            </p:txBody>
          </p:sp>
        </mc:Fallback>
      </mc:AlternateContent>
      <p:sp>
        <p:nvSpPr>
          <p:cNvPr id="4" name="Rectangle 3"/>
          <p:cNvSpPr/>
          <p:nvPr/>
        </p:nvSpPr>
        <p:spPr>
          <a:xfrm>
            <a:off x="6242854" y="4648200"/>
            <a:ext cx="4147412" cy="923330"/>
          </a:xfrm>
          <a:prstGeom prst="rect">
            <a:avLst/>
          </a:prstGeom>
        </p:spPr>
        <p:txBody>
          <a:bodyPr wrap="square">
            <a:spAutoFit/>
          </a:bodyPr>
          <a:lstStyle/>
          <a:p>
            <a:pPr marL="342900" indent="-342900">
              <a:buFont typeface="Arial" panose="020B0604020202020204" pitchFamily="34" charset="0"/>
              <a:buChar char="•"/>
            </a:pPr>
            <a:r>
              <a:rPr lang="en-US" dirty="0"/>
              <a:t>Carry flag = </a:t>
            </a:r>
            <a:r>
              <a:rPr lang="en-US" dirty="0">
                <a:latin typeface="Consolas" panose="020B0609020204030204" pitchFamily="49" charset="0"/>
                <a:cs typeface="Consolas" panose="020B0609020204030204" pitchFamily="49" charset="0"/>
              </a:rPr>
              <a:t>0</a:t>
            </a:r>
            <a:r>
              <a:rPr lang="en-US" dirty="0"/>
              <a:t>, indicating borrow has occurred on unsigned subtraction.</a:t>
            </a:r>
          </a:p>
          <a:p>
            <a:pPr marL="342900" indent="-342900">
              <a:buFont typeface="Arial" panose="020B0604020202020204" pitchFamily="34" charset="0"/>
              <a:buChar char="•"/>
            </a:pPr>
            <a:r>
              <a:rPr lang="en-US" dirty="0"/>
              <a:t>For subtraction, carry = NOT borrow.</a:t>
            </a:r>
          </a:p>
        </p:txBody>
      </p:sp>
      <p:pic>
        <p:nvPicPr>
          <p:cNvPr id="5" name="Picture 4"/>
          <p:cNvPicPr>
            <a:picLocks noChangeAspect="1"/>
          </p:cNvPicPr>
          <p:nvPr/>
        </p:nvPicPr>
        <p:blipFill>
          <a:blip r:embed="rId5"/>
          <a:stretch>
            <a:fillRect/>
          </a:stretch>
        </p:blipFill>
        <p:spPr>
          <a:xfrm>
            <a:off x="6525656" y="2240637"/>
            <a:ext cx="3864610" cy="2144681"/>
          </a:xfrm>
          <a:prstGeom prst="rect">
            <a:avLst/>
          </a:prstGeom>
        </p:spPr>
      </p:pic>
    </p:spTree>
    <p:extLst>
      <p:ext uri="{BB962C8B-B14F-4D97-AF65-F5344CB8AC3E}">
        <p14:creationId xmlns:p14="http://schemas.microsoft.com/office/powerpoint/2010/main" val="543366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2"/>
          </p:nvPr>
        </p:nvSpPr>
        <p:spPr/>
        <p:txBody>
          <a:bodyPr/>
          <a:lstStyle/>
          <a:p>
            <a:fld id="{A0CDAA7F-72E9-4BAF-9D1D-807702175D95}" type="slidenum">
              <a:rPr lang="en-US"/>
              <a:pPr/>
              <a:t>9</a:t>
            </a:fld>
            <a:endParaRPr lang="en-US"/>
          </a:p>
        </p:txBody>
      </p:sp>
      <mc:AlternateContent xmlns:mc="http://schemas.openxmlformats.org/markup-compatibility/2006" xmlns:a14="http://schemas.microsoft.com/office/drawing/2010/main">
        <mc:Choice Requires="a14">
          <p:sp>
            <p:nvSpPr>
              <p:cNvPr id="185347" name="Rectangle 3"/>
              <p:cNvSpPr>
                <a:spLocks noGrp="1" noChangeArrowheads="1"/>
              </p:cNvSpPr>
              <p:nvPr>
                <p:ph type="body" idx="1"/>
              </p:nvPr>
            </p:nvSpPr>
            <p:spPr>
              <a:xfrm>
                <a:off x="609600" y="1295400"/>
                <a:ext cx="7696200" cy="4572000"/>
              </a:xfrm>
              <a:noFill/>
              <a:extLst>
                <a:ext uri="{909E8E84-426E-40DD-AFC4-6F175D3DCCD1}">
                  <a14:hiddenFill>
                    <a:solidFill>
                      <a:srgbClr val="E4F5FF"/>
                    </a:solidFill>
                  </a14:hiddenFill>
                </a:ext>
              </a:extLst>
            </p:spPr>
            <p:txBody>
              <a:bodyPr/>
              <a:lstStyle/>
              <a:p>
                <a:r>
                  <a:rPr lang="en-US" dirty="0">
                    <a:latin typeface="Arial" charset="0"/>
                  </a:rPr>
                  <a:t>Three ways to represent signed binary integers:  </a:t>
                </a:r>
              </a:p>
              <a:p>
                <a:pPr lvl="1"/>
                <a:r>
                  <a:rPr lang="en-US" sz="2200" dirty="0">
                    <a:latin typeface="Arial" charset="0"/>
                  </a:rPr>
                  <a:t>Signed magnitude </a:t>
                </a:r>
              </a:p>
              <a:p>
                <a:pPr lvl="2"/>
                <a14:m>
                  <m:oMath xmlns:m="http://schemas.openxmlformats.org/officeDocument/2006/math">
                    <m:r>
                      <a:rPr lang="en-US" sz="1800" b="1" i="1">
                        <a:latin typeface="Cambria Math"/>
                      </a:rPr>
                      <m:t>𝒗𝒂𝒍𝒖𝒆</m:t>
                    </m:r>
                    <m:r>
                      <a:rPr lang="en-US" sz="1800" b="1" i="1">
                        <a:latin typeface="Cambria Math"/>
                      </a:rPr>
                      <m:t>=</m:t>
                    </m:r>
                    <m:sSup>
                      <m:sSupPr>
                        <m:ctrlPr>
                          <a:rPr lang="en-US" sz="1800" b="1" i="1">
                            <a:latin typeface="Cambria Math"/>
                          </a:rPr>
                        </m:ctrlPr>
                      </m:sSupPr>
                      <m:e>
                        <m:r>
                          <a:rPr lang="en-US" sz="1800" b="1" i="1">
                            <a:latin typeface="Cambria Math"/>
                          </a:rPr>
                          <m:t>(−</m:t>
                        </m:r>
                        <m:r>
                          <a:rPr lang="en-US" sz="1800" b="1" i="1">
                            <a:latin typeface="Cambria Math"/>
                          </a:rPr>
                          <m:t>𝟏</m:t>
                        </m:r>
                        <m:r>
                          <a:rPr lang="en-US" sz="1800" b="1" i="1">
                            <a:latin typeface="Cambria Math"/>
                          </a:rPr>
                          <m:t>)</m:t>
                        </m:r>
                      </m:e>
                      <m:sup>
                        <m:r>
                          <a:rPr lang="en-US" sz="1800" b="1" i="1">
                            <a:solidFill>
                              <a:srgbClr val="FF0000"/>
                            </a:solidFill>
                            <a:latin typeface="Cambria Math"/>
                          </a:rPr>
                          <m:t>𝒔𝒊𝒈𝒏</m:t>
                        </m:r>
                      </m:sup>
                    </m:sSup>
                    <m:r>
                      <a:rPr lang="en-US" sz="1800" b="1" i="1">
                        <a:latin typeface="Cambria Math"/>
                      </a:rPr>
                      <m:t>×</m:t>
                    </m:r>
                    <m:r>
                      <a:rPr lang="en-US" sz="1800" b="1" i="1">
                        <a:solidFill>
                          <a:srgbClr val="0000FF"/>
                        </a:solidFill>
                        <a:latin typeface="Cambria Math"/>
                      </a:rPr>
                      <m:t>𝑴𝒂𝒈𝒏𝒊𝒕𝒖𝒅𝒆</m:t>
                    </m:r>
                  </m:oMath>
                </a14:m>
                <a:endParaRPr lang="en-US" sz="1900" dirty="0">
                  <a:latin typeface="Arial" charset="0"/>
                </a:endParaRPr>
              </a:p>
              <a:p>
                <a:pPr lvl="1"/>
                <a:r>
                  <a:rPr lang="en-US" sz="2200" dirty="0">
                    <a:latin typeface="Arial" charset="0"/>
                  </a:rPr>
                  <a:t>One’s complement (</a:t>
                </a:r>
                <a14:m>
                  <m:oMath xmlns:m="http://schemas.openxmlformats.org/officeDocument/2006/math">
                    <m:acc>
                      <m:accPr>
                        <m:chr m:val="̃"/>
                        <m:ctrlPr>
                          <a:rPr lang="en-US" sz="2400" b="1" i="1">
                            <a:latin typeface="Cambria Math"/>
                          </a:rPr>
                        </m:ctrlPr>
                      </m:accPr>
                      <m:e>
                        <m:r>
                          <a:rPr lang="en-US" sz="2400" b="1" i="1">
                            <a:latin typeface="Cambria Math"/>
                          </a:rPr>
                          <m:t>𝜶</m:t>
                        </m:r>
                      </m:e>
                    </m:acc>
                  </m:oMath>
                </a14:m>
                <a:r>
                  <a:rPr lang="en-US" sz="2200" dirty="0">
                    <a:latin typeface="Arial" charset="0"/>
                  </a:rPr>
                  <a:t>)</a:t>
                </a:r>
              </a:p>
              <a:p>
                <a:pPr lvl="2"/>
                <a14:m>
                  <m:oMath xmlns:m="http://schemas.openxmlformats.org/officeDocument/2006/math">
                    <m:r>
                      <a:rPr lang="en-US" sz="1800" b="1" i="1">
                        <a:latin typeface="Cambria Math"/>
                      </a:rPr>
                      <m:t>𝜶</m:t>
                    </m:r>
                    <m:r>
                      <a:rPr lang="en-US" sz="1800" b="1" i="1">
                        <a:latin typeface="Cambria Math"/>
                      </a:rPr>
                      <m:t>+</m:t>
                    </m:r>
                    <m:acc>
                      <m:accPr>
                        <m:chr m:val="̃"/>
                        <m:ctrlPr>
                          <a:rPr lang="en-US" sz="1800" b="1" i="1">
                            <a:latin typeface="Cambria Math"/>
                          </a:rPr>
                        </m:ctrlPr>
                      </m:accPr>
                      <m:e>
                        <m:r>
                          <a:rPr lang="en-US" sz="1800" b="1" i="1">
                            <a:latin typeface="Cambria Math"/>
                          </a:rPr>
                          <m:t>𝜶</m:t>
                        </m:r>
                      </m:e>
                    </m:acc>
                    <m:r>
                      <a:rPr lang="en-US" sz="1800" b="1" i="1">
                        <a:latin typeface="Cambria Math"/>
                      </a:rPr>
                      <m:t>=</m:t>
                    </m:r>
                    <m:sSup>
                      <m:sSupPr>
                        <m:ctrlPr>
                          <a:rPr lang="en-US" sz="1800" b="1" i="1">
                            <a:latin typeface="Cambria Math"/>
                          </a:rPr>
                        </m:ctrlPr>
                      </m:sSupPr>
                      <m:e>
                        <m:r>
                          <a:rPr lang="en-US" sz="1800" b="1" i="1">
                            <a:latin typeface="Cambria Math"/>
                          </a:rPr>
                          <m:t>𝟐</m:t>
                        </m:r>
                      </m:e>
                      <m:sup>
                        <m:r>
                          <a:rPr lang="en-US" sz="1800" b="1" i="1">
                            <a:latin typeface="Cambria Math"/>
                          </a:rPr>
                          <m:t>𝒏</m:t>
                        </m:r>
                      </m:sup>
                    </m:sSup>
                    <m:r>
                      <a:rPr lang="en-US" sz="1800" b="1" i="1">
                        <a:latin typeface="Cambria Math"/>
                      </a:rPr>
                      <m:t>−</m:t>
                    </m:r>
                    <m:r>
                      <a:rPr lang="en-US" sz="1800" b="1" i="1">
                        <a:latin typeface="Cambria Math"/>
                      </a:rPr>
                      <m:t>𝟏</m:t>
                    </m:r>
                  </m:oMath>
                </a14:m>
                <a:endParaRPr lang="en-US" sz="1900" dirty="0">
                  <a:latin typeface="Arial" charset="0"/>
                </a:endParaRPr>
              </a:p>
              <a:p>
                <a:pPr lvl="1"/>
                <a:r>
                  <a:rPr lang="en-US" sz="2200" dirty="0">
                    <a:latin typeface="Arial" charset="0"/>
                  </a:rPr>
                  <a:t>Two’s complement (</a:t>
                </a:r>
                <a14:m>
                  <m:oMath xmlns:m="http://schemas.openxmlformats.org/officeDocument/2006/math">
                    <m:acc>
                      <m:accPr>
                        <m:chr m:val="̅"/>
                        <m:ctrlPr>
                          <a:rPr lang="en-US" sz="2400" b="1" i="1">
                            <a:latin typeface="Cambria Math"/>
                          </a:rPr>
                        </m:ctrlPr>
                      </m:accPr>
                      <m:e>
                        <m:r>
                          <a:rPr lang="en-US" sz="2400" b="1" i="1">
                            <a:latin typeface="Cambria Math"/>
                          </a:rPr>
                          <m:t>𝜶</m:t>
                        </m:r>
                      </m:e>
                    </m:acc>
                  </m:oMath>
                </a14:m>
                <a:r>
                  <a:rPr lang="en-US" sz="2200" dirty="0">
                    <a:latin typeface="Arial" charset="0"/>
                  </a:rPr>
                  <a:t>)</a:t>
                </a:r>
              </a:p>
              <a:p>
                <a:pPr lvl="2"/>
                <a14:m>
                  <m:oMath xmlns:m="http://schemas.openxmlformats.org/officeDocument/2006/math">
                    <m:r>
                      <a:rPr lang="en-US" sz="1800" b="1" i="1">
                        <a:latin typeface="Cambria Math"/>
                      </a:rPr>
                      <m:t>𝜶</m:t>
                    </m:r>
                    <m:r>
                      <a:rPr lang="en-US" sz="1800" b="1" i="1">
                        <a:latin typeface="Cambria Math"/>
                      </a:rPr>
                      <m:t>+</m:t>
                    </m:r>
                    <m:acc>
                      <m:accPr>
                        <m:chr m:val="̅"/>
                        <m:ctrlPr>
                          <a:rPr lang="en-US" sz="1800" b="1" i="1">
                            <a:latin typeface="Cambria Math"/>
                          </a:rPr>
                        </m:ctrlPr>
                      </m:accPr>
                      <m:e>
                        <m:r>
                          <a:rPr lang="en-US" sz="1800" b="1" i="1">
                            <a:latin typeface="Cambria Math"/>
                          </a:rPr>
                          <m:t>𝜶</m:t>
                        </m:r>
                      </m:e>
                    </m:acc>
                    <m:r>
                      <a:rPr lang="en-US" sz="1800" b="1" i="1">
                        <a:latin typeface="Cambria Math"/>
                      </a:rPr>
                      <m:t>=</m:t>
                    </m:r>
                    <m:sSup>
                      <m:sSupPr>
                        <m:ctrlPr>
                          <a:rPr lang="en-US" sz="1800" b="1" i="1">
                            <a:latin typeface="Cambria Math"/>
                          </a:rPr>
                        </m:ctrlPr>
                      </m:sSupPr>
                      <m:e>
                        <m:r>
                          <a:rPr lang="en-US" sz="1800" b="1" i="1">
                            <a:latin typeface="Cambria Math"/>
                          </a:rPr>
                          <m:t>𝟐</m:t>
                        </m:r>
                      </m:e>
                      <m:sup>
                        <m:r>
                          <a:rPr lang="en-US" sz="1800" b="1" i="1">
                            <a:latin typeface="Cambria Math"/>
                          </a:rPr>
                          <m:t>𝒏</m:t>
                        </m:r>
                      </m:sup>
                    </m:sSup>
                  </m:oMath>
                </a14:m>
                <a:endParaRPr lang="en-US" sz="1800" dirty="0"/>
              </a:p>
              <a:p>
                <a:pPr marL="594360" lvl="2" indent="0">
                  <a:buNone/>
                </a:pPr>
                <a:endParaRPr lang="en-US" sz="1900" dirty="0">
                  <a:latin typeface="Arial" charset="0"/>
                </a:endParaRPr>
              </a:p>
            </p:txBody>
          </p:sp>
        </mc:Choice>
        <mc:Fallback xmlns="">
          <p:sp>
            <p:nvSpPr>
              <p:cNvPr id="185347" name="Rectangle 3"/>
              <p:cNvSpPr>
                <a:spLocks noGrp="1" noRot="1" noChangeAspect="1" noMove="1" noResize="1" noEditPoints="1" noAdjustHandles="1" noChangeArrowheads="1" noChangeShapeType="1" noTextEdit="1"/>
              </p:cNvSpPr>
              <p:nvPr>
                <p:ph type="body" idx="1"/>
              </p:nvPr>
            </p:nvSpPr>
            <p:spPr>
              <a:xfrm>
                <a:off x="609600" y="1295400"/>
                <a:ext cx="7696200" cy="4572000"/>
              </a:xfrm>
              <a:blipFill>
                <a:blip r:embed="rId3"/>
                <a:stretch>
                  <a:fillRect l="-824" t="-1385" r="-494"/>
                </a:stretch>
              </a:blipFill>
              <a:extLst>
                <a:ext uri="{909E8E84-426E-40DD-AFC4-6F175D3DCCD1}">
                  <a14:hiddenFill xmlns:a14="http://schemas.microsoft.com/office/drawing/2010/main">
                    <a:solidFill>
                      <a:srgbClr val="E4F5FF"/>
                    </a:solidFill>
                  </a14:hiddenFill>
                </a:ext>
              </a:extLst>
            </p:spPr>
            <p:txBody>
              <a:bodyPr/>
              <a:lstStyle/>
              <a:p>
                <a:r>
                  <a:rPr lang="en-US">
                    <a:noFill/>
                  </a:rPr>
                  <a:t> </a:t>
                </a:r>
              </a:p>
            </p:txBody>
          </p:sp>
        </mc:Fallback>
      </mc:AlternateContent>
      <p:sp>
        <p:nvSpPr>
          <p:cNvPr id="2" name="Title 1"/>
          <p:cNvSpPr>
            <a:spLocks noGrp="1"/>
          </p:cNvSpPr>
          <p:nvPr>
            <p:ph type="title"/>
          </p:nvPr>
        </p:nvSpPr>
        <p:spPr/>
        <p:txBody>
          <a:bodyPr>
            <a:normAutofit/>
          </a:bodyPr>
          <a:lstStyle/>
          <a:p>
            <a:r>
              <a:rPr lang="en-US" dirty="0"/>
              <a:t>Signed Integer Representation</a:t>
            </a:r>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2713996848"/>
                  </p:ext>
                </p:extLst>
              </p:nvPr>
            </p:nvGraphicFramePr>
            <p:xfrm>
              <a:off x="1752601" y="4267200"/>
              <a:ext cx="8763001" cy="1813560"/>
            </p:xfrm>
            <a:graphic>
              <a:graphicData uri="http://schemas.openxmlformats.org/drawingml/2006/table">
                <a:tbl>
                  <a:tblPr firstRow="1" firstCol="1" bandRow="1">
                    <a:tableStyleId>{5C22544A-7EE6-4342-B048-85BDC9FD1C3A}</a:tableStyleId>
                  </a:tblPr>
                  <a:tblGrid>
                    <a:gridCol w="14478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590800">
                      <a:extLst>
                        <a:ext uri="{9D8B030D-6E8A-4147-A177-3AD203B41FA5}">
                          <a16:colId xmlns:a16="http://schemas.microsoft.com/office/drawing/2014/main" val="20002"/>
                        </a:ext>
                      </a:extLst>
                    </a:gridCol>
                    <a:gridCol w="2057401">
                      <a:extLst>
                        <a:ext uri="{9D8B030D-6E8A-4147-A177-3AD203B41FA5}">
                          <a16:colId xmlns:a16="http://schemas.microsoft.com/office/drawing/2014/main" val="20003"/>
                        </a:ext>
                      </a:extLst>
                    </a:gridCol>
                  </a:tblGrid>
                  <a:tr h="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Sign-and-Magnitude</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One’s </a:t>
                          </a:r>
                        </a:p>
                        <a:p>
                          <a:pPr marL="0" marR="0" algn="ctr">
                            <a:spcBef>
                              <a:spcPts val="0"/>
                            </a:spcBef>
                            <a:spcAft>
                              <a:spcPts val="0"/>
                            </a:spcAft>
                          </a:pPr>
                          <a:r>
                            <a:rPr lang="en-US" sz="1800" dirty="0">
                              <a:effectLst/>
                            </a:rPr>
                            <a:t>Complement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a:effectLst/>
                                    <a:latin typeface="Cambria Math"/>
                                  </a:rPr>
                                  <m:t>[−</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a:effectLst/>
                                    <a:latin typeface="Cambria Math"/>
                                  </a:rPr>
                                  <m:t>[−</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a:effectLst/>
                                    <a:latin typeface="Cambria Math"/>
                                  </a:rPr>
                                  <m:t>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 </m:t>
                                </m:r>
                                <m:sSup>
                                  <m:sSupPr>
                                    <m:ctrlPr>
                                      <a:rPr lang="en-US" sz="1800">
                                        <a:effectLst/>
                                        <a:latin typeface="Cambria Math"/>
                                      </a:rPr>
                                    </m:ctrlPr>
                                  </m:sSupPr>
                                  <m:e>
                                    <m:r>
                                      <a:rPr lang="en-US" sz="1800">
                                        <a:effectLst/>
                                        <a:latin typeface="Cambria Math"/>
                                      </a:rPr>
                                      <m:t>2</m:t>
                                    </m:r>
                                  </m:e>
                                  <m:sup>
                                    <m:r>
                                      <a:rPr lang="en-US" sz="1800">
                                        <a:effectLst/>
                                        <a:latin typeface="Cambria Math"/>
                                      </a:rPr>
                                      <m:t>𝑛</m:t>
                                    </m:r>
                                    <m:r>
                                      <a:rPr lang="en-US" sz="1800">
                                        <a:effectLst/>
                                        <a:latin typeface="Cambria Math"/>
                                      </a:rPr>
                                      <m:t>−1</m:t>
                                    </m:r>
                                  </m:sup>
                                </m:sSup>
                                <m:r>
                                  <a:rPr lang="en-US" sz="1800">
                                    <a:effectLst/>
                                    <a:latin typeface="Cambria Math"/>
                                  </a:rPr>
                                  <m:t>−1]</m:t>
                                </m:r>
                              </m:oMath>
                            </m:oMathPara>
                          </a14:m>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 zeroes (</a:t>
                          </a:r>
                          <a14:m>
                            <m:oMath xmlns:m="http://schemas.openxmlformats.org/officeDocument/2006/math">
                              <m:r>
                                <a:rPr lang="en-US" sz="1800">
                                  <a:effectLst/>
                                  <a:latin typeface="Cambria Math"/>
                                </a:rPr>
                                <m:t>±0</m:t>
                              </m:r>
                            </m:oMath>
                          </a14:m>
                          <a:r>
                            <a:rPr lang="en-US" sz="1800" dirty="0">
                              <a:effectLst/>
                            </a:rPr>
                            <a: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Two zeroes (</a:t>
                          </a:r>
                          <a14:m>
                            <m:oMath xmlns:m="http://schemas.openxmlformats.org/officeDocument/2006/math">
                              <m:r>
                                <a:rPr lang="en-US" sz="1800">
                                  <a:effectLst/>
                                  <a:latin typeface="Cambria Math"/>
                                </a:rPr>
                                <m:t>±0</m:t>
                              </m:r>
                            </m:oMath>
                          </a14:m>
                          <a:r>
                            <a:rPr lang="en-US" sz="1800">
                              <a:effectLst/>
                            </a:rPr>
                            <a:t>)</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One zero</a:t>
                          </a:r>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effectLst/>
                                        <a:latin typeface="Cambria Math"/>
                                      </a:rPr>
                                    </m:ctrlPr>
                                  </m:sSupPr>
                                  <m:e>
                                    <m:r>
                                      <a:rPr lang="en-US" sz="1800">
                                        <a:effectLst/>
                                        <a:latin typeface="Cambria Math"/>
                                      </a:rPr>
                                      <m:t>2</m:t>
                                    </m:r>
                                  </m:e>
                                  <m:sup>
                                    <m:r>
                                      <a:rPr lang="en-US" sz="1800">
                                        <a:effectLst/>
                                        <a:latin typeface="Cambria Math"/>
                                      </a:rPr>
                                      <m:t>𝑛</m:t>
                                    </m:r>
                                  </m:sup>
                                </m:sSup>
                                <m:r>
                                  <a:rPr lang="en-US" sz="1800">
                                    <a:effectLst/>
                                    <a:latin typeface="Cambria Math"/>
                                  </a:rPr>
                                  <m:t>−1</m:t>
                                </m:r>
                              </m:oMath>
                            </m:oMathPara>
                          </a14:m>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effectLst/>
                                        <a:latin typeface="Cambria Math"/>
                                      </a:rPr>
                                    </m:ctrlPr>
                                  </m:sSupPr>
                                  <m:e>
                                    <m:r>
                                      <a:rPr lang="en-US" sz="1800">
                                        <a:effectLst/>
                                        <a:latin typeface="Cambria Math"/>
                                      </a:rPr>
                                      <m:t>2</m:t>
                                    </m:r>
                                  </m:e>
                                  <m:sup>
                                    <m:r>
                                      <a:rPr lang="en-US" sz="1800">
                                        <a:effectLst/>
                                        <a:latin typeface="Cambria Math"/>
                                      </a:rPr>
                                      <m:t>𝑛</m:t>
                                    </m:r>
                                  </m:sup>
                                </m:sSup>
                                <m:r>
                                  <a:rPr lang="en-US" sz="1800">
                                    <a:effectLst/>
                                    <a:latin typeface="Cambria Math"/>
                                  </a:rPr>
                                  <m:t>−1</m:t>
                                </m:r>
                              </m:oMath>
                            </m:oMathPara>
                          </a14:m>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effectLst/>
                                        <a:latin typeface="Cambria Math"/>
                                      </a:rPr>
                                    </m:ctrlPr>
                                  </m:sSupPr>
                                  <m:e>
                                    <m:r>
                                      <a:rPr lang="en-US" sz="1800">
                                        <a:effectLst/>
                                        <a:latin typeface="Cambria Math"/>
                                      </a:rPr>
                                      <m:t>2</m:t>
                                    </m:r>
                                  </m:e>
                                  <m:sup>
                                    <m:r>
                                      <a:rPr lang="en-US" sz="1800">
                                        <a:effectLst/>
                                        <a:latin typeface="Cambria Math"/>
                                      </a:rPr>
                                      <m:t>𝑛</m:t>
                                    </m:r>
                                  </m:sup>
                                </m:sSup>
                              </m:oMath>
                            </m:oMathPara>
                          </a14:m>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2713996848"/>
                  </p:ext>
                </p:extLst>
              </p:nvPr>
            </p:nvGraphicFramePr>
            <p:xfrm>
              <a:off x="1752601" y="4267200"/>
              <a:ext cx="8763001" cy="1813560"/>
            </p:xfrm>
            <a:graphic>
              <a:graphicData uri="http://schemas.openxmlformats.org/drawingml/2006/table">
                <a:tbl>
                  <a:tblPr firstRow="1" firstCol="1" bandRow="1">
                    <a:tableStyleId>{5C22544A-7EE6-4342-B048-85BDC9FD1C3A}</a:tableStyleId>
                  </a:tblPr>
                  <a:tblGrid>
                    <a:gridCol w="14478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590800">
                      <a:extLst>
                        <a:ext uri="{9D8B030D-6E8A-4147-A177-3AD203B41FA5}">
                          <a16:colId xmlns:a16="http://schemas.microsoft.com/office/drawing/2014/main" val="20002"/>
                        </a:ext>
                      </a:extLst>
                    </a:gridCol>
                    <a:gridCol w="2057401">
                      <a:extLst>
                        <a:ext uri="{9D8B030D-6E8A-4147-A177-3AD203B41FA5}">
                          <a16:colId xmlns:a16="http://schemas.microsoft.com/office/drawing/2014/main" val="20003"/>
                        </a:ext>
                      </a:extLst>
                    </a:gridCol>
                  </a:tblGrid>
                  <a:tr h="54864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a:effectLst/>
                            </a:rPr>
                            <a:t>Sign-and-Magnitude</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One’s </a:t>
                          </a:r>
                        </a:p>
                        <a:p>
                          <a:pPr marL="0" marR="0" algn="ctr">
                            <a:spcBef>
                              <a:spcPts val="0"/>
                            </a:spcBef>
                            <a:spcAft>
                              <a:spcPts val="0"/>
                            </a:spcAft>
                          </a:pPr>
                          <a:r>
                            <a:rPr lang="en-US" sz="1800" dirty="0">
                              <a:effectLst/>
                            </a:rPr>
                            <a:t>Complement</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140000" r="-175714" b="-217143"/>
                          </a:stretch>
                        </a:blipFill>
                      </a:tcPr>
                    </a:tc>
                    <a:tc>
                      <a:txBody>
                        <a:bodyPr/>
                        <a:lstStyle/>
                        <a:p>
                          <a:endParaRPr lang="en-US"/>
                        </a:p>
                      </a:txBody>
                      <a:tcPr marL="68580" marR="68580" marT="0" marB="0" anchor="ctr">
                        <a:blipFill>
                          <a:blip r:embed="rId4"/>
                          <a:stretch>
                            <a:fillRect l="-158537" t="-140000" r="-80000" b="-217143"/>
                          </a:stretch>
                        </a:blipFill>
                      </a:tcPr>
                    </a:tc>
                    <a:tc>
                      <a:txBody>
                        <a:bodyPr/>
                        <a:lstStyle/>
                        <a:p>
                          <a:endParaRPr lang="en-US"/>
                        </a:p>
                      </a:txBody>
                      <a:tcPr marL="68580" marR="68580" marT="0" marB="0" anchor="ctr">
                        <a:blipFill>
                          <a:blip r:embed="rId4"/>
                          <a:stretch>
                            <a:fillRect l="-327160" t="-140000" r="-1235" b="-217143"/>
                          </a:stretch>
                        </a:blipFill>
                      </a:tcPr>
                    </a:tc>
                    <a:extLst>
                      <a:ext uri="{0D108BD9-81ED-4DB2-BD59-A6C34878D82A}">
                        <a16:rowId xmlns:a16="http://schemas.microsoft.com/office/drawing/2014/main" val="10001"/>
                      </a:ext>
                    </a:extLst>
                  </a:tr>
                  <a:tr h="27432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381818" r="-175714" b="-245455"/>
                          </a:stretch>
                        </a:blipFill>
                      </a:tcPr>
                    </a:tc>
                    <a:tc>
                      <a:txBody>
                        <a:bodyPr/>
                        <a:lstStyle/>
                        <a:p>
                          <a:endParaRPr lang="en-US"/>
                        </a:p>
                      </a:txBody>
                      <a:tcPr marL="68580" marR="68580" marT="0" marB="0" anchor="ctr">
                        <a:blipFill>
                          <a:blip r:embed="rId4"/>
                          <a:stretch>
                            <a:fillRect l="-158537" t="-381818" r="-80000" b="-245455"/>
                          </a:stretch>
                        </a:blipFill>
                      </a:tcPr>
                    </a:tc>
                    <a:tc>
                      <a:txBody>
                        <a:bodyPr/>
                        <a:lstStyle/>
                        <a:p>
                          <a:pPr marL="0" marR="0" algn="ctr">
                            <a:spcBef>
                              <a:spcPts val="0"/>
                            </a:spcBef>
                            <a:spcAft>
                              <a:spcPts val="0"/>
                            </a:spcAft>
                          </a:pPr>
                          <a:r>
                            <a:rPr lang="en-US" sz="1800">
                              <a:effectLst/>
                            </a:rPr>
                            <a:t>One zero</a:t>
                          </a:r>
                          <a:endParaRPr lang="en-US" sz="180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54864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54762" t="-246512" r="-175714" b="-25581"/>
                          </a:stretch>
                        </a:blipFill>
                      </a:tcPr>
                    </a:tc>
                    <a:tc>
                      <a:txBody>
                        <a:bodyPr/>
                        <a:lstStyle/>
                        <a:p>
                          <a:endParaRPr lang="en-US"/>
                        </a:p>
                      </a:txBody>
                      <a:tcPr marL="68580" marR="68580" marT="0" marB="0" anchor="ctr">
                        <a:blipFill>
                          <a:blip r:embed="rId4"/>
                          <a:stretch>
                            <a:fillRect l="-158537" t="-246512" r="-80000" b="-25581"/>
                          </a:stretch>
                        </a:blipFill>
                      </a:tcPr>
                    </a:tc>
                    <a:tc>
                      <a:txBody>
                        <a:bodyPr/>
                        <a:lstStyle/>
                        <a:p>
                          <a:endParaRPr lang="en-US"/>
                        </a:p>
                      </a:txBody>
                      <a:tcPr marL="68580" marR="68580" marT="0" marB="0" anchor="ctr">
                        <a:blipFill>
                          <a:blip r:embed="rId4"/>
                          <a:stretch>
                            <a:fillRect l="-327160" t="-246512" r="-1235" b="-25581"/>
                          </a:stretch>
                        </a:blipFill>
                      </a:tcPr>
                    </a:tc>
                    <a:extLst>
                      <a:ext uri="{0D108BD9-81ED-4DB2-BD59-A6C34878D82A}">
                        <a16:rowId xmlns:a16="http://schemas.microsoft.com/office/drawing/2014/main" val="10003"/>
                      </a:ext>
                    </a:extLst>
                  </a:tr>
                </a:tbl>
              </a:graphicData>
            </a:graphic>
          </p:graphicFrame>
        </mc:Fallback>
      </mc:AlternateContent>
    </p:spTree>
    <p:extLst>
      <p:ext uri="{BB962C8B-B14F-4D97-AF65-F5344CB8AC3E}">
        <p14:creationId xmlns:p14="http://schemas.microsoft.com/office/powerpoint/2010/main" val="28770608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2"/>
          </p:nvPr>
        </p:nvSpPr>
        <p:spPr/>
        <p:txBody>
          <a:bodyPr/>
          <a:lstStyle/>
          <a:p>
            <a:fld id="{23C89448-AD74-4018-9305-3850ACD33B3A}" type="slidenum">
              <a:rPr lang="en-US"/>
              <a:pPr/>
              <a:t>10</a:t>
            </a:fld>
            <a:endParaRPr lang="en-US" dirty="0"/>
          </a:p>
        </p:txBody>
      </p:sp>
      <p:sp>
        <p:nvSpPr>
          <p:cNvPr id="187395" name="Rectangle 3"/>
          <p:cNvSpPr>
            <a:spLocks noGrp="1" noChangeArrowheads="1"/>
          </p:cNvSpPr>
          <p:nvPr>
            <p:ph type="body" idx="1"/>
          </p:nvPr>
        </p:nvSpPr>
        <p:spPr>
          <a:xfrm>
            <a:off x="732698" y="3039948"/>
            <a:ext cx="4419600" cy="3352800"/>
          </a:xfrm>
          <a:noFill/>
          <a:extLst>
            <a:ext uri="{909E8E84-426E-40DD-AFC4-6F175D3DCCD1}">
              <a14:hiddenFill xmlns:a14="http://schemas.microsoft.com/office/drawing/2010/main">
                <a:solidFill>
                  <a:srgbClr val="E4F5FF"/>
                </a:solidFill>
              </a14:hiddenFill>
            </a:ext>
          </a:extLst>
        </p:spPr>
        <p:txBody>
          <a:bodyPr>
            <a:normAutofit fontScale="77500" lnSpcReduction="20000"/>
          </a:bodyPr>
          <a:lstStyle/>
          <a:p>
            <a:r>
              <a:rPr lang="en-US" dirty="0"/>
              <a:t>Example:  in a 5-bit system</a:t>
            </a:r>
          </a:p>
          <a:p>
            <a:pPr lvl="1"/>
            <a:r>
              <a:rPr lang="en-US" dirty="0">
                <a:solidFill>
                  <a:schemeClr val="tx1"/>
                </a:solidFill>
                <a:latin typeface="Consolas" panose="020B0609020204030204" pitchFamily="49" charset="0"/>
                <a:cs typeface="Consolas" panose="020B0609020204030204" pitchFamily="49" charset="0"/>
              </a:rPr>
              <a:t>+7</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0</a:t>
            </a:r>
            <a:r>
              <a:rPr lang="en-US" dirty="0">
                <a:solidFill>
                  <a:srgbClr val="0000FF"/>
                </a:solidFill>
                <a:latin typeface="Consolas" panose="020B0609020204030204" pitchFamily="49" charset="0"/>
                <a:cs typeface="Consolas" panose="020B0609020204030204" pitchFamily="49" charset="0"/>
              </a:rPr>
              <a:t>0111</a:t>
            </a:r>
            <a:r>
              <a:rPr lang="en-US" baseline="-25000" dirty="0">
                <a:solidFill>
                  <a:schemeClr val="tx1"/>
                </a:solidFill>
                <a:latin typeface="Consolas" panose="020B0609020204030204" pitchFamily="49" charset="0"/>
                <a:cs typeface="Consolas" panose="020B0609020204030204" pitchFamily="49" charset="0"/>
              </a:rPr>
              <a:t>2</a:t>
            </a:r>
          </a:p>
          <a:p>
            <a:pPr lvl="1"/>
            <a:r>
              <a:rPr lang="en-US" dirty="0">
                <a:solidFill>
                  <a:schemeClr val="tx1"/>
                </a:solidFill>
                <a:latin typeface="Consolas" panose="020B0609020204030204" pitchFamily="49" charset="0"/>
                <a:cs typeface="Consolas" panose="020B0609020204030204" pitchFamily="49" charset="0"/>
              </a:rPr>
              <a:t>-7</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1</a:t>
            </a:r>
            <a:r>
              <a:rPr lang="en-US" dirty="0">
                <a:solidFill>
                  <a:srgbClr val="0000FF"/>
                </a:solidFill>
                <a:latin typeface="Consolas" panose="020B0609020204030204" pitchFamily="49" charset="0"/>
                <a:cs typeface="Consolas" panose="020B0609020204030204" pitchFamily="49" charset="0"/>
              </a:rPr>
              <a:t>0111</a:t>
            </a:r>
            <a:r>
              <a:rPr lang="en-US" baseline="-25000" dirty="0">
                <a:solidFill>
                  <a:schemeClr val="tx1"/>
                </a:solidFill>
                <a:latin typeface="Consolas" panose="020B0609020204030204" pitchFamily="49" charset="0"/>
                <a:cs typeface="Consolas" panose="020B0609020204030204" pitchFamily="49" charset="0"/>
              </a:rPr>
              <a:t>2</a:t>
            </a:r>
          </a:p>
          <a:p>
            <a:pPr lvl="1"/>
            <a:endParaRPr lang="en-US" dirty="0">
              <a:solidFill>
                <a:srgbClr val="0000FF"/>
              </a:solidFill>
              <a:latin typeface="Consolas" panose="020B0609020204030204" pitchFamily="49" charset="0"/>
              <a:cs typeface="Consolas" panose="020B0609020204030204" pitchFamily="49" charset="0"/>
            </a:endParaRPr>
          </a:p>
          <a:p>
            <a:r>
              <a:rPr lang="en-US" dirty="0"/>
              <a:t>Two ways to represent zero </a:t>
            </a:r>
          </a:p>
          <a:p>
            <a:pPr lvl="1"/>
            <a:r>
              <a:rPr lang="en-US" dirty="0">
                <a:solidFill>
                  <a:schemeClr val="tx1"/>
                </a:solidFill>
                <a:latin typeface="Consolas" panose="020B0609020204030204" pitchFamily="49" charset="0"/>
                <a:cs typeface="Consolas" panose="020B0609020204030204" pitchFamily="49" charset="0"/>
              </a:rPr>
              <a:t>+0</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0</a:t>
            </a:r>
            <a:r>
              <a:rPr lang="en-US" dirty="0">
                <a:solidFill>
                  <a:srgbClr val="0000FF"/>
                </a:solidFill>
                <a:latin typeface="Consolas" panose="020B0609020204030204" pitchFamily="49" charset="0"/>
                <a:cs typeface="Consolas" panose="020B0609020204030204" pitchFamily="49" charset="0"/>
              </a:rPr>
              <a:t>0000</a:t>
            </a:r>
            <a:r>
              <a:rPr lang="en-US" baseline="-25000" dirty="0">
                <a:solidFill>
                  <a:schemeClr val="tx1"/>
                </a:solidFill>
                <a:latin typeface="Consolas" panose="020B0609020204030204" pitchFamily="49" charset="0"/>
                <a:cs typeface="Consolas" panose="020B0609020204030204" pitchFamily="49" charset="0"/>
              </a:rPr>
              <a:t>2</a:t>
            </a:r>
            <a:r>
              <a:rPr lang="en-US" dirty="0">
                <a:solidFill>
                  <a:srgbClr val="0000FF"/>
                </a:solidFill>
                <a:latin typeface="Consolas" panose="020B0609020204030204" pitchFamily="49" charset="0"/>
                <a:cs typeface="Consolas" panose="020B0609020204030204" pitchFamily="49" charset="0"/>
              </a:rPr>
              <a:t> </a:t>
            </a:r>
          </a:p>
          <a:p>
            <a:pPr lvl="1"/>
            <a:r>
              <a:rPr lang="en-US" dirty="0">
                <a:solidFill>
                  <a:schemeClr val="tx1"/>
                </a:solidFill>
                <a:latin typeface="Consolas" panose="020B0609020204030204" pitchFamily="49" charset="0"/>
                <a:cs typeface="Consolas" panose="020B0609020204030204" pitchFamily="49" charset="0"/>
              </a:rPr>
              <a:t>-0</a:t>
            </a:r>
            <a:r>
              <a:rPr lang="en-US" baseline="-25000" dirty="0">
                <a:solidFill>
                  <a:schemeClr val="tx1"/>
                </a:solidFill>
                <a:latin typeface="Consolas" panose="020B0609020204030204" pitchFamily="49" charset="0"/>
                <a:cs typeface="Consolas" panose="020B0609020204030204" pitchFamily="49" charset="0"/>
              </a:rPr>
              <a:t>10</a:t>
            </a:r>
            <a:r>
              <a:rPr lang="en-US" dirty="0">
                <a:solidFill>
                  <a:schemeClr val="tx1"/>
                </a:solidFill>
                <a:latin typeface="Consolas" panose="020B0609020204030204" pitchFamily="49" charset="0"/>
                <a:cs typeface="Consolas" panose="020B0609020204030204" pitchFamily="49" charset="0"/>
              </a:rPr>
              <a:t> = </a:t>
            </a:r>
            <a:r>
              <a:rPr lang="en-US" dirty="0">
                <a:solidFill>
                  <a:srgbClr val="FF0000"/>
                </a:solidFill>
                <a:latin typeface="Consolas" panose="020B0609020204030204" pitchFamily="49" charset="0"/>
                <a:cs typeface="Consolas" panose="020B0609020204030204" pitchFamily="49" charset="0"/>
              </a:rPr>
              <a:t>1</a:t>
            </a:r>
            <a:r>
              <a:rPr lang="en-US" dirty="0">
                <a:solidFill>
                  <a:srgbClr val="0000FF"/>
                </a:solidFill>
                <a:latin typeface="Consolas" panose="020B0609020204030204" pitchFamily="49" charset="0"/>
                <a:cs typeface="Consolas" panose="020B0609020204030204" pitchFamily="49" charset="0"/>
              </a:rPr>
              <a:t>0000</a:t>
            </a:r>
            <a:r>
              <a:rPr lang="en-US" baseline="-25000" dirty="0">
                <a:solidFill>
                  <a:schemeClr val="tx1"/>
                </a:solidFill>
                <a:latin typeface="Consolas" panose="020B0609020204030204" pitchFamily="49" charset="0"/>
                <a:cs typeface="Consolas" panose="020B0609020204030204" pitchFamily="49" charset="0"/>
              </a:rPr>
              <a:t>2</a:t>
            </a:r>
            <a:endParaRPr lang="en-US" dirty="0">
              <a:solidFill>
                <a:schemeClr val="tx1"/>
              </a:solidFill>
              <a:latin typeface="Consolas" panose="020B0609020204030204" pitchFamily="49" charset="0"/>
              <a:cs typeface="Consolas" panose="020B0609020204030204" pitchFamily="49" charset="0"/>
            </a:endParaRPr>
          </a:p>
          <a:p>
            <a:pPr lvl="1"/>
            <a:endParaRPr lang="en-US" baseline="-25000" dirty="0">
              <a:solidFill>
                <a:schemeClr val="tx1"/>
              </a:solidFill>
              <a:latin typeface="Consolas" panose="020B0609020204030204" pitchFamily="49" charset="0"/>
              <a:cs typeface="Consolas" panose="020B0609020204030204" pitchFamily="49" charset="0"/>
            </a:endParaRPr>
          </a:p>
          <a:p>
            <a:r>
              <a:rPr lang="en-US" dirty="0">
                <a:cs typeface="Consolas" panose="020B0609020204030204" pitchFamily="49" charset="0"/>
              </a:rPr>
              <a:t>Not used in modern systems</a:t>
            </a:r>
          </a:p>
          <a:p>
            <a:pPr lvl="1"/>
            <a:r>
              <a:rPr lang="en-US" dirty="0">
                <a:cs typeface="Consolas" panose="020B0609020204030204" pitchFamily="49" charset="0"/>
              </a:rPr>
              <a:t>Hardware complexity</a:t>
            </a:r>
          </a:p>
          <a:p>
            <a:pPr lvl="1"/>
            <a:r>
              <a:rPr lang="en-US" dirty="0">
                <a:cs typeface="Consolas" panose="020B0609020204030204" pitchFamily="49" charset="0"/>
              </a:rPr>
              <a:t>Two zeros </a:t>
            </a:r>
            <a:endParaRPr lang="en-US" dirty="0">
              <a:solidFill>
                <a:schemeClr val="tx1"/>
              </a:solidFill>
              <a:cs typeface="Consolas" panose="020B0609020204030204" pitchFamily="49" charset="0"/>
            </a:endParaRPr>
          </a:p>
        </p:txBody>
      </p:sp>
      <p:sp>
        <p:nvSpPr>
          <p:cNvPr id="2" name="Title 1"/>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1: Signed Magnitude </a:t>
            </a:r>
          </a:p>
        </p:txBody>
      </p:sp>
      <mc:AlternateContent xmlns:mc="http://schemas.openxmlformats.org/markup-compatibility/2006" xmlns:a14="http://schemas.microsoft.com/office/drawing/2010/main">
        <mc:Choice Requires="a14">
          <p:sp>
            <p:nvSpPr>
              <p:cNvPr id="3" name="Rectangle 2"/>
              <p:cNvSpPr/>
              <p:nvPr/>
            </p:nvSpPr>
            <p:spPr>
              <a:xfrm>
                <a:off x="609600" y="1209354"/>
                <a:ext cx="5181600" cy="840423"/>
              </a:xfrm>
              <a:prstGeom prst="rect">
                <a:avLst/>
              </a:prstGeom>
            </p:spPr>
            <p:txBody>
              <a:bodyPr wrap="square">
                <a:spAutoFit/>
              </a:bodyPr>
              <a:lstStyle/>
              <a:p>
                <a:r>
                  <a:rPr lang="en-US" sz="2400" b="1" i="1" dirty="0"/>
                  <a:t>Sign-and-Magnitude:</a:t>
                </a:r>
                <a:endParaRPr lang="en-US" sz="2400" dirty="0"/>
              </a:p>
              <a:p>
                <a:pPr/>
                <a14:m>
                  <m:oMathPara xmlns:m="http://schemas.openxmlformats.org/officeDocument/2006/math">
                    <m:oMath>
                      <m:r>
                        <a:rPr lang="en-US" sz="2400" b="1" i="1">
                          <a:latin typeface="Cambria Math"/>
                        </a:rPr>
                        <m:t>𝒗𝒂𝒍𝒖𝒆</m:t>
                      </m:r>
                      <m:r>
                        <a:rPr lang="en-US" sz="2400" b="1" i="1">
                          <a:latin typeface="Cambria Math"/>
                        </a:rPr>
                        <m:t>=</m:t>
                      </m:r>
                      <m:sSup>
                        <m:sSupPr>
                          <m:ctrlPr>
                            <a:rPr lang="en-US" sz="2400" b="1" i="1">
                              <a:latin typeface="Cambria Math"/>
                            </a:rPr>
                          </m:ctrlPr>
                        </m:sSupPr>
                        <m:e>
                          <m:r>
                            <a:rPr lang="en-US" sz="2400" b="1" i="1">
                              <a:latin typeface="Cambria Math"/>
                            </a:rPr>
                            <m:t>(−</m:t>
                          </m:r>
                          <m:r>
                            <a:rPr lang="en-US" sz="2400" b="1" i="1">
                              <a:latin typeface="Cambria Math"/>
                            </a:rPr>
                            <m:t>𝟏</m:t>
                          </m:r>
                          <m:r>
                            <a:rPr lang="en-US" sz="2400" b="1" i="1">
                              <a:latin typeface="Cambria Math"/>
                            </a:rPr>
                            <m:t>)</m:t>
                          </m:r>
                        </m:e>
                        <m:sup>
                          <m:r>
                            <a:rPr lang="en-US" sz="2400" b="1" i="1">
                              <a:solidFill>
                                <a:srgbClr val="FF0000"/>
                              </a:solidFill>
                              <a:latin typeface="Cambria Math"/>
                            </a:rPr>
                            <m:t>𝒔𝒊𝒈𝒏</m:t>
                          </m:r>
                        </m:sup>
                      </m:sSup>
                      <m:r>
                        <a:rPr lang="en-US" sz="2400" b="1" i="1">
                          <a:latin typeface="Cambria Math"/>
                        </a:rPr>
                        <m:t>×</m:t>
                      </m:r>
                      <m:r>
                        <a:rPr lang="en-US" sz="2400" b="1" i="1">
                          <a:solidFill>
                            <a:srgbClr val="0000FF"/>
                          </a:solidFill>
                          <a:latin typeface="Cambria Math"/>
                        </a:rPr>
                        <m:t>𝑴𝒂𝒈𝒏𝒊𝒕𝒖𝒅𝒆</m:t>
                      </m:r>
                    </m:oMath>
                  </m:oMathPara>
                </a14:m>
                <a:endParaRPr lang="en-US" sz="2400" dirty="0">
                  <a:solidFill>
                    <a:srgbClr val="0000FF"/>
                  </a:solidFill>
                </a:endParaRPr>
              </a:p>
            </p:txBody>
          </p:sp>
        </mc:Choice>
        <mc:Fallback xmlns="">
          <p:sp>
            <p:nvSpPr>
              <p:cNvPr id="3" name="Rectangle 2"/>
              <p:cNvSpPr>
                <a:spLocks noRot="1" noChangeAspect="1" noMove="1" noResize="1" noEditPoints="1" noAdjustHandles="1" noChangeArrowheads="1" noChangeShapeType="1" noTextEdit="1"/>
              </p:cNvSpPr>
              <p:nvPr/>
            </p:nvSpPr>
            <p:spPr>
              <a:xfrm>
                <a:off x="609600" y="1209354"/>
                <a:ext cx="5181600" cy="840423"/>
              </a:xfrm>
              <a:prstGeom prst="rect">
                <a:avLst/>
              </a:prstGeom>
              <a:blipFill>
                <a:blip r:embed="rId3"/>
                <a:stretch>
                  <a:fillRect l="-1956" t="-5970" b="-8955"/>
                </a:stretch>
              </a:blipFill>
            </p:spPr>
            <p:txBody>
              <a:bodyPr/>
              <a:lstStyle/>
              <a:p>
                <a:r>
                  <a:rPr lang="en-US">
                    <a:noFill/>
                  </a:rPr>
                  <a:t> </a:t>
                </a:r>
              </a:p>
            </p:txBody>
          </p:sp>
        </mc:Fallback>
      </mc:AlternateContent>
      <p:sp>
        <p:nvSpPr>
          <p:cNvPr id="5" name="TextBox 4"/>
          <p:cNvSpPr txBox="1"/>
          <p:nvPr/>
        </p:nvSpPr>
        <p:spPr>
          <a:xfrm>
            <a:off x="1222430" y="2116131"/>
            <a:ext cx="3744936" cy="646331"/>
          </a:xfrm>
          <a:prstGeom prst="rect">
            <a:avLst/>
          </a:prstGeom>
          <a:noFill/>
        </p:spPr>
        <p:txBody>
          <a:bodyPr wrap="none" rtlCol="0">
            <a:spAutoFit/>
          </a:bodyPr>
          <a:lstStyle/>
          <a:p>
            <a:pPr marL="342900" indent="-342900">
              <a:buFont typeface="Arial" panose="020B0604020202020204" pitchFamily="34" charset="0"/>
              <a:buChar char="•"/>
            </a:pPr>
            <a:r>
              <a:rPr lang="en-US" dirty="0"/>
              <a:t>The most significant bit is the sign.</a:t>
            </a:r>
          </a:p>
          <a:p>
            <a:pPr marL="342900" indent="-342900">
              <a:buFont typeface="Arial" panose="020B0604020202020204" pitchFamily="34" charset="0"/>
              <a:buChar char="•"/>
            </a:pPr>
            <a:r>
              <a:rPr lang="en-US" dirty="0"/>
              <a:t>The rest bits are magnitude.</a:t>
            </a:r>
          </a:p>
        </p:txBody>
      </p:sp>
      <p:pic>
        <p:nvPicPr>
          <p:cNvPr id="4198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60216" y="2181627"/>
            <a:ext cx="4343400" cy="40993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Oval 5"/>
          <p:cNvSpPr/>
          <p:nvPr/>
        </p:nvSpPr>
        <p:spPr>
          <a:xfrm rot="636563">
            <a:off x="6100221" y="373609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rot="20917649">
            <a:off x="9593218" y="3755591"/>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rot="16200000">
            <a:off x="7816268" y="2242132"/>
            <a:ext cx="979064" cy="457200"/>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2864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2: One’s Complement</a:t>
            </a:r>
          </a:p>
        </p:txBody>
      </p:sp>
      <mc:AlternateContent xmlns:mc="http://schemas.openxmlformats.org/markup-compatibility/2006" xmlns:a14="http://schemas.microsoft.com/office/drawing/2010/main">
        <mc:Choice Requires="a14">
          <p:sp>
            <p:nvSpPr>
              <p:cNvPr id="5" name="Rectangle 4"/>
              <p:cNvSpPr/>
              <p:nvPr/>
            </p:nvSpPr>
            <p:spPr>
              <a:xfrm>
                <a:off x="609600" y="1262270"/>
                <a:ext cx="3962400" cy="707886"/>
              </a:xfrm>
              <a:prstGeom prst="rect">
                <a:avLst/>
              </a:prstGeom>
            </p:spPr>
            <p:txBody>
              <a:bodyPr wrap="square">
                <a:spAutoFit/>
              </a:bodyPr>
              <a:lstStyle/>
              <a:p>
                <a:r>
                  <a:rPr lang="en-US" sz="2000" b="1" i="1" dirty="0"/>
                  <a:t>One’s Complement (</a:t>
                </a:r>
                <a14:m>
                  <m:oMath xmlns:m="http://schemas.openxmlformats.org/officeDocument/2006/math">
                    <m:acc>
                      <m:accPr>
                        <m:chr m:val="̃"/>
                        <m:ctrlPr>
                          <a:rPr lang="en-US" sz="2000" b="1" i="1">
                            <a:latin typeface="Cambria Math"/>
                          </a:rPr>
                        </m:ctrlPr>
                      </m:accPr>
                      <m:e>
                        <m:r>
                          <a:rPr lang="en-US" sz="2000" b="1" i="1">
                            <a:latin typeface="Cambria Math"/>
                          </a:rPr>
                          <m:t>𝜶</m:t>
                        </m:r>
                      </m:e>
                    </m:acc>
                  </m:oMath>
                </a14:m>
                <a:r>
                  <a:rPr lang="en-US" sz="2000" b="1" i="1" dirty="0"/>
                  <a:t>):</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r>
                        <a:rPr lang="en-US" sz="2000" b="1" i="1">
                          <a:latin typeface="Cambria Math"/>
                        </a:rPr>
                        <m:t>−</m:t>
                      </m:r>
                      <m:r>
                        <a:rPr lang="en-US" sz="2000" b="1" i="1">
                          <a:latin typeface="Cambria Math"/>
                        </a:rPr>
                        <m:t>𝟏</m:t>
                      </m:r>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62270"/>
                <a:ext cx="3962400" cy="707886"/>
              </a:xfrm>
              <a:prstGeom prst="rect">
                <a:avLst/>
              </a:prstGeom>
              <a:blipFill>
                <a:blip r:embed="rId3"/>
                <a:stretch>
                  <a:fillRect l="-1603" t="-5263"/>
                </a:stretch>
              </a:blipFill>
            </p:spPr>
            <p:txBody>
              <a:bodyPr/>
              <a:lstStyle/>
              <a:p>
                <a:r>
                  <a:rPr lang="en-US">
                    <a:noFill/>
                  </a:rPr>
                  <a:t> </a:t>
                </a:r>
              </a:p>
            </p:txBody>
          </p:sp>
        </mc:Fallback>
      </mc:AlternateContent>
      <p:pic>
        <p:nvPicPr>
          <p:cNvPr id="4301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9200" y="2166536"/>
            <a:ext cx="3967537" cy="374456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Rectangle 5"/>
          <p:cNvSpPr/>
          <p:nvPr/>
        </p:nvSpPr>
        <p:spPr>
          <a:xfrm>
            <a:off x="6886759" y="3330618"/>
            <a:ext cx="2743200" cy="923330"/>
          </a:xfrm>
          <a:prstGeom prst="rect">
            <a:avLst/>
          </a:prstGeom>
        </p:spPr>
        <p:txBody>
          <a:bodyPr wrap="square">
            <a:spAutoFit/>
          </a:bodyPr>
          <a:lstStyle/>
          <a:p>
            <a:r>
              <a:rPr lang="en-US" dirty="0"/>
              <a:t>Example:  in a 5-bit system</a:t>
            </a:r>
          </a:p>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00111</a:t>
            </a:r>
            <a:r>
              <a:rPr lang="en-US" baseline="-25000" dirty="0">
                <a:latin typeface="Consolas" panose="020B0609020204030204" pitchFamily="49" charset="0"/>
                <a:cs typeface="Consolas" panose="020B0609020204030204" pitchFamily="49" charset="0"/>
              </a:rPr>
              <a:t>2</a:t>
            </a:r>
          </a:p>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11000</a:t>
            </a:r>
            <a:r>
              <a:rPr lang="en-US" baseline="-25000" dirty="0">
                <a:latin typeface="Consolas" panose="020B0609020204030204" pitchFamily="49" charset="0"/>
                <a:cs typeface="Consolas" panose="020B0609020204030204" pitchFamily="49" charset="0"/>
              </a:rPr>
              <a:t>2</a:t>
            </a:r>
          </a:p>
        </p:txBody>
      </p:sp>
      <p:sp>
        <p:nvSpPr>
          <p:cNvPr id="7" name="Rectangle 6"/>
          <p:cNvSpPr/>
          <p:nvPr/>
        </p:nvSpPr>
        <p:spPr>
          <a:xfrm>
            <a:off x="6781800" y="1445833"/>
            <a:ext cx="3657601" cy="1200329"/>
          </a:xfrm>
          <a:prstGeom prst="rect">
            <a:avLst/>
          </a:prstGeom>
        </p:spPr>
        <p:txBody>
          <a:bodyPr wrap="square">
            <a:spAutoFit/>
          </a:bodyPr>
          <a:lstStyle/>
          <a:p>
            <a:r>
              <a:rPr lang="en-US" b="1" dirty="0">
                <a:solidFill>
                  <a:srgbClr val="C00000"/>
                </a:solidFill>
              </a:rPr>
              <a:t>The one's complement representation of a negative binary number is the bitwise NOT of its positive counterpart. </a:t>
            </a:r>
          </a:p>
        </p:txBody>
      </p:sp>
      <p:sp>
        <p:nvSpPr>
          <p:cNvPr id="8" name="Rectangle 7"/>
          <p:cNvSpPr/>
          <p:nvPr/>
        </p:nvSpPr>
        <p:spPr>
          <a:xfrm>
            <a:off x="6477000" y="4938404"/>
            <a:ext cx="4724400" cy="923330"/>
          </a:xfrm>
          <a:prstGeom prst="rect">
            <a:avLst/>
          </a:prstGeom>
        </p:spPr>
        <p:txBody>
          <a:bodyPr wrap="square">
            <a:spAutoFit/>
          </a:bodyPr>
          <a:lstStyle/>
          <a:p>
            <a:pPr lvl="1"/>
            <a:r>
              <a:rPr lang="en-US" dirty="0">
                <a:latin typeface="Consolas" panose="020B0609020204030204" pitchFamily="49" charset="0"/>
                <a:cs typeface="Consolas" panose="020B0609020204030204" pitchFamily="49" charset="0"/>
              </a:rPr>
              <a:t>+7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(-7</a:t>
            </a:r>
            <a:r>
              <a:rPr lang="en-US" baseline="-25000" dirty="0">
                <a:latin typeface="Consolas" panose="020B0609020204030204" pitchFamily="49" charset="0"/>
                <a:cs typeface="Consolas" panose="020B0609020204030204" pitchFamily="49" charset="0"/>
              </a:rPr>
              <a:t>10</a:t>
            </a:r>
            <a:r>
              <a:rPr lang="en-US" dirty="0">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00111</a:t>
            </a:r>
            <a:r>
              <a:rPr lang="en-US" baseline="-25000" dirty="0">
                <a:latin typeface="Consolas" panose="020B0609020204030204" pitchFamily="49" charset="0"/>
                <a:cs typeface="Consolas" panose="020B0609020204030204" pitchFamily="49" charset="0"/>
              </a:rPr>
              <a:t>2</a:t>
            </a:r>
            <a:r>
              <a:rPr lang="en-US" dirty="0">
                <a:solidFill>
                  <a:srgbClr val="0000FF"/>
                </a:solidFill>
                <a:latin typeface="Consolas" panose="020B0609020204030204" pitchFamily="49" charset="0"/>
                <a:cs typeface="Consolas" panose="020B0609020204030204" pitchFamily="49" charset="0"/>
              </a:rPr>
              <a:t> + 11000</a:t>
            </a:r>
            <a:r>
              <a:rPr lang="en-US" baseline="-25000" dirty="0">
                <a:latin typeface="Consolas" panose="020B0609020204030204" pitchFamily="49" charset="0"/>
                <a:cs typeface="Consolas" panose="020B0609020204030204" pitchFamily="49" charset="0"/>
              </a:rPr>
              <a:t>2 </a:t>
            </a:r>
          </a:p>
          <a:p>
            <a:pPr lvl="1"/>
            <a:r>
              <a:rPr lang="en-US" baseline="-25000" dirty="0">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a:t>
            </a:r>
            <a:r>
              <a:rPr lang="en-US" dirty="0">
                <a:solidFill>
                  <a:srgbClr val="0000FF"/>
                </a:solidFill>
                <a:latin typeface="Consolas" panose="020B0609020204030204" pitchFamily="49" charset="0"/>
                <a:cs typeface="Consolas" panose="020B0609020204030204" pitchFamily="49" charset="0"/>
              </a:rPr>
              <a:t> 11111</a:t>
            </a:r>
            <a:r>
              <a:rPr lang="en-US" baseline="-25000" dirty="0">
                <a:latin typeface="Consolas" panose="020B0609020204030204" pitchFamily="49" charset="0"/>
                <a:cs typeface="Consolas" panose="020B0609020204030204" pitchFamily="49" charset="0"/>
              </a:rPr>
              <a:t>2</a:t>
            </a:r>
            <a:r>
              <a:rPr lang="en-US" dirty="0">
                <a:latin typeface="Consolas" panose="020B0609020204030204" pitchFamily="49" charset="0"/>
                <a:cs typeface="Consolas" panose="020B0609020204030204" pitchFamily="49" charset="0"/>
              </a:rPr>
              <a:t> </a:t>
            </a:r>
          </a:p>
          <a:p>
            <a:pPr lvl="1"/>
            <a:r>
              <a:rPr lang="en-US" baseline="-25000" dirty="0">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 2</a:t>
            </a:r>
            <a:r>
              <a:rPr lang="en-US" baseline="30000" dirty="0">
                <a:latin typeface="Consolas" panose="020B0609020204030204" pitchFamily="49" charset="0"/>
                <a:cs typeface="Consolas" panose="020B0609020204030204" pitchFamily="49" charset="0"/>
              </a:rPr>
              <a:t>5</a:t>
            </a:r>
            <a:r>
              <a:rPr lang="en-US" dirty="0">
                <a:latin typeface="Consolas" panose="020B0609020204030204" pitchFamily="49" charset="0"/>
                <a:cs typeface="Consolas" panose="020B0609020204030204" pitchFamily="49" charset="0"/>
              </a:rPr>
              <a:t> - 1</a:t>
            </a:r>
            <a:endParaRPr lang="en-US" baseline="-25000" dirty="0">
              <a:latin typeface="Consolas" panose="020B0609020204030204" pitchFamily="49" charset="0"/>
              <a:cs typeface="Consolas" panose="020B0609020204030204" pitchFamily="49" charset="0"/>
            </a:endParaRPr>
          </a:p>
        </p:txBody>
      </p:sp>
      <p:sp>
        <p:nvSpPr>
          <p:cNvPr id="9" name="Oval 8"/>
          <p:cNvSpPr/>
          <p:nvPr/>
        </p:nvSpPr>
        <p:spPr>
          <a:xfrm rot="636563">
            <a:off x="1097288" y="358476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rot="20917649">
            <a:off x="4322879" y="359014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9211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222853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p:cNvSpPr/>
              <p:nvPr/>
            </p:nvSpPr>
            <p:spPr>
              <a:xfrm>
                <a:off x="609600" y="1290259"/>
                <a:ext cx="3352800" cy="707886"/>
              </a:xfrm>
              <a:prstGeom prst="rect">
                <a:avLst/>
              </a:prstGeom>
            </p:spPr>
            <p:txBody>
              <a:bodyPr wrap="square">
                <a:spAutoFit/>
              </a:bodyPr>
              <a:lstStyle/>
              <a:p>
                <a:r>
                  <a:rPr lang="en-US" sz="2000" b="1" i="1" dirty="0"/>
                  <a:t>Two’s Complement (</a:t>
                </a:r>
                <a14:m>
                  <m:oMath xmlns:m="http://schemas.openxmlformats.org/officeDocument/2006/math">
                    <m:acc>
                      <m:accPr>
                        <m:chr m:val="̅"/>
                        <m:ctrlPr>
                          <a:rPr lang="en-US" sz="2000" b="1" i="1">
                            <a:latin typeface="Cambria Math"/>
                          </a:rPr>
                        </m:ctrlPr>
                      </m:accPr>
                      <m:e>
                        <m:r>
                          <a:rPr lang="en-US" sz="2000" b="1" i="1">
                            <a:latin typeface="Cambria Math"/>
                          </a:rPr>
                          <m:t>𝜶</m:t>
                        </m:r>
                      </m:e>
                    </m:acc>
                  </m:oMath>
                </a14:m>
                <a:r>
                  <a:rPr lang="en-US" sz="2000" b="1" i="1" dirty="0"/>
                  <a:t>):</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90259"/>
                <a:ext cx="3352800" cy="707886"/>
              </a:xfrm>
              <a:prstGeom prst="rect">
                <a:avLst/>
              </a:prstGeom>
              <a:blipFill>
                <a:blip r:embed="rId4"/>
                <a:stretch>
                  <a:fillRect l="-1894" t="-5263"/>
                </a:stretch>
              </a:blipFill>
            </p:spPr>
            <p:txBody>
              <a:bodyPr/>
              <a:lstStyle/>
              <a:p>
                <a:r>
                  <a:rPr lang="en-US">
                    <a:noFill/>
                  </a:rPr>
                  <a:t> </a:t>
                </a:r>
              </a:p>
            </p:txBody>
          </p:sp>
        </mc:Fallback>
      </mc:AlternateContent>
      <p:sp>
        <p:nvSpPr>
          <p:cNvPr id="6" name="Rectangle 5"/>
          <p:cNvSpPr/>
          <p:nvPr/>
        </p:nvSpPr>
        <p:spPr>
          <a:xfrm>
            <a:off x="6337317" y="153874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graphicFrame>
        <p:nvGraphicFramePr>
          <p:cNvPr id="8" name="Table 7"/>
          <p:cNvGraphicFramePr>
            <a:graphicFrameLocks noGrp="1"/>
          </p:cNvGraphicFramePr>
          <p:nvPr>
            <p:extLst>
              <p:ext uri="{D42A27DB-BD31-4B8C-83A1-F6EECF244321}">
                <p14:modId xmlns:p14="http://schemas.microsoft.com/office/powerpoint/2010/main" val="1435606154"/>
              </p:ext>
            </p:extLst>
          </p:nvPr>
        </p:nvGraphicFramePr>
        <p:xfrm>
          <a:off x="6998978" y="3673163"/>
          <a:ext cx="4090718" cy="1745926"/>
        </p:xfrm>
        <a:graphic>
          <a:graphicData uri="http://schemas.openxmlformats.org/drawingml/2006/table">
            <a:tbl>
              <a:tblPr firstRow="1" firstCol="1" bandRow="1">
                <a:tableStyleId>{5C22544A-7EE6-4342-B048-85BDC9FD1C3A}</a:tableStyleId>
              </a:tblPr>
              <a:tblGrid>
                <a:gridCol w="1957118">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990600">
                  <a:extLst>
                    <a:ext uri="{9D8B030D-6E8A-4147-A177-3AD203B41FA5}">
                      <a16:colId xmlns:a16="http://schemas.microsoft.com/office/drawing/2014/main" val="20002"/>
                    </a:ext>
                  </a:extLst>
                </a:gridCol>
              </a:tblGrid>
              <a:tr h="330199">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Binary</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35348">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3</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470696">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Step 1: Invert every bit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err="1">
                          <a:effectLst/>
                          <a:latin typeface="Consolas" panose="020B0609020204030204" pitchFamily="49" charset="0"/>
                          <a:cs typeface="Consolas" panose="020B0609020204030204" pitchFamily="49" charset="0"/>
                        </a:rPr>
                        <a:t>0b11100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306821">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0b00001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377386">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err="1">
                          <a:effectLst/>
                          <a:latin typeface="Consolas" panose="020B0609020204030204" pitchFamily="49" charset="0"/>
                          <a:cs typeface="Consolas" panose="020B0609020204030204" pitchFamily="49" charset="0"/>
                        </a:rPr>
                        <a:t>0b11101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-3</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9" name="TextBox 8"/>
          <p:cNvSpPr txBox="1"/>
          <p:nvPr/>
        </p:nvSpPr>
        <p:spPr>
          <a:xfrm>
            <a:off x="6395772" y="2882951"/>
            <a:ext cx="2270480" cy="369332"/>
          </a:xfrm>
          <a:prstGeom prst="rect">
            <a:avLst/>
          </a:prstGeom>
          <a:noFill/>
        </p:spPr>
        <p:txBody>
          <a:bodyPr wrap="square" rtlCol="0">
            <a:spAutoFit/>
          </a:bodyPr>
          <a:lstStyle/>
          <a:p>
            <a:r>
              <a:rPr lang="en-US" dirty="0"/>
              <a:t>Example </a:t>
            </a:r>
            <a:r>
              <a:rPr lang="en-US" b="1" dirty="0">
                <a:latin typeface="Consolas" panose="020B0609020204030204" pitchFamily="49" charset="0"/>
                <a:cs typeface="Consolas" panose="020B0609020204030204" pitchFamily="49" charset="0"/>
              </a:rPr>
              <a:t>1</a:t>
            </a:r>
            <a:r>
              <a:rPr lang="en-US" dirty="0"/>
              <a:t>:  </a:t>
            </a:r>
            <a:r>
              <a:rPr lang="en-US" dirty="0">
                <a:solidFill>
                  <a:srgbClr val="C00000"/>
                </a:solidFill>
              </a:rPr>
              <a:t>TC(3)</a:t>
            </a:r>
          </a:p>
        </p:txBody>
      </p:sp>
      <p:sp>
        <p:nvSpPr>
          <p:cNvPr id="10" name="Oval 9"/>
          <p:cNvSpPr/>
          <p:nvPr/>
        </p:nvSpPr>
        <p:spPr>
          <a:xfrm rot="18357225">
            <a:off x="3613456" y="258448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2867065">
            <a:off x="1681987" y="257099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197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Title 3"/>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214666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p:cNvSpPr/>
              <p:nvPr/>
            </p:nvSpPr>
            <p:spPr>
              <a:xfrm>
                <a:off x="609600" y="1219200"/>
                <a:ext cx="3352800" cy="707886"/>
              </a:xfrm>
              <a:prstGeom prst="rect">
                <a:avLst/>
              </a:prstGeom>
            </p:spPr>
            <p:txBody>
              <a:bodyPr wrap="square">
                <a:spAutoFit/>
              </a:bodyPr>
              <a:lstStyle/>
              <a:p>
                <a:r>
                  <a:rPr lang="en-US" sz="2000" b="1" i="1" dirty="0"/>
                  <a:t>Two’s Complement (TC)</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19200"/>
                <a:ext cx="3352800" cy="707886"/>
              </a:xfrm>
              <a:prstGeom prst="rect">
                <a:avLst/>
              </a:prstGeom>
              <a:blipFill>
                <a:blip r:embed="rId4"/>
                <a:stretch>
                  <a:fillRect l="-1894" t="-5357"/>
                </a:stretch>
              </a:blipFill>
            </p:spPr>
            <p:txBody>
              <a:bodyPr/>
              <a:lstStyle/>
              <a:p>
                <a:r>
                  <a:rPr lang="en-US">
                    <a:noFill/>
                  </a:rPr>
                  <a:t> </a:t>
                </a:r>
              </a:p>
            </p:txBody>
          </p:sp>
        </mc:Fallback>
      </mc:AlternateContent>
      <p:sp>
        <p:nvSpPr>
          <p:cNvPr id="6" name="Rectangle 5"/>
          <p:cNvSpPr/>
          <p:nvPr/>
        </p:nvSpPr>
        <p:spPr>
          <a:xfrm>
            <a:off x="6274009" y="146542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sp>
        <p:nvSpPr>
          <p:cNvPr id="9" name="TextBox 8"/>
          <p:cNvSpPr txBox="1"/>
          <p:nvPr/>
        </p:nvSpPr>
        <p:spPr>
          <a:xfrm>
            <a:off x="6585174" y="2985747"/>
            <a:ext cx="1855957" cy="369332"/>
          </a:xfrm>
          <a:prstGeom prst="rect">
            <a:avLst/>
          </a:prstGeom>
          <a:noFill/>
        </p:spPr>
        <p:txBody>
          <a:bodyPr wrap="none" rtlCol="0">
            <a:spAutoFit/>
          </a:bodyPr>
          <a:lstStyle/>
          <a:p>
            <a:r>
              <a:rPr lang="en-US" dirty="0"/>
              <a:t>Example 2: </a:t>
            </a:r>
            <a:r>
              <a:rPr lang="en-US" dirty="0">
                <a:solidFill>
                  <a:srgbClr val="C00000"/>
                </a:solidFill>
              </a:rPr>
              <a:t>TC(-3)</a:t>
            </a:r>
          </a:p>
        </p:txBody>
      </p:sp>
      <p:graphicFrame>
        <p:nvGraphicFramePr>
          <p:cNvPr id="3" name="Table 2"/>
          <p:cNvGraphicFramePr>
            <a:graphicFrameLocks noGrp="1"/>
          </p:cNvGraphicFramePr>
          <p:nvPr>
            <p:extLst>
              <p:ext uri="{D42A27DB-BD31-4B8C-83A1-F6EECF244321}">
                <p14:modId xmlns:p14="http://schemas.microsoft.com/office/powerpoint/2010/main" val="1975676079"/>
              </p:ext>
            </p:extLst>
          </p:nvPr>
        </p:nvGraphicFramePr>
        <p:xfrm>
          <a:off x="6947023" y="3820154"/>
          <a:ext cx="4209248" cy="1524000"/>
        </p:xfrm>
        <a:graphic>
          <a:graphicData uri="http://schemas.openxmlformats.org/drawingml/2006/table">
            <a:tbl>
              <a:tblPr firstRow="1" firstCol="1" bandRow="1">
                <a:tableStyleId>{5C22544A-7EE6-4342-B048-85BDC9FD1C3A}</a:tableStyleId>
              </a:tblPr>
              <a:tblGrid>
                <a:gridCol w="1999449">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990599">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Binary</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0b11101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-3</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1: Invert every bit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0b00010</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0b00001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0b00011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3</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10" name="Oval 9"/>
          <p:cNvSpPr/>
          <p:nvPr/>
        </p:nvSpPr>
        <p:spPr>
          <a:xfrm rot="18357225">
            <a:off x="3689656" y="2502617"/>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2867065">
            <a:off x="1758187" y="248912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9295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FADC1-C918-B972-FCCF-04B3E51C791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597DFAC-63E4-6C20-1EAB-8D656EC743E6}"/>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Title 3">
            <a:extLst>
              <a:ext uri="{FF2B5EF4-FFF2-40B4-BE49-F238E27FC236}">
                <a16:creationId xmlns:a16="http://schemas.microsoft.com/office/drawing/2014/main" id="{3396E152-0275-EB5C-F3F7-9D684FC94C08}"/>
              </a:ext>
            </a:extLst>
          </p:cNvPr>
          <p:cNvSpPr>
            <a:spLocks noGrp="1"/>
          </p:cNvSpPr>
          <p:nvPr>
            <p:ph type="title"/>
          </p:nvPr>
        </p:nvSpPr>
        <p:spPr/>
        <p:txBody>
          <a:bodyPr>
            <a:normAutofit fontScale="90000"/>
          </a:bodyPr>
          <a:lstStyle/>
          <a:p>
            <a:r>
              <a:rPr lang="en-US" dirty="0"/>
              <a:t>Signed Integers</a:t>
            </a:r>
            <a:br>
              <a:rPr lang="en-US" dirty="0"/>
            </a:br>
            <a:r>
              <a:rPr lang="en-US" dirty="0">
                <a:solidFill>
                  <a:schemeClr val="accent2"/>
                </a:solidFill>
              </a:rPr>
              <a:t>Method 3: Two’s Complement (TC)</a:t>
            </a:r>
          </a:p>
        </p:txBody>
      </p:sp>
      <p:pic>
        <p:nvPicPr>
          <p:cNvPr id="36866" name="Picture 2">
            <a:extLst>
              <a:ext uri="{FF2B5EF4-FFF2-40B4-BE49-F238E27FC236}">
                <a16:creationId xmlns:a16="http://schemas.microsoft.com/office/drawing/2014/main" id="{9B0C11F7-974F-AE43-C1C4-45BB225CCF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2146663"/>
            <a:ext cx="4202424" cy="403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42E97754-B66B-661A-EEE0-5B8975072625}"/>
                  </a:ext>
                </a:extLst>
              </p:cNvPr>
              <p:cNvSpPr/>
              <p:nvPr/>
            </p:nvSpPr>
            <p:spPr>
              <a:xfrm>
                <a:off x="609600" y="1219200"/>
                <a:ext cx="3352800" cy="707886"/>
              </a:xfrm>
              <a:prstGeom prst="rect">
                <a:avLst/>
              </a:prstGeom>
            </p:spPr>
            <p:txBody>
              <a:bodyPr wrap="square">
                <a:spAutoFit/>
              </a:bodyPr>
              <a:lstStyle/>
              <a:p>
                <a:r>
                  <a:rPr lang="en-US" sz="2000" b="1" i="1" dirty="0"/>
                  <a:t>Two’s Complement (TC)</a:t>
                </a:r>
                <a:endParaRPr lang="en-US" sz="2000" dirty="0"/>
              </a:p>
              <a:p>
                <a:pPr/>
                <a14:m>
                  <m:oMathPara xmlns:m="http://schemas.openxmlformats.org/officeDocument/2006/math">
                    <m:oMath>
                      <m:r>
                        <a:rPr lang="en-US" sz="2000" b="1" i="1">
                          <a:latin typeface="Cambria Math"/>
                        </a:rPr>
                        <m:t>𝜶</m:t>
                      </m:r>
                      <m:r>
                        <a:rPr lang="en-US" sz="2000" b="1" i="1">
                          <a:latin typeface="Cambria Math"/>
                        </a:rPr>
                        <m:t>+</m:t>
                      </m:r>
                      <m:acc>
                        <m:accPr>
                          <m:chr m:val="̅"/>
                          <m:ctrlPr>
                            <a:rPr lang="en-US" sz="2000" b="1" i="1">
                              <a:latin typeface="Cambria Math"/>
                            </a:rPr>
                          </m:ctrlPr>
                        </m:accPr>
                        <m:e>
                          <m:r>
                            <a:rPr lang="en-US" sz="2000" b="1" i="1">
                              <a:latin typeface="Cambria Math"/>
                            </a:rPr>
                            <m:t>𝜶</m:t>
                          </m:r>
                        </m:e>
                      </m:acc>
                      <m:r>
                        <a:rPr lang="en-US" sz="2000" b="1" i="1">
                          <a:latin typeface="Cambria Math"/>
                        </a:rPr>
                        <m:t>=</m:t>
                      </m:r>
                      <m:sSup>
                        <m:sSupPr>
                          <m:ctrlPr>
                            <a:rPr lang="en-US" sz="2000" b="1" i="1">
                              <a:latin typeface="Cambria Math"/>
                            </a:rPr>
                          </m:ctrlPr>
                        </m:sSupPr>
                        <m:e>
                          <m:r>
                            <a:rPr lang="en-US" sz="2000" b="1" i="1">
                              <a:latin typeface="Cambria Math"/>
                            </a:rPr>
                            <m:t>𝟐</m:t>
                          </m:r>
                        </m:e>
                        <m:sup>
                          <m:r>
                            <a:rPr lang="en-US" sz="2000" b="1" i="1">
                              <a:latin typeface="Cambria Math"/>
                            </a:rPr>
                            <m:t>𝒏</m:t>
                          </m:r>
                        </m:sup>
                      </m:sSup>
                    </m:oMath>
                  </m:oMathPara>
                </a14:m>
                <a:endParaRPr lang="en-US" sz="2000" dirty="0"/>
              </a:p>
            </p:txBody>
          </p:sp>
        </mc:Choice>
        <mc:Fallback xmlns="">
          <p:sp>
            <p:nvSpPr>
              <p:cNvPr id="5" name="Rectangle 4"/>
              <p:cNvSpPr>
                <a:spLocks noRot="1" noChangeAspect="1" noMove="1" noResize="1" noEditPoints="1" noAdjustHandles="1" noChangeArrowheads="1" noChangeShapeType="1" noTextEdit="1"/>
              </p:cNvSpPr>
              <p:nvPr/>
            </p:nvSpPr>
            <p:spPr>
              <a:xfrm>
                <a:off x="609600" y="1219200"/>
                <a:ext cx="3352800" cy="707886"/>
              </a:xfrm>
              <a:prstGeom prst="rect">
                <a:avLst/>
              </a:prstGeom>
              <a:blipFill>
                <a:blip r:embed="rId4"/>
                <a:stretch>
                  <a:fillRect l="-1894" t="-5357"/>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A34C67AE-562B-7BCF-B832-98B5303242D5}"/>
              </a:ext>
            </a:extLst>
          </p:cNvPr>
          <p:cNvSpPr/>
          <p:nvPr/>
        </p:nvSpPr>
        <p:spPr>
          <a:xfrm>
            <a:off x="6274009" y="1465421"/>
            <a:ext cx="3996538" cy="923330"/>
          </a:xfrm>
          <a:prstGeom prst="rect">
            <a:avLst/>
          </a:prstGeom>
        </p:spPr>
        <p:txBody>
          <a:bodyPr wrap="square">
            <a:spAutoFit/>
          </a:bodyPr>
          <a:lstStyle/>
          <a:p>
            <a:r>
              <a:rPr lang="en-US" b="1" dirty="0">
                <a:solidFill>
                  <a:srgbClr val="C00000"/>
                </a:solidFill>
              </a:rPr>
              <a:t>TC of a negative number can be obtained by the bitwise NOT of its positive counterpart plus one. </a:t>
            </a:r>
          </a:p>
        </p:txBody>
      </p:sp>
      <p:sp>
        <p:nvSpPr>
          <p:cNvPr id="9" name="TextBox 8">
            <a:extLst>
              <a:ext uri="{FF2B5EF4-FFF2-40B4-BE49-F238E27FC236}">
                <a16:creationId xmlns:a16="http://schemas.microsoft.com/office/drawing/2014/main" id="{4DF0318C-A284-13AE-EAD6-46754BE65DE2}"/>
              </a:ext>
            </a:extLst>
          </p:cNvPr>
          <p:cNvSpPr txBox="1"/>
          <p:nvPr/>
        </p:nvSpPr>
        <p:spPr>
          <a:xfrm>
            <a:off x="6585174" y="2985747"/>
            <a:ext cx="1971374" cy="369332"/>
          </a:xfrm>
          <a:prstGeom prst="rect">
            <a:avLst/>
          </a:prstGeom>
          <a:noFill/>
        </p:spPr>
        <p:txBody>
          <a:bodyPr wrap="none" rtlCol="0">
            <a:spAutoFit/>
          </a:bodyPr>
          <a:lstStyle/>
          <a:p>
            <a:r>
              <a:rPr lang="en-US" dirty="0"/>
              <a:t>Example 3: </a:t>
            </a:r>
            <a:r>
              <a:rPr lang="en-US" dirty="0">
                <a:solidFill>
                  <a:srgbClr val="C00000"/>
                </a:solidFill>
              </a:rPr>
              <a:t>TC(-16)</a:t>
            </a:r>
          </a:p>
        </p:txBody>
      </p:sp>
      <p:sp>
        <p:nvSpPr>
          <p:cNvPr id="11" name="Oval 10">
            <a:extLst>
              <a:ext uri="{FF2B5EF4-FFF2-40B4-BE49-F238E27FC236}">
                <a16:creationId xmlns:a16="http://schemas.microsoft.com/office/drawing/2014/main" id="{9BB10471-CBF6-9663-C93D-A81832120989}"/>
              </a:ext>
            </a:extLst>
          </p:cNvPr>
          <p:cNvSpPr/>
          <p:nvPr/>
        </p:nvSpPr>
        <p:spPr>
          <a:xfrm rot="5400000">
            <a:off x="2720892" y="5697402"/>
            <a:ext cx="902864" cy="415032"/>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Table 6">
            <a:extLst>
              <a:ext uri="{FF2B5EF4-FFF2-40B4-BE49-F238E27FC236}">
                <a16:creationId xmlns:a16="http://schemas.microsoft.com/office/drawing/2014/main" id="{C2AB44CB-67F7-D4A2-503D-347E3363F7BE}"/>
              </a:ext>
            </a:extLst>
          </p:cNvPr>
          <p:cNvGraphicFramePr>
            <a:graphicFrameLocks noGrp="1"/>
          </p:cNvGraphicFramePr>
          <p:nvPr>
            <p:extLst>
              <p:ext uri="{D42A27DB-BD31-4B8C-83A1-F6EECF244321}">
                <p14:modId xmlns:p14="http://schemas.microsoft.com/office/powerpoint/2010/main" val="2113608196"/>
              </p:ext>
            </p:extLst>
          </p:nvPr>
        </p:nvGraphicFramePr>
        <p:xfrm>
          <a:off x="6400800" y="3502922"/>
          <a:ext cx="4209248" cy="1524000"/>
        </p:xfrm>
        <a:graphic>
          <a:graphicData uri="http://schemas.openxmlformats.org/drawingml/2006/table">
            <a:tbl>
              <a:tblPr firstRow="1" firstCol="1" bandRow="1">
                <a:tableStyleId>{5C22544A-7EE6-4342-B048-85BDC9FD1C3A}</a:tableStyleId>
              </a:tblPr>
              <a:tblGrid>
                <a:gridCol w="1999449">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990599">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Binary</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Decimal</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Original number</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-16</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1: Invert every bit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01111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Step 2: Add 1</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+ 10000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B w="12700" cap="flat" cmpd="sng" algn="ctr">
                      <a:solidFill>
                        <a:schemeClr val="tx1"/>
                      </a:solidFill>
                      <a:prstDash val="solid"/>
                      <a:round/>
                      <a:headEnd type="none" w="med" len="med"/>
                      <a:tailEnd type="none" w="med" len="med"/>
                    </a:lnB>
                  </a:tcPr>
                </a:tc>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 </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0">
                <a:tc>
                  <a:txBody>
                    <a:bodyPr/>
                    <a:lstStyle/>
                    <a:p>
                      <a:pPr marL="0" marR="0" algn="r">
                        <a:spcBef>
                          <a:spcPts val="0"/>
                        </a:spcBef>
                        <a:spcAft>
                          <a:spcPts val="0"/>
                        </a:spcAft>
                      </a:pPr>
                      <a:r>
                        <a:rPr lang="en-US" sz="1600">
                          <a:effectLst/>
                          <a:latin typeface="Consolas" panose="020B0609020204030204" pitchFamily="49" charset="0"/>
                          <a:cs typeface="Consolas" panose="020B0609020204030204" pitchFamily="49" charset="0"/>
                        </a:rPr>
                        <a:t>Two’s complement</a:t>
                      </a:r>
                      <a:endParaRPr lang="en-US" sz="200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10000</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lnT w="12700" cap="flat" cmpd="sng" algn="ctr">
                      <a:solidFill>
                        <a:schemeClr val="tx1"/>
                      </a:solidFill>
                      <a:prstDash val="solid"/>
                      <a:round/>
                      <a:headEnd type="none" w="med" len="med"/>
                      <a:tailEnd type="none" w="med" len="med"/>
                    </a:lnT>
                  </a:tcPr>
                </a:tc>
                <a:tc>
                  <a:txBody>
                    <a:bodyPr/>
                    <a:lstStyle/>
                    <a:p>
                      <a:pPr marL="0" marR="0" algn="r">
                        <a:spcBef>
                          <a:spcPts val="0"/>
                        </a:spcBef>
                        <a:spcAft>
                          <a:spcPts val="0"/>
                        </a:spcAft>
                      </a:pPr>
                      <a:r>
                        <a:rPr lang="en-US" sz="1600" dirty="0">
                          <a:effectLst/>
                          <a:latin typeface="Consolas" panose="020B0609020204030204" pitchFamily="49" charset="0"/>
                          <a:cs typeface="Consolas" panose="020B0609020204030204" pitchFamily="49" charset="0"/>
                        </a:rPr>
                        <a:t>-16</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5C2F0DF3-5559-76CD-49B5-03D4C2C11228}"/>
              </a:ext>
            </a:extLst>
          </p:cNvPr>
          <p:cNvSpPr/>
          <p:nvPr/>
        </p:nvSpPr>
        <p:spPr>
          <a:xfrm>
            <a:off x="6184188" y="5114836"/>
            <a:ext cx="4744720" cy="1200329"/>
          </a:xfrm>
          <a:prstGeom prst="rect">
            <a:avLst/>
          </a:prstGeom>
        </p:spPr>
        <p:txBody>
          <a:bodyPr wrap="square">
            <a:spAutoFit/>
          </a:bodyPr>
          <a:lstStyle/>
          <a:p>
            <a:pPr lvl="0" eaLnBrk="1" fontAlgn="auto" hangingPunct="1">
              <a:spcBef>
                <a:spcPts val="0"/>
              </a:spcBef>
              <a:spcAft>
                <a:spcPts val="0"/>
              </a:spcAft>
              <a:defRPr/>
            </a:pPr>
            <a:r>
              <a:rPr lang="en-US" sz="1800" b="0" dirty="0">
                <a:solidFill>
                  <a:schemeClr val="tx1"/>
                </a:solidFill>
                <a:latin typeface="Gill Sans MT"/>
              </a:rPr>
              <a:t>Negation of -16 in 5-bit two's complement wraps back to itself, meaning the most negative number's two's complement is itself. (Number range is [-16, 15], so 16 is out of range)</a:t>
            </a:r>
          </a:p>
        </p:txBody>
      </p:sp>
    </p:spTree>
    <p:extLst>
      <p:ext uri="{BB962C8B-B14F-4D97-AF65-F5344CB8AC3E}">
        <p14:creationId xmlns:p14="http://schemas.microsoft.com/office/powerpoint/2010/main" val="3996301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AAFE-F5E4-326B-6C7D-7CB2E544FE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F35905-A870-4427-B7AC-B23717217DCA}"/>
              </a:ext>
            </a:extLst>
          </p:cNvPr>
          <p:cNvSpPr>
            <a:spLocks noGrp="1"/>
          </p:cNvSpPr>
          <p:nvPr>
            <p:ph type="title"/>
          </p:nvPr>
        </p:nvSpPr>
        <p:spPr/>
        <p:txBody>
          <a:bodyPr/>
          <a:lstStyle/>
          <a:p>
            <a:r>
              <a:rPr lang="en-US" dirty="0"/>
              <a:t>Quiz</a:t>
            </a:r>
          </a:p>
        </p:txBody>
      </p:sp>
      <p:sp>
        <p:nvSpPr>
          <p:cNvPr id="3" name="Content Placeholder 2">
            <a:extLst>
              <a:ext uri="{FF2B5EF4-FFF2-40B4-BE49-F238E27FC236}">
                <a16:creationId xmlns:a16="http://schemas.microsoft.com/office/drawing/2014/main" id="{6A0F2E71-EAA4-A9FD-04A3-E7673819EF12}"/>
              </a:ext>
            </a:extLst>
          </p:cNvPr>
          <p:cNvSpPr>
            <a:spLocks noGrp="1"/>
          </p:cNvSpPr>
          <p:nvPr>
            <p:ph sz="quarter" idx="1"/>
          </p:nvPr>
        </p:nvSpPr>
        <p:spPr/>
        <p:txBody>
          <a:bodyPr>
            <a:normAutofit/>
          </a:bodyPr>
          <a:lstStyle/>
          <a:p>
            <a:r>
              <a:rPr lang="en-US" dirty="0"/>
              <a:t>Calculate TC(-16) for a </a:t>
            </a:r>
            <a:r>
              <a:rPr lang="en-US" dirty="0">
                <a:solidFill>
                  <a:srgbClr val="FF0000"/>
                </a:solidFill>
              </a:rPr>
              <a:t>6-bit</a:t>
            </a:r>
            <a:r>
              <a:rPr lang="en-US" dirty="0"/>
              <a:t> system</a:t>
            </a:r>
          </a:p>
        </p:txBody>
      </p:sp>
    </p:spTree>
    <p:extLst>
      <p:ext uri="{BB962C8B-B14F-4D97-AF65-F5344CB8AC3E}">
        <p14:creationId xmlns:p14="http://schemas.microsoft.com/office/powerpoint/2010/main" val="14323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CB121-E546-7A53-7CE3-60CAA65C9F79}"/>
              </a:ext>
            </a:extLst>
          </p:cNvPr>
          <p:cNvSpPr>
            <a:spLocks noGrp="1"/>
          </p:cNvSpPr>
          <p:nvPr>
            <p:ph type="title"/>
          </p:nvPr>
        </p:nvSpPr>
        <p:spPr/>
        <p:txBody>
          <a:bodyPr/>
          <a:lstStyle/>
          <a:p>
            <a:r>
              <a:rPr lang="en-US" dirty="0"/>
              <a:t>Quiz ANS</a:t>
            </a:r>
          </a:p>
        </p:txBody>
      </p:sp>
      <p:sp>
        <p:nvSpPr>
          <p:cNvPr id="3" name="Content Placeholder 2">
            <a:extLst>
              <a:ext uri="{FF2B5EF4-FFF2-40B4-BE49-F238E27FC236}">
                <a16:creationId xmlns:a16="http://schemas.microsoft.com/office/drawing/2014/main" id="{CF93CA2C-6BF3-F8F5-A739-069BC284E551}"/>
              </a:ext>
            </a:extLst>
          </p:cNvPr>
          <p:cNvSpPr>
            <a:spLocks noGrp="1"/>
          </p:cNvSpPr>
          <p:nvPr>
            <p:ph sz="quarter" idx="1"/>
          </p:nvPr>
        </p:nvSpPr>
        <p:spPr/>
        <p:txBody>
          <a:bodyPr>
            <a:normAutofit fontScale="92500" lnSpcReduction="10000"/>
          </a:bodyPr>
          <a:lstStyle/>
          <a:p>
            <a:r>
              <a:rPr lang="en-US" dirty="0"/>
              <a:t>Calculate TC(-16) for a </a:t>
            </a:r>
            <a:r>
              <a:rPr lang="en-US" dirty="0">
                <a:solidFill>
                  <a:srgbClr val="FF0000"/>
                </a:solidFill>
              </a:rPr>
              <a:t>6-bit</a:t>
            </a:r>
            <a:r>
              <a:rPr lang="en-US" dirty="0"/>
              <a:t> system</a:t>
            </a:r>
          </a:p>
          <a:p>
            <a:r>
              <a:rPr lang="en-US" dirty="0"/>
              <a:t>For a 6-bit two's complement number: the range of representable integers is from −32 to +31.</a:t>
            </a:r>
          </a:p>
          <a:p>
            <a:r>
              <a:rPr lang="en-US" dirty="0"/>
              <a:t>−16 in 6-bit two's complement is 110000</a:t>
            </a:r>
          </a:p>
          <a:p>
            <a:pPr lvl="1"/>
            <a:r>
              <a:rPr lang="en-US" dirty="0"/>
              <a:t>Write 16 in binary: 010000</a:t>
            </a:r>
          </a:p>
          <a:p>
            <a:pPr lvl="1"/>
            <a:r>
              <a:rPr lang="en-US" dirty="0"/>
              <a:t>Take the two's complement (invert bits and add 1):</a:t>
            </a:r>
          </a:p>
          <a:p>
            <a:pPr lvl="1"/>
            <a:r>
              <a:rPr lang="en-US" dirty="0"/>
              <a:t>Invert bits: 101111,  Add 1: 101111+1=110000</a:t>
            </a:r>
          </a:p>
          <a:p>
            <a:r>
              <a:rPr lang="en-US" dirty="0"/>
              <a:t>To take the negation of this (i.e., find the two's complement of 110000):</a:t>
            </a:r>
          </a:p>
          <a:p>
            <a:pPr lvl="1"/>
            <a:r>
              <a:rPr lang="en-US" dirty="0"/>
              <a:t>Invert bits: 001111,  Add 1: 001111+1=010000</a:t>
            </a:r>
          </a:p>
          <a:p>
            <a:pPr lvl="1"/>
            <a:r>
              <a:rPr lang="en-US" dirty="0"/>
              <a:t>This is 16 in binary, so the negation of −16 is +16 as expected</a:t>
            </a:r>
          </a:p>
          <a:p>
            <a:r>
              <a:rPr lang="en-US" dirty="0"/>
              <a:t>Unlike the 5-bit case where −16 is the minimum and its negation wraps onto itself, in 6 bits −16 behaves normally with correct negation</a:t>
            </a:r>
          </a:p>
          <a:p>
            <a:r>
              <a:rPr lang="en-US" dirty="0"/>
              <a:t>TC(-32) for a 6-bit system is itself (since +32 is out of range </a:t>
            </a:r>
            <a:r>
              <a:rPr lang="en-US"/>
              <a:t>of [-32, 31])</a:t>
            </a:r>
            <a:endParaRPr lang="en-US" dirty="0"/>
          </a:p>
        </p:txBody>
      </p:sp>
    </p:spTree>
    <p:extLst>
      <p:ext uri="{BB962C8B-B14F-4D97-AF65-F5344CB8AC3E}">
        <p14:creationId xmlns:p14="http://schemas.microsoft.com/office/powerpoint/2010/main" val="79582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FE7446-ED72-DC54-7DEE-56C1B0A7393B}"/>
              </a:ext>
            </a:extLst>
          </p:cNvPr>
          <p:cNvSpPr>
            <a:spLocks noGrp="1"/>
          </p:cNvSpPr>
          <p:nvPr>
            <p:ph type="title"/>
          </p:nvPr>
        </p:nvSpPr>
        <p:spPr/>
        <p:txBody>
          <a:bodyPr/>
          <a:lstStyle/>
          <a:p>
            <a:r>
              <a:rPr lang="en-US" dirty="0"/>
              <a:t>Two’s Complement (TC)</a:t>
            </a:r>
          </a:p>
        </p:txBody>
      </p:sp>
      <p:sp>
        <p:nvSpPr>
          <p:cNvPr id="3" name="Slide Number Placeholder 2">
            <a:extLst>
              <a:ext uri="{FF2B5EF4-FFF2-40B4-BE49-F238E27FC236}">
                <a16:creationId xmlns:a16="http://schemas.microsoft.com/office/drawing/2014/main" id="{4C5C60A0-BF32-D61F-C84F-5B32E39E2805}"/>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87BA853F-27BD-1C35-EF40-A7E663CB7CD1}"/>
                  </a:ext>
                </a:extLst>
              </p:cNvPr>
              <p:cNvSpPr>
                <a:spLocks noGrp="1"/>
              </p:cNvSpPr>
              <p:nvPr>
                <p:ph sz="quarter" idx="1"/>
              </p:nvPr>
            </p:nvSpPr>
            <p:spPr/>
            <p:txBody>
              <a:bodyPr>
                <a:normAutofit/>
              </a:bodyPr>
              <a:lstStyle/>
              <a:p>
                <a:r>
                  <a:rPr lang="en-US" dirty="0"/>
                  <a:t>Two's complement gets its name from the rule that “</a:t>
                </a:r>
                <a:r>
                  <a:rPr lang="en-US" i="1" dirty="0"/>
                  <a:t>the unsigned sum of an n-bit number and its n-bit negative is </a:t>
                </a:r>
                <a14:m>
                  <m:oMath xmlns:m="http://schemas.openxmlformats.org/officeDocument/2006/math">
                    <m:sSup>
                      <m:sSupPr>
                        <m:ctrlPr>
                          <a:rPr lang="en-US" sz="2400" i="1">
                            <a:latin typeface="Cambria Math"/>
                          </a:rPr>
                        </m:ctrlPr>
                      </m:sSupPr>
                      <m:e>
                        <m:r>
                          <a:rPr lang="en-US" sz="2400" i="1">
                            <a:latin typeface="Cambria Math"/>
                          </a:rPr>
                          <m:t>2</m:t>
                        </m:r>
                      </m:e>
                      <m:sup>
                        <m:r>
                          <a:rPr lang="en-US" sz="2400" i="1">
                            <a:latin typeface="Cambria Math"/>
                          </a:rPr>
                          <m:t>𝑛</m:t>
                        </m:r>
                      </m:sup>
                    </m:sSup>
                  </m:oMath>
                </a14:m>
                <a:r>
                  <a:rPr lang="en-US" dirty="0"/>
                  <a:t>”; hence, the negation or complement of a number x is </a:t>
                </a:r>
                <a14:m>
                  <m:oMath xmlns:m="http://schemas.openxmlformats.org/officeDocument/2006/math">
                    <m:sSup>
                      <m:sSupPr>
                        <m:ctrlPr>
                          <a:rPr lang="en-US" sz="2400">
                            <a:latin typeface="Cambria Math"/>
                          </a:rPr>
                        </m:ctrlPr>
                      </m:sSupPr>
                      <m:e>
                        <m:r>
                          <a:rPr lang="en-US" sz="2400">
                            <a:latin typeface="Cambria Math"/>
                          </a:rPr>
                          <m:t>2</m:t>
                        </m:r>
                      </m:e>
                      <m:sup>
                        <m:r>
                          <a:rPr lang="en-US" sz="2400">
                            <a:latin typeface="Cambria Math"/>
                          </a:rPr>
                          <m:t>𝑛</m:t>
                        </m:r>
                      </m:sup>
                    </m:sSup>
                    <m:r>
                      <a:rPr lang="en-US" sz="2400" i="1">
                        <a:latin typeface="Cambria Math" panose="02040503050406030204" pitchFamily="18" charset="0"/>
                      </a:rPr>
                      <m:t>−</m:t>
                    </m:r>
                    <m:r>
                      <a:rPr lang="en-US" sz="2400" i="1">
                        <a:latin typeface="Cambria Math" panose="02040503050406030204" pitchFamily="18" charset="0"/>
                      </a:rPr>
                      <m:t>𝑥</m:t>
                    </m:r>
                  </m:oMath>
                </a14:m>
                <a:r>
                  <a:rPr lang="en-US" dirty="0"/>
                  <a:t>, or its “Two's complement”</a:t>
                </a:r>
              </a:p>
              <a:p>
                <a:r>
                  <a:rPr lang="en-US" dirty="0"/>
                  <a:t>Signed arithmetic:</a:t>
                </a:r>
              </a:p>
              <a:p>
                <a:pPr lvl="1"/>
                <a:r>
                  <a:rPr lang="en-US" dirty="0"/>
                  <a:t>For 5-bit system, signed number x = 00011 = 3, TC(x) = 11101 = -3, so their </a:t>
                </a:r>
                <a:r>
                  <a:rPr lang="en-US" dirty="0">
                    <a:solidFill>
                      <a:srgbClr val="FF0000"/>
                    </a:solidFill>
                  </a:rPr>
                  <a:t>signed sum</a:t>
                </a:r>
                <a:r>
                  <a:rPr lang="en-US" dirty="0"/>
                  <a:t> is 00011 + 11101 = 00000 (in decimal 3 + (-3) = 0)</a:t>
                </a:r>
              </a:p>
              <a:p>
                <a:r>
                  <a:rPr lang="en-US" dirty="0"/>
                  <a:t>Unsigned arithmetic:</a:t>
                </a:r>
              </a:p>
              <a:p>
                <a:pPr lvl="1"/>
                <a:r>
                  <a:rPr lang="en-US" dirty="0"/>
                  <a:t>Unsigned number 00011=3, 11101=29, so their </a:t>
                </a:r>
                <a:r>
                  <a:rPr lang="en-US" dirty="0">
                    <a:solidFill>
                      <a:srgbClr val="FF0000"/>
                    </a:solidFill>
                  </a:rPr>
                  <a:t>unsigned sum </a:t>
                </a:r>
                <a:r>
                  <a:rPr lang="en-US" dirty="0"/>
                  <a:t>is 00011 + 11101 = 00000 (in decimal 3 + 29 = 32 = </a:t>
                </a:r>
                <a14:m>
                  <m:oMath xmlns:m="http://schemas.openxmlformats.org/officeDocument/2006/math">
                    <m:sSup>
                      <m:sSupPr>
                        <m:ctrlPr>
                          <a:rPr lang="en-US" sz="2400">
                            <a:latin typeface="Cambria Math"/>
                          </a:rPr>
                        </m:ctrlPr>
                      </m:sSupPr>
                      <m:e>
                        <m:r>
                          <a:rPr lang="en-US" sz="2400">
                            <a:latin typeface="Cambria Math"/>
                          </a:rPr>
                          <m:t>2</m:t>
                        </m:r>
                      </m:e>
                      <m:sup>
                        <m:r>
                          <a:rPr lang="en-US" sz="2400">
                            <a:latin typeface="Cambria Math" panose="02040503050406030204" pitchFamily="18" charset="0"/>
                          </a:rPr>
                          <m:t>5</m:t>
                        </m:r>
                      </m:sup>
                    </m:sSup>
                  </m:oMath>
                </a14:m>
                <a:r>
                  <a:rPr lang="en-US" dirty="0"/>
                  <a:t>). The result is incorrect as Carry flag = 1: 32 cannot be represented in 5 bits since it exceeds the largest unsigned value of </a:t>
                </a:r>
                <a14:m>
                  <m:oMath xmlns:m="http://schemas.openxmlformats.org/officeDocument/2006/math">
                    <m:sSup>
                      <m:sSupPr>
                        <m:ctrlPr>
                          <a:rPr lang="en-US">
                            <a:latin typeface="Cambria Math"/>
                          </a:rPr>
                        </m:ctrlPr>
                      </m:sSupPr>
                      <m:e>
                        <m:r>
                          <a:rPr lang="en-US">
                            <a:latin typeface="Cambria Math"/>
                          </a:rPr>
                          <m:t>2</m:t>
                        </m:r>
                      </m:e>
                      <m:sup>
                        <m:r>
                          <a:rPr lang="en-US">
                            <a:latin typeface="Cambria Math" panose="02040503050406030204" pitchFamily="18" charset="0"/>
                          </a:rPr>
                          <m:t>5</m:t>
                        </m:r>
                      </m:sup>
                    </m:sSup>
                    <m:r>
                      <a:rPr lang="en-US" i="1">
                        <a:latin typeface="Cambria Math" panose="02040503050406030204" pitchFamily="18" charset="0"/>
                      </a:rPr>
                      <m:t>−1</m:t>
                    </m:r>
                  </m:oMath>
                </a14:m>
                <a:endParaRPr lang="en-US" dirty="0"/>
              </a:p>
              <a:p>
                <a:endParaRPr lang="en-US" dirty="0"/>
              </a:p>
            </p:txBody>
          </p:sp>
        </mc:Choice>
        <mc:Fallback xmlns="">
          <p:sp>
            <p:nvSpPr>
              <p:cNvPr id="4" name="Content Placeholder 3">
                <a:extLst>
                  <a:ext uri="{FF2B5EF4-FFF2-40B4-BE49-F238E27FC236}">
                    <a16:creationId xmlns:a16="http://schemas.microsoft.com/office/drawing/2014/main" id="{87BA853F-27BD-1C35-EF40-A7E663CB7CD1}"/>
                  </a:ext>
                </a:extLst>
              </p:cNvPr>
              <p:cNvSpPr>
                <a:spLocks noGrp="1" noRot="1" noChangeAspect="1" noMove="1" noResize="1" noEditPoints="1" noAdjustHandles="1" noChangeArrowheads="1" noChangeShapeType="1" noTextEdit="1"/>
              </p:cNvSpPr>
              <p:nvPr>
                <p:ph sz="quarter" idx="1"/>
              </p:nvPr>
            </p:nvSpPr>
            <p:spPr>
              <a:blipFill>
                <a:blip r:embed="rId3"/>
                <a:stretch>
                  <a:fillRect l="-500" t="-1111" r="-333"/>
                </a:stretch>
              </a:blipFill>
            </p:spPr>
            <p:txBody>
              <a:bodyPr/>
              <a:lstStyle/>
              <a:p>
                <a:r>
                  <a:rPr lang="en-US">
                    <a:noFill/>
                  </a:rPr>
                  <a:t> </a:t>
                </a:r>
              </a:p>
            </p:txBody>
          </p:sp>
        </mc:Fallback>
      </mc:AlternateContent>
      <p:sp>
        <p:nvSpPr>
          <p:cNvPr id="5" name="Content Placeholder 2">
            <a:extLst>
              <a:ext uri="{FF2B5EF4-FFF2-40B4-BE49-F238E27FC236}">
                <a16:creationId xmlns:a16="http://schemas.microsoft.com/office/drawing/2014/main" id="{80BB3004-47FB-364F-4C09-4CB4030EC349}"/>
              </a:ext>
            </a:extLst>
          </p:cNvPr>
          <p:cNvSpPr txBox="1">
            <a:spLocks/>
          </p:cNvSpPr>
          <p:nvPr/>
        </p:nvSpPr>
        <p:spPr>
          <a:xfrm>
            <a:off x="457200" y="3069770"/>
            <a:ext cx="8229600" cy="3087189"/>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lvl="2"/>
            <a:endParaRPr lang="en-US" dirty="0"/>
          </a:p>
        </p:txBody>
      </p:sp>
    </p:spTree>
    <p:extLst>
      <p:ext uri="{BB962C8B-B14F-4D97-AF65-F5344CB8AC3E}">
        <p14:creationId xmlns:p14="http://schemas.microsoft.com/office/powerpoint/2010/main" val="16876995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Two’s Complement for 8-bit System</a:t>
            </a:r>
          </a:p>
        </p:txBody>
      </p:sp>
      <p:graphicFrame>
        <p:nvGraphicFramePr>
          <p:cNvPr id="6" name="Table 5"/>
          <p:cNvGraphicFramePr>
            <a:graphicFrameLocks noGrp="1"/>
          </p:cNvGraphicFramePr>
          <p:nvPr>
            <p:extLst>
              <p:ext uri="{D42A27DB-BD31-4B8C-83A1-F6EECF244321}">
                <p14:modId xmlns:p14="http://schemas.microsoft.com/office/powerpoint/2010/main" val="1243014263"/>
              </p:ext>
            </p:extLst>
          </p:nvPr>
        </p:nvGraphicFramePr>
        <p:xfrm>
          <a:off x="609600" y="1833439"/>
          <a:ext cx="6338230" cy="3611880"/>
        </p:xfrm>
        <a:graphic>
          <a:graphicData uri="http://schemas.openxmlformats.org/drawingml/2006/table">
            <a:tbl>
              <a:tblPr firstRow="1" bandRow="1">
                <a:tableStyleId>{5C22544A-7EE6-4342-B048-85BDC9FD1C3A}</a:tableStyleId>
              </a:tblPr>
              <a:tblGrid>
                <a:gridCol w="1859279">
                  <a:extLst>
                    <a:ext uri="{9D8B030D-6E8A-4147-A177-3AD203B41FA5}">
                      <a16:colId xmlns:a16="http://schemas.microsoft.com/office/drawing/2014/main" val="20001"/>
                    </a:ext>
                  </a:extLst>
                </a:gridCol>
                <a:gridCol w="1852967">
                  <a:extLst>
                    <a:ext uri="{9D8B030D-6E8A-4147-A177-3AD203B41FA5}">
                      <a16:colId xmlns:a16="http://schemas.microsoft.com/office/drawing/2014/main" val="20000"/>
                    </a:ext>
                  </a:extLst>
                </a:gridCol>
                <a:gridCol w="2625984">
                  <a:extLst>
                    <a:ext uri="{9D8B030D-6E8A-4147-A177-3AD203B41FA5}">
                      <a16:colId xmlns:a16="http://schemas.microsoft.com/office/drawing/2014/main" val="20002"/>
                    </a:ext>
                  </a:extLst>
                </a:gridCol>
              </a:tblGrid>
              <a:tr h="278130">
                <a:tc>
                  <a:txBody>
                    <a:bodyPr/>
                    <a:lstStyle/>
                    <a:p>
                      <a:pPr algn="ctr"/>
                      <a:r>
                        <a:rPr lang="en-US" sz="1600" b="1" kern="1200" baseline="0" dirty="0">
                          <a:solidFill>
                            <a:schemeClr val="lt1"/>
                          </a:solidFill>
                          <a:latin typeface="+mn-lt"/>
                          <a:ea typeface="+mn-ea"/>
                          <a:cs typeface="+mn-cs"/>
                        </a:rPr>
                        <a:t>8-bit signed</a:t>
                      </a:r>
                      <a:r>
                        <a:rPr lang="en-US" sz="1050" dirty="0"/>
                        <a:t> </a:t>
                      </a:r>
                      <a:r>
                        <a:rPr lang="en-US" sz="1600" b="1" kern="1200" baseline="0" dirty="0" err="1">
                          <a:solidFill>
                            <a:schemeClr val="lt1"/>
                          </a:solidFill>
                          <a:latin typeface="+mn-lt"/>
                          <a:ea typeface="+mn-ea"/>
                          <a:cs typeface="+mn-cs"/>
                        </a:rPr>
                        <a:t>Int</a:t>
                      </a:r>
                      <a:r>
                        <a:rPr lang="en-US" sz="1600" b="1" kern="1200" baseline="0" dirty="0">
                          <a:solidFill>
                            <a:schemeClr val="lt1"/>
                          </a:solidFill>
                          <a:latin typeface="+mn-lt"/>
                          <a:ea typeface="+mn-ea"/>
                          <a:cs typeface="+mn-cs"/>
                        </a:rPr>
                        <a:t> </a:t>
                      </a:r>
                      <a:r>
                        <a:rPr lang="en-US" altLang="zh-CN" sz="1600" b="1" kern="1200" baseline="0" dirty="0">
                          <a:solidFill>
                            <a:schemeClr val="lt1"/>
                          </a:solidFill>
                          <a:latin typeface="+mn-lt"/>
                          <a:ea typeface="+mn-ea"/>
                          <a:cs typeface="+mn-cs"/>
                        </a:rPr>
                        <a:t>(</a:t>
                      </a:r>
                      <a:r>
                        <a:rPr lang="en-US" sz="1600" b="1" kern="1200" baseline="0" dirty="0">
                          <a:solidFill>
                            <a:schemeClr val="lt1"/>
                          </a:solidFill>
                          <a:latin typeface="+mn-lt"/>
                          <a:ea typeface="+mn-ea"/>
                          <a:cs typeface="+mn-cs"/>
                        </a:rPr>
                        <a:t>Two’s</a:t>
                      </a:r>
                      <a:r>
                        <a:rPr lang="en-US" sz="1050" dirty="0"/>
                        <a:t> </a:t>
                      </a:r>
                      <a:r>
                        <a:rPr lang="en-US" sz="1600" b="1" kern="1200" baseline="0" dirty="0">
                          <a:solidFill>
                            <a:schemeClr val="lt1"/>
                          </a:solidFill>
                          <a:latin typeface="+mn-lt"/>
                          <a:ea typeface="+mn-ea"/>
                          <a:cs typeface="+mn-cs"/>
                        </a:rPr>
                        <a:t>Complement)</a:t>
                      </a:r>
                    </a:p>
                  </a:txBody>
                  <a:tcPr marL="68580" marR="68580" marT="34290" marB="34290"/>
                </a:tc>
                <a:tc>
                  <a:txBody>
                    <a:bodyPr/>
                    <a:lstStyle/>
                    <a:p>
                      <a:pPr algn="ctr"/>
                      <a:r>
                        <a:rPr lang="en-US" sz="1600" b="1" kern="1200" baseline="0" dirty="0">
                          <a:solidFill>
                            <a:schemeClr val="lt1"/>
                          </a:solidFill>
                          <a:latin typeface="+mn-lt"/>
                          <a:ea typeface="+mn-ea"/>
                          <a:cs typeface="+mn-cs"/>
                        </a:rPr>
                        <a:t>8-bit unsigned</a:t>
                      </a:r>
                      <a:r>
                        <a:rPr lang="en-US" sz="1050" dirty="0"/>
                        <a:t> </a:t>
                      </a:r>
                      <a:r>
                        <a:rPr lang="en-US" sz="1600" b="1" kern="1200" baseline="0" dirty="0" err="1">
                          <a:solidFill>
                            <a:schemeClr val="lt1"/>
                          </a:solidFill>
                          <a:latin typeface="+mn-lt"/>
                          <a:ea typeface="+mn-ea"/>
                          <a:cs typeface="+mn-cs"/>
                        </a:rPr>
                        <a:t>Int</a:t>
                      </a:r>
                      <a:endParaRPr lang="en-US" sz="1600" b="1" kern="1200" baseline="0" dirty="0">
                        <a:solidFill>
                          <a:schemeClr val="lt1"/>
                        </a:solidFill>
                        <a:latin typeface="+mn-lt"/>
                        <a:ea typeface="+mn-ea"/>
                        <a:cs typeface="+mn-cs"/>
                      </a:endParaRPr>
                    </a:p>
                  </a:txBody>
                  <a:tcPr marL="68580" marR="68580" marT="34290" marB="34290"/>
                </a:tc>
                <a:tc>
                  <a:txBody>
                    <a:bodyPr/>
                    <a:lstStyle/>
                    <a:p>
                      <a:pPr algn="ctr"/>
                      <a:r>
                        <a:rPr lang="en-US" sz="1600" b="1" kern="1200" baseline="0" dirty="0">
                          <a:solidFill>
                            <a:schemeClr val="lt1"/>
                          </a:solidFill>
                          <a:latin typeface="+mn-lt"/>
                          <a:ea typeface="+mn-ea"/>
                          <a:cs typeface="+mn-cs"/>
                        </a:rPr>
                        <a:t>Binary</a:t>
                      </a:r>
                    </a:p>
                  </a:txBody>
                  <a:tcPr marL="68580" marR="68580" marT="34290" marB="34290"/>
                </a:tc>
                <a:extLst>
                  <a:ext uri="{0D108BD9-81ED-4DB2-BD59-A6C34878D82A}">
                    <a16:rowId xmlns:a16="http://schemas.microsoft.com/office/drawing/2014/main" val="10000"/>
                  </a:ext>
                </a:extLst>
              </a:tr>
              <a:tr h="278130">
                <a:tc>
                  <a:txBody>
                    <a:bodyPr/>
                    <a:lstStyle/>
                    <a:p>
                      <a:pPr algn="ctr"/>
                      <a:r>
                        <a:rPr lang="en-US" sz="1600" baseline="0" dirty="0">
                          <a:solidFill>
                            <a:srgbClr val="FF0000"/>
                          </a:solidFill>
                        </a:rPr>
                        <a:t>-128</a:t>
                      </a:r>
                    </a:p>
                  </a:txBody>
                  <a:tcPr marL="68580" marR="68580" marT="34290" marB="34290"/>
                </a:tc>
                <a:tc>
                  <a:txBody>
                    <a:bodyPr/>
                    <a:lstStyle/>
                    <a:p>
                      <a:pPr algn="ctr"/>
                      <a:r>
                        <a:rPr lang="en-US" sz="1600" baseline="0" dirty="0">
                          <a:solidFill>
                            <a:srgbClr val="7030A0"/>
                          </a:solidFill>
                        </a:rPr>
                        <a:t>128</a:t>
                      </a:r>
                    </a:p>
                  </a:txBody>
                  <a:tcPr marL="68580" marR="68580" marT="34290" marB="34290"/>
                </a:tc>
                <a:tc>
                  <a:txBody>
                    <a:bodyPr/>
                    <a:lstStyle/>
                    <a:p>
                      <a:pPr algn="ctr"/>
                      <a:r>
                        <a:rPr lang="en-US" sz="1600" spc="500" baseline="0" dirty="0">
                          <a:solidFill>
                            <a:srgbClr val="FF0000"/>
                          </a:solidFill>
                        </a:rPr>
                        <a:t>1000 0000</a:t>
                      </a:r>
                    </a:p>
                  </a:txBody>
                  <a:tcPr marL="68580" marR="68580" marT="34290" marB="34290"/>
                </a:tc>
                <a:extLst>
                  <a:ext uri="{0D108BD9-81ED-4DB2-BD59-A6C34878D82A}">
                    <a16:rowId xmlns:a16="http://schemas.microsoft.com/office/drawing/2014/main" val="10001"/>
                  </a:ext>
                </a:extLst>
              </a:tr>
              <a:tr h="278130">
                <a:tc>
                  <a:txBody>
                    <a:bodyPr/>
                    <a:lstStyle/>
                    <a:p>
                      <a:pPr algn="ctr"/>
                      <a:r>
                        <a:rPr lang="en-US" sz="1600" baseline="0" dirty="0">
                          <a:solidFill>
                            <a:srgbClr val="FF0000"/>
                          </a:solidFill>
                        </a:rPr>
                        <a:t>-127</a:t>
                      </a:r>
                    </a:p>
                  </a:txBody>
                  <a:tcPr marL="68580" marR="68580" marT="34290" marB="34290"/>
                </a:tc>
                <a:tc>
                  <a:txBody>
                    <a:bodyPr/>
                    <a:lstStyle/>
                    <a:p>
                      <a:pPr algn="ctr"/>
                      <a:r>
                        <a:rPr lang="en-US" sz="1600" baseline="0" dirty="0">
                          <a:solidFill>
                            <a:srgbClr val="7030A0"/>
                          </a:solidFill>
                        </a:rPr>
                        <a:t>129</a:t>
                      </a:r>
                    </a:p>
                  </a:txBody>
                  <a:tcPr marL="68580" marR="68580" marT="34290" marB="34290"/>
                </a:tc>
                <a:tc>
                  <a:txBody>
                    <a:bodyPr/>
                    <a:lstStyle/>
                    <a:p>
                      <a:pPr algn="ctr"/>
                      <a:r>
                        <a:rPr lang="en-US" sz="1600" spc="500" baseline="0" dirty="0">
                          <a:solidFill>
                            <a:srgbClr val="FF0000"/>
                          </a:solidFill>
                        </a:rPr>
                        <a:t>1000 0001</a:t>
                      </a:r>
                    </a:p>
                  </a:txBody>
                  <a:tcPr marL="68580" marR="68580" marT="34290" marB="34290"/>
                </a:tc>
                <a:extLst>
                  <a:ext uri="{0D108BD9-81ED-4DB2-BD59-A6C34878D82A}">
                    <a16:rowId xmlns:a16="http://schemas.microsoft.com/office/drawing/2014/main" val="10002"/>
                  </a:ext>
                </a:extLst>
              </a:tr>
              <a:tr h="278130">
                <a:tc>
                  <a:txBody>
                    <a:bodyPr/>
                    <a:lstStyle/>
                    <a:p>
                      <a:pPr algn="ctr"/>
                      <a:r>
                        <a:rPr lang="is-IS" sz="1600" baseline="0" dirty="0">
                          <a:solidFill>
                            <a:srgbClr val="FF0000"/>
                          </a:solidFill>
                        </a:rPr>
                        <a:t>…</a:t>
                      </a:r>
                      <a:endParaRPr lang="en-US" sz="1600" baseline="0" dirty="0">
                        <a:solidFill>
                          <a:srgbClr val="FF0000"/>
                        </a:solidFill>
                      </a:endParaRPr>
                    </a:p>
                  </a:txBody>
                  <a:tcPr marL="68580" marR="68580" marT="34290" marB="34290"/>
                </a:tc>
                <a:tc>
                  <a:txBody>
                    <a:bodyPr/>
                    <a:lstStyle/>
                    <a:p>
                      <a:pPr algn="ctr"/>
                      <a:r>
                        <a:rPr lang="is-IS" sz="1600" baseline="0" dirty="0">
                          <a:solidFill>
                            <a:srgbClr val="7030A0"/>
                          </a:solidFill>
                        </a:rPr>
                        <a:t>…</a:t>
                      </a:r>
                      <a:endParaRPr lang="en-US" sz="1600" baseline="0" dirty="0">
                        <a:solidFill>
                          <a:srgbClr val="7030A0"/>
                        </a:solidFill>
                      </a:endParaRPr>
                    </a:p>
                  </a:txBody>
                  <a:tcPr marL="68580" marR="68580" marT="34290" marB="34290"/>
                </a:tc>
                <a:tc>
                  <a:txBody>
                    <a:bodyPr/>
                    <a:lstStyle/>
                    <a:p>
                      <a:pPr algn="ctr"/>
                      <a:r>
                        <a:rPr lang="is-IS" sz="1600" spc="500" baseline="0" dirty="0">
                          <a:solidFill>
                            <a:srgbClr val="FF0000"/>
                          </a:solidFill>
                        </a:rPr>
                        <a:t>…</a:t>
                      </a:r>
                      <a:endParaRPr lang="en-US" sz="1600" spc="500" baseline="0" dirty="0">
                        <a:solidFill>
                          <a:srgbClr val="FF0000"/>
                        </a:solidFill>
                      </a:endParaRPr>
                    </a:p>
                  </a:txBody>
                  <a:tcPr marL="68580" marR="68580" marT="34290" marB="34290"/>
                </a:tc>
                <a:extLst>
                  <a:ext uri="{0D108BD9-81ED-4DB2-BD59-A6C34878D82A}">
                    <a16:rowId xmlns:a16="http://schemas.microsoft.com/office/drawing/2014/main" val="10003"/>
                  </a:ext>
                </a:extLst>
              </a:tr>
              <a:tr h="278130">
                <a:tc>
                  <a:txBody>
                    <a:bodyPr/>
                    <a:lstStyle/>
                    <a:p>
                      <a:pPr algn="ctr"/>
                      <a:r>
                        <a:rPr lang="en-US" sz="1600" baseline="0" dirty="0">
                          <a:solidFill>
                            <a:srgbClr val="FF0000"/>
                          </a:solidFill>
                        </a:rPr>
                        <a:t>-2</a:t>
                      </a:r>
                    </a:p>
                  </a:txBody>
                  <a:tcPr marL="68580" marR="68580" marT="34290" marB="34290"/>
                </a:tc>
                <a:tc>
                  <a:txBody>
                    <a:bodyPr/>
                    <a:lstStyle/>
                    <a:p>
                      <a:pPr algn="ctr"/>
                      <a:r>
                        <a:rPr lang="en-US" sz="1600" baseline="0" dirty="0">
                          <a:solidFill>
                            <a:srgbClr val="7030A0"/>
                          </a:solidFill>
                        </a:rPr>
                        <a:t>254</a:t>
                      </a:r>
                    </a:p>
                  </a:txBody>
                  <a:tcPr marL="68580" marR="68580" marT="34290" marB="34290"/>
                </a:tc>
                <a:tc>
                  <a:txBody>
                    <a:bodyPr/>
                    <a:lstStyle/>
                    <a:p>
                      <a:pPr algn="ctr"/>
                      <a:r>
                        <a:rPr lang="en-US" sz="1600" spc="500" baseline="0" dirty="0">
                          <a:solidFill>
                            <a:srgbClr val="FF0000"/>
                          </a:solidFill>
                        </a:rPr>
                        <a:t>1111 1110</a:t>
                      </a:r>
                    </a:p>
                  </a:txBody>
                  <a:tcPr marL="68580" marR="68580" marT="34290" marB="34290"/>
                </a:tc>
                <a:extLst>
                  <a:ext uri="{0D108BD9-81ED-4DB2-BD59-A6C34878D82A}">
                    <a16:rowId xmlns:a16="http://schemas.microsoft.com/office/drawing/2014/main" val="10004"/>
                  </a:ext>
                </a:extLst>
              </a:tr>
              <a:tr h="278130">
                <a:tc>
                  <a:txBody>
                    <a:bodyPr/>
                    <a:lstStyle/>
                    <a:p>
                      <a:pPr algn="ctr"/>
                      <a:r>
                        <a:rPr lang="en-US" sz="1600" baseline="0" dirty="0">
                          <a:solidFill>
                            <a:srgbClr val="FF0000"/>
                          </a:solidFill>
                        </a:rPr>
                        <a:t>-1</a:t>
                      </a:r>
                    </a:p>
                  </a:txBody>
                  <a:tcPr marL="68580" marR="68580" marT="34290" marB="34290"/>
                </a:tc>
                <a:tc>
                  <a:txBody>
                    <a:bodyPr/>
                    <a:lstStyle/>
                    <a:p>
                      <a:pPr algn="ctr"/>
                      <a:r>
                        <a:rPr lang="en-US" sz="1600" baseline="0" dirty="0">
                          <a:solidFill>
                            <a:srgbClr val="7030A0"/>
                          </a:solidFill>
                        </a:rPr>
                        <a:t>255</a:t>
                      </a:r>
                    </a:p>
                  </a:txBody>
                  <a:tcPr marL="68580" marR="68580" marT="34290" marB="34290"/>
                </a:tc>
                <a:tc>
                  <a:txBody>
                    <a:bodyPr/>
                    <a:lstStyle/>
                    <a:p>
                      <a:pPr algn="ctr"/>
                      <a:r>
                        <a:rPr lang="en-US" sz="1600" spc="500" baseline="0" dirty="0">
                          <a:solidFill>
                            <a:srgbClr val="FF0000"/>
                          </a:solidFill>
                        </a:rPr>
                        <a:t>1111 1111</a:t>
                      </a:r>
                    </a:p>
                  </a:txBody>
                  <a:tcPr marL="68580" marR="68580" marT="34290" marB="34290"/>
                </a:tc>
                <a:extLst>
                  <a:ext uri="{0D108BD9-81ED-4DB2-BD59-A6C34878D82A}">
                    <a16:rowId xmlns:a16="http://schemas.microsoft.com/office/drawing/2014/main" val="10005"/>
                  </a:ext>
                </a:extLst>
              </a:tr>
              <a:tr h="278130">
                <a:tc>
                  <a:txBody>
                    <a:bodyPr/>
                    <a:lstStyle/>
                    <a:p>
                      <a:pPr algn="ctr"/>
                      <a:r>
                        <a:rPr lang="en-US" sz="1600" baseline="0" dirty="0">
                          <a:solidFill>
                            <a:srgbClr val="00B050"/>
                          </a:solidFill>
                        </a:rPr>
                        <a:t>0</a:t>
                      </a:r>
                    </a:p>
                  </a:txBody>
                  <a:tcPr marL="68580" marR="68580" marT="34290" marB="34290"/>
                </a:tc>
                <a:tc>
                  <a:txBody>
                    <a:bodyPr/>
                    <a:lstStyle/>
                    <a:p>
                      <a:pPr algn="ctr"/>
                      <a:r>
                        <a:rPr lang="en-US" sz="1600" baseline="0" dirty="0">
                          <a:solidFill>
                            <a:srgbClr val="00B050"/>
                          </a:solidFill>
                        </a:rPr>
                        <a:t>0</a:t>
                      </a:r>
                    </a:p>
                  </a:txBody>
                  <a:tcPr marL="68580" marR="68580" marT="34290" marB="34290"/>
                </a:tc>
                <a:tc>
                  <a:txBody>
                    <a:bodyPr/>
                    <a:lstStyle/>
                    <a:p>
                      <a:pPr algn="ctr"/>
                      <a:r>
                        <a:rPr lang="en-US" sz="1600" spc="500" baseline="0" dirty="0">
                          <a:solidFill>
                            <a:srgbClr val="00B050"/>
                          </a:solidFill>
                        </a:rPr>
                        <a:t>0000 0000</a:t>
                      </a:r>
                    </a:p>
                  </a:txBody>
                  <a:tcPr marL="68580" marR="68580" marT="34290" marB="34290"/>
                </a:tc>
                <a:extLst>
                  <a:ext uri="{0D108BD9-81ED-4DB2-BD59-A6C34878D82A}">
                    <a16:rowId xmlns:a16="http://schemas.microsoft.com/office/drawing/2014/main" val="10006"/>
                  </a:ext>
                </a:extLst>
              </a:tr>
              <a:tr h="278130">
                <a:tc>
                  <a:txBody>
                    <a:bodyPr/>
                    <a:lstStyle/>
                    <a:p>
                      <a:pPr algn="ctr"/>
                      <a:r>
                        <a:rPr lang="en-US" sz="1600" baseline="0" dirty="0">
                          <a:solidFill>
                            <a:srgbClr val="00B050"/>
                          </a:solidFill>
                        </a:rPr>
                        <a:t>1</a:t>
                      </a:r>
                    </a:p>
                  </a:txBody>
                  <a:tcPr marL="68580" marR="68580" marT="34290" marB="34290"/>
                </a:tc>
                <a:tc>
                  <a:txBody>
                    <a:bodyPr/>
                    <a:lstStyle/>
                    <a:p>
                      <a:pPr algn="ctr"/>
                      <a:r>
                        <a:rPr lang="en-US" sz="1600" baseline="0" dirty="0">
                          <a:solidFill>
                            <a:srgbClr val="00B050"/>
                          </a:solidFill>
                        </a:rPr>
                        <a:t>1</a:t>
                      </a:r>
                    </a:p>
                  </a:txBody>
                  <a:tcPr marL="68580" marR="68580" marT="34290" marB="34290"/>
                </a:tc>
                <a:tc>
                  <a:txBody>
                    <a:bodyPr/>
                    <a:lstStyle/>
                    <a:p>
                      <a:pPr algn="ctr"/>
                      <a:r>
                        <a:rPr lang="en-US" sz="1600" spc="500" baseline="0" dirty="0">
                          <a:solidFill>
                            <a:srgbClr val="00B050"/>
                          </a:solidFill>
                        </a:rPr>
                        <a:t>0000 0001</a:t>
                      </a:r>
                    </a:p>
                  </a:txBody>
                  <a:tcPr marL="68580" marR="68580" marT="34290" marB="34290"/>
                </a:tc>
                <a:extLst>
                  <a:ext uri="{0D108BD9-81ED-4DB2-BD59-A6C34878D82A}">
                    <a16:rowId xmlns:a16="http://schemas.microsoft.com/office/drawing/2014/main" val="10007"/>
                  </a:ext>
                </a:extLst>
              </a:tr>
              <a:tr h="278130">
                <a:tc>
                  <a:txBody>
                    <a:bodyPr/>
                    <a:lstStyle/>
                    <a:p>
                      <a:pPr algn="ctr"/>
                      <a:r>
                        <a:rPr lang="is-IS" sz="1600" baseline="0" dirty="0">
                          <a:solidFill>
                            <a:srgbClr val="00B050"/>
                          </a:solidFill>
                        </a:rPr>
                        <a:t>…</a:t>
                      </a:r>
                      <a:endParaRPr lang="en-US" sz="1600" baseline="0" dirty="0">
                        <a:solidFill>
                          <a:srgbClr val="00B050"/>
                        </a:solidFill>
                      </a:endParaRPr>
                    </a:p>
                  </a:txBody>
                  <a:tcPr marL="68580" marR="68580" marT="34290" marB="34290"/>
                </a:tc>
                <a:tc>
                  <a:txBody>
                    <a:bodyPr/>
                    <a:lstStyle/>
                    <a:p>
                      <a:pPr algn="ctr"/>
                      <a:r>
                        <a:rPr lang="is-IS" sz="1600" baseline="0" dirty="0">
                          <a:solidFill>
                            <a:srgbClr val="00B050"/>
                          </a:solidFill>
                        </a:rPr>
                        <a:t>…</a:t>
                      </a:r>
                      <a:endParaRPr lang="en-US" sz="1600" baseline="0" dirty="0">
                        <a:solidFill>
                          <a:srgbClr val="00B050"/>
                        </a:solidFill>
                      </a:endParaRPr>
                    </a:p>
                  </a:txBody>
                  <a:tcPr marL="68580" marR="68580" marT="34290" marB="34290"/>
                </a:tc>
                <a:tc>
                  <a:txBody>
                    <a:bodyPr/>
                    <a:lstStyle/>
                    <a:p>
                      <a:pPr algn="ctr"/>
                      <a:r>
                        <a:rPr lang="en-US" sz="1600" spc="500" baseline="0" dirty="0">
                          <a:solidFill>
                            <a:srgbClr val="00B050"/>
                          </a:solidFill>
                        </a:rPr>
                        <a:t>...</a:t>
                      </a:r>
                    </a:p>
                  </a:txBody>
                  <a:tcPr marL="68580" marR="68580" marT="34290" marB="34290"/>
                </a:tc>
                <a:extLst>
                  <a:ext uri="{0D108BD9-81ED-4DB2-BD59-A6C34878D82A}">
                    <a16:rowId xmlns:a16="http://schemas.microsoft.com/office/drawing/2014/main" val="10008"/>
                  </a:ext>
                </a:extLst>
              </a:tr>
              <a:tr h="278130">
                <a:tc>
                  <a:txBody>
                    <a:bodyPr/>
                    <a:lstStyle/>
                    <a:p>
                      <a:pPr algn="ctr"/>
                      <a:r>
                        <a:rPr lang="en-US" sz="1600" baseline="0" dirty="0">
                          <a:solidFill>
                            <a:srgbClr val="00B050"/>
                          </a:solidFill>
                        </a:rPr>
                        <a:t>127</a:t>
                      </a:r>
                    </a:p>
                  </a:txBody>
                  <a:tcPr marL="68580" marR="68580" marT="34290" marB="34290"/>
                </a:tc>
                <a:tc>
                  <a:txBody>
                    <a:bodyPr/>
                    <a:lstStyle/>
                    <a:p>
                      <a:pPr algn="ctr"/>
                      <a:r>
                        <a:rPr lang="en-US" sz="1600" baseline="0" dirty="0">
                          <a:solidFill>
                            <a:srgbClr val="00B050"/>
                          </a:solidFill>
                        </a:rPr>
                        <a:t>127</a:t>
                      </a:r>
                    </a:p>
                  </a:txBody>
                  <a:tcPr marL="68580" marR="68580" marT="34290" marB="34290"/>
                </a:tc>
                <a:tc>
                  <a:txBody>
                    <a:bodyPr/>
                    <a:lstStyle/>
                    <a:p>
                      <a:pPr algn="ctr"/>
                      <a:r>
                        <a:rPr lang="en-US" sz="1600" spc="500" baseline="0" dirty="0">
                          <a:solidFill>
                            <a:srgbClr val="00B050"/>
                          </a:solidFill>
                        </a:rPr>
                        <a:t>0111 1111</a:t>
                      </a:r>
                    </a:p>
                  </a:txBody>
                  <a:tcPr marL="68580" marR="68580" marT="34290" marB="34290"/>
                </a:tc>
                <a:extLst>
                  <a:ext uri="{0D108BD9-81ED-4DB2-BD59-A6C34878D82A}">
                    <a16:rowId xmlns:a16="http://schemas.microsoft.com/office/drawing/2014/main" val="10009"/>
                  </a:ext>
                </a:extLst>
              </a:tr>
            </a:tbl>
          </a:graphicData>
        </a:graphic>
      </p:graphicFrame>
      <p:sp>
        <p:nvSpPr>
          <p:cNvPr id="8" name="TextBox 7"/>
          <p:cNvSpPr txBox="1"/>
          <p:nvPr/>
        </p:nvSpPr>
        <p:spPr>
          <a:xfrm>
            <a:off x="422267" y="5359627"/>
            <a:ext cx="6677277" cy="415498"/>
          </a:xfrm>
          <a:prstGeom prst="rect">
            <a:avLst/>
          </a:prstGeom>
          <a:noFill/>
        </p:spPr>
        <p:txBody>
          <a:bodyPr wrap="none" rtlCol="0">
            <a:spAutoFit/>
          </a:bodyPr>
          <a:lstStyle/>
          <a:p>
            <a:pPr defTabSz="342900"/>
            <a:r>
              <a:rPr lang="en-US" sz="2100" u="sng" dirty="0">
                <a:solidFill>
                  <a:srgbClr val="3064C0"/>
                </a:solidFill>
                <a:latin typeface="Calibri"/>
              </a:rPr>
              <a:t>Note</a:t>
            </a:r>
            <a:r>
              <a:rPr lang="en-US" sz="2100" dirty="0">
                <a:solidFill>
                  <a:srgbClr val="3064C0"/>
                </a:solidFill>
                <a:latin typeface="Calibri"/>
              </a:rPr>
              <a:t>: Most significant bit (MSB) is the sign bit for signed int</a:t>
            </a:r>
          </a:p>
        </p:txBody>
      </p:sp>
      <p:sp>
        <p:nvSpPr>
          <p:cNvPr id="13" name="Rectangle 12"/>
          <p:cNvSpPr/>
          <p:nvPr/>
        </p:nvSpPr>
        <p:spPr>
          <a:xfrm>
            <a:off x="4885488" y="2648820"/>
            <a:ext cx="162700" cy="2794394"/>
          </a:xfrm>
          <a:prstGeom prst="rect">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42900"/>
            <a:endParaRPr lang="en-US" sz="1400">
              <a:solidFill>
                <a:prstClr val="white"/>
              </a:solidFill>
              <a:latin typeface="Calibri"/>
            </a:endParaRPr>
          </a:p>
        </p:txBody>
      </p:sp>
      <p:sp>
        <p:nvSpPr>
          <p:cNvPr id="27" name="Slide Number Placeholder 2"/>
          <p:cNvSpPr txBox="1">
            <a:spLocks/>
          </p:cNvSpPr>
          <p:nvPr/>
        </p:nvSpPr>
        <p:spPr>
          <a:xfrm>
            <a:off x="2136648" y="6356350"/>
            <a:ext cx="1981200" cy="365760"/>
          </a:xfrm>
          <a:prstGeom prst="rect">
            <a:avLst/>
          </a:prstGeom>
        </p:spPr>
        <p:txBody>
          <a:bodyPr vert="horz" lIns="91440" tIns="45720" rIns="91440" bIns="45720" rtlCol="0" anchor="ctr"/>
          <a:lstStyle>
            <a:defPPr>
              <a:defRPr lang="en-US"/>
            </a:defPPr>
            <a:lvl1pPr algn="r" rtl="0" eaLnBrk="0" fontAlgn="base" hangingPunct="0">
              <a:spcBef>
                <a:spcPct val="0"/>
              </a:spcBef>
              <a:spcAft>
                <a:spcPct val="0"/>
              </a:spcAft>
              <a:defRPr sz="900" b="1" kern="1200">
                <a:solidFill>
                  <a:schemeClr val="tx1">
                    <a:tint val="75000"/>
                  </a:schemeClr>
                </a:solidFill>
                <a:latin typeface="Tahoma" pitchFamily="34" charset="0"/>
                <a:ea typeface="+mn-ea"/>
                <a:cs typeface="+mn-cs"/>
              </a:defRPr>
            </a:lvl1pPr>
            <a:lvl2pPr marL="457200" algn="l" rtl="0" eaLnBrk="0" fontAlgn="base" hangingPunct="0">
              <a:spcBef>
                <a:spcPct val="0"/>
              </a:spcBef>
              <a:spcAft>
                <a:spcPct val="0"/>
              </a:spcAft>
              <a:defRPr sz="2000" b="1" kern="1200">
                <a:solidFill>
                  <a:schemeClr val="bg1"/>
                </a:solidFill>
                <a:latin typeface="Tahoma" pitchFamily="34" charset="0"/>
                <a:ea typeface="+mn-ea"/>
                <a:cs typeface="+mn-cs"/>
              </a:defRPr>
            </a:lvl2pPr>
            <a:lvl3pPr marL="914400" algn="l" rtl="0" eaLnBrk="0" fontAlgn="base" hangingPunct="0">
              <a:spcBef>
                <a:spcPct val="0"/>
              </a:spcBef>
              <a:spcAft>
                <a:spcPct val="0"/>
              </a:spcAft>
              <a:defRPr sz="2000" b="1" kern="1200">
                <a:solidFill>
                  <a:schemeClr val="bg1"/>
                </a:solidFill>
                <a:latin typeface="Tahoma" pitchFamily="34" charset="0"/>
                <a:ea typeface="+mn-ea"/>
                <a:cs typeface="+mn-cs"/>
              </a:defRPr>
            </a:lvl3pPr>
            <a:lvl4pPr marL="1371600" algn="l" rtl="0" eaLnBrk="0" fontAlgn="base" hangingPunct="0">
              <a:spcBef>
                <a:spcPct val="0"/>
              </a:spcBef>
              <a:spcAft>
                <a:spcPct val="0"/>
              </a:spcAft>
              <a:defRPr sz="2000" b="1" kern="1200">
                <a:solidFill>
                  <a:schemeClr val="bg1"/>
                </a:solidFill>
                <a:latin typeface="Tahoma" pitchFamily="34" charset="0"/>
                <a:ea typeface="+mn-ea"/>
                <a:cs typeface="+mn-cs"/>
              </a:defRPr>
            </a:lvl4pPr>
            <a:lvl5pPr marL="1828800" algn="l" rtl="0" eaLnBrk="0" fontAlgn="base" hangingPunct="0">
              <a:spcBef>
                <a:spcPct val="0"/>
              </a:spcBef>
              <a:spcAft>
                <a:spcPct val="0"/>
              </a:spcAft>
              <a:defRPr sz="2000" b="1" kern="1200">
                <a:solidFill>
                  <a:schemeClr val="bg1"/>
                </a:solidFill>
                <a:latin typeface="Tahoma" pitchFamily="34" charset="0"/>
                <a:ea typeface="+mn-ea"/>
                <a:cs typeface="+mn-cs"/>
              </a:defRPr>
            </a:lvl5pPr>
            <a:lvl6pPr marL="2286000" algn="l" defTabSz="914400" rtl="0" eaLnBrk="1" latinLnBrk="0" hangingPunct="1">
              <a:defRPr sz="2000" b="1" kern="1200">
                <a:solidFill>
                  <a:schemeClr val="bg1"/>
                </a:solidFill>
                <a:latin typeface="Tahoma" pitchFamily="34" charset="0"/>
                <a:ea typeface="+mn-ea"/>
                <a:cs typeface="+mn-cs"/>
              </a:defRPr>
            </a:lvl6pPr>
            <a:lvl7pPr marL="2743200" algn="l" defTabSz="914400" rtl="0" eaLnBrk="1" latinLnBrk="0" hangingPunct="1">
              <a:defRPr sz="2000" b="1" kern="1200">
                <a:solidFill>
                  <a:schemeClr val="bg1"/>
                </a:solidFill>
                <a:latin typeface="Tahoma" pitchFamily="34" charset="0"/>
                <a:ea typeface="+mn-ea"/>
                <a:cs typeface="+mn-cs"/>
              </a:defRPr>
            </a:lvl7pPr>
            <a:lvl8pPr marL="3200400" algn="l" defTabSz="914400" rtl="0" eaLnBrk="1" latinLnBrk="0" hangingPunct="1">
              <a:defRPr sz="2000" b="1" kern="1200">
                <a:solidFill>
                  <a:schemeClr val="bg1"/>
                </a:solidFill>
                <a:latin typeface="Tahoma" pitchFamily="34" charset="0"/>
                <a:ea typeface="+mn-ea"/>
                <a:cs typeface="+mn-cs"/>
              </a:defRPr>
            </a:lvl8pPr>
            <a:lvl9pPr marL="3657600" algn="l" defTabSz="914400" rtl="0" eaLnBrk="1" latinLnBrk="0" hangingPunct="1">
              <a:defRPr sz="2000" b="1" kern="1200">
                <a:solidFill>
                  <a:schemeClr val="bg1"/>
                </a:solidFill>
                <a:latin typeface="Tahoma" pitchFamily="34" charset="0"/>
                <a:ea typeface="+mn-ea"/>
                <a:cs typeface="+mn-cs"/>
              </a:defRPr>
            </a:lvl9pPr>
          </a:lstStyle>
          <a:p>
            <a:pPr algn="l" eaLnBrk="1" fontAlgn="auto" hangingPunct="1">
              <a:spcBef>
                <a:spcPts val="0"/>
              </a:spcBef>
              <a:spcAft>
                <a:spcPts val="0"/>
              </a:spcAft>
            </a:pPr>
            <a:r>
              <a:rPr lang="en-US" sz="1400" b="0" dirty="0">
                <a:solidFill>
                  <a:srgbClr val="1F497D"/>
                </a:solidFill>
                <a:latin typeface="Gill Sans MT"/>
              </a:rPr>
              <a:t>15</a:t>
            </a:r>
          </a:p>
        </p:txBody>
      </p:sp>
      <p:pic>
        <p:nvPicPr>
          <p:cNvPr id="3" name="Picture 2">
            <a:extLst>
              <a:ext uri="{FF2B5EF4-FFF2-40B4-BE49-F238E27FC236}">
                <a16:creationId xmlns:a16="http://schemas.microsoft.com/office/drawing/2014/main" id="{CC188A21-6E71-7905-3E22-6F056E14BE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3814" y="1524000"/>
            <a:ext cx="4498903" cy="43235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867845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 Extension</a:t>
            </a:r>
          </a:p>
        </p:txBody>
      </p:sp>
      <p:sp>
        <p:nvSpPr>
          <p:cNvPr id="12" name="TextBox 11"/>
          <p:cNvSpPr txBox="1"/>
          <p:nvPr/>
        </p:nvSpPr>
        <p:spPr>
          <a:xfrm>
            <a:off x="1745681" y="3831240"/>
            <a:ext cx="8778240" cy="830997"/>
          </a:xfrm>
          <a:prstGeom prst="rect">
            <a:avLst/>
          </a:prstGeom>
          <a:noFill/>
        </p:spPr>
        <p:txBody>
          <a:bodyPr wrap="square" rtlCol="0">
            <a:spAutoFit/>
          </a:bodyPr>
          <a:lstStyle/>
          <a:p>
            <a:pPr marL="257175" indent="-257175" defTabSz="342900">
              <a:buFont typeface="Arial" charset="0"/>
              <a:buChar char="•"/>
            </a:pPr>
            <a:r>
              <a:rPr lang="en-US" sz="2400" dirty="0">
                <a:solidFill>
                  <a:prstClr val="black"/>
                </a:solidFill>
                <a:latin typeface="Calibri"/>
              </a:rPr>
              <a:t>Sign extension for unsigned int: fill in 0’s from the left</a:t>
            </a:r>
          </a:p>
          <a:p>
            <a:pPr marL="257175" indent="-257175" defTabSz="342900">
              <a:buFont typeface="Arial" charset="0"/>
              <a:buChar char="•"/>
            </a:pPr>
            <a:r>
              <a:rPr lang="en-US" sz="2400" dirty="0">
                <a:solidFill>
                  <a:prstClr val="black"/>
                </a:solidFill>
                <a:latin typeface="Calibri"/>
              </a:rPr>
              <a:t>Sign extension for signed int: fill in the sign bit from the left</a:t>
            </a:r>
          </a:p>
        </p:txBody>
      </p:sp>
      <p:graphicFrame>
        <p:nvGraphicFramePr>
          <p:cNvPr id="19" name="Content Placeholder 10"/>
          <p:cNvGraphicFramePr>
            <a:graphicFrameLocks noGrp="1"/>
          </p:cNvGraphicFramePr>
          <p:nvPr>
            <p:ph idx="1"/>
          </p:nvPr>
        </p:nvGraphicFramePr>
        <p:xfrm>
          <a:off x="1791629" y="1680489"/>
          <a:ext cx="8778240" cy="1887900"/>
        </p:xfrm>
        <a:graphic>
          <a:graphicData uri="http://schemas.openxmlformats.org/drawingml/2006/table">
            <a:tbl>
              <a:tblPr firstRow="1" bandRow="1">
                <a:tableStyleId>{5C22544A-7EE6-4342-B048-85BDC9FD1C3A}</a:tableStyleId>
              </a:tblPr>
              <a:tblGrid>
                <a:gridCol w="1157675">
                  <a:extLst>
                    <a:ext uri="{9D8B030D-6E8A-4147-A177-3AD203B41FA5}">
                      <a16:colId xmlns:a16="http://schemas.microsoft.com/office/drawing/2014/main" val="20000"/>
                    </a:ext>
                  </a:extLst>
                </a:gridCol>
                <a:gridCol w="1905141">
                  <a:extLst>
                    <a:ext uri="{9D8B030D-6E8A-4147-A177-3AD203B41FA5}">
                      <a16:colId xmlns:a16="http://schemas.microsoft.com/office/drawing/2014/main" val="20001"/>
                    </a:ext>
                  </a:extLst>
                </a:gridCol>
                <a:gridCol w="2297056">
                  <a:extLst>
                    <a:ext uri="{9D8B030D-6E8A-4147-A177-3AD203B41FA5}">
                      <a16:colId xmlns:a16="http://schemas.microsoft.com/office/drawing/2014/main" val="20002"/>
                    </a:ext>
                  </a:extLst>
                </a:gridCol>
                <a:gridCol w="3418368">
                  <a:extLst>
                    <a:ext uri="{9D8B030D-6E8A-4147-A177-3AD203B41FA5}">
                      <a16:colId xmlns:a16="http://schemas.microsoft.com/office/drawing/2014/main" val="20003"/>
                    </a:ext>
                  </a:extLst>
                </a:gridCol>
              </a:tblGrid>
              <a:tr h="471975">
                <a:tc>
                  <a:txBody>
                    <a:bodyPr/>
                    <a:lstStyle/>
                    <a:p>
                      <a:pPr algn="ctr"/>
                      <a:r>
                        <a:rPr lang="en-US" sz="1800" dirty="0"/>
                        <a:t>Decimal</a:t>
                      </a:r>
                    </a:p>
                  </a:txBody>
                  <a:tcPr marL="115651" marR="115651"/>
                </a:tc>
                <a:tc gridSpan="3">
                  <a:txBody>
                    <a:bodyPr/>
                    <a:lstStyle/>
                    <a:p>
                      <a:pPr algn="ctr"/>
                      <a:r>
                        <a:rPr lang="en-US" sz="1800" dirty="0"/>
                        <a:t>Binary</a:t>
                      </a:r>
                    </a:p>
                  </a:txBody>
                  <a:tcPr marL="115651" marR="115651"/>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val="10000"/>
                  </a:ext>
                </a:extLst>
              </a:tr>
              <a:tr h="471975">
                <a:tc>
                  <a:txBody>
                    <a:bodyPr/>
                    <a:lstStyle/>
                    <a:p>
                      <a:pPr algn="ctr"/>
                      <a:endParaRPr lang="en-US" dirty="0"/>
                    </a:p>
                  </a:txBody>
                  <a:tcPr marL="115651" marR="115651">
                    <a:solidFill>
                      <a:schemeClr val="accent1">
                        <a:lumMod val="40000"/>
                        <a:lumOff val="60000"/>
                      </a:schemeClr>
                    </a:solidFill>
                  </a:tcPr>
                </a:tc>
                <a:tc>
                  <a:txBody>
                    <a:bodyPr/>
                    <a:lstStyle/>
                    <a:p>
                      <a:pPr algn="ctr"/>
                      <a:r>
                        <a:rPr lang="en-US" sz="1800" dirty="0"/>
                        <a:t>4-bit</a:t>
                      </a:r>
                    </a:p>
                  </a:txBody>
                  <a:tcPr marL="115651" marR="115651">
                    <a:solidFill>
                      <a:schemeClr val="accent1">
                        <a:lumMod val="40000"/>
                        <a:lumOff val="60000"/>
                      </a:schemeClr>
                    </a:solidFill>
                  </a:tcPr>
                </a:tc>
                <a:tc>
                  <a:txBody>
                    <a:bodyPr/>
                    <a:lstStyle/>
                    <a:p>
                      <a:pPr algn="ctr"/>
                      <a:r>
                        <a:rPr lang="en-US" sz="1800" dirty="0"/>
                        <a:t>8-bit</a:t>
                      </a:r>
                    </a:p>
                  </a:txBody>
                  <a:tcPr marL="115651" marR="115651">
                    <a:solidFill>
                      <a:schemeClr val="accent1">
                        <a:lumMod val="40000"/>
                        <a:lumOff val="60000"/>
                      </a:schemeClr>
                    </a:solidFill>
                  </a:tcPr>
                </a:tc>
                <a:tc>
                  <a:txBody>
                    <a:bodyPr/>
                    <a:lstStyle/>
                    <a:p>
                      <a:pPr algn="ctr"/>
                      <a:r>
                        <a:rPr lang="en-US" sz="1800" dirty="0"/>
                        <a:t>32-bit</a:t>
                      </a:r>
                    </a:p>
                  </a:txBody>
                  <a:tcPr marL="115651" marR="115651">
                    <a:solidFill>
                      <a:schemeClr val="accent1">
                        <a:lumMod val="40000"/>
                        <a:lumOff val="60000"/>
                      </a:schemeClr>
                    </a:solidFill>
                  </a:tcPr>
                </a:tc>
                <a:extLst>
                  <a:ext uri="{0D108BD9-81ED-4DB2-BD59-A6C34878D82A}">
                    <a16:rowId xmlns:a16="http://schemas.microsoft.com/office/drawing/2014/main" val="10001"/>
                  </a:ext>
                </a:extLst>
              </a:tr>
              <a:tr h="471975">
                <a:tc>
                  <a:txBody>
                    <a:bodyPr/>
                    <a:lstStyle/>
                    <a:p>
                      <a:pPr algn="ctr"/>
                      <a:r>
                        <a:rPr lang="en-US" sz="1800" dirty="0"/>
                        <a:t>3</a:t>
                      </a:r>
                      <a:r>
                        <a:rPr lang="en-US" sz="1800" baseline="-25000" dirty="0"/>
                        <a:t>ten</a:t>
                      </a:r>
                    </a:p>
                  </a:txBody>
                  <a:tcPr marL="115651" marR="115651"/>
                </a:tc>
                <a:tc>
                  <a:txBody>
                    <a:bodyPr/>
                    <a:lstStyle/>
                    <a:p>
                      <a:pPr algn="ctr"/>
                      <a:r>
                        <a:rPr lang="en-US" sz="1800" dirty="0"/>
                        <a:t>0011</a:t>
                      </a:r>
                      <a:r>
                        <a:rPr lang="en-US" sz="1800" baseline="-25000" dirty="0"/>
                        <a:t>two</a:t>
                      </a:r>
                    </a:p>
                  </a:txBody>
                  <a:tcPr marL="115651" marR="115651"/>
                </a:tc>
                <a:tc>
                  <a:txBody>
                    <a:bodyPr/>
                    <a:lstStyle/>
                    <a:p>
                      <a:pPr algn="ctr"/>
                      <a:r>
                        <a:rPr lang="en-US" sz="1800" dirty="0"/>
                        <a:t>0000 0011</a:t>
                      </a:r>
                      <a:r>
                        <a:rPr lang="en-US" sz="1800" baseline="-25000" dirty="0"/>
                        <a:t>two</a:t>
                      </a:r>
                    </a:p>
                  </a:txBody>
                  <a:tcPr marL="115651" marR="115651"/>
                </a:tc>
                <a:tc>
                  <a:txBody>
                    <a:bodyPr/>
                    <a:lstStyle/>
                    <a:p>
                      <a:pPr algn="ctr"/>
                      <a:r>
                        <a:rPr lang="en-US" sz="1800" dirty="0"/>
                        <a:t>0000 0000 0000 0011</a:t>
                      </a:r>
                      <a:r>
                        <a:rPr lang="en-US" sz="1800" baseline="-25000" dirty="0"/>
                        <a:t>two</a:t>
                      </a:r>
                    </a:p>
                  </a:txBody>
                  <a:tcPr marL="115651" marR="115651"/>
                </a:tc>
                <a:extLst>
                  <a:ext uri="{0D108BD9-81ED-4DB2-BD59-A6C34878D82A}">
                    <a16:rowId xmlns:a16="http://schemas.microsoft.com/office/drawing/2014/main" val="10002"/>
                  </a:ext>
                </a:extLst>
              </a:tr>
              <a:tr h="47197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-3</a:t>
                      </a:r>
                      <a:r>
                        <a:rPr lang="en-US" sz="1800" baseline="-25000" dirty="0"/>
                        <a:t>ten</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1101</a:t>
                      </a:r>
                      <a:r>
                        <a:rPr lang="en-US" sz="1800" baseline="-25000" dirty="0"/>
                        <a:t>two</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1111 1101</a:t>
                      </a:r>
                      <a:r>
                        <a:rPr lang="en-US" sz="1800" baseline="-25000" dirty="0"/>
                        <a:t>two</a:t>
                      </a:r>
                    </a:p>
                  </a:txBody>
                  <a:tcPr marL="115651" marR="115651"/>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t>1111 1111 1111 1101</a:t>
                      </a:r>
                      <a:r>
                        <a:rPr lang="en-US" sz="1800" baseline="-25000" dirty="0"/>
                        <a:t>two</a:t>
                      </a:r>
                    </a:p>
                  </a:txBody>
                  <a:tcPr marL="115651" marR="115651"/>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688525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p:cNvSpPr/>
          <p:nvPr/>
        </p:nvSpPr>
        <p:spPr>
          <a:xfrm>
            <a:off x="8305800" y="1284376"/>
            <a:ext cx="3428999" cy="4629329"/>
          </a:xfrm>
          <a:prstGeom prst="roundRect">
            <a:avLst/>
          </a:prstGeom>
          <a:solidFill>
            <a:schemeClr val="accent1">
              <a:lumMod val="20000"/>
              <a:lumOff val="80000"/>
            </a:schemeClr>
          </a:solidFill>
          <a:ln>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dirty="0"/>
              <a:t>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20</a:t>
            </a:fld>
            <a:endParaRPr kumimoji="0" lang="en-US" dirty="0"/>
          </a:p>
        </p:txBody>
      </p:sp>
      <p:pic>
        <p:nvPicPr>
          <p:cNvPr id="368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1441450"/>
            <a:ext cx="3146886" cy="2862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686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48140" y="1371600"/>
            <a:ext cx="3148061" cy="287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6"/>
          <p:cNvPicPr/>
          <p:nvPr/>
        </p:nvPicPr>
        <p:blipFill>
          <a:blip r:embed="rId4"/>
          <a:srcRect/>
          <a:stretch>
            <a:fillRect/>
          </a:stretch>
        </p:blipFill>
        <p:spPr bwMode="auto">
          <a:xfrm>
            <a:off x="8433433" y="1430425"/>
            <a:ext cx="3079750" cy="2825750"/>
          </a:xfrm>
          <a:prstGeom prst="rect">
            <a:avLst/>
          </a:prstGeom>
          <a:noFill/>
          <a:ln w="9525">
            <a:noFill/>
            <a:miter lim="800000"/>
            <a:headEnd/>
            <a:tailEnd/>
          </a:ln>
        </p:spPr>
      </p:pic>
      <p:sp>
        <p:nvSpPr>
          <p:cNvPr id="6" name="Rectangle 5"/>
          <p:cNvSpPr/>
          <p:nvPr/>
        </p:nvSpPr>
        <p:spPr>
          <a:xfrm>
            <a:off x="5048785" y="4672358"/>
            <a:ext cx="2227780" cy="1200329"/>
          </a:xfrm>
          <a:prstGeom prst="rect">
            <a:avLst/>
          </a:prstGeom>
        </p:spPr>
        <p:txBody>
          <a:bodyPr wrap="square">
            <a:spAutoFit/>
          </a:bodyPr>
          <a:lstStyle/>
          <a:p>
            <a:r>
              <a:rPr lang="en-US" dirty="0"/>
              <a:t>One’s complement representation</a:t>
            </a:r>
          </a:p>
          <a:p>
            <a:r>
              <a:rPr lang="en-US" dirty="0">
                <a:solidFill>
                  <a:srgbClr val="C00000"/>
                </a:solidFill>
              </a:rPr>
              <a:t>Negative = invert all bits of a positive</a:t>
            </a:r>
          </a:p>
        </p:txBody>
      </p:sp>
      <p:sp>
        <p:nvSpPr>
          <p:cNvPr id="8" name="Rectangle 7"/>
          <p:cNvSpPr/>
          <p:nvPr/>
        </p:nvSpPr>
        <p:spPr>
          <a:xfrm>
            <a:off x="9074784" y="4661333"/>
            <a:ext cx="2016359" cy="1200329"/>
          </a:xfrm>
          <a:prstGeom prst="rect">
            <a:avLst/>
          </a:prstGeom>
        </p:spPr>
        <p:txBody>
          <a:bodyPr wrap="square">
            <a:spAutoFit/>
          </a:bodyPr>
          <a:lstStyle/>
          <a:p>
            <a:r>
              <a:rPr lang="en-US" dirty="0"/>
              <a:t>Two’s Complement representation</a:t>
            </a:r>
          </a:p>
          <a:p>
            <a:r>
              <a:rPr lang="en-US" dirty="0">
                <a:solidFill>
                  <a:srgbClr val="C00000"/>
                </a:solidFill>
              </a:rPr>
              <a:t>TC = invert all bits, then plus </a:t>
            </a:r>
            <a:r>
              <a:rPr lang="en-US" dirty="0">
                <a:solidFill>
                  <a:srgbClr val="C00000"/>
                </a:solidFill>
                <a:latin typeface="Consolas" pitchFamily="49" charset="0"/>
                <a:cs typeface="Consolas" pitchFamily="49" charset="0"/>
              </a:rPr>
              <a:t>1</a:t>
            </a:r>
          </a:p>
        </p:txBody>
      </p:sp>
      <p:sp>
        <p:nvSpPr>
          <p:cNvPr id="4" name="Rectangle 3"/>
          <p:cNvSpPr/>
          <p:nvPr/>
        </p:nvSpPr>
        <p:spPr>
          <a:xfrm>
            <a:off x="1077349" y="4730131"/>
            <a:ext cx="2675673" cy="1200329"/>
          </a:xfrm>
          <a:prstGeom prst="rect">
            <a:avLst/>
          </a:prstGeom>
        </p:spPr>
        <p:txBody>
          <a:bodyPr wrap="square">
            <a:spAutoFit/>
          </a:bodyPr>
          <a:lstStyle/>
          <a:p>
            <a:r>
              <a:rPr lang="en-US" dirty="0"/>
              <a:t>Signed magnitude representation</a:t>
            </a:r>
          </a:p>
          <a:p>
            <a:r>
              <a:rPr lang="en-US" dirty="0">
                <a:solidFill>
                  <a:srgbClr val="C00000"/>
                </a:solidFill>
                <a:latin typeface="Consolas" pitchFamily="49" charset="0"/>
                <a:cs typeface="Consolas" pitchFamily="49" charset="0"/>
              </a:rPr>
              <a:t>0</a:t>
            </a:r>
            <a:r>
              <a:rPr lang="en-US" dirty="0">
                <a:solidFill>
                  <a:srgbClr val="C00000"/>
                </a:solidFill>
              </a:rPr>
              <a:t> = positive</a:t>
            </a:r>
          </a:p>
          <a:p>
            <a:r>
              <a:rPr lang="en-US" dirty="0">
                <a:solidFill>
                  <a:srgbClr val="C00000"/>
                </a:solidFill>
                <a:latin typeface="Consolas" pitchFamily="49" charset="0"/>
                <a:cs typeface="Consolas" pitchFamily="49" charset="0"/>
              </a:rPr>
              <a:t>1</a:t>
            </a:r>
            <a:r>
              <a:rPr lang="en-US" dirty="0">
                <a:solidFill>
                  <a:srgbClr val="C00000"/>
                </a:solidFill>
              </a:rPr>
              <a:t> = negative</a:t>
            </a:r>
          </a:p>
        </p:txBody>
      </p:sp>
      <p:sp>
        <p:nvSpPr>
          <p:cNvPr id="9" name="TextBox 8"/>
          <p:cNvSpPr txBox="1"/>
          <p:nvPr/>
        </p:nvSpPr>
        <p:spPr>
          <a:xfrm>
            <a:off x="8663669" y="5983554"/>
            <a:ext cx="2828018" cy="369332"/>
          </a:xfrm>
          <a:prstGeom prst="rect">
            <a:avLst/>
          </a:prstGeom>
          <a:noFill/>
        </p:spPr>
        <p:txBody>
          <a:bodyPr wrap="none" rtlCol="0">
            <a:spAutoFit/>
          </a:bodyPr>
          <a:lstStyle/>
          <a:p>
            <a:r>
              <a:rPr lang="en-US" dirty="0">
                <a:solidFill>
                  <a:srgbClr val="0000FF"/>
                </a:solidFill>
              </a:rPr>
              <a:t>Used in modern computers!</a:t>
            </a:r>
          </a:p>
        </p:txBody>
      </p:sp>
    </p:spTree>
    <p:extLst>
      <p:ext uri="{BB962C8B-B14F-4D97-AF65-F5344CB8AC3E}">
        <p14:creationId xmlns:p14="http://schemas.microsoft.com/office/powerpoint/2010/main" val="727195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8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8" grpId="0"/>
      <p:bldP spid="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Comparison: unsigned vs. signed</a:t>
            </a:r>
          </a:p>
        </p:txBody>
      </p:sp>
      <p:sp>
        <p:nvSpPr>
          <p:cNvPr id="3" name="Slide Number Placeholder 2"/>
          <p:cNvSpPr>
            <a:spLocks noGrp="1"/>
          </p:cNvSpPr>
          <p:nvPr>
            <p:ph type="sldNum" sz="quarter" idx="4294967295"/>
          </p:nvPr>
        </p:nvSpPr>
        <p:spPr>
          <a:xfrm>
            <a:off x="762000" y="635213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21</a:t>
            </a:fld>
            <a:endParaRPr lang="en-US" dirty="0">
              <a:solidFill>
                <a:srgbClr val="1F497D"/>
              </a:solidFill>
              <a:latin typeface="Gill Sans MT"/>
            </a:endParaRPr>
          </a:p>
        </p:txBody>
      </p:sp>
      <p:pic>
        <p:nvPicPr>
          <p:cNvPr id="7" name="Picture 6"/>
          <p:cNvPicPr/>
          <p:nvPr/>
        </p:nvPicPr>
        <p:blipFill>
          <a:blip r:embed="rId2"/>
          <a:srcRect/>
          <a:stretch>
            <a:fillRect/>
          </a:stretch>
        </p:blipFill>
        <p:spPr bwMode="auto">
          <a:xfrm>
            <a:off x="3810000" y="1433076"/>
            <a:ext cx="3079750" cy="2825750"/>
          </a:xfrm>
          <a:prstGeom prst="rect">
            <a:avLst/>
          </a:prstGeom>
          <a:noFill/>
          <a:ln w="9525">
            <a:noFill/>
            <a:miter lim="800000"/>
            <a:headEnd/>
            <a:tailEnd/>
          </a:ln>
        </p:spPr>
      </p:pic>
      <p:sp>
        <p:nvSpPr>
          <p:cNvPr id="6" name="Rectangle 5"/>
          <p:cNvSpPr/>
          <p:nvPr/>
        </p:nvSpPr>
        <p:spPr>
          <a:xfrm>
            <a:off x="1270535" y="4663983"/>
            <a:ext cx="2227780" cy="923330"/>
          </a:xfrm>
          <a:prstGeom prst="rect">
            <a:avLst/>
          </a:prstGeom>
        </p:spPr>
        <p:txBody>
          <a:bodyPr wrap="square">
            <a:spAutoFit/>
          </a:bodyPr>
          <a:lstStyle/>
          <a:p>
            <a:pPr>
              <a:defRPr/>
            </a:pPr>
            <a:r>
              <a:rPr lang="en-US" dirty="0">
                <a:solidFill>
                  <a:prstClr val="black"/>
                </a:solidFill>
                <a:latin typeface="Gill Sans MT"/>
              </a:rPr>
              <a:t>Unsigned </a:t>
            </a:r>
            <a:r>
              <a:rPr lang="en-US" dirty="0" err="1">
                <a:solidFill>
                  <a:prstClr val="black"/>
                </a:solidFill>
                <a:latin typeface="Gill Sans MT"/>
              </a:rPr>
              <a:t>int</a:t>
            </a:r>
            <a:r>
              <a:rPr lang="en-US" dirty="0">
                <a:solidFill>
                  <a:prstClr val="black"/>
                </a:solidFill>
                <a:latin typeface="Gill Sans MT"/>
              </a:rPr>
              <a:t> representation</a:t>
            </a:r>
          </a:p>
          <a:p>
            <a:pPr>
              <a:defRPr/>
            </a:pPr>
            <a:r>
              <a:rPr lang="en-US" dirty="0">
                <a:solidFill>
                  <a:prstClr val="black"/>
                </a:solidFill>
                <a:latin typeface="Gill Sans MT"/>
              </a:rPr>
              <a:t>Range [0, 31]</a:t>
            </a:r>
          </a:p>
        </p:txBody>
      </p:sp>
      <p:sp>
        <p:nvSpPr>
          <p:cNvPr id="8" name="Rectangle 7"/>
          <p:cNvSpPr/>
          <p:nvPr/>
        </p:nvSpPr>
        <p:spPr>
          <a:xfrm>
            <a:off x="4451351" y="4663983"/>
            <a:ext cx="2016359" cy="1477328"/>
          </a:xfrm>
          <a:prstGeom prst="rect">
            <a:avLst/>
          </a:prstGeom>
        </p:spPr>
        <p:txBody>
          <a:bodyPr wrap="square">
            <a:spAutoFit/>
          </a:bodyPr>
          <a:lstStyle/>
          <a:p>
            <a:pPr>
              <a:defRPr/>
            </a:pPr>
            <a:r>
              <a:rPr lang="en-US" dirty="0">
                <a:solidFill>
                  <a:prstClr val="black"/>
                </a:solidFill>
                <a:latin typeface="Gill Sans MT"/>
              </a:rPr>
              <a:t>Two’s Complement representation</a:t>
            </a:r>
          </a:p>
          <a:p>
            <a:pPr>
              <a:defRPr/>
            </a:pPr>
            <a:r>
              <a:rPr lang="en-US" dirty="0">
                <a:solidFill>
                  <a:prstClr val="black"/>
                </a:solidFill>
                <a:latin typeface="Gill Sans MT"/>
              </a:rPr>
              <a:t>Range [-16,15]</a:t>
            </a:r>
          </a:p>
          <a:p>
            <a:pPr>
              <a:defRPr/>
            </a:pPr>
            <a:r>
              <a:rPr lang="en-US" dirty="0">
                <a:solidFill>
                  <a:srgbClr val="C00000"/>
                </a:solidFill>
                <a:latin typeface="Gill Sans MT"/>
              </a:rPr>
              <a:t>TC = invert all bits, then add </a:t>
            </a:r>
            <a:r>
              <a:rPr lang="en-US" dirty="0">
                <a:solidFill>
                  <a:srgbClr val="C00000"/>
                </a:solidFill>
                <a:latin typeface="Consolas" pitchFamily="49" charset="0"/>
                <a:cs typeface="Consolas" pitchFamily="49" charset="0"/>
              </a:rPr>
              <a:t>1</a:t>
            </a:r>
          </a:p>
        </p:txBody>
      </p:sp>
      <p:pic>
        <p:nvPicPr>
          <p:cNvPr id="1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2683" y="1303961"/>
            <a:ext cx="3100299" cy="29844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CADBB08-95E4-B063-989E-5381B2268DF2}"/>
                  </a:ext>
                </a:extLst>
              </p:cNvPr>
              <p:cNvGraphicFramePr>
                <a:graphicFrameLocks noGrp="1"/>
              </p:cNvGraphicFramePr>
              <p:nvPr>
                <p:extLst>
                  <p:ext uri="{D42A27DB-BD31-4B8C-83A1-F6EECF244321}">
                    <p14:modId xmlns:p14="http://schemas.microsoft.com/office/powerpoint/2010/main" val="2037262524"/>
                  </p:ext>
                </p:extLst>
              </p:nvPr>
            </p:nvGraphicFramePr>
            <p:xfrm>
              <a:off x="6467710" y="3828994"/>
              <a:ext cx="5466080" cy="1539240"/>
            </p:xfrm>
            <a:graphic>
              <a:graphicData uri="http://schemas.openxmlformats.org/drawingml/2006/table">
                <a:tbl>
                  <a:tblPr firstRow="1" firstCol="1" bandRow="1">
                    <a:tableStyleId>{5C22544A-7EE6-4342-B048-85BDC9FD1C3A}</a:tableStyleId>
                  </a:tblPr>
                  <a:tblGrid>
                    <a:gridCol w="1181070">
                      <a:extLst>
                        <a:ext uri="{9D8B030D-6E8A-4147-A177-3AD203B41FA5}">
                          <a16:colId xmlns:a16="http://schemas.microsoft.com/office/drawing/2014/main" val="20000"/>
                        </a:ext>
                      </a:extLst>
                    </a:gridCol>
                    <a:gridCol w="1266620">
                      <a:extLst>
                        <a:ext uri="{9D8B030D-6E8A-4147-A177-3AD203B41FA5}">
                          <a16:colId xmlns:a16="http://schemas.microsoft.com/office/drawing/2014/main" val="20001"/>
                        </a:ext>
                      </a:extLst>
                    </a:gridCol>
                    <a:gridCol w="3018390">
                      <a:extLst>
                        <a:ext uri="{9D8B030D-6E8A-4147-A177-3AD203B41FA5}">
                          <a16:colId xmlns:a16="http://schemas.microsoft.com/office/drawing/2014/main" val="20003"/>
                        </a:ext>
                      </a:extLst>
                    </a:gridCol>
                  </a:tblGrid>
                  <a:tr h="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Unsigned</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 Signed</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smtClean="0">
                                    <a:solidFill>
                                      <a:schemeClr val="tx1"/>
                                    </a:solidFill>
                                    <a:effectLst/>
                                    <a:latin typeface="Cambria Math"/>
                                  </a:rPr>
                                  <m:t>[</m:t>
                                </m:r>
                                <m:r>
                                  <a:rPr lang="en-US" sz="1800" b="0" i="1" smtClean="0">
                                    <a:solidFill>
                                      <a:schemeClr val="tx1"/>
                                    </a:solidFill>
                                    <a:effectLst/>
                                    <a:latin typeface="Cambria Math" panose="02040503050406030204" pitchFamily="18" charset="0"/>
                                  </a:rPr>
                                  <m:t>0</m:t>
                                </m:r>
                                <m:r>
                                  <a:rPr lang="en-US" sz="1800">
                                    <a:solidFill>
                                      <a:schemeClr val="tx1"/>
                                    </a:solidFill>
                                    <a:effectLst/>
                                    <a:latin typeface="Cambria Math"/>
                                  </a:rPr>
                                  <m:t>, </m:t>
                                </m:r>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r>
                                  <a:rPr lang="en-US" sz="1800" b="0" i="0" smtClean="0">
                                    <a:solidFill>
                                      <a:schemeClr val="tx1"/>
                                    </a:solidFill>
                                    <a:effectLst/>
                                    <a:latin typeface="Cambria Math" panose="02040503050406030204" pitchFamily="18" charset="0"/>
                                  </a:rPr>
                                  <m:t>−1</m:t>
                                </m:r>
                                <m:r>
                                  <a:rPr lang="en-US" sz="1800">
                                    <a:solidFill>
                                      <a:schemeClr val="tx1"/>
                                    </a:solidFill>
                                    <a:effectLst/>
                                    <a:latin typeface="Cambria Math"/>
                                  </a:rPr>
                                  <m:t>]</m:t>
                                </m:r>
                              </m:oMath>
                            </m:oMathPara>
                          </a14:m>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r>
                                  <a:rPr lang="en-US" sz="1800" smtClean="0">
                                    <a:solidFill>
                                      <a:schemeClr val="tx1"/>
                                    </a:solidFill>
                                    <a:effectLst/>
                                    <a:latin typeface="Cambria Math"/>
                                  </a:rPr>
                                  <m:t> [−</m:t>
                                </m:r>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r>
                                      <a:rPr lang="en-US" sz="1800">
                                        <a:solidFill>
                                          <a:schemeClr val="tx1"/>
                                        </a:solidFill>
                                        <a:effectLst/>
                                        <a:latin typeface="Cambria Math"/>
                                      </a:rPr>
                                      <m:t>−1</m:t>
                                    </m:r>
                                  </m:sup>
                                </m:sSup>
                                <m:r>
                                  <a:rPr lang="en-US" sz="1800">
                                    <a:solidFill>
                                      <a:schemeClr val="tx1"/>
                                    </a:solidFill>
                                    <a:effectLst/>
                                    <a:latin typeface="Cambria Math"/>
                                  </a:rPr>
                                  <m:t>, </m:t>
                                </m:r>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r>
                                      <a:rPr lang="en-US" sz="1800">
                                        <a:solidFill>
                                          <a:schemeClr val="tx1"/>
                                        </a:solidFill>
                                        <a:effectLst/>
                                        <a:latin typeface="Cambria Math"/>
                                      </a:rPr>
                                      <m:t>−1</m:t>
                                    </m:r>
                                  </m:sup>
                                </m:sSup>
                                <m:r>
                                  <a:rPr lang="en-US" sz="1800">
                                    <a:solidFill>
                                      <a:schemeClr val="tx1"/>
                                    </a:solidFill>
                                    <a:effectLst/>
                                    <a:latin typeface="Cambria Math"/>
                                  </a:rPr>
                                  <m:t>−1]</m:t>
                                </m:r>
                              </m:oMath>
                            </m:oMathPara>
                          </a14:m>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oMath>
                            </m:oMathPara>
                          </a14:m>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14:m>
                            <m:oMathPara xmlns:m="http://schemas.openxmlformats.org/officeDocument/2006/math">
                              <m:oMath>
                                <m:sSup>
                                  <m:sSupPr>
                                    <m:ctrlPr>
                                      <a:rPr lang="en-US" sz="1800">
                                        <a:solidFill>
                                          <a:schemeClr val="tx1"/>
                                        </a:solidFill>
                                        <a:effectLst/>
                                        <a:latin typeface="Cambria Math"/>
                                      </a:rPr>
                                    </m:ctrlPr>
                                  </m:sSupPr>
                                  <m:e>
                                    <m:r>
                                      <a:rPr lang="en-US" sz="1800">
                                        <a:solidFill>
                                          <a:schemeClr val="tx1"/>
                                        </a:solidFill>
                                        <a:effectLst/>
                                        <a:latin typeface="Cambria Math"/>
                                      </a:rPr>
                                      <m:t>2</m:t>
                                    </m:r>
                                  </m:e>
                                  <m:sup>
                                    <m:r>
                                      <a:rPr lang="en-US" sz="1800">
                                        <a:solidFill>
                                          <a:schemeClr val="tx1"/>
                                        </a:solidFill>
                                        <a:effectLst/>
                                        <a:latin typeface="Cambria Math"/>
                                      </a:rPr>
                                      <m:t>𝑛</m:t>
                                    </m:r>
                                  </m:sup>
                                </m:sSup>
                              </m:oMath>
                            </m:oMathPara>
                          </a14:m>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bl>
              </a:graphicData>
            </a:graphic>
          </p:graphicFrame>
        </mc:Choice>
        <mc:Fallback xmlns="">
          <p:graphicFrame>
            <p:nvGraphicFramePr>
              <p:cNvPr id="4" name="Table 3">
                <a:extLst>
                  <a:ext uri="{FF2B5EF4-FFF2-40B4-BE49-F238E27FC236}">
                    <a16:creationId xmlns:a16="http://schemas.microsoft.com/office/drawing/2014/main" id="{9CADBB08-95E4-B063-989E-5381B2268DF2}"/>
                  </a:ext>
                </a:extLst>
              </p:cNvPr>
              <p:cNvGraphicFramePr>
                <a:graphicFrameLocks noGrp="1"/>
              </p:cNvGraphicFramePr>
              <p:nvPr>
                <p:extLst>
                  <p:ext uri="{D42A27DB-BD31-4B8C-83A1-F6EECF244321}">
                    <p14:modId xmlns:p14="http://schemas.microsoft.com/office/powerpoint/2010/main" val="2037262524"/>
                  </p:ext>
                </p:extLst>
              </p:nvPr>
            </p:nvGraphicFramePr>
            <p:xfrm>
              <a:off x="6467710" y="3828994"/>
              <a:ext cx="5466080" cy="1539240"/>
            </p:xfrm>
            <a:graphic>
              <a:graphicData uri="http://schemas.openxmlformats.org/drawingml/2006/table">
                <a:tbl>
                  <a:tblPr firstRow="1" firstCol="1" bandRow="1">
                    <a:tableStyleId>{5C22544A-7EE6-4342-B048-85BDC9FD1C3A}</a:tableStyleId>
                  </a:tblPr>
                  <a:tblGrid>
                    <a:gridCol w="1181070">
                      <a:extLst>
                        <a:ext uri="{9D8B030D-6E8A-4147-A177-3AD203B41FA5}">
                          <a16:colId xmlns:a16="http://schemas.microsoft.com/office/drawing/2014/main" val="20000"/>
                        </a:ext>
                      </a:extLst>
                    </a:gridCol>
                    <a:gridCol w="1266620">
                      <a:extLst>
                        <a:ext uri="{9D8B030D-6E8A-4147-A177-3AD203B41FA5}">
                          <a16:colId xmlns:a16="http://schemas.microsoft.com/office/drawing/2014/main" val="20001"/>
                        </a:ext>
                      </a:extLst>
                    </a:gridCol>
                    <a:gridCol w="3018390">
                      <a:extLst>
                        <a:ext uri="{9D8B030D-6E8A-4147-A177-3AD203B41FA5}">
                          <a16:colId xmlns:a16="http://schemas.microsoft.com/office/drawing/2014/main" val="20003"/>
                        </a:ext>
                      </a:extLst>
                    </a:gridCol>
                  </a:tblGrid>
                  <a:tr h="274320">
                    <a:tc>
                      <a:txBody>
                        <a:bodyPr/>
                        <a:lstStyle/>
                        <a:p>
                          <a:pPr marL="0" marR="0" algn="just">
                            <a:spcBef>
                              <a:spcPts val="0"/>
                            </a:spcBef>
                            <a:spcAft>
                              <a:spcPts val="0"/>
                            </a:spcAft>
                          </a:pPr>
                          <a:r>
                            <a:rPr lang="en-US" sz="1800" dirty="0">
                              <a:effectLst/>
                            </a:rPr>
                            <a:t> </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Unsigned</a:t>
                          </a:r>
                          <a:endParaRPr lang="en-US" sz="18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effectLst/>
                            </a:rPr>
                            <a:t>Two’s Complement Signed</a:t>
                          </a:r>
                          <a:endParaRPr lang="en-US" sz="18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441960">
                    <a:tc>
                      <a:txBody>
                        <a:bodyPr/>
                        <a:lstStyle/>
                        <a:p>
                          <a:pPr marL="0" marR="0" algn="ctr">
                            <a:spcBef>
                              <a:spcPts val="0"/>
                            </a:spcBef>
                            <a:spcAft>
                              <a:spcPts val="0"/>
                            </a:spcAft>
                          </a:pPr>
                          <a:r>
                            <a:rPr lang="en-US" sz="1800" dirty="0">
                              <a:effectLst/>
                            </a:rPr>
                            <a:t>Range</a:t>
                          </a:r>
                          <a:endParaRPr lang="en-US" sz="1800" dirty="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93750" t="-80822" r="-240385" b="-215068"/>
                          </a:stretch>
                        </a:blipFill>
                      </a:tcPr>
                    </a:tc>
                    <a:tc>
                      <a:txBody>
                        <a:bodyPr/>
                        <a:lstStyle/>
                        <a:p>
                          <a:endParaRPr lang="en-US"/>
                        </a:p>
                      </a:txBody>
                      <a:tcPr marL="68580" marR="68580" marT="0" marB="0" anchor="ctr">
                        <a:blipFill>
                          <a:blip r:embed="rId4"/>
                          <a:stretch>
                            <a:fillRect l="-81250" t="-80822" r="-806" b="-215068"/>
                          </a:stretch>
                        </a:blipFill>
                      </a:tcPr>
                    </a:tc>
                    <a:extLst>
                      <a:ext uri="{0D108BD9-81ED-4DB2-BD59-A6C34878D82A}">
                        <a16:rowId xmlns:a16="http://schemas.microsoft.com/office/drawing/2014/main" val="10001"/>
                      </a:ext>
                    </a:extLst>
                  </a:tr>
                  <a:tr h="274320">
                    <a:tc>
                      <a:txBody>
                        <a:bodyPr/>
                        <a:lstStyle/>
                        <a:p>
                          <a:pPr marL="0" marR="0" algn="ctr">
                            <a:spcBef>
                              <a:spcPts val="0"/>
                            </a:spcBef>
                            <a:spcAft>
                              <a:spcPts val="0"/>
                            </a:spcAft>
                          </a:pPr>
                          <a:r>
                            <a:rPr lang="en-US" sz="1800">
                              <a:effectLst/>
                            </a:rPr>
                            <a:t>Zero</a:t>
                          </a:r>
                          <a:endParaRPr lang="en-US" sz="180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800" dirty="0">
                              <a:solidFill>
                                <a:schemeClr val="tx1"/>
                              </a:solidFill>
                              <a:effectLst/>
                            </a:rPr>
                            <a:t>One zero</a:t>
                          </a:r>
                          <a:endParaRPr lang="en-US" sz="1800" dirty="0">
                            <a:solidFill>
                              <a:schemeClr val="tx1"/>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548640">
                    <a:tc>
                      <a:txBody>
                        <a:bodyPr/>
                        <a:lstStyle/>
                        <a:p>
                          <a:pPr marL="0" marR="0" algn="ctr">
                            <a:spcBef>
                              <a:spcPts val="0"/>
                            </a:spcBef>
                            <a:spcAft>
                              <a:spcPts val="0"/>
                            </a:spcAft>
                          </a:pPr>
                          <a:r>
                            <a:rPr lang="en-US" sz="1800">
                              <a:effectLst/>
                            </a:rPr>
                            <a:t>Unique Numbers</a:t>
                          </a:r>
                          <a:endParaRPr lang="en-US" sz="1800">
                            <a:effectLst/>
                            <a:latin typeface="Palatino Linotype"/>
                            <a:ea typeface="宋体"/>
                            <a:cs typeface="Times New Roman"/>
                          </a:endParaRPr>
                        </a:p>
                      </a:txBody>
                      <a:tcPr marL="68580" marR="68580" marT="0" marB="0" anchor="ctr"/>
                    </a:tc>
                    <a:tc>
                      <a:txBody>
                        <a:bodyPr/>
                        <a:lstStyle/>
                        <a:p>
                          <a:endParaRPr lang="en-US"/>
                        </a:p>
                      </a:txBody>
                      <a:tcPr marL="68580" marR="68580" marT="0" marB="0" anchor="ctr">
                        <a:blipFill>
                          <a:blip r:embed="rId4"/>
                          <a:stretch>
                            <a:fillRect l="-93750" t="-196667" r="-240385" b="-24444"/>
                          </a:stretch>
                        </a:blipFill>
                      </a:tcPr>
                    </a:tc>
                    <a:tc>
                      <a:txBody>
                        <a:bodyPr/>
                        <a:lstStyle/>
                        <a:p>
                          <a:endParaRPr lang="en-US"/>
                        </a:p>
                      </a:txBody>
                      <a:tcPr marL="68580" marR="68580" marT="0" marB="0" anchor="ctr">
                        <a:blipFill>
                          <a:blip r:embed="rId4"/>
                          <a:stretch>
                            <a:fillRect l="-81250" t="-196667" r="-806" b="-24444"/>
                          </a:stretch>
                        </a:blipFill>
                      </a:tcPr>
                    </a:tc>
                    <a:extLst>
                      <a:ext uri="{0D108BD9-81ED-4DB2-BD59-A6C34878D82A}">
                        <a16:rowId xmlns:a16="http://schemas.microsoft.com/office/drawing/2014/main" val="10003"/>
                      </a:ext>
                    </a:extLst>
                  </a:tr>
                </a:tbl>
              </a:graphicData>
            </a:graphic>
          </p:graphicFrame>
        </mc:Fallback>
      </mc:AlternateContent>
    </p:spTree>
    <p:extLst>
      <p:ext uri="{BB962C8B-B14F-4D97-AF65-F5344CB8AC3E}">
        <p14:creationId xmlns:p14="http://schemas.microsoft.com/office/powerpoint/2010/main" val="1562305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15B04-437F-474A-B7BE-D630BA3FEA18}"/>
              </a:ext>
            </a:extLst>
          </p:cNvPr>
          <p:cNvSpPr>
            <a:spLocks noGrp="1"/>
          </p:cNvSpPr>
          <p:nvPr>
            <p:ph type="title"/>
          </p:nvPr>
        </p:nvSpPr>
        <p:spPr/>
        <p:txBody>
          <a:bodyPr>
            <a:normAutofit fontScale="90000"/>
          </a:bodyPr>
          <a:lstStyle/>
          <a:p>
            <a:r>
              <a:rPr lang="en-US" dirty="0"/>
              <a:t>Range of Signed Integers</a:t>
            </a:r>
            <a:br>
              <a:rPr lang="en-US" dirty="0"/>
            </a:br>
            <a:r>
              <a:rPr lang="en-US" dirty="0"/>
              <a:t>(Two’s Complement)</a:t>
            </a:r>
          </a:p>
        </p:txBody>
      </p:sp>
      <p:sp>
        <p:nvSpPr>
          <p:cNvPr id="3" name="Slide Number Placeholder 2">
            <a:extLst>
              <a:ext uri="{FF2B5EF4-FFF2-40B4-BE49-F238E27FC236}">
                <a16:creationId xmlns:a16="http://schemas.microsoft.com/office/drawing/2014/main" id="{CD769408-F06B-B447-9D5C-D530E6861A14}"/>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5" name="Table 4">
            <a:extLst>
              <a:ext uri="{FF2B5EF4-FFF2-40B4-BE49-F238E27FC236}">
                <a16:creationId xmlns:a16="http://schemas.microsoft.com/office/drawing/2014/main" id="{BC24311B-E1D8-904F-8F58-7536EEABD684}"/>
              </a:ext>
            </a:extLst>
          </p:cNvPr>
          <p:cNvGraphicFramePr>
            <a:graphicFrameLocks noGrp="1"/>
          </p:cNvGraphicFramePr>
          <p:nvPr>
            <p:extLst>
              <p:ext uri="{D42A27DB-BD31-4B8C-83A1-F6EECF244321}">
                <p14:modId xmlns:p14="http://schemas.microsoft.com/office/powerpoint/2010/main" val="3092357538"/>
              </p:ext>
            </p:extLst>
          </p:nvPr>
        </p:nvGraphicFramePr>
        <p:xfrm>
          <a:off x="1932071" y="4084077"/>
          <a:ext cx="8458200" cy="2330080"/>
        </p:xfrm>
        <a:graphic>
          <a:graphicData uri="http://schemas.openxmlformats.org/drawingml/2006/table">
            <a:tbl>
              <a:tblPr firstRow="1" bandRow="1">
                <a:tableStyleId>{5C22544A-7EE6-4342-B048-85BDC9FD1C3A}</a:tableStyleId>
              </a:tblPr>
              <a:tblGrid>
                <a:gridCol w="2362200">
                  <a:extLst>
                    <a:ext uri="{9D8B030D-6E8A-4147-A177-3AD203B41FA5}">
                      <a16:colId xmlns:a16="http://schemas.microsoft.com/office/drawing/2014/main" val="3190717045"/>
                    </a:ext>
                  </a:extLst>
                </a:gridCol>
                <a:gridCol w="4421981">
                  <a:extLst>
                    <a:ext uri="{9D8B030D-6E8A-4147-A177-3AD203B41FA5}">
                      <a16:colId xmlns:a16="http://schemas.microsoft.com/office/drawing/2014/main" val="1430391139"/>
                    </a:ext>
                  </a:extLst>
                </a:gridCol>
                <a:gridCol w="1674019">
                  <a:extLst>
                    <a:ext uri="{9D8B030D-6E8A-4147-A177-3AD203B41FA5}">
                      <a16:colId xmlns:a16="http://schemas.microsoft.com/office/drawing/2014/main" val="2800719782"/>
                    </a:ext>
                  </a:extLst>
                </a:gridCol>
              </a:tblGrid>
              <a:tr h="422500">
                <a:tc>
                  <a:txBody>
                    <a:bodyPr/>
                    <a:lstStyle/>
                    <a:p>
                      <a:r>
                        <a:rPr lang="en-US" dirty="0"/>
                        <a:t>Storage Size</a:t>
                      </a:r>
                    </a:p>
                  </a:txBody>
                  <a:tcPr/>
                </a:tc>
                <a:tc>
                  <a:txBody>
                    <a:bodyPr/>
                    <a:lstStyle/>
                    <a:p>
                      <a:r>
                        <a:rPr lang="en-US" dirty="0"/>
                        <a:t>Range</a:t>
                      </a:r>
                    </a:p>
                  </a:txBody>
                  <a:tcPr/>
                </a:tc>
                <a:tc>
                  <a:txBody>
                    <a:bodyPr/>
                    <a:lstStyle/>
                    <a:p>
                      <a:r>
                        <a:rPr lang="en-US" dirty="0"/>
                        <a:t>Powers of 2</a:t>
                      </a:r>
                    </a:p>
                  </a:txBody>
                  <a:tcPr/>
                </a:tc>
                <a:extLst>
                  <a:ext uri="{0D108BD9-81ED-4DB2-BD59-A6C34878D82A}">
                    <a16:rowId xmlns:a16="http://schemas.microsoft.com/office/drawing/2014/main" val="620067711"/>
                  </a:ext>
                </a:extLst>
              </a:tr>
              <a:tr h="422500">
                <a:tc>
                  <a:txBody>
                    <a:bodyPr/>
                    <a:lstStyle/>
                    <a:p>
                      <a:r>
                        <a:rPr lang="en-US" dirty="0"/>
                        <a:t>Signed Byte</a:t>
                      </a:r>
                    </a:p>
                  </a:txBody>
                  <a:tcPr/>
                </a:tc>
                <a:tc>
                  <a:txBody>
                    <a:bodyPr/>
                    <a:lstStyle/>
                    <a:p>
                      <a:r>
                        <a:rPr lang="en-US" dirty="0">
                          <a:latin typeface="Consolas" panose="020B0609020204030204" pitchFamily="49" charset="0"/>
                          <a:cs typeface="Consolas" panose="020B0609020204030204" pitchFamily="49" charset="0"/>
                        </a:rPr>
                        <a:t>-128 to +127</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7</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7</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1374279697"/>
                  </a:ext>
                </a:extLst>
              </a:tr>
              <a:tr h="422500">
                <a:tc>
                  <a:txBody>
                    <a:bodyPr/>
                    <a:lstStyle/>
                    <a:p>
                      <a:r>
                        <a:rPr lang="en-US" dirty="0"/>
                        <a:t>Signed half-word</a:t>
                      </a:r>
                    </a:p>
                  </a:txBody>
                  <a:tcPr/>
                </a:tc>
                <a:tc>
                  <a:txBody>
                    <a:bodyPr/>
                    <a:lstStyle/>
                    <a:p>
                      <a:r>
                        <a:rPr lang="en-US" dirty="0">
                          <a:latin typeface="Consolas" panose="020B0609020204030204" pitchFamily="49" charset="0"/>
                          <a:cs typeface="Consolas" panose="020B0609020204030204" pitchFamily="49" charset="0"/>
                        </a:rPr>
                        <a:t>-32,768 to +32,767</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15</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15</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695154742"/>
                  </a:ext>
                </a:extLst>
              </a:tr>
              <a:tr h="422500">
                <a:tc>
                  <a:txBody>
                    <a:bodyPr/>
                    <a:lstStyle/>
                    <a:p>
                      <a:r>
                        <a:rPr lang="en-US" dirty="0"/>
                        <a:t>Signed Word</a:t>
                      </a:r>
                    </a:p>
                  </a:txBody>
                  <a:tcPr/>
                </a:tc>
                <a:tc>
                  <a:txBody>
                    <a:bodyPr/>
                    <a:lstStyle/>
                    <a:p>
                      <a:r>
                        <a:rPr lang="en-US" dirty="0">
                          <a:latin typeface="Consolas" panose="020B0609020204030204" pitchFamily="49" charset="0"/>
                          <a:cs typeface="Consolas" panose="020B0609020204030204" pitchFamily="49" charset="0"/>
                        </a:rPr>
                        <a:t>-2,147,483,648 to +2,147,483,647 </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31</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31</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3261474874"/>
                  </a:ext>
                </a:extLst>
              </a:tr>
              <a:tr h="422500">
                <a:tc>
                  <a:txBody>
                    <a:bodyPr/>
                    <a:lstStyle/>
                    <a:p>
                      <a:r>
                        <a:rPr lang="en-US" dirty="0"/>
                        <a:t>Signed Double-word</a:t>
                      </a:r>
                    </a:p>
                  </a:txBody>
                  <a:tcPr/>
                </a:tc>
                <a:tc>
                  <a:txBody>
                    <a:bodyPr/>
                    <a:lstStyle/>
                    <a:p>
                      <a:r>
                        <a:rPr lang="en-US" dirty="0">
                          <a:latin typeface="Consolas" panose="020B0609020204030204" pitchFamily="49" charset="0"/>
                          <a:cs typeface="Consolas" panose="020B0609020204030204" pitchFamily="49" charset="0"/>
                        </a:rPr>
                        <a:t>-9,223,372,036,854,775,808 to   </a:t>
                      </a:r>
                    </a:p>
                    <a:p>
                      <a:r>
                        <a:rPr lang="en-US" dirty="0">
                          <a:latin typeface="Consolas" panose="020B0609020204030204" pitchFamily="49" charset="0"/>
                          <a:cs typeface="Consolas" panose="020B0609020204030204" pitchFamily="49" charset="0"/>
                        </a:rPr>
                        <a:t>+9,223,372,036,854,775,807 </a:t>
                      </a:r>
                    </a:p>
                  </a:txBody>
                  <a:tcPr/>
                </a:tc>
                <a:tc>
                  <a:txBody>
                    <a:bodyPr/>
                    <a:lstStyle/>
                    <a:p>
                      <a:r>
                        <a:rPr lang="en-US" dirty="0">
                          <a:latin typeface="Consolas" panose="020B0609020204030204" pitchFamily="49" charset="0"/>
                          <a:cs typeface="Consolas" panose="020B0609020204030204" pitchFamily="49" charset="0"/>
                        </a:rPr>
                        <a:t>-2</a:t>
                      </a:r>
                      <a:r>
                        <a:rPr lang="en-US" baseline="30000" dirty="0">
                          <a:latin typeface="Consolas" panose="020B0609020204030204" pitchFamily="49" charset="0"/>
                          <a:cs typeface="Consolas" panose="020B0609020204030204" pitchFamily="49" charset="0"/>
                        </a:rPr>
                        <a:t>63</a:t>
                      </a:r>
                      <a:r>
                        <a:rPr lang="en-US" dirty="0">
                          <a:latin typeface="Consolas" panose="020B0609020204030204" pitchFamily="49" charset="0"/>
                          <a:cs typeface="Consolas" panose="020B0609020204030204" pitchFamily="49" charset="0"/>
                        </a:rPr>
                        <a:t> to 2</a:t>
                      </a:r>
                      <a:r>
                        <a:rPr lang="en-US" baseline="30000" dirty="0">
                          <a:latin typeface="Consolas" panose="020B0609020204030204" pitchFamily="49" charset="0"/>
                          <a:cs typeface="Consolas" panose="020B0609020204030204" pitchFamily="49" charset="0"/>
                        </a:rPr>
                        <a:t>63</a:t>
                      </a:r>
                      <a:r>
                        <a:rPr lang="en-US" dirty="0">
                          <a:latin typeface="Consolas" panose="020B0609020204030204" pitchFamily="49" charset="0"/>
                          <a:cs typeface="Consolas" panose="020B0609020204030204" pitchFamily="49" charset="0"/>
                        </a:rPr>
                        <a:t>-1</a:t>
                      </a:r>
                    </a:p>
                  </a:txBody>
                  <a:tcPr/>
                </a:tc>
                <a:extLst>
                  <a:ext uri="{0D108BD9-81ED-4DB2-BD59-A6C34878D82A}">
                    <a16:rowId xmlns:a16="http://schemas.microsoft.com/office/drawing/2014/main" val="2526923844"/>
                  </a:ext>
                </a:extLst>
              </a:tr>
            </a:tbl>
          </a:graphicData>
        </a:graphic>
      </p:graphicFrame>
      <p:pic>
        <p:nvPicPr>
          <p:cNvPr id="6" name="Picture 2">
            <a:extLst>
              <a:ext uri="{FF2B5EF4-FFF2-40B4-BE49-F238E27FC236}">
                <a16:creationId xmlns:a16="http://schemas.microsoft.com/office/drawing/2014/main" id="{7ED386D6-DCF5-5F49-B79D-9DCD839335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750342" cy="2667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09495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a:t>
            </a:r>
            <a:r>
              <a:rPr lang="en-US" altLang="zh-CN" dirty="0"/>
              <a:t>F</a:t>
            </a:r>
            <a:r>
              <a:rPr lang="en-US" dirty="0"/>
              <a:t>lag for Signed Arithmetic</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p:cNvSpPr>
            <a:spLocks noGrp="1"/>
          </p:cNvSpPr>
          <p:nvPr>
            <p:ph sz="quarter" idx="1"/>
          </p:nvPr>
        </p:nvSpPr>
        <p:spPr/>
        <p:txBody>
          <a:bodyPr>
            <a:normAutofit fontScale="92500"/>
          </a:bodyPr>
          <a:lstStyle/>
          <a:p>
            <a:r>
              <a:rPr lang="en-US" dirty="0"/>
              <a:t>When adding signed numbers represented in two’s complement, overflow occurs only in two scenarios: </a:t>
            </a:r>
          </a:p>
          <a:p>
            <a:pPr marL="731520" lvl="1" indent="-457200">
              <a:buFont typeface="+mj-lt"/>
              <a:buAutoNum type="arabicPeriod"/>
            </a:pPr>
            <a:r>
              <a:rPr lang="en-US" dirty="0"/>
              <a:t>adding two positive numbers but getting a non-positive result, or </a:t>
            </a:r>
          </a:p>
          <a:p>
            <a:pPr marL="731520" lvl="1" indent="-457200">
              <a:buFont typeface="+mj-lt"/>
              <a:buAutoNum type="arabicPeriod"/>
            </a:pPr>
            <a:r>
              <a:rPr lang="en-US" dirty="0"/>
              <a:t>adding two negative numbers but yielding a non-negative result. </a:t>
            </a:r>
          </a:p>
          <a:p>
            <a:endParaRPr lang="en-US" dirty="0"/>
          </a:p>
          <a:p>
            <a:r>
              <a:rPr lang="en-US" dirty="0"/>
              <a:t>Similarly, when subtracting signed numbers, overflow occurs in two scenarios: </a:t>
            </a:r>
          </a:p>
          <a:p>
            <a:pPr marL="731520" lvl="1" indent="-457200">
              <a:buFont typeface="+mj-lt"/>
              <a:buAutoNum type="arabicPeriod"/>
            </a:pPr>
            <a:r>
              <a:rPr lang="en-US" dirty="0"/>
              <a:t>subtracting a positive number from a negative number but getting a positive result, or </a:t>
            </a:r>
          </a:p>
          <a:p>
            <a:pPr marL="731520" lvl="1" indent="-457200">
              <a:buFont typeface="+mj-lt"/>
              <a:buAutoNum type="arabicPeriod"/>
            </a:pPr>
            <a:r>
              <a:rPr lang="en-US" dirty="0"/>
              <a:t>subtracting a negative number from a positive number but producing a negative result.</a:t>
            </a:r>
          </a:p>
          <a:p>
            <a:endParaRPr lang="en-US" dirty="0"/>
          </a:p>
          <a:p>
            <a:r>
              <a:rPr lang="en-US" dirty="0"/>
              <a:t>Overflow cannot occur when adding operands with different signs or when subtracting operands with the same signs. </a:t>
            </a:r>
          </a:p>
          <a:p>
            <a:pPr lvl="1"/>
            <a:r>
              <a:rPr lang="en-US" dirty="0"/>
              <a:t>Why?</a:t>
            </a:r>
          </a:p>
        </p:txBody>
      </p:sp>
    </p:spTree>
    <p:extLst>
      <p:ext uri="{BB962C8B-B14F-4D97-AF65-F5344CB8AC3E}">
        <p14:creationId xmlns:p14="http://schemas.microsoft.com/office/powerpoint/2010/main" val="25188066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a:t>
            </a:r>
            <a:r>
              <a:rPr lang="en-US" altLang="zh-CN" dirty="0"/>
              <a:t>F</a:t>
            </a:r>
            <a:r>
              <a:rPr lang="en-US" dirty="0"/>
              <a:t>lag for Signed Arithmetic</a:t>
            </a:r>
          </a:p>
        </p:txBody>
      </p:sp>
      <p:sp>
        <p:nvSpPr>
          <p:cNvPr id="3" name="Slide Number Placeholder 2"/>
          <p:cNvSpPr>
            <a:spLocks noGrp="1"/>
          </p:cNvSpPr>
          <p:nvPr>
            <p:ph type="sldNum" sz="quarter" idx="4294967295"/>
          </p:nvPr>
        </p:nvSpPr>
        <p:spPr>
          <a:xfrm>
            <a:off x="2136648" y="635635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24</a:t>
            </a:fld>
            <a:endParaRPr lang="en-US" dirty="0">
              <a:solidFill>
                <a:srgbClr val="1F497D"/>
              </a:solidFill>
              <a:latin typeface="Gill Sans MT"/>
            </a:endParaRPr>
          </a:p>
        </p:txBody>
      </p:sp>
      <p:sp>
        <p:nvSpPr>
          <p:cNvPr id="4" name="Content Placeholder 3"/>
          <p:cNvSpPr>
            <a:spLocks noGrp="1"/>
          </p:cNvSpPr>
          <p:nvPr>
            <p:ph sz="quarter" idx="1"/>
          </p:nvPr>
        </p:nvSpPr>
        <p:spPr/>
        <p:txBody>
          <a:bodyPr>
            <a:normAutofit fontScale="85000" lnSpcReduction="20000"/>
          </a:bodyPr>
          <a:lstStyle/>
          <a:p>
            <a:r>
              <a:rPr lang="en-US" dirty="0"/>
              <a:t>Overflow cannot occur when adding 2 operands with different signs or when subtracting 2 operands with the same sign. Proof:</a:t>
            </a:r>
          </a:p>
          <a:p>
            <a:r>
              <a:rPr lang="en-US" dirty="0"/>
              <a:t>A n-bit signed int has the range [-2</a:t>
            </a:r>
            <a:r>
              <a:rPr lang="en-US" baseline="30000" dirty="0"/>
              <a:t>n-1</a:t>
            </a:r>
            <a:r>
              <a:rPr lang="en-US" dirty="0"/>
              <a:t>, 2</a:t>
            </a:r>
            <a:r>
              <a:rPr lang="en-US" baseline="30000" dirty="0"/>
              <a:t>n-1</a:t>
            </a:r>
            <a:r>
              <a:rPr lang="en-US" dirty="0"/>
              <a:t>-1]</a:t>
            </a:r>
          </a:p>
          <a:p>
            <a:pPr lvl="1"/>
            <a:r>
              <a:rPr lang="en-US" dirty="0"/>
              <a:t>n = 5, number range </a:t>
            </a:r>
            <a:r>
              <a:rPr lang="en-US" altLang="zh-CN" dirty="0"/>
              <a:t>[-16, 15]</a:t>
            </a:r>
            <a:endParaRPr lang="en-US" dirty="0"/>
          </a:p>
          <a:p>
            <a:r>
              <a:rPr lang="en-US" dirty="0"/>
              <a:t>2 </a:t>
            </a:r>
            <a:r>
              <a:rPr lang="en-US" altLang="zh-CN" dirty="0"/>
              <a:t>operands with different signs: positive one in the range of [0, 2</a:t>
            </a:r>
            <a:r>
              <a:rPr lang="en-US" altLang="zh-CN" baseline="30000" dirty="0"/>
              <a:t>n-1</a:t>
            </a:r>
            <a:r>
              <a:rPr lang="en-US" altLang="zh-CN" dirty="0"/>
              <a:t>-1], negative one in the range of [-2</a:t>
            </a:r>
            <a:r>
              <a:rPr lang="en-US" altLang="zh-CN" baseline="30000" dirty="0"/>
              <a:t>n-1</a:t>
            </a:r>
            <a:r>
              <a:rPr lang="en-US" altLang="zh-CN" dirty="0"/>
              <a:t>, -1]. So the range of their sum must be [0-2</a:t>
            </a:r>
            <a:r>
              <a:rPr lang="en-US" altLang="zh-CN" baseline="30000" dirty="0"/>
              <a:t>n-1</a:t>
            </a:r>
            <a:r>
              <a:rPr lang="en-US" altLang="zh-CN" dirty="0"/>
              <a:t>, 2</a:t>
            </a:r>
            <a:r>
              <a:rPr lang="en-US" altLang="zh-CN" baseline="30000" dirty="0"/>
              <a:t>n-1</a:t>
            </a:r>
            <a:r>
              <a:rPr lang="en-US" altLang="zh-CN" dirty="0"/>
              <a:t>-1+(-1)]=[-2</a:t>
            </a:r>
            <a:r>
              <a:rPr lang="en-US" altLang="zh-CN" baseline="30000" dirty="0"/>
              <a:t>n-1</a:t>
            </a:r>
            <a:r>
              <a:rPr lang="en-US" altLang="zh-CN" dirty="0"/>
              <a:t>, 2</a:t>
            </a:r>
            <a:r>
              <a:rPr lang="en-US" altLang="zh-CN" baseline="30000" dirty="0"/>
              <a:t>n-1</a:t>
            </a:r>
            <a:r>
              <a:rPr lang="en-US" altLang="zh-CN" dirty="0"/>
              <a:t>-2] </a:t>
            </a:r>
            <a:r>
              <a:rPr lang="en-US" sz="2700" dirty="0">
                <a:solidFill>
                  <a:srgbClr val="56127A"/>
                </a:solidFill>
                <a:latin typeface="Symbol" charset="2"/>
              </a:rPr>
              <a:t>Î</a:t>
            </a:r>
            <a:r>
              <a:rPr lang="en-US" dirty="0"/>
              <a:t>[-2</a:t>
            </a:r>
            <a:r>
              <a:rPr lang="en-US" baseline="30000" dirty="0"/>
              <a:t>n-1</a:t>
            </a:r>
            <a:r>
              <a:rPr lang="en-US" dirty="0"/>
              <a:t>, 2</a:t>
            </a:r>
            <a:r>
              <a:rPr lang="en-US" baseline="30000" dirty="0"/>
              <a:t>n-1</a:t>
            </a:r>
            <a:r>
              <a:rPr lang="en-US" dirty="0"/>
              <a:t>-1] </a:t>
            </a:r>
            <a:r>
              <a:rPr lang="en-US" dirty="0">
                <a:sym typeface="Wingdings" panose="05000000000000000000" pitchFamily="2" charset="2"/>
              </a:rPr>
              <a:t> No overflow!</a:t>
            </a:r>
            <a:endParaRPr lang="en-US" dirty="0"/>
          </a:p>
          <a:p>
            <a:pPr lvl="1"/>
            <a:r>
              <a:rPr lang="en-US" altLang="zh-CN" dirty="0"/>
              <a:t>Positive number range [0, 15], negative number range [-16, -1]. Range of their sum [0-16, 15-1]=[-16, 14]</a:t>
            </a:r>
          </a:p>
          <a:p>
            <a:r>
              <a:rPr lang="en-US" dirty="0"/>
              <a:t>2 </a:t>
            </a:r>
            <a:r>
              <a:rPr lang="en-US" altLang="zh-CN" dirty="0"/>
              <a:t>operands with the same sign: if both are positive and in the range of [0, 2</a:t>
            </a:r>
            <a:r>
              <a:rPr lang="en-US" altLang="zh-CN" baseline="30000" dirty="0"/>
              <a:t>n-1</a:t>
            </a:r>
            <a:r>
              <a:rPr lang="en-US" altLang="zh-CN" dirty="0"/>
              <a:t>-1], then the range of their difference must be [0-(2</a:t>
            </a:r>
            <a:r>
              <a:rPr lang="en-US" altLang="zh-CN" baseline="30000" dirty="0"/>
              <a:t>n-1</a:t>
            </a:r>
            <a:r>
              <a:rPr lang="en-US" altLang="zh-CN" dirty="0"/>
              <a:t>-1), 2</a:t>
            </a:r>
            <a:r>
              <a:rPr lang="en-US" altLang="zh-CN" baseline="30000" dirty="0"/>
              <a:t>n-1</a:t>
            </a:r>
            <a:r>
              <a:rPr lang="en-US" altLang="zh-CN" dirty="0"/>
              <a:t>-1-0]=[-(2</a:t>
            </a:r>
            <a:r>
              <a:rPr lang="en-US" altLang="zh-CN" baseline="30000" dirty="0"/>
              <a:t>n-1</a:t>
            </a:r>
            <a:r>
              <a:rPr lang="en-US" altLang="zh-CN" dirty="0"/>
              <a:t>-1), 2</a:t>
            </a:r>
            <a:r>
              <a:rPr lang="en-US" altLang="zh-CN" baseline="30000" dirty="0"/>
              <a:t>n-1</a:t>
            </a:r>
            <a:r>
              <a:rPr lang="en-US" altLang="zh-CN" dirty="0"/>
              <a:t>-1]; if both are negative and in the range of [-2</a:t>
            </a:r>
            <a:r>
              <a:rPr lang="en-US" altLang="zh-CN" baseline="30000" dirty="0"/>
              <a:t>n-1</a:t>
            </a:r>
            <a:r>
              <a:rPr lang="en-US" altLang="zh-CN" dirty="0"/>
              <a:t>, -1], then the range of their difference must be [-2</a:t>
            </a:r>
            <a:r>
              <a:rPr lang="en-US" altLang="zh-CN" baseline="30000" dirty="0"/>
              <a:t>n-1</a:t>
            </a:r>
            <a:r>
              <a:rPr lang="en-US" altLang="zh-CN" dirty="0"/>
              <a:t>-(-1), -1-(-2</a:t>
            </a:r>
            <a:r>
              <a:rPr lang="en-US" altLang="zh-CN" baseline="30000" dirty="0"/>
              <a:t>n-1</a:t>
            </a:r>
            <a:r>
              <a:rPr lang="en-US" altLang="zh-CN" dirty="0"/>
              <a:t>)]=[-2</a:t>
            </a:r>
            <a:r>
              <a:rPr lang="en-US" altLang="zh-CN" baseline="30000" dirty="0"/>
              <a:t>n-1</a:t>
            </a:r>
            <a:r>
              <a:rPr lang="en-US" altLang="zh-CN" dirty="0"/>
              <a:t>+1, 2</a:t>
            </a:r>
            <a:r>
              <a:rPr lang="en-US" altLang="zh-CN" baseline="30000" dirty="0"/>
              <a:t>n-1</a:t>
            </a:r>
            <a:r>
              <a:rPr lang="en-US" altLang="zh-CN" dirty="0"/>
              <a:t>-1] </a:t>
            </a:r>
            <a:r>
              <a:rPr lang="en-US" sz="2300" dirty="0">
                <a:solidFill>
                  <a:srgbClr val="56127A"/>
                </a:solidFill>
                <a:latin typeface="Symbol" charset="2"/>
              </a:rPr>
              <a:t>Î </a:t>
            </a:r>
            <a:r>
              <a:rPr lang="en-US" dirty="0"/>
              <a:t>[-2</a:t>
            </a:r>
            <a:r>
              <a:rPr lang="en-US" baseline="30000" dirty="0"/>
              <a:t>n-1</a:t>
            </a:r>
            <a:r>
              <a:rPr lang="en-US" dirty="0"/>
              <a:t>, 2</a:t>
            </a:r>
            <a:r>
              <a:rPr lang="en-US" baseline="30000" dirty="0"/>
              <a:t>n-1</a:t>
            </a:r>
            <a:r>
              <a:rPr lang="en-US" dirty="0"/>
              <a:t>-1] </a:t>
            </a:r>
            <a:r>
              <a:rPr lang="en-US" dirty="0">
                <a:sym typeface="Wingdings" panose="05000000000000000000" pitchFamily="2" charset="2"/>
              </a:rPr>
              <a:t> No overflow!</a:t>
            </a:r>
            <a:endParaRPr lang="en-US" dirty="0"/>
          </a:p>
          <a:p>
            <a:pPr lvl="1"/>
            <a:r>
              <a:rPr lang="en-US" dirty="0"/>
              <a:t>Both positive numbers </a:t>
            </a:r>
            <a:r>
              <a:rPr lang="en-US" altLang="zh-CN" dirty="0"/>
              <a:t>[0, 15], range of difference [0-15, 15-0]=[-15, 15]</a:t>
            </a:r>
          </a:p>
          <a:p>
            <a:pPr lvl="1"/>
            <a:r>
              <a:rPr lang="en-US" dirty="0"/>
              <a:t>Both negative numbers </a:t>
            </a:r>
            <a:r>
              <a:rPr lang="en-US" altLang="zh-CN" dirty="0"/>
              <a:t>[-16, -1], range of difference [-16-(-1), -1-(-16)]=[-15, 15]</a:t>
            </a:r>
            <a:endParaRPr lang="en-US" dirty="0"/>
          </a:p>
        </p:txBody>
      </p:sp>
    </p:spTree>
    <p:extLst>
      <p:ext uri="{BB962C8B-B14F-4D97-AF65-F5344CB8AC3E}">
        <p14:creationId xmlns:p14="http://schemas.microsoft.com/office/powerpoint/2010/main" val="26049753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Overflow for Signed </a:t>
            </a:r>
            <a:r>
              <a:rPr lang="en-US" altLang="zh-CN" dirty="0"/>
              <a:t>Add</a:t>
            </a:r>
            <a:endParaRPr lang="en-US" dirty="0"/>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25</a:t>
            </a:fld>
            <a:endParaRPr kumimoji="0" lang="en-US"/>
          </a:p>
        </p:txBody>
      </p:sp>
      <p:pic>
        <p:nvPicPr>
          <p:cNvPr id="389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1295400"/>
            <a:ext cx="3429000" cy="33473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p:cNvSpPr/>
          <p:nvPr/>
        </p:nvSpPr>
        <p:spPr>
          <a:xfrm>
            <a:off x="2209800" y="4805231"/>
            <a:ext cx="2819400" cy="923330"/>
          </a:xfrm>
          <a:prstGeom prst="rect">
            <a:avLst/>
          </a:prstGeom>
        </p:spPr>
        <p:txBody>
          <a:bodyPr wrap="square">
            <a:spAutoFit/>
          </a:bodyPr>
          <a:lstStyle/>
          <a:p>
            <a:r>
              <a:rPr lang="en-US" dirty="0"/>
              <a:t>Overflow occurs when adding two positive integers but getting a negative result.</a:t>
            </a:r>
          </a:p>
        </p:txBody>
      </p:sp>
      <p:pic>
        <p:nvPicPr>
          <p:cNvPr id="48130"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05601" y="1899056"/>
            <a:ext cx="3193883" cy="19526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sp>
            <p:nvSpPr>
              <p:cNvPr id="4" name="Rectangle 3"/>
              <p:cNvSpPr/>
              <p:nvPr/>
            </p:nvSpPr>
            <p:spPr>
              <a:xfrm>
                <a:off x="6016541" y="4185056"/>
                <a:ext cx="4572000" cy="1225144"/>
              </a:xfrm>
              <a:prstGeom prst="rect">
                <a:avLst/>
              </a:prstGeom>
            </p:spPr>
            <p:txBody>
              <a:bodyPr>
                <a:spAutoFit/>
              </a:bodyPr>
              <a:lstStyle/>
              <a:p>
                <a:pPr marL="342900" indent="-342900">
                  <a:buFont typeface="+mj-lt"/>
                  <a:buAutoNum type="arabicPeriod"/>
                </a:pPr>
                <a:r>
                  <a:rPr lang="en-US" dirty="0"/>
                  <a:t>On addition, overflow occurs if </a:t>
                </a:r>
                <a14:m>
                  <m:oMath xmlns:m="http://schemas.openxmlformats.org/officeDocument/2006/math">
                    <m:r>
                      <a:rPr lang="en-US" i="1">
                        <a:latin typeface="Cambria Math"/>
                      </a:rPr>
                      <m:t>𝑠𝑢𝑚</m:t>
                    </m:r>
                    <m:r>
                      <a:rPr lang="en-US" i="1">
                        <a:latin typeface="Cambria Math"/>
                      </a:rPr>
                      <m:t>≥</m:t>
                    </m:r>
                    <m:sSup>
                      <m:sSupPr>
                        <m:ctrlPr>
                          <a:rPr lang="en-US" i="1">
                            <a:latin typeface="Cambria Math"/>
                          </a:rPr>
                        </m:ctrlPr>
                      </m:sSupPr>
                      <m:e>
                        <m:r>
                          <a:rPr lang="en-US" i="1">
                            <a:latin typeface="Cambria Math"/>
                          </a:rPr>
                          <m:t>2</m:t>
                        </m:r>
                      </m:e>
                      <m:sup>
                        <m:r>
                          <a:rPr lang="en-US" i="1">
                            <a:latin typeface="Cambria Math"/>
                          </a:rPr>
                          <m:t>4</m:t>
                        </m:r>
                      </m:sup>
                    </m:sSup>
                  </m:oMath>
                </a14:m>
                <a:r>
                  <a:rPr lang="en-US" dirty="0"/>
                  <a:t>  when adding two positives.</a:t>
                </a:r>
              </a:p>
              <a:p>
                <a:pPr marL="342900" indent="-342900">
                  <a:buFont typeface="+mj-lt"/>
                  <a:buAutoNum type="arabicPeriod"/>
                </a:pPr>
                <a:r>
                  <a:rPr lang="en-US" dirty="0"/>
                  <a:t>Overflow never occurs when adding two numbers with different signs.</a:t>
                </a:r>
              </a:p>
            </p:txBody>
          </p:sp>
        </mc:Choice>
        <mc:Fallback xmlns="">
          <p:sp>
            <p:nvSpPr>
              <p:cNvPr id="4" name="Rectangle 3"/>
              <p:cNvSpPr>
                <a:spLocks noRot="1" noChangeAspect="1" noMove="1" noResize="1" noEditPoints="1" noAdjustHandles="1" noChangeArrowheads="1" noChangeShapeType="1" noTextEdit="1"/>
              </p:cNvSpPr>
              <p:nvPr/>
            </p:nvSpPr>
            <p:spPr>
              <a:xfrm>
                <a:off x="6016541" y="4185056"/>
                <a:ext cx="4572000" cy="1225144"/>
              </a:xfrm>
              <a:prstGeom prst="rect">
                <a:avLst/>
              </a:prstGeom>
              <a:blipFill>
                <a:blip r:embed="rId5"/>
                <a:stretch>
                  <a:fillRect l="-831" t="-2041" b="-4082"/>
                </a:stretch>
              </a:blipFill>
            </p:spPr>
            <p:txBody>
              <a:bodyPr/>
              <a:lstStyle/>
              <a:p>
                <a:r>
                  <a:rPr lang="en-US">
                    <a:noFill/>
                  </a:rPr>
                  <a:t> </a:t>
                </a:r>
              </a:p>
            </p:txBody>
          </p:sp>
        </mc:Fallback>
      </mc:AlternateContent>
    </p:spTree>
    <p:extLst>
      <p:ext uri="{BB962C8B-B14F-4D97-AF65-F5344CB8AC3E}">
        <p14:creationId xmlns:p14="http://schemas.microsoft.com/office/powerpoint/2010/main" val="319654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Overflow for Signed Add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26</a:t>
            </a:fld>
            <a:endParaRPr kumimoji="0" lang="en-US"/>
          </a:p>
        </p:txBody>
      </p:sp>
      <p:pic>
        <p:nvPicPr>
          <p:cNvPr id="3891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2782" y="1295399"/>
            <a:ext cx="3434976" cy="3352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p:cNvSpPr/>
          <p:nvPr/>
        </p:nvSpPr>
        <p:spPr>
          <a:xfrm>
            <a:off x="2541562" y="4876800"/>
            <a:ext cx="2944839" cy="923330"/>
          </a:xfrm>
          <a:prstGeom prst="rect">
            <a:avLst/>
          </a:prstGeom>
        </p:spPr>
        <p:txBody>
          <a:bodyPr wrap="square">
            <a:spAutoFit/>
          </a:bodyPr>
          <a:lstStyle/>
          <a:p>
            <a:r>
              <a:rPr lang="en-US" dirty="0"/>
              <a:t>Overflow occurs when adding two negative integers but getting a positive result.</a:t>
            </a:r>
          </a:p>
        </p:txBody>
      </p:sp>
      <p:pic>
        <p:nvPicPr>
          <p:cNvPr id="49154"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48401" y="1752600"/>
            <a:ext cx="4006791" cy="21669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mc:AlternateContent xmlns:mc="http://schemas.openxmlformats.org/markup-compatibility/2006" xmlns:a14="http://schemas.microsoft.com/office/drawing/2010/main">
        <mc:Choice Requires="a14">
          <p:sp>
            <p:nvSpPr>
              <p:cNvPr id="4" name="Rectangle 3"/>
              <p:cNvSpPr/>
              <p:nvPr/>
            </p:nvSpPr>
            <p:spPr>
              <a:xfrm>
                <a:off x="7391401" y="4251821"/>
                <a:ext cx="3108723" cy="948145"/>
              </a:xfrm>
              <a:prstGeom prst="rect">
                <a:avLst/>
              </a:prstGeom>
            </p:spPr>
            <p:txBody>
              <a:bodyPr wrap="square">
                <a:spAutoFit/>
              </a:bodyPr>
              <a:lstStyle/>
              <a:p>
                <a:r>
                  <a:rPr lang="en-US" dirty="0"/>
                  <a:t>On addition, overflow occurs if </a:t>
                </a:r>
                <a14:m>
                  <m:oMath xmlns:m="http://schemas.openxmlformats.org/officeDocument/2006/math">
                    <m:r>
                      <a:rPr lang="en-US" i="1">
                        <a:latin typeface="Cambria Math"/>
                      </a:rPr>
                      <m:t>𝑠𝑢𝑚</m:t>
                    </m:r>
                    <m:r>
                      <a:rPr lang="en-US" i="1">
                        <a:latin typeface="Cambria Math"/>
                      </a:rPr>
                      <m:t>&lt;−</m:t>
                    </m:r>
                    <m:sSup>
                      <m:sSupPr>
                        <m:ctrlPr>
                          <a:rPr lang="en-US" i="1">
                            <a:latin typeface="Cambria Math"/>
                          </a:rPr>
                        </m:ctrlPr>
                      </m:sSupPr>
                      <m:e>
                        <m:r>
                          <a:rPr lang="en-US" i="1">
                            <a:latin typeface="Cambria Math"/>
                          </a:rPr>
                          <m:t>2</m:t>
                        </m:r>
                      </m:e>
                      <m:sup>
                        <m:r>
                          <a:rPr lang="en-US" i="1">
                            <a:latin typeface="Cambria Math"/>
                          </a:rPr>
                          <m:t>4</m:t>
                        </m:r>
                      </m:sup>
                    </m:sSup>
                  </m:oMath>
                </a14:m>
                <a:r>
                  <a:rPr lang="en-US" dirty="0"/>
                  <a:t> when adding two negatives.</a:t>
                </a:r>
              </a:p>
            </p:txBody>
          </p:sp>
        </mc:Choice>
        <mc:Fallback xmlns="">
          <p:sp>
            <p:nvSpPr>
              <p:cNvPr id="4" name="Rectangle 3"/>
              <p:cNvSpPr>
                <a:spLocks noRot="1" noChangeAspect="1" noMove="1" noResize="1" noEditPoints="1" noAdjustHandles="1" noChangeArrowheads="1" noChangeShapeType="1" noTextEdit="1"/>
              </p:cNvSpPr>
              <p:nvPr/>
            </p:nvSpPr>
            <p:spPr>
              <a:xfrm>
                <a:off x="7391401" y="4251821"/>
                <a:ext cx="3108723" cy="948145"/>
              </a:xfrm>
              <a:prstGeom prst="rect">
                <a:avLst/>
              </a:prstGeom>
              <a:blipFill>
                <a:blip r:embed="rId5"/>
                <a:stretch>
                  <a:fillRect l="-2041" t="-2632" r="-2041" b="-6579"/>
                </a:stretch>
              </a:blipFill>
            </p:spPr>
            <p:txBody>
              <a:bodyPr/>
              <a:lstStyle/>
              <a:p>
                <a:r>
                  <a:rPr lang="en-US">
                    <a:noFill/>
                  </a:rPr>
                  <a:t> </a:t>
                </a:r>
              </a:p>
            </p:txBody>
          </p:sp>
        </mc:Fallback>
      </mc:AlternateContent>
    </p:spTree>
    <p:extLst>
      <p:ext uri="{BB962C8B-B14F-4D97-AF65-F5344CB8AC3E}">
        <p14:creationId xmlns:p14="http://schemas.microsoft.com/office/powerpoint/2010/main" val="401109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p:cNvSpPr>
            <a:spLocks noGrp="1"/>
          </p:cNvSpPr>
          <p:nvPr>
            <p:ph sz="quarter" idx="1"/>
          </p:nvPr>
        </p:nvSpPr>
        <p:spPr>
          <a:xfrm>
            <a:off x="604837" y="1273259"/>
            <a:ext cx="11358563" cy="914400"/>
          </a:xfrm>
        </p:spPr>
        <p:txBody>
          <a:bodyPr>
            <a:normAutofit/>
          </a:bodyPr>
          <a:lstStyle/>
          <a:p>
            <a:r>
              <a:rPr lang="en-US" sz="2000" dirty="0"/>
              <a:t>Whether the carry flag or the overflow flag should be used depends on the programmer’s intention. </a:t>
            </a:r>
          </a:p>
        </p:txBody>
      </p:sp>
      <p:sp>
        <p:nvSpPr>
          <p:cNvPr id="6" name="Content Placeholder 3"/>
          <p:cNvSpPr txBox="1">
            <a:spLocks/>
          </p:cNvSpPr>
          <p:nvPr/>
        </p:nvSpPr>
        <p:spPr>
          <a:xfrm>
            <a:off x="457200" y="5222324"/>
            <a:ext cx="11506200" cy="112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t>When programming in high-level languages such as C, the compiler automatically chooses to use the carry or overflow flag based on how this integer is declared in source code (“</a:t>
            </a:r>
            <a:r>
              <a:rPr lang="en-US" sz="2000" dirty="0" err="1">
                <a:solidFill>
                  <a:srgbClr val="C00000"/>
                </a:solidFill>
                <a:latin typeface="Consolas" panose="020B0609020204030204" pitchFamily="49" charset="0"/>
                <a:cs typeface="Consolas" panose="020B0609020204030204" pitchFamily="49" charset="0"/>
              </a:rPr>
              <a:t>int</a:t>
            </a:r>
            <a:r>
              <a:rPr lang="en-US" sz="2000" dirty="0"/>
              <a:t>” or “</a:t>
            </a:r>
            <a:r>
              <a:rPr lang="en-US" sz="2000" dirty="0">
                <a:solidFill>
                  <a:srgbClr val="C00000"/>
                </a:solidFill>
                <a:latin typeface="Consolas" panose="020B0609020204030204" pitchFamily="49" charset="0"/>
                <a:cs typeface="Consolas" panose="020B0609020204030204" pitchFamily="49" charset="0"/>
              </a:rPr>
              <a:t>unsigned </a:t>
            </a:r>
            <a:r>
              <a:rPr lang="en-US" sz="2000" dirty="0" err="1">
                <a:solidFill>
                  <a:srgbClr val="C00000"/>
                </a:solidFill>
                <a:latin typeface="Consolas" panose="020B0609020204030204" pitchFamily="49" charset="0"/>
                <a:cs typeface="Consolas" panose="020B0609020204030204" pitchFamily="49" charset="0"/>
              </a:rPr>
              <a:t>int</a:t>
            </a:r>
            <a:r>
              <a:rPr lang="en-US" sz="2000" dirty="0"/>
              <a:t>”).</a:t>
            </a:r>
          </a:p>
          <a:p>
            <a:endParaRPr lang="en-US" sz="2000" dirty="0"/>
          </a:p>
        </p:txBody>
      </p:sp>
      <p:pic>
        <p:nvPicPr>
          <p:cNvPr id="1027" name="Picture 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5003" y="2096219"/>
            <a:ext cx="6526795" cy="28670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6438842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 (5-bit System)</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sp>
        <p:nvSpPr>
          <p:cNvPr id="8" name="Rounded Rectangle 7"/>
          <p:cNvSpPr/>
          <p:nvPr/>
        </p:nvSpPr>
        <p:spPr>
          <a:xfrm>
            <a:off x="2002216" y="3617466"/>
            <a:ext cx="1524000" cy="1905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solidFill>
                  <a:srgbClr val="C00000"/>
                </a:solidFill>
                <a:latin typeface="Consolas" panose="020B0609020204030204" pitchFamily="49" charset="0"/>
                <a:cs typeface="Consolas" panose="020B0609020204030204" pitchFamily="49" charset="0"/>
              </a:rPr>
              <a:t>uint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a;</a:t>
            </a:r>
          </a:p>
          <a:p>
            <a:r>
              <a:rPr lang="en-US" b="1" dirty="0" err="1">
                <a:solidFill>
                  <a:srgbClr val="C00000"/>
                </a:solidFill>
                <a:latin typeface="Consolas" panose="020B0609020204030204" pitchFamily="49" charset="0"/>
                <a:cs typeface="Consolas" panose="020B0609020204030204" pitchFamily="49" charset="0"/>
              </a:rPr>
              <a:t>uint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b;</a:t>
            </a:r>
          </a:p>
          <a:p>
            <a:r>
              <a:rPr lang="en-US" b="1" dirty="0">
                <a:solidFill>
                  <a:schemeClr val="tx1"/>
                </a:solidFill>
                <a:latin typeface="Consolas" panose="020B0609020204030204" pitchFamily="49" charset="0"/>
                <a:cs typeface="Consolas" panose="020B0609020204030204" pitchFamily="49" charset="0"/>
              </a:rPr>
              <a:t>…</a:t>
            </a:r>
          </a:p>
          <a:p>
            <a:r>
              <a:rPr lang="en-US" b="1" dirty="0">
                <a:solidFill>
                  <a:schemeClr val="tx1"/>
                </a:solidFill>
                <a:latin typeface="Consolas" panose="020B0609020204030204" pitchFamily="49" charset="0"/>
                <a:cs typeface="Consolas" panose="020B0609020204030204" pitchFamily="49" charset="0"/>
              </a:rPr>
              <a:t>c = a + b</a:t>
            </a:r>
          </a:p>
          <a:p>
            <a:r>
              <a:rPr lang="en-US" b="1" dirty="0">
                <a:solidFill>
                  <a:schemeClr val="tx1"/>
                </a:solidFill>
                <a:latin typeface="Consolas" panose="020B0609020204030204" pitchFamily="49" charset="0"/>
                <a:cs typeface="Consolas" panose="020B0609020204030204" pitchFamily="49" charset="0"/>
              </a:rPr>
              <a:t>…</a:t>
            </a:r>
          </a:p>
        </p:txBody>
      </p:sp>
      <p:sp>
        <p:nvSpPr>
          <p:cNvPr id="9" name="TextBox 8"/>
          <p:cNvSpPr txBox="1"/>
          <p:nvPr/>
        </p:nvSpPr>
        <p:spPr>
          <a:xfrm>
            <a:off x="2161006" y="5598666"/>
            <a:ext cx="1206421" cy="369332"/>
          </a:xfrm>
          <a:prstGeom prst="rect">
            <a:avLst/>
          </a:prstGeom>
          <a:noFill/>
        </p:spPr>
        <p:txBody>
          <a:bodyPr wrap="none" rtlCol="0">
            <a:spAutoFit/>
          </a:bodyPr>
          <a:lstStyle/>
          <a:p>
            <a:r>
              <a:rPr lang="en-US" dirty="0"/>
              <a:t>C Program</a:t>
            </a:r>
          </a:p>
        </p:txBody>
      </p:sp>
      <p:sp>
        <p:nvSpPr>
          <p:cNvPr id="10" name="TextBox 9"/>
          <p:cNvSpPr txBox="1"/>
          <p:nvPr/>
        </p:nvSpPr>
        <p:spPr>
          <a:xfrm>
            <a:off x="3491803" y="4464050"/>
            <a:ext cx="2417200" cy="369332"/>
          </a:xfrm>
          <a:prstGeom prst="rect">
            <a:avLst/>
          </a:prstGeom>
          <a:noFill/>
        </p:spPr>
        <p:txBody>
          <a:bodyPr wrap="none" rtlCol="0">
            <a:spAutoFit/>
          </a:bodyPr>
          <a:lstStyle/>
          <a:p>
            <a:r>
              <a:rPr lang="en-US" b="1" dirty="0">
                <a:solidFill>
                  <a:srgbClr val="0000FF"/>
                </a:solidFill>
              </a:rPr>
              <a:t>Check the carry flag!</a:t>
            </a:r>
          </a:p>
        </p:txBody>
      </p:sp>
      <p:sp>
        <p:nvSpPr>
          <p:cNvPr id="11" name="Rectangle 10">
            <a:extLst>
              <a:ext uri="{FF2B5EF4-FFF2-40B4-BE49-F238E27FC236}">
                <a16:creationId xmlns:a16="http://schemas.microsoft.com/office/drawing/2014/main" id="{2D300D7E-285E-094B-A55F-553C7C2B8B31}"/>
              </a:ext>
            </a:extLst>
          </p:cNvPr>
          <p:cNvSpPr/>
          <p:nvPr/>
        </p:nvSpPr>
        <p:spPr>
          <a:xfrm>
            <a:off x="1295400" y="1358205"/>
            <a:ext cx="4191000" cy="1384995"/>
          </a:xfrm>
          <a:prstGeom prst="rect">
            <a:avLst/>
          </a:prstGeom>
        </p:spPr>
        <p:txBody>
          <a:bodyPr wrap="square">
            <a:spAutoFit/>
          </a:bodyPr>
          <a:lstStyle/>
          <a:p>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r>
              <a:rPr lang="en-US" sz="2800" i="1" dirty="0">
                <a:solidFill>
                  <a:srgbClr val="C00000"/>
                </a:solidFill>
                <a:latin typeface="Consolas" panose="020B0609020204030204" pitchFamily="49" charset="0"/>
                <a:cs typeface="Consolas" panose="020B0609020204030204" pitchFamily="49" charset="0"/>
              </a:rPr>
              <a:t>b </a:t>
            </a:r>
            <a:r>
              <a:rPr lang="en-US" sz="2800" dirty="0">
                <a:solidFill>
                  <a:srgbClr val="C00000"/>
                </a:solidFill>
                <a:latin typeface="Consolas" panose="020B0609020204030204" pitchFamily="49" charset="0"/>
                <a:cs typeface="Consolas" panose="020B0609020204030204" pitchFamily="49" charset="0"/>
              </a:rPr>
              <a:t>=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r>
              <a:rPr lang="en-US" sz="2800" i="1" dirty="0">
                <a:solidFill>
                  <a:srgbClr val="C00000"/>
                </a:solidFill>
                <a:latin typeface="Consolas" panose="020B0609020204030204" pitchFamily="49" charset="0"/>
                <a:cs typeface="Consolas" panose="020B0609020204030204" pitchFamily="49" charset="0"/>
              </a:rPr>
              <a:t>c</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b</a:t>
            </a:r>
          </a:p>
        </p:txBody>
      </p:sp>
      <p:sp>
        <p:nvSpPr>
          <p:cNvPr id="12" name="Content Placeholder 3">
            <a:extLst>
              <a:ext uri="{FF2B5EF4-FFF2-40B4-BE49-F238E27FC236}">
                <a16:creationId xmlns:a16="http://schemas.microsoft.com/office/drawing/2014/main" id="{A987C625-583A-A944-8098-1EBD6B0BBE85}"/>
              </a:ext>
            </a:extLst>
          </p:cNvPr>
          <p:cNvSpPr txBox="1">
            <a:spLocks/>
          </p:cNvSpPr>
          <p:nvPr/>
        </p:nvSpPr>
        <p:spPr>
          <a:xfrm>
            <a:off x="609600" y="2777613"/>
            <a:ext cx="10668000" cy="7620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Whether the carry flag or the overflow flag should be used depends on the programmer’s intention: Are </a:t>
            </a:r>
            <a:r>
              <a:rPr lang="en-US" i="1" dirty="0">
                <a:latin typeface="Consolas" panose="020B0609020204030204" pitchFamily="49" charset="0"/>
                <a:cs typeface="Consolas" panose="020B0609020204030204" pitchFamily="49" charset="0"/>
              </a:rPr>
              <a:t>a</a:t>
            </a:r>
            <a:r>
              <a:rPr lang="en-US" dirty="0"/>
              <a:t> and </a:t>
            </a:r>
            <a:r>
              <a:rPr lang="en-US" i="1" dirty="0">
                <a:latin typeface="Consolas" panose="020B0609020204030204" pitchFamily="49" charset="0"/>
                <a:cs typeface="Consolas" panose="020B0609020204030204" pitchFamily="49" charset="0"/>
              </a:rPr>
              <a:t>b</a:t>
            </a:r>
            <a:r>
              <a:rPr lang="en-US" dirty="0"/>
              <a:t> signed or unsigned numbers?</a:t>
            </a:r>
          </a:p>
        </p:txBody>
      </p:sp>
      <p:sp>
        <p:nvSpPr>
          <p:cNvPr id="4" name="Rounded Rectangle 7"/>
          <p:cNvSpPr/>
          <p:nvPr/>
        </p:nvSpPr>
        <p:spPr>
          <a:xfrm>
            <a:off x="6878152" y="3655665"/>
            <a:ext cx="1524000" cy="19050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solidFill>
                  <a:srgbClr val="C00000"/>
                </a:solidFill>
                <a:latin typeface="Consolas" panose="020B0609020204030204" pitchFamily="49" charset="0"/>
                <a:cs typeface="Consolas" panose="020B0609020204030204" pitchFamily="49" charset="0"/>
              </a:rPr>
              <a:t>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a;</a:t>
            </a:r>
          </a:p>
          <a:p>
            <a:r>
              <a:rPr lang="en-US" b="1" dirty="0" err="1">
                <a:solidFill>
                  <a:srgbClr val="C00000"/>
                </a:solidFill>
                <a:latin typeface="Consolas" panose="020B0609020204030204" pitchFamily="49" charset="0"/>
                <a:cs typeface="Consolas" panose="020B0609020204030204" pitchFamily="49" charset="0"/>
              </a:rPr>
              <a:t>int</a:t>
            </a:r>
            <a:r>
              <a:rPr lang="en-US" b="1" dirty="0">
                <a:solidFill>
                  <a:srgbClr val="C00000"/>
                </a:solidFill>
                <a:latin typeface="Consolas" panose="020B0609020204030204" pitchFamily="49" charset="0"/>
                <a:cs typeface="Consolas" panose="020B0609020204030204" pitchFamily="49" charset="0"/>
              </a:rPr>
              <a:t> </a:t>
            </a:r>
            <a:r>
              <a:rPr lang="en-US" b="1" dirty="0">
                <a:solidFill>
                  <a:schemeClr val="tx1"/>
                </a:solidFill>
                <a:latin typeface="Consolas" panose="020B0609020204030204" pitchFamily="49" charset="0"/>
                <a:cs typeface="Consolas" panose="020B0609020204030204" pitchFamily="49" charset="0"/>
              </a:rPr>
              <a:t>b;</a:t>
            </a:r>
          </a:p>
          <a:p>
            <a:r>
              <a:rPr lang="en-US" b="1" dirty="0">
                <a:solidFill>
                  <a:schemeClr val="tx1"/>
                </a:solidFill>
                <a:latin typeface="Consolas" panose="020B0609020204030204" pitchFamily="49" charset="0"/>
                <a:cs typeface="Consolas" panose="020B0609020204030204" pitchFamily="49" charset="0"/>
              </a:rPr>
              <a:t>…</a:t>
            </a:r>
          </a:p>
          <a:p>
            <a:r>
              <a:rPr lang="en-US" b="1" dirty="0">
                <a:solidFill>
                  <a:schemeClr val="tx1"/>
                </a:solidFill>
                <a:latin typeface="Consolas" panose="020B0609020204030204" pitchFamily="49" charset="0"/>
                <a:cs typeface="Consolas" panose="020B0609020204030204" pitchFamily="49" charset="0"/>
              </a:rPr>
              <a:t>c = a + b</a:t>
            </a:r>
          </a:p>
          <a:p>
            <a:r>
              <a:rPr lang="en-US" b="1" dirty="0">
                <a:solidFill>
                  <a:schemeClr val="tx1"/>
                </a:solidFill>
                <a:latin typeface="Consolas" panose="020B0609020204030204" pitchFamily="49" charset="0"/>
                <a:cs typeface="Consolas" panose="020B0609020204030204" pitchFamily="49" charset="0"/>
              </a:rPr>
              <a:t>…</a:t>
            </a:r>
          </a:p>
        </p:txBody>
      </p:sp>
      <p:sp>
        <p:nvSpPr>
          <p:cNvPr id="5" name="TextBox 4"/>
          <p:cNvSpPr txBox="1"/>
          <p:nvPr/>
        </p:nvSpPr>
        <p:spPr>
          <a:xfrm>
            <a:off x="7036942" y="5636865"/>
            <a:ext cx="1206421" cy="369332"/>
          </a:xfrm>
          <a:prstGeom prst="rect">
            <a:avLst/>
          </a:prstGeom>
          <a:noFill/>
        </p:spPr>
        <p:txBody>
          <a:bodyPr wrap="none" rtlCol="0">
            <a:spAutoFit/>
          </a:bodyPr>
          <a:lstStyle/>
          <a:p>
            <a:r>
              <a:rPr lang="en-US" dirty="0"/>
              <a:t>C Program</a:t>
            </a:r>
          </a:p>
        </p:txBody>
      </p:sp>
      <p:sp>
        <p:nvSpPr>
          <p:cNvPr id="6" name="TextBox 5"/>
          <p:cNvSpPr txBox="1"/>
          <p:nvPr/>
        </p:nvSpPr>
        <p:spPr>
          <a:xfrm>
            <a:off x="8382000" y="4464050"/>
            <a:ext cx="2762488" cy="369332"/>
          </a:xfrm>
          <a:prstGeom prst="rect">
            <a:avLst/>
          </a:prstGeom>
          <a:noFill/>
        </p:spPr>
        <p:txBody>
          <a:bodyPr wrap="none" rtlCol="0">
            <a:spAutoFit/>
          </a:bodyPr>
          <a:lstStyle/>
          <a:p>
            <a:r>
              <a:rPr lang="en-US" b="1" dirty="0">
                <a:solidFill>
                  <a:srgbClr val="0000FF"/>
                </a:solidFill>
              </a:rPr>
              <a:t>Check the overflow flag!</a:t>
            </a:r>
          </a:p>
        </p:txBody>
      </p:sp>
    </p:spTree>
    <p:extLst>
      <p:ext uri="{BB962C8B-B14F-4D97-AF65-F5344CB8AC3E}">
        <p14:creationId xmlns:p14="http://schemas.microsoft.com/office/powerpoint/2010/main" val="17506374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Signed or Unsigned (5-bit System)</a:t>
            </a:r>
          </a:p>
        </p:txBody>
      </p:sp>
      <p:sp>
        <p:nvSpPr>
          <p:cNvPr id="3" name="Slide Number Placeholder 2"/>
          <p:cNvSpPr>
            <a:spLocks noGrp="1"/>
          </p:cNvSpPr>
          <p:nvPr>
            <p:ph type="sldNum" sz="quarter" idx="4294967295"/>
          </p:nvPr>
        </p:nvSpPr>
        <p:spPr>
          <a:xfrm>
            <a:off x="2136648" y="6356350"/>
            <a:ext cx="1981200" cy="365760"/>
          </a:xfrm>
          <a:prstGeom prst="rect">
            <a:avLst/>
          </a:prstGeom>
        </p:spPr>
        <p:txBody>
          <a:bodyPr/>
          <a:lstStyle/>
          <a:p>
            <a:pPr>
              <a:defRPr/>
            </a:pPr>
            <a:fld id="{EA7C8D44-3667-46F6-9772-CC52308E2A7F}" type="slidenum">
              <a:rPr lang="en-US">
                <a:solidFill>
                  <a:srgbClr val="1F497D"/>
                </a:solidFill>
                <a:latin typeface="Gill Sans MT"/>
              </a:rPr>
              <a:pPr>
                <a:defRPr/>
              </a:pPr>
              <a:t>29</a:t>
            </a:fld>
            <a:endParaRPr lang="en-US" dirty="0">
              <a:solidFill>
                <a:srgbClr val="1F497D"/>
              </a:solidFill>
              <a:latin typeface="Gill Sans MT"/>
            </a:endParaRPr>
          </a:p>
        </p:txBody>
      </p:sp>
      <p:sp>
        <p:nvSpPr>
          <p:cNvPr id="4" name="Content Placeholder 3"/>
          <p:cNvSpPr>
            <a:spLocks noGrp="1"/>
          </p:cNvSpPr>
          <p:nvPr>
            <p:ph sz="quarter" idx="1"/>
          </p:nvPr>
        </p:nvSpPr>
        <p:spPr>
          <a:xfrm>
            <a:off x="381000" y="3502675"/>
            <a:ext cx="8153400" cy="2703799"/>
          </a:xfrm>
        </p:spPr>
        <p:txBody>
          <a:bodyPr>
            <a:normAutofit fontScale="92500" lnSpcReduction="10000"/>
          </a:bodyPr>
          <a:lstStyle/>
          <a:p>
            <a:r>
              <a:rPr lang="en-US" dirty="0"/>
              <a:t>CPU does not know and does not care; it sets up both carry flag and overflow flags.</a:t>
            </a:r>
          </a:p>
          <a:p>
            <a:pPr lvl="1"/>
            <a:r>
              <a:rPr lang="en-US" dirty="0"/>
              <a:t>10000 + 10000 = 00000, and carry/overflow flags.</a:t>
            </a:r>
          </a:p>
          <a:p>
            <a:r>
              <a:rPr lang="en-US" dirty="0"/>
              <a:t>It is software’s (programmer/compiler) responsibility to interpret the flags.</a:t>
            </a:r>
          </a:p>
          <a:p>
            <a:pPr lvl="1"/>
            <a:r>
              <a:rPr lang="en-US" altLang="zh-CN" dirty="0">
                <a:solidFill>
                  <a:srgbClr val="000000"/>
                </a:solidFill>
              </a:rPr>
              <a:t>T</a:t>
            </a:r>
            <a:r>
              <a:rPr lang="en-US" dirty="0">
                <a:solidFill>
                  <a:srgbClr val="000000"/>
                </a:solidFill>
              </a:rPr>
              <a:t>he C compiler uses either the carry or the overflow flag based on how this integer is declared in source code ( “</a:t>
            </a:r>
            <a:r>
              <a:rPr lang="en-US" dirty="0" err="1">
                <a:solidFill>
                  <a:srgbClr val="000000"/>
                </a:solidFill>
              </a:rPr>
              <a:t>uint</a:t>
            </a:r>
            <a:r>
              <a:rPr lang="en-US" dirty="0">
                <a:solidFill>
                  <a:srgbClr val="000000"/>
                </a:solidFill>
              </a:rPr>
              <a:t>” or “</a:t>
            </a:r>
            <a:r>
              <a:rPr lang="en-US" dirty="0" err="1">
                <a:solidFill>
                  <a:srgbClr val="000000"/>
                </a:solidFill>
              </a:rPr>
              <a:t>int</a:t>
            </a:r>
            <a:r>
              <a:rPr lang="en-US" dirty="0">
                <a:solidFill>
                  <a:srgbClr val="000000"/>
                </a:solidFill>
              </a:rPr>
              <a:t>”).</a:t>
            </a:r>
          </a:p>
          <a:p>
            <a:pPr lvl="1"/>
            <a:endParaRPr lang="en-US" dirty="0"/>
          </a:p>
          <a:p>
            <a:pPr lvl="1"/>
            <a:endParaRPr lang="en-US" dirty="0"/>
          </a:p>
        </p:txBody>
      </p:sp>
      <p:sp>
        <p:nvSpPr>
          <p:cNvPr id="5" name="Rectangle 4"/>
          <p:cNvSpPr/>
          <p:nvPr/>
        </p:nvSpPr>
        <p:spPr>
          <a:xfrm>
            <a:off x="914400" y="1292876"/>
            <a:ext cx="4191000" cy="1384995"/>
          </a:xfrm>
          <a:prstGeom prst="rect">
            <a:avLst/>
          </a:prstGeom>
        </p:spPr>
        <p:txBody>
          <a:bodyPr wrap="square">
            <a:spAutoFit/>
          </a:bodyPr>
          <a:lstStyle/>
          <a:p>
            <a:pPr>
              <a:defRPr/>
            </a:pP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pPr>
              <a:defRPr/>
            </a:pPr>
            <a:r>
              <a:rPr lang="en-US" sz="2800" i="1" dirty="0">
                <a:solidFill>
                  <a:srgbClr val="C00000"/>
                </a:solidFill>
                <a:latin typeface="Consolas" panose="020B0609020204030204" pitchFamily="49" charset="0"/>
                <a:cs typeface="Consolas" panose="020B0609020204030204" pitchFamily="49" charset="0"/>
              </a:rPr>
              <a:t>b </a:t>
            </a:r>
            <a:r>
              <a:rPr lang="en-US" sz="2800" dirty="0">
                <a:solidFill>
                  <a:srgbClr val="C00000"/>
                </a:solidFill>
                <a:latin typeface="Consolas" panose="020B0609020204030204" pitchFamily="49" charset="0"/>
                <a:cs typeface="Consolas" panose="020B0609020204030204" pitchFamily="49" charset="0"/>
              </a:rPr>
              <a:t>= </a:t>
            </a:r>
            <a:r>
              <a:rPr lang="en-US" sz="2800" dirty="0" err="1">
                <a:solidFill>
                  <a:srgbClr val="C00000"/>
                </a:solidFill>
                <a:latin typeface="Consolas" panose="020B0609020204030204" pitchFamily="49" charset="0"/>
                <a:cs typeface="Consolas" panose="020B0609020204030204" pitchFamily="49" charset="0"/>
              </a:rPr>
              <a:t>0b10000</a:t>
            </a:r>
            <a:endParaRPr lang="en-US" sz="2800" dirty="0">
              <a:solidFill>
                <a:srgbClr val="C00000"/>
              </a:solidFill>
              <a:latin typeface="Consolas" panose="020B0609020204030204" pitchFamily="49" charset="0"/>
              <a:cs typeface="Consolas" panose="020B0609020204030204" pitchFamily="49" charset="0"/>
            </a:endParaRPr>
          </a:p>
          <a:p>
            <a:pPr>
              <a:defRPr/>
            </a:pPr>
            <a:r>
              <a:rPr lang="en-US" sz="2800" i="1" dirty="0">
                <a:solidFill>
                  <a:srgbClr val="C00000"/>
                </a:solidFill>
                <a:latin typeface="Consolas" panose="020B0609020204030204" pitchFamily="49" charset="0"/>
                <a:cs typeface="Consolas" panose="020B0609020204030204" pitchFamily="49" charset="0"/>
              </a:rPr>
              <a:t>c</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a</a:t>
            </a:r>
            <a:r>
              <a:rPr lang="en-US" sz="2800" dirty="0">
                <a:solidFill>
                  <a:srgbClr val="C00000"/>
                </a:solidFill>
                <a:latin typeface="Consolas" panose="020B0609020204030204" pitchFamily="49" charset="0"/>
                <a:cs typeface="Consolas" panose="020B0609020204030204" pitchFamily="49" charset="0"/>
              </a:rPr>
              <a:t> + </a:t>
            </a:r>
            <a:r>
              <a:rPr lang="en-US" sz="2800" i="1" dirty="0">
                <a:solidFill>
                  <a:srgbClr val="C00000"/>
                </a:solidFill>
                <a:latin typeface="Consolas" panose="020B0609020204030204" pitchFamily="49" charset="0"/>
                <a:cs typeface="Consolas" panose="020B0609020204030204" pitchFamily="49" charset="0"/>
              </a:rPr>
              <a:t>b</a:t>
            </a:r>
          </a:p>
        </p:txBody>
      </p:sp>
      <p:sp>
        <p:nvSpPr>
          <p:cNvPr id="7" name="Content Placeholder 3"/>
          <p:cNvSpPr txBox="1">
            <a:spLocks/>
          </p:cNvSpPr>
          <p:nvPr/>
        </p:nvSpPr>
        <p:spPr>
          <a:xfrm>
            <a:off x="381000" y="2740675"/>
            <a:ext cx="8229600" cy="76200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Clr>
                <a:srgbClr val="4F81BD"/>
              </a:buClr>
              <a:defRPr/>
            </a:pPr>
            <a:r>
              <a:rPr lang="en-US" dirty="0">
                <a:solidFill>
                  <a:prstClr val="black"/>
                </a:solidFill>
                <a:latin typeface="Gill Sans MT"/>
              </a:rPr>
              <a:t>Are </a:t>
            </a:r>
            <a:r>
              <a:rPr lang="en-US" i="1" dirty="0">
                <a:solidFill>
                  <a:prstClr val="black"/>
                </a:solidFill>
                <a:latin typeface="Consolas" panose="020B0609020204030204" pitchFamily="49" charset="0"/>
                <a:cs typeface="Consolas" panose="020B0609020204030204" pitchFamily="49" charset="0"/>
              </a:rPr>
              <a:t>a</a:t>
            </a:r>
            <a:r>
              <a:rPr lang="en-US" dirty="0">
                <a:solidFill>
                  <a:prstClr val="black"/>
                </a:solidFill>
                <a:latin typeface="Gill Sans MT"/>
              </a:rPr>
              <a:t> and </a:t>
            </a:r>
            <a:r>
              <a:rPr lang="en-US" i="1" dirty="0">
                <a:solidFill>
                  <a:prstClr val="black"/>
                </a:solidFill>
                <a:latin typeface="Consolas" panose="020B0609020204030204" pitchFamily="49" charset="0"/>
                <a:cs typeface="Consolas" panose="020B0609020204030204" pitchFamily="49" charset="0"/>
              </a:rPr>
              <a:t>b</a:t>
            </a:r>
            <a:r>
              <a:rPr lang="en-US" dirty="0">
                <a:solidFill>
                  <a:prstClr val="black"/>
                </a:solidFill>
                <a:latin typeface="Gill Sans MT"/>
              </a:rPr>
              <a:t> signed or unsigned numbers?</a:t>
            </a:r>
          </a:p>
        </p:txBody>
      </p:sp>
      <p:sp>
        <p:nvSpPr>
          <p:cNvPr id="6" name="Content Placeholder 3"/>
          <p:cNvSpPr txBox="1">
            <a:spLocks/>
          </p:cNvSpPr>
          <p:nvPr/>
        </p:nvSpPr>
        <p:spPr>
          <a:xfrm>
            <a:off x="8610600" y="1205804"/>
            <a:ext cx="2824976" cy="22098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spcBef>
                <a:spcPts val="0"/>
              </a:spcBef>
              <a:buClrTx/>
              <a:buSzTx/>
              <a:buFont typeface="Wingdings 3"/>
              <a:buNone/>
              <a:defRPr/>
            </a:pPr>
            <a:r>
              <a:rPr lang="en-US" sz="2400" dirty="0">
                <a:solidFill>
                  <a:srgbClr val="000000"/>
                </a:solidFill>
                <a:latin typeface="Consolas" panose="020B0609020204030204" pitchFamily="49" charset="0"/>
                <a:cs typeface="Consolas" panose="020B0609020204030204" pitchFamily="49" charset="0"/>
              </a:rPr>
              <a:t>If unsigned:</a:t>
            </a:r>
          </a:p>
          <a:p>
            <a:pPr marL="0" indent="0">
              <a:spcBef>
                <a:spcPts val="0"/>
              </a:spcBef>
              <a:buClrTx/>
              <a:buSzTx/>
              <a:buFont typeface="Wingdings 3"/>
              <a:buNone/>
              <a:defRPr/>
            </a:pPr>
            <a:r>
              <a:rPr lang="en-US" sz="2400" i="1" dirty="0" err="1">
                <a:solidFill>
                  <a:srgbClr val="C00000"/>
                </a:solidFill>
                <a:latin typeface="Consolas" panose="020B0609020204030204" pitchFamily="49" charset="0"/>
                <a:cs typeface="Consolas" panose="020B0609020204030204" pitchFamily="49" charset="0"/>
              </a:rPr>
              <a:t>uint</a:t>
            </a:r>
            <a:r>
              <a:rPr lang="en-US" sz="2400" i="1" dirty="0">
                <a:solidFill>
                  <a:srgbClr val="C00000"/>
                </a:solidFill>
                <a:latin typeface="Consolas" panose="020B0609020204030204" pitchFamily="49" charset="0"/>
                <a:cs typeface="Consolas" panose="020B0609020204030204" pitchFamily="49" charset="0"/>
              </a:rPr>
              <a:t> a, b;</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16</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b </a:t>
            </a:r>
            <a:r>
              <a:rPr lang="en-US" sz="2400" dirty="0">
                <a:solidFill>
                  <a:srgbClr val="C00000"/>
                </a:solidFill>
                <a:latin typeface="Consolas" panose="020B0609020204030204" pitchFamily="49" charset="0"/>
                <a:cs typeface="Consolas" panose="020B0609020204030204" pitchFamily="49" charset="0"/>
              </a:rPr>
              <a:t>= 16</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c</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b</a:t>
            </a:r>
          </a:p>
          <a:p>
            <a:pPr marL="0" indent="0">
              <a:spcBef>
                <a:spcPts val="0"/>
              </a:spcBef>
              <a:buClrTx/>
              <a:buSzTx/>
              <a:buFont typeface="Wingdings 3"/>
              <a:buNone/>
              <a:defRPr/>
            </a:pPr>
            <a:r>
              <a:rPr lang="en-US" sz="2400" i="1" dirty="0">
                <a:solidFill>
                  <a:srgbClr val="C00000"/>
                </a:solidFill>
                <a:latin typeface="Consolas" panose="020B0609020204030204" pitchFamily="49" charset="0"/>
                <a:cs typeface="Consolas" panose="020B0609020204030204" pitchFamily="49" charset="0"/>
              </a:rPr>
              <a:t>  = </a:t>
            </a:r>
            <a:r>
              <a:rPr lang="en-US" sz="2400" dirty="0">
                <a:solidFill>
                  <a:srgbClr val="C00000"/>
                </a:solidFill>
                <a:latin typeface="Consolas" panose="020B0609020204030204" pitchFamily="49" charset="0"/>
                <a:cs typeface="Consolas" panose="020B0609020204030204" pitchFamily="49" charset="0"/>
              </a:rPr>
              <a:t>32 &gt; 2</a:t>
            </a:r>
            <a:r>
              <a:rPr lang="en-US" sz="2400" baseline="30000" dirty="0">
                <a:solidFill>
                  <a:srgbClr val="C00000"/>
                </a:solidFill>
                <a:latin typeface="Consolas" panose="020B0609020204030204" pitchFamily="49" charset="0"/>
                <a:cs typeface="Consolas" panose="020B0609020204030204" pitchFamily="49" charset="0"/>
              </a:rPr>
              <a:t>5</a:t>
            </a:r>
            <a:r>
              <a:rPr lang="en-US" sz="2400" dirty="0">
                <a:solidFill>
                  <a:srgbClr val="C00000"/>
                </a:solidFill>
                <a:latin typeface="Consolas" panose="020B0609020204030204" pitchFamily="49" charset="0"/>
                <a:cs typeface="Consolas" panose="020B0609020204030204" pitchFamily="49" charset="0"/>
              </a:rPr>
              <a:t>-1</a:t>
            </a:r>
          </a:p>
          <a:p>
            <a:pPr marL="0" indent="0">
              <a:spcBef>
                <a:spcPts val="0"/>
              </a:spcBef>
              <a:buClrTx/>
              <a:buSzTx/>
              <a:buFont typeface="Wingdings 3"/>
              <a:buNone/>
              <a:defRPr/>
            </a:pPr>
            <a:r>
              <a:rPr lang="en-US" sz="2400" dirty="0">
                <a:solidFill>
                  <a:srgbClr val="000000"/>
                </a:solidFill>
                <a:latin typeface="Consolas" panose="020B0609020204030204" pitchFamily="49" charset="0"/>
                <a:cs typeface="Consolas" panose="020B0609020204030204" pitchFamily="49" charset="0"/>
              </a:rPr>
              <a:t>Carry flag set</a:t>
            </a:r>
          </a:p>
        </p:txBody>
      </p:sp>
      <p:sp>
        <p:nvSpPr>
          <p:cNvPr id="8" name="Content Placeholder 3"/>
          <p:cNvSpPr txBox="1">
            <a:spLocks/>
          </p:cNvSpPr>
          <p:nvPr/>
        </p:nvSpPr>
        <p:spPr>
          <a:xfrm>
            <a:off x="8610600" y="3752132"/>
            <a:ext cx="3123086" cy="22098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spcBef>
                <a:spcPts val="0"/>
              </a:spcBef>
              <a:buClrTx/>
              <a:buSzTx/>
              <a:buNone/>
              <a:defRPr/>
            </a:pPr>
            <a:r>
              <a:rPr lang="en-US" sz="2400" dirty="0">
                <a:solidFill>
                  <a:srgbClr val="000000"/>
                </a:solidFill>
                <a:latin typeface="Consolas" panose="020B0609020204030204" pitchFamily="49" charset="0"/>
                <a:cs typeface="Consolas" panose="020B0609020204030204" pitchFamily="49" charset="0"/>
              </a:rPr>
              <a:t>If signed:</a:t>
            </a:r>
          </a:p>
          <a:p>
            <a:pPr marL="0" indent="0">
              <a:spcBef>
                <a:spcPts val="0"/>
              </a:spcBef>
              <a:buClrTx/>
              <a:buSzTx/>
              <a:buNone/>
              <a:defRPr/>
            </a:pPr>
            <a:r>
              <a:rPr lang="en-US" sz="2400" i="1" dirty="0" err="1">
                <a:solidFill>
                  <a:srgbClr val="C00000"/>
                </a:solidFill>
                <a:latin typeface="Consolas" panose="020B0609020204030204" pitchFamily="49" charset="0"/>
                <a:cs typeface="Consolas" panose="020B0609020204030204" pitchFamily="49" charset="0"/>
              </a:rPr>
              <a:t>int</a:t>
            </a:r>
            <a:r>
              <a:rPr lang="en-US" sz="2400" i="1" dirty="0">
                <a:solidFill>
                  <a:srgbClr val="C00000"/>
                </a:solidFill>
                <a:latin typeface="Consolas" panose="020B0609020204030204" pitchFamily="49" charset="0"/>
                <a:cs typeface="Consolas" panose="020B0609020204030204" pitchFamily="49" charset="0"/>
              </a:rPr>
              <a:t> a, b;</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-16</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b </a:t>
            </a:r>
            <a:r>
              <a:rPr lang="en-US" sz="2400" dirty="0">
                <a:solidFill>
                  <a:srgbClr val="C00000"/>
                </a:solidFill>
                <a:latin typeface="Consolas" panose="020B0609020204030204" pitchFamily="49" charset="0"/>
                <a:cs typeface="Consolas" panose="020B0609020204030204" pitchFamily="49" charset="0"/>
              </a:rPr>
              <a:t>= -16</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c</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a</a:t>
            </a:r>
            <a:r>
              <a:rPr lang="en-US" sz="2400" dirty="0">
                <a:solidFill>
                  <a:srgbClr val="C00000"/>
                </a:solidFill>
                <a:latin typeface="Consolas" panose="020B0609020204030204" pitchFamily="49" charset="0"/>
                <a:cs typeface="Consolas" panose="020B0609020204030204" pitchFamily="49" charset="0"/>
              </a:rPr>
              <a:t> + </a:t>
            </a:r>
            <a:r>
              <a:rPr lang="en-US" sz="2400" i="1" dirty="0">
                <a:solidFill>
                  <a:srgbClr val="C00000"/>
                </a:solidFill>
                <a:latin typeface="Consolas" panose="020B0609020204030204" pitchFamily="49" charset="0"/>
                <a:cs typeface="Consolas" panose="020B0609020204030204" pitchFamily="49" charset="0"/>
              </a:rPr>
              <a:t>b</a:t>
            </a:r>
          </a:p>
          <a:p>
            <a:pPr marL="0" indent="0">
              <a:spcBef>
                <a:spcPts val="0"/>
              </a:spcBef>
              <a:buClrTx/>
              <a:buSzTx/>
              <a:buNone/>
              <a:defRPr/>
            </a:pPr>
            <a:r>
              <a:rPr lang="en-US" sz="2400" i="1" dirty="0">
                <a:solidFill>
                  <a:srgbClr val="C00000"/>
                </a:solidFill>
                <a:latin typeface="Consolas" panose="020B0609020204030204" pitchFamily="49" charset="0"/>
                <a:cs typeface="Consolas" panose="020B0609020204030204" pitchFamily="49" charset="0"/>
              </a:rPr>
              <a:t>  = -</a:t>
            </a:r>
            <a:r>
              <a:rPr lang="en-US" sz="2400" dirty="0">
                <a:solidFill>
                  <a:srgbClr val="C00000"/>
                </a:solidFill>
                <a:latin typeface="Consolas" panose="020B0609020204030204" pitchFamily="49" charset="0"/>
                <a:cs typeface="Consolas" panose="020B0609020204030204" pitchFamily="49" charset="0"/>
              </a:rPr>
              <a:t>32 &lt; -2</a:t>
            </a:r>
            <a:r>
              <a:rPr lang="en-US" sz="2400" baseline="30000" dirty="0">
                <a:solidFill>
                  <a:srgbClr val="C00000"/>
                </a:solidFill>
                <a:latin typeface="Consolas" panose="020B0609020204030204" pitchFamily="49" charset="0"/>
                <a:cs typeface="Consolas" panose="020B0609020204030204" pitchFamily="49" charset="0"/>
              </a:rPr>
              <a:t>4</a:t>
            </a:r>
            <a:endParaRPr lang="en-US" sz="2400" dirty="0">
              <a:solidFill>
                <a:srgbClr val="C00000"/>
              </a:solidFill>
              <a:latin typeface="Consolas" panose="020B0609020204030204" pitchFamily="49" charset="0"/>
              <a:cs typeface="Consolas" panose="020B0609020204030204" pitchFamily="49" charset="0"/>
            </a:endParaRPr>
          </a:p>
          <a:p>
            <a:pPr marL="0" indent="0">
              <a:spcBef>
                <a:spcPts val="0"/>
              </a:spcBef>
              <a:buClrTx/>
              <a:buSzTx/>
              <a:buNone/>
              <a:defRPr/>
            </a:pPr>
            <a:r>
              <a:rPr lang="en-US" sz="2400" dirty="0">
                <a:solidFill>
                  <a:srgbClr val="000000"/>
                </a:solidFill>
                <a:latin typeface="Consolas" panose="020B0609020204030204" pitchFamily="49" charset="0"/>
                <a:cs typeface="Consolas" panose="020B0609020204030204" pitchFamily="49" charset="0"/>
              </a:rPr>
              <a:t>Overflow flag set</a:t>
            </a:r>
          </a:p>
        </p:txBody>
      </p:sp>
    </p:spTree>
    <p:extLst>
      <p:ext uri="{BB962C8B-B14F-4D97-AF65-F5344CB8AC3E}">
        <p14:creationId xmlns:p14="http://schemas.microsoft.com/office/powerpoint/2010/main" val="2452229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P spid="8"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Two’s Complement Simplifies Hardware Implementation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dirty="0"/>
          </a:p>
        </p:txBody>
      </p:sp>
      <p:sp>
        <p:nvSpPr>
          <p:cNvPr id="4" name="Content Placeholder 3"/>
          <p:cNvSpPr>
            <a:spLocks noGrp="1"/>
          </p:cNvSpPr>
          <p:nvPr>
            <p:ph sz="quarter" idx="1"/>
          </p:nvPr>
        </p:nvSpPr>
        <p:spPr/>
        <p:txBody>
          <a:bodyPr/>
          <a:lstStyle/>
          <a:p>
            <a:r>
              <a:rPr lang="en-US" dirty="0"/>
              <a:t>In two’s complement, </a:t>
            </a:r>
            <a:r>
              <a:rPr lang="en-US" dirty="0">
                <a:solidFill>
                  <a:srgbClr val="C00000"/>
                </a:solidFill>
              </a:rPr>
              <a:t>the same hardware </a:t>
            </a:r>
            <a:r>
              <a:rPr lang="en-US" dirty="0"/>
              <a:t>works correctly for both signed and unsigned addition/subtraction.</a:t>
            </a:r>
          </a:p>
          <a:p>
            <a:r>
              <a:rPr lang="en-US" dirty="0"/>
              <a:t>If the product is required to keep the same number of bits as operands, unsigned multiplication hardware works correctly for signed numbers.</a:t>
            </a:r>
          </a:p>
          <a:p>
            <a:r>
              <a:rPr lang="en-US" dirty="0"/>
              <a:t>However, this is not true for division. (not discussed in this course)</a:t>
            </a:r>
          </a:p>
        </p:txBody>
      </p:sp>
      <p:graphicFrame>
        <p:nvGraphicFramePr>
          <p:cNvPr id="6" name="Table 5"/>
          <p:cNvGraphicFramePr>
            <a:graphicFrameLocks noGrp="1"/>
          </p:cNvGraphicFramePr>
          <p:nvPr>
            <p:extLst>
              <p:ext uri="{D42A27DB-BD31-4B8C-83A1-F6EECF244321}">
                <p14:modId xmlns:p14="http://schemas.microsoft.com/office/powerpoint/2010/main" val="4065423302"/>
              </p:ext>
            </p:extLst>
          </p:nvPr>
        </p:nvGraphicFramePr>
        <p:xfrm>
          <a:off x="914400" y="3962400"/>
          <a:ext cx="10155936" cy="1981200"/>
        </p:xfrm>
        <a:graphic>
          <a:graphicData uri="http://schemas.openxmlformats.org/drawingml/2006/table">
            <a:tbl>
              <a:tblPr firstRow="1" bandRow="1">
                <a:tableStyleId>{5C22544A-7EE6-4342-B048-85BDC9FD1C3A}</a:tableStyleId>
              </a:tblPr>
              <a:tblGrid>
                <a:gridCol w="2002536">
                  <a:extLst>
                    <a:ext uri="{9D8B030D-6E8A-4147-A177-3AD203B41FA5}">
                      <a16:colId xmlns:a16="http://schemas.microsoft.com/office/drawing/2014/main" val="3168468172"/>
                    </a:ext>
                  </a:extLst>
                </a:gridCol>
                <a:gridCol w="8153400">
                  <a:extLst>
                    <a:ext uri="{9D8B030D-6E8A-4147-A177-3AD203B41FA5}">
                      <a16:colId xmlns:a16="http://schemas.microsoft.com/office/drawing/2014/main" val="578747247"/>
                    </a:ext>
                  </a:extLst>
                </a:gridCol>
              </a:tblGrid>
              <a:tr h="370840">
                <a:tc>
                  <a:txBody>
                    <a:bodyPr/>
                    <a:lstStyle/>
                    <a:p>
                      <a:r>
                        <a:rPr lang="en-US" sz="2000" dirty="0"/>
                        <a:t>Operation</a:t>
                      </a:r>
                    </a:p>
                  </a:txBody>
                  <a:tcPr/>
                </a:tc>
                <a:tc>
                  <a:txBody>
                    <a:bodyPr/>
                    <a:lstStyle/>
                    <a:p>
                      <a:r>
                        <a:rPr lang="en-US" sz="2000" dirty="0"/>
                        <a:t>Are</a:t>
                      </a:r>
                      <a:r>
                        <a:rPr lang="en-US" sz="2000" baseline="0" dirty="0"/>
                        <a:t> signed and unsigned operations the same?</a:t>
                      </a:r>
                      <a:endParaRPr lang="en-US" sz="2000" dirty="0"/>
                    </a:p>
                  </a:txBody>
                  <a:tcPr/>
                </a:tc>
                <a:extLst>
                  <a:ext uri="{0D108BD9-81ED-4DB2-BD59-A6C34878D82A}">
                    <a16:rowId xmlns:a16="http://schemas.microsoft.com/office/drawing/2014/main" val="533090278"/>
                  </a:ext>
                </a:extLst>
              </a:tr>
              <a:tr h="370840">
                <a:tc>
                  <a:txBody>
                    <a:bodyPr/>
                    <a:lstStyle/>
                    <a:p>
                      <a:r>
                        <a:rPr lang="en-US" sz="2000" dirty="0"/>
                        <a:t>Addition</a:t>
                      </a:r>
                    </a:p>
                  </a:txBody>
                  <a:tcPr/>
                </a:tc>
                <a:tc>
                  <a:txBody>
                    <a:bodyPr/>
                    <a:lstStyle/>
                    <a:p>
                      <a:r>
                        <a:rPr lang="en-US" sz="2000" dirty="0"/>
                        <a:t>Yes</a:t>
                      </a:r>
                    </a:p>
                  </a:txBody>
                  <a:tcPr/>
                </a:tc>
                <a:extLst>
                  <a:ext uri="{0D108BD9-81ED-4DB2-BD59-A6C34878D82A}">
                    <a16:rowId xmlns:a16="http://schemas.microsoft.com/office/drawing/2014/main" val="812262497"/>
                  </a:ext>
                </a:extLst>
              </a:tr>
              <a:tr h="370840">
                <a:tc>
                  <a:txBody>
                    <a:bodyPr/>
                    <a:lstStyle/>
                    <a:p>
                      <a:r>
                        <a:rPr lang="en-US" sz="2000" dirty="0"/>
                        <a:t>Subtraction</a:t>
                      </a:r>
                    </a:p>
                  </a:txBody>
                  <a:tcPr/>
                </a:tc>
                <a:tc>
                  <a:txBody>
                    <a:bodyPr/>
                    <a:lstStyle/>
                    <a:p>
                      <a:r>
                        <a:rPr lang="en-US" sz="2000" dirty="0"/>
                        <a:t>Yes</a:t>
                      </a:r>
                    </a:p>
                  </a:txBody>
                  <a:tcPr/>
                </a:tc>
                <a:extLst>
                  <a:ext uri="{0D108BD9-81ED-4DB2-BD59-A6C34878D82A}">
                    <a16:rowId xmlns:a16="http://schemas.microsoft.com/office/drawing/2014/main" val="4197344616"/>
                  </a:ext>
                </a:extLst>
              </a:tr>
              <a:tr h="370840">
                <a:tc>
                  <a:txBody>
                    <a:bodyPr/>
                    <a:lstStyle/>
                    <a:p>
                      <a:r>
                        <a:rPr lang="en-US" sz="2000" dirty="0"/>
                        <a:t>Multiplication</a:t>
                      </a:r>
                    </a:p>
                  </a:txBody>
                  <a:tcPr/>
                </a:tc>
                <a:tc>
                  <a:txBody>
                    <a:bodyPr/>
                    <a:lstStyle/>
                    <a:p>
                      <a:r>
                        <a:rPr lang="en-US" sz="2000" dirty="0"/>
                        <a:t>Yes</a:t>
                      </a:r>
                      <a:r>
                        <a:rPr lang="en-US" sz="2000" baseline="0" dirty="0"/>
                        <a:t> if </a:t>
                      </a:r>
                      <a:r>
                        <a:rPr lang="en-US" sz="2000" dirty="0"/>
                        <a:t>the product is required to keep the same number of bits as operands</a:t>
                      </a:r>
                    </a:p>
                  </a:txBody>
                  <a:tcPr/>
                </a:tc>
                <a:extLst>
                  <a:ext uri="{0D108BD9-81ED-4DB2-BD59-A6C34878D82A}">
                    <a16:rowId xmlns:a16="http://schemas.microsoft.com/office/drawing/2014/main" val="532458979"/>
                  </a:ext>
                </a:extLst>
              </a:tr>
              <a:tr h="370840">
                <a:tc>
                  <a:txBody>
                    <a:bodyPr/>
                    <a:lstStyle/>
                    <a:p>
                      <a:r>
                        <a:rPr lang="en-US" sz="2000" dirty="0"/>
                        <a:t>Division</a:t>
                      </a:r>
                    </a:p>
                  </a:txBody>
                  <a:tcPr/>
                </a:tc>
                <a:tc>
                  <a:txBody>
                    <a:bodyPr/>
                    <a:lstStyle/>
                    <a:p>
                      <a:r>
                        <a:rPr lang="en-US" sz="2000" dirty="0"/>
                        <a:t>No</a:t>
                      </a:r>
                    </a:p>
                  </a:txBody>
                  <a:tcPr/>
                </a:tc>
                <a:extLst>
                  <a:ext uri="{0D108BD9-81ED-4DB2-BD59-A6C34878D82A}">
                    <a16:rowId xmlns:a16="http://schemas.microsoft.com/office/drawing/2014/main" val="507733041"/>
                  </a:ext>
                </a:extLst>
              </a:tr>
            </a:tbl>
          </a:graphicData>
        </a:graphic>
      </p:graphicFrame>
    </p:spTree>
    <p:extLst>
      <p:ext uri="{BB962C8B-B14F-4D97-AF65-F5344CB8AC3E}">
        <p14:creationId xmlns:p14="http://schemas.microsoft.com/office/powerpoint/2010/main" val="20787705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Rectangle 61"/>
          <p:cNvSpPr/>
          <p:nvPr/>
        </p:nvSpPr>
        <p:spPr>
          <a:xfrm>
            <a:off x="7950258" y="441960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a:off x="2209800" y="1814215"/>
            <a:ext cx="3962400" cy="3362920"/>
          </a:xfrm>
          <a:prstGeom prst="rect">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8934643" y="177312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fontScale="90000"/>
          </a:bodyPr>
          <a:lstStyle/>
          <a:p>
            <a:r>
              <a:rPr lang="en-US" dirty="0"/>
              <a:t>Adding two signed integers: </a:t>
            </a:r>
            <a:br>
              <a:rPr lang="en-US" dirty="0"/>
            </a:br>
            <a:r>
              <a:rPr lang="en-US" b="1" dirty="0">
                <a:latin typeface="Consolas" panose="020B0609020204030204" pitchFamily="49" charset="0"/>
                <a:cs typeface="Consolas" panose="020B0609020204030204" pitchFamily="49" charset="0"/>
              </a:rPr>
              <a:t>(-9) + 6</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31</a:t>
            </a:fld>
            <a:endParaRPr kumimoji="0" lang="en-US" dirty="0"/>
          </a:p>
        </p:txBody>
      </p:sp>
      <p:sp>
        <p:nvSpPr>
          <p:cNvPr id="20" name="TextBox 19"/>
          <p:cNvSpPr txBox="1"/>
          <p:nvPr/>
        </p:nvSpPr>
        <p:spPr>
          <a:xfrm>
            <a:off x="2976870" y="1352551"/>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-9</a:t>
            </a:r>
          </a:p>
        </p:txBody>
      </p:sp>
      <p:sp>
        <p:nvSpPr>
          <p:cNvPr id="21" name="TextBox 20"/>
          <p:cNvSpPr txBox="1"/>
          <p:nvPr/>
        </p:nvSpPr>
        <p:spPr>
          <a:xfrm>
            <a:off x="4984485" y="13671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sp>
        <p:nvSpPr>
          <p:cNvPr id="22" name="TextBox 21"/>
          <p:cNvSpPr txBox="1"/>
          <p:nvPr/>
        </p:nvSpPr>
        <p:spPr>
          <a:xfrm>
            <a:off x="3971298" y="5177136"/>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-3</a:t>
            </a:r>
          </a:p>
        </p:txBody>
      </p:sp>
      <p:grpSp>
        <p:nvGrpSpPr>
          <p:cNvPr id="38" name="Group 37"/>
          <p:cNvGrpSpPr/>
          <p:nvPr/>
        </p:nvGrpSpPr>
        <p:grpSpPr>
          <a:xfrm>
            <a:off x="6553201" y="1729738"/>
            <a:ext cx="3183625" cy="632463"/>
            <a:chOff x="5388736" y="1565669"/>
            <a:chExt cx="3183625" cy="632463"/>
          </a:xfrm>
        </p:grpSpPr>
        <p:sp>
          <p:nvSpPr>
            <p:cNvPr id="25" name="Rectangle 24"/>
            <p:cNvSpPr/>
            <p:nvPr/>
          </p:nvSpPr>
          <p:spPr>
            <a:xfrm>
              <a:off x="5388736"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01001</a:t>
              </a:r>
              <a:endParaRPr lang="en-US" dirty="0"/>
            </a:p>
          </p:txBody>
        </p:sp>
        <p:cxnSp>
          <p:nvCxnSpPr>
            <p:cNvPr id="27" name="Straight Arrow Connector 26"/>
            <p:cNvCxnSpPr>
              <a:stCxn id="25" idx="3"/>
              <a:endCxn id="28" idx="1"/>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573547"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10110</a:t>
              </a:r>
            </a:p>
          </p:txBody>
        </p:sp>
        <p:sp>
          <p:nvSpPr>
            <p:cNvPr id="29" name="Rectangle 28"/>
            <p:cNvSpPr/>
            <p:nvPr/>
          </p:nvSpPr>
          <p:spPr>
            <a:xfrm>
              <a:off x="7754508"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10111</a:t>
              </a:r>
            </a:p>
          </p:txBody>
        </p:sp>
        <p:cxnSp>
          <p:nvCxnSpPr>
            <p:cNvPr id="31" name="Straight Arrow Connector 30"/>
            <p:cNvCxnSpPr>
              <a:stCxn id="28" idx="3"/>
              <a:endCxn id="29"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35" name="TextBox 34"/>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36" name="TextBox 35"/>
            <p:cNvSpPr txBox="1"/>
            <p:nvPr/>
          </p:nvSpPr>
          <p:spPr>
            <a:xfrm>
              <a:off x="5632523" y="1585615"/>
              <a:ext cx="311304"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sp>
          <p:nvSpPr>
            <p:cNvPr id="37" name="TextBox 36"/>
            <p:cNvSpPr txBox="1"/>
            <p:nvPr/>
          </p:nvSpPr>
          <p:spPr>
            <a:xfrm>
              <a:off x="7892360" y="1565669"/>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grpSp>
      <p:grpSp>
        <p:nvGrpSpPr>
          <p:cNvPr id="39" name="Group 38"/>
          <p:cNvGrpSpPr/>
          <p:nvPr/>
        </p:nvGrpSpPr>
        <p:grpSpPr>
          <a:xfrm>
            <a:off x="4959312" y="4396738"/>
            <a:ext cx="3803689" cy="632463"/>
            <a:chOff x="4768672" y="1565669"/>
            <a:chExt cx="3803689" cy="632463"/>
          </a:xfrm>
        </p:grpSpPr>
        <p:cxnSp>
          <p:nvCxnSpPr>
            <p:cNvPr id="41" name="Straight Arrow Connector 40"/>
            <p:cNvCxnSpPr>
              <a:stCxn id="60" idx="3"/>
              <a:endCxn id="42" idx="1"/>
            </p:cNvCxnSpPr>
            <p:nvPr/>
          </p:nvCxnSpPr>
          <p:spPr>
            <a:xfrm flipV="1">
              <a:off x="4768672" y="2013466"/>
              <a:ext cx="1804875" cy="1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6573547"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00010</a:t>
              </a:r>
            </a:p>
          </p:txBody>
        </p:sp>
        <p:sp>
          <p:nvSpPr>
            <p:cNvPr id="43" name="Rectangle 42"/>
            <p:cNvSpPr/>
            <p:nvPr/>
          </p:nvSpPr>
          <p:spPr>
            <a:xfrm>
              <a:off x="7754508"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00011</a:t>
              </a:r>
            </a:p>
          </p:txBody>
        </p:sp>
        <p:cxnSp>
          <p:nvCxnSpPr>
            <p:cNvPr id="44" name="Straight Arrow Connector 43"/>
            <p:cNvCxnSpPr>
              <a:stCxn id="42" idx="3"/>
              <a:endCxn id="43"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6155133" y="1676400"/>
              <a:ext cx="460382" cy="369332"/>
            </a:xfrm>
            <a:prstGeom prst="rect">
              <a:avLst/>
            </a:prstGeom>
            <a:noFill/>
          </p:spPr>
          <p:txBody>
            <a:bodyPr wrap="none" rtlCol="0">
              <a:spAutoFit/>
            </a:bodyPr>
            <a:lstStyle/>
            <a:p>
              <a:r>
                <a:rPr lang="en-US" dirty="0"/>
                <a:t>flip</a:t>
              </a:r>
            </a:p>
          </p:txBody>
        </p:sp>
        <p:sp>
          <p:nvSpPr>
            <p:cNvPr id="46" name="TextBox 45"/>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48" name="TextBox 47"/>
            <p:cNvSpPr txBox="1"/>
            <p:nvPr/>
          </p:nvSpPr>
          <p:spPr>
            <a:xfrm>
              <a:off x="7962761" y="1565669"/>
              <a:ext cx="311304" cy="369332"/>
            </a:xfrm>
            <a:prstGeom prst="rect">
              <a:avLst/>
            </a:prstGeom>
            <a:noFill/>
          </p:spPr>
          <p:txBody>
            <a:bodyPr wrap="none" rtlCol="0">
              <a:spAutoFit/>
            </a:bodyPr>
            <a:lstStyle/>
            <a:p>
              <a:r>
                <a:rPr lang="en-US" b="1">
                  <a:latin typeface="Consolas" panose="020B0609020204030204" pitchFamily="49" charset="0"/>
                  <a:cs typeface="Consolas" panose="020B0609020204030204" pitchFamily="49" charset="0"/>
                </a:rPr>
                <a:t>3</a:t>
              </a:r>
              <a:endParaRPr lang="en-US" b="1" dirty="0">
                <a:latin typeface="Consolas" panose="020B0609020204030204" pitchFamily="49" charset="0"/>
                <a:cs typeface="Consolas" panose="020B0609020204030204" pitchFamily="49" charset="0"/>
              </a:endParaRPr>
            </a:p>
          </p:txBody>
        </p:sp>
      </p:grpSp>
      <p:sp>
        <p:nvSpPr>
          <p:cNvPr id="51" name="TextBox 50"/>
          <p:cNvSpPr txBox="1"/>
          <p:nvPr/>
        </p:nvSpPr>
        <p:spPr>
          <a:xfrm>
            <a:off x="8753602" y="2372380"/>
            <a:ext cx="1228599" cy="523220"/>
          </a:xfrm>
          <a:prstGeom prst="rect">
            <a:avLst/>
          </a:prstGeom>
          <a:noFill/>
        </p:spPr>
        <p:txBody>
          <a:bodyPr wrap="square" rtlCol="0">
            <a:spAutoFit/>
          </a:bodyPr>
          <a:lstStyle/>
          <a:p>
            <a:pPr algn="ctr"/>
            <a:r>
              <a:rPr lang="en-US" sz="1400" dirty="0"/>
              <a:t>Two’s Complement</a:t>
            </a:r>
          </a:p>
        </p:txBody>
      </p:sp>
      <p:graphicFrame>
        <p:nvGraphicFramePr>
          <p:cNvPr id="5" name="Table 4"/>
          <p:cNvGraphicFramePr>
            <a:graphicFrameLocks noGrp="1"/>
          </p:cNvGraphicFramePr>
          <p:nvPr/>
        </p:nvGraphicFramePr>
        <p:xfrm>
          <a:off x="2593848" y="198120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2" name="Table 51"/>
          <p:cNvGraphicFramePr>
            <a:graphicFrameLocks noGrp="1"/>
          </p:cNvGraphicFramePr>
          <p:nvPr/>
        </p:nvGraphicFramePr>
        <p:xfrm>
          <a:off x="4472208" y="1990052"/>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3" name="Table 52"/>
          <p:cNvGraphicFramePr>
            <a:graphicFrameLocks noGrp="1"/>
          </p:cNvGraphicFramePr>
          <p:nvPr/>
        </p:nvGraphicFramePr>
        <p:xfrm>
          <a:off x="3582925" y="4654175"/>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6" name="Rounded Rectangle 5"/>
          <p:cNvSpPr/>
          <p:nvPr/>
        </p:nvSpPr>
        <p:spPr>
          <a:xfrm>
            <a:off x="2667000" y="3225544"/>
            <a:ext cx="3082232" cy="526262"/>
          </a:xfrm>
          <a:prstGeom prst="round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Simple Hardware Adder</a:t>
            </a:r>
          </a:p>
        </p:txBody>
      </p:sp>
      <p:sp>
        <p:nvSpPr>
          <p:cNvPr id="54" name="TextBox 53"/>
          <p:cNvSpPr txBox="1"/>
          <p:nvPr/>
        </p:nvSpPr>
        <p:spPr>
          <a:xfrm>
            <a:off x="3048001" y="2357736"/>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23</a:t>
            </a:r>
          </a:p>
        </p:txBody>
      </p:sp>
      <p:sp>
        <p:nvSpPr>
          <p:cNvPr id="56" name="TextBox 55"/>
          <p:cNvSpPr txBox="1"/>
          <p:nvPr/>
        </p:nvSpPr>
        <p:spPr>
          <a:xfrm>
            <a:off x="4984485" y="23577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grpSp>
        <p:nvGrpSpPr>
          <p:cNvPr id="26" name="Group 25"/>
          <p:cNvGrpSpPr/>
          <p:nvPr/>
        </p:nvGrpSpPr>
        <p:grpSpPr>
          <a:xfrm>
            <a:off x="3278123" y="2795616"/>
            <a:ext cx="1883654" cy="1390805"/>
            <a:chOff x="1754123" y="2743200"/>
            <a:chExt cx="1883654" cy="1390805"/>
          </a:xfrm>
        </p:grpSpPr>
        <p:cxnSp>
          <p:nvCxnSpPr>
            <p:cNvPr id="16" name="Straight Arrow Connector 15"/>
            <p:cNvCxnSpPr/>
            <p:nvPr/>
          </p:nvCxnSpPr>
          <p:spPr>
            <a:xfrm>
              <a:off x="1754123"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p:cNvCxnSpPr/>
            <p:nvPr/>
          </p:nvCxnSpPr>
          <p:spPr>
            <a:xfrm>
              <a:off x="3637777"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p:cNvCxnSpPr/>
            <p:nvPr/>
          </p:nvCxnSpPr>
          <p:spPr>
            <a:xfrm>
              <a:off x="2743200" y="3714683"/>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grpSp>
      <p:sp>
        <p:nvSpPr>
          <p:cNvPr id="58" name="TextBox 57"/>
          <p:cNvSpPr txBox="1"/>
          <p:nvPr/>
        </p:nvSpPr>
        <p:spPr>
          <a:xfrm>
            <a:off x="3995048" y="4191001"/>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29</a:t>
            </a:r>
          </a:p>
        </p:txBody>
      </p:sp>
      <p:sp>
        <p:nvSpPr>
          <p:cNvPr id="19" name="TextBox 18"/>
          <p:cNvSpPr txBox="1"/>
          <p:nvPr/>
        </p:nvSpPr>
        <p:spPr>
          <a:xfrm>
            <a:off x="4038600" y="1295401"/>
            <a:ext cx="354584" cy="461665"/>
          </a:xfrm>
          <a:prstGeom prst="rect">
            <a:avLst/>
          </a:prstGeom>
          <a:noFill/>
        </p:spPr>
        <p:txBody>
          <a:bodyPr wrap="none" rtlCol="0">
            <a:spAutoFit/>
          </a:bodyPr>
          <a:lstStyle/>
          <a:p>
            <a:r>
              <a:rPr lang="en-US" sz="2400" b="1">
                <a:latin typeface="Consolas" charset="0"/>
                <a:ea typeface="Consolas" charset="0"/>
                <a:cs typeface="Consolas" charset="0"/>
              </a:rPr>
              <a:t>+</a:t>
            </a:r>
          </a:p>
        </p:txBody>
      </p:sp>
      <p:graphicFrame>
        <p:nvGraphicFramePr>
          <p:cNvPr id="59" name="Table 58"/>
          <p:cNvGraphicFramePr>
            <a:graphicFrameLocks noGrp="1"/>
          </p:cNvGraphicFramePr>
          <p:nvPr/>
        </p:nvGraphicFramePr>
        <p:xfrm>
          <a:off x="4480044" y="2001694"/>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0" name="Table 59"/>
          <p:cNvGraphicFramePr>
            <a:graphicFrameLocks noGrp="1"/>
          </p:cNvGraphicFramePr>
          <p:nvPr/>
        </p:nvGraphicFramePr>
        <p:xfrm>
          <a:off x="3590761" y="466344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1" name="Table 60"/>
          <p:cNvGraphicFramePr>
            <a:graphicFrameLocks noGrp="1"/>
          </p:cNvGraphicFramePr>
          <p:nvPr/>
        </p:nvGraphicFramePr>
        <p:xfrm>
          <a:off x="2609414" y="1988846"/>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63" name="TextBox 62"/>
          <p:cNvSpPr txBox="1"/>
          <p:nvPr/>
        </p:nvSpPr>
        <p:spPr>
          <a:xfrm>
            <a:off x="7543800" y="5039380"/>
            <a:ext cx="1629984" cy="523220"/>
          </a:xfrm>
          <a:prstGeom prst="rect">
            <a:avLst/>
          </a:prstGeom>
          <a:noFill/>
        </p:spPr>
        <p:txBody>
          <a:bodyPr wrap="square" rtlCol="0">
            <a:spAutoFit/>
          </a:bodyPr>
          <a:lstStyle/>
          <a:p>
            <a:pPr algn="ctr"/>
            <a:r>
              <a:rPr lang="en-US" sz="1400"/>
              <a:t>Two’s Complement Counterpart</a:t>
            </a:r>
            <a:endParaRPr lang="en-US" sz="1400" dirty="0"/>
          </a:p>
        </p:txBody>
      </p:sp>
      <p:sp>
        <p:nvSpPr>
          <p:cNvPr id="4" name="Content Placeholder 3">
            <a:extLst>
              <a:ext uri="{FF2B5EF4-FFF2-40B4-BE49-F238E27FC236}">
                <a16:creationId xmlns:a16="http://schemas.microsoft.com/office/drawing/2014/main" id="{80BD1B56-D534-2611-B43B-10E5EACB9FB7}"/>
              </a:ext>
            </a:extLst>
          </p:cNvPr>
          <p:cNvSpPr>
            <a:spLocks noGrp="1"/>
          </p:cNvSpPr>
          <p:nvPr>
            <p:ph sz="quarter" idx="1"/>
          </p:nvPr>
        </p:nvSpPr>
        <p:spPr>
          <a:xfrm>
            <a:off x="6417313" y="2847441"/>
            <a:ext cx="5180078" cy="1497566"/>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lnSpcReduction="10000"/>
          </a:bodyPr>
          <a:lstStyle/>
          <a:p>
            <a:r>
              <a:rPr lang="en-US" sz="2400" dirty="0"/>
              <a:t>Same binary arithmetic: 10111 + 00110 = 11101 can represent:</a:t>
            </a:r>
          </a:p>
          <a:p>
            <a:pPr lvl="1"/>
            <a:r>
              <a:rPr lang="en-US" sz="2000" dirty="0"/>
              <a:t>Either signed arithmetic : (-9) + 6 = -3</a:t>
            </a:r>
          </a:p>
          <a:p>
            <a:pPr lvl="1"/>
            <a:r>
              <a:rPr lang="en-US" sz="2000" dirty="0"/>
              <a:t>Or unsigned arithmetic : 23 + 6 = 29</a:t>
            </a:r>
          </a:p>
        </p:txBody>
      </p:sp>
    </p:spTree>
    <p:custDataLst>
      <p:tags r:id="rId1"/>
    </p:custDataLst>
    <p:extLst>
      <p:ext uri="{BB962C8B-B14F-4D97-AF65-F5344CB8AC3E}">
        <p14:creationId xmlns:p14="http://schemas.microsoft.com/office/powerpoint/2010/main" val="798167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
                                            <p:bg/>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xEl>
                                              <p:pRg st="0" end="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1" end="1"/>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49" grpId="0" animBg="1"/>
      <p:bldP spid="22" grpId="0"/>
      <p:bldP spid="51" grpId="0"/>
      <p:bldP spid="54" grpId="0"/>
      <p:bldP spid="56" grpId="0"/>
      <p:bldP spid="58" grpId="0"/>
      <p:bldP spid="63" grpId="0"/>
      <p:bldP spid="4" grpId="0" build="p"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2209800" y="1814215"/>
            <a:ext cx="3962400" cy="3362920"/>
          </a:xfrm>
          <a:prstGeom prst="rect">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8934643" y="1773120"/>
            <a:ext cx="802182" cy="58908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fontScale="90000"/>
          </a:bodyPr>
          <a:lstStyle/>
          <a:p>
            <a:r>
              <a:rPr lang="en-US" dirty="0"/>
              <a:t>Subtracting two signed integers: </a:t>
            </a:r>
            <a:br>
              <a:rPr lang="en-US" dirty="0"/>
            </a:br>
            <a:r>
              <a:rPr lang="en-US" b="1" dirty="0">
                <a:latin typeface="Consolas" panose="020B0609020204030204" pitchFamily="49" charset="0"/>
                <a:cs typeface="Consolas" panose="020B0609020204030204" pitchFamily="49" charset="0"/>
              </a:rPr>
              <a:t>(-9) - 6</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20" name="TextBox 19"/>
          <p:cNvSpPr txBox="1"/>
          <p:nvPr/>
        </p:nvSpPr>
        <p:spPr>
          <a:xfrm>
            <a:off x="2976870" y="1352551"/>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-9</a:t>
            </a:r>
          </a:p>
        </p:txBody>
      </p:sp>
      <p:sp>
        <p:nvSpPr>
          <p:cNvPr id="21" name="TextBox 20"/>
          <p:cNvSpPr txBox="1"/>
          <p:nvPr/>
        </p:nvSpPr>
        <p:spPr>
          <a:xfrm>
            <a:off x="4984485" y="13671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sp>
        <p:nvSpPr>
          <p:cNvPr id="22" name="TextBox 21"/>
          <p:cNvSpPr txBox="1"/>
          <p:nvPr/>
        </p:nvSpPr>
        <p:spPr>
          <a:xfrm>
            <a:off x="3877580" y="5177136"/>
            <a:ext cx="694421"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-15</a:t>
            </a:r>
          </a:p>
        </p:txBody>
      </p:sp>
      <p:grpSp>
        <p:nvGrpSpPr>
          <p:cNvPr id="38" name="Group 37"/>
          <p:cNvGrpSpPr/>
          <p:nvPr/>
        </p:nvGrpSpPr>
        <p:grpSpPr>
          <a:xfrm>
            <a:off x="6553201" y="1729738"/>
            <a:ext cx="3183625" cy="632463"/>
            <a:chOff x="5388736" y="1565669"/>
            <a:chExt cx="3183625" cy="632463"/>
          </a:xfrm>
        </p:grpSpPr>
        <p:sp>
          <p:nvSpPr>
            <p:cNvPr id="25" name="Rectangle 24"/>
            <p:cNvSpPr/>
            <p:nvPr/>
          </p:nvSpPr>
          <p:spPr>
            <a:xfrm>
              <a:off x="5388736"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01001</a:t>
              </a:r>
              <a:endParaRPr lang="en-US" dirty="0"/>
            </a:p>
          </p:txBody>
        </p:sp>
        <p:cxnSp>
          <p:nvCxnSpPr>
            <p:cNvPr id="27" name="Straight Arrow Connector 26"/>
            <p:cNvCxnSpPr>
              <a:stCxn id="25" idx="3"/>
              <a:endCxn id="28" idx="1"/>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573547"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10110</a:t>
              </a:r>
            </a:p>
          </p:txBody>
        </p:sp>
        <p:sp>
          <p:nvSpPr>
            <p:cNvPr id="29" name="Rectangle 28"/>
            <p:cNvSpPr/>
            <p:nvPr/>
          </p:nvSpPr>
          <p:spPr>
            <a:xfrm>
              <a:off x="7754508" y="1828800"/>
              <a:ext cx="817853" cy="369332"/>
            </a:xfrm>
            <a:prstGeom prst="rect">
              <a:avLst/>
            </a:prstGeom>
          </p:spPr>
          <p:txBody>
            <a:bodyPr wrap="none">
              <a:spAutoFit/>
            </a:bodyPr>
            <a:lstStyle/>
            <a:p>
              <a:r>
                <a:rPr lang="en-US" b="1" dirty="0">
                  <a:solidFill>
                    <a:srgbClr val="C00000"/>
                  </a:solidFill>
                  <a:latin typeface="Consolas" panose="020B0609020204030204" pitchFamily="49" charset="0"/>
                  <a:cs typeface="Consolas" panose="020B0609020204030204" pitchFamily="49" charset="0"/>
                </a:rPr>
                <a:t>10111</a:t>
              </a:r>
            </a:p>
          </p:txBody>
        </p:sp>
        <p:cxnSp>
          <p:nvCxnSpPr>
            <p:cNvPr id="31" name="Straight Arrow Connector 30"/>
            <p:cNvCxnSpPr>
              <a:stCxn id="28" idx="3"/>
              <a:endCxn id="29" idx="1"/>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35" name="TextBox 34"/>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36" name="TextBox 35"/>
            <p:cNvSpPr txBox="1"/>
            <p:nvPr/>
          </p:nvSpPr>
          <p:spPr>
            <a:xfrm>
              <a:off x="5632523" y="1585615"/>
              <a:ext cx="311304"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sp>
          <p:nvSpPr>
            <p:cNvPr id="37" name="TextBox 36"/>
            <p:cNvSpPr txBox="1"/>
            <p:nvPr/>
          </p:nvSpPr>
          <p:spPr>
            <a:xfrm>
              <a:off x="7892360" y="1565669"/>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-9</a:t>
              </a:r>
            </a:p>
          </p:txBody>
        </p:sp>
      </p:grpSp>
      <p:sp>
        <p:nvSpPr>
          <p:cNvPr id="51" name="TextBox 50"/>
          <p:cNvSpPr txBox="1"/>
          <p:nvPr/>
        </p:nvSpPr>
        <p:spPr>
          <a:xfrm>
            <a:off x="8753602" y="2372380"/>
            <a:ext cx="1228599" cy="523220"/>
          </a:xfrm>
          <a:prstGeom prst="rect">
            <a:avLst/>
          </a:prstGeom>
          <a:noFill/>
        </p:spPr>
        <p:txBody>
          <a:bodyPr wrap="square" rtlCol="0">
            <a:spAutoFit/>
          </a:bodyPr>
          <a:lstStyle/>
          <a:p>
            <a:pPr algn="ctr"/>
            <a:r>
              <a:rPr lang="en-US" sz="1400" dirty="0"/>
              <a:t>Two’s Complement</a:t>
            </a:r>
          </a:p>
        </p:txBody>
      </p:sp>
      <p:graphicFrame>
        <p:nvGraphicFramePr>
          <p:cNvPr id="5" name="Table 4"/>
          <p:cNvGraphicFramePr>
            <a:graphicFrameLocks noGrp="1"/>
          </p:cNvGraphicFramePr>
          <p:nvPr/>
        </p:nvGraphicFramePr>
        <p:xfrm>
          <a:off x="2593848" y="198120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C00000"/>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52" name="Table 51"/>
          <p:cNvGraphicFramePr>
            <a:graphicFrameLocks noGrp="1"/>
          </p:cNvGraphicFramePr>
          <p:nvPr/>
        </p:nvGraphicFramePr>
        <p:xfrm>
          <a:off x="4472208" y="1990052"/>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00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6" name="Rounded Rectangle 5"/>
          <p:cNvSpPr/>
          <p:nvPr/>
        </p:nvSpPr>
        <p:spPr>
          <a:xfrm>
            <a:off x="2667000" y="3225544"/>
            <a:ext cx="3082232" cy="526262"/>
          </a:xfrm>
          <a:prstGeom prst="round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Simple Hardware </a:t>
            </a:r>
            <a:r>
              <a:rPr lang="en-US" dirty="0" err="1"/>
              <a:t>Subtractor</a:t>
            </a:r>
            <a:endParaRPr lang="en-US" dirty="0"/>
          </a:p>
        </p:txBody>
      </p:sp>
      <p:sp>
        <p:nvSpPr>
          <p:cNvPr id="54" name="TextBox 53"/>
          <p:cNvSpPr txBox="1"/>
          <p:nvPr/>
        </p:nvSpPr>
        <p:spPr>
          <a:xfrm>
            <a:off x="3048001" y="2357736"/>
            <a:ext cx="524503" cy="461665"/>
          </a:xfrm>
          <a:prstGeom prst="rect">
            <a:avLst/>
          </a:prstGeom>
          <a:noFill/>
        </p:spPr>
        <p:txBody>
          <a:bodyPr wrap="none" rtlCol="0">
            <a:spAutoFit/>
          </a:bodyPr>
          <a:lstStyle/>
          <a:p>
            <a:r>
              <a:rPr lang="en-US" sz="2400" b="1" dirty="0">
                <a:solidFill>
                  <a:srgbClr val="C00000"/>
                </a:solidFill>
                <a:latin typeface="Consolas" panose="020B0609020204030204" pitchFamily="49" charset="0"/>
                <a:cs typeface="Consolas" panose="020B0609020204030204" pitchFamily="49" charset="0"/>
              </a:rPr>
              <a:t>23</a:t>
            </a:r>
          </a:p>
        </p:txBody>
      </p:sp>
      <p:sp>
        <p:nvSpPr>
          <p:cNvPr id="56" name="TextBox 55"/>
          <p:cNvSpPr txBox="1"/>
          <p:nvPr/>
        </p:nvSpPr>
        <p:spPr>
          <a:xfrm>
            <a:off x="4984485" y="2357736"/>
            <a:ext cx="354584" cy="461665"/>
          </a:xfrm>
          <a:prstGeom prst="rect">
            <a:avLst/>
          </a:prstGeom>
          <a:noFill/>
        </p:spPr>
        <p:txBody>
          <a:bodyPr wrap="none" rtlCol="0">
            <a:spAutoFit/>
          </a:bodyPr>
          <a:lstStyle/>
          <a:p>
            <a:r>
              <a:rPr lang="en-US" sz="2400" b="1" dirty="0">
                <a:solidFill>
                  <a:srgbClr val="0000FF"/>
                </a:solidFill>
                <a:latin typeface="Consolas" panose="020B0609020204030204" pitchFamily="49" charset="0"/>
                <a:cs typeface="Consolas" panose="020B0609020204030204" pitchFamily="49" charset="0"/>
              </a:rPr>
              <a:t>6</a:t>
            </a:r>
          </a:p>
        </p:txBody>
      </p:sp>
      <p:grpSp>
        <p:nvGrpSpPr>
          <p:cNvPr id="26" name="Group 25"/>
          <p:cNvGrpSpPr/>
          <p:nvPr/>
        </p:nvGrpSpPr>
        <p:grpSpPr>
          <a:xfrm>
            <a:off x="3278123" y="2795616"/>
            <a:ext cx="1883654" cy="1390805"/>
            <a:chOff x="1754123" y="2743200"/>
            <a:chExt cx="1883654" cy="1390805"/>
          </a:xfrm>
        </p:grpSpPr>
        <p:cxnSp>
          <p:nvCxnSpPr>
            <p:cNvPr id="16" name="Straight Arrow Connector 15"/>
            <p:cNvCxnSpPr/>
            <p:nvPr/>
          </p:nvCxnSpPr>
          <p:spPr>
            <a:xfrm>
              <a:off x="1754123"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p:cNvCxnSpPr/>
            <p:nvPr/>
          </p:nvCxnSpPr>
          <p:spPr>
            <a:xfrm>
              <a:off x="3637777" y="2743200"/>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p:cNvCxnSpPr/>
            <p:nvPr/>
          </p:nvCxnSpPr>
          <p:spPr>
            <a:xfrm>
              <a:off x="2743200" y="3714683"/>
              <a:ext cx="0" cy="419322"/>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grpSp>
      <p:sp>
        <p:nvSpPr>
          <p:cNvPr id="58" name="TextBox 57"/>
          <p:cNvSpPr txBox="1"/>
          <p:nvPr/>
        </p:nvSpPr>
        <p:spPr>
          <a:xfrm>
            <a:off x="3995048" y="4191001"/>
            <a:ext cx="524503" cy="461665"/>
          </a:xfrm>
          <a:prstGeom prst="rect">
            <a:avLst/>
          </a:prstGeom>
          <a:noFill/>
        </p:spPr>
        <p:txBody>
          <a:bodyPr wrap="none" rtlCol="0">
            <a:spAutoFit/>
          </a:bodyPr>
          <a:lstStyle/>
          <a:p>
            <a:r>
              <a:rPr lang="en-US" sz="2400" b="1" dirty="0">
                <a:solidFill>
                  <a:srgbClr val="FF00FF"/>
                </a:solidFill>
                <a:latin typeface="Consolas" panose="020B0609020204030204" pitchFamily="49" charset="0"/>
                <a:cs typeface="Consolas" panose="020B0609020204030204" pitchFamily="49" charset="0"/>
              </a:rPr>
              <a:t>17</a:t>
            </a:r>
          </a:p>
        </p:txBody>
      </p:sp>
      <p:sp>
        <p:nvSpPr>
          <p:cNvPr id="19" name="TextBox 18"/>
          <p:cNvSpPr txBox="1"/>
          <p:nvPr/>
        </p:nvSpPr>
        <p:spPr>
          <a:xfrm>
            <a:off x="4038600" y="1295400"/>
            <a:ext cx="381836" cy="523220"/>
          </a:xfrm>
          <a:prstGeom prst="rect">
            <a:avLst/>
          </a:prstGeom>
          <a:noFill/>
        </p:spPr>
        <p:txBody>
          <a:bodyPr wrap="none" rtlCol="0">
            <a:spAutoFit/>
          </a:bodyPr>
          <a:lstStyle/>
          <a:p>
            <a:r>
              <a:rPr lang="en-US" sz="2800" b="1" dirty="0">
                <a:latin typeface="Consolas" charset="0"/>
                <a:ea typeface="Consolas" charset="0"/>
                <a:cs typeface="Consolas" charset="0"/>
              </a:rPr>
              <a:t>-</a:t>
            </a:r>
          </a:p>
        </p:txBody>
      </p:sp>
      <p:graphicFrame>
        <p:nvGraphicFramePr>
          <p:cNvPr id="59" name="Table 58"/>
          <p:cNvGraphicFramePr>
            <a:graphicFrameLocks noGrp="1"/>
          </p:cNvGraphicFramePr>
          <p:nvPr/>
        </p:nvGraphicFramePr>
        <p:xfrm>
          <a:off x="4480044" y="2001694"/>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graphicFrame>
        <p:nvGraphicFramePr>
          <p:cNvPr id="61" name="Table 60"/>
          <p:cNvGraphicFramePr>
            <a:graphicFrameLocks noGrp="1"/>
          </p:cNvGraphicFramePr>
          <p:nvPr/>
        </p:nvGraphicFramePr>
        <p:xfrm>
          <a:off x="2609414" y="1988846"/>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47" name="Rectangle 46"/>
          <p:cNvSpPr/>
          <p:nvPr/>
        </p:nvSpPr>
        <p:spPr>
          <a:xfrm>
            <a:off x="8882018" y="4419601"/>
            <a:ext cx="802182" cy="612517"/>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0" name="Group 49"/>
          <p:cNvGrpSpPr/>
          <p:nvPr/>
        </p:nvGrpSpPr>
        <p:grpSpPr>
          <a:xfrm>
            <a:off x="6508412" y="4421833"/>
            <a:ext cx="3183625" cy="632463"/>
            <a:chOff x="5388736" y="1565669"/>
            <a:chExt cx="3183625" cy="632463"/>
          </a:xfrm>
        </p:grpSpPr>
        <p:sp>
          <p:nvSpPr>
            <p:cNvPr id="64" name="Rectangle 63"/>
            <p:cNvSpPr/>
            <p:nvPr/>
          </p:nvSpPr>
          <p:spPr>
            <a:xfrm>
              <a:off x="5388736"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01111</a:t>
              </a:r>
              <a:endParaRPr lang="en-US" dirty="0">
                <a:solidFill>
                  <a:srgbClr val="FF00FF"/>
                </a:solidFill>
              </a:endParaRPr>
            </a:p>
          </p:txBody>
        </p:sp>
        <p:cxnSp>
          <p:nvCxnSpPr>
            <p:cNvPr id="65" name="Straight Arrow Connector 64"/>
            <p:cNvCxnSpPr/>
            <p:nvPr/>
          </p:nvCxnSpPr>
          <p:spPr>
            <a:xfrm>
              <a:off x="6206589" y="2013466"/>
              <a:ext cx="3669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6" name="Rectangle 65"/>
            <p:cNvSpPr/>
            <p:nvPr/>
          </p:nvSpPr>
          <p:spPr>
            <a:xfrm>
              <a:off x="6573547"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10000</a:t>
              </a:r>
            </a:p>
          </p:txBody>
        </p:sp>
        <p:sp>
          <p:nvSpPr>
            <p:cNvPr id="67" name="Rectangle 66"/>
            <p:cNvSpPr/>
            <p:nvPr/>
          </p:nvSpPr>
          <p:spPr>
            <a:xfrm>
              <a:off x="7754508" y="1828800"/>
              <a:ext cx="817853" cy="369332"/>
            </a:xfrm>
            <a:prstGeom prst="rect">
              <a:avLst/>
            </a:prstGeom>
          </p:spPr>
          <p:txBody>
            <a:bodyPr wrap="none">
              <a:spAutoFit/>
            </a:bodyPr>
            <a:lstStyle/>
            <a:p>
              <a:r>
                <a:rPr lang="en-US" b="1" dirty="0">
                  <a:solidFill>
                    <a:srgbClr val="FF00FF"/>
                  </a:solidFill>
                  <a:latin typeface="Consolas" panose="020B0609020204030204" pitchFamily="49" charset="0"/>
                  <a:cs typeface="Consolas" panose="020B0609020204030204" pitchFamily="49" charset="0"/>
                </a:rPr>
                <a:t>10001</a:t>
              </a:r>
            </a:p>
          </p:txBody>
        </p:sp>
        <p:cxnSp>
          <p:nvCxnSpPr>
            <p:cNvPr id="68" name="Straight Arrow Connector 67"/>
            <p:cNvCxnSpPr/>
            <p:nvPr/>
          </p:nvCxnSpPr>
          <p:spPr>
            <a:xfrm>
              <a:off x="7391400" y="2013466"/>
              <a:ext cx="3631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extBox 68"/>
            <p:cNvSpPr txBox="1"/>
            <p:nvPr/>
          </p:nvSpPr>
          <p:spPr>
            <a:xfrm>
              <a:off x="6155133" y="1671870"/>
              <a:ext cx="460382" cy="369332"/>
            </a:xfrm>
            <a:prstGeom prst="rect">
              <a:avLst/>
            </a:prstGeom>
            <a:noFill/>
          </p:spPr>
          <p:txBody>
            <a:bodyPr wrap="none" rtlCol="0">
              <a:spAutoFit/>
            </a:bodyPr>
            <a:lstStyle/>
            <a:p>
              <a:r>
                <a:rPr lang="en-US" dirty="0"/>
                <a:t>flip</a:t>
              </a:r>
            </a:p>
          </p:txBody>
        </p:sp>
        <p:sp>
          <p:nvSpPr>
            <p:cNvPr id="70" name="TextBox 69"/>
            <p:cNvSpPr txBox="1"/>
            <p:nvPr/>
          </p:nvSpPr>
          <p:spPr>
            <a:xfrm>
              <a:off x="7335445" y="1671870"/>
              <a:ext cx="434734" cy="369332"/>
            </a:xfrm>
            <a:prstGeom prst="rect">
              <a:avLst/>
            </a:prstGeom>
            <a:noFill/>
          </p:spPr>
          <p:txBody>
            <a:bodyPr wrap="none" rtlCol="0">
              <a:spAutoFit/>
            </a:bodyPr>
            <a:lstStyle/>
            <a:p>
              <a:r>
                <a:rPr lang="en-US" dirty="0">
                  <a:latin typeface="Consolas" panose="020B0609020204030204" pitchFamily="49" charset="0"/>
                  <a:cs typeface="Consolas" panose="020B0609020204030204" pitchFamily="49" charset="0"/>
                </a:rPr>
                <a:t>+1</a:t>
              </a:r>
            </a:p>
          </p:txBody>
        </p:sp>
        <p:sp>
          <p:nvSpPr>
            <p:cNvPr id="71" name="TextBox 70"/>
            <p:cNvSpPr txBox="1"/>
            <p:nvPr/>
          </p:nvSpPr>
          <p:spPr>
            <a:xfrm>
              <a:off x="5560396" y="1585615"/>
              <a:ext cx="437940"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15</a:t>
              </a:r>
            </a:p>
          </p:txBody>
        </p:sp>
        <p:sp>
          <p:nvSpPr>
            <p:cNvPr id="72" name="TextBox 71"/>
            <p:cNvSpPr txBox="1"/>
            <p:nvPr/>
          </p:nvSpPr>
          <p:spPr>
            <a:xfrm>
              <a:off x="7827136" y="1565669"/>
              <a:ext cx="564578" cy="369332"/>
            </a:xfrm>
            <a:prstGeom prst="rect">
              <a:avLst/>
            </a:prstGeom>
            <a:noFill/>
          </p:spPr>
          <p:txBody>
            <a:bodyPr wrap="none" rtlCol="0">
              <a:spAutoFit/>
            </a:bodyPr>
            <a:lstStyle/>
            <a:p>
              <a:r>
                <a:rPr lang="en-US" b="1" dirty="0">
                  <a:latin typeface="Consolas" panose="020B0609020204030204" pitchFamily="49" charset="0"/>
                  <a:cs typeface="Consolas" panose="020B0609020204030204" pitchFamily="49" charset="0"/>
                </a:rPr>
                <a:t>-15</a:t>
              </a:r>
            </a:p>
          </p:txBody>
        </p:sp>
      </p:grpSp>
      <p:graphicFrame>
        <p:nvGraphicFramePr>
          <p:cNvPr id="83" name="Table 82"/>
          <p:cNvGraphicFramePr>
            <a:graphicFrameLocks noGrp="1"/>
          </p:cNvGraphicFramePr>
          <p:nvPr/>
        </p:nvGraphicFramePr>
        <p:xfrm>
          <a:off x="3581400" y="4654175"/>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330123">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US" sz="1800" b="1" dirty="0">
                          <a:solidFill>
                            <a:srgbClr val="FF00FF"/>
                          </a:solidFill>
                          <a:latin typeface="Consolas" charset="0"/>
                          <a:ea typeface="Consolas" charset="0"/>
                          <a:cs typeface="Consolas" charset="0"/>
                        </a:rPr>
                        <a:t>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graphicFrame>
        <p:nvGraphicFramePr>
          <p:cNvPr id="84" name="Table 83"/>
          <p:cNvGraphicFramePr>
            <a:graphicFrameLocks noGrp="1"/>
          </p:cNvGraphicFramePr>
          <p:nvPr/>
        </p:nvGraphicFramePr>
        <p:xfrm>
          <a:off x="3609583" y="4663440"/>
          <a:ext cx="1368550" cy="365760"/>
        </p:xfrm>
        <a:graphic>
          <a:graphicData uri="http://schemas.openxmlformats.org/drawingml/2006/table">
            <a:tbl>
              <a:tblPr firstRow="1" bandRow="1">
                <a:tableStyleId>{5940675A-B579-460E-94D1-54222C63F5DA}</a:tableStyleId>
              </a:tblPr>
              <a:tblGrid>
                <a:gridCol w="273710">
                  <a:extLst>
                    <a:ext uri="{9D8B030D-6E8A-4147-A177-3AD203B41FA5}">
                      <a16:colId xmlns:a16="http://schemas.microsoft.com/office/drawing/2014/main" val="20000"/>
                    </a:ext>
                  </a:extLst>
                </a:gridCol>
                <a:gridCol w="273710">
                  <a:extLst>
                    <a:ext uri="{9D8B030D-6E8A-4147-A177-3AD203B41FA5}">
                      <a16:colId xmlns:a16="http://schemas.microsoft.com/office/drawing/2014/main" val="20001"/>
                    </a:ext>
                  </a:extLst>
                </a:gridCol>
                <a:gridCol w="273710">
                  <a:extLst>
                    <a:ext uri="{9D8B030D-6E8A-4147-A177-3AD203B41FA5}">
                      <a16:colId xmlns:a16="http://schemas.microsoft.com/office/drawing/2014/main" val="20002"/>
                    </a:ext>
                  </a:extLst>
                </a:gridCol>
                <a:gridCol w="273710">
                  <a:extLst>
                    <a:ext uri="{9D8B030D-6E8A-4147-A177-3AD203B41FA5}">
                      <a16:colId xmlns:a16="http://schemas.microsoft.com/office/drawing/2014/main" val="20003"/>
                    </a:ext>
                  </a:extLst>
                </a:gridCol>
                <a:gridCol w="273710">
                  <a:extLst>
                    <a:ext uri="{9D8B030D-6E8A-4147-A177-3AD203B41FA5}">
                      <a16:colId xmlns:a16="http://schemas.microsoft.com/office/drawing/2014/main" val="20004"/>
                    </a:ext>
                  </a:extLst>
                </a:gridCol>
              </a:tblGrid>
              <a:tr h="152400">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tc>
                  <a:txBody>
                    <a:bodyPr/>
                    <a:lstStyle/>
                    <a:p>
                      <a:endParaRPr lang="en-US" sz="1800" b="1" dirty="0">
                        <a:solidFill>
                          <a:srgbClr val="C00000"/>
                        </a:solidFill>
                        <a:latin typeface="Consolas" charset="0"/>
                        <a:ea typeface="Consolas" charset="0"/>
                        <a:cs typeface="Consolas" charset="0"/>
                      </a:endParaRPr>
                    </a:p>
                  </a:txBody>
                  <a:tcPr/>
                </a:tc>
                <a:extLst>
                  <a:ext uri="{0D108BD9-81ED-4DB2-BD59-A6C34878D82A}">
                    <a16:rowId xmlns:a16="http://schemas.microsoft.com/office/drawing/2014/main" val="10000"/>
                  </a:ext>
                </a:extLst>
              </a:tr>
            </a:tbl>
          </a:graphicData>
        </a:graphic>
      </p:graphicFrame>
      <p:sp>
        <p:nvSpPr>
          <p:cNvPr id="4" name="Content Placeholder 3">
            <a:extLst>
              <a:ext uri="{FF2B5EF4-FFF2-40B4-BE49-F238E27FC236}">
                <a16:creationId xmlns:a16="http://schemas.microsoft.com/office/drawing/2014/main" id="{B5897AC5-8D99-AD89-BAD3-ECE2B82BDB19}"/>
              </a:ext>
            </a:extLst>
          </p:cNvPr>
          <p:cNvSpPr>
            <a:spLocks noGrp="1"/>
          </p:cNvSpPr>
          <p:nvPr>
            <p:ph sz="quarter" idx="1"/>
          </p:nvPr>
        </p:nvSpPr>
        <p:spPr>
          <a:xfrm>
            <a:off x="6417313" y="2847441"/>
            <a:ext cx="5180078" cy="1497566"/>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lnSpcReduction="10000"/>
          </a:bodyPr>
          <a:lstStyle/>
          <a:p>
            <a:r>
              <a:rPr lang="en-US" sz="2400" dirty="0"/>
              <a:t>Same binary arithmetic: 10111 - 00110 = 10001 can represent:</a:t>
            </a:r>
          </a:p>
          <a:p>
            <a:pPr lvl="1"/>
            <a:r>
              <a:rPr lang="en-US" sz="2000" dirty="0"/>
              <a:t>Either signed arithmetic : (-9) - 6 = -15</a:t>
            </a:r>
          </a:p>
          <a:p>
            <a:pPr lvl="1"/>
            <a:r>
              <a:rPr lang="en-US" sz="2000" dirty="0"/>
              <a:t>Or unsigned arithmetic : 23 - 6 = 17</a:t>
            </a:r>
          </a:p>
        </p:txBody>
      </p:sp>
    </p:spTree>
    <p:extLst>
      <p:ext uri="{BB962C8B-B14F-4D97-AF65-F5344CB8AC3E}">
        <p14:creationId xmlns:p14="http://schemas.microsoft.com/office/powerpoint/2010/main" val="2359258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sz="3600"/>
              <a:t>Condition Codes</a:t>
            </a:r>
          </a:p>
        </p:txBody>
      </p:sp>
      <p:sp>
        <p:nvSpPr>
          <p:cNvPr id="8" name="Slide Number Placeholder 3"/>
          <p:cNvSpPr>
            <a:spLocks noGrp="1"/>
          </p:cNvSpPr>
          <p:nvPr>
            <p:ph type="sldNum" sz="quarter" idx="12"/>
          </p:nvPr>
        </p:nvSpPr>
        <p:spPr/>
        <p:txBody>
          <a:bodyPr/>
          <a:lstStyle/>
          <a:p>
            <a:fld id="{3D56C4D0-D1DD-434F-9E39-17578F101405}" type="slidenum">
              <a:rPr lang="en-US"/>
              <a:pPr/>
              <a:t>33</a:t>
            </a:fld>
            <a:endParaRPr lang="en-US"/>
          </a:p>
        </p:txBody>
      </p:sp>
      <p:sp>
        <p:nvSpPr>
          <p:cNvPr id="323586" name="Date Placeholder 3"/>
          <p:cNvSpPr txBox="1">
            <a:spLocks noGrp="1"/>
          </p:cNvSpPr>
          <p:nvPr/>
        </p:nvSpPr>
        <p:spPr bwMode="auto">
          <a:xfrm>
            <a:off x="1981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endParaRPr lang="en-US" sz="1400">
              <a:solidFill>
                <a:schemeClr val="bg2"/>
              </a:solidFill>
            </a:endParaRP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fld id="{433D14BE-FE52-4332-969F-3696FB65ED39}" type="slidenum">
              <a:rPr lang="en-US" sz="1400">
                <a:solidFill>
                  <a:schemeClr val="bg2"/>
                </a:solidFill>
              </a:rPr>
              <a:pPr algn="r"/>
              <a:t>33</a:t>
            </a:fld>
            <a:endParaRPr lang="en-US" sz="1400">
              <a:solidFill>
                <a:schemeClr val="bg2"/>
              </a:solidFill>
            </a:endParaRPr>
          </a:p>
        </p:txBody>
      </p:sp>
      <p:sp>
        <p:nvSpPr>
          <p:cNvPr id="38917" name="Rectangle 5"/>
          <p:cNvSpPr>
            <a:spLocks noChangeArrowheads="1"/>
          </p:cNvSpPr>
          <p:nvPr/>
        </p:nvSpPr>
        <p:spPr bwMode="auto">
          <a:xfrm>
            <a:off x="3112008" y="3946647"/>
            <a:ext cx="7016750" cy="23391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endParaRPr lang="en-US" sz="600" dirty="0"/>
          </a:p>
          <a:p>
            <a:pPr marL="285750" indent="-285750" eaLnBrk="0" hangingPunct="0">
              <a:buFont typeface="Arial" panose="020B0604020202020204" pitchFamily="34" charset="0"/>
              <a:buChar char="•"/>
            </a:pPr>
            <a:r>
              <a:rPr lang="en-US" dirty="0">
                <a:cs typeface="Times New Roman" pitchFamily="18" charset="0"/>
              </a:rPr>
              <a:t>C is set upon an </a:t>
            </a:r>
            <a:r>
              <a:rPr lang="en-US" b="1" u="sng" dirty="0">
                <a:solidFill>
                  <a:srgbClr val="800000"/>
                </a:solidFill>
                <a:cs typeface="Times New Roman" pitchFamily="18" charset="0"/>
              </a:rPr>
              <a:t>unsigned</a:t>
            </a:r>
            <a:r>
              <a:rPr lang="en-US" dirty="0">
                <a:cs typeface="Times New Roman" pitchFamily="18" charset="0"/>
              </a:rPr>
              <a:t> addition if the result is out of range</a:t>
            </a:r>
          </a:p>
          <a:p>
            <a:pPr marL="285750" indent="-285750" eaLnBrk="0" hangingPunct="0">
              <a:buFont typeface="Arial" panose="020B0604020202020204" pitchFamily="34" charset="0"/>
              <a:buChar char="•"/>
            </a:pPr>
            <a:r>
              <a:rPr lang="en-US" dirty="0"/>
              <a:t>C is cleared </a:t>
            </a:r>
            <a:r>
              <a:rPr lang="en-US" dirty="0">
                <a:cs typeface="Times New Roman" pitchFamily="18" charset="0"/>
              </a:rPr>
              <a:t>upon </a:t>
            </a:r>
            <a:r>
              <a:rPr lang="en-US" dirty="0"/>
              <a:t>an </a:t>
            </a:r>
            <a:r>
              <a:rPr lang="en-US" b="1" u="sng" dirty="0">
                <a:solidFill>
                  <a:srgbClr val="800000"/>
                </a:solidFill>
              </a:rPr>
              <a:t>unsigned</a:t>
            </a:r>
            <a:r>
              <a:rPr lang="en-US" dirty="0"/>
              <a:t> subtract if the result is out of range</a:t>
            </a:r>
            <a:endParaRPr lang="en-US" sz="600" dirty="0"/>
          </a:p>
          <a:p>
            <a:pPr marL="285750" indent="-285750" eaLnBrk="0" hangingPunct="0">
              <a:buFont typeface="Arial" panose="020B0604020202020204" pitchFamily="34" charset="0"/>
              <a:buChar char="•"/>
            </a:pPr>
            <a:r>
              <a:rPr lang="en-US" dirty="0">
                <a:cs typeface="Times New Roman" pitchFamily="18" charset="0"/>
              </a:rPr>
              <a:t>V is set upon a </a:t>
            </a:r>
            <a:r>
              <a:rPr lang="en-US" b="1" u="sng" dirty="0">
                <a:solidFill>
                  <a:srgbClr val="800000"/>
                </a:solidFill>
                <a:cs typeface="Times New Roman" pitchFamily="18" charset="0"/>
              </a:rPr>
              <a:t>signed</a:t>
            </a:r>
            <a:r>
              <a:rPr lang="en-US" dirty="0">
                <a:cs typeface="Times New Roman" pitchFamily="18" charset="0"/>
              </a:rPr>
              <a:t> addition or subtraction if the result is out of range </a:t>
            </a:r>
          </a:p>
          <a:p>
            <a:pPr eaLnBrk="0" hangingPunct="0"/>
            <a:endParaRPr lang="en-US" dirty="0">
              <a:cs typeface="Times New Roman" pitchFamily="18" charset="0"/>
            </a:endParaRPr>
          </a:p>
          <a:p>
            <a:pPr eaLnBrk="0" hangingPunct="0"/>
            <a:r>
              <a:rPr lang="en-US" sz="3200" dirty="0">
                <a:solidFill>
                  <a:srgbClr val="C00000"/>
                </a:solidFill>
                <a:cs typeface="Times New Roman" pitchFamily="18" charset="0"/>
              </a:rPr>
              <a:t>Why do we care about these bits?</a:t>
            </a:r>
            <a:endParaRPr lang="en-US" sz="1100" dirty="0">
              <a:solidFill>
                <a:srgbClr val="C00000"/>
              </a:solidFill>
            </a:endParaRPr>
          </a:p>
          <a:p>
            <a:pPr eaLnBrk="0" hangingPunct="0"/>
            <a:endParaRPr lang="en-US" dirty="0"/>
          </a:p>
        </p:txBody>
      </p:sp>
      <p:graphicFrame>
        <p:nvGraphicFramePr>
          <p:cNvPr id="39012" name="Group 100"/>
          <p:cNvGraphicFramePr>
            <a:graphicFrameLocks noGrp="1"/>
          </p:cNvGraphicFramePr>
          <p:nvPr>
            <p:extLst>
              <p:ext uri="{D42A27DB-BD31-4B8C-83A1-F6EECF244321}">
                <p14:modId xmlns:p14="http://schemas.microsoft.com/office/powerpoint/2010/main" val="2244330101"/>
              </p:ext>
            </p:extLst>
          </p:nvPr>
        </p:nvGraphicFramePr>
        <p:xfrm>
          <a:off x="2971800" y="1524001"/>
          <a:ext cx="5715000" cy="2363788"/>
        </p:xfrm>
        <a:graphic>
          <a:graphicData uri="http://schemas.openxmlformats.org/drawingml/2006/table">
            <a:tbl>
              <a:tblPr>
                <a:tableStyleId>{BC89EF96-8CEA-46FF-86C4-4CE0E7609802}</a:tableStyleId>
              </a:tblPr>
              <a:tblGrid>
                <a:gridCol w="585788">
                  <a:extLst>
                    <a:ext uri="{9D8B030D-6E8A-4147-A177-3AD203B41FA5}">
                      <a16:colId xmlns:a16="http://schemas.microsoft.com/office/drawing/2014/main" val="20000"/>
                    </a:ext>
                  </a:extLst>
                </a:gridCol>
                <a:gridCol w="1279525">
                  <a:extLst>
                    <a:ext uri="{9D8B030D-6E8A-4147-A177-3AD203B41FA5}">
                      <a16:colId xmlns:a16="http://schemas.microsoft.com/office/drawing/2014/main" val="20001"/>
                    </a:ext>
                  </a:extLst>
                </a:gridCol>
                <a:gridCol w="3849687">
                  <a:extLst>
                    <a:ext uri="{9D8B030D-6E8A-4147-A177-3AD203B41FA5}">
                      <a16:colId xmlns:a16="http://schemas.microsoft.com/office/drawing/2014/main" val="20002"/>
                    </a:ext>
                  </a:extLst>
                </a:gridCol>
              </a:tblGrid>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Bit</a:t>
                      </a:r>
                      <a:endParaRPr kumimoji="0" lang="en-US" sz="2000" b="1" i="0" u="none" strike="noStrike" cap="none" normalizeH="0" baseline="0" dirty="0">
                        <a:ln>
                          <a:noFill/>
                        </a:ln>
                        <a:solidFill>
                          <a:schemeClr val="bg1"/>
                        </a:solidFill>
                        <a:effectLst/>
                        <a:latin typeface="+mn-lt"/>
                      </a:endParaRPr>
                    </a:p>
                  </a:txBody>
                  <a:tcPr horzOverflow="overflow">
                    <a:lnR w="3175" cap="flat" cmpd="sng" algn="ctr">
                      <a:solidFill>
                        <a:schemeClr val="tx2"/>
                      </a:solidFill>
                      <a:prstDash val="solid"/>
                      <a:round/>
                      <a:headEnd type="none" w="med" len="med"/>
                      <a:tailEnd type="none" w="med" len="med"/>
                    </a:lnR>
                    <a:solidFill>
                      <a:schemeClr val="tx2"/>
                    </a:solid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Name</a:t>
                      </a:r>
                      <a:endParaRPr kumimoji="0" lang="en-US" sz="2000" b="1" i="0" u="none" strike="noStrike" cap="none" normalizeH="0" baseline="0" dirty="0">
                        <a:ln>
                          <a:noFill/>
                        </a:ln>
                        <a:solidFill>
                          <a:schemeClr val="bg1"/>
                        </a:solidFill>
                        <a:effectLst/>
                        <a:latin typeface="+mn-lt"/>
                      </a:endParaRPr>
                    </a:p>
                  </a:txBody>
                  <a:tcPr horzOverflow="overflow">
                    <a:lnL w="3175" cap="flat" cmpd="sng" algn="ctr">
                      <a:solidFill>
                        <a:schemeClr val="tx2"/>
                      </a:solidFill>
                      <a:prstDash val="solid"/>
                      <a:round/>
                      <a:headEnd type="none" w="med" len="med"/>
                      <a:tailEnd type="none" w="med" len="med"/>
                    </a:lnL>
                    <a:solidFill>
                      <a:schemeClr val="tx2"/>
                    </a:solidFill>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solidFill>
                            <a:schemeClr val="bg1"/>
                          </a:solidFill>
                          <a:effectLst/>
                        </a:rPr>
                        <a:t>Meaning after add or sub</a:t>
                      </a:r>
                      <a:endParaRPr kumimoji="0" lang="en-US" sz="2000" b="1" i="0" u="none" strike="noStrike" cap="none" normalizeH="0" baseline="0" dirty="0">
                        <a:ln>
                          <a:noFill/>
                        </a:ln>
                        <a:solidFill>
                          <a:schemeClr val="bg1"/>
                        </a:solidFill>
                        <a:effectLst/>
                        <a:latin typeface="+mn-lt"/>
                      </a:endParaRPr>
                    </a:p>
                  </a:txBody>
                  <a:tcPr horzOverflow="overflow">
                    <a:solidFill>
                      <a:schemeClr val="tx2"/>
                    </a:solidFill>
                  </a:tcPr>
                </a:tc>
                <a:extLst>
                  <a:ext uri="{0D108BD9-81ED-4DB2-BD59-A6C34878D82A}">
                    <a16:rowId xmlns:a16="http://schemas.microsoft.com/office/drawing/2014/main" val="10000"/>
                  </a:ext>
                </a:extLst>
              </a:tr>
              <a:tr h="471488">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N</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negative</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Result’s MSB = 1 (signed result &lt; 0)</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1"/>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Z</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zero</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Result == 0</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2"/>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C</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carry</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Unsigned arithmetic out of range</a:t>
                      </a:r>
                      <a:endParaRPr kumimoji="0" lang="en-US" sz="2000" b="0" i="0" u="none" strike="noStrike" cap="none" normalizeH="0" baseline="0" dirty="0">
                        <a:ln>
                          <a:noFill/>
                        </a:ln>
                        <a:solidFill>
                          <a:schemeClr val="tx1"/>
                        </a:solidFill>
                        <a:effectLst/>
                        <a:latin typeface="+mn-lt"/>
                      </a:endParaRPr>
                    </a:p>
                  </a:txBody>
                  <a:tcPr horzOverflow="overflow"/>
                </a:tc>
                <a:extLst>
                  <a:ext uri="{0D108BD9-81ED-4DB2-BD59-A6C34878D82A}">
                    <a16:rowId xmlns:a16="http://schemas.microsoft.com/office/drawing/2014/main" val="10004"/>
                  </a:ext>
                </a:extLst>
              </a:tr>
              <a:tr h="473075">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dirty="0">
                          <a:ln>
                            <a:noFill/>
                          </a:ln>
                          <a:effectLst/>
                        </a:rPr>
                        <a:t>V</a:t>
                      </a:r>
                      <a:endParaRPr kumimoji="0" lang="en-US" sz="2000" b="0" i="0" u="none" strike="noStrike" cap="none" normalizeH="0" baseline="0" dirty="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u="none" strike="noStrike" cap="none" normalizeH="0" baseline="0">
                          <a:ln>
                            <a:noFill/>
                          </a:ln>
                          <a:effectLst/>
                        </a:rPr>
                        <a:t>overflow</a:t>
                      </a:r>
                      <a:endParaRPr kumimoji="0" lang="en-US" sz="2000" b="0" i="0" u="none" strike="noStrike" cap="none" normalizeH="0" baseline="0">
                        <a:ln>
                          <a:noFill/>
                        </a:ln>
                        <a:solidFill>
                          <a:schemeClr val="tx1"/>
                        </a:solidFill>
                        <a:effectLst/>
                        <a:latin typeface="+mn-lt"/>
                      </a:endParaRPr>
                    </a:p>
                  </a:txBody>
                  <a:tcPr horzOverflow="overflow"/>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chemeClr val="tx1"/>
                          </a:solidFill>
                          <a:effectLst/>
                          <a:latin typeface="+mn-lt"/>
                        </a:rPr>
                        <a:t>Signed arithmetic out of range</a:t>
                      </a:r>
                    </a:p>
                  </a:txBody>
                  <a:tcPr horzOverflow="overflow"/>
                </a:tc>
                <a:extLst>
                  <a:ext uri="{0D108BD9-81ED-4DB2-BD59-A6C34878D82A}">
                    <a16:rowId xmlns:a16="http://schemas.microsoft.com/office/drawing/2014/main" val="1303120599"/>
                  </a:ext>
                </a:extLst>
              </a:tr>
            </a:tbl>
          </a:graphicData>
        </a:graphic>
      </p:graphicFrame>
      <p:sp>
        <p:nvSpPr>
          <p:cNvPr id="11" name="Rectangle 20">
            <a:extLst>
              <a:ext uri="{FF2B5EF4-FFF2-40B4-BE49-F238E27FC236}">
                <a16:creationId xmlns:a16="http://schemas.microsoft.com/office/drawing/2014/main" id="{3567137F-4E5B-38F2-E5A9-A30F3D321638}"/>
              </a:ext>
            </a:extLst>
          </p:cNvPr>
          <p:cNvSpPr>
            <a:spLocks noChangeArrowheads="1"/>
          </p:cNvSpPr>
          <p:nvPr/>
        </p:nvSpPr>
        <p:spPr bwMode="auto">
          <a:xfrm>
            <a:off x="9372600" y="2322337"/>
            <a:ext cx="1943100" cy="400050"/>
          </a:xfrm>
          <a:prstGeom prst="rect">
            <a:avLst/>
          </a:prstGeom>
          <a:solidFill>
            <a:srgbClr val="FFFF00"/>
          </a:solidFill>
          <a:ln w="12700">
            <a:solidFill>
              <a:schemeClr val="tx1"/>
            </a:solidFill>
            <a:miter lim="800000"/>
            <a:headEnd type="none" w="sm" len="sm"/>
            <a:tailEnd type="none" w="sm" len="sm"/>
          </a:ln>
        </p:spPr>
        <p:txBody>
          <a:bodyPr wrap="none" anchor="ctr"/>
          <a:lstStyle/>
          <a:p>
            <a:pPr algn="ctr" defTabSz="342900"/>
            <a:endParaRPr lang="en-US" sz="1350" dirty="0">
              <a:solidFill>
                <a:prstClr val="black"/>
              </a:solidFill>
              <a:latin typeface="Calibri"/>
            </a:endParaRPr>
          </a:p>
        </p:txBody>
      </p:sp>
      <p:sp>
        <p:nvSpPr>
          <p:cNvPr id="12" name="Text Box 21">
            <a:extLst>
              <a:ext uri="{FF2B5EF4-FFF2-40B4-BE49-F238E27FC236}">
                <a16:creationId xmlns:a16="http://schemas.microsoft.com/office/drawing/2014/main" id="{06EAFE48-8982-1087-E8AE-039866BE1E15}"/>
              </a:ext>
            </a:extLst>
          </p:cNvPr>
          <p:cNvSpPr txBox="1">
            <a:spLocks noChangeArrowheads="1"/>
          </p:cNvSpPr>
          <p:nvPr/>
        </p:nvSpPr>
        <p:spPr bwMode="auto">
          <a:xfrm>
            <a:off x="9303544" y="2083543"/>
            <a:ext cx="380232" cy="323165"/>
          </a:xfrm>
          <a:prstGeom prst="rect">
            <a:avLst/>
          </a:prstGeom>
          <a:noFill/>
          <a:ln w="12700">
            <a:noFill/>
            <a:miter lim="800000"/>
            <a:headEnd type="none" w="sm" len="sm"/>
            <a:tailEnd type="none" w="sm" len="sm"/>
          </a:ln>
        </p:spPr>
        <p:txBody>
          <a:bodyPr wrap="none">
            <a:spAutoFit/>
          </a:bodyPr>
          <a:lstStyle/>
          <a:p>
            <a:pPr defTabSz="342900"/>
            <a:r>
              <a:rPr lang="en-US" sz="1500">
                <a:solidFill>
                  <a:prstClr val="black"/>
                </a:solidFill>
                <a:latin typeface="Calibri"/>
              </a:rPr>
              <a:t>31</a:t>
            </a:r>
          </a:p>
        </p:txBody>
      </p:sp>
      <p:sp>
        <p:nvSpPr>
          <p:cNvPr id="13" name="Text Box 22">
            <a:extLst>
              <a:ext uri="{FF2B5EF4-FFF2-40B4-BE49-F238E27FC236}">
                <a16:creationId xmlns:a16="http://schemas.microsoft.com/office/drawing/2014/main" id="{451919BE-4298-9C2B-1D8D-22FDFDA53A00}"/>
              </a:ext>
            </a:extLst>
          </p:cNvPr>
          <p:cNvSpPr txBox="1">
            <a:spLocks noChangeArrowheads="1"/>
          </p:cNvSpPr>
          <p:nvPr/>
        </p:nvSpPr>
        <p:spPr bwMode="auto">
          <a:xfrm>
            <a:off x="11029950" y="2072827"/>
            <a:ext cx="282450" cy="323165"/>
          </a:xfrm>
          <a:prstGeom prst="rect">
            <a:avLst/>
          </a:prstGeom>
          <a:noFill/>
          <a:ln w="12700">
            <a:noFill/>
            <a:miter lim="800000"/>
            <a:headEnd type="none" w="sm" len="sm"/>
            <a:tailEnd type="none" w="sm" len="sm"/>
          </a:ln>
        </p:spPr>
        <p:txBody>
          <a:bodyPr wrap="none">
            <a:spAutoFit/>
          </a:bodyPr>
          <a:lstStyle/>
          <a:p>
            <a:pPr defTabSz="342900"/>
            <a:r>
              <a:rPr lang="en-US" sz="1500" dirty="0">
                <a:solidFill>
                  <a:prstClr val="black"/>
                </a:solidFill>
                <a:latin typeface="Calibri"/>
              </a:rPr>
              <a:t>0</a:t>
            </a:r>
          </a:p>
        </p:txBody>
      </p:sp>
      <p:sp>
        <p:nvSpPr>
          <p:cNvPr id="14" name="Rectangle 13">
            <a:extLst>
              <a:ext uri="{FF2B5EF4-FFF2-40B4-BE49-F238E27FC236}">
                <a16:creationId xmlns:a16="http://schemas.microsoft.com/office/drawing/2014/main" id="{812AB5DC-5C03-5A22-311C-2453FF108940}"/>
              </a:ext>
            </a:extLst>
          </p:cNvPr>
          <p:cNvSpPr/>
          <p:nvPr/>
        </p:nvSpPr>
        <p:spPr>
          <a:xfrm>
            <a:off x="9372601" y="2322337"/>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N</a:t>
            </a:r>
          </a:p>
        </p:txBody>
      </p:sp>
      <p:sp>
        <p:nvSpPr>
          <p:cNvPr id="15" name="Rectangle 14">
            <a:extLst>
              <a:ext uri="{FF2B5EF4-FFF2-40B4-BE49-F238E27FC236}">
                <a16:creationId xmlns:a16="http://schemas.microsoft.com/office/drawing/2014/main" id="{9C6861D9-08DC-079D-4F5A-241FCBE5B340}"/>
              </a:ext>
            </a:extLst>
          </p:cNvPr>
          <p:cNvSpPr/>
          <p:nvPr/>
        </p:nvSpPr>
        <p:spPr>
          <a:xfrm>
            <a:off x="9534723" y="2322059"/>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Z</a:t>
            </a:r>
          </a:p>
        </p:txBody>
      </p:sp>
      <p:sp>
        <p:nvSpPr>
          <p:cNvPr id="16" name="Rectangle 15">
            <a:extLst>
              <a:ext uri="{FF2B5EF4-FFF2-40B4-BE49-F238E27FC236}">
                <a16:creationId xmlns:a16="http://schemas.microsoft.com/office/drawing/2014/main" id="{64F9C2CF-5E3E-748B-AEEC-4D8B447C277D}"/>
              </a:ext>
            </a:extLst>
          </p:cNvPr>
          <p:cNvSpPr/>
          <p:nvPr/>
        </p:nvSpPr>
        <p:spPr>
          <a:xfrm>
            <a:off x="9696846" y="2321502"/>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C</a:t>
            </a:r>
          </a:p>
        </p:txBody>
      </p:sp>
      <p:sp>
        <p:nvSpPr>
          <p:cNvPr id="17" name="Rectangle 16">
            <a:extLst>
              <a:ext uri="{FF2B5EF4-FFF2-40B4-BE49-F238E27FC236}">
                <a16:creationId xmlns:a16="http://schemas.microsoft.com/office/drawing/2014/main" id="{DC29B2E9-FB7E-A9D5-6981-2C31D01154AC}"/>
              </a:ext>
            </a:extLst>
          </p:cNvPr>
          <p:cNvSpPr/>
          <p:nvPr/>
        </p:nvSpPr>
        <p:spPr>
          <a:xfrm>
            <a:off x="9856587" y="2321501"/>
            <a:ext cx="159741" cy="39977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defTabSz="342900"/>
            <a:r>
              <a:rPr lang="en-US" sz="1350" dirty="0">
                <a:solidFill>
                  <a:prstClr val="black"/>
                </a:solidFill>
                <a:latin typeface="Calibri"/>
              </a:rPr>
              <a:t>V</a:t>
            </a:r>
          </a:p>
        </p:txBody>
      </p:sp>
      <p:sp>
        <p:nvSpPr>
          <p:cNvPr id="18" name="Rectangle 17">
            <a:extLst>
              <a:ext uri="{FF2B5EF4-FFF2-40B4-BE49-F238E27FC236}">
                <a16:creationId xmlns:a16="http://schemas.microsoft.com/office/drawing/2014/main" id="{B2CA3B14-8DE0-8221-4648-DA185ABF1B22}"/>
              </a:ext>
            </a:extLst>
          </p:cNvPr>
          <p:cNvSpPr/>
          <p:nvPr/>
        </p:nvSpPr>
        <p:spPr>
          <a:xfrm>
            <a:off x="8744261" y="2767825"/>
            <a:ext cx="3447739" cy="338554"/>
          </a:xfrm>
          <a:prstGeom prst="rect">
            <a:avLst/>
          </a:prstGeom>
        </p:spPr>
        <p:txBody>
          <a:bodyPr wrap="none">
            <a:spAutoFit/>
          </a:bodyPr>
          <a:lstStyle/>
          <a:p>
            <a:pPr defTabSz="342900"/>
            <a:r>
              <a:rPr lang="en-US" sz="1600" dirty="0">
                <a:solidFill>
                  <a:prstClr val="black"/>
                </a:solidFill>
                <a:latin typeface="Calibri"/>
              </a:rPr>
              <a:t>CPSR (Current Program Status Register)</a:t>
            </a:r>
          </a:p>
        </p:txBody>
      </p:sp>
    </p:spTree>
    <p:extLst>
      <p:ext uri="{BB962C8B-B14F-4D97-AF65-F5344CB8AC3E}">
        <p14:creationId xmlns:p14="http://schemas.microsoft.com/office/powerpoint/2010/main" val="382635664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9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7" grpId="0" autoUpdateAnimBg="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Carry and Overflow Flags</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dirty="0"/>
          </a:p>
        </p:txBody>
      </p:sp>
      <mc:AlternateContent xmlns:mc="http://schemas.openxmlformats.org/markup-compatibility/2006" xmlns:a14="http://schemas.microsoft.com/office/drawing/2010/main">
        <mc:Choice Requires="a14">
          <p:graphicFrame>
            <p:nvGraphicFramePr>
              <p:cNvPr id="5" name="Table 4"/>
              <p:cNvGraphicFramePr>
                <a:graphicFrameLocks noGrp="1"/>
              </p:cNvGraphicFramePr>
              <p:nvPr>
                <p:extLst>
                  <p:ext uri="{D42A27DB-BD31-4B8C-83A1-F6EECF244321}">
                    <p14:modId xmlns:p14="http://schemas.microsoft.com/office/powerpoint/2010/main" val="634307560"/>
                  </p:ext>
                </p:extLst>
              </p:nvPr>
            </p:nvGraphicFramePr>
            <p:xfrm>
              <a:off x="3266090" y="2778967"/>
              <a:ext cx="5958816" cy="2067317"/>
            </p:xfrm>
            <a:graphic>
              <a:graphicData uri="http://schemas.openxmlformats.org/drawingml/2006/table">
                <a:tbl>
                  <a:tblPr firstRow="1" bandRow="1">
                    <a:tableStyleId>{5C22544A-7EE6-4342-B048-85BDC9FD1C3A}</a:tableStyleId>
                  </a:tblPr>
                  <a:tblGrid>
                    <a:gridCol w="993118">
                      <a:extLst>
                        <a:ext uri="{9D8B030D-6E8A-4147-A177-3AD203B41FA5}">
                          <a16:colId xmlns:a16="http://schemas.microsoft.com/office/drawing/2014/main" val="2291374405"/>
                        </a:ext>
                      </a:extLst>
                    </a:gridCol>
                    <a:gridCol w="2374897">
                      <a:extLst>
                        <a:ext uri="{9D8B030D-6E8A-4147-A177-3AD203B41FA5}">
                          <a16:colId xmlns:a16="http://schemas.microsoft.com/office/drawing/2014/main" val="2488780544"/>
                        </a:ext>
                      </a:extLst>
                    </a:gridCol>
                    <a:gridCol w="2590801">
                      <a:extLst>
                        <a:ext uri="{9D8B030D-6E8A-4147-A177-3AD203B41FA5}">
                          <a16:colId xmlns:a16="http://schemas.microsoft.com/office/drawing/2014/main" val="1468842029"/>
                        </a:ext>
                      </a:extLst>
                    </a:gridCol>
                  </a:tblGrid>
                  <a:tr h="685800">
                    <a:tc>
                      <a:txBody>
                        <a:bodyPr/>
                        <a:lstStyle/>
                        <a:p>
                          <a:endParaRPr lang="en-US" dirty="0"/>
                        </a:p>
                      </a:txBody>
                      <a:tcPr/>
                    </a:tc>
                    <a:tc>
                      <a:txBody>
                        <a:bodyPr/>
                        <a:lstStyle/>
                        <a:p>
                          <a:pPr algn="ctr"/>
                          <a:r>
                            <a:rPr lang="en-US" dirty="0"/>
                            <a:t>Carry </a:t>
                          </a:r>
                        </a:p>
                        <a:p>
                          <a:pPr algn="ctr"/>
                          <a:r>
                            <a:rPr lang="en-US" dirty="0"/>
                            <a:t>(for unsigned)</a:t>
                          </a:r>
                        </a:p>
                      </a:txBody>
                      <a:tcPr/>
                    </a:tc>
                    <a:tc>
                      <a:txBody>
                        <a:bodyPr/>
                        <a:lstStyle/>
                        <a:p>
                          <a:pPr algn="ctr"/>
                          <a:r>
                            <a:rPr lang="en-US" dirty="0"/>
                            <a:t>Overflow </a:t>
                          </a:r>
                        </a:p>
                        <a:p>
                          <a:pPr algn="ctr"/>
                          <a:r>
                            <a:rPr lang="en-US" dirty="0"/>
                            <a:t>(for signed)</a:t>
                          </a:r>
                        </a:p>
                      </a:txBody>
                      <a:tcPr/>
                    </a:tc>
                    <a:extLst>
                      <a:ext uri="{0D108BD9-81ED-4DB2-BD59-A6C34878D82A}">
                        <a16:rowId xmlns:a16="http://schemas.microsoft.com/office/drawing/2014/main" val="1121578073"/>
                      </a:ext>
                    </a:extLst>
                  </a:tr>
                  <a:tr h="741437">
                    <a:tc>
                      <a:txBody>
                        <a:bodyPr/>
                        <a:lstStyle/>
                        <a:p>
                          <a:r>
                            <a:rPr lang="en-US" dirty="0"/>
                            <a:t>Add</a:t>
                          </a:r>
                        </a:p>
                      </a:txBody>
                      <a:tcPr/>
                    </a:tc>
                    <a:tc>
                      <a:txBody>
                        <a:bodyPr/>
                        <a:lstStyle/>
                        <a:p>
                          <a14:m>
                            <m:oMath xmlns:m="http://schemas.openxmlformats.org/officeDocument/2006/math">
                              <m:r>
                                <a:rPr lang="en-US" b="0" i="1" smtClean="0">
                                  <a:solidFill>
                                    <a:srgbClr val="C00000"/>
                                  </a:solidFill>
                                  <a:latin typeface="Cambria Math" panose="02040503050406030204" pitchFamily="18" charset="0"/>
                                </a:rPr>
                                <m:t>𝐶𝑎𝑟𝑟𝑦</m:t>
                              </m:r>
                              <m:r>
                                <a:rPr lang="en-US" b="0" i="1" smtClean="0">
                                  <a:solidFill>
                                    <a:srgbClr val="C00000"/>
                                  </a:solidFill>
                                  <a:latin typeface="Cambria Math" panose="02040503050406030204" pitchFamily="18" charset="0"/>
                                </a:rPr>
                                <m:t>=1</m:t>
                              </m:r>
                            </m:oMath>
                          </a14:m>
                          <a:r>
                            <a:rPr lang="en-US" b="0" dirty="0">
                              <a:solidFill>
                                <a:srgbClr val="C00000"/>
                              </a:solidFill>
                            </a:rPr>
                            <a:t> </a:t>
                          </a:r>
                          <a:r>
                            <a:rPr lang="en-US" b="0" dirty="0"/>
                            <a:t>if </a:t>
                          </a:r>
                          <a14:m>
                            <m:oMath xmlns:m="http://schemas.openxmlformats.org/officeDocument/2006/math">
                              <m:r>
                                <a:rPr lang="en-US" b="0" i="1" smtClean="0">
                                  <a:latin typeface="Cambria Math" panose="02040503050406030204" pitchFamily="18" charset="0"/>
                                </a:rPr>
                                <m:t>𝑐</m:t>
                              </m:r>
                            </m:oMath>
                          </a14:m>
                          <a:r>
                            <a:rPr lang="en-US" dirty="0"/>
                            <a:t> is too large to fit in. </a:t>
                          </a:r>
                        </a:p>
                      </a:txBody>
                      <a:tcPr/>
                    </a:tc>
                    <a:tc rowSpan="2">
                      <a:txBody>
                        <a:bodyPr/>
                        <a:lstStyle/>
                        <a:p>
                          <a14:m>
                            <m:oMath xmlns:m="http://schemas.openxmlformats.org/officeDocument/2006/math">
                              <m:r>
                                <a:rPr lang="en-US" b="0" i="1" smtClean="0">
                                  <a:solidFill>
                                    <a:srgbClr val="C00000"/>
                                  </a:solidFill>
                                  <a:latin typeface="Cambria Math" panose="02040503050406030204" pitchFamily="18" charset="0"/>
                                </a:rPr>
                                <m:t>𝑂𝑣𝑒𝑟𝑓𝑙𝑜𝑤</m:t>
                              </m:r>
                              <m:r>
                                <a:rPr lang="en-US" b="0" i="1" smtClean="0">
                                  <a:solidFill>
                                    <a:srgbClr val="C00000"/>
                                  </a:solidFill>
                                  <a:latin typeface="Cambria Math" panose="02040503050406030204" pitchFamily="18" charset="0"/>
                                </a:rPr>
                                <m:t>=1</m:t>
                              </m:r>
                            </m:oMath>
                          </a14:m>
                          <a:r>
                            <a:rPr lang="en-US" dirty="0">
                              <a:solidFill>
                                <a:srgbClr val="C00000"/>
                              </a:solidFill>
                            </a:rPr>
                            <a:t> </a:t>
                          </a:r>
                          <a:r>
                            <a:rPr lang="en-US" dirty="0"/>
                            <a:t>if </a:t>
                          </a:r>
                          <a14:m>
                            <m:oMath xmlns:m="http://schemas.openxmlformats.org/officeDocument/2006/math">
                              <m:r>
                                <a:rPr lang="en-US" b="0" i="1" smtClean="0">
                                  <a:latin typeface="Cambria Math" panose="02040503050406030204" pitchFamily="18" charset="0"/>
                                </a:rPr>
                                <m:t>𝑐</m:t>
                              </m:r>
                            </m:oMath>
                          </a14:m>
                          <a:r>
                            <a:rPr lang="en-US" dirty="0"/>
                            <a:t> is too large or too small to fit in</a:t>
                          </a:r>
                        </a:p>
                      </a:txBody>
                      <a:tcPr anchor="ctr"/>
                    </a:tc>
                    <a:extLst>
                      <a:ext uri="{0D108BD9-81ED-4DB2-BD59-A6C34878D82A}">
                        <a16:rowId xmlns:a16="http://schemas.microsoft.com/office/drawing/2014/main" val="4067339836"/>
                      </a:ext>
                    </a:extLst>
                  </a:tr>
                  <a:tr h="519452">
                    <a:tc>
                      <a:txBody>
                        <a:bodyPr/>
                        <a:lstStyle/>
                        <a:p>
                          <a:r>
                            <a:rPr lang="en-US" dirty="0"/>
                            <a:t>Subtract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b="0" i="1" dirty="0" smtClean="0">
                                  <a:latin typeface="Cambria Math" panose="02040503050406030204" pitchFamily="18" charset="0"/>
                                </a:rPr>
                                <m:t>𝐵𝑜𝑟𝑟𝑜𝑤</m:t>
                              </m:r>
                              <m:r>
                                <a:rPr lang="en-US" b="0" i="1" dirty="0" smtClean="0">
                                  <a:latin typeface="Cambria Math" panose="02040503050406030204" pitchFamily="18" charset="0"/>
                                </a:rPr>
                                <m:t>=1</m:t>
                              </m:r>
                            </m:oMath>
                          </a14:m>
                          <a:r>
                            <a:rPr lang="en-US" b="0" dirty="0"/>
                            <a:t>, </a:t>
                          </a:r>
                          <a:r>
                            <a:rPr lang="en-US" b="0" i="1" dirty="0"/>
                            <a:t>i.e.</a:t>
                          </a:r>
                          <a:r>
                            <a:rPr lang="en-US" b="0" dirty="0"/>
                            <a:t> </a:t>
                          </a:r>
                          <a14:m>
                            <m:oMath xmlns:m="http://schemas.openxmlformats.org/officeDocument/2006/math">
                              <m:r>
                                <a:rPr lang="en-US" b="0" i="1" smtClean="0">
                                  <a:solidFill>
                                    <a:srgbClr val="C00000"/>
                                  </a:solidFill>
                                  <a:latin typeface="Cambria Math" panose="02040503050406030204" pitchFamily="18" charset="0"/>
                                </a:rPr>
                                <m:t>𝐶𝑎𝑟𝑟𝑦</m:t>
                              </m:r>
                              <m:r>
                                <a:rPr lang="en-US" b="0" i="1" smtClean="0">
                                  <a:solidFill>
                                    <a:srgbClr val="C00000"/>
                                  </a:solidFill>
                                  <a:latin typeface="Cambria Math" panose="02040503050406030204" pitchFamily="18" charset="0"/>
                                </a:rPr>
                                <m:t>=0</m:t>
                              </m:r>
                            </m:oMath>
                          </a14:m>
                          <a:r>
                            <a:rPr lang="en-US" b="0" dirty="0">
                              <a:solidFill>
                                <a:srgbClr val="C00000"/>
                              </a:solidFill>
                            </a:rPr>
                            <a:t> </a:t>
                          </a:r>
                          <a:r>
                            <a:rPr lang="en-US" b="0" dirty="0"/>
                            <a:t>if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&lt;</m:t>
                              </m:r>
                              <m:r>
                                <a:rPr lang="en-US" b="0" i="1" smtClean="0">
                                  <a:latin typeface="Cambria Math" panose="02040503050406030204" pitchFamily="18" charset="0"/>
                                </a:rPr>
                                <m:t>𝑏</m:t>
                              </m:r>
                            </m:oMath>
                          </a14:m>
                          <a:r>
                            <a:rPr lang="en-US" dirty="0"/>
                            <a:t>. </a:t>
                          </a:r>
                        </a:p>
                      </a:txBody>
                      <a:tcPr/>
                    </a:tc>
                    <a:tc vMerge="1">
                      <a:txBody>
                        <a:bodyPr/>
                        <a:lstStyle/>
                        <a:p>
                          <a:endParaRPr lang="en-US" dirty="0"/>
                        </a:p>
                      </a:txBody>
                      <a:tcPr/>
                    </a:tc>
                    <a:extLst>
                      <a:ext uri="{0D108BD9-81ED-4DB2-BD59-A6C34878D82A}">
                        <a16:rowId xmlns:a16="http://schemas.microsoft.com/office/drawing/2014/main" val="3575281612"/>
                      </a:ext>
                    </a:extLst>
                  </a:tr>
                </a:tbl>
              </a:graphicData>
            </a:graphic>
          </p:graphicFrame>
        </mc:Choice>
        <mc:Fallback xmlns="">
          <p:graphicFrame>
            <p:nvGraphicFramePr>
              <p:cNvPr id="5" name="Table 4"/>
              <p:cNvGraphicFramePr>
                <a:graphicFrameLocks noGrp="1"/>
              </p:cNvGraphicFramePr>
              <p:nvPr>
                <p:extLst>
                  <p:ext uri="{D42A27DB-BD31-4B8C-83A1-F6EECF244321}">
                    <p14:modId xmlns:p14="http://schemas.microsoft.com/office/powerpoint/2010/main" val="634307560"/>
                  </p:ext>
                </p:extLst>
              </p:nvPr>
            </p:nvGraphicFramePr>
            <p:xfrm>
              <a:off x="3266090" y="2778967"/>
              <a:ext cx="5958816" cy="2067317"/>
            </p:xfrm>
            <a:graphic>
              <a:graphicData uri="http://schemas.openxmlformats.org/drawingml/2006/table">
                <a:tbl>
                  <a:tblPr firstRow="1" bandRow="1">
                    <a:tableStyleId>{5C22544A-7EE6-4342-B048-85BDC9FD1C3A}</a:tableStyleId>
                  </a:tblPr>
                  <a:tblGrid>
                    <a:gridCol w="993118">
                      <a:extLst>
                        <a:ext uri="{9D8B030D-6E8A-4147-A177-3AD203B41FA5}">
                          <a16:colId xmlns:a16="http://schemas.microsoft.com/office/drawing/2014/main" val="2291374405"/>
                        </a:ext>
                      </a:extLst>
                    </a:gridCol>
                    <a:gridCol w="2374897">
                      <a:extLst>
                        <a:ext uri="{9D8B030D-6E8A-4147-A177-3AD203B41FA5}">
                          <a16:colId xmlns:a16="http://schemas.microsoft.com/office/drawing/2014/main" val="2488780544"/>
                        </a:ext>
                      </a:extLst>
                    </a:gridCol>
                    <a:gridCol w="2590801">
                      <a:extLst>
                        <a:ext uri="{9D8B030D-6E8A-4147-A177-3AD203B41FA5}">
                          <a16:colId xmlns:a16="http://schemas.microsoft.com/office/drawing/2014/main" val="1468842029"/>
                        </a:ext>
                      </a:extLst>
                    </a:gridCol>
                  </a:tblGrid>
                  <a:tr h="685800">
                    <a:tc>
                      <a:txBody>
                        <a:bodyPr/>
                        <a:lstStyle/>
                        <a:p>
                          <a:endParaRPr lang="en-US" dirty="0"/>
                        </a:p>
                      </a:txBody>
                      <a:tcPr/>
                    </a:tc>
                    <a:tc>
                      <a:txBody>
                        <a:bodyPr/>
                        <a:lstStyle/>
                        <a:p>
                          <a:pPr algn="ctr"/>
                          <a:r>
                            <a:rPr lang="en-US" dirty="0"/>
                            <a:t>Carry </a:t>
                          </a:r>
                        </a:p>
                        <a:p>
                          <a:pPr algn="ctr"/>
                          <a:r>
                            <a:rPr lang="en-US" dirty="0"/>
                            <a:t>(for unsigned)</a:t>
                          </a:r>
                        </a:p>
                      </a:txBody>
                      <a:tcPr/>
                    </a:tc>
                    <a:tc>
                      <a:txBody>
                        <a:bodyPr/>
                        <a:lstStyle/>
                        <a:p>
                          <a:pPr algn="ctr"/>
                          <a:r>
                            <a:rPr lang="en-US" dirty="0"/>
                            <a:t>Overflow </a:t>
                          </a:r>
                        </a:p>
                        <a:p>
                          <a:pPr algn="ctr"/>
                          <a:r>
                            <a:rPr lang="en-US" dirty="0"/>
                            <a:t>(for signed)</a:t>
                          </a:r>
                        </a:p>
                      </a:txBody>
                      <a:tcPr/>
                    </a:tc>
                    <a:extLst>
                      <a:ext uri="{0D108BD9-81ED-4DB2-BD59-A6C34878D82A}">
                        <a16:rowId xmlns:a16="http://schemas.microsoft.com/office/drawing/2014/main" val="1121578073"/>
                      </a:ext>
                    </a:extLst>
                  </a:tr>
                  <a:tr h="741437">
                    <a:tc>
                      <a:txBody>
                        <a:bodyPr/>
                        <a:lstStyle/>
                        <a:p>
                          <a:r>
                            <a:rPr lang="en-US" dirty="0"/>
                            <a:t>Add</a:t>
                          </a:r>
                        </a:p>
                      </a:txBody>
                      <a:tcPr/>
                    </a:tc>
                    <a:tc>
                      <a:txBody>
                        <a:bodyPr/>
                        <a:lstStyle/>
                        <a:p>
                          <a:endParaRPr lang="en-US"/>
                        </a:p>
                      </a:txBody>
                      <a:tcPr>
                        <a:blipFill>
                          <a:blip r:embed="rId3"/>
                          <a:stretch>
                            <a:fillRect l="-42051" t="-96721" r="-110256" b="-99180"/>
                          </a:stretch>
                        </a:blipFill>
                      </a:tcPr>
                    </a:tc>
                    <a:tc rowSpan="2">
                      <a:txBody>
                        <a:bodyPr/>
                        <a:lstStyle/>
                        <a:p>
                          <a:endParaRPr lang="en-US"/>
                        </a:p>
                      </a:txBody>
                      <a:tcPr anchor="ctr">
                        <a:blipFill>
                          <a:blip r:embed="rId3"/>
                          <a:stretch>
                            <a:fillRect l="-130047" t="-51982" r="-939" b="-7048"/>
                          </a:stretch>
                        </a:blipFill>
                      </a:tcPr>
                    </a:tc>
                    <a:extLst>
                      <a:ext uri="{0D108BD9-81ED-4DB2-BD59-A6C34878D82A}">
                        <a16:rowId xmlns:a16="http://schemas.microsoft.com/office/drawing/2014/main" val="4067339836"/>
                      </a:ext>
                    </a:extLst>
                  </a:tr>
                  <a:tr h="640080">
                    <a:tc>
                      <a:txBody>
                        <a:bodyPr/>
                        <a:lstStyle/>
                        <a:p>
                          <a:r>
                            <a:rPr lang="en-US" dirty="0"/>
                            <a:t>Subtract</a:t>
                          </a:r>
                        </a:p>
                      </a:txBody>
                      <a:tcPr/>
                    </a:tc>
                    <a:tc>
                      <a:txBody>
                        <a:bodyPr/>
                        <a:lstStyle/>
                        <a:p>
                          <a:endParaRPr lang="en-US"/>
                        </a:p>
                      </a:txBody>
                      <a:tcPr>
                        <a:blipFill>
                          <a:blip r:embed="rId3"/>
                          <a:stretch>
                            <a:fillRect l="-42051" t="-228571" r="-110256" b="-15238"/>
                          </a:stretch>
                        </a:blipFill>
                      </a:tcPr>
                    </a:tc>
                    <a:tc vMerge="1">
                      <a:txBody>
                        <a:bodyPr/>
                        <a:lstStyle/>
                        <a:p>
                          <a:endParaRPr lang="en-US" dirty="0"/>
                        </a:p>
                      </a:txBody>
                      <a:tcPr/>
                    </a:tc>
                    <a:extLst>
                      <a:ext uri="{0D108BD9-81ED-4DB2-BD59-A6C34878D82A}">
                        <a16:rowId xmlns:a16="http://schemas.microsoft.com/office/drawing/2014/main" val="3575281612"/>
                      </a:ext>
                    </a:extLst>
                  </a:tr>
                </a:tbl>
              </a:graphicData>
            </a:graphic>
          </p:graphicFrame>
        </mc:Fallback>
      </mc:AlternateContent>
      <mc:AlternateContent xmlns:mc="http://schemas.openxmlformats.org/markup-compatibility/2006" xmlns:a14="http://schemas.microsoft.com/office/drawing/2010/main">
        <mc:Choice Requires="a14">
          <p:sp>
            <p:nvSpPr>
              <p:cNvPr id="6" name="TextBox 5"/>
              <p:cNvSpPr txBox="1"/>
              <p:nvPr/>
            </p:nvSpPr>
            <p:spPr>
              <a:xfrm>
                <a:off x="5647364" y="2383537"/>
                <a:ext cx="1354473" cy="369332"/>
              </a:xfrm>
              <a:prstGeom prst="rect">
                <a:avLst/>
              </a:prstGeom>
              <a:noFill/>
            </p:spPr>
            <p:txBody>
              <a:bodyPr wrap="none" lIns="0" tIns="0" rIns="0" bIns="0" rtlCol="0">
                <a:spAutoFit/>
              </a:bodyPr>
              <a:lstStyle/>
              <a:p>
                <a:pPr/>
                <a14:m>
                  <m:oMathPara xmlns:m="http://schemas.openxmlformats.org/officeDocument/2006/math">
                    <m:oMath>
                      <m:r>
                        <a:rPr lang="en-US" sz="2400" i="1">
                          <a:latin typeface="Cambria Math" panose="02040503050406030204" pitchFamily="18" charset="0"/>
                        </a:rPr>
                        <m:t>𝑐</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rPr>
                        <m:t>𝑏</m:t>
                      </m:r>
                    </m:oMath>
                  </m:oMathPara>
                </a14:m>
                <a:endParaRPr lang="en-US" sz="2400" i="1" dirty="0"/>
              </a:p>
            </p:txBody>
          </p:sp>
        </mc:Choice>
        <mc:Fallback xmlns="">
          <p:sp>
            <p:nvSpPr>
              <p:cNvPr id="6" name="TextBox 5"/>
              <p:cNvSpPr txBox="1">
                <a:spLocks noRot="1" noChangeAspect="1" noMove="1" noResize="1" noEditPoints="1" noAdjustHandles="1" noChangeArrowheads="1" noChangeShapeType="1" noTextEdit="1"/>
              </p:cNvSpPr>
              <p:nvPr/>
            </p:nvSpPr>
            <p:spPr>
              <a:xfrm>
                <a:off x="5647364" y="2383537"/>
                <a:ext cx="1354473" cy="369332"/>
              </a:xfrm>
              <a:prstGeom prst="rect">
                <a:avLst/>
              </a:prstGeom>
              <a:blipFill>
                <a:blip r:embed="rId4"/>
                <a:stretch>
                  <a:fillRect l="-1794" r="-3587" b="-163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1894490" y="5384381"/>
                <a:ext cx="3743917" cy="73911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1400" dirty="0"/>
                  <a:t>ARM Cortex-M has no dedicated borrow flag, carry flag is reused.</a:t>
                </a:r>
              </a:p>
              <a:p>
                <a:pPr marL="285750" indent="-285750">
                  <a:buFont typeface="Arial" panose="020B0604020202020204" pitchFamily="34" charset="0"/>
                  <a:buChar char="•"/>
                </a:pPr>
                <a:r>
                  <a:rPr lang="en-US" sz="1400" dirty="0"/>
                  <a:t>For unsigned subtract, </a:t>
                </a:r>
                <a14:m>
                  <m:oMath xmlns:m="http://schemas.openxmlformats.org/officeDocument/2006/math">
                    <m:r>
                      <a:rPr lang="en-US" sz="1400" i="1">
                        <a:latin typeface="Cambria Math" panose="02040503050406030204" pitchFamily="18" charset="0"/>
                      </a:rPr>
                      <m:t>𝐵𝑜𝑟𝑟𝑜𝑤</m:t>
                    </m:r>
                    <m:r>
                      <a:rPr lang="en-US" sz="1400" i="1">
                        <a:latin typeface="Cambria Math" panose="02040503050406030204" pitchFamily="18" charset="0"/>
                      </a:rPr>
                      <m:t>= </m:t>
                    </m:r>
                    <m:acc>
                      <m:accPr>
                        <m:chr m:val="̅"/>
                        <m:ctrlPr>
                          <a:rPr lang="en-US" sz="1400" i="1">
                            <a:latin typeface="Cambria Math" panose="02040503050406030204" pitchFamily="18" charset="0"/>
                          </a:rPr>
                        </m:ctrlPr>
                      </m:accPr>
                      <m:e>
                        <m:r>
                          <a:rPr lang="en-US" sz="1400" i="1">
                            <a:latin typeface="Cambria Math" panose="02040503050406030204" pitchFamily="18" charset="0"/>
                          </a:rPr>
                          <m:t>𝐶𝑎𝑟𝑟𝑦</m:t>
                        </m:r>
                      </m:e>
                    </m:acc>
                  </m:oMath>
                </a14:m>
                <a:endParaRPr lang="en-US" sz="1400" dirty="0"/>
              </a:p>
            </p:txBody>
          </p:sp>
        </mc:Choice>
        <mc:Fallback xmlns="">
          <p:sp>
            <p:nvSpPr>
              <p:cNvPr id="7" name="TextBox 6"/>
              <p:cNvSpPr txBox="1">
                <a:spLocks noRot="1" noChangeAspect="1" noMove="1" noResize="1" noEditPoints="1" noAdjustHandles="1" noChangeArrowheads="1" noChangeShapeType="1" noTextEdit="1"/>
              </p:cNvSpPr>
              <p:nvPr/>
            </p:nvSpPr>
            <p:spPr>
              <a:xfrm>
                <a:off x="1894490" y="5384381"/>
                <a:ext cx="3743917" cy="739113"/>
              </a:xfrm>
              <a:prstGeom prst="rect">
                <a:avLst/>
              </a:prstGeom>
              <a:blipFill>
                <a:blip r:embed="rId5"/>
                <a:stretch>
                  <a:fillRect l="-162" b="-5600"/>
                </a:stretch>
              </a:blipFill>
            </p:spPr>
            <p:txBody>
              <a:bodyPr/>
              <a:lstStyle/>
              <a:p>
                <a:r>
                  <a:rPr lang="en-US">
                    <a:noFill/>
                  </a:rPr>
                  <a:t> </a:t>
                </a:r>
              </a:p>
            </p:txBody>
          </p:sp>
        </mc:Fallback>
      </mc:AlternateContent>
      <p:cxnSp>
        <p:nvCxnSpPr>
          <p:cNvPr id="9" name="Straight Arrow Connector 8"/>
          <p:cNvCxnSpPr>
            <a:cxnSpLocks/>
          </p:cNvCxnSpPr>
          <p:nvPr/>
        </p:nvCxnSpPr>
        <p:spPr>
          <a:xfrm flipH="1">
            <a:off x="4768511" y="4760167"/>
            <a:ext cx="369537" cy="58786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13F07229-0F8A-3147-BC0F-5B26950511F2}"/>
              </a:ext>
            </a:extLst>
          </p:cNvPr>
          <p:cNvCxnSpPr>
            <a:cxnSpLocks/>
          </p:cNvCxnSpPr>
          <p:nvPr/>
        </p:nvCxnSpPr>
        <p:spPr>
          <a:xfrm>
            <a:off x="7159530" y="4760167"/>
            <a:ext cx="416511" cy="58786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8406BF9-00EE-9643-940B-55867FB0DF7F}"/>
                  </a:ext>
                </a:extLst>
              </p:cNvPr>
              <p:cNvSpPr txBox="1"/>
              <p:nvPr/>
            </p:nvSpPr>
            <p:spPr>
              <a:xfrm>
                <a:off x="6324600" y="5389635"/>
                <a:ext cx="3743917" cy="73866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1400" dirty="0"/>
                  <a:t>Signed Subtraction is converted to sign addition</a:t>
                </a:r>
              </a:p>
              <a:p>
                <a:pPr marL="285750" indent="-285750">
                  <a:buFont typeface="Arial" panose="020B0604020202020204" pitchFamily="34" charset="0"/>
                  <a:buChar char="•"/>
                </a:pPr>
                <a14:m>
                  <m:oMath xmlns:m="http://schemas.openxmlformats.org/officeDocument/2006/math">
                    <m:r>
                      <a:rPr lang="en-US" sz="1400" i="1">
                        <a:latin typeface="Cambria Math" panose="02040503050406030204" pitchFamily="18" charset="0"/>
                      </a:rPr>
                      <m:t>𝑎</m:t>
                    </m:r>
                    <m:r>
                      <a:rPr lang="en-US" sz="1400" i="1">
                        <a:latin typeface="Cambria Math" panose="02040503050406030204" pitchFamily="18" charset="0"/>
                      </a:rPr>
                      <m:t> −</m:t>
                    </m:r>
                    <m:r>
                      <a:rPr lang="en-US" sz="1400" i="1">
                        <a:latin typeface="Cambria Math" panose="02040503050406030204" pitchFamily="18" charset="0"/>
                      </a:rPr>
                      <m:t>𝑏</m:t>
                    </m:r>
                    <m:r>
                      <a:rPr lang="en-US" sz="1400" i="1">
                        <a:latin typeface="Cambria Math" panose="02040503050406030204" pitchFamily="18" charset="0"/>
                      </a:rPr>
                      <m:t>=</m:t>
                    </m:r>
                    <m:r>
                      <a:rPr lang="en-US" sz="1400" i="1">
                        <a:latin typeface="Cambria Math" panose="02040503050406030204" pitchFamily="18" charset="0"/>
                      </a:rPr>
                      <m:t>𝑎</m:t>
                    </m:r>
                    <m:r>
                      <a:rPr lang="en-US" sz="1400" i="1">
                        <a:latin typeface="Cambria Math" panose="02040503050406030204" pitchFamily="18" charset="0"/>
                      </a:rPr>
                      <m:t>+(−</m:t>
                    </m:r>
                    <m:r>
                      <a:rPr lang="en-US" sz="1400" i="1">
                        <a:latin typeface="Cambria Math" panose="02040503050406030204" pitchFamily="18" charset="0"/>
                      </a:rPr>
                      <m:t>𝑏</m:t>
                    </m:r>
                    <m:r>
                      <a:rPr lang="en-US" sz="1400" i="1">
                        <a:latin typeface="Cambria Math" panose="02040503050406030204" pitchFamily="18" charset="0"/>
                      </a:rPr>
                      <m:t>)</m:t>
                    </m:r>
                  </m:oMath>
                </a14:m>
                <a:endParaRPr lang="en-US" sz="1400" dirty="0"/>
              </a:p>
            </p:txBody>
          </p:sp>
        </mc:Choice>
        <mc:Fallback xmlns="">
          <p:sp>
            <p:nvSpPr>
              <p:cNvPr id="12" name="TextBox 11">
                <a:extLst>
                  <a:ext uri="{FF2B5EF4-FFF2-40B4-BE49-F238E27FC236}">
                    <a16:creationId xmlns:a16="http://schemas.microsoft.com/office/drawing/2014/main" id="{68406BF9-00EE-9643-940B-55867FB0DF7F}"/>
                  </a:ext>
                </a:extLst>
              </p:cNvPr>
              <p:cNvSpPr txBox="1">
                <a:spLocks noRot="1" noChangeAspect="1" noMove="1" noResize="1" noEditPoints="1" noAdjustHandles="1" noChangeArrowheads="1" noChangeShapeType="1" noTextEdit="1"/>
              </p:cNvSpPr>
              <p:nvPr/>
            </p:nvSpPr>
            <p:spPr>
              <a:xfrm>
                <a:off x="6324600" y="5389635"/>
                <a:ext cx="3743917" cy="738664"/>
              </a:xfrm>
              <a:prstGeom prst="rect">
                <a:avLst/>
              </a:prstGeom>
              <a:blipFill>
                <a:blip r:embed="rId6"/>
                <a:stretch>
                  <a:fillRect l="-162" t="-806" b="-4032"/>
                </a:stretch>
              </a:blipFill>
            </p:spPr>
            <p:txBody>
              <a:bodyPr/>
              <a:lstStyle/>
              <a:p>
                <a:r>
                  <a:rPr lang="en-US">
                    <a:noFill/>
                  </a:rPr>
                  <a:t> </a:t>
                </a:r>
              </a:p>
            </p:txBody>
          </p:sp>
        </mc:Fallback>
      </mc:AlternateContent>
      <p:sp>
        <p:nvSpPr>
          <p:cNvPr id="4" name="Rectangle 5">
            <a:extLst>
              <a:ext uri="{FF2B5EF4-FFF2-40B4-BE49-F238E27FC236}">
                <a16:creationId xmlns:a16="http://schemas.microsoft.com/office/drawing/2014/main" id="{824E864B-2648-DE35-C235-B19BE5ED91AD}"/>
              </a:ext>
            </a:extLst>
          </p:cNvPr>
          <p:cNvSpPr>
            <a:spLocks noChangeArrowheads="1"/>
          </p:cNvSpPr>
          <p:nvPr/>
        </p:nvSpPr>
        <p:spPr bwMode="auto">
          <a:xfrm>
            <a:off x="789147" y="1099033"/>
            <a:ext cx="10765536" cy="1585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700" dirty="0">
              <a:solidFill>
                <a:prstClr val="black"/>
              </a:solidFill>
              <a:latin typeface="Gill Sans MT"/>
            </a:endParaRPr>
          </a:p>
          <a:p>
            <a:pPr>
              <a:defRPr/>
            </a:pPr>
            <a:r>
              <a:rPr lang="en-US" dirty="0">
                <a:solidFill>
                  <a:prstClr val="black"/>
                </a:solidFill>
                <a:latin typeface="Gill Sans MT"/>
                <a:cs typeface="Times New Roman" pitchFamily="18" charset="0"/>
              </a:rPr>
              <a:t>Carry flag C = 1 </a:t>
            </a:r>
            <a:r>
              <a:rPr lang="en-US" dirty="0">
                <a:solidFill>
                  <a:prstClr val="black"/>
                </a:solidFill>
                <a:latin typeface="Gill Sans MT"/>
              </a:rPr>
              <a:t>(Borrow flag = 0) </a:t>
            </a:r>
            <a:r>
              <a:rPr lang="en-US" dirty="0">
                <a:solidFill>
                  <a:prstClr val="black"/>
                </a:solidFill>
                <a:latin typeface="Gill Sans MT"/>
                <a:cs typeface="Times New Roman" pitchFamily="18" charset="0"/>
              </a:rPr>
              <a:t>upon an </a:t>
            </a:r>
            <a:r>
              <a:rPr lang="en-US" b="1" u="sng" dirty="0">
                <a:solidFill>
                  <a:srgbClr val="800000"/>
                </a:solidFill>
                <a:latin typeface="Gill Sans MT"/>
                <a:cs typeface="Times New Roman" pitchFamily="18" charset="0"/>
              </a:rPr>
              <a:t>unsigned</a:t>
            </a:r>
            <a:r>
              <a:rPr lang="en-US" dirty="0">
                <a:solidFill>
                  <a:prstClr val="black"/>
                </a:solidFill>
                <a:latin typeface="Gill Sans MT"/>
                <a:cs typeface="Times New Roman" pitchFamily="18" charset="0"/>
              </a:rPr>
              <a:t> addition if the result is out of range (true result &gt; 2</a:t>
            </a:r>
            <a:r>
              <a:rPr lang="en-US" baseline="30000" dirty="0">
                <a:solidFill>
                  <a:prstClr val="black"/>
                </a:solidFill>
                <a:latin typeface="Gill Sans MT"/>
                <a:cs typeface="Times New Roman" pitchFamily="18" charset="0"/>
              </a:rPr>
              <a:t>n</a:t>
            </a:r>
            <a:r>
              <a:rPr lang="en-US" dirty="0">
                <a:solidFill>
                  <a:prstClr val="black"/>
                </a:solidFill>
                <a:latin typeface="Gill Sans MT"/>
                <a:cs typeface="Times New Roman" pitchFamily="18" charset="0"/>
              </a:rPr>
              <a:t>-1)</a:t>
            </a:r>
          </a:p>
          <a:p>
            <a:r>
              <a:rPr lang="en-US" dirty="0">
                <a:solidFill>
                  <a:prstClr val="black"/>
                </a:solidFill>
                <a:latin typeface="Gill Sans MT"/>
                <a:cs typeface="Times New Roman" pitchFamily="18" charset="0"/>
              </a:rPr>
              <a:t>Carry flag </a:t>
            </a:r>
            <a:r>
              <a:rPr lang="en-US" dirty="0">
                <a:solidFill>
                  <a:prstClr val="black"/>
                </a:solidFill>
                <a:latin typeface="Gill Sans MT"/>
              </a:rPr>
              <a:t>C = 0 (Borrow flag = 1) </a:t>
            </a:r>
            <a:r>
              <a:rPr lang="en-US" dirty="0">
                <a:solidFill>
                  <a:prstClr val="black"/>
                </a:solidFill>
                <a:latin typeface="Gill Sans MT"/>
                <a:cs typeface="Times New Roman" pitchFamily="18" charset="0"/>
              </a:rPr>
              <a:t>upon </a:t>
            </a:r>
            <a:r>
              <a:rPr lang="en-US" dirty="0">
                <a:solidFill>
                  <a:prstClr val="black"/>
                </a:solidFill>
                <a:latin typeface="Gill Sans MT"/>
              </a:rPr>
              <a:t>an </a:t>
            </a:r>
            <a:r>
              <a:rPr lang="en-US" u="sng" dirty="0">
                <a:solidFill>
                  <a:srgbClr val="800000"/>
                </a:solidFill>
                <a:latin typeface="Gill Sans MT"/>
              </a:rPr>
              <a:t>unsigned</a:t>
            </a:r>
            <a:r>
              <a:rPr lang="en-US" dirty="0">
                <a:solidFill>
                  <a:prstClr val="black"/>
                </a:solidFill>
                <a:latin typeface="Gill Sans MT"/>
              </a:rPr>
              <a:t> subtraction </a:t>
            </a:r>
            <a:r>
              <a:rPr lang="en-US" dirty="0">
                <a:solidFill>
                  <a:prstClr val="black"/>
                </a:solidFill>
                <a:latin typeface="Gill Sans MT"/>
                <a:cs typeface="Times New Roman" pitchFamily="18" charset="0"/>
              </a:rPr>
              <a:t>if the result is out of range </a:t>
            </a:r>
            <a:r>
              <a:rPr lang="en-US" dirty="0">
                <a:solidFill>
                  <a:prstClr val="black"/>
                </a:solidFill>
                <a:latin typeface="Gill Sans MT"/>
              </a:rPr>
              <a:t> (</a:t>
            </a:r>
            <a:r>
              <a:rPr lang="en-US" dirty="0">
                <a:solidFill>
                  <a:prstClr val="black"/>
                </a:solidFill>
                <a:latin typeface="Gill Sans MT"/>
                <a:cs typeface="Times New Roman" pitchFamily="18" charset="0"/>
              </a:rPr>
              <a:t>true result &lt; 0)</a:t>
            </a:r>
            <a:endParaRPr lang="en-US" sz="700" dirty="0">
              <a:solidFill>
                <a:prstClr val="black"/>
              </a:solidFill>
              <a:latin typeface="Gill Sans MT"/>
            </a:endParaRPr>
          </a:p>
          <a:p>
            <a:pPr>
              <a:defRPr/>
            </a:pPr>
            <a:r>
              <a:rPr lang="en-US" dirty="0">
                <a:solidFill>
                  <a:prstClr val="black"/>
                </a:solidFill>
                <a:latin typeface="Gill Sans MT"/>
                <a:cs typeface="Times New Roman" pitchFamily="18" charset="0"/>
              </a:rPr>
              <a:t>Overflow flag V =1 upon a </a:t>
            </a:r>
            <a:r>
              <a:rPr lang="en-US" b="1" u="sng" dirty="0">
                <a:solidFill>
                  <a:srgbClr val="800000"/>
                </a:solidFill>
                <a:latin typeface="Gill Sans MT"/>
                <a:cs typeface="Times New Roman" pitchFamily="18" charset="0"/>
              </a:rPr>
              <a:t>signed</a:t>
            </a:r>
            <a:r>
              <a:rPr lang="en-US" dirty="0">
                <a:solidFill>
                  <a:prstClr val="black"/>
                </a:solidFill>
                <a:latin typeface="Gill Sans MT"/>
                <a:cs typeface="Times New Roman" pitchFamily="18" charset="0"/>
              </a:rPr>
              <a:t> addition or subtraction if the result is out of range (true result &gt; 2</a:t>
            </a:r>
            <a:r>
              <a:rPr lang="en-US" baseline="30000" dirty="0">
                <a:solidFill>
                  <a:prstClr val="black"/>
                </a:solidFill>
                <a:latin typeface="Gill Sans MT"/>
                <a:cs typeface="Times New Roman" pitchFamily="18" charset="0"/>
              </a:rPr>
              <a:t>n</a:t>
            </a:r>
            <a:r>
              <a:rPr lang="en-US" altLang="zh-CN" baseline="30000" dirty="0">
                <a:solidFill>
                  <a:prstClr val="black"/>
                </a:solidFill>
                <a:latin typeface="Gill Sans MT"/>
                <a:cs typeface="Times New Roman" pitchFamily="18" charset="0"/>
              </a:rPr>
              <a:t>-1</a:t>
            </a:r>
            <a:r>
              <a:rPr lang="en-US" dirty="0">
                <a:solidFill>
                  <a:prstClr val="black"/>
                </a:solidFill>
                <a:latin typeface="Gill Sans MT"/>
                <a:cs typeface="Times New Roman" pitchFamily="18" charset="0"/>
              </a:rPr>
              <a:t>-1 </a:t>
            </a:r>
            <a:r>
              <a:rPr lang="en-US" altLang="zh-CN" dirty="0">
                <a:solidFill>
                  <a:prstClr val="black"/>
                </a:solidFill>
                <a:latin typeface="Gill Sans MT"/>
                <a:cs typeface="Times New Roman" pitchFamily="18" charset="0"/>
              </a:rPr>
              <a:t>or true result &lt; -</a:t>
            </a:r>
            <a:r>
              <a:rPr lang="en-US" dirty="0">
                <a:solidFill>
                  <a:prstClr val="black"/>
                </a:solidFill>
                <a:latin typeface="Gill Sans MT"/>
                <a:cs typeface="Times New Roman" pitchFamily="18" charset="0"/>
              </a:rPr>
              <a:t>2</a:t>
            </a:r>
            <a:r>
              <a:rPr lang="en-US" baseline="30000" dirty="0">
                <a:solidFill>
                  <a:prstClr val="black"/>
                </a:solidFill>
                <a:latin typeface="Gill Sans MT"/>
                <a:cs typeface="Times New Roman" pitchFamily="18" charset="0"/>
              </a:rPr>
              <a:t>n</a:t>
            </a:r>
            <a:r>
              <a:rPr lang="en-US" altLang="zh-CN" baseline="30000" dirty="0">
                <a:solidFill>
                  <a:prstClr val="black"/>
                </a:solidFill>
                <a:latin typeface="Gill Sans MT"/>
                <a:cs typeface="Times New Roman" pitchFamily="18" charset="0"/>
              </a:rPr>
              <a:t>-1</a:t>
            </a:r>
            <a:r>
              <a:rPr lang="en-US" altLang="zh-CN" dirty="0">
                <a:solidFill>
                  <a:prstClr val="black"/>
                </a:solidFill>
                <a:latin typeface="Gill Sans MT"/>
                <a:cs typeface="Times New Roman" pitchFamily="18" charset="0"/>
              </a:rPr>
              <a:t>)</a:t>
            </a:r>
            <a:endParaRPr lang="en-US" dirty="0">
              <a:solidFill>
                <a:prstClr val="black"/>
              </a:solidFill>
              <a:latin typeface="Gill Sans MT"/>
              <a:cs typeface="Times New Roman" pitchFamily="18" charset="0"/>
            </a:endParaRPr>
          </a:p>
          <a:p>
            <a:pPr eaLnBrk="0" hangingPunct="0">
              <a:defRPr/>
            </a:pPr>
            <a:endParaRPr lang="en-US" dirty="0">
              <a:solidFill>
                <a:prstClr val="black"/>
              </a:solidFill>
              <a:latin typeface="Gill Sans MT"/>
              <a:cs typeface="Times New Roman" pitchFamily="18" charset="0"/>
            </a:endParaRPr>
          </a:p>
        </p:txBody>
      </p:sp>
      <p:sp>
        <p:nvSpPr>
          <p:cNvPr id="13" name="TextBox 12">
            <a:extLst>
              <a:ext uri="{FF2B5EF4-FFF2-40B4-BE49-F238E27FC236}">
                <a16:creationId xmlns:a16="http://schemas.microsoft.com/office/drawing/2014/main" id="{1DAD1EAA-4829-82A1-65A0-A5E637DE2D0D}"/>
              </a:ext>
            </a:extLst>
          </p:cNvPr>
          <p:cNvSpPr txBox="1"/>
          <p:nvPr/>
        </p:nvSpPr>
        <p:spPr>
          <a:xfrm>
            <a:off x="10093098" y="102497"/>
            <a:ext cx="1991251"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a:defRPr/>
            </a:pPr>
            <a:r>
              <a:rPr lang="en-US" sz="2800" kern="0" dirty="0">
                <a:solidFill>
                  <a:prstClr val="white"/>
                </a:solidFill>
                <a:latin typeface="Calibri" panose="020F0502020204030204"/>
              </a:rPr>
              <a:t>IMPORTANT</a:t>
            </a:r>
            <a:endParaRPr lang="en-SE" sz="2800" kern="0" dirty="0">
              <a:solidFill>
                <a:prstClr val="white"/>
              </a:solidFill>
              <a:latin typeface="Calibri" panose="020F0502020204030204"/>
            </a:endParaRPr>
          </a:p>
        </p:txBody>
      </p:sp>
    </p:spTree>
    <p:extLst>
      <p:ext uri="{BB962C8B-B14F-4D97-AF65-F5344CB8AC3E}">
        <p14:creationId xmlns:p14="http://schemas.microsoft.com/office/powerpoint/2010/main" val="3353121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utoUpdateAnimBg="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1483AF59-47E8-4491-9292-0A604585B532}" type="slidenum">
              <a:rPr lang="en-US"/>
              <a:pPr/>
              <a:t>35</a:t>
            </a:fld>
            <a:endParaRPr lang="en-US"/>
          </a:p>
        </p:txBody>
      </p:sp>
      <p:sp>
        <p:nvSpPr>
          <p:cNvPr id="260098" name="Rectangle 2"/>
          <p:cNvSpPr>
            <a:spLocks noGrp="1" noChangeArrowheads="1"/>
          </p:cNvSpPr>
          <p:nvPr>
            <p:ph type="title"/>
          </p:nvPr>
        </p:nvSpPr>
        <p:spPr/>
        <p:txBody>
          <a:bodyPr>
            <a:normAutofit/>
          </a:bodyPr>
          <a:lstStyle/>
          <a:p>
            <a:r>
              <a:rPr lang="en-US" sz="2800" dirty="0"/>
              <a:t>Characters</a:t>
            </a:r>
          </a:p>
        </p:txBody>
      </p:sp>
      <p:graphicFrame>
        <p:nvGraphicFramePr>
          <p:cNvPr id="3" name="Table 2"/>
          <p:cNvGraphicFramePr>
            <a:graphicFrameLocks noGrp="1"/>
          </p:cNvGraphicFramePr>
          <p:nvPr>
            <p:extLst>
              <p:ext uri="{D42A27DB-BD31-4B8C-83A1-F6EECF244321}">
                <p14:modId xmlns:p14="http://schemas.microsoft.com/office/powerpoint/2010/main" val="1669918260"/>
              </p:ext>
            </p:extLst>
          </p:nvPr>
        </p:nvGraphicFramePr>
        <p:xfrm>
          <a:off x="4117849" y="321310"/>
          <a:ext cx="6077787" cy="6035040"/>
        </p:xfrm>
        <a:graphic>
          <a:graphicData uri="http://schemas.openxmlformats.org/drawingml/2006/table">
            <a:tbl>
              <a:tblPr firstRow="1" firstCol="1" bandRow="1">
                <a:tableStyleId>{5C22544A-7EE6-4342-B048-85BDC9FD1C3A}</a:tableStyleId>
              </a:tblPr>
              <a:tblGrid>
                <a:gridCol w="507198">
                  <a:extLst>
                    <a:ext uri="{9D8B030D-6E8A-4147-A177-3AD203B41FA5}">
                      <a16:colId xmlns:a16="http://schemas.microsoft.com/office/drawing/2014/main" val="20000"/>
                    </a:ext>
                  </a:extLst>
                </a:gridCol>
                <a:gridCol w="485707">
                  <a:extLst>
                    <a:ext uri="{9D8B030D-6E8A-4147-A177-3AD203B41FA5}">
                      <a16:colId xmlns:a16="http://schemas.microsoft.com/office/drawing/2014/main" val="20001"/>
                    </a:ext>
                  </a:extLst>
                </a:gridCol>
                <a:gridCol w="563936">
                  <a:extLst>
                    <a:ext uri="{9D8B030D-6E8A-4147-A177-3AD203B41FA5}">
                      <a16:colId xmlns:a16="http://schemas.microsoft.com/office/drawing/2014/main" val="20002"/>
                    </a:ext>
                  </a:extLst>
                </a:gridCol>
                <a:gridCol w="482268">
                  <a:extLst>
                    <a:ext uri="{9D8B030D-6E8A-4147-A177-3AD203B41FA5}">
                      <a16:colId xmlns:a16="http://schemas.microsoft.com/office/drawing/2014/main" val="20003"/>
                    </a:ext>
                  </a:extLst>
                </a:gridCol>
                <a:gridCol w="469374">
                  <a:extLst>
                    <a:ext uri="{9D8B030D-6E8A-4147-A177-3AD203B41FA5}">
                      <a16:colId xmlns:a16="http://schemas.microsoft.com/office/drawing/2014/main" val="20004"/>
                    </a:ext>
                  </a:extLst>
                </a:gridCol>
                <a:gridCol w="563936">
                  <a:extLst>
                    <a:ext uri="{9D8B030D-6E8A-4147-A177-3AD203B41FA5}">
                      <a16:colId xmlns:a16="http://schemas.microsoft.com/office/drawing/2014/main" val="20005"/>
                    </a:ext>
                  </a:extLst>
                </a:gridCol>
                <a:gridCol w="469374">
                  <a:extLst>
                    <a:ext uri="{9D8B030D-6E8A-4147-A177-3AD203B41FA5}">
                      <a16:colId xmlns:a16="http://schemas.microsoft.com/office/drawing/2014/main" val="20006"/>
                    </a:ext>
                  </a:extLst>
                </a:gridCol>
                <a:gridCol w="469374">
                  <a:extLst>
                    <a:ext uri="{9D8B030D-6E8A-4147-A177-3AD203B41FA5}">
                      <a16:colId xmlns:a16="http://schemas.microsoft.com/office/drawing/2014/main" val="20007"/>
                    </a:ext>
                  </a:extLst>
                </a:gridCol>
                <a:gridCol w="563936">
                  <a:extLst>
                    <a:ext uri="{9D8B030D-6E8A-4147-A177-3AD203B41FA5}">
                      <a16:colId xmlns:a16="http://schemas.microsoft.com/office/drawing/2014/main" val="20008"/>
                    </a:ext>
                  </a:extLst>
                </a:gridCol>
                <a:gridCol w="469374">
                  <a:extLst>
                    <a:ext uri="{9D8B030D-6E8A-4147-A177-3AD203B41FA5}">
                      <a16:colId xmlns:a16="http://schemas.microsoft.com/office/drawing/2014/main" val="20009"/>
                    </a:ext>
                  </a:extLst>
                </a:gridCol>
                <a:gridCol w="469374">
                  <a:extLst>
                    <a:ext uri="{9D8B030D-6E8A-4147-A177-3AD203B41FA5}">
                      <a16:colId xmlns:a16="http://schemas.microsoft.com/office/drawing/2014/main" val="20010"/>
                    </a:ext>
                  </a:extLst>
                </a:gridCol>
                <a:gridCol w="563936">
                  <a:extLst>
                    <a:ext uri="{9D8B030D-6E8A-4147-A177-3AD203B41FA5}">
                      <a16:colId xmlns:a16="http://schemas.microsoft.com/office/drawing/2014/main" val="20011"/>
                    </a:ext>
                  </a:extLst>
                </a:gridCol>
              </a:tblGrid>
              <a:tr h="148792">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Dec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Hex</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Dec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Hex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Char</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NUL</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 SP</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40</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SOH</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41</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A</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solidFill>
                            <a:srgbClr val="C00000"/>
                          </a:solidFill>
                          <a:effectLst/>
                          <a:latin typeface="Consolas" panose="020B0609020204030204" pitchFamily="49" charset="0"/>
                          <a:cs typeface="Consolas" panose="020B0609020204030204" pitchFamily="49" charset="0"/>
                        </a:rPr>
                        <a:t>61</a:t>
                      </a:r>
                      <a:endParaRPr lang="en-US" sz="1600" b="1">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a</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42</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B</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98</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43</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C</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99</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EOT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44</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64</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ENQ</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45</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E</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6"/>
                  </a:ext>
                </a:extLst>
              </a:tr>
              <a:tr h="148792">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ACK</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&amp;</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F</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66</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BEL</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G</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67</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BS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h</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0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HT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I</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err="1">
                          <a:effectLst/>
                          <a:latin typeface="Consolas" panose="020B0609020204030204" pitchFamily="49" charset="0"/>
                          <a:cs typeface="Consolas" panose="020B0609020204030204" pitchFamily="49" charset="0"/>
                        </a:rPr>
                        <a:t>i</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J</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j</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VT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K</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k</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L</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M</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m</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SO</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N</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0F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SI</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O</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o</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6"/>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DLE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solidFill>
                            <a:srgbClr val="C00000"/>
                          </a:solidFill>
                          <a:effectLst/>
                          <a:latin typeface="Consolas" panose="020B0609020204030204" pitchFamily="49" charset="0"/>
                          <a:cs typeface="Consolas" panose="020B0609020204030204" pitchFamily="49" charset="0"/>
                        </a:rPr>
                        <a:t>30</a:t>
                      </a:r>
                      <a:endParaRPr lang="en-US" sz="1600" b="1">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solidFill>
                            <a:srgbClr val="C00000"/>
                          </a:solidFill>
                          <a:effectLst/>
                          <a:latin typeface="Consolas" panose="020B0609020204030204" pitchFamily="49" charset="0"/>
                          <a:cs typeface="Consolas" panose="020B0609020204030204" pitchFamily="49" charset="0"/>
                        </a:rPr>
                        <a:t>0</a:t>
                      </a:r>
                      <a:endParaRPr lang="en-US" sz="1600" b="1" dirty="0">
                        <a:solidFill>
                          <a:srgbClr val="C00000"/>
                        </a:solidFill>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P</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p</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Q</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q</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R</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r</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1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S</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s</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DC4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T</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ea typeface="+mn-ea"/>
                          <a:cs typeface="Consolas" panose="020B0609020204030204" pitchFamily="49" charset="0"/>
                        </a:rPr>
                        <a:t>t</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NAK</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U</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u</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2"/>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SYN</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V</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v</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3"/>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ETB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W</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w</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4"/>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CAN</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X</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x</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5"/>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EM</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89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6"/>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SUB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5A</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Z</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122</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err="1">
                          <a:effectLst/>
                          <a:latin typeface="Consolas" panose="020B0609020204030204" pitchFamily="49" charset="0"/>
                          <a:cs typeface="Consolas" panose="020B0609020204030204" pitchFamily="49" charset="0"/>
                        </a:rPr>
                        <a:t>7A</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z</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7"/>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ESC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7B</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8"/>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28</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FS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&lt; </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7C</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29"/>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29</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125</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7D</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0"/>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30</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RS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62</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&gt; </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94</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126</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7E</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1"/>
                  </a:ext>
                </a:extLst>
              </a:tr>
              <a:tr h="148792">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31</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US</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63</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3F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95</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5F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_</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127</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a:effectLst/>
                          <a:latin typeface="Consolas" panose="020B0609020204030204" pitchFamily="49" charset="0"/>
                          <a:cs typeface="Consolas" panose="020B0609020204030204" pitchFamily="49" charset="0"/>
                        </a:rPr>
                        <a:t>7F</a:t>
                      </a:r>
                      <a:endParaRPr lang="en-US" sz="1600" b="1">
                        <a:effectLst/>
                        <a:latin typeface="Consolas" panose="020B0609020204030204" pitchFamily="49" charset="0"/>
                        <a:ea typeface="宋体"/>
                        <a:cs typeface="Consolas" panose="020B0609020204030204" pitchFamily="49" charset="0"/>
                      </a:endParaRPr>
                    </a:p>
                  </a:txBody>
                  <a:tcPr marL="66956" marR="66956" marT="0" marB="0"/>
                </a:tc>
                <a:tc>
                  <a:txBody>
                    <a:bodyPr/>
                    <a:lstStyle/>
                    <a:p>
                      <a:pPr marL="0" marR="0" algn="ctr">
                        <a:spcBef>
                          <a:spcPts val="0"/>
                        </a:spcBef>
                        <a:spcAft>
                          <a:spcPts val="0"/>
                        </a:spcAft>
                      </a:pPr>
                      <a:r>
                        <a:rPr lang="en-US" sz="1200" b="1" dirty="0">
                          <a:effectLst/>
                          <a:latin typeface="Consolas" panose="020B0609020204030204" pitchFamily="49" charset="0"/>
                          <a:cs typeface="Consolas" panose="020B0609020204030204" pitchFamily="49" charset="0"/>
                        </a:rPr>
                        <a:t>DEL</a:t>
                      </a:r>
                      <a:endParaRPr lang="en-US" sz="1600" b="1" dirty="0">
                        <a:effectLst/>
                        <a:latin typeface="Consolas" panose="020B0609020204030204" pitchFamily="49" charset="0"/>
                        <a:ea typeface="宋体"/>
                        <a:cs typeface="Consolas" panose="020B0609020204030204" pitchFamily="49" charset="0"/>
                      </a:endParaRPr>
                    </a:p>
                  </a:txBody>
                  <a:tcPr marL="66956" marR="66956" marT="0" marB="0"/>
                </a:tc>
                <a:extLst>
                  <a:ext uri="{0D108BD9-81ED-4DB2-BD59-A6C34878D82A}">
                    <a16:rowId xmlns:a16="http://schemas.microsoft.com/office/drawing/2014/main" val="10032"/>
                  </a:ext>
                </a:extLst>
              </a:tr>
            </a:tbl>
          </a:graphicData>
        </a:graphic>
      </p:graphicFrame>
      <p:sp>
        <p:nvSpPr>
          <p:cNvPr id="2" name="Rectangle 1"/>
          <p:cNvSpPr/>
          <p:nvPr/>
        </p:nvSpPr>
        <p:spPr>
          <a:xfrm>
            <a:off x="2184365" y="1219200"/>
            <a:ext cx="1447800" cy="1477328"/>
          </a:xfrm>
          <a:prstGeom prst="rect">
            <a:avLst/>
          </a:prstGeom>
        </p:spPr>
        <p:txBody>
          <a:bodyPr wrap="square">
            <a:spAutoFit/>
          </a:bodyPr>
          <a:lstStyle/>
          <a:p>
            <a:r>
              <a:rPr lang="en-US" b="1" dirty="0">
                <a:solidFill>
                  <a:srgbClr val="C00000"/>
                </a:solidFill>
              </a:rPr>
              <a:t>A</a:t>
            </a:r>
            <a:r>
              <a:rPr lang="en-US" dirty="0"/>
              <a:t>merican</a:t>
            </a:r>
          </a:p>
          <a:p>
            <a:r>
              <a:rPr lang="en-US" b="1" dirty="0">
                <a:solidFill>
                  <a:srgbClr val="C00000"/>
                </a:solidFill>
              </a:rPr>
              <a:t>S</a:t>
            </a:r>
            <a:r>
              <a:rPr lang="en-US" dirty="0"/>
              <a:t>tandard</a:t>
            </a:r>
          </a:p>
          <a:p>
            <a:r>
              <a:rPr lang="en-US" b="1" dirty="0">
                <a:solidFill>
                  <a:srgbClr val="C00000"/>
                </a:solidFill>
              </a:rPr>
              <a:t>C</a:t>
            </a:r>
            <a:r>
              <a:rPr lang="en-US" dirty="0"/>
              <a:t>ode for</a:t>
            </a:r>
          </a:p>
          <a:p>
            <a:r>
              <a:rPr lang="en-US" b="1" dirty="0">
                <a:solidFill>
                  <a:srgbClr val="C00000"/>
                </a:solidFill>
              </a:rPr>
              <a:t>I</a:t>
            </a:r>
            <a:r>
              <a:rPr lang="en-US" dirty="0"/>
              <a:t>nformation</a:t>
            </a:r>
          </a:p>
          <a:p>
            <a:r>
              <a:rPr lang="en-US" b="1" dirty="0">
                <a:solidFill>
                  <a:srgbClr val="C00000"/>
                </a:solidFill>
              </a:rPr>
              <a:t>I</a:t>
            </a:r>
            <a:r>
              <a:rPr lang="en-US" dirty="0"/>
              <a:t>nterchange</a:t>
            </a:r>
          </a:p>
        </p:txBody>
      </p:sp>
      <p:sp>
        <p:nvSpPr>
          <p:cNvPr id="4" name="Rectangle 3"/>
          <p:cNvSpPr/>
          <p:nvPr/>
        </p:nvSpPr>
        <p:spPr>
          <a:xfrm>
            <a:off x="5334000" y="6383556"/>
            <a:ext cx="3580596" cy="338554"/>
          </a:xfrm>
          <a:prstGeom prst="rect">
            <a:avLst/>
          </a:prstGeom>
        </p:spPr>
        <p:txBody>
          <a:bodyPr wrap="none">
            <a:spAutoFit/>
          </a:bodyPr>
          <a:lstStyle/>
          <a:p>
            <a:r>
              <a:rPr lang="en-US" sz="1600" dirty="0"/>
              <a:t>Standard ASCII: Encoding </a:t>
            </a:r>
            <a:r>
              <a:rPr lang="en-US" sz="1600" dirty="0">
                <a:latin typeface="Consolas" panose="020B0609020204030204" pitchFamily="49" charset="0"/>
                <a:cs typeface="Consolas" panose="020B0609020204030204" pitchFamily="49" charset="0"/>
              </a:rPr>
              <a:t>128</a:t>
            </a:r>
            <a:r>
              <a:rPr lang="en-US" sz="1600" dirty="0"/>
              <a:t> characters</a:t>
            </a:r>
          </a:p>
        </p:txBody>
      </p:sp>
      <p:sp>
        <p:nvSpPr>
          <p:cNvPr id="6" name="TextBox 5">
            <a:extLst>
              <a:ext uri="{FF2B5EF4-FFF2-40B4-BE49-F238E27FC236}">
                <a16:creationId xmlns:a16="http://schemas.microsoft.com/office/drawing/2014/main" id="{825171B8-59A4-1447-8B71-6B1352F0D4B0}"/>
              </a:ext>
            </a:extLst>
          </p:cNvPr>
          <p:cNvSpPr txBox="1"/>
          <p:nvPr/>
        </p:nvSpPr>
        <p:spPr>
          <a:xfrm>
            <a:off x="1676400" y="3276600"/>
            <a:ext cx="2362200" cy="2492990"/>
          </a:xfrm>
          <a:prstGeom prst="rect">
            <a:avLst/>
          </a:prstGeom>
          <a:noFill/>
        </p:spPr>
        <p:txBody>
          <a:bodyPr wrap="square" rtlCol="0">
            <a:spAutoFit/>
          </a:bodyPr>
          <a:lstStyle/>
          <a:p>
            <a:pPr marL="285750" indent="-285750">
              <a:buFont typeface="Arial" panose="020B0604020202020204" pitchFamily="34" charset="0"/>
              <a:buChar char="•"/>
            </a:pPr>
            <a:r>
              <a:rPr lang="en-US" dirty="0"/>
              <a:t>Standard ASCII</a:t>
            </a:r>
          </a:p>
          <a:p>
            <a:pPr lvl="1"/>
            <a:r>
              <a:rPr lang="en-US" sz="1600" dirty="0"/>
              <a:t>0 - 127</a:t>
            </a:r>
          </a:p>
          <a:p>
            <a:pPr marL="285750" indent="-285750">
              <a:buFont typeface="Arial" panose="020B0604020202020204" pitchFamily="34" charset="0"/>
              <a:buChar char="•"/>
            </a:pPr>
            <a:r>
              <a:rPr lang="en-US" dirty="0"/>
              <a:t>Extended ASCII</a:t>
            </a:r>
          </a:p>
          <a:p>
            <a:r>
              <a:rPr lang="en-US" sz="1600" dirty="0"/>
              <a:t>        0 - 255</a:t>
            </a:r>
            <a:endParaRPr lang="en-US" dirty="0"/>
          </a:p>
          <a:p>
            <a:pPr marL="285750" indent="-285750">
              <a:buFont typeface="Arial" panose="020B0604020202020204" pitchFamily="34" charset="0"/>
              <a:buChar char="•"/>
            </a:pPr>
            <a:r>
              <a:rPr lang="en-US" dirty="0"/>
              <a:t>ANSI</a:t>
            </a:r>
          </a:p>
          <a:p>
            <a:r>
              <a:rPr lang="en-US" sz="1600" dirty="0"/>
              <a:t>        0 - 255</a:t>
            </a:r>
            <a:endParaRPr lang="en-US" dirty="0"/>
          </a:p>
          <a:p>
            <a:pPr marL="285750" indent="-285750">
              <a:buFont typeface="Arial" panose="020B0604020202020204" pitchFamily="34" charset="0"/>
              <a:buChar char="•"/>
            </a:pPr>
            <a:r>
              <a:rPr lang="en-US" dirty="0"/>
              <a:t>Unicode</a:t>
            </a:r>
          </a:p>
          <a:p>
            <a:r>
              <a:rPr lang="en-US" dirty="0"/>
              <a:t>       </a:t>
            </a:r>
            <a:r>
              <a:rPr lang="en-US" sz="1600" dirty="0"/>
              <a:t>0 - 65535</a:t>
            </a:r>
          </a:p>
          <a:p>
            <a:endParaRPr lang="en-US" dirty="0"/>
          </a:p>
        </p:txBody>
      </p:sp>
    </p:spTree>
    <p:extLst>
      <p:ext uri="{BB962C8B-B14F-4D97-AF65-F5344CB8AC3E}">
        <p14:creationId xmlns:p14="http://schemas.microsoft.com/office/powerpoint/2010/main" val="32241472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Null-terminated String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751002506"/>
              </p:ext>
            </p:extLst>
          </p:nvPr>
        </p:nvGraphicFramePr>
        <p:xfrm>
          <a:off x="6629400" y="1905000"/>
          <a:ext cx="3048000" cy="3307080"/>
        </p:xfrm>
        <a:graphic>
          <a:graphicData uri="http://schemas.openxmlformats.org/drawingml/2006/table">
            <a:tbl>
              <a:tblPr firstRow="1" firstCol="1" bandRow="1" bandCol="1">
                <a:tableStyleId>{5C22544A-7EE6-4342-B048-85BDC9FD1C3A}</a:tableStyleId>
              </a:tblPr>
              <a:tblGrid>
                <a:gridCol w="1219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457200">
                <a:tc>
                  <a:txBody>
                    <a:bodyPr/>
                    <a:lstStyle/>
                    <a:p>
                      <a:pPr marL="0" marR="0" algn="r">
                        <a:spcBef>
                          <a:spcPts val="0"/>
                        </a:spcBef>
                        <a:spcAft>
                          <a:spcPts val="0"/>
                        </a:spcAft>
                      </a:pPr>
                      <a:r>
                        <a:rPr lang="en-US" sz="1400" b="1" dirty="0">
                          <a:effectLst/>
                          <a:latin typeface="Consolas" panose="020B0609020204030204" pitchFamily="49" charset="0"/>
                          <a:cs typeface="Consolas" panose="020B0609020204030204" pitchFamily="49" charset="0"/>
                        </a:rPr>
                        <a:t>Memory Address</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Memory Content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Letter</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0"/>
                  </a:ext>
                </a:extLst>
              </a:tr>
              <a:tr h="236919">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+ 12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0x00</a:t>
                      </a:r>
                      <a:endParaRPr lang="en-US" sz="1600" b="1">
                        <a:solidFill>
                          <a:srgbClr val="FF0000"/>
                        </a:solidFill>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\0</a:t>
                      </a:r>
                      <a:endParaRPr lang="en-US" sz="1600" b="1" dirty="0">
                        <a:solidFill>
                          <a:srgbClr val="FF0000"/>
                        </a:solidFill>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1"/>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+ 11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0x79</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effectLst/>
                          <a:latin typeface="Consolas" panose="020B0609020204030204" pitchFamily="49" charset="0"/>
                          <a:cs typeface="Consolas" panose="020B0609020204030204" pitchFamily="49" charset="0"/>
                        </a:rPr>
                        <a:t>y</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2"/>
                  </a:ext>
                </a:extLst>
              </a:tr>
              <a:tr h="135735">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+ 10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0x6C</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l</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3"/>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+ 9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0x62</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b</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4"/>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+ 8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0x6D</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m</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5"/>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+ 7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0x65</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e</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6"/>
                  </a:ext>
                </a:extLst>
              </a:tr>
              <a:tr h="135735">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+ 6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0x73</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7"/>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+ 5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0x73</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8"/>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+ 4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0x41</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A</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09"/>
                  </a:ext>
                </a:extLst>
              </a:tr>
              <a:tr h="266001">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+ 3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0x20</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space</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0"/>
                  </a:ext>
                </a:extLst>
              </a:tr>
              <a:tr h="126850">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+ 2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0x4D</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M</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1"/>
                  </a:ext>
                </a:extLst>
              </a:tr>
              <a:tr h="118459">
                <a:tc>
                  <a:txBody>
                    <a:bodyPr/>
                    <a:lstStyle/>
                    <a:p>
                      <a:pPr marL="0" marR="0" algn="r">
                        <a:spcBef>
                          <a:spcPts val="0"/>
                        </a:spcBef>
                        <a:spcAft>
                          <a:spcPts val="0"/>
                        </a:spcAft>
                      </a:pPr>
                      <a:r>
                        <a:rPr lang="en-US" sz="1400" b="1">
                          <a:effectLst/>
                          <a:latin typeface="Consolas" panose="020B0609020204030204" pitchFamily="49" charset="0"/>
                          <a:cs typeface="Consolas" panose="020B0609020204030204" pitchFamily="49" charset="0"/>
                        </a:rPr>
                        <a:t>str + 1 </a:t>
                      </a:r>
                      <a:r>
                        <a:rPr lang="en-US" sz="1400" b="1">
                          <a:effectLst/>
                          <a:latin typeface="Consolas" panose="020B0609020204030204" pitchFamily="49" charset="0"/>
                          <a:cs typeface="Consolas" panose="020B0609020204030204" pitchFamily="49" charset="0"/>
                          <a:sym typeface="Symbol"/>
                        </a:rPr>
                        <a:t></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0x52</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a:effectLst/>
                          <a:latin typeface="Consolas" panose="020B0609020204030204" pitchFamily="49" charset="0"/>
                          <a:cs typeface="Consolas" panose="020B0609020204030204" pitchFamily="49" charset="0"/>
                        </a:rPr>
                        <a:t>R</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2"/>
                  </a:ext>
                </a:extLst>
              </a:tr>
              <a:tr h="135735">
                <a:tc>
                  <a:txBody>
                    <a:bodyPr/>
                    <a:lstStyle/>
                    <a:p>
                      <a:pPr marL="0" marR="0" algn="r">
                        <a:spcBef>
                          <a:spcPts val="0"/>
                        </a:spcBef>
                        <a:spcAft>
                          <a:spcPts val="0"/>
                        </a:spcAft>
                      </a:pPr>
                      <a:r>
                        <a:rPr lang="en-US" sz="1400" b="1" dirty="0" err="1">
                          <a:effectLst/>
                          <a:latin typeface="Consolas" panose="020B0609020204030204" pitchFamily="49" charset="0"/>
                          <a:cs typeface="Consolas" panose="020B0609020204030204" pitchFamily="49" charset="0"/>
                        </a:rPr>
                        <a:t>str</a:t>
                      </a:r>
                      <a:r>
                        <a:rPr lang="en-US" sz="1400" b="1" dirty="0">
                          <a:effectLst/>
                          <a:latin typeface="Consolas" panose="020B0609020204030204" pitchFamily="49" charset="0"/>
                          <a:cs typeface="Consolas" panose="020B0609020204030204" pitchFamily="49" charset="0"/>
                        </a:rPr>
                        <a:t> </a:t>
                      </a:r>
                      <a:r>
                        <a:rPr lang="en-US" sz="1400" b="1" dirty="0">
                          <a:effectLst/>
                          <a:latin typeface="Consolas" panose="020B0609020204030204" pitchFamily="49" charset="0"/>
                          <a:cs typeface="Consolas" panose="020B0609020204030204" pitchFamily="49" charset="0"/>
                          <a:sym typeface="Symbol"/>
                        </a:rPr>
                        <a:t></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0x41</a:t>
                      </a:r>
                      <a:endParaRPr lang="en-US" sz="1600" b="1">
                        <a:effectLst/>
                        <a:latin typeface="Consolas" panose="020B0609020204030204" pitchFamily="49" charset="0"/>
                        <a:ea typeface="宋体"/>
                        <a:cs typeface="Consolas" panose="020B0609020204030204" pitchFamily="49" charset="0"/>
                      </a:endParaRPr>
                    </a:p>
                  </a:txBody>
                  <a:tcPr marL="53307" marR="53307" marT="0" marB="0" anchor="ctr"/>
                </a:tc>
                <a:tc>
                  <a:txBody>
                    <a:bodyPr/>
                    <a:lstStyle/>
                    <a:p>
                      <a:pPr marL="0" marR="0" algn="just">
                        <a:spcBef>
                          <a:spcPts val="0"/>
                        </a:spcBef>
                        <a:spcAft>
                          <a:spcPts val="0"/>
                        </a:spcAft>
                      </a:pPr>
                      <a:r>
                        <a:rPr lang="en-US" sz="1400" b="1" dirty="0">
                          <a:effectLst/>
                          <a:latin typeface="Consolas" panose="020B0609020204030204" pitchFamily="49" charset="0"/>
                          <a:cs typeface="Consolas" panose="020B0609020204030204" pitchFamily="49" charset="0"/>
                        </a:rPr>
                        <a:t>A</a:t>
                      </a:r>
                      <a:endParaRPr lang="en-US" sz="1600" b="1" dirty="0">
                        <a:effectLst/>
                        <a:latin typeface="Consolas" panose="020B0609020204030204" pitchFamily="49" charset="0"/>
                        <a:ea typeface="宋体"/>
                        <a:cs typeface="Consolas" panose="020B0609020204030204" pitchFamily="49" charset="0"/>
                      </a:endParaRPr>
                    </a:p>
                  </a:txBody>
                  <a:tcPr marL="53307" marR="53307" marT="0" marB="0" anchor="ctr"/>
                </a:tc>
                <a:extLst>
                  <a:ext uri="{0D108BD9-81ED-4DB2-BD59-A6C34878D82A}">
                    <a16:rowId xmlns:a16="http://schemas.microsoft.com/office/drawing/2014/main" val="1001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098299410"/>
              </p:ext>
            </p:extLst>
          </p:nvPr>
        </p:nvGraphicFramePr>
        <p:xfrm>
          <a:off x="647700" y="2324100"/>
          <a:ext cx="4419600" cy="2468880"/>
        </p:xfrm>
        <a:graphic>
          <a:graphicData uri="http://schemas.openxmlformats.org/drawingml/2006/table">
            <a:tbl>
              <a:tblPr firstRow="1" firstCol="1" bandRow="1" bandCol="1">
                <a:tableStyleId>{5C22544A-7EE6-4342-B048-85BDC9FD1C3A}</a:tableStyleId>
              </a:tblPr>
              <a:tblGrid>
                <a:gridCol w="4419600">
                  <a:extLst>
                    <a:ext uri="{9D8B030D-6E8A-4147-A177-3AD203B41FA5}">
                      <a16:colId xmlns:a16="http://schemas.microsoft.com/office/drawing/2014/main" val="20000"/>
                    </a:ext>
                  </a:extLst>
                </a:gridCol>
              </a:tblGrid>
              <a:tr h="1219200">
                <a:tc>
                  <a:txBody>
                    <a:bodyPr/>
                    <a:lstStyle/>
                    <a:p>
                      <a:pPr marL="0" marR="0" algn="l">
                        <a:spcBef>
                          <a:spcPts val="0"/>
                        </a:spcBef>
                        <a:spcAft>
                          <a:spcPts val="0"/>
                        </a:spcAft>
                      </a:pPr>
                      <a:r>
                        <a:rPr lang="en-US" sz="1800" dirty="0">
                          <a:solidFill>
                            <a:srgbClr val="C00000"/>
                          </a:solidFill>
                          <a:effectLst/>
                          <a:latin typeface="Consolas" panose="020B0609020204030204" pitchFamily="49" charset="0"/>
                        </a:rPr>
                        <a:t>char </a:t>
                      </a:r>
                      <a:r>
                        <a:rPr lang="en-US" sz="1800" dirty="0" err="1">
                          <a:solidFill>
                            <a:srgbClr val="C00000"/>
                          </a:solidFill>
                          <a:effectLst/>
                          <a:latin typeface="Consolas" panose="020B0609020204030204" pitchFamily="49" charset="0"/>
                        </a:rPr>
                        <a:t>str</a:t>
                      </a:r>
                      <a:r>
                        <a:rPr lang="en-US" sz="1800" dirty="0">
                          <a:solidFill>
                            <a:srgbClr val="C00000"/>
                          </a:solidFill>
                          <a:effectLst/>
                          <a:latin typeface="Consolas" panose="020B0609020204030204" pitchFamily="49" charset="0"/>
                        </a:rPr>
                        <a:t>[13] = “ARM Assembly”;</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The length has to be at least // 13 even though it has 12 </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letters. The NULL terminator </a:t>
                      </a:r>
                    </a:p>
                    <a:p>
                      <a:pPr marL="0" marR="0" algn="l">
                        <a:spcBef>
                          <a:spcPts val="0"/>
                        </a:spcBef>
                        <a:spcAft>
                          <a:spcPts val="0"/>
                        </a:spcAft>
                      </a:pPr>
                      <a:r>
                        <a:rPr lang="en-US" sz="1800" dirty="0">
                          <a:solidFill>
                            <a:sysClr val="windowText" lastClr="000000"/>
                          </a:solidFill>
                          <a:effectLst/>
                          <a:latin typeface="Consolas" panose="020B0609020204030204" pitchFamily="49" charset="0"/>
                        </a:rPr>
                        <a:t>// should be included.</a:t>
                      </a:r>
                    </a:p>
                    <a:p>
                      <a:pPr marL="0" marR="0" algn="l">
                        <a:spcBef>
                          <a:spcPts val="0"/>
                        </a:spcBef>
                        <a:spcAft>
                          <a:spcPts val="0"/>
                        </a:spcAft>
                      </a:pPr>
                      <a:endParaRPr lang="en-US" sz="1800" dirty="0">
                        <a:solidFill>
                          <a:sysClr val="windowText" lastClr="000000"/>
                        </a:solidFill>
                        <a:effectLst/>
                      </a:endParaRPr>
                    </a:p>
                    <a:p>
                      <a:pPr marL="0" marR="0" algn="l">
                        <a:spcBef>
                          <a:spcPts val="0"/>
                        </a:spcBef>
                        <a:spcAft>
                          <a:spcPts val="0"/>
                        </a:spcAft>
                      </a:pPr>
                      <a:r>
                        <a:rPr lang="en-US" sz="1800" dirty="0">
                          <a:solidFill>
                            <a:sysClr val="windowText" lastClr="000000"/>
                          </a:solidFill>
                          <a:effectLst/>
                        </a:rPr>
                        <a:t>or simply </a:t>
                      </a:r>
                    </a:p>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C00000"/>
                          </a:solidFill>
                          <a:effectLst/>
                          <a:latin typeface="Consolas" panose="020B0609020204030204" pitchFamily="49" charset="0"/>
                        </a:rPr>
                        <a:t>char </a:t>
                      </a:r>
                      <a:r>
                        <a:rPr lang="en-US" sz="1800" dirty="0" err="1">
                          <a:solidFill>
                            <a:srgbClr val="C00000"/>
                          </a:solidFill>
                          <a:effectLst/>
                          <a:latin typeface="Consolas" panose="020B0609020204030204" pitchFamily="49" charset="0"/>
                        </a:rPr>
                        <a:t>str</a:t>
                      </a:r>
                      <a:r>
                        <a:rPr lang="en-US" sz="1800" dirty="0">
                          <a:solidFill>
                            <a:srgbClr val="C00000"/>
                          </a:solidFill>
                          <a:effectLst/>
                          <a:latin typeface="Consolas" panose="020B0609020204030204" pitchFamily="49" charset="0"/>
                        </a:rPr>
                        <a:t>[] = “ARM Assembly”;</a:t>
                      </a:r>
                    </a:p>
                    <a:p>
                      <a:pPr marL="0" marR="0" algn="l">
                        <a:spcBef>
                          <a:spcPts val="0"/>
                        </a:spcBef>
                        <a:spcAft>
                          <a:spcPts val="0"/>
                        </a:spcAft>
                      </a:pPr>
                      <a:endParaRPr lang="en-US" sz="1800" dirty="0">
                        <a:solidFill>
                          <a:sysClr val="windowText" lastClr="000000"/>
                        </a:solidFill>
                        <a:effectLst/>
                        <a:latin typeface="Palatino Linotype"/>
                        <a:ea typeface="宋体"/>
                        <a:cs typeface="Times New Roman"/>
                      </a:endParaRPr>
                    </a:p>
                  </a:txBody>
                  <a:tcPr marL="53307" marR="53307" marT="0" marB="0" anchor="ctr">
                    <a:solidFill>
                      <a:schemeClr val="bg1"/>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0856786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String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sp>
        <p:nvSpPr>
          <p:cNvPr id="4" name="Content Placeholder 3"/>
          <p:cNvSpPr>
            <a:spLocks noGrp="1"/>
          </p:cNvSpPr>
          <p:nvPr>
            <p:ph sz="quarter" idx="1"/>
          </p:nvPr>
        </p:nvSpPr>
        <p:spPr/>
        <p:txBody>
          <a:bodyPr/>
          <a:lstStyle/>
          <a:p>
            <a:pPr marL="0" indent="0">
              <a:buNone/>
            </a:pPr>
            <a:r>
              <a:rPr lang="en-US" dirty="0"/>
              <a:t>Strings are compared based on their ASCII values</a:t>
            </a:r>
          </a:p>
          <a:p>
            <a:pPr lvl="0"/>
            <a:r>
              <a:rPr lang="en-US" dirty="0"/>
              <a:t>“j” &lt; “jar” &lt; “jargon” &lt; “jargonize”</a:t>
            </a:r>
          </a:p>
          <a:p>
            <a:pPr lvl="0"/>
            <a:r>
              <a:rPr lang="en-US" dirty="0"/>
              <a:t>“CAT” &lt; “Cat” &lt; “DOG” &lt; “Dog” &lt; “cat” &lt; “dog”</a:t>
            </a:r>
          </a:p>
          <a:p>
            <a:pPr lvl="0"/>
            <a:r>
              <a:rPr lang="en-US" dirty="0"/>
              <a:t> “12” &lt; “123” &lt; “2”&lt; “AB” &lt; “Ab” &lt; “ab” &lt; “</a:t>
            </a:r>
            <a:r>
              <a:rPr lang="en-US" dirty="0" err="1"/>
              <a:t>abc</a:t>
            </a:r>
            <a:r>
              <a:rPr lang="en-US" dirty="0"/>
              <a:t>”</a:t>
            </a:r>
          </a:p>
          <a:p>
            <a:pPr marL="0" indent="0">
              <a:buNone/>
            </a:pPr>
            <a:endParaRPr lang="en-US" dirty="0"/>
          </a:p>
        </p:txBody>
      </p:sp>
    </p:spTree>
    <p:extLst>
      <p:ext uri="{BB962C8B-B14F-4D97-AF65-F5344CB8AC3E}">
        <p14:creationId xmlns:p14="http://schemas.microsoft.com/office/powerpoint/2010/main" val="18805135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String Length</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38</a:t>
            </a:fld>
            <a:endParaRPr kumimoji="0" lang="en-US" dirty="0"/>
          </a:p>
        </p:txBody>
      </p:sp>
      <p:graphicFrame>
        <p:nvGraphicFramePr>
          <p:cNvPr id="6" name="Table 5"/>
          <p:cNvGraphicFramePr>
            <a:graphicFrameLocks noGrp="1"/>
          </p:cNvGraphicFramePr>
          <p:nvPr>
            <p:extLst>
              <p:ext uri="{D42A27DB-BD31-4B8C-83A1-F6EECF244321}">
                <p14:modId xmlns:p14="http://schemas.microsoft.com/office/powerpoint/2010/main" val="354547878"/>
              </p:ext>
            </p:extLst>
          </p:nvPr>
        </p:nvGraphicFramePr>
        <p:xfrm>
          <a:off x="6172200" y="2438401"/>
          <a:ext cx="4038600" cy="2963423"/>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381000">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dirty="0">
                          <a:effectLst/>
                        </a:rPr>
                        <a:t>Array subscript operator </a:t>
                      </a:r>
                      <a:r>
                        <a:rPr lang="en-US" sz="1600" dirty="0">
                          <a:solidFill>
                            <a:srgbClr val="FF0000"/>
                          </a:solidFill>
                          <a:effectLst/>
                        </a:rPr>
                        <a:t>[ ]</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0"/>
                  </a:ext>
                </a:extLst>
              </a:tr>
              <a:tr h="2582423">
                <a:tc>
                  <a:txBody>
                    <a:bodyPr/>
                    <a:lstStyle/>
                    <a:p>
                      <a:pPr marL="0" marR="0" algn="just">
                        <a:spcBef>
                          <a:spcPts val="0"/>
                        </a:spcBef>
                        <a:spcAft>
                          <a:spcPts val="0"/>
                        </a:spcAft>
                      </a:pP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strlen</a:t>
                      </a:r>
                      <a:r>
                        <a:rPr lang="en-US" sz="1600" b="1" dirty="0">
                          <a:solidFill>
                            <a:sysClr val="windowText" lastClr="000000"/>
                          </a:solidFill>
                          <a:effectLst/>
                          <a:latin typeface="Consolas" panose="020B0609020204030204" pitchFamily="49" charset="0"/>
                          <a:cs typeface="Consolas" panose="020B0609020204030204" pitchFamily="49" charset="0"/>
                        </a:rPr>
                        <a:t> (char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 0;</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 loop until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is NULL</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while( </a:t>
                      </a:r>
                      <a:r>
                        <a:rPr lang="en-US" sz="1600" b="1" dirty="0" err="1">
                          <a:solidFill>
                            <a:srgbClr val="FF0000"/>
                          </a:solidFill>
                          <a:effectLst/>
                          <a:latin typeface="Consolas" panose="020B0609020204030204" pitchFamily="49" charset="0"/>
                          <a:cs typeface="Consolas" panose="020B0609020204030204" pitchFamily="49" charset="0"/>
                        </a:rPr>
                        <a:t>pStr</a:t>
                      </a:r>
                      <a:r>
                        <a:rPr lang="en-US" sz="1600" b="1" dirty="0">
                          <a:solidFill>
                            <a:srgbClr val="FF0000"/>
                          </a:solidFill>
                          <a:effectLst/>
                          <a:latin typeface="Consolas" panose="020B0609020204030204" pitchFamily="49" charset="0"/>
                          <a:cs typeface="Consolas" panose="020B0609020204030204" pitchFamily="49" charset="0"/>
                        </a:rPr>
                        <a:t>[</a:t>
                      </a:r>
                      <a:r>
                        <a:rPr lang="en-US" sz="1600" b="1" dirty="0" err="1">
                          <a:solidFill>
                            <a:srgbClr val="FF0000"/>
                          </a:solidFill>
                          <a:effectLst/>
                          <a:latin typeface="Consolas" panose="020B0609020204030204" pitchFamily="49" charset="0"/>
                          <a:cs typeface="Consolas" panose="020B0609020204030204" pitchFamily="49" charset="0"/>
                        </a:rPr>
                        <a:t>i</a:t>
                      </a:r>
                      <a:r>
                        <a:rPr lang="en-US" sz="1600" b="1" dirty="0">
                          <a:solidFill>
                            <a:srgbClr val="FF0000"/>
                          </a:solidFill>
                          <a:effectLst/>
                          <a:latin typeface="Consolas" panose="020B0609020204030204" pitchFamily="49" charset="0"/>
                          <a:cs typeface="Consolas" panose="020B0609020204030204" pitchFamily="49" charset="0"/>
                        </a:rPr>
                        <a:t>] </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return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575798938"/>
              </p:ext>
            </p:extLst>
          </p:nvPr>
        </p:nvGraphicFramePr>
        <p:xfrm>
          <a:off x="1872883" y="2438401"/>
          <a:ext cx="4038600" cy="2991659"/>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381000">
                <a:tc>
                  <a:txBody>
                    <a:bodyPr/>
                    <a:lstStyle/>
                    <a:p>
                      <a:pPr marL="0" marR="0" algn="just">
                        <a:spcBef>
                          <a:spcPts val="0"/>
                        </a:spcBef>
                        <a:spcAft>
                          <a:spcPts val="0"/>
                        </a:spcAft>
                      </a:pPr>
                      <a:r>
                        <a:rPr lang="en-US" sz="1600" dirty="0">
                          <a:effectLst/>
                        </a:rPr>
                        <a:t>Pointer dereference operator </a:t>
                      </a:r>
                      <a:r>
                        <a:rPr lang="en-US" sz="1600" dirty="0">
                          <a:solidFill>
                            <a:srgbClr val="FF0000"/>
                          </a:solidFill>
                          <a:effectLst/>
                        </a:rPr>
                        <a:t>*</a:t>
                      </a:r>
                    </a:p>
                  </a:txBody>
                  <a:tcPr marL="68580" marR="68580" marT="0" marB="0" anchor="ctr"/>
                </a:tc>
                <a:extLst>
                  <a:ext uri="{0D108BD9-81ED-4DB2-BD59-A6C34878D82A}">
                    <a16:rowId xmlns:a16="http://schemas.microsoft.com/office/drawing/2014/main" val="10000"/>
                  </a:ext>
                </a:extLst>
              </a:tr>
              <a:tr h="2610659">
                <a:tc>
                  <a:txBody>
                    <a:bodyPr/>
                    <a:lstStyle/>
                    <a:p>
                      <a:pPr marL="0" marR="0" algn="just">
                        <a:spcBef>
                          <a:spcPts val="0"/>
                        </a:spcBef>
                        <a:spcAft>
                          <a:spcPts val="0"/>
                        </a:spcAft>
                      </a:pP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strlen</a:t>
                      </a:r>
                      <a:r>
                        <a:rPr lang="en-US" sz="1600" b="1" dirty="0">
                          <a:solidFill>
                            <a:sysClr val="windowText" lastClr="000000"/>
                          </a:solidFill>
                          <a:effectLst/>
                          <a:latin typeface="Consolas" panose="020B0609020204030204" pitchFamily="49" charset="0"/>
                          <a:cs typeface="Consolas" panose="020B0609020204030204" pitchFamily="49" charset="0"/>
                        </a:rPr>
                        <a:t> (char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int</a:t>
                      </a: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 = 0;</a:t>
                      </a:r>
                    </a:p>
                    <a:p>
                      <a:pPr marL="0" marR="0" algn="just">
                        <a:spcBef>
                          <a:spcPts val="0"/>
                        </a:spcBef>
                        <a:spcAft>
                          <a:spcPts val="0"/>
                        </a:spcAft>
                      </a:pPr>
                      <a:endParaRPr lang="en-US" sz="16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 loop until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 is NULL</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while( </a:t>
                      </a:r>
                      <a:r>
                        <a:rPr lang="en-US" sz="1600" b="1" dirty="0">
                          <a:solidFill>
                            <a:srgbClr val="FF0000"/>
                          </a:solidFill>
                          <a:effectLst/>
                          <a:latin typeface="Consolas" panose="020B0609020204030204" pitchFamily="49" charset="0"/>
                          <a:cs typeface="Consolas" panose="020B0609020204030204" pitchFamily="49" charset="0"/>
                        </a:rPr>
                        <a:t>*</a:t>
                      </a:r>
                      <a:r>
                        <a:rPr lang="en-US" sz="1600" b="1" dirty="0" err="1">
                          <a:solidFill>
                            <a:srgbClr val="FF0000"/>
                          </a:solidFill>
                          <a:effectLst/>
                          <a:latin typeface="Consolas" panose="020B0609020204030204" pitchFamily="49" charset="0"/>
                          <a:cs typeface="Consolas" panose="020B0609020204030204" pitchFamily="49" charset="0"/>
                        </a:rPr>
                        <a:t>pStr</a:t>
                      </a:r>
                      <a:r>
                        <a:rPr lang="en-US" sz="1600" b="1" dirty="0">
                          <a:solidFill>
                            <a:srgbClr val="FF0000"/>
                          </a:solidFill>
                          <a:effectLst/>
                          <a:latin typeface="Consolas" panose="020B0609020204030204" pitchFamily="49" charset="0"/>
                          <a:cs typeface="Consolas" panose="020B0609020204030204" pitchFamily="49" charset="0"/>
                        </a:rPr>
                        <a:t> </a:t>
                      </a:r>
                      <a:r>
                        <a:rPr lang="en-US" sz="1600" b="1" dirty="0">
                          <a:solidFill>
                            <a:sysClr val="windowText" lastClr="0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return </a:t>
                      </a:r>
                      <a:r>
                        <a:rPr lang="en-US" sz="1600" b="1" dirty="0" err="1">
                          <a:solidFill>
                            <a:sysClr val="windowText" lastClr="000000"/>
                          </a:solidFill>
                          <a:effectLst/>
                          <a:latin typeface="Consolas" panose="020B0609020204030204" pitchFamily="49" charset="0"/>
                          <a:cs typeface="Consolas" panose="020B0609020204030204" pitchFamily="49" charset="0"/>
                        </a:rPr>
                        <a:t>i</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sp>
        <p:nvSpPr>
          <p:cNvPr id="8" name="Content Placeholder 3"/>
          <p:cNvSpPr>
            <a:spLocks noGrp="1"/>
          </p:cNvSpPr>
          <p:nvPr>
            <p:ph sz="quarter" idx="1"/>
          </p:nvPr>
        </p:nvSpPr>
        <p:spPr>
          <a:xfrm>
            <a:off x="609600" y="1512111"/>
            <a:ext cx="8229600" cy="762000"/>
          </a:xfrm>
        </p:spPr>
        <p:txBody>
          <a:bodyPr>
            <a:normAutofit/>
          </a:bodyPr>
          <a:lstStyle/>
          <a:p>
            <a:pPr lvl="0"/>
            <a:r>
              <a:rPr lang="en-US" sz="2000" dirty="0"/>
              <a:t>Stings are terminated with a </a:t>
            </a:r>
            <a:r>
              <a:rPr lang="en-US" sz="2000" dirty="0">
                <a:solidFill>
                  <a:srgbClr val="C00000"/>
                </a:solidFill>
              </a:rPr>
              <a:t>null</a:t>
            </a:r>
            <a:r>
              <a:rPr lang="en-US" sz="2000" dirty="0"/>
              <a:t> character (</a:t>
            </a:r>
            <a:r>
              <a:rPr lang="en-US" sz="2000" dirty="0" err="1"/>
              <a:t>NUL</a:t>
            </a:r>
            <a:r>
              <a:rPr lang="en-US" sz="2000" dirty="0"/>
              <a:t>, ASCII value </a:t>
            </a:r>
            <a:r>
              <a:rPr lang="en-US" sz="2000" dirty="0" err="1">
                <a:latin typeface="Consolas" panose="020B0609020204030204" pitchFamily="49" charset="0"/>
                <a:cs typeface="Consolas" panose="020B0609020204030204" pitchFamily="49" charset="0"/>
              </a:rPr>
              <a:t>0x00</a:t>
            </a:r>
            <a:r>
              <a:rPr lang="en-US" sz="2000" dirty="0"/>
              <a:t>)</a:t>
            </a:r>
          </a:p>
          <a:p>
            <a:pPr marL="0" indent="0">
              <a:buNone/>
            </a:pPr>
            <a:endParaRPr lang="en-US" sz="2000" dirty="0"/>
          </a:p>
        </p:txBody>
      </p:sp>
    </p:spTree>
    <p:extLst>
      <p:ext uri="{BB962C8B-B14F-4D97-AF65-F5344CB8AC3E}">
        <p14:creationId xmlns:p14="http://schemas.microsoft.com/office/powerpoint/2010/main" val="1954664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Convert to Upper Case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39</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4048896696"/>
              </p:ext>
            </p:extLst>
          </p:nvPr>
        </p:nvGraphicFramePr>
        <p:xfrm>
          <a:off x="1676400" y="3645932"/>
          <a:ext cx="4038600" cy="2362200"/>
        </p:xfrm>
        <a:graphic>
          <a:graphicData uri="http://schemas.openxmlformats.org/drawingml/2006/table">
            <a:tbl>
              <a:tblPr firstRow="1" firstCol="1" bandRow="1">
                <a:tableStyleId>{5C22544A-7EE6-4342-B048-85BDC9FD1C3A}</a:tableStyleId>
              </a:tblPr>
              <a:tblGrid>
                <a:gridCol w="4038600">
                  <a:extLst>
                    <a:ext uri="{9D8B030D-6E8A-4147-A177-3AD203B41FA5}">
                      <a16:colId xmlns:a16="http://schemas.microsoft.com/office/drawing/2014/main" val="20000"/>
                    </a:ext>
                  </a:extLst>
                </a:gridCol>
              </a:tblGrid>
              <a:tr h="266140">
                <a:tc>
                  <a:txBody>
                    <a:bodyPr/>
                    <a:lstStyle/>
                    <a:p>
                      <a:pPr marL="0" marR="0" algn="just">
                        <a:spcBef>
                          <a:spcPts val="0"/>
                        </a:spcBef>
                        <a:spcAft>
                          <a:spcPts val="0"/>
                        </a:spcAft>
                      </a:pPr>
                      <a:r>
                        <a:rPr lang="en-US" sz="1600" dirty="0">
                          <a:effectLst/>
                        </a:rPr>
                        <a:t>Pointer dereference operator </a:t>
                      </a:r>
                      <a:r>
                        <a:rPr lang="en-US" sz="1600" dirty="0">
                          <a:solidFill>
                            <a:srgbClr val="FF0000"/>
                          </a:solidFill>
                          <a:effectLst/>
                        </a:rPr>
                        <a:t>*</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2096060">
                <a:tc>
                  <a:txBody>
                    <a:bodyPr/>
                    <a:lstStyle/>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void </a:t>
                      </a:r>
                      <a:r>
                        <a:rPr lang="en-US" sz="1600" b="1" dirty="0" err="1">
                          <a:solidFill>
                            <a:sysClr val="windowText" lastClr="000000"/>
                          </a:solidFill>
                          <a:effectLst/>
                          <a:latin typeface="Consolas" panose="020B0609020204030204" pitchFamily="49" charset="0"/>
                          <a:cs typeface="Consolas" panose="020B0609020204030204" pitchFamily="49" charset="0"/>
                        </a:rPr>
                        <a:t>toUpper</a:t>
                      </a:r>
                      <a:r>
                        <a:rPr lang="en-US" sz="1600" b="1" dirty="0">
                          <a:solidFill>
                            <a:sysClr val="windowText" lastClr="000000"/>
                          </a:solidFill>
                          <a:effectLst/>
                          <a:latin typeface="Consolas" panose="020B0609020204030204" pitchFamily="49" charset="0"/>
                          <a:cs typeface="Consolas" panose="020B0609020204030204" pitchFamily="49" charset="0"/>
                        </a:rPr>
                        <a:t>(char *</a:t>
                      </a:r>
                      <a:r>
                        <a:rPr lang="en-US" sz="1600" b="1" dirty="0" err="1">
                          <a:solidFill>
                            <a:sysClr val="windowText" lastClr="000000"/>
                          </a:solidFill>
                          <a:effectLst/>
                          <a:latin typeface="Consolas" panose="020B0609020204030204" pitchFamily="49" charset="0"/>
                          <a:cs typeface="Consolas" panose="020B0609020204030204" pitchFamily="49" charset="0"/>
                        </a:rPr>
                        <a:t>pStr</a:t>
                      </a:r>
                      <a:r>
                        <a:rPr lang="en-US" sz="1600" b="1" dirty="0">
                          <a:solidFill>
                            <a:sysClr val="windowText" lastClr="000000"/>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baseline="0" dirty="0">
                          <a:solidFill>
                            <a:sysClr val="windowText" lastClr="000000"/>
                          </a:solidFill>
                          <a:effectLst/>
                          <a:latin typeface="Consolas" panose="020B0609020204030204" pitchFamily="49" charset="0"/>
                          <a:cs typeface="Consolas" panose="020B0609020204030204" pitchFamily="49" charset="0"/>
                        </a:rPr>
                        <a:t>  </a:t>
                      </a:r>
                      <a:r>
                        <a:rPr lang="nn-NO" sz="1600" b="1" baseline="0" dirty="0">
                          <a:solidFill>
                            <a:sysClr val="windowText" lastClr="000000"/>
                          </a:solidFill>
                          <a:effectLst/>
                          <a:latin typeface="Consolas" panose="020B0609020204030204" pitchFamily="49" charset="0"/>
                          <a:cs typeface="Consolas" panose="020B0609020204030204" pitchFamily="49" charset="0"/>
                        </a:rPr>
                        <a:t>char *p = pStr;</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for(; *p; ++p){ </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if(*p &gt;= ’a’ &amp;&amp; *p &lt;= ’z’)</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 -= ‘a’ – ‘A’;</a:t>
                      </a:r>
                      <a:endParaRPr lang="en-US" sz="2000" b="1" dirty="0">
                        <a:solidFill>
                          <a:srgbClr val="C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//or: *p -= 32;</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  }</a:t>
                      </a:r>
                      <a:endParaRPr lang="en-US" sz="2000" b="1" dirty="0">
                        <a:solidFill>
                          <a:sysClr val="windowText" lastClr="00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1" dirty="0">
                          <a:solidFill>
                            <a:sysClr val="windowText" lastClr="000000"/>
                          </a:solidFill>
                          <a:effectLst/>
                          <a:latin typeface="Consolas" panose="020B0609020204030204" pitchFamily="49" charset="0"/>
                          <a:cs typeface="Consolas" panose="020B0609020204030204" pitchFamily="49" charset="0"/>
                        </a:rPr>
                        <a:t>}</a:t>
                      </a:r>
                      <a:endParaRPr lang="en-US" sz="2000" b="1" dirty="0">
                        <a:solidFill>
                          <a:sysClr val="windowText" lastClr="000000"/>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val="3820952490"/>
              </p:ext>
            </p:extLst>
          </p:nvPr>
        </p:nvGraphicFramePr>
        <p:xfrm>
          <a:off x="5943600" y="3645932"/>
          <a:ext cx="4267200" cy="2521660"/>
        </p:xfrm>
        <a:graphic>
          <a:graphicData uri="http://schemas.openxmlformats.org/drawingml/2006/table">
            <a:tbl>
              <a:tblPr firstRow="1" firstCol="1" bandRow="1">
                <a:tableStyleId>{5C22544A-7EE6-4342-B048-85BDC9FD1C3A}</a:tableStyleId>
              </a:tblPr>
              <a:tblGrid>
                <a:gridCol w="4267200">
                  <a:extLst>
                    <a:ext uri="{9D8B030D-6E8A-4147-A177-3AD203B41FA5}">
                      <a16:colId xmlns:a16="http://schemas.microsoft.com/office/drawing/2014/main" val="20000"/>
                    </a:ext>
                  </a:extLst>
                </a:gridCol>
              </a:tblGrid>
              <a:tr h="272733">
                <a:tc>
                  <a:txBody>
                    <a:bodyPr/>
                    <a:lstStyle/>
                    <a:p>
                      <a:pPr marL="0" marR="0" algn="just">
                        <a:spcBef>
                          <a:spcPts val="0"/>
                        </a:spcBef>
                        <a:spcAft>
                          <a:spcPts val="0"/>
                        </a:spcAft>
                      </a:pPr>
                      <a:r>
                        <a:rPr lang="en-US" sz="1600" dirty="0">
                          <a:effectLst/>
                        </a:rPr>
                        <a:t>Array subscript operator </a:t>
                      </a:r>
                      <a:r>
                        <a:rPr lang="en-US" sz="1600" dirty="0">
                          <a:solidFill>
                            <a:srgbClr val="FF0000"/>
                          </a:solidFill>
                          <a:effectLst/>
                        </a:rPr>
                        <a:t>[ ]</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2248927">
                <a:tc>
                  <a:txBody>
                    <a:bodyPr/>
                    <a:lstStyle/>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void </a:t>
                      </a:r>
                      <a:r>
                        <a:rPr lang="en-US" sz="1600" dirty="0" err="1">
                          <a:solidFill>
                            <a:schemeClr val="tx1"/>
                          </a:solidFill>
                          <a:effectLst/>
                          <a:latin typeface="Consolas" panose="020B0609020204030204" pitchFamily="49" charset="0"/>
                          <a:cs typeface="Consolas" panose="020B0609020204030204" pitchFamily="49" charset="0"/>
                        </a:rPr>
                        <a:t>toUpper</a:t>
                      </a:r>
                      <a:r>
                        <a:rPr lang="en-US" sz="1600" dirty="0">
                          <a:solidFill>
                            <a:schemeClr val="tx1"/>
                          </a:solidFill>
                          <a:effectLst/>
                          <a:latin typeface="Consolas" panose="020B0609020204030204" pitchFamily="49" charset="0"/>
                          <a:cs typeface="Consolas" panose="020B0609020204030204" pitchFamily="49" charset="0"/>
                        </a:rPr>
                        <a:t>(char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chemeClr val="tx1"/>
                          </a:solidFill>
                          <a:effectLst/>
                          <a:latin typeface="Consolas" panose="020B0609020204030204" pitchFamily="49" charset="0"/>
                          <a:cs typeface="Consolas" panose="020B0609020204030204" pitchFamily="49" charset="0"/>
                        </a:rPr>
                        <a:t>int</a:t>
                      </a: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char c =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[0];</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for(</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 0; c; </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c =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if(c &gt;= ’a’ &amp;&amp; c &lt;= ’z’)</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r>
                        <a:rPr lang="en-US" sz="1600" dirty="0" err="1">
                          <a:solidFill>
                            <a:srgbClr val="C00000"/>
                          </a:solidFill>
                          <a:effectLst/>
                          <a:latin typeface="Consolas" panose="020B0609020204030204" pitchFamily="49" charset="0"/>
                          <a:cs typeface="Consolas" panose="020B0609020204030204" pitchFamily="49" charset="0"/>
                        </a:rPr>
                        <a:t>pStr</a:t>
                      </a:r>
                      <a:r>
                        <a:rPr lang="en-US" sz="1600" dirty="0">
                          <a:solidFill>
                            <a:srgbClr val="C00000"/>
                          </a:solidFill>
                          <a:effectLst/>
                          <a:latin typeface="Consolas" panose="020B0609020204030204" pitchFamily="49" charset="0"/>
                          <a:cs typeface="Consolas" panose="020B0609020204030204" pitchFamily="49" charset="0"/>
                        </a:rPr>
                        <a:t>[</a:t>
                      </a:r>
                      <a:r>
                        <a:rPr lang="en-US" sz="1600" dirty="0" err="1">
                          <a:solidFill>
                            <a:srgbClr val="C00000"/>
                          </a:solidFill>
                          <a:effectLst/>
                          <a:latin typeface="Consolas" panose="020B0609020204030204" pitchFamily="49" charset="0"/>
                          <a:cs typeface="Consolas" panose="020B0609020204030204" pitchFamily="49" charset="0"/>
                        </a:rPr>
                        <a:t>i</a:t>
                      </a:r>
                      <a:r>
                        <a:rPr lang="en-US" sz="1600" dirty="0">
                          <a:solidFill>
                            <a:srgbClr val="C00000"/>
                          </a:solidFill>
                          <a:effectLst/>
                          <a:latin typeface="Consolas" panose="020B0609020204030204" pitchFamily="49" charset="0"/>
                          <a:cs typeface="Consolas" panose="020B0609020204030204" pitchFamily="49" charset="0"/>
                        </a:rPr>
                        <a:t>] -= ‘a’ – ‘A’;</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 or: </a:t>
                      </a:r>
                      <a:r>
                        <a:rPr lang="en-US" sz="1600" dirty="0" err="1">
                          <a:solidFill>
                            <a:schemeClr val="tx1"/>
                          </a:solidFill>
                          <a:effectLst/>
                          <a:latin typeface="Consolas" panose="020B0609020204030204" pitchFamily="49" charset="0"/>
                          <a:cs typeface="Consolas" panose="020B0609020204030204" pitchFamily="49" charset="0"/>
                        </a:rPr>
                        <a:t>pStr</a:t>
                      </a:r>
                      <a:r>
                        <a:rPr lang="en-US" sz="1600" dirty="0">
                          <a:solidFill>
                            <a:schemeClr val="tx1"/>
                          </a:solidFill>
                          <a:effectLst/>
                          <a:latin typeface="Consolas" panose="020B0609020204030204" pitchFamily="49" charset="0"/>
                          <a:cs typeface="Consolas" panose="020B0609020204030204" pitchFamily="49" charset="0"/>
                        </a:rPr>
                        <a:t>[</a:t>
                      </a:r>
                      <a:r>
                        <a:rPr lang="en-US" sz="1600" dirty="0" err="1">
                          <a:solidFill>
                            <a:schemeClr val="tx1"/>
                          </a:solidFill>
                          <a:effectLst/>
                          <a:latin typeface="Consolas" panose="020B0609020204030204" pitchFamily="49" charset="0"/>
                          <a:cs typeface="Consolas" panose="020B0609020204030204" pitchFamily="49" charset="0"/>
                        </a:rPr>
                        <a:t>i</a:t>
                      </a:r>
                      <a:r>
                        <a:rPr lang="en-US" sz="1600" dirty="0">
                          <a:solidFill>
                            <a:schemeClr val="tx1"/>
                          </a:solidFill>
                          <a:effectLst/>
                          <a:latin typeface="Consolas" panose="020B0609020204030204" pitchFamily="49" charset="0"/>
                          <a:cs typeface="Consolas" panose="020B0609020204030204" pitchFamily="49" charset="0"/>
                        </a:rPr>
                        <a:t>] -= 32;</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solidFill>
                            <a:schemeClr val="tx1"/>
                          </a:solidFill>
                          <a:effectLst/>
                          <a:latin typeface="Consolas" panose="020B0609020204030204" pitchFamily="49" charset="0"/>
                          <a:cs typeface="Consolas" panose="020B0609020204030204" pitchFamily="49" charset="0"/>
                        </a:rPr>
                        <a:t>}</a:t>
                      </a:r>
                      <a:endParaRPr lang="en-US" sz="1600"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lumMod val="20000"/>
                        <a:lumOff val="80000"/>
                      </a:schemeClr>
                    </a:solidFill>
                  </a:tcPr>
                </a:tc>
                <a:extLst>
                  <a:ext uri="{0D108BD9-81ED-4DB2-BD59-A6C34878D82A}">
                    <a16:rowId xmlns:a16="http://schemas.microsoft.com/office/drawing/2014/main" val="1000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1367866548"/>
              </p:ext>
            </p:extLst>
          </p:nvPr>
        </p:nvGraphicFramePr>
        <p:xfrm>
          <a:off x="1600190" y="1244600"/>
          <a:ext cx="8991606" cy="584200"/>
        </p:xfrm>
        <a:graphic>
          <a:graphicData uri="http://schemas.openxmlformats.org/drawingml/2006/table">
            <a:tbl>
              <a:tblPr firstRow="1" bandRow="1">
                <a:tableStyleId>{5C22544A-7EE6-4342-B048-85BDC9FD1C3A}</a:tableStyleId>
              </a:tblPr>
              <a:tblGrid>
                <a:gridCol w="345831">
                  <a:extLst>
                    <a:ext uri="{9D8B030D-6E8A-4147-A177-3AD203B41FA5}">
                      <a16:colId xmlns:a16="http://schemas.microsoft.com/office/drawing/2014/main" val="20000"/>
                    </a:ext>
                  </a:extLst>
                </a:gridCol>
                <a:gridCol w="345831">
                  <a:extLst>
                    <a:ext uri="{9D8B030D-6E8A-4147-A177-3AD203B41FA5}">
                      <a16:colId xmlns:a16="http://schemas.microsoft.com/office/drawing/2014/main" val="20001"/>
                    </a:ext>
                  </a:extLst>
                </a:gridCol>
                <a:gridCol w="345831">
                  <a:extLst>
                    <a:ext uri="{9D8B030D-6E8A-4147-A177-3AD203B41FA5}">
                      <a16:colId xmlns:a16="http://schemas.microsoft.com/office/drawing/2014/main" val="20002"/>
                    </a:ext>
                  </a:extLst>
                </a:gridCol>
                <a:gridCol w="345831">
                  <a:extLst>
                    <a:ext uri="{9D8B030D-6E8A-4147-A177-3AD203B41FA5}">
                      <a16:colId xmlns:a16="http://schemas.microsoft.com/office/drawing/2014/main" val="20003"/>
                    </a:ext>
                  </a:extLst>
                </a:gridCol>
                <a:gridCol w="345831">
                  <a:extLst>
                    <a:ext uri="{9D8B030D-6E8A-4147-A177-3AD203B41FA5}">
                      <a16:colId xmlns:a16="http://schemas.microsoft.com/office/drawing/2014/main" val="20004"/>
                    </a:ext>
                  </a:extLst>
                </a:gridCol>
                <a:gridCol w="345831">
                  <a:extLst>
                    <a:ext uri="{9D8B030D-6E8A-4147-A177-3AD203B41FA5}">
                      <a16:colId xmlns:a16="http://schemas.microsoft.com/office/drawing/2014/main" val="20005"/>
                    </a:ext>
                  </a:extLst>
                </a:gridCol>
                <a:gridCol w="345831">
                  <a:extLst>
                    <a:ext uri="{9D8B030D-6E8A-4147-A177-3AD203B41FA5}">
                      <a16:colId xmlns:a16="http://schemas.microsoft.com/office/drawing/2014/main" val="20006"/>
                    </a:ext>
                  </a:extLst>
                </a:gridCol>
                <a:gridCol w="345831">
                  <a:extLst>
                    <a:ext uri="{9D8B030D-6E8A-4147-A177-3AD203B41FA5}">
                      <a16:colId xmlns:a16="http://schemas.microsoft.com/office/drawing/2014/main" val="20007"/>
                    </a:ext>
                  </a:extLst>
                </a:gridCol>
                <a:gridCol w="345831">
                  <a:extLst>
                    <a:ext uri="{9D8B030D-6E8A-4147-A177-3AD203B41FA5}">
                      <a16:colId xmlns:a16="http://schemas.microsoft.com/office/drawing/2014/main" val="20008"/>
                    </a:ext>
                  </a:extLst>
                </a:gridCol>
                <a:gridCol w="345831">
                  <a:extLst>
                    <a:ext uri="{9D8B030D-6E8A-4147-A177-3AD203B41FA5}">
                      <a16:colId xmlns:a16="http://schemas.microsoft.com/office/drawing/2014/main" val="20009"/>
                    </a:ext>
                  </a:extLst>
                </a:gridCol>
                <a:gridCol w="345831">
                  <a:extLst>
                    <a:ext uri="{9D8B030D-6E8A-4147-A177-3AD203B41FA5}">
                      <a16:colId xmlns:a16="http://schemas.microsoft.com/office/drawing/2014/main" val="20010"/>
                    </a:ext>
                  </a:extLst>
                </a:gridCol>
                <a:gridCol w="345831">
                  <a:extLst>
                    <a:ext uri="{9D8B030D-6E8A-4147-A177-3AD203B41FA5}">
                      <a16:colId xmlns:a16="http://schemas.microsoft.com/office/drawing/2014/main" val="20011"/>
                    </a:ext>
                  </a:extLst>
                </a:gridCol>
                <a:gridCol w="345831">
                  <a:extLst>
                    <a:ext uri="{9D8B030D-6E8A-4147-A177-3AD203B41FA5}">
                      <a16:colId xmlns:a16="http://schemas.microsoft.com/office/drawing/2014/main" val="20012"/>
                    </a:ext>
                  </a:extLst>
                </a:gridCol>
                <a:gridCol w="345831">
                  <a:extLst>
                    <a:ext uri="{9D8B030D-6E8A-4147-A177-3AD203B41FA5}">
                      <a16:colId xmlns:a16="http://schemas.microsoft.com/office/drawing/2014/main" val="20013"/>
                    </a:ext>
                  </a:extLst>
                </a:gridCol>
                <a:gridCol w="345831">
                  <a:extLst>
                    <a:ext uri="{9D8B030D-6E8A-4147-A177-3AD203B41FA5}">
                      <a16:colId xmlns:a16="http://schemas.microsoft.com/office/drawing/2014/main" val="20014"/>
                    </a:ext>
                  </a:extLst>
                </a:gridCol>
                <a:gridCol w="345831">
                  <a:extLst>
                    <a:ext uri="{9D8B030D-6E8A-4147-A177-3AD203B41FA5}">
                      <a16:colId xmlns:a16="http://schemas.microsoft.com/office/drawing/2014/main" val="20015"/>
                    </a:ext>
                  </a:extLst>
                </a:gridCol>
                <a:gridCol w="345831">
                  <a:extLst>
                    <a:ext uri="{9D8B030D-6E8A-4147-A177-3AD203B41FA5}">
                      <a16:colId xmlns:a16="http://schemas.microsoft.com/office/drawing/2014/main" val="20016"/>
                    </a:ext>
                  </a:extLst>
                </a:gridCol>
                <a:gridCol w="345831">
                  <a:extLst>
                    <a:ext uri="{9D8B030D-6E8A-4147-A177-3AD203B41FA5}">
                      <a16:colId xmlns:a16="http://schemas.microsoft.com/office/drawing/2014/main" val="20017"/>
                    </a:ext>
                  </a:extLst>
                </a:gridCol>
                <a:gridCol w="345831">
                  <a:extLst>
                    <a:ext uri="{9D8B030D-6E8A-4147-A177-3AD203B41FA5}">
                      <a16:colId xmlns:a16="http://schemas.microsoft.com/office/drawing/2014/main" val="20018"/>
                    </a:ext>
                  </a:extLst>
                </a:gridCol>
                <a:gridCol w="345831">
                  <a:extLst>
                    <a:ext uri="{9D8B030D-6E8A-4147-A177-3AD203B41FA5}">
                      <a16:colId xmlns:a16="http://schemas.microsoft.com/office/drawing/2014/main" val="20019"/>
                    </a:ext>
                  </a:extLst>
                </a:gridCol>
                <a:gridCol w="345831">
                  <a:extLst>
                    <a:ext uri="{9D8B030D-6E8A-4147-A177-3AD203B41FA5}">
                      <a16:colId xmlns:a16="http://schemas.microsoft.com/office/drawing/2014/main" val="20020"/>
                    </a:ext>
                  </a:extLst>
                </a:gridCol>
                <a:gridCol w="345831">
                  <a:extLst>
                    <a:ext uri="{9D8B030D-6E8A-4147-A177-3AD203B41FA5}">
                      <a16:colId xmlns:a16="http://schemas.microsoft.com/office/drawing/2014/main" val="20021"/>
                    </a:ext>
                  </a:extLst>
                </a:gridCol>
                <a:gridCol w="345831">
                  <a:extLst>
                    <a:ext uri="{9D8B030D-6E8A-4147-A177-3AD203B41FA5}">
                      <a16:colId xmlns:a16="http://schemas.microsoft.com/office/drawing/2014/main" val="20022"/>
                    </a:ext>
                  </a:extLst>
                </a:gridCol>
                <a:gridCol w="345831">
                  <a:extLst>
                    <a:ext uri="{9D8B030D-6E8A-4147-A177-3AD203B41FA5}">
                      <a16:colId xmlns:a16="http://schemas.microsoft.com/office/drawing/2014/main" val="20023"/>
                    </a:ext>
                  </a:extLst>
                </a:gridCol>
                <a:gridCol w="345831">
                  <a:extLst>
                    <a:ext uri="{9D8B030D-6E8A-4147-A177-3AD203B41FA5}">
                      <a16:colId xmlns:a16="http://schemas.microsoft.com/office/drawing/2014/main" val="20024"/>
                    </a:ext>
                  </a:extLst>
                </a:gridCol>
                <a:gridCol w="345831">
                  <a:extLst>
                    <a:ext uri="{9D8B030D-6E8A-4147-A177-3AD203B41FA5}">
                      <a16:colId xmlns:a16="http://schemas.microsoft.com/office/drawing/2014/main" val="20025"/>
                    </a:ext>
                  </a:extLst>
                </a:gridCol>
              </a:tblGrid>
              <a:tr h="292100">
                <a:tc>
                  <a:txBody>
                    <a:bodyPr/>
                    <a:lstStyle/>
                    <a:p>
                      <a:pPr algn="ctr"/>
                      <a:r>
                        <a:rPr lang="en-US" sz="1200" dirty="0">
                          <a:latin typeface="Arial" panose="020B0604020202020204" pitchFamily="34" charset="0"/>
                          <a:cs typeface="Arial" panose="020B0604020202020204" pitchFamily="34" charset="0"/>
                        </a:rPr>
                        <a:t>A</a:t>
                      </a:r>
                    </a:p>
                  </a:txBody>
                  <a:tcPr marL="0" marR="0" marT="0" marB="0" anchor="ctr"/>
                </a:tc>
                <a:tc>
                  <a:txBody>
                    <a:bodyPr/>
                    <a:lstStyle/>
                    <a:p>
                      <a:pPr algn="ctr"/>
                      <a:r>
                        <a:rPr lang="en-US" sz="1200" dirty="0">
                          <a:latin typeface="Arial" panose="020B0604020202020204" pitchFamily="34" charset="0"/>
                          <a:cs typeface="Arial" panose="020B0604020202020204" pitchFamily="34" charset="0"/>
                        </a:rPr>
                        <a:t>B</a:t>
                      </a:r>
                    </a:p>
                  </a:txBody>
                  <a:tcPr anchor="ctr"/>
                </a:tc>
                <a:tc>
                  <a:txBody>
                    <a:bodyPr/>
                    <a:lstStyle/>
                    <a:p>
                      <a:pPr algn="ctr"/>
                      <a:r>
                        <a:rPr lang="en-US" sz="1200" dirty="0">
                          <a:latin typeface="Arial" panose="020B0604020202020204" pitchFamily="34" charset="0"/>
                          <a:cs typeface="Arial" panose="020B0604020202020204" pitchFamily="34" charset="0"/>
                        </a:rPr>
                        <a:t>C</a:t>
                      </a:r>
                    </a:p>
                  </a:txBody>
                  <a:tcPr anchor="ctr"/>
                </a:tc>
                <a:tc>
                  <a:txBody>
                    <a:bodyPr/>
                    <a:lstStyle/>
                    <a:p>
                      <a:pPr algn="ctr"/>
                      <a:r>
                        <a:rPr lang="en-US" sz="1200" dirty="0">
                          <a:latin typeface="Arial" panose="020B0604020202020204" pitchFamily="34" charset="0"/>
                          <a:cs typeface="Arial" panose="020B0604020202020204" pitchFamily="34" charset="0"/>
                        </a:rPr>
                        <a:t>D</a:t>
                      </a:r>
                    </a:p>
                  </a:txBody>
                  <a:tcPr anchor="ctr"/>
                </a:tc>
                <a:tc>
                  <a:txBody>
                    <a:bodyPr/>
                    <a:lstStyle/>
                    <a:p>
                      <a:pPr algn="ctr"/>
                      <a:r>
                        <a:rPr lang="en-US" sz="1200" dirty="0">
                          <a:latin typeface="Arial" panose="020B0604020202020204" pitchFamily="34" charset="0"/>
                          <a:cs typeface="Arial" panose="020B0604020202020204" pitchFamily="34" charset="0"/>
                        </a:rPr>
                        <a:t>E</a:t>
                      </a:r>
                    </a:p>
                  </a:txBody>
                  <a:tcPr anchor="ctr"/>
                </a:tc>
                <a:tc>
                  <a:txBody>
                    <a:bodyPr/>
                    <a:lstStyle/>
                    <a:p>
                      <a:pPr algn="ctr"/>
                      <a:r>
                        <a:rPr lang="en-US" sz="1200" dirty="0">
                          <a:latin typeface="Arial" panose="020B0604020202020204" pitchFamily="34" charset="0"/>
                          <a:cs typeface="Arial" panose="020B0604020202020204" pitchFamily="34" charset="0"/>
                        </a:rPr>
                        <a:t>F</a:t>
                      </a:r>
                    </a:p>
                  </a:txBody>
                  <a:tcPr anchor="ctr"/>
                </a:tc>
                <a:tc>
                  <a:txBody>
                    <a:bodyPr/>
                    <a:lstStyle/>
                    <a:p>
                      <a:pPr algn="ctr"/>
                      <a:r>
                        <a:rPr lang="en-US" sz="1200" dirty="0">
                          <a:latin typeface="Arial" panose="020B0604020202020204" pitchFamily="34" charset="0"/>
                          <a:cs typeface="Arial" panose="020B0604020202020204" pitchFamily="34" charset="0"/>
                        </a:rPr>
                        <a:t>G</a:t>
                      </a:r>
                    </a:p>
                  </a:txBody>
                  <a:tcPr anchor="ctr"/>
                </a:tc>
                <a:tc>
                  <a:txBody>
                    <a:bodyPr/>
                    <a:lstStyle/>
                    <a:p>
                      <a:pPr algn="ctr"/>
                      <a:r>
                        <a:rPr lang="en-US" sz="1200" dirty="0">
                          <a:latin typeface="Arial" panose="020B0604020202020204" pitchFamily="34" charset="0"/>
                          <a:cs typeface="Arial" panose="020B0604020202020204" pitchFamily="34" charset="0"/>
                        </a:rPr>
                        <a:t>H</a:t>
                      </a:r>
                    </a:p>
                  </a:txBody>
                  <a:tcPr anchor="ctr"/>
                </a:tc>
                <a:tc>
                  <a:txBody>
                    <a:bodyPr/>
                    <a:lstStyle/>
                    <a:p>
                      <a:pPr algn="ctr"/>
                      <a:r>
                        <a:rPr lang="en-US" sz="1200" dirty="0">
                          <a:latin typeface="Arial" panose="020B0604020202020204" pitchFamily="34" charset="0"/>
                          <a:cs typeface="Arial" panose="020B0604020202020204" pitchFamily="34" charset="0"/>
                        </a:rPr>
                        <a:t>I</a:t>
                      </a:r>
                    </a:p>
                  </a:txBody>
                  <a:tcPr anchor="ctr"/>
                </a:tc>
                <a:tc>
                  <a:txBody>
                    <a:bodyPr/>
                    <a:lstStyle/>
                    <a:p>
                      <a:pPr algn="ctr"/>
                      <a:r>
                        <a:rPr lang="en-US" sz="1200" dirty="0">
                          <a:latin typeface="Arial" panose="020B0604020202020204" pitchFamily="34" charset="0"/>
                          <a:cs typeface="Arial" panose="020B0604020202020204" pitchFamily="34" charset="0"/>
                        </a:rPr>
                        <a:t>J</a:t>
                      </a:r>
                    </a:p>
                  </a:txBody>
                  <a:tcPr anchor="ctr"/>
                </a:tc>
                <a:tc>
                  <a:txBody>
                    <a:bodyPr/>
                    <a:lstStyle/>
                    <a:p>
                      <a:pPr algn="ctr"/>
                      <a:r>
                        <a:rPr lang="en-US" sz="1200" dirty="0">
                          <a:latin typeface="Arial" panose="020B0604020202020204" pitchFamily="34" charset="0"/>
                          <a:cs typeface="Arial" panose="020B0604020202020204" pitchFamily="34" charset="0"/>
                        </a:rPr>
                        <a:t>K</a:t>
                      </a:r>
                    </a:p>
                  </a:txBody>
                  <a:tcPr anchor="ctr"/>
                </a:tc>
                <a:tc>
                  <a:txBody>
                    <a:bodyPr/>
                    <a:lstStyle/>
                    <a:p>
                      <a:pPr algn="ctr"/>
                      <a:r>
                        <a:rPr lang="en-US" sz="1200" dirty="0">
                          <a:latin typeface="Arial" panose="020B0604020202020204" pitchFamily="34" charset="0"/>
                          <a:cs typeface="Arial" panose="020B0604020202020204" pitchFamily="34" charset="0"/>
                        </a:rPr>
                        <a:t>L</a:t>
                      </a:r>
                    </a:p>
                  </a:txBody>
                  <a:tcPr anchor="ctr"/>
                </a:tc>
                <a:tc>
                  <a:txBody>
                    <a:bodyPr/>
                    <a:lstStyle/>
                    <a:p>
                      <a:pPr algn="ctr"/>
                      <a:r>
                        <a:rPr lang="en-US" sz="1200" dirty="0">
                          <a:latin typeface="Arial" panose="020B0604020202020204" pitchFamily="34" charset="0"/>
                          <a:cs typeface="Arial" panose="020B0604020202020204" pitchFamily="34" charset="0"/>
                        </a:rPr>
                        <a:t>M</a:t>
                      </a:r>
                    </a:p>
                  </a:txBody>
                  <a:tcPr anchor="ctr"/>
                </a:tc>
                <a:tc>
                  <a:txBody>
                    <a:bodyPr/>
                    <a:lstStyle/>
                    <a:p>
                      <a:pPr algn="ctr"/>
                      <a:r>
                        <a:rPr lang="en-US" sz="1200" dirty="0">
                          <a:latin typeface="Arial" panose="020B0604020202020204" pitchFamily="34" charset="0"/>
                          <a:cs typeface="Arial" panose="020B0604020202020204" pitchFamily="34" charset="0"/>
                        </a:rPr>
                        <a:t>N</a:t>
                      </a:r>
                    </a:p>
                  </a:txBody>
                  <a:tcPr anchor="ctr"/>
                </a:tc>
                <a:tc>
                  <a:txBody>
                    <a:bodyPr/>
                    <a:lstStyle/>
                    <a:p>
                      <a:pPr algn="ctr"/>
                      <a:r>
                        <a:rPr lang="en-US" sz="1200" dirty="0">
                          <a:latin typeface="Arial" panose="020B0604020202020204" pitchFamily="34" charset="0"/>
                          <a:cs typeface="Arial" panose="020B0604020202020204" pitchFamily="34" charset="0"/>
                        </a:rPr>
                        <a:t>O</a:t>
                      </a:r>
                    </a:p>
                  </a:txBody>
                  <a:tcPr anchor="ctr"/>
                </a:tc>
                <a:tc>
                  <a:txBody>
                    <a:bodyPr/>
                    <a:lstStyle/>
                    <a:p>
                      <a:pPr algn="ctr"/>
                      <a:r>
                        <a:rPr lang="en-US" sz="1200" dirty="0">
                          <a:latin typeface="Arial" panose="020B0604020202020204" pitchFamily="34" charset="0"/>
                          <a:cs typeface="Arial" panose="020B0604020202020204" pitchFamily="34" charset="0"/>
                        </a:rPr>
                        <a:t>P</a:t>
                      </a:r>
                    </a:p>
                  </a:txBody>
                  <a:tcPr anchor="ctr"/>
                </a:tc>
                <a:tc>
                  <a:txBody>
                    <a:bodyPr/>
                    <a:lstStyle/>
                    <a:p>
                      <a:pPr algn="ctr"/>
                      <a:r>
                        <a:rPr lang="en-US" sz="1200" dirty="0">
                          <a:latin typeface="Arial" panose="020B0604020202020204" pitchFamily="34" charset="0"/>
                          <a:cs typeface="Arial" panose="020B0604020202020204" pitchFamily="34" charset="0"/>
                        </a:rPr>
                        <a:t>Q</a:t>
                      </a:r>
                    </a:p>
                  </a:txBody>
                  <a:tcPr anchor="ctr"/>
                </a:tc>
                <a:tc>
                  <a:txBody>
                    <a:bodyPr/>
                    <a:lstStyle/>
                    <a:p>
                      <a:pPr algn="ctr"/>
                      <a:r>
                        <a:rPr lang="en-US" sz="1200" dirty="0">
                          <a:latin typeface="Arial" panose="020B0604020202020204" pitchFamily="34" charset="0"/>
                          <a:cs typeface="Arial" panose="020B0604020202020204" pitchFamily="34" charset="0"/>
                        </a:rPr>
                        <a:t>R</a:t>
                      </a:r>
                    </a:p>
                  </a:txBody>
                  <a:tcPr anchor="ctr"/>
                </a:tc>
                <a:tc>
                  <a:txBody>
                    <a:bodyPr/>
                    <a:lstStyle/>
                    <a:p>
                      <a:pPr algn="ctr"/>
                      <a:r>
                        <a:rPr lang="en-US" sz="1200" dirty="0">
                          <a:latin typeface="Arial" panose="020B0604020202020204" pitchFamily="34" charset="0"/>
                          <a:cs typeface="Arial" panose="020B0604020202020204" pitchFamily="34" charset="0"/>
                        </a:rPr>
                        <a:t>S</a:t>
                      </a:r>
                    </a:p>
                  </a:txBody>
                  <a:tcPr anchor="ctr"/>
                </a:tc>
                <a:tc>
                  <a:txBody>
                    <a:bodyPr/>
                    <a:lstStyle/>
                    <a:p>
                      <a:pPr algn="ctr"/>
                      <a:r>
                        <a:rPr lang="en-US" sz="1200" dirty="0">
                          <a:latin typeface="Arial" panose="020B0604020202020204" pitchFamily="34" charset="0"/>
                          <a:cs typeface="Arial" panose="020B0604020202020204" pitchFamily="34" charset="0"/>
                        </a:rPr>
                        <a:t>T</a:t>
                      </a:r>
                    </a:p>
                  </a:txBody>
                  <a:tcPr anchor="ctr"/>
                </a:tc>
                <a:tc>
                  <a:txBody>
                    <a:bodyPr/>
                    <a:lstStyle/>
                    <a:p>
                      <a:pPr algn="ctr"/>
                      <a:r>
                        <a:rPr lang="en-US" sz="1200" dirty="0">
                          <a:latin typeface="Arial" panose="020B0604020202020204" pitchFamily="34" charset="0"/>
                          <a:cs typeface="Arial" panose="020B0604020202020204" pitchFamily="34" charset="0"/>
                        </a:rPr>
                        <a:t>U</a:t>
                      </a:r>
                    </a:p>
                  </a:txBody>
                  <a:tcPr anchor="ctr"/>
                </a:tc>
                <a:tc>
                  <a:txBody>
                    <a:bodyPr/>
                    <a:lstStyle/>
                    <a:p>
                      <a:pPr algn="ctr"/>
                      <a:r>
                        <a:rPr lang="en-US" sz="1200" dirty="0">
                          <a:latin typeface="Arial" panose="020B0604020202020204" pitchFamily="34" charset="0"/>
                          <a:cs typeface="Arial" panose="020B0604020202020204" pitchFamily="34" charset="0"/>
                        </a:rPr>
                        <a:t>V</a:t>
                      </a:r>
                    </a:p>
                  </a:txBody>
                  <a:tcPr anchor="ctr"/>
                </a:tc>
                <a:tc>
                  <a:txBody>
                    <a:bodyPr/>
                    <a:lstStyle/>
                    <a:p>
                      <a:pPr algn="ctr"/>
                      <a:r>
                        <a:rPr lang="en-US" sz="1200" dirty="0">
                          <a:latin typeface="Arial" panose="020B0604020202020204" pitchFamily="34" charset="0"/>
                          <a:cs typeface="Arial" panose="020B0604020202020204" pitchFamily="34" charset="0"/>
                        </a:rPr>
                        <a:t>W</a:t>
                      </a:r>
                    </a:p>
                  </a:txBody>
                  <a:tcPr anchor="ctr"/>
                </a:tc>
                <a:tc>
                  <a:txBody>
                    <a:bodyPr/>
                    <a:lstStyle/>
                    <a:p>
                      <a:pPr algn="ctr"/>
                      <a:r>
                        <a:rPr lang="en-US" sz="1200" dirty="0">
                          <a:latin typeface="Arial" panose="020B0604020202020204" pitchFamily="34" charset="0"/>
                          <a:cs typeface="Arial" panose="020B0604020202020204" pitchFamily="34" charset="0"/>
                        </a:rPr>
                        <a:t>X</a:t>
                      </a:r>
                    </a:p>
                  </a:txBody>
                  <a:tcPr anchor="ctr"/>
                </a:tc>
                <a:tc>
                  <a:txBody>
                    <a:bodyPr/>
                    <a:lstStyle/>
                    <a:p>
                      <a:pPr algn="ctr"/>
                      <a:r>
                        <a:rPr lang="en-US" sz="1200" dirty="0">
                          <a:latin typeface="Arial" panose="020B0604020202020204" pitchFamily="34" charset="0"/>
                          <a:cs typeface="Arial" panose="020B0604020202020204" pitchFamily="34" charset="0"/>
                        </a:rPr>
                        <a:t>Y</a:t>
                      </a:r>
                    </a:p>
                  </a:txBody>
                  <a:tcPr anchor="ctr"/>
                </a:tc>
                <a:tc>
                  <a:txBody>
                    <a:bodyPr/>
                    <a:lstStyle/>
                    <a:p>
                      <a:pPr algn="ctr"/>
                      <a:r>
                        <a:rPr lang="en-US" sz="1200" dirty="0">
                          <a:latin typeface="Arial" panose="020B0604020202020204" pitchFamily="34" charset="0"/>
                          <a:cs typeface="Arial" panose="020B0604020202020204" pitchFamily="34" charset="0"/>
                        </a:rPr>
                        <a:t>Z</a:t>
                      </a:r>
                    </a:p>
                  </a:txBody>
                  <a:tcPr anchor="ctr"/>
                </a:tc>
                <a:extLst>
                  <a:ext uri="{0D108BD9-81ED-4DB2-BD59-A6C34878D82A}">
                    <a16:rowId xmlns:a16="http://schemas.microsoft.com/office/drawing/2014/main" val="10000"/>
                  </a:ext>
                </a:extLst>
              </a:tr>
              <a:tr h="292100">
                <a:tc>
                  <a:txBody>
                    <a:bodyPr/>
                    <a:lstStyle/>
                    <a:p>
                      <a:pPr algn="ctr"/>
                      <a:r>
                        <a:rPr lang="en-US" sz="1200" b="1" dirty="0">
                          <a:latin typeface="Arial Narrow" panose="020B0606020202030204" pitchFamily="34" charset="0"/>
                          <a:cs typeface="Arial" panose="020B0604020202020204" pitchFamily="34" charset="0"/>
                        </a:rPr>
                        <a:t>41</a:t>
                      </a:r>
                    </a:p>
                  </a:txBody>
                  <a:tcPr anchor="ctr"/>
                </a:tc>
                <a:tc>
                  <a:txBody>
                    <a:bodyPr/>
                    <a:lstStyle/>
                    <a:p>
                      <a:pPr algn="ctr"/>
                      <a:r>
                        <a:rPr lang="en-US" sz="1200" b="1" dirty="0">
                          <a:latin typeface="Arial Narrow" panose="020B0606020202030204" pitchFamily="34" charset="0"/>
                          <a:cs typeface="Arial" panose="020B0604020202020204" pitchFamily="34" charset="0"/>
                        </a:rPr>
                        <a:t>42</a:t>
                      </a:r>
                    </a:p>
                  </a:txBody>
                  <a:tcPr anchor="ctr"/>
                </a:tc>
                <a:tc>
                  <a:txBody>
                    <a:bodyPr/>
                    <a:lstStyle/>
                    <a:p>
                      <a:pPr algn="ctr"/>
                      <a:r>
                        <a:rPr lang="en-US" sz="1200" b="1" dirty="0">
                          <a:latin typeface="Arial Narrow" panose="020B0606020202030204" pitchFamily="34" charset="0"/>
                          <a:cs typeface="Arial" panose="020B0604020202020204" pitchFamily="34" charset="0"/>
                        </a:rPr>
                        <a:t>43</a:t>
                      </a:r>
                    </a:p>
                  </a:txBody>
                  <a:tcPr anchor="ctr"/>
                </a:tc>
                <a:tc>
                  <a:txBody>
                    <a:bodyPr/>
                    <a:lstStyle/>
                    <a:p>
                      <a:pPr algn="ctr"/>
                      <a:r>
                        <a:rPr lang="en-US" sz="1200" b="1" dirty="0">
                          <a:latin typeface="Arial Narrow" panose="020B0606020202030204" pitchFamily="34" charset="0"/>
                          <a:cs typeface="Arial" panose="020B0604020202020204" pitchFamily="34" charset="0"/>
                        </a:rPr>
                        <a:t>44</a:t>
                      </a:r>
                    </a:p>
                  </a:txBody>
                  <a:tcPr anchor="ctr"/>
                </a:tc>
                <a:tc>
                  <a:txBody>
                    <a:bodyPr/>
                    <a:lstStyle/>
                    <a:p>
                      <a:pPr algn="ctr"/>
                      <a:r>
                        <a:rPr lang="en-US" sz="1200" b="1" dirty="0">
                          <a:latin typeface="Arial Narrow" panose="020B0606020202030204" pitchFamily="34" charset="0"/>
                          <a:cs typeface="Arial" panose="020B0604020202020204" pitchFamily="34" charset="0"/>
                        </a:rPr>
                        <a:t>45</a:t>
                      </a:r>
                    </a:p>
                  </a:txBody>
                  <a:tcPr anchor="ctr"/>
                </a:tc>
                <a:tc>
                  <a:txBody>
                    <a:bodyPr/>
                    <a:lstStyle/>
                    <a:p>
                      <a:pPr algn="ctr"/>
                      <a:r>
                        <a:rPr lang="en-US" sz="1200" b="1" dirty="0">
                          <a:latin typeface="Arial Narrow" panose="020B0606020202030204" pitchFamily="34" charset="0"/>
                          <a:cs typeface="Arial" panose="020B0604020202020204" pitchFamily="34" charset="0"/>
                        </a:rPr>
                        <a:t>46</a:t>
                      </a:r>
                    </a:p>
                  </a:txBody>
                  <a:tcPr anchor="ctr"/>
                </a:tc>
                <a:tc>
                  <a:txBody>
                    <a:bodyPr/>
                    <a:lstStyle/>
                    <a:p>
                      <a:pPr algn="ctr"/>
                      <a:r>
                        <a:rPr lang="en-US" sz="1200" b="1" dirty="0">
                          <a:latin typeface="Arial Narrow" panose="020B0606020202030204" pitchFamily="34" charset="0"/>
                          <a:cs typeface="Arial" panose="020B0604020202020204" pitchFamily="34" charset="0"/>
                        </a:rPr>
                        <a:t>47</a:t>
                      </a:r>
                    </a:p>
                  </a:txBody>
                  <a:tcPr anchor="ctr"/>
                </a:tc>
                <a:tc>
                  <a:txBody>
                    <a:bodyPr/>
                    <a:lstStyle/>
                    <a:p>
                      <a:pPr algn="ctr"/>
                      <a:r>
                        <a:rPr lang="en-US" sz="1200" b="1" dirty="0">
                          <a:latin typeface="Arial Narrow" panose="020B0606020202030204" pitchFamily="34" charset="0"/>
                          <a:cs typeface="Arial" panose="020B0604020202020204" pitchFamily="34" charset="0"/>
                        </a:rPr>
                        <a:t>48</a:t>
                      </a:r>
                    </a:p>
                  </a:txBody>
                  <a:tcPr anchor="ctr"/>
                </a:tc>
                <a:tc>
                  <a:txBody>
                    <a:bodyPr/>
                    <a:lstStyle/>
                    <a:p>
                      <a:pPr algn="ctr"/>
                      <a:r>
                        <a:rPr lang="en-US" sz="1200" b="1" dirty="0">
                          <a:latin typeface="Arial Narrow" panose="020B0606020202030204" pitchFamily="34" charset="0"/>
                          <a:cs typeface="Arial" panose="020B0604020202020204" pitchFamily="34" charset="0"/>
                        </a:rPr>
                        <a:t>49</a:t>
                      </a:r>
                    </a:p>
                  </a:txBody>
                  <a:tcPr anchor="ctr"/>
                </a:tc>
                <a:tc>
                  <a:txBody>
                    <a:bodyPr/>
                    <a:lstStyle/>
                    <a:p>
                      <a:r>
                        <a:rPr lang="en-US" sz="1200" b="1" dirty="0" err="1">
                          <a:latin typeface="Arial Narrow" panose="020B0606020202030204" pitchFamily="34" charset="0"/>
                        </a:rPr>
                        <a:t>4A</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4B</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4C</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4D</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4E</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4F</a:t>
                      </a:r>
                      <a:endParaRPr lang="en-US" sz="1200" b="1" dirty="0">
                        <a:latin typeface="Arial Narrow" panose="020B0606020202030204" pitchFamily="34" charset="0"/>
                      </a:endParaRPr>
                    </a:p>
                  </a:txBody>
                  <a:tcPr anchor="ctr"/>
                </a:tc>
                <a:tc>
                  <a:txBody>
                    <a:bodyPr/>
                    <a:lstStyle/>
                    <a:p>
                      <a:pPr algn="ctr"/>
                      <a:r>
                        <a:rPr lang="en-US" sz="1200" b="1" dirty="0">
                          <a:latin typeface="Arial Narrow" panose="020B0606020202030204" pitchFamily="34" charset="0"/>
                          <a:cs typeface="Arial" panose="020B0604020202020204" pitchFamily="34" charset="0"/>
                        </a:rPr>
                        <a:t>50</a:t>
                      </a:r>
                    </a:p>
                  </a:txBody>
                  <a:tcPr anchor="ctr"/>
                </a:tc>
                <a:tc>
                  <a:txBody>
                    <a:bodyPr/>
                    <a:lstStyle/>
                    <a:p>
                      <a:pPr algn="ctr"/>
                      <a:r>
                        <a:rPr lang="en-US" sz="1200" b="1" dirty="0">
                          <a:latin typeface="Arial Narrow" panose="020B0606020202030204" pitchFamily="34" charset="0"/>
                          <a:cs typeface="Arial" panose="020B0604020202020204" pitchFamily="34" charset="0"/>
                        </a:rPr>
                        <a:t>51</a:t>
                      </a:r>
                    </a:p>
                  </a:txBody>
                  <a:tcPr anchor="ctr"/>
                </a:tc>
                <a:tc>
                  <a:txBody>
                    <a:bodyPr/>
                    <a:lstStyle/>
                    <a:p>
                      <a:pPr algn="ctr"/>
                      <a:r>
                        <a:rPr lang="en-US" sz="1200" b="1" dirty="0">
                          <a:latin typeface="Arial Narrow" panose="020B0606020202030204" pitchFamily="34" charset="0"/>
                          <a:cs typeface="Arial" panose="020B0604020202020204" pitchFamily="34" charset="0"/>
                        </a:rPr>
                        <a:t>52</a:t>
                      </a:r>
                    </a:p>
                  </a:txBody>
                  <a:tcPr anchor="ctr"/>
                </a:tc>
                <a:tc>
                  <a:txBody>
                    <a:bodyPr/>
                    <a:lstStyle/>
                    <a:p>
                      <a:pPr algn="ctr"/>
                      <a:r>
                        <a:rPr lang="en-US" sz="1200" b="1" dirty="0">
                          <a:latin typeface="Arial Narrow" panose="020B0606020202030204" pitchFamily="34" charset="0"/>
                          <a:cs typeface="Arial" panose="020B0604020202020204" pitchFamily="34" charset="0"/>
                        </a:rPr>
                        <a:t>53</a:t>
                      </a:r>
                    </a:p>
                  </a:txBody>
                  <a:tcPr anchor="ctr"/>
                </a:tc>
                <a:tc>
                  <a:txBody>
                    <a:bodyPr/>
                    <a:lstStyle/>
                    <a:p>
                      <a:pPr algn="ctr"/>
                      <a:r>
                        <a:rPr lang="en-US" sz="1200" b="1" dirty="0">
                          <a:latin typeface="Arial Narrow" panose="020B0606020202030204" pitchFamily="34" charset="0"/>
                          <a:cs typeface="Arial" panose="020B0604020202020204" pitchFamily="34" charset="0"/>
                        </a:rPr>
                        <a:t>54</a:t>
                      </a:r>
                    </a:p>
                  </a:txBody>
                  <a:tcPr anchor="ctr"/>
                </a:tc>
                <a:tc>
                  <a:txBody>
                    <a:bodyPr/>
                    <a:lstStyle/>
                    <a:p>
                      <a:pPr algn="ctr"/>
                      <a:r>
                        <a:rPr lang="en-US" sz="1200" b="1" dirty="0">
                          <a:latin typeface="Arial Narrow" panose="020B0606020202030204" pitchFamily="34" charset="0"/>
                          <a:cs typeface="Arial" panose="020B0604020202020204" pitchFamily="34" charset="0"/>
                        </a:rPr>
                        <a:t>55</a:t>
                      </a:r>
                    </a:p>
                  </a:txBody>
                  <a:tcPr anchor="ctr"/>
                </a:tc>
                <a:tc>
                  <a:txBody>
                    <a:bodyPr/>
                    <a:lstStyle/>
                    <a:p>
                      <a:pPr algn="ctr"/>
                      <a:r>
                        <a:rPr lang="en-US" sz="1200" b="1" dirty="0">
                          <a:latin typeface="Arial Narrow" panose="020B0606020202030204" pitchFamily="34" charset="0"/>
                          <a:cs typeface="Arial" panose="020B0604020202020204" pitchFamily="34" charset="0"/>
                        </a:rPr>
                        <a:t>56</a:t>
                      </a:r>
                    </a:p>
                  </a:txBody>
                  <a:tcPr anchor="ctr"/>
                </a:tc>
                <a:tc>
                  <a:txBody>
                    <a:bodyPr/>
                    <a:lstStyle/>
                    <a:p>
                      <a:pPr algn="ctr"/>
                      <a:r>
                        <a:rPr lang="en-US" sz="1200" b="1" dirty="0">
                          <a:latin typeface="Arial Narrow" panose="020B0606020202030204" pitchFamily="34" charset="0"/>
                          <a:cs typeface="Arial" panose="020B0604020202020204" pitchFamily="34" charset="0"/>
                        </a:rPr>
                        <a:t>57</a:t>
                      </a:r>
                    </a:p>
                  </a:txBody>
                  <a:tcPr anchor="ctr"/>
                </a:tc>
                <a:tc>
                  <a:txBody>
                    <a:bodyPr/>
                    <a:lstStyle/>
                    <a:p>
                      <a:pPr algn="ctr"/>
                      <a:r>
                        <a:rPr lang="en-US" sz="1200" b="1" dirty="0">
                          <a:latin typeface="Arial Narrow" panose="020B0606020202030204" pitchFamily="34" charset="0"/>
                          <a:cs typeface="Arial" panose="020B0604020202020204" pitchFamily="34" charset="0"/>
                        </a:rPr>
                        <a:t>58</a:t>
                      </a:r>
                    </a:p>
                  </a:txBody>
                  <a:tcPr anchor="ctr"/>
                </a:tc>
                <a:tc>
                  <a:txBody>
                    <a:bodyPr/>
                    <a:lstStyle/>
                    <a:p>
                      <a:pPr algn="ctr"/>
                      <a:r>
                        <a:rPr lang="en-US" sz="1200" b="1" dirty="0">
                          <a:latin typeface="Arial Narrow" panose="020B0606020202030204" pitchFamily="34" charset="0"/>
                          <a:cs typeface="Arial" panose="020B0604020202020204" pitchFamily="34" charset="0"/>
                        </a:rPr>
                        <a:t>59</a:t>
                      </a:r>
                    </a:p>
                  </a:txBody>
                  <a:tcPr anchor="ctr"/>
                </a:tc>
                <a:tc>
                  <a:txBody>
                    <a:bodyPr/>
                    <a:lstStyle/>
                    <a:p>
                      <a:pPr algn="ctr"/>
                      <a:r>
                        <a:rPr lang="en-US" sz="1200" b="1" dirty="0" err="1">
                          <a:latin typeface="Arial Narrow" panose="020B0606020202030204" pitchFamily="34" charset="0"/>
                          <a:cs typeface="Arial" panose="020B0604020202020204" pitchFamily="34" charset="0"/>
                        </a:rPr>
                        <a:t>5A</a:t>
                      </a:r>
                      <a:endParaRPr lang="en-US" sz="1200" b="1" dirty="0">
                        <a:latin typeface="Arial Narrow" panose="020B0606020202030204" pitchFamily="34" charset="0"/>
                        <a:cs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778243730"/>
              </p:ext>
            </p:extLst>
          </p:nvPr>
        </p:nvGraphicFramePr>
        <p:xfrm>
          <a:off x="1600200" y="2077720"/>
          <a:ext cx="8991606" cy="589280"/>
        </p:xfrm>
        <a:graphic>
          <a:graphicData uri="http://schemas.openxmlformats.org/drawingml/2006/table">
            <a:tbl>
              <a:tblPr firstRow="1" bandRow="1">
                <a:tableStyleId>{5C22544A-7EE6-4342-B048-85BDC9FD1C3A}</a:tableStyleId>
              </a:tblPr>
              <a:tblGrid>
                <a:gridCol w="345831">
                  <a:extLst>
                    <a:ext uri="{9D8B030D-6E8A-4147-A177-3AD203B41FA5}">
                      <a16:colId xmlns:a16="http://schemas.microsoft.com/office/drawing/2014/main" val="20000"/>
                    </a:ext>
                  </a:extLst>
                </a:gridCol>
                <a:gridCol w="345831">
                  <a:extLst>
                    <a:ext uri="{9D8B030D-6E8A-4147-A177-3AD203B41FA5}">
                      <a16:colId xmlns:a16="http://schemas.microsoft.com/office/drawing/2014/main" val="20001"/>
                    </a:ext>
                  </a:extLst>
                </a:gridCol>
                <a:gridCol w="345831">
                  <a:extLst>
                    <a:ext uri="{9D8B030D-6E8A-4147-A177-3AD203B41FA5}">
                      <a16:colId xmlns:a16="http://schemas.microsoft.com/office/drawing/2014/main" val="20002"/>
                    </a:ext>
                  </a:extLst>
                </a:gridCol>
                <a:gridCol w="345831">
                  <a:extLst>
                    <a:ext uri="{9D8B030D-6E8A-4147-A177-3AD203B41FA5}">
                      <a16:colId xmlns:a16="http://schemas.microsoft.com/office/drawing/2014/main" val="20003"/>
                    </a:ext>
                  </a:extLst>
                </a:gridCol>
                <a:gridCol w="345831">
                  <a:extLst>
                    <a:ext uri="{9D8B030D-6E8A-4147-A177-3AD203B41FA5}">
                      <a16:colId xmlns:a16="http://schemas.microsoft.com/office/drawing/2014/main" val="20004"/>
                    </a:ext>
                  </a:extLst>
                </a:gridCol>
                <a:gridCol w="345831">
                  <a:extLst>
                    <a:ext uri="{9D8B030D-6E8A-4147-A177-3AD203B41FA5}">
                      <a16:colId xmlns:a16="http://schemas.microsoft.com/office/drawing/2014/main" val="20005"/>
                    </a:ext>
                  </a:extLst>
                </a:gridCol>
                <a:gridCol w="345831">
                  <a:extLst>
                    <a:ext uri="{9D8B030D-6E8A-4147-A177-3AD203B41FA5}">
                      <a16:colId xmlns:a16="http://schemas.microsoft.com/office/drawing/2014/main" val="20006"/>
                    </a:ext>
                  </a:extLst>
                </a:gridCol>
                <a:gridCol w="345831">
                  <a:extLst>
                    <a:ext uri="{9D8B030D-6E8A-4147-A177-3AD203B41FA5}">
                      <a16:colId xmlns:a16="http://schemas.microsoft.com/office/drawing/2014/main" val="20007"/>
                    </a:ext>
                  </a:extLst>
                </a:gridCol>
                <a:gridCol w="345831">
                  <a:extLst>
                    <a:ext uri="{9D8B030D-6E8A-4147-A177-3AD203B41FA5}">
                      <a16:colId xmlns:a16="http://schemas.microsoft.com/office/drawing/2014/main" val="20008"/>
                    </a:ext>
                  </a:extLst>
                </a:gridCol>
                <a:gridCol w="345831">
                  <a:extLst>
                    <a:ext uri="{9D8B030D-6E8A-4147-A177-3AD203B41FA5}">
                      <a16:colId xmlns:a16="http://schemas.microsoft.com/office/drawing/2014/main" val="20009"/>
                    </a:ext>
                  </a:extLst>
                </a:gridCol>
                <a:gridCol w="345831">
                  <a:extLst>
                    <a:ext uri="{9D8B030D-6E8A-4147-A177-3AD203B41FA5}">
                      <a16:colId xmlns:a16="http://schemas.microsoft.com/office/drawing/2014/main" val="20010"/>
                    </a:ext>
                  </a:extLst>
                </a:gridCol>
                <a:gridCol w="345831">
                  <a:extLst>
                    <a:ext uri="{9D8B030D-6E8A-4147-A177-3AD203B41FA5}">
                      <a16:colId xmlns:a16="http://schemas.microsoft.com/office/drawing/2014/main" val="20011"/>
                    </a:ext>
                  </a:extLst>
                </a:gridCol>
                <a:gridCol w="345831">
                  <a:extLst>
                    <a:ext uri="{9D8B030D-6E8A-4147-A177-3AD203B41FA5}">
                      <a16:colId xmlns:a16="http://schemas.microsoft.com/office/drawing/2014/main" val="20012"/>
                    </a:ext>
                  </a:extLst>
                </a:gridCol>
                <a:gridCol w="345831">
                  <a:extLst>
                    <a:ext uri="{9D8B030D-6E8A-4147-A177-3AD203B41FA5}">
                      <a16:colId xmlns:a16="http://schemas.microsoft.com/office/drawing/2014/main" val="20013"/>
                    </a:ext>
                  </a:extLst>
                </a:gridCol>
                <a:gridCol w="345831">
                  <a:extLst>
                    <a:ext uri="{9D8B030D-6E8A-4147-A177-3AD203B41FA5}">
                      <a16:colId xmlns:a16="http://schemas.microsoft.com/office/drawing/2014/main" val="20014"/>
                    </a:ext>
                  </a:extLst>
                </a:gridCol>
                <a:gridCol w="345831">
                  <a:extLst>
                    <a:ext uri="{9D8B030D-6E8A-4147-A177-3AD203B41FA5}">
                      <a16:colId xmlns:a16="http://schemas.microsoft.com/office/drawing/2014/main" val="20015"/>
                    </a:ext>
                  </a:extLst>
                </a:gridCol>
                <a:gridCol w="345831">
                  <a:extLst>
                    <a:ext uri="{9D8B030D-6E8A-4147-A177-3AD203B41FA5}">
                      <a16:colId xmlns:a16="http://schemas.microsoft.com/office/drawing/2014/main" val="20016"/>
                    </a:ext>
                  </a:extLst>
                </a:gridCol>
                <a:gridCol w="345831">
                  <a:extLst>
                    <a:ext uri="{9D8B030D-6E8A-4147-A177-3AD203B41FA5}">
                      <a16:colId xmlns:a16="http://schemas.microsoft.com/office/drawing/2014/main" val="20017"/>
                    </a:ext>
                  </a:extLst>
                </a:gridCol>
                <a:gridCol w="345831">
                  <a:extLst>
                    <a:ext uri="{9D8B030D-6E8A-4147-A177-3AD203B41FA5}">
                      <a16:colId xmlns:a16="http://schemas.microsoft.com/office/drawing/2014/main" val="20018"/>
                    </a:ext>
                  </a:extLst>
                </a:gridCol>
                <a:gridCol w="345831">
                  <a:extLst>
                    <a:ext uri="{9D8B030D-6E8A-4147-A177-3AD203B41FA5}">
                      <a16:colId xmlns:a16="http://schemas.microsoft.com/office/drawing/2014/main" val="20019"/>
                    </a:ext>
                  </a:extLst>
                </a:gridCol>
                <a:gridCol w="345831">
                  <a:extLst>
                    <a:ext uri="{9D8B030D-6E8A-4147-A177-3AD203B41FA5}">
                      <a16:colId xmlns:a16="http://schemas.microsoft.com/office/drawing/2014/main" val="20020"/>
                    </a:ext>
                  </a:extLst>
                </a:gridCol>
                <a:gridCol w="345831">
                  <a:extLst>
                    <a:ext uri="{9D8B030D-6E8A-4147-A177-3AD203B41FA5}">
                      <a16:colId xmlns:a16="http://schemas.microsoft.com/office/drawing/2014/main" val="20021"/>
                    </a:ext>
                  </a:extLst>
                </a:gridCol>
                <a:gridCol w="345831">
                  <a:extLst>
                    <a:ext uri="{9D8B030D-6E8A-4147-A177-3AD203B41FA5}">
                      <a16:colId xmlns:a16="http://schemas.microsoft.com/office/drawing/2014/main" val="20022"/>
                    </a:ext>
                  </a:extLst>
                </a:gridCol>
                <a:gridCol w="345831">
                  <a:extLst>
                    <a:ext uri="{9D8B030D-6E8A-4147-A177-3AD203B41FA5}">
                      <a16:colId xmlns:a16="http://schemas.microsoft.com/office/drawing/2014/main" val="20023"/>
                    </a:ext>
                  </a:extLst>
                </a:gridCol>
                <a:gridCol w="345831">
                  <a:extLst>
                    <a:ext uri="{9D8B030D-6E8A-4147-A177-3AD203B41FA5}">
                      <a16:colId xmlns:a16="http://schemas.microsoft.com/office/drawing/2014/main" val="20024"/>
                    </a:ext>
                  </a:extLst>
                </a:gridCol>
                <a:gridCol w="345831">
                  <a:extLst>
                    <a:ext uri="{9D8B030D-6E8A-4147-A177-3AD203B41FA5}">
                      <a16:colId xmlns:a16="http://schemas.microsoft.com/office/drawing/2014/main" val="20025"/>
                    </a:ext>
                  </a:extLst>
                </a:gridCol>
              </a:tblGrid>
              <a:tr h="294640">
                <a:tc>
                  <a:txBody>
                    <a:bodyPr/>
                    <a:lstStyle/>
                    <a:p>
                      <a:pPr algn="ctr"/>
                      <a:r>
                        <a:rPr lang="en-US" sz="1200" dirty="0">
                          <a:latin typeface="Arial" panose="020B0604020202020204" pitchFamily="34" charset="0"/>
                          <a:cs typeface="Arial" panose="020B0604020202020204" pitchFamily="34" charset="0"/>
                        </a:rPr>
                        <a:t>a</a:t>
                      </a:r>
                    </a:p>
                  </a:txBody>
                  <a:tcPr marL="0" marR="0" marT="0" marB="0" anchor="ctr"/>
                </a:tc>
                <a:tc>
                  <a:txBody>
                    <a:bodyPr/>
                    <a:lstStyle/>
                    <a:p>
                      <a:pPr algn="ctr"/>
                      <a:r>
                        <a:rPr lang="en-US" sz="1200" dirty="0">
                          <a:latin typeface="Arial" panose="020B0604020202020204" pitchFamily="34" charset="0"/>
                          <a:cs typeface="Arial" panose="020B0604020202020204" pitchFamily="34" charset="0"/>
                        </a:rPr>
                        <a:t>b</a:t>
                      </a:r>
                    </a:p>
                  </a:txBody>
                  <a:tcPr anchor="ctr"/>
                </a:tc>
                <a:tc>
                  <a:txBody>
                    <a:bodyPr/>
                    <a:lstStyle/>
                    <a:p>
                      <a:pPr algn="ctr"/>
                      <a:r>
                        <a:rPr lang="en-US" sz="1200" dirty="0">
                          <a:latin typeface="Arial" panose="020B0604020202020204" pitchFamily="34" charset="0"/>
                          <a:cs typeface="Arial" panose="020B0604020202020204" pitchFamily="34" charset="0"/>
                        </a:rPr>
                        <a:t>c</a:t>
                      </a:r>
                    </a:p>
                  </a:txBody>
                  <a:tcPr anchor="ctr"/>
                </a:tc>
                <a:tc>
                  <a:txBody>
                    <a:bodyPr/>
                    <a:lstStyle/>
                    <a:p>
                      <a:pPr algn="ctr"/>
                      <a:r>
                        <a:rPr lang="en-US" sz="1200" dirty="0">
                          <a:latin typeface="Arial" panose="020B0604020202020204" pitchFamily="34" charset="0"/>
                          <a:cs typeface="Arial" panose="020B0604020202020204" pitchFamily="34" charset="0"/>
                        </a:rPr>
                        <a:t>d</a:t>
                      </a:r>
                    </a:p>
                  </a:txBody>
                  <a:tcPr anchor="ctr"/>
                </a:tc>
                <a:tc>
                  <a:txBody>
                    <a:bodyPr/>
                    <a:lstStyle/>
                    <a:p>
                      <a:pPr algn="ctr"/>
                      <a:r>
                        <a:rPr lang="en-US" sz="1200" dirty="0">
                          <a:latin typeface="Arial" panose="020B0604020202020204" pitchFamily="34" charset="0"/>
                          <a:cs typeface="Arial" panose="020B0604020202020204" pitchFamily="34" charset="0"/>
                        </a:rPr>
                        <a:t>e</a:t>
                      </a:r>
                    </a:p>
                  </a:txBody>
                  <a:tcPr anchor="ctr"/>
                </a:tc>
                <a:tc>
                  <a:txBody>
                    <a:bodyPr/>
                    <a:lstStyle/>
                    <a:p>
                      <a:pPr algn="ctr"/>
                      <a:r>
                        <a:rPr lang="en-US" sz="1200" dirty="0">
                          <a:latin typeface="Arial" panose="020B0604020202020204" pitchFamily="34" charset="0"/>
                          <a:cs typeface="Arial" panose="020B0604020202020204" pitchFamily="34" charset="0"/>
                        </a:rPr>
                        <a:t>f</a:t>
                      </a:r>
                    </a:p>
                  </a:txBody>
                  <a:tcPr anchor="ctr"/>
                </a:tc>
                <a:tc>
                  <a:txBody>
                    <a:bodyPr/>
                    <a:lstStyle/>
                    <a:p>
                      <a:pPr algn="ctr"/>
                      <a:r>
                        <a:rPr lang="en-US" sz="1200" dirty="0">
                          <a:latin typeface="Arial" panose="020B0604020202020204" pitchFamily="34" charset="0"/>
                          <a:cs typeface="Arial" panose="020B0604020202020204" pitchFamily="34" charset="0"/>
                        </a:rPr>
                        <a:t>g</a:t>
                      </a:r>
                    </a:p>
                  </a:txBody>
                  <a:tcPr anchor="ctr"/>
                </a:tc>
                <a:tc>
                  <a:txBody>
                    <a:bodyPr/>
                    <a:lstStyle/>
                    <a:p>
                      <a:pPr algn="ctr"/>
                      <a:r>
                        <a:rPr lang="en-US" sz="1200" dirty="0">
                          <a:latin typeface="Arial" panose="020B0604020202020204" pitchFamily="34" charset="0"/>
                          <a:cs typeface="Arial" panose="020B0604020202020204" pitchFamily="34" charset="0"/>
                        </a:rPr>
                        <a:t>h</a:t>
                      </a:r>
                    </a:p>
                  </a:txBody>
                  <a:tcPr anchor="ctr"/>
                </a:tc>
                <a:tc>
                  <a:txBody>
                    <a:bodyPr/>
                    <a:lstStyle/>
                    <a:p>
                      <a:pPr algn="ctr"/>
                      <a:r>
                        <a:rPr lang="en-US" sz="1200" dirty="0" err="1">
                          <a:latin typeface="Arial" panose="020B0604020202020204" pitchFamily="34" charset="0"/>
                          <a:cs typeface="Arial" panose="020B0604020202020204" pitchFamily="34" charset="0"/>
                        </a:rPr>
                        <a:t>i</a:t>
                      </a:r>
                      <a:endParaRPr lang="en-US" sz="1200" dirty="0">
                        <a:latin typeface="Arial" panose="020B0604020202020204" pitchFamily="34" charset="0"/>
                        <a:cs typeface="Arial" panose="020B0604020202020204" pitchFamily="34" charset="0"/>
                      </a:endParaRPr>
                    </a:p>
                  </a:txBody>
                  <a:tcPr anchor="ctr"/>
                </a:tc>
                <a:tc>
                  <a:txBody>
                    <a:bodyPr/>
                    <a:lstStyle/>
                    <a:p>
                      <a:pPr algn="ctr"/>
                      <a:r>
                        <a:rPr lang="en-US" sz="1200" dirty="0">
                          <a:latin typeface="Arial" panose="020B0604020202020204" pitchFamily="34" charset="0"/>
                          <a:cs typeface="Arial" panose="020B0604020202020204" pitchFamily="34" charset="0"/>
                        </a:rPr>
                        <a:t>j</a:t>
                      </a:r>
                    </a:p>
                  </a:txBody>
                  <a:tcPr anchor="ctr"/>
                </a:tc>
                <a:tc>
                  <a:txBody>
                    <a:bodyPr/>
                    <a:lstStyle/>
                    <a:p>
                      <a:pPr algn="ctr"/>
                      <a:r>
                        <a:rPr lang="en-US" sz="1200" dirty="0">
                          <a:latin typeface="Arial" panose="020B0604020202020204" pitchFamily="34" charset="0"/>
                          <a:cs typeface="Arial" panose="020B0604020202020204" pitchFamily="34" charset="0"/>
                        </a:rPr>
                        <a:t>k</a:t>
                      </a:r>
                    </a:p>
                  </a:txBody>
                  <a:tcPr anchor="ctr"/>
                </a:tc>
                <a:tc>
                  <a:txBody>
                    <a:bodyPr/>
                    <a:lstStyle/>
                    <a:p>
                      <a:pPr algn="ctr"/>
                      <a:r>
                        <a:rPr lang="en-US" sz="1200" dirty="0">
                          <a:latin typeface="Arial" panose="020B0604020202020204" pitchFamily="34" charset="0"/>
                          <a:cs typeface="Arial" panose="020B0604020202020204" pitchFamily="34" charset="0"/>
                        </a:rPr>
                        <a:t>l</a:t>
                      </a:r>
                    </a:p>
                  </a:txBody>
                  <a:tcPr anchor="ctr"/>
                </a:tc>
                <a:tc>
                  <a:txBody>
                    <a:bodyPr/>
                    <a:lstStyle/>
                    <a:p>
                      <a:pPr algn="ctr"/>
                      <a:r>
                        <a:rPr lang="en-US" sz="1200" dirty="0">
                          <a:latin typeface="Arial" panose="020B0604020202020204" pitchFamily="34" charset="0"/>
                          <a:cs typeface="Arial" panose="020B0604020202020204" pitchFamily="34" charset="0"/>
                        </a:rPr>
                        <a:t>m</a:t>
                      </a:r>
                    </a:p>
                  </a:txBody>
                  <a:tcPr anchor="ctr"/>
                </a:tc>
                <a:tc>
                  <a:txBody>
                    <a:bodyPr/>
                    <a:lstStyle/>
                    <a:p>
                      <a:pPr algn="ctr"/>
                      <a:r>
                        <a:rPr lang="en-US" sz="1200" dirty="0">
                          <a:latin typeface="Arial" panose="020B0604020202020204" pitchFamily="34" charset="0"/>
                          <a:cs typeface="Arial" panose="020B0604020202020204" pitchFamily="34" charset="0"/>
                        </a:rPr>
                        <a:t>n</a:t>
                      </a:r>
                    </a:p>
                  </a:txBody>
                  <a:tcPr anchor="ctr"/>
                </a:tc>
                <a:tc>
                  <a:txBody>
                    <a:bodyPr/>
                    <a:lstStyle/>
                    <a:p>
                      <a:pPr algn="ctr"/>
                      <a:r>
                        <a:rPr lang="en-US" sz="1200" dirty="0">
                          <a:latin typeface="Arial" panose="020B0604020202020204" pitchFamily="34" charset="0"/>
                          <a:cs typeface="Arial" panose="020B0604020202020204" pitchFamily="34" charset="0"/>
                        </a:rPr>
                        <a:t>o</a:t>
                      </a:r>
                    </a:p>
                  </a:txBody>
                  <a:tcPr anchor="ctr"/>
                </a:tc>
                <a:tc>
                  <a:txBody>
                    <a:bodyPr/>
                    <a:lstStyle/>
                    <a:p>
                      <a:pPr algn="ctr"/>
                      <a:r>
                        <a:rPr lang="en-US" sz="1200" dirty="0">
                          <a:latin typeface="Arial" panose="020B0604020202020204" pitchFamily="34" charset="0"/>
                          <a:cs typeface="Arial" panose="020B0604020202020204" pitchFamily="34" charset="0"/>
                        </a:rPr>
                        <a:t>p</a:t>
                      </a:r>
                    </a:p>
                  </a:txBody>
                  <a:tcPr anchor="ctr"/>
                </a:tc>
                <a:tc>
                  <a:txBody>
                    <a:bodyPr/>
                    <a:lstStyle/>
                    <a:p>
                      <a:pPr algn="ctr"/>
                      <a:r>
                        <a:rPr lang="en-US" sz="1200" dirty="0">
                          <a:latin typeface="Arial" panose="020B0604020202020204" pitchFamily="34" charset="0"/>
                          <a:cs typeface="Arial" panose="020B0604020202020204" pitchFamily="34" charset="0"/>
                        </a:rPr>
                        <a:t>q</a:t>
                      </a:r>
                    </a:p>
                  </a:txBody>
                  <a:tcPr anchor="ctr"/>
                </a:tc>
                <a:tc>
                  <a:txBody>
                    <a:bodyPr/>
                    <a:lstStyle/>
                    <a:p>
                      <a:pPr algn="ctr"/>
                      <a:r>
                        <a:rPr lang="en-US" sz="1200" dirty="0">
                          <a:latin typeface="Arial" panose="020B0604020202020204" pitchFamily="34" charset="0"/>
                          <a:cs typeface="Arial" panose="020B0604020202020204" pitchFamily="34" charset="0"/>
                        </a:rPr>
                        <a:t>r</a:t>
                      </a:r>
                    </a:p>
                  </a:txBody>
                  <a:tcPr anchor="ctr"/>
                </a:tc>
                <a:tc>
                  <a:txBody>
                    <a:bodyPr/>
                    <a:lstStyle/>
                    <a:p>
                      <a:pPr algn="ctr"/>
                      <a:r>
                        <a:rPr lang="en-US" sz="1200" dirty="0">
                          <a:latin typeface="Arial" panose="020B0604020202020204" pitchFamily="34" charset="0"/>
                          <a:cs typeface="Arial" panose="020B0604020202020204" pitchFamily="34" charset="0"/>
                        </a:rPr>
                        <a:t>s</a:t>
                      </a:r>
                    </a:p>
                  </a:txBody>
                  <a:tcPr anchor="ctr"/>
                </a:tc>
                <a:tc>
                  <a:txBody>
                    <a:bodyPr/>
                    <a:lstStyle/>
                    <a:p>
                      <a:pPr algn="ctr"/>
                      <a:r>
                        <a:rPr lang="en-US" sz="1200" dirty="0">
                          <a:latin typeface="Arial" panose="020B0604020202020204" pitchFamily="34" charset="0"/>
                          <a:cs typeface="Arial" panose="020B0604020202020204" pitchFamily="34" charset="0"/>
                        </a:rPr>
                        <a:t>t</a:t>
                      </a:r>
                    </a:p>
                  </a:txBody>
                  <a:tcPr anchor="ctr"/>
                </a:tc>
                <a:tc>
                  <a:txBody>
                    <a:bodyPr/>
                    <a:lstStyle/>
                    <a:p>
                      <a:pPr algn="ctr"/>
                      <a:r>
                        <a:rPr lang="en-US" sz="1200" dirty="0">
                          <a:latin typeface="Arial" panose="020B0604020202020204" pitchFamily="34" charset="0"/>
                          <a:cs typeface="Arial" panose="020B0604020202020204" pitchFamily="34" charset="0"/>
                        </a:rPr>
                        <a:t>u</a:t>
                      </a:r>
                    </a:p>
                  </a:txBody>
                  <a:tcPr anchor="ctr"/>
                </a:tc>
                <a:tc>
                  <a:txBody>
                    <a:bodyPr/>
                    <a:lstStyle/>
                    <a:p>
                      <a:pPr algn="ctr"/>
                      <a:r>
                        <a:rPr lang="en-US" sz="1200" dirty="0">
                          <a:latin typeface="Arial" panose="020B0604020202020204" pitchFamily="34" charset="0"/>
                          <a:cs typeface="Arial" panose="020B0604020202020204" pitchFamily="34" charset="0"/>
                        </a:rPr>
                        <a:t>v</a:t>
                      </a:r>
                    </a:p>
                  </a:txBody>
                  <a:tcPr anchor="ctr"/>
                </a:tc>
                <a:tc>
                  <a:txBody>
                    <a:bodyPr/>
                    <a:lstStyle/>
                    <a:p>
                      <a:pPr algn="ctr"/>
                      <a:r>
                        <a:rPr lang="en-US" sz="1200" dirty="0">
                          <a:latin typeface="Arial" panose="020B0604020202020204" pitchFamily="34" charset="0"/>
                          <a:cs typeface="Arial" panose="020B0604020202020204" pitchFamily="34" charset="0"/>
                        </a:rPr>
                        <a:t>w</a:t>
                      </a:r>
                    </a:p>
                  </a:txBody>
                  <a:tcPr anchor="ctr"/>
                </a:tc>
                <a:tc>
                  <a:txBody>
                    <a:bodyPr/>
                    <a:lstStyle/>
                    <a:p>
                      <a:pPr algn="ctr"/>
                      <a:r>
                        <a:rPr lang="en-US" sz="1200" dirty="0">
                          <a:latin typeface="Arial" panose="020B0604020202020204" pitchFamily="34" charset="0"/>
                          <a:cs typeface="Arial" panose="020B0604020202020204" pitchFamily="34" charset="0"/>
                        </a:rPr>
                        <a:t>x</a:t>
                      </a:r>
                    </a:p>
                  </a:txBody>
                  <a:tcPr anchor="ctr"/>
                </a:tc>
                <a:tc>
                  <a:txBody>
                    <a:bodyPr/>
                    <a:lstStyle/>
                    <a:p>
                      <a:pPr algn="ctr"/>
                      <a:r>
                        <a:rPr lang="en-US" sz="1200" dirty="0">
                          <a:latin typeface="Arial" panose="020B0604020202020204" pitchFamily="34" charset="0"/>
                          <a:cs typeface="Arial" panose="020B0604020202020204" pitchFamily="34" charset="0"/>
                        </a:rPr>
                        <a:t>y</a:t>
                      </a:r>
                    </a:p>
                  </a:txBody>
                  <a:tcPr anchor="ctr"/>
                </a:tc>
                <a:tc>
                  <a:txBody>
                    <a:bodyPr/>
                    <a:lstStyle/>
                    <a:p>
                      <a:pPr algn="ctr"/>
                      <a:r>
                        <a:rPr lang="en-US" sz="1200" dirty="0">
                          <a:latin typeface="Arial" panose="020B0604020202020204" pitchFamily="34" charset="0"/>
                          <a:cs typeface="Arial" panose="020B0604020202020204" pitchFamily="34" charset="0"/>
                        </a:rPr>
                        <a:t>z</a:t>
                      </a:r>
                    </a:p>
                  </a:txBody>
                  <a:tcPr anchor="ctr"/>
                </a:tc>
                <a:extLst>
                  <a:ext uri="{0D108BD9-81ED-4DB2-BD59-A6C34878D82A}">
                    <a16:rowId xmlns:a16="http://schemas.microsoft.com/office/drawing/2014/main" val="10000"/>
                  </a:ext>
                </a:extLst>
              </a:tr>
              <a:tr h="294640">
                <a:tc>
                  <a:txBody>
                    <a:bodyPr/>
                    <a:lstStyle/>
                    <a:p>
                      <a:pPr algn="ctr"/>
                      <a:r>
                        <a:rPr lang="en-US" sz="1200" b="1" dirty="0">
                          <a:latin typeface="Arial Narrow" panose="020B0606020202030204" pitchFamily="34" charset="0"/>
                          <a:cs typeface="Arial" panose="020B0604020202020204" pitchFamily="34" charset="0"/>
                        </a:rPr>
                        <a:t>61</a:t>
                      </a:r>
                    </a:p>
                  </a:txBody>
                  <a:tcPr anchor="ctr"/>
                </a:tc>
                <a:tc>
                  <a:txBody>
                    <a:bodyPr/>
                    <a:lstStyle/>
                    <a:p>
                      <a:pPr algn="ctr"/>
                      <a:r>
                        <a:rPr lang="en-US" sz="1200" b="1" dirty="0">
                          <a:latin typeface="Arial Narrow" panose="020B0606020202030204" pitchFamily="34" charset="0"/>
                          <a:cs typeface="Arial" panose="020B0604020202020204" pitchFamily="34" charset="0"/>
                        </a:rPr>
                        <a:t>62</a:t>
                      </a:r>
                    </a:p>
                  </a:txBody>
                  <a:tcPr anchor="ctr"/>
                </a:tc>
                <a:tc>
                  <a:txBody>
                    <a:bodyPr/>
                    <a:lstStyle/>
                    <a:p>
                      <a:pPr algn="ctr"/>
                      <a:r>
                        <a:rPr lang="en-US" sz="1200" b="1" dirty="0">
                          <a:latin typeface="Arial Narrow" panose="020B0606020202030204" pitchFamily="34" charset="0"/>
                          <a:cs typeface="Arial" panose="020B0604020202020204" pitchFamily="34" charset="0"/>
                        </a:rPr>
                        <a:t>63</a:t>
                      </a:r>
                    </a:p>
                  </a:txBody>
                  <a:tcPr anchor="ctr"/>
                </a:tc>
                <a:tc>
                  <a:txBody>
                    <a:bodyPr/>
                    <a:lstStyle/>
                    <a:p>
                      <a:pPr algn="ctr"/>
                      <a:r>
                        <a:rPr lang="en-US" sz="1200" b="1" dirty="0">
                          <a:latin typeface="Arial Narrow" panose="020B0606020202030204" pitchFamily="34" charset="0"/>
                          <a:cs typeface="Arial" panose="020B0604020202020204" pitchFamily="34" charset="0"/>
                        </a:rPr>
                        <a:t>64</a:t>
                      </a:r>
                    </a:p>
                  </a:txBody>
                  <a:tcPr anchor="ctr"/>
                </a:tc>
                <a:tc>
                  <a:txBody>
                    <a:bodyPr/>
                    <a:lstStyle/>
                    <a:p>
                      <a:pPr algn="ctr"/>
                      <a:r>
                        <a:rPr lang="en-US" sz="1200" b="1" dirty="0">
                          <a:latin typeface="Arial Narrow" panose="020B0606020202030204" pitchFamily="34" charset="0"/>
                          <a:cs typeface="Arial" panose="020B0604020202020204" pitchFamily="34" charset="0"/>
                        </a:rPr>
                        <a:t>65</a:t>
                      </a:r>
                    </a:p>
                  </a:txBody>
                  <a:tcPr anchor="ctr"/>
                </a:tc>
                <a:tc>
                  <a:txBody>
                    <a:bodyPr/>
                    <a:lstStyle/>
                    <a:p>
                      <a:pPr algn="ctr"/>
                      <a:r>
                        <a:rPr lang="en-US" sz="1200" b="1" dirty="0">
                          <a:latin typeface="Arial Narrow" panose="020B0606020202030204" pitchFamily="34" charset="0"/>
                          <a:cs typeface="Arial" panose="020B0604020202020204" pitchFamily="34" charset="0"/>
                        </a:rPr>
                        <a:t>66</a:t>
                      </a:r>
                    </a:p>
                  </a:txBody>
                  <a:tcPr anchor="ctr"/>
                </a:tc>
                <a:tc>
                  <a:txBody>
                    <a:bodyPr/>
                    <a:lstStyle/>
                    <a:p>
                      <a:pPr algn="ctr"/>
                      <a:r>
                        <a:rPr lang="en-US" sz="1200" b="1" dirty="0">
                          <a:latin typeface="Arial Narrow" panose="020B0606020202030204" pitchFamily="34" charset="0"/>
                          <a:cs typeface="Arial" panose="020B0604020202020204" pitchFamily="34" charset="0"/>
                        </a:rPr>
                        <a:t>67</a:t>
                      </a:r>
                    </a:p>
                  </a:txBody>
                  <a:tcPr anchor="ctr"/>
                </a:tc>
                <a:tc>
                  <a:txBody>
                    <a:bodyPr/>
                    <a:lstStyle/>
                    <a:p>
                      <a:pPr algn="ctr"/>
                      <a:r>
                        <a:rPr lang="en-US" sz="1200" b="1" dirty="0">
                          <a:latin typeface="Arial Narrow" panose="020B0606020202030204" pitchFamily="34" charset="0"/>
                          <a:cs typeface="Arial" panose="020B0604020202020204" pitchFamily="34" charset="0"/>
                        </a:rPr>
                        <a:t>68</a:t>
                      </a:r>
                    </a:p>
                  </a:txBody>
                  <a:tcPr anchor="ctr"/>
                </a:tc>
                <a:tc>
                  <a:txBody>
                    <a:bodyPr/>
                    <a:lstStyle/>
                    <a:p>
                      <a:pPr algn="ctr"/>
                      <a:r>
                        <a:rPr lang="en-US" sz="1200" b="1" dirty="0">
                          <a:latin typeface="Arial Narrow" panose="020B0606020202030204" pitchFamily="34" charset="0"/>
                          <a:cs typeface="Arial" panose="020B0604020202020204" pitchFamily="34" charset="0"/>
                        </a:rPr>
                        <a:t>69</a:t>
                      </a:r>
                    </a:p>
                  </a:txBody>
                  <a:tcPr anchor="ctr"/>
                </a:tc>
                <a:tc>
                  <a:txBody>
                    <a:bodyPr/>
                    <a:lstStyle/>
                    <a:p>
                      <a:r>
                        <a:rPr lang="en-US" sz="1200" b="1" dirty="0" err="1">
                          <a:latin typeface="Arial Narrow" panose="020B0606020202030204" pitchFamily="34" charset="0"/>
                        </a:rPr>
                        <a:t>6A</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6B</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6C</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6D</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6E</a:t>
                      </a:r>
                      <a:endParaRPr lang="en-US" sz="1200" b="1" dirty="0">
                        <a:latin typeface="Arial Narrow" panose="020B0606020202030204" pitchFamily="34" charset="0"/>
                      </a:endParaRPr>
                    </a:p>
                  </a:txBody>
                  <a:tcPr anchor="ctr"/>
                </a:tc>
                <a:tc>
                  <a:txBody>
                    <a:bodyPr/>
                    <a:lstStyle/>
                    <a:p>
                      <a:r>
                        <a:rPr lang="en-US" sz="1200" b="1" dirty="0" err="1">
                          <a:latin typeface="Arial Narrow" panose="020B0606020202030204" pitchFamily="34" charset="0"/>
                        </a:rPr>
                        <a:t>6F</a:t>
                      </a:r>
                      <a:endParaRPr lang="en-US" sz="1200" b="1" dirty="0">
                        <a:latin typeface="Arial Narrow" panose="020B0606020202030204" pitchFamily="34" charset="0"/>
                      </a:endParaRPr>
                    </a:p>
                  </a:txBody>
                  <a:tcPr anchor="ctr"/>
                </a:tc>
                <a:tc>
                  <a:txBody>
                    <a:bodyPr/>
                    <a:lstStyle/>
                    <a:p>
                      <a:pPr algn="ctr"/>
                      <a:r>
                        <a:rPr lang="en-US" sz="1200" b="1" dirty="0">
                          <a:latin typeface="Arial Narrow" panose="020B0606020202030204" pitchFamily="34" charset="0"/>
                          <a:cs typeface="Arial" panose="020B0604020202020204" pitchFamily="34" charset="0"/>
                        </a:rPr>
                        <a:t>70</a:t>
                      </a:r>
                    </a:p>
                  </a:txBody>
                  <a:tcPr anchor="ctr"/>
                </a:tc>
                <a:tc>
                  <a:txBody>
                    <a:bodyPr/>
                    <a:lstStyle/>
                    <a:p>
                      <a:pPr algn="ctr"/>
                      <a:r>
                        <a:rPr lang="en-US" sz="1200" b="1" dirty="0">
                          <a:latin typeface="Arial Narrow" panose="020B0606020202030204" pitchFamily="34" charset="0"/>
                          <a:cs typeface="Arial" panose="020B0604020202020204" pitchFamily="34" charset="0"/>
                        </a:rPr>
                        <a:t>71</a:t>
                      </a:r>
                    </a:p>
                  </a:txBody>
                  <a:tcPr anchor="ctr"/>
                </a:tc>
                <a:tc>
                  <a:txBody>
                    <a:bodyPr/>
                    <a:lstStyle/>
                    <a:p>
                      <a:pPr algn="ctr"/>
                      <a:r>
                        <a:rPr lang="en-US" sz="1200" b="1" dirty="0">
                          <a:latin typeface="Arial Narrow" panose="020B0606020202030204" pitchFamily="34" charset="0"/>
                          <a:cs typeface="Arial" panose="020B0604020202020204" pitchFamily="34" charset="0"/>
                        </a:rPr>
                        <a:t>72</a:t>
                      </a:r>
                    </a:p>
                  </a:txBody>
                  <a:tcPr anchor="ctr"/>
                </a:tc>
                <a:tc>
                  <a:txBody>
                    <a:bodyPr/>
                    <a:lstStyle/>
                    <a:p>
                      <a:pPr algn="ctr"/>
                      <a:r>
                        <a:rPr lang="en-US" sz="1200" b="1" dirty="0">
                          <a:latin typeface="Arial Narrow" panose="020B0606020202030204" pitchFamily="34" charset="0"/>
                          <a:cs typeface="Arial" panose="020B0604020202020204" pitchFamily="34" charset="0"/>
                        </a:rPr>
                        <a:t>73</a:t>
                      </a:r>
                    </a:p>
                  </a:txBody>
                  <a:tcPr anchor="ctr"/>
                </a:tc>
                <a:tc>
                  <a:txBody>
                    <a:bodyPr/>
                    <a:lstStyle/>
                    <a:p>
                      <a:pPr algn="ctr"/>
                      <a:r>
                        <a:rPr lang="en-US" sz="1200" b="1" dirty="0">
                          <a:latin typeface="Arial Narrow" panose="020B0606020202030204" pitchFamily="34" charset="0"/>
                          <a:cs typeface="Arial" panose="020B0604020202020204" pitchFamily="34" charset="0"/>
                        </a:rPr>
                        <a:t>74</a:t>
                      </a:r>
                    </a:p>
                  </a:txBody>
                  <a:tcPr anchor="ctr"/>
                </a:tc>
                <a:tc>
                  <a:txBody>
                    <a:bodyPr/>
                    <a:lstStyle/>
                    <a:p>
                      <a:pPr algn="ctr"/>
                      <a:r>
                        <a:rPr lang="en-US" sz="1200" b="1" dirty="0">
                          <a:latin typeface="Arial Narrow" panose="020B0606020202030204" pitchFamily="34" charset="0"/>
                          <a:cs typeface="Arial" panose="020B0604020202020204" pitchFamily="34" charset="0"/>
                        </a:rPr>
                        <a:t>75</a:t>
                      </a:r>
                    </a:p>
                  </a:txBody>
                  <a:tcPr anchor="ctr"/>
                </a:tc>
                <a:tc>
                  <a:txBody>
                    <a:bodyPr/>
                    <a:lstStyle/>
                    <a:p>
                      <a:pPr algn="ctr"/>
                      <a:r>
                        <a:rPr lang="en-US" sz="1200" b="1" dirty="0">
                          <a:latin typeface="Arial Narrow" panose="020B0606020202030204" pitchFamily="34" charset="0"/>
                          <a:cs typeface="Arial" panose="020B0604020202020204" pitchFamily="34" charset="0"/>
                        </a:rPr>
                        <a:t>76</a:t>
                      </a:r>
                    </a:p>
                  </a:txBody>
                  <a:tcPr anchor="ctr"/>
                </a:tc>
                <a:tc>
                  <a:txBody>
                    <a:bodyPr/>
                    <a:lstStyle/>
                    <a:p>
                      <a:pPr algn="ctr"/>
                      <a:r>
                        <a:rPr lang="en-US" sz="1200" b="1" dirty="0">
                          <a:latin typeface="Arial Narrow" panose="020B0606020202030204" pitchFamily="34" charset="0"/>
                          <a:cs typeface="Arial" panose="020B0604020202020204" pitchFamily="34" charset="0"/>
                        </a:rPr>
                        <a:t>77</a:t>
                      </a:r>
                    </a:p>
                  </a:txBody>
                  <a:tcPr anchor="ctr"/>
                </a:tc>
                <a:tc>
                  <a:txBody>
                    <a:bodyPr/>
                    <a:lstStyle/>
                    <a:p>
                      <a:pPr algn="ctr"/>
                      <a:r>
                        <a:rPr lang="en-US" sz="1200" b="1" dirty="0">
                          <a:latin typeface="Arial Narrow" panose="020B0606020202030204" pitchFamily="34" charset="0"/>
                          <a:cs typeface="Arial" panose="020B0604020202020204" pitchFamily="34" charset="0"/>
                        </a:rPr>
                        <a:t>78</a:t>
                      </a:r>
                    </a:p>
                  </a:txBody>
                  <a:tcPr anchor="ctr"/>
                </a:tc>
                <a:tc>
                  <a:txBody>
                    <a:bodyPr/>
                    <a:lstStyle/>
                    <a:p>
                      <a:pPr algn="ctr"/>
                      <a:r>
                        <a:rPr lang="en-US" sz="1200" b="1" dirty="0">
                          <a:latin typeface="Arial Narrow" panose="020B0606020202030204" pitchFamily="34" charset="0"/>
                          <a:cs typeface="Arial" panose="020B0604020202020204" pitchFamily="34" charset="0"/>
                        </a:rPr>
                        <a:t>79</a:t>
                      </a:r>
                    </a:p>
                  </a:txBody>
                  <a:tcPr anchor="ctr"/>
                </a:tc>
                <a:tc>
                  <a:txBody>
                    <a:bodyPr/>
                    <a:lstStyle/>
                    <a:p>
                      <a:pPr algn="ctr"/>
                      <a:r>
                        <a:rPr lang="en-US" sz="1200" b="1" dirty="0" err="1">
                          <a:latin typeface="Arial Narrow" panose="020B0606020202030204" pitchFamily="34" charset="0"/>
                          <a:cs typeface="Arial" panose="020B0604020202020204" pitchFamily="34" charset="0"/>
                        </a:rPr>
                        <a:t>7A</a:t>
                      </a:r>
                      <a:endParaRPr lang="en-US" sz="1200" b="1" dirty="0">
                        <a:latin typeface="Arial Narrow" panose="020B0606020202030204" pitchFamily="34" charset="0"/>
                        <a:cs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sp>
        <p:nvSpPr>
          <p:cNvPr id="11" name="TextBox 10"/>
          <p:cNvSpPr txBox="1"/>
          <p:nvPr/>
        </p:nvSpPr>
        <p:spPr>
          <a:xfrm>
            <a:off x="3505200" y="2971800"/>
            <a:ext cx="4616970" cy="369332"/>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‘a’ – ‘A’ = </a:t>
            </a:r>
            <a:r>
              <a:rPr lang="en-US" b="1" dirty="0" err="1">
                <a:solidFill>
                  <a:srgbClr val="C00000"/>
                </a:solidFill>
                <a:latin typeface="Consolas" panose="020B0609020204030204" pitchFamily="49" charset="0"/>
                <a:cs typeface="Consolas" panose="020B0609020204030204" pitchFamily="49" charset="0"/>
              </a:rPr>
              <a:t>0x61</a:t>
            </a:r>
            <a:r>
              <a:rPr lang="en-US" b="1" dirty="0">
                <a:solidFill>
                  <a:srgbClr val="C00000"/>
                </a:solidFill>
                <a:latin typeface="Consolas" panose="020B0609020204030204" pitchFamily="49" charset="0"/>
                <a:cs typeface="Consolas" panose="020B0609020204030204" pitchFamily="49" charset="0"/>
              </a:rPr>
              <a:t> – </a:t>
            </a:r>
            <a:r>
              <a:rPr lang="en-US" b="1" dirty="0" err="1">
                <a:solidFill>
                  <a:srgbClr val="C00000"/>
                </a:solidFill>
                <a:latin typeface="Consolas" panose="020B0609020204030204" pitchFamily="49" charset="0"/>
                <a:cs typeface="Consolas" panose="020B0609020204030204" pitchFamily="49" charset="0"/>
              </a:rPr>
              <a:t>0x41</a:t>
            </a:r>
            <a:r>
              <a:rPr lang="en-US" b="1" dirty="0">
                <a:solidFill>
                  <a:srgbClr val="C00000"/>
                </a:solidFill>
                <a:latin typeface="Consolas" panose="020B0609020204030204" pitchFamily="49" charset="0"/>
                <a:cs typeface="Consolas" panose="020B0609020204030204" pitchFamily="49" charset="0"/>
              </a:rPr>
              <a:t> = </a:t>
            </a:r>
            <a:r>
              <a:rPr lang="en-US" b="1" dirty="0" err="1">
                <a:solidFill>
                  <a:srgbClr val="C00000"/>
                </a:solidFill>
                <a:latin typeface="Consolas" panose="020B0609020204030204" pitchFamily="49" charset="0"/>
                <a:cs typeface="Consolas" panose="020B0609020204030204" pitchFamily="49" charset="0"/>
              </a:rPr>
              <a:t>0x20</a:t>
            </a:r>
            <a:r>
              <a:rPr lang="en-US" b="1" dirty="0">
                <a:solidFill>
                  <a:srgbClr val="C00000"/>
                </a:solidFill>
                <a:latin typeface="Consolas" panose="020B0609020204030204" pitchFamily="49" charset="0"/>
                <a:cs typeface="Consolas" panose="020B0609020204030204" pitchFamily="49" charset="0"/>
              </a:rPr>
              <a:t> = 32</a:t>
            </a:r>
          </a:p>
        </p:txBody>
      </p:sp>
    </p:spTree>
    <p:extLst>
      <p:ext uri="{BB962C8B-B14F-4D97-AF65-F5344CB8AC3E}">
        <p14:creationId xmlns:p14="http://schemas.microsoft.com/office/powerpoint/2010/main" val="3705688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Summary</a:t>
            </a:r>
          </a:p>
        </p:txBody>
      </p:sp>
      <p:sp>
        <p:nvSpPr>
          <p:cNvPr id="3" name="Content Placeholder 2"/>
          <p:cNvSpPr>
            <a:spLocks noGrp="1"/>
          </p:cNvSpPr>
          <p:nvPr>
            <p:ph idx="1"/>
          </p:nvPr>
        </p:nvSpPr>
        <p:spPr/>
        <p:txBody>
          <a:bodyPr>
            <a:noAutofit/>
          </a:bodyPr>
          <a:lstStyle/>
          <a:p>
            <a:r>
              <a:rPr lang="en-GB" sz="2800" dirty="0"/>
              <a:t>Unsigned integer arithmetic</a:t>
            </a:r>
          </a:p>
          <a:p>
            <a:r>
              <a:rPr lang="en-GB" sz="2800" dirty="0"/>
              <a:t>Signed integer arithmetic</a:t>
            </a:r>
          </a:p>
          <a:p>
            <a:pPr lvl="1"/>
            <a:r>
              <a:rPr lang="en-GB" sz="2500" dirty="0"/>
              <a:t>2’s complement</a:t>
            </a:r>
          </a:p>
          <a:p>
            <a:r>
              <a:rPr lang="en-US" sz="2800" dirty="0"/>
              <a:t>Carry and Overflow Flags</a:t>
            </a:r>
          </a:p>
          <a:p>
            <a:pPr lvl="1"/>
            <a:r>
              <a:rPr lang="en-US" sz="2500" dirty="0"/>
              <a:t>Carry answers: “Did unsigned math overflow?”</a:t>
            </a:r>
          </a:p>
          <a:p>
            <a:pPr lvl="1"/>
            <a:r>
              <a:rPr lang="en-US" sz="2500" dirty="0"/>
              <a:t>Overflow answers: “Did signed math overflow?”</a:t>
            </a:r>
          </a:p>
          <a:p>
            <a:pPr lvl="1"/>
            <a:r>
              <a:rPr lang="en-US" sz="2500" dirty="0"/>
              <a:t>Hardware sets both. Software decides which one is used</a:t>
            </a:r>
            <a:endParaRPr lang="en-GB" sz="2500" dirty="0"/>
          </a:p>
          <a:p>
            <a:r>
              <a:rPr lang="en-GB" sz="2800" dirty="0"/>
              <a:t>ASCII strings</a:t>
            </a:r>
          </a:p>
          <a:p>
            <a:endParaRPr lang="en-GB" sz="2500" dirty="0"/>
          </a:p>
        </p:txBody>
      </p:sp>
      <p:sp>
        <p:nvSpPr>
          <p:cNvPr id="4" name="Slide Number Placeholder 3"/>
          <p:cNvSpPr>
            <a:spLocks noGrp="1"/>
          </p:cNvSpPr>
          <p:nvPr>
            <p:ph type="sldNum" sz="quarter" idx="4294967295"/>
          </p:nvPr>
        </p:nvSpPr>
        <p:spPr/>
        <p:txBody>
          <a:bodyPr/>
          <a:lstStyle/>
          <a:p>
            <a:fld id="{EA7C8D44-3667-46F6-9772-CC52308E2A7F}" type="slidenum">
              <a:rPr kumimoji="0" lang="en-US" smtClean="0"/>
              <a:pPr/>
              <a:t>40</a:t>
            </a:fld>
            <a:endParaRPr kumimoji="0" lang="en-US" dirty="0"/>
          </a:p>
        </p:txBody>
      </p:sp>
    </p:spTree>
    <p:extLst>
      <p:ext uri="{BB962C8B-B14F-4D97-AF65-F5344CB8AC3E}">
        <p14:creationId xmlns:p14="http://schemas.microsoft.com/office/powerpoint/2010/main" val="33444291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BCB23D-EFE6-FA45-DAF9-9FF26087AA94}"/>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88866A56-D44E-D648-C861-46FA398FDE43}"/>
              </a:ext>
            </a:extLst>
          </p:cNvPr>
          <p:cNvSpPr>
            <a:spLocks noGrp="1"/>
          </p:cNvSpPr>
          <p:nvPr>
            <p:ph sz="quarter" idx="1"/>
          </p:nvPr>
        </p:nvSpPr>
        <p:spPr/>
        <p:txBody>
          <a:bodyPr/>
          <a:lstStyle/>
          <a:p>
            <a:r>
              <a:rPr lang="en-US" dirty="0"/>
              <a:t>Lecture 1. Why use two's complement?</a:t>
            </a:r>
          </a:p>
          <a:p>
            <a:pPr lvl="1"/>
            <a:r>
              <a:rPr lang="en-US" dirty="0">
                <a:hlinkClick r:id="rId2"/>
              </a:rPr>
              <a:t>https://www.youtube.com/watch?v=lJCefqV80ck&amp;list=PLRJhV4hUhIymmp5CCeIFPyxbknsdcXCc8&amp;index=1</a:t>
            </a:r>
            <a:r>
              <a:rPr lang="en-US" dirty="0"/>
              <a:t> </a:t>
            </a:r>
          </a:p>
          <a:p>
            <a:r>
              <a:rPr lang="en-US" dirty="0"/>
              <a:t>Lecture 2: Carry flag for unsigned addition and subtraction</a:t>
            </a:r>
          </a:p>
          <a:p>
            <a:pPr lvl="1"/>
            <a:r>
              <a:rPr lang="en-US" dirty="0">
                <a:hlinkClick r:id="rId3"/>
              </a:rPr>
              <a:t>https://www.youtube.com/watch?v=MxGW2WurKuM&amp;list=PLRJhV4hUhIymmp5CCeIFPyxbknsdcXCc8&amp;index=2</a:t>
            </a:r>
            <a:endParaRPr lang="en-US" dirty="0"/>
          </a:p>
          <a:p>
            <a:r>
              <a:rPr lang="en-US" dirty="0"/>
              <a:t>Lecture 3: Overflow flag for signed addition and subtraction</a:t>
            </a:r>
          </a:p>
          <a:p>
            <a:pPr lvl="1"/>
            <a:r>
              <a:rPr lang="en-US" dirty="0">
                <a:hlinkClick r:id="rId4"/>
              </a:rPr>
              <a:t>https://www.youtube.com/watch?v=BIn6iyYIGio&amp;list=PLRJhV4hUhIymmp5CCeIFPyxbknsdcXCc8&amp;index=3</a:t>
            </a:r>
            <a:r>
              <a:rPr lang="en-US" dirty="0"/>
              <a:t> </a:t>
            </a:r>
          </a:p>
        </p:txBody>
      </p:sp>
    </p:spTree>
    <p:extLst>
      <p:ext uri="{BB962C8B-B14F-4D97-AF65-F5344CB8AC3E}">
        <p14:creationId xmlns:p14="http://schemas.microsoft.com/office/powerpoint/2010/main" val="400975415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20.3|8.2|11.8|6.7|11.8|0.7"/>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3085</TotalTime>
  <Words>4958</Words>
  <Application>Microsoft Office PowerPoint</Application>
  <PresentationFormat>Widescreen</PresentationFormat>
  <Paragraphs>1279</Paragraphs>
  <Slides>41</Slides>
  <Notes>21</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41</vt:i4>
      </vt:variant>
    </vt:vector>
  </HeadingPairs>
  <TitlesOfParts>
    <vt:vector size="55" baseType="lpstr">
      <vt:lpstr>Bookman Old Style (Headings)</vt:lpstr>
      <vt:lpstr>Arial</vt:lpstr>
      <vt:lpstr>Arial Narrow</vt:lpstr>
      <vt:lpstr>Bookman Old Style</vt:lpstr>
      <vt:lpstr>Calibri</vt:lpstr>
      <vt:lpstr>Cambria Math</vt:lpstr>
      <vt:lpstr>Consolas</vt:lpstr>
      <vt:lpstr>Gill Sans MT</vt:lpstr>
      <vt:lpstr>Palatino Linotype</vt:lpstr>
      <vt:lpstr>Symbol</vt:lpstr>
      <vt:lpstr>Times New Roman</vt:lpstr>
      <vt:lpstr>Wingdings</vt:lpstr>
      <vt:lpstr>Wingdings 3</vt:lpstr>
      <vt:lpstr>Origin</vt:lpstr>
      <vt:lpstr>Z. Gu Hofstra University</vt:lpstr>
      <vt:lpstr>Bit, Byte, Half-word, Word, Double-Word</vt:lpstr>
      <vt:lpstr>Binary, Decimal and Hex</vt:lpstr>
      <vt:lpstr>Range of Unsigned Integers</vt:lpstr>
      <vt:lpstr>Unsigned Integers</vt:lpstr>
      <vt:lpstr>Carry/borrow flag bit for unsigned arithmetic</vt:lpstr>
      <vt:lpstr>Carry/borrow flag bit for unsigned numbers</vt:lpstr>
      <vt:lpstr>Carry/borrow flag bit for unsigned numbers</vt:lpstr>
      <vt:lpstr>Signed Integer Representation</vt:lpstr>
      <vt:lpstr>Signed Integers Method 1: Signed Magnitude </vt:lpstr>
      <vt:lpstr>Signed Integers Method 2: One’s Complement</vt:lpstr>
      <vt:lpstr>Signed Integers Method 3: Two’s Complement (TC)</vt:lpstr>
      <vt:lpstr>Signed Integers Method 3: Two’s Complement (TC)</vt:lpstr>
      <vt:lpstr>Signed Integers Method 3: Two’s Complement (TC)</vt:lpstr>
      <vt:lpstr>Quiz</vt:lpstr>
      <vt:lpstr>Quiz ANS</vt:lpstr>
      <vt:lpstr>Two’s Complement (TC)</vt:lpstr>
      <vt:lpstr>Two’s Complement for 8-bit System</vt:lpstr>
      <vt:lpstr>Sign Extension</vt:lpstr>
      <vt:lpstr>Comparison</vt:lpstr>
      <vt:lpstr>Comparison: unsigned vs. signed</vt:lpstr>
      <vt:lpstr>Range of Signed Integers (Two’s Complement)</vt:lpstr>
      <vt:lpstr>Overflow Flag for Signed Arithmetic</vt:lpstr>
      <vt:lpstr>Overflow Flag for Signed Arithmetic</vt:lpstr>
      <vt:lpstr>Overflow for Signed Add</vt:lpstr>
      <vt:lpstr>Overflow for Signed Add</vt:lpstr>
      <vt:lpstr>Signed or unsigned</vt:lpstr>
      <vt:lpstr>Signed or Unsigned (5-bit System)</vt:lpstr>
      <vt:lpstr>Signed or Unsigned (5-bit System)</vt:lpstr>
      <vt:lpstr>Two’s Complement Simplifies Hardware Implementation</vt:lpstr>
      <vt:lpstr>Adding two signed integers:  (-9) + 6</vt:lpstr>
      <vt:lpstr>Subtracting two signed integers:  (-9) - 6</vt:lpstr>
      <vt:lpstr>Condition Codes</vt:lpstr>
      <vt:lpstr>Carry and Overflow Flags</vt:lpstr>
      <vt:lpstr>Characters</vt:lpstr>
      <vt:lpstr>Null-terminated String</vt:lpstr>
      <vt:lpstr>String Comparison</vt:lpstr>
      <vt:lpstr>String Length</vt:lpstr>
      <vt:lpstr>Convert to Upper Case</vt:lpstr>
      <vt:lpstr>Summary</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317</cp:revision>
  <dcterms:created xsi:type="dcterms:W3CDTF">2013-02-03T05:36:57Z</dcterms:created>
  <dcterms:modified xsi:type="dcterms:W3CDTF">2026-09-02T14:34:31Z</dcterms:modified>
</cp:coreProperties>
</file>