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590" r:id="rId3"/>
    <p:sldId id="553" r:id="rId4"/>
    <p:sldId id="555" r:id="rId5"/>
    <p:sldId id="557" r:id="rId6"/>
    <p:sldId id="564" r:id="rId7"/>
    <p:sldId id="576" r:id="rId8"/>
    <p:sldId id="578" r:id="rId9"/>
    <p:sldId id="566" r:id="rId10"/>
    <p:sldId id="257" r:id="rId11"/>
    <p:sldId id="352" r:id="rId12"/>
    <p:sldId id="559" r:id="rId13"/>
    <p:sldId id="592" r:id="rId14"/>
    <p:sldId id="563" r:id="rId15"/>
    <p:sldId id="561" r:id="rId16"/>
    <p:sldId id="593" r:id="rId17"/>
    <p:sldId id="568" r:id="rId18"/>
    <p:sldId id="571" r:id="rId19"/>
    <p:sldId id="574" r:id="rId20"/>
    <p:sldId id="354" r:id="rId21"/>
    <p:sldId id="357" r:id="rId22"/>
    <p:sldId id="384" r:id="rId23"/>
    <p:sldId id="589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6567C5-EFA0-47BB-85F4-1CFD615DE70D}" v="1" dt="2026-02-26T16:12:25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3609"/>
  </p:normalViewPr>
  <p:slideViewPr>
    <p:cSldViewPr>
      <p:cViewPr varScale="1">
        <p:scale>
          <a:sx n="100" d="100"/>
          <a:sy n="100" d="100"/>
        </p:scale>
        <p:origin x="111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1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6-02-26T16:12:39.548" v="274" actId="20577"/>
      <pc:docMkLst>
        <pc:docMk/>
      </pc:docMkLst>
      <pc:sldChg chg="modSp mod">
        <pc:chgData name="Zonghua Gu" userId="9a7e1853e1951ef5" providerId="LiveId" clId="{CF1FAA12-072C-4ED5-BA76-0FFFAEFDB88A}" dt="2026-02-26T16:12:39.548" v="274" actId="20577"/>
        <pc:sldMkLst>
          <pc:docMk/>
          <pc:sldMk cId="409396528" sldId="257"/>
        </pc:sldMkLst>
        <pc:spChg chg="mod">
          <ac:chgData name="Zonghua Gu" userId="9a7e1853e1951ef5" providerId="LiveId" clId="{CF1FAA12-072C-4ED5-BA76-0FFFAEFDB88A}" dt="2026-02-26T16:12:39.548" v="274" actId="20577"/>
          <ac:spMkLst>
            <pc:docMk/>
            <pc:sldMk cId="409396528" sldId="257"/>
            <ac:spMk id="4" creationId="{77B7521E-4543-F7E4-701C-9D4CAFA526F9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b="1" dirty="0"/>
              <a:t>LSR (used here)</a:t>
            </a:r>
            <a:r>
              <a:rPr lang="en-US" dirty="0"/>
              <a:t>: Always fills with zeros, converting the negative value to a large positive number</a:t>
            </a:r>
          </a:p>
          <a:p>
            <a:r>
              <a:rPr lang="en-US" b="1" dirty="0"/>
              <a:t>ASR</a:t>
            </a:r>
            <a:r>
              <a:rPr lang="en-US" dirty="0"/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6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3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93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3741-8FC4-2591-E3BC-8A077C76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9CAA2-6E22-E219-DF82-8A5042436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D407-7127-9C12-D518-1935CDC4D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ED6B6-BD58-1B29-B600-C30D0C6EB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ED06-CB4D-495B-C694-4C1B6E74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BA59D-F778-B6DB-A073-14EAC72E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57544-8E4A-41E5-8E60-89D98A20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15DA1-B8B2-6177-0798-B0B79A26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2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458A-F714-96DC-BEC2-76172F97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72E45-2A52-237E-B35D-FEA0095D1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D1FBD-6F97-9862-594A-5783D9367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7E9D0-8E60-5AB5-285C-ECC3C6FE9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31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count ones, then subtract from 32</a:t>
            </a:r>
          </a:p>
          <a:p>
            <a:r>
              <a:rPr lang="pt-BR" dirty="0"/>
              <a:t>Or </a:t>
            </a:r>
            <a:r>
              <a:rPr lang="en-US" dirty="0"/>
              <a:t>Invert r0 to get r4, then count 0’s in r4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4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r0 = 0xffffffff</a:t>
            </a:r>
          </a:p>
          <a:p>
            <a:pPr lvl="1"/>
            <a:r>
              <a:rPr lang="en-US" dirty="0"/>
              <a:t>r1 = 0x00000001</a:t>
            </a:r>
          </a:p>
          <a:p>
            <a:pPr lvl="1"/>
            <a:r>
              <a:rPr lang="en-US" dirty="0"/>
              <a:t>r2 = 0x00000003</a:t>
            </a:r>
          </a:p>
          <a:p>
            <a:pPr lvl="1"/>
            <a:r>
              <a:rPr lang="en-US" dirty="0"/>
              <a:t>r3 = 0xfffffff0</a:t>
            </a:r>
          </a:p>
          <a:p>
            <a:endParaRPr lang="en-US" dirty="0"/>
          </a:p>
          <a:p>
            <a:r>
              <a:rPr lang="en-US" dirty="0"/>
              <a:t>The N, Z, C, and V flags start out as zero.</a:t>
            </a:r>
          </a:p>
          <a:p>
            <a:r>
              <a:rPr lang="en-US" dirty="0"/>
              <a:t>After the execution of the following instructions, fill in the flag values.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7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Suppose </a:t>
            </a:r>
          </a:p>
          <a:p>
            <a:pPr lvl="1"/>
            <a:r>
              <a:rPr lang="en-US" dirty="0"/>
              <a:t>r0 = 0xFFFFFFFF, r1 = 0x00000001, r2 = 0x00000000,</a:t>
            </a:r>
          </a:p>
          <a:p>
            <a:pPr lvl="1"/>
            <a:r>
              <a:rPr lang="en-US" dirty="0"/>
              <a:t>NZCV = 0000 initially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10/7/2026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10/7/2026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11" y="1828800"/>
            <a:ext cx="58142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orizontal Scroll 12">
            <a:extLst>
              <a:ext uri="{FF2B5EF4-FFF2-40B4-BE49-F238E27FC236}">
                <a16:creationId xmlns:a16="http://schemas.microsoft.com/office/drawing/2014/main" id="{E5E988BA-EC48-9C00-F0B8-EA356F0F3223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27963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912" y="152400"/>
            <a:ext cx="7649688" cy="9906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5998447" y="5885466"/>
            <a:ext cx="16002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05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05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586144" y="1143000"/>
            <a:ext cx="78867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6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If two operands have same sign, and the result has opposite sign, then V = 1; else V = 0</a:t>
            </a:r>
            <a:endParaRPr lang="en-US" sz="16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447800" y="4171018"/>
          <a:ext cx="6446109" cy="2142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8942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1677164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1587037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1782966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4357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 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Addition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Signed Addition or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Carry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Overflow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  <a:r>
                        <a:rPr lang="en-US" sz="1400" b="0" dirty="0">
                          <a:effectLst/>
                        </a:rPr>
                        <a:t>-1 or true result &lt; -2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4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3641316" y="4901005"/>
              <a:ext cx="270" cy="27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456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4061706" y="4901005"/>
              <a:ext cx="270" cy="2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495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96597"/>
            <a:ext cx="1981200" cy="27432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Horizontal Scroll 12">
            <a:extLst>
              <a:ext uri="{FF2B5EF4-FFF2-40B4-BE49-F238E27FC236}">
                <a16:creationId xmlns:a16="http://schemas.microsoft.com/office/drawing/2014/main" id="{D48C24B2-C142-576C-CE10-D9A6DF0F70B2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318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72BA-4E36-5939-EA5D-65E91ED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DE8FE-731E-0AC7-29AB-17D9745E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9D86-D583-CABE-4B85-A5314A655F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32-bit register values after each instruction</a:t>
            </a:r>
          </a:p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AA0-0F84-7DF4-92EB-BAB9747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E95F9-96B3-6E8B-DE8A-BBFC8F51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0A19-0F6C-A6C2-28CD-C5006FC479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</p:txBody>
      </p:sp>
    </p:spTree>
    <p:extLst>
      <p:ext uri="{BB962C8B-B14F-4D97-AF65-F5344CB8AC3E}">
        <p14:creationId xmlns:p14="http://schemas.microsoft.com/office/powerpoint/2010/main" val="3231632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74D-6CB2-432B-DAD7-C3017391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D246E-9C61-6404-3827-3323EB63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4A31-F545-9835-7A37-FDD374646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8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85E-E5D0-53FE-9025-6E1E1F54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E9D1-8834-4A04-E3FB-A8A89293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F3843-F3F6-8D87-7E25-5C35433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17DE-1F04-17A2-9FAA-2F9FDE23E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</p:txBody>
      </p:sp>
    </p:spTree>
    <p:extLst>
      <p:ext uri="{BB962C8B-B14F-4D97-AF65-F5344CB8AC3E}">
        <p14:creationId xmlns:p14="http://schemas.microsoft.com/office/powerpoint/2010/main" val="197479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4415-1D59-D54C-AAA5-43110D42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74F-F6FD-D4BC-236C-33597AE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68F60-170B-C439-5529-D4FFE383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9F09-071E-CC84-8518-D0A895AF26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</a:t>
            </a:r>
            <a:r>
              <a:rPr lang="en-US"/>
              <a:t>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9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FA36-801E-6E7F-57F4-2BD21817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F1F3-3211-DD87-BF7B-B9BC7FFC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864E1-964B-A3AB-442A-DD3628D69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</p:txBody>
      </p:sp>
    </p:spTree>
    <p:extLst>
      <p:ext uri="{BB962C8B-B14F-4D97-AF65-F5344CB8AC3E}">
        <p14:creationId xmlns:p14="http://schemas.microsoft.com/office/powerpoint/2010/main" val="4213128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880-04B3-ECE3-3ABD-F3356701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Shifts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4B1B2-C5F4-2713-F5B6-3B26A2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521E-4543-F7E4-701C-9D4CAFA526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Assuming 32-bit registers:</a:t>
            </a:r>
          </a:p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#7</a:t>
            </a:r>
          </a:p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#2</a:t>
            </a:r>
          </a:p>
          <a:p>
            <a:pPr lvl="1"/>
            <a:r>
              <a:rPr lang="pt-BR" dirty="0"/>
              <a:t>Or: MOV r0, r0</a:t>
            </a:r>
            <a:r>
              <a:rPr lang="pt-BR"/>
              <a:t>, ASR #2</a:t>
            </a:r>
            <a:endParaRPr lang="pt-BR" dirty="0"/>
          </a:p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#2</a:t>
            </a:r>
            <a:endParaRPr lang="en-US" dirty="0"/>
          </a:p>
          <a:p>
            <a:pPr lvl="1"/>
            <a:r>
              <a:rPr lang="pt-BR" dirty="0"/>
              <a:t>Or: MOV r0, r0, ASR #2</a:t>
            </a:r>
          </a:p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</p:txBody>
      </p:sp>
    </p:spTree>
    <p:extLst>
      <p:ext uri="{BB962C8B-B14F-4D97-AF65-F5344CB8AC3E}">
        <p14:creationId xmlns:p14="http://schemas.microsoft.com/office/powerpoint/2010/main" val="1087481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276C-A661-6DC1-DE38-563A3E2C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C51E37-E0A0-F2D9-EFE6-91A91F49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EC62D-8983-5B00-CA77-5B8D7EF409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289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0120-AA85-2F0A-CC9A-66A79F09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795C-148F-094D-80F5-1264C35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9452F-FC85-2CA2-05E2-EE443BFF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69AB0-22FC-BE38-C5AA-9F8E6ECA54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/>
          </a:bodyPr>
          <a:lstStyle/>
          <a:p>
            <a:r>
              <a:rPr lang="pt-BR" dirty="0"/>
              <a:t>Compute register values, and</a:t>
            </a:r>
            <a:r>
              <a:rPr lang="en-US" dirty="0"/>
              <a:t> NZCV flags after execution of each instruction, assuming all flags are initially 0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MOVS R2, R1, LSL #4</a:t>
            </a:r>
          </a:p>
          <a:p>
            <a:pPr lvl="1"/>
            <a:r>
              <a:rPr lang="pt-BR" dirty="0"/>
              <a:t>MOVS R3, R1, LSL #8</a:t>
            </a:r>
          </a:p>
          <a:p>
            <a:pPr lvl="1"/>
            <a:r>
              <a:rPr lang="pt-BR" dirty="0"/>
              <a:t>MOVS R4, R1, LSL #16</a:t>
            </a:r>
          </a:p>
        </p:txBody>
      </p:sp>
    </p:spTree>
    <p:extLst>
      <p:ext uri="{BB962C8B-B14F-4D97-AF65-F5344CB8AC3E}">
        <p14:creationId xmlns:p14="http://schemas.microsoft.com/office/powerpoint/2010/main" val="3403107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839C-F6D4-9964-61E4-7718ED85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A20A-F498-3EB6-F940-C1894F1C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B4EF46-F247-D5D5-B0F5-6E0D2001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383C9-4457-CE5C-9276-DDEA44D305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</p:txBody>
      </p:sp>
    </p:spTree>
    <p:extLst>
      <p:ext uri="{BB962C8B-B14F-4D97-AF65-F5344CB8AC3E}">
        <p14:creationId xmlns:p14="http://schemas.microsoft.com/office/powerpoint/2010/main" val="1151160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6A51-A439-F103-49BD-FDEA556B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DBC-650F-2FD6-D799-9D9632A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 ASR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1C5B6-51F3-7333-86A4-FA1F195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A0C6-9296-BA88-C598-6B260416FC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LSR #4</a:t>
            </a:r>
          </a:p>
          <a:p>
            <a:pPr lvl="1"/>
            <a:r>
              <a:rPr lang="pt-BR" dirty="0"/>
              <a:t>MOV R3, R1, LSR #8</a:t>
            </a:r>
          </a:p>
          <a:p>
            <a:pPr lvl="1"/>
            <a:r>
              <a:rPr lang="pt-BR" dirty="0"/>
              <a:t>MOV R4, R1, LSR #16</a:t>
            </a:r>
          </a:p>
          <a:p>
            <a:pPr lvl="1"/>
            <a:r>
              <a:rPr lang="pt-BR" dirty="0"/>
              <a:t>MOV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 R6, R1, ASR #8</a:t>
            </a:r>
          </a:p>
          <a:p>
            <a:pPr lvl="1"/>
            <a:r>
              <a:rPr lang="pt-BR" dirty="0"/>
              <a:t>MOV R7, R1, ASR #16</a:t>
            </a:r>
          </a:p>
        </p:txBody>
      </p:sp>
    </p:spTree>
    <p:extLst>
      <p:ext uri="{BB962C8B-B14F-4D97-AF65-F5344CB8AC3E}">
        <p14:creationId xmlns:p14="http://schemas.microsoft.com/office/powerpoint/2010/main" val="3280752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DAD4-A15A-CB26-167A-FED5BF30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60C7-6D32-CED6-8DDA-C2F9D846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LSRS ASR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DF2A77-49EC-04E8-D5EC-35623E91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EBDB8-79A1-498D-B9D2-DDE87FE9C0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03188"/>
            <a:ext cx="8229600" cy="5638800"/>
          </a:xfrm>
        </p:spPr>
        <p:txBody>
          <a:bodyPr>
            <a:normAutofit/>
          </a:bodyPr>
          <a:lstStyle/>
          <a:p>
            <a:r>
              <a:rPr lang="pt-BR" dirty="0"/>
              <a:t>Compute register values, and</a:t>
            </a:r>
            <a:r>
              <a:rPr lang="en-US" dirty="0"/>
              <a:t> NZCV flags after execution of each instruction, assuming all flags are initially 0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MOVS R2, R1, LSR #4</a:t>
            </a:r>
          </a:p>
          <a:p>
            <a:pPr lvl="1"/>
            <a:r>
              <a:rPr lang="pt-BR" dirty="0"/>
              <a:t>MOVS R3, R1, LSR #8</a:t>
            </a:r>
          </a:p>
          <a:p>
            <a:pPr lvl="1"/>
            <a:r>
              <a:rPr lang="pt-BR" dirty="0"/>
              <a:t>MOVS R4, R1, LSR #16</a:t>
            </a:r>
          </a:p>
          <a:p>
            <a:pPr lvl="1"/>
            <a:r>
              <a:rPr lang="pt-BR" dirty="0"/>
              <a:t>MOVS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MOVS R6, R1, ASR #8</a:t>
            </a:r>
          </a:p>
          <a:p>
            <a:pPr lvl="1"/>
            <a:r>
              <a:rPr lang="pt-BR" dirty="0"/>
              <a:t>MOVS R7, R1, ASR #16</a:t>
            </a:r>
          </a:p>
        </p:txBody>
      </p:sp>
    </p:spTree>
    <p:extLst>
      <p:ext uri="{BB962C8B-B14F-4D97-AF65-F5344CB8AC3E}">
        <p14:creationId xmlns:p14="http://schemas.microsoft.com/office/powerpoint/2010/main" val="3657267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212-EBBF-507A-8939-5B24EAC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82959-239B-7B59-648D-A0210CB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A678-F78A-5E7F-A0E9-3A3B773CE7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using MUL instruction, give instructions that multiply a register, r3 by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/>
              <a:t>1025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84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680A-E82D-BBE9-C61F-EB0A6FE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number of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6C243-F37B-89BF-2B6A-9A56B69C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1A2D-28FB-F7BC-6CAD-42CE94433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4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7DC9-FEC2-35B7-BE17-C8002327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014-01D8-9E5D-845A-870F048F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1E58-1BCE-C9D5-7122-108C438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F7F-A91F-C3AC-6F2E-7E041BC2C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Based on the program that counts 1’s, modify it to count the number of zeros in a 32-bit register r0. </a:t>
            </a:r>
          </a:p>
        </p:txBody>
      </p:sp>
    </p:spTree>
    <p:extLst>
      <p:ext uri="{BB962C8B-B14F-4D97-AF65-F5344CB8AC3E}">
        <p14:creationId xmlns:p14="http://schemas.microsoft.com/office/powerpoint/2010/main" val="2952282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526-FDDF-35FA-A44E-1A23344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70333-70B3-0D05-E999-759739E5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5D49-573C-6129-4E24-762AAEB6B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598EB-3D73-A532-9DE0-CBC965E702FA}"/>
              </a:ext>
            </a:extLst>
          </p:cNvPr>
          <p:cNvSpPr/>
          <p:nvPr/>
        </p:nvSpPr>
        <p:spPr>
          <a:xfrm>
            <a:off x="860298" y="221303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45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9F9-4905-FD89-18E1-B8EB2F6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A52C-2E2E-54F3-49AA-2CABED2C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21BD5E1-8C43-5CBF-BEB4-B430BDD4D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F8B0C-9B9C-5AAA-26B5-003AE580EB61}"/>
              </a:ext>
            </a:extLst>
          </p:cNvPr>
          <p:cNvSpPr/>
          <p:nvPr/>
        </p:nvSpPr>
        <p:spPr>
          <a:xfrm>
            <a:off x="860298" y="2133600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45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E9CC-DEC3-BC36-FF0A-FD088EB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FB2C4-0E87-791F-5E7D-1A0D8DB2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DA5F-0B0C-5E4B-FFBA-4A8692F7A9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r4, and NZCV flags after execution, assuming all flags are initially 0. (Each instruction runs individually.)</a:t>
            </a:r>
          </a:p>
          <a:p>
            <a:pPr lvl="1"/>
            <a:r>
              <a:rPr lang="pt-BR" dirty="0"/>
              <a:t>(a) ADD r4, r0, r2, ASR #3</a:t>
            </a:r>
          </a:p>
          <a:p>
            <a:pPr lvl="1"/>
            <a:r>
              <a:rPr lang="pt-BR" dirty="0"/>
              <a:t>(b) ADDS r4, r0, r1</a:t>
            </a:r>
          </a:p>
          <a:p>
            <a:pPr lvl="1"/>
            <a:r>
              <a:rPr lang="pt-BR" dirty="0"/>
              <a:t>(c) LSRS r4, r0, #1</a:t>
            </a:r>
          </a:p>
          <a:p>
            <a:pPr lvl="1"/>
            <a:r>
              <a:rPr lang="pt-BR" dirty="0"/>
              <a:t>(d) ANDS r4, r0, r3</a:t>
            </a:r>
          </a:p>
          <a:p>
            <a:pPr lvl="1"/>
            <a:r>
              <a:rPr lang="en-US" dirty="0"/>
              <a:t>(e) CMP r2, #3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027E4-0F54-2503-6E54-155E1BC9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66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7B51-11BC-FFC9-CF42-A6BABBAD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B07D-F698-D274-049D-5A85197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49653-EF96-2820-E597-C71FA0AB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0CFB-3CFF-ED04-FB0F-0B0AEF7287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r3,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r3, r0, r2</a:t>
            </a:r>
          </a:p>
          <a:p>
            <a:pPr lvl="1"/>
            <a:r>
              <a:rPr lang="pt-BR" dirty="0"/>
              <a:t>(b) ADDS r3, r0, r2</a:t>
            </a:r>
          </a:p>
          <a:p>
            <a:pPr lvl="1"/>
            <a:r>
              <a:rPr lang="pt-BR" dirty="0"/>
              <a:t>(c) SUBS r3, r0, r0</a:t>
            </a:r>
          </a:p>
          <a:p>
            <a:pPr lvl="1"/>
            <a:r>
              <a:rPr lang="pt-BR" dirty="0"/>
              <a:t>(d) LSL r3, r0, #1</a:t>
            </a:r>
          </a:p>
          <a:p>
            <a:pPr lvl="1"/>
            <a:r>
              <a:rPr lang="pt-BR" dirty="0"/>
              <a:t>(e) LSRS r3, r1, #1</a:t>
            </a:r>
          </a:p>
          <a:p>
            <a:pPr lvl="1"/>
            <a:r>
              <a:rPr lang="pt-BR" dirty="0"/>
              <a:t>(f) ANDS r3, r0, r2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6B2FE4-3D6B-5F71-9A58-0E695C18479A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1267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3514</TotalTime>
  <Words>2063</Words>
  <Application>Microsoft Office PowerPoint</Application>
  <PresentationFormat>On-screen Show (4:3)</PresentationFormat>
  <Paragraphs>249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Bookman Old Style (Headings)</vt:lpstr>
      <vt:lpstr>Gill Sans Light</vt:lpstr>
      <vt:lpstr>Bookman Old Style</vt:lpstr>
      <vt:lpstr>Calibri</vt:lpstr>
      <vt:lpstr>Cambria Math</vt:lpstr>
      <vt:lpstr>Consolas</vt:lpstr>
      <vt:lpstr>Gill Sans MT</vt:lpstr>
      <vt:lpstr>Times New Roman</vt:lpstr>
      <vt:lpstr>Wingdings</vt:lpstr>
      <vt:lpstr>Wingdings 3</vt:lpstr>
      <vt:lpstr>Origin</vt:lpstr>
      <vt:lpstr>Z. Gu</vt:lpstr>
      <vt:lpstr>Barrel Shifter: Explanations</vt:lpstr>
      <vt:lpstr>Carry and Overflow Flags w/ Arithmetic Instructions</vt:lpstr>
      <vt:lpstr>Bit Manipulations</vt:lpstr>
      <vt:lpstr>Bit Manipulations</vt:lpstr>
      <vt:lpstr>Clearing a Register </vt:lpstr>
      <vt:lpstr>Set bits</vt:lpstr>
      <vt:lpstr>Add two 128-bit numbers</vt:lpstr>
      <vt:lpstr>Absolute value</vt:lpstr>
      <vt:lpstr>Arithmetic with Shifts</vt:lpstr>
      <vt:lpstr>Assembly Programming</vt:lpstr>
      <vt:lpstr>Shift LSL</vt:lpstr>
      <vt:lpstr>Shift LSLS</vt:lpstr>
      <vt:lpstr>Shift ASR</vt:lpstr>
      <vt:lpstr>Shift LSR ASR</vt:lpstr>
      <vt:lpstr>Shift LSRS ASR</vt:lpstr>
      <vt:lpstr>Multiply without MUL</vt:lpstr>
      <vt:lpstr>Count number of ones</vt:lpstr>
      <vt:lpstr>Count the number of zeros</vt:lpstr>
      <vt:lpstr>Flags ANDS</vt:lpstr>
      <vt:lpstr>Flags ADDS</vt:lpstr>
      <vt:lpstr>Flags</vt:lpstr>
      <vt:lpstr>Flags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347</cp:revision>
  <dcterms:created xsi:type="dcterms:W3CDTF">2014-02-05T02:41:42Z</dcterms:created>
  <dcterms:modified xsi:type="dcterms:W3CDTF">2026-10-08T01:58:49Z</dcterms:modified>
</cp:coreProperties>
</file>