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4"/>
  </p:notesMasterIdLst>
  <p:handoutMasterIdLst>
    <p:handoutMasterId r:id="rId45"/>
  </p:handoutMasterIdLst>
  <p:sldIdLst>
    <p:sldId id="385" r:id="rId3"/>
    <p:sldId id="466" r:id="rId4"/>
    <p:sldId id="415" r:id="rId5"/>
    <p:sldId id="418" r:id="rId6"/>
    <p:sldId id="417" r:id="rId7"/>
    <p:sldId id="422" r:id="rId8"/>
    <p:sldId id="468" r:id="rId9"/>
    <p:sldId id="421" r:id="rId10"/>
    <p:sldId id="416" r:id="rId11"/>
    <p:sldId id="414" r:id="rId12"/>
    <p:sldId id="439" r:id="rId13"/>
    <p:sldId id="431" r:id="rId14"/>
    <p:sldId id="432" r:id="rId15"/>
    <p:sldId id="433" r:id="rId16"/>
    <p:sldId id="434" r:id="rId17"/>
    <p:sldId id="435" r:id="rId18"/>
    <p:sldId id="436" r:id="rId19"/>
    <p:sldId id="437" r:id="rId20"/>
    <p:sldId id="438" r:id="rId21"/>
    <p:sldId id="440" r:id="rId22"/>
    <p:sldId id="441" r:id="rId23"/>
    <p:sldId id="442" r:id="rId24"/>
    <p:sldId id="443" r:id="rId25"/>
    <p:sldId id="444" r:id="rId26"/>
    <p:sldId id="445" r:id="rId27"/>
    <p:sldId id="446" r:id="rId28"/>
    <p:sldId id="447" r:id="rId29"/>
    <p:sldId id="448" r:id="rId30"/>
    <p:sldId id="449" r:id="rId31"/>
    <p:sldId id="450" r:id="rId32"/>
    <p:sldId id="451" r:id="rId33"/>
    <p:sldId id="452" r:id="rId34"/>
    <p:sldId id="453" r:id="rId35"/>
    <p:sldId id="457" r:id="rId36"/>
    <p:sldId id="462" r:id="rId37"/>
    <p:sldId id="455" r:id="rId38"/>
    <p:sldId id="458" r:id="rId39"/>
    <p:sldId id="459" r:id="rId40"/>
    <p:sldId id="461" r:id="rId41"/>
    <p:sldId id="460" r:id="rId42"/>
    <p:sldId id="46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E27E76-415E-49E3-8630-DBF574AD81CF}" v="81" dt="2025-10-05T22:55:56.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801" autoAdjust="0"/>
    <p:restoredTop sz="73968" autoAdjust="0"/>
  </p:normalViewPr>
  <p:slideViewPr>
    <p:cSldViewPr>
      <p:cViewPr varScale="1">
        <p:scale>
          <a:sx n="61" d="100"/>
          <a:sy n="61" d="100"/>
        </p:scale>
        <p:origin x="1714" y="43"/>
      </p:cViewPr>
      <p:guideLst>
        <p:guide orient="horz" pos="2160"/>
        <p:guide pos="3840"/>
      </p:guideLst>
    </p:cSldViewPr>
  </p:slideViewPr>
  <p:notesTextViewPr>
    <p:cViewPr>
      <p:scale>
        <a:sx n="125" d="100"/>
        <a:sy n="125" d="100"/>
      </p:scale>
      <p:origin x="0" y="0"/>
    </p:cViewPr>
  </p:notesTextViewPr>
  <p:sorterViewPr>
    <p:cViewPr varScale="1">
      <p:scale>
        <a:sx n="100" d="100"/>
        <a:sy n="100" d="100"/>
      </p:scale>
      <p:origin x="0" y="-11784"/>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5-10-05T23:52:45.576" v="1510" actId="2696"/>
      <pc:docMkLst>
        <pc:docMk/>
      </pc:docMkLst>
      <pc:sldChg chg="addSp delSp modSp del mod">
        <pc:chgData name="Zonghua Gu" userId="9a7e1853e1951ef5" providerId="LiveId" clId="{CF1FAA12-072C-4ED5-BA76-0FFFAEFDB88A}" dt="2025-09-23T21:57:38.948" v="1286" actId="47"/>
        <pc:sldMkLst>
          <pc:docMk/>
          <pc:sldMk cId="1683281344" sldId="256"/>
        </pc:sldMkLst>
      </pc:sldChg>
      <pc:sldChg chg="modSp add del mod">
        <pc:chgData name="Zonghua Gu" userId="9a7e1853e1951ef5" providerId="LiveId" clId="{CF1FAA12-072C-4ED5-BA76-0FFFAEFDB88A}" dt="2025-10-05T22:55:58.587" v="1509" actId="20577"/>
        <pc:sldMkLst>
          <pc:docMk/>
          <pc:sldMk cId="0" sldId="385"/>
        </pc:sldMkLst>
        <pc:spChg chg="mod">
          <ac:chgData name="Zonghua Gu" userId="9a7e1853e1951ef5" providerId="LiveId" clId="{CF1FAA12-072C-4ED5-BA76-0FFFAEFDB88A}" dt="2025-10-05T20:28:40.015" v="1498" actId="1076"/>
          <ac:spMkLst>
            <pc:docMk/>
            <pc:sldMk cId="0" sldId="385"/>
            <ac:spMk id="10" creationId="{00000000-0000-0000-0000-000000000000}"/>
          </ac:spMkLst>
        </pc:spChg>
        <pc:spChg chg="mod">
          <ac:chgData name="Zonghua Gu" userId="9a7e1853e1951ef5" providerId="LiveId" clId="{CF1FAA12-072C-4ED5-BA76-0FFFAEFDB88A}" dt="2025-10-05T22:55:58.587" v="1509" actId="20577"/>
          <ac:spMkLst>
            <pc:docMk/>
            <pc:sldMk cId="0" sldId="385"/>
            <ac:spMk id="11" creationId="{00000000-0000-0000-0000-000000000000}"/>
          </ac:spMkLst>
        </pc:spChg>
        <pc:spChg chg="mod">
          <ac:chgData name="Zonghua Gu" userId="9a7e1853e1951ef5" providerId="LiveId" clId="{CF1FAA12-072C-4ED5-BA76-0FFFAEFDB88A}" dt="2025-10-05T20:28:35.014" v="1497" actId="1076"/>
          <ac:spMkLst>
            <pc:docMk/>
            <pc:sldMk cId="0" sldId="385"/>
            <ac:spMk id="12" creationId="{00000000-0000-0000-0000-000000000000}"/>
          </ac:spMkLst>
        </pc:spChg>
        <pc:spChg chg="mod">
          <ac:chgData name="Zonghua Gu" userId="9a7e1853e1951ef5" providerId="LiveId" clId="{CF1FAA12-072C-4ED5-BA76-0FFFAEFDB88A}" dt="2025-10-05T20:28:32.595" v="1496" actId="1076"/>
          <ac:spMkLst>
            <pc:docMk/>
            <pc:sldMk cId="0" sldId="385"/>
            <ac:spMk id="14" creationId="{00000000-0000-0000-0000-000000000000}"/>
          </ac:spMkLst>
        </pc:spChg>
      </pc:sldChg>
      <pc:sldChg chg="addSp modSp mod">
        <pc:chgData name="Zonghua Gu" userId="9a7e1853e1951ef5" providerId="LiveId" clId="{CF1FAA12-072C-4ED5-BA76-0FFFAEFDB88A}" dt="2025-09-23T21:29:14.907" v="364" actId="1076"/>
        <pc:sldMkLst>
          <pc:docMk/>
          <pc:sldMk cId="726325066" sldId="414"/>
        </pc:sldMkLst>
        <pc:spChg chg="add mod">
          <ac:chgData name="Zonghua Gu" userId="9a7e1853e1951ef5" providerId="LiveId" clId="{CF1FAA12-072C-4ED5-BA76-0FFFAEFDB88A}" dt="2025-09-23T21:29:14.907" v="364" actId="1076"/>
          <ac:spMkLst>
            <pc:docMk/>
            <pc:sldMk cId="726325066" sldId="414"/>
            <ac:spMk id="5" creationId="{49BD453E-2891-7F96-AC2F-8B399C985A6E}"/>
          </ac:spMkLst>
        </pc:spChg>
      </pc:sldChg>
      <pc:sldChg chg="addSp modSp mod">
        <pc:chgData name="Zonghua Gu" userId="9a7e1853e1951ef5" providerId="LiveId" clId="{CF1FAA12-072C-4ED5-BA76-0FFFAEFDB88A}" dt="2025-09-23T21:26:52.434" v="309" actId="1076"/>
        <pc:sldMkLst>
          <pc:docMk/>
          <pc:sldMk cId="1475896280" sldId="416"/>
        </pc:sldMkLst>
        <pc:spChg chg="add mod">
          <ac:chgData name="Zonghua Gu" userId="9a7e1853e1951ef5" providerId="LiveId" clId="{CF1FAA12-072C-4ED5-BA76-0FFFAEFDB88A}" dt="2025-09-23T21:26:52.434" v="309" actId="1076"/>
          <ac:spMkLst>
            <pc:docMk/>
            <pc:sldMk cId="1475896280" sldId="416"/>
            <ac:spMk id="4" creationId="{C07FF5D1-4CAC-1A5F-F4FB-834F1750F9BC}"/>
          </ac:spMkLst>
        </pc:spChg>
      </pc:sldChg>
      <pc:sldChg chg="del">
        <pc:chgData name="Zonghua Gu" userId="9a7e1853e1951ef5" providerId="LiveId" clId="{CF1FAA12-072C-4ED5-BA76-0FFFAEFDB88A}" dt="2025-09-22T22:38:53.870" v="30" actId="47"/>
        <pc:sldMkLst>
          <pc:docMk/>
          <pc:sldMk cId="3873411045" sldId="419"/>
        </pc:sldMkLst>
      </pc:sldChg>
      <pc:sldChg chg="addSp modSp mod">
        <pc:chgData name="Zonghua Gu" userId="9a7e1853e1951ef5" providerId="LiveId" clId="{CF1FAA12-072C-4ED5-BA76-0FFFAEFDB88A}" dt="2025-09-23T21:25:29.938" v="293" actId="1076"/>
        <pc:sldMkLst>
          <pc:docMk/>
          <pc:sldMk cId="3986949956" sldId="421"/>
        </pc:sldMkLst>
        <pc:spChg chg="add mod">
          <ac:chgData name="Zonghua Gu" userId="9a7e1853e1951ef5" providerId="LiveId" clId="{CF1FAA12-072C-4ED5-BA76-0FFFAEFDB88A}" dt="2025-09-23T21:25:29.938" v="293" actId="1076"/>
          <ac:spMkLst>
            <pc:docMk/>
            <pc:sldMk cId="3986949956" sldId="421"/>
            <ac:spMk id="9" creationId="{A98B6116-AF04-5FF2-3B55-0E8FCB98C669}"/>
          </ac:spMkLst>
        </pc:spChg>
      </pc:sldChg>
      <pc:sldChg chg="addSp modSp mod">
        <pc:chgData name="Zonghua Gu" userId="9a7e1853e1951ef5" providerId="LiveId" clId="{CF1FAA12-072C-4ED5-BA76-0FFFAEFDB88A}" dt="2025-09-23T21:31:19.104" v="414" actId="20577"/>
        <pc:sldMkLst>
          <pc:docMk/>
          <pc:sldMk cId="2278438296" sldId="431"/>
        </pc:sldMkLst>
        <pc:spChg chg="add mod">
          <ac:chgData name="Zonghua Gu" userId="9a7e1853e1951ef5" providerId="LiveId" clId="{CF1FAA12-072C-4ED5-BA76-0FFFAEFDB88A}" dt="2025-09-23T21:31:19.104" v="414" actId="20577"/>
          <ac:spMkLst>
            <pc:docMk/>
            <pc:sldMk cId="2278438296" sldId="431"/>
            <ac:spMk id="4" creationId="{19AC2682-F407-6673-F0E0-AB6B75ADA87F}"/>
          </ac:spMkLst>
        </pc:spChg>
      </pc:sldChg>
      <pc:sldChg chg="addSp modSp mod">
        <pc:chgData name="Zonghua Gu" userId="9a7e1853e1951ef5" providerId="LiveId" clId="{CF1FAA12-072C-4ED5-BA76-0FFFAEFDB88A}" dt="2025-09-23T21:32:14.904" v="436" actId="20577"/>
        <pc:sldMkLst>
          <pc:docMk/>
          <pc:sldMk cId="2309974138" sldId="432"/>
        </pc:sldMkLst>
        <pc:spChg chg="add mod">
          <ac:chgData name="Zonghua Gu" userId="9a7e1853e1951ef5" providerId="LiveId" clId="{CF1FAA12-072C-4ED5-BA76-0FFFAEFDB88A}" dt="2025-09-23T21:32:14.904" v="436" actId="20577"/>
          <ac:spMkLst>
            <pc:docMk/>
            <pc:sldMk cId="2309974138" sldId="432"/>
            <ac:spMk id="5" creationId="{041D9F23-81A6-6E5B-BE99-1538E9B0D56A}"/>
          </ac:spMkLst>
        </pc:spChg>
      </pc:sldChg>
      <pc:sldChg chg="addSp modSp mod">
        <pc:chgData name="Zonghua Gu" userId="9a7e1853e1951ef5" providerId="LiveId" clId="{CF1FAA12-072C-4ED5-BA76-0FFFAEFDB88A}" dt="2025-09-23T21:32:19.519" v="437" actId="20577"/>
        <pc:sldMkLst>
          <pc:docMk/>
          <pc:sldMk cId="2863896697" sldId="433"/>
        </pc:sldMkLst>
        <pc:spChg chg="add mod">
          <ac:chgData name="Zonghua Gu" userId="9a7e1853e1951ef5" providerId="LiveId" clId="{CF1FAA12-072C-4ED5-BA76-0FFFAEFDB88A}" dt="2025-09-23T21:32:19.519" v="437" actId="20577"/>
          <ac:spMkLst>
            <pc:docMk/>
            <pc:sldMk cId="2863896697" sldId="433"/>
            <ac:spMk id="5" creationId="{F0186F08-4D6B-BE9F-5615-A81498DA632C}"/>
          </ac:spMkLst>
        </pc:spChg>
      </pc:sldChg>
      <pc:sldChg chg="addSp modSp mod modNotes modNotesTx">
        <pc:chgData name="Zonghua Gu" userId="9a7e1853e1951ef5" providerId="LiveId" clId="{CF1FAA12-072C-4ED5-BA76-0FFFAEFDB88A}" dt="2025-09-23T21:35:39.447" v="474"/>
        <pc:sldMkLst>
          <pc:docMk/>
          <pc:sldMk cId="3832501420" sldId="434"/>
        </pc:sldMkLst>
        <pc:spChg chg="add mod">
          <ac:chgData name="Zonghua Gu" userId="9a7e1853e1951ef5" providerId="LiveId" clId="{CF1FAA12-072C-4ED5-BA76-0FFFAEFDB88A}" dt="2025-09-23T21:35:39.447" v="474"/>
          <ac:spMkLst>
            <pc:docMk/>
            <pc:sldMk cId="3832501420" sldId="434"/>
            <ac:spMk id="5" creationId="{F4F95B37-3C26-1BAF-CC13-F0143A3E137C}"/>
          </ac:spMkLst>
        </pc:spChg>
      </pc:sldChg>
      <pc:sldChg chg="addSp modSp mod">
        <pc:chgData name="Zonghua Gu" userId="9a7e1853e1951ef5" providerId="LiveId" clId="{CF1FAA12-072C-4ED5-BA76-0FFFAEFDB88A}" dt="2025-09-23T21:32:48.497" v="456" actId="20577"/>
        <pc:sldMkLst>
          <pc:docMk/>
          <pc:sldMk cId="146524925" sldId="435"/>
        </pc:sldMkLst>
        <pc:spChg chg="add mod">
          <ac:chgData name="Zonghua Gu" userId="9a7e1853e1951ef5" providerId="LiveId" clId="{CF1FAA12-072C-4ED5-BA76-0FFFAEFDB88A}" dt="2025-09-23T21:32:48.497" v="456" actId="20577"/>
          <ac:spMkLst>
            <pc:docMk/>
            <pc:sldMk cId="146524925" sldId="435"/>
            <ac:spMk id="5" creationId="{FF225481-EC8D-FE76-A2F4-AF02BBE46545}"/>
          </ac:spMkLst>
        </pc:spChg>
      </pc:sldChg>
      <pc:sldChg chg="addSp modSp mod">
        <pc:chgData name="Zonghua Gu" userId="9a7e1853e1951ef5" providerId="LiveId" clId="{CF1FAA12-072C-4ED5-BA76-0FFFAEFDB88A}" dt="2025-09-23T21:32:53.250" v="458" actId="20577"/>
        <pc:sldMkLst>
          <pc:docMk/>
          <pc:sldMk cId="2750495701" sldId="436"/>
        </pc:sldMkLst>
        <pc:spChg chg="add mod">
          <ac:chgData name="Zonghua Gu" userId="9a7e1853e1951ef5" providerId="LiveId" clId="{CF1FAA12-072C-4ED5-BA76-0FFFAEFDB88A}" dt="2025-09-23T21:32:53.250" v="458" actId="20577"/>
          <ac:spMkLst>
            <pc:docMk/>
            <pc:sldMk cId="2750495701" sldId="436"/>
            <ac:spMk id="5" creationId="{4F56A777-5BFA-A625-77A9-CAA3C3895354}"/>
          </ac:spMkLst>
        </pc:spChg>
      </pc:sldChg>
      <pc:sldChg chg="addSp modSp mod">
        <pc:chgData name="Zonghua Gu" userId="9a7e1853e1951ef5" providerId="LiveId" clId="{CF1FAA12-072C-4ED5-BA76-0FFFAEFDB88A}" dt="2025-09-23T21:33:01.490" v="466" actId="20577"/>
        <pc:sldMkLst>
          <pc:docMk/>
          <pc:sldMk cId="2834939354" sldId="437"/>
        </pc:sldMkLst>
        <pc:spChg chg="add mod">
          <ac:chgData name="Zonghua Gu" userId="9a7e1853e1951ef5" providerId="LiveId" clId="{CF1FAA12-072C-4ED5-BA76-0FFFAEFDB88A}" dt="2025-09-23T21:33:01.490" v="466" actId="20577"/>
          <ac:spMkLst>
            <pc:docMk/>
            <pc:sldMk cId="2834939354" sldId="437"/>
            <ac:spMk id="5" creationId="{1EA68450-489B-6BD2-3B33-7D68B3585C34}"/>
          </ac:spMkLst>
        </pc:spChg>
      </pc:sldChg>
      <pc:sldChg chg="addSp modSp mod">
        <pc:chgData name="Zonghua Gu" userId="9a7e1853e1951ef5" providerId="LiveId" clId="{CF1FAA12-072C-4ED5-BA76-0FFFAEFDB88A}" dt="2025-09-23T21:35:49.012" v="476" actId="1035"/>
        <pc:sldMkLst>
          <pc:docMk/>
          <pc:sldMk cId="3838966378" sldId="438"/>
        </pc:sldMkLst>
        <pc:spChg chg="add mod">
          <ac:chgData name="Zonghua Gu" userId="9a7e1853e1951ef5" providerId="LiveId" clId="{CF1FAA12-072C-4ED5-BA76-0FFFAEFDB88A}" dt="2025-09-23T21:35:49.012" v="476" actId="1035"/>
          <ac:spMkLst>
            <pc:docMk/>
            <pc:sldMk cId="3838966378" sldId="438"/>
            <ac:spMk id="5" creationId="{8BFC1C68-B8A7-AE4C-5102-6EB2BB00612D}"/>
          </ac:spMkLst>
        </pc:spChg>
      </pc:sldChg>
      <pc:sldChg chg="addSp modSp mod">
        <pc:chgData name="Zonghua Gu" userId="9a7e1853e1951ef5" providerId="LiveId" clId="{CF1FAA12-072C-4ED5-BA76-0FFFAEFDB88A}" dt="2025-09-23T21:30:44.538" v="398" actId="20577"/>
        <pc:sldMkLst>
          <pc:docMk/>
          <pc:sldMk cId="1742566429" sldId="439"/>
        </pc:sldMkLst>
        <pc:spChg chg="add mod">
          <ac:chgData name="Zonghua Gu" userId="9a7e1853e1951ef5" providerId="LiveId" clId="{CF1FAA12-072C-4ED5-BA76-0FFFAEFDB88A}" dt="2025-09-23T21:30:44.538" v="398" actId="20577"/>
          <ac:spMkLst>
            <pc:docMk/>
            <pc:sldMk cId="1742566429" sldId="439"/>
            <ac:spMk id="4" creationId="{E062AF3E-6DC5-B187-1E1C-805A92DC6722}"/>
          </ac:spMkLst>
        </pc:spChg>
      </pc:sldChg>
      <pc:sldChg chg="addSp modSp mod">
        <pc:chgData name="Zonghua Gu" userId="9a7e1853e1951ef5" providerId="LiveId" clId="{CF1FAA12-072C-4ED5-BA76-0FFFAEFDB88A}" dt="2025-09-23T21:37:13.601" v="494" actId="20577"/>
        <pc:sldMkLst>
          <pc:docMk/>
          <pc:sldMk cId="2885802582" sldId="440"/>
        </pc:sldMkLst>
        <pc:spChg chg="add mod">
          <ac:chgData name="Zonghua Gu" userId="9a7e1853e1951ef5" providerId="LiveId" clId="{CF1FAA12-072C-4ED5-BA76-0FFFAEFDB88A}" dt="2025-09-23T21:37:13.601" v="494" actId="20577"/>
          <ac:spMkLst>
            <pc:docMk/>
            <pc:sldMk cId="2885802582" sldId="440"/>
            <ac:spMk id="5" creationId="{1E4D90BD-122C-C325-0E09-E7955107167B}"/>
          </ac:spMkLst>
        </pc:spChg>
      </pc:sldChg>
      <pc:sldChg chg="addSp modSp mod">
        <pc:chgData name="Zonghua Gu" userId="9a7e1853e1951ef5" providerId="LiveId" clId="{CF1FAA12-072C-4ED5-BA76-0FFFAEFDB88A}" dt="2025-09-23T21:44:32.400" v="782" actId="20577"/>
        <pc:sldMkLst>
          <pc:docMk/>
          <pc:sldMk cId="3676657828" sldId="441"/>
        </pc:sldMkLst>
        <pc:spChg chg="add mod">
          <ac:chgData name="Zonghua Gu" userId="9a7e1853e1951ef5" providerId="LiveId" clId="{CF1FAA12-072C-4ED5-BA76-0FFFAEFDB88A}" dt="2025-09-23T21:44:32.400" v="782" actId="20577"/>
          <ac:spMkLst>
            <pc:docMk/>
            <pc:sldMk cId="3676657828" sldId="441"/>
            <ac:spMk id="5" creationId="{1F3DDE7B-69FD-6C7D-F17B-34276F4FB260}"/>
          </ac:spMkLst>
        </pc:spChg>
      </pc:sldChg>
      <pc:sldChg chg="addSp delSp modSp mod">
        <pc:chgData name="Zonghua Gu" userId="9a7e1853e1951ef5" providerId="LiveId" clId="{CF1FAA12-072C-4ED5-BA76-0FFFAEFDB88A}" dt="2025-09-23T21:41:09.876" v="673" actId="20577"/>
        <pc:sldMkLst>
          <pc:docMk/>
          <pc:sldMk cId="285414097" sldId="442"/>
        </pc:sldMkLst>
        <pc:spChg chg="add mod">
          <ac:chgData name="Zonghua Gu" userId="9a7e1853e1951ef5" providerId="LiveId" clId="{CF1FAA12-072C-4ED5-BA76-0FFFAEFDB88A}" dt="2025-09-23T21:41:09.876" v="673" actId="20577"/>
          <ac:spMkLst>
            <pc:docMk/>
            <pc:sldMk cId="285414097" sldId="442"/>
            <ac:spMk id="7" creationId="{D6EF1310-DE49-1E78-E233-45CAD743734C}"/>
          </ac:spMkLst>
        </pc:spChg>
      </pc:sldChg>
      <pc:sldChg chg="addSp modSp mod">
        <pc:chgData name="Zonghua Gu" userId="9a7e1853e1951ef5" providerId="LiveId" clId="{CF1FAA12-072C-4ED5-BA76-0FFFAEFDB88A}" dt="2025-09-23T21:44:12.573" v="775" actId="1076"/>
        <pc:sldMkLst>
          <pc:docMk/>
          <pc:sldMk cId="3756792601" sldId="443"/>
        </pc:sldMkLst>
        <pc:spChg chg="add mod">
          <ac:chgData name="Zonghua Gu" userId="9a7e1853e1951ef5" providerId="LiveId" clId="{CF1FAA12-072C-4ED5-BA76-0FFFAEFDB88A}" dt="2025-09-23T21:44:12.573" v="775" actId="1076"/>
          <ac:spMkLst>
            <pc:docMk/>
            <pc:sldMk cId="3756792601" sldId="443"/>
            <ac:spMk id="4" creationId="{39CFC6B2-B0BC-83FF-5513-D8E565EEA810}"/>
          </ac:spMkLst>
        </pc:spChg>
      </pc:sldChg>
      <pc:sldChg chg="addSp delSp modSp mod">
        <pc:chgData name="Zonghua Gu" userId="9a7e1853e1951ef5" providerId="LiveId" clId="{CF1FAA12-072C-4ED5-BA76-0FFFAEFDB88A}" dt="2025-09-23T21:46:23.537" v="931" actId="20577"/>
        <pc:sldMkLst>
          <pc:docMk/>
          <pc:sldMk cId="3455164108" sldId="444"/>
        </pc:sldMkLst>
        <pc:spChg chg="add mod">
          <ac:chgData name="Zonghua Gu" userId="9a7e1853e1951ef5" providerId="LiveId" clId="{CF1FAA12-072C-4ED5-BA76-0FFFAEFDB88A}" dt="2025-09-23T21:46:23.537" v="931" actId="20577"/>
          <ac:spMkLst>
            <pc:docMk/>
            <pc:sldMk cId="3455164108" sldId="444"/>
            <ac:spMk id="5" creationId="{43FE2505-306F-C0E1-D3C7-B412F145CB2A}"/>
          </ac:spMkLst>
        </pc:spChg>
      </pc:sldChg>
      <pc:sldChg chg="addSp modSp mod">
        <pc:chgData name="Zonghua Gu" userId="9a7e1853e1951ef5" providerId="LiveId" clId="{CF1FAA12-072C-4ED5-BA76-0FFFAEFDB88A}" dt="2025-09-23T21:47:04.424" v="934" actId="5793"/>
        <pc:sldMkLst>
          <pc:docMk/>
          <pc:sldMk cId="3392675784" sldId="452"/>
        </pc:sldMkLst>
        <pc:spChg chg="add mod">
          <ac:chgData name="Zonghua Gu" userId="9a7e1853e1951ef5" providerId="LiveId" clId="{CF1FAA12-072C-4ED5-BA76-0FFFAEFDB88A}" dt="2025-09-23T21:47:04.424" v="934" actId="5793"/>
          <ac:spMkLst>
            <pc:docMk/>
            <pc:sldMk cId="3392675784" sldId="452"/>
            <ac:spMk id="4" creationId="{F174FB0F-C263-AF42-7FDD-9D124C8AF137}"/>
          </ac:spMkLst>
        </pc:spChg>
      </pc:sldChg>
      <pc:sldChg chg="addSp modSp mod">
        <pc:chgData name="Zonghua Gu" userId="9a7e1853e1951ef5" providerId="LiveId" clId="{CF1FAA12-072C-4ED5-BA76-0FFFAEFDB88A}" dt="2025-09-23T21:48:02.843" v="991" actId="20577"/>
        <pc:sldMkLst>
          <pc:docMk/>
          <pc:sldMk cId="3076723398" sldId="453"/>
        </pc:sldMkLst>
        <pc:spChg chg="add mod">
          <ac:chgData name="Zonghua Gu" userId="9a7e1853e1951ef5" providerId="LiveId" clId="{CF1FAA12-072C-4ED5-BA76-0FFFAEFDB88A}" dt="2025-09-23T21:48:02.843" v="991" actId="20577"/>
          <ac:spMkLst>
            <pc:docMk/>
            <pc:sldMk cId="3076723398" sldId="453"/>
            <ac:spMk id="4" creationId="{0F8C246E-3551-9091-9323-EE2E4310AA3E}"/>
          </ac:spMkLst>
        </pc:spChg>
      </pc:sldChg>
      <pc:sldChg chg="addSp modSp mod">
        <pc:chgData name="Zonghua Gu" userId="9a7e1853e1951ef5" providerId="LiveId" clId="{CF1FAA12-072C-4ED5-BA76-0FFFAEFDB88A}" dt="2025-09-23T21:54:07.224" v="1186" actId="6549"/>
        <pc:sldMkLst>
          <pc:docMk/>
          <pc:sldMk cId="3568017273" sldId="455"/>
        </pc:sldMkLst>
        <pc:spChg chg="add mod">
          <ac:chgData name="Zonghua Gu" userId="9a7e1853e1951ef5" providerId="LiveId" clId="{CF1FAA12-072C-4ED5-BA76-0FFFAEFDB88A}" dt="2025-09-23T21:54:07.224" v="1186" actId="6549"/>
          <ac:spMkLst>
            <pc:docMk/>
            <pc:sldMk cId="3568017273" sldId="455"/>
            <ac:spMk id="5" creationId="{FB125199-1365-BE9B-3293-1AEEA49CB03E}"/>
          </ac:spMkLst>
        </pc:spChg>
      </pc:sldChg>
      <pc:sldChg chg="addSp modSp mod">
        <pc:chgData name="Zonghua Gu" userId="9a7e1853e1951ef5" providerId="LiveId" clId="{CF1FAA12-072C-4ED5-BA76-0FFFAEFDB88A}" dt="2025-09-23T21:48:40.215" v="1011" actId="14100"/>
        <pc:sldMkLst>
          <pc:docMk/>
          <pc:sldMk cId="2984234119" sldId="457"/>
        </pc:sldMkLst>
        <pc:spChg chg="add mod">
          <ac:chgData name="Zonghua Gu" userId="9a7e1853e1951ef5" providerId="LiveId" clId="{CF1FAA12-072C-4ED5-BA76-0FFFAEFDB88A}" dt="2025-09-23T21:48:40.215" v="1011" actId="14100"/>
          <ac:spMkLst>
            <pc:docMk/>
            <pc:sldMk cId="2984234119" sldId="457"/>
            <ac:spMk id="4" creationId="{12DD773A-FEDB-8EBB-750D-6D2963D49BC4}"/>
          </ac:spMkLst>
        </pc:spChg>
      </pc:sldChg>
      <pc:sldChg chg="addSp modSp mod">
        <pc:chgData name="Zonghua Gu" userId="9a7e1853e1951ef5" providerId="LiveId" clId="{CF1FAA12-072C-4ED5-BA76-0FFFAEFDB88A}" dt="2025-09-23T21:54:21.954" v="1190" actId="20577"/>
        <pc:sldMkLst>
          <pc:docMk/>
          <pc:sldMk cId="1425807069" sldId="458"/>
        </pc:sldMkLst>
        <pc:spChg chg="mod">
          <ac:chgData name="Zonghua Gu" userId="9a7e1853e1951ef5" providerId="LiveId" clId="{CF1FAA12-072C-4ED5-BA76-0FFFAEFDB88A}" dt="2025-09-23T21:53:41.583" v="1169" actId="20577"/>
          <ac:spMkLst>
            <pc:docMk/>
            <pc:sldMk cId="1425807069" sldId="458"/>
            <ac:spMk id="2" creationId="{00000000-0000-0000-0000-000000000000}"/>
          </ac:spMkLst>
        </pc:spChg>
        <pc:spChg chg="add mod">
          <ac:chgData name="Zonghua Gu" userId="9a7e1853e1951ef5" providerId="LiveId" clId="{CF1FAA12-072C-4ED5-BA76-0FFFAEFDB88A}" dt="2025-09-23T21:54:21.954" v="1190" actId="20577"/>
          <ac:spMkLst>
            <pc:docMk/>
            <pc:sldMk cId="1425807069" sldId="458"/>
            <ac:spMk id="4" creationId="{E422945C-B912-E98A-1B7D-7FB66B478952}"/>
          </ac:spMkLst>
        </pc:spChg>
      </pc:sldChg>
      <pc:sldChg chg="addSp modSp mod">
        <pc:chgData name="Zonghua Gu" userId="9a7e1853e1951ef5" providerId="LiveId" clId="{CF1FAA12-072C-4ED5-BA76-0FFFAEFDB88A}" dt="2025-09-23T21:54:42.611" v="1211" actId="20577"/>
        <pc:sldMkLst>
          <pc:docMk/>
          <pc:sldMk cId="3091737479" sldId="459"/>
        </pc:sldMkLst>
        <pc:spChg chg="add mod">
          <ac:chgData name="Zonghua Gu" userId="9a7e1853e1951ef5" providerId="LiveId" clId="{CF1FAA12-072C-4ED5-BA76-0FFFAEFDB88A}" dt="2025-09-23T21:54:42.611" v="1211" actId="20577"/>
          <ac:spMkLst>
            <pc:docMk/>
            <pc:sldMk cId="3091737479" sldId="459"/>
            <ac:spMk id="4" creationId="{A2E826D9-4BDE-1B19-8091-4E2A0109CE18}"/>
          </ac:spMkLst>
        </pc:spChg>
      </pc:sldChg>
      <pc:sldChg chg="addSp modSp mod">
        <pc:chgData name="Zonghua Gu" userId="9a7e1853e1951ef5" providerId="LiveId" clId="{CF1FAA12-072C-4ED5-BA76-0FFFAEFDB88A}" dt="2025-09-23T21:55:51.214" v="1271" actId="20577"/>
        <pc:sldMkLst>
          <pc:docMk/>
          <pc:sldMk cId="2633759448" sldId="460"/>
        </pc:sldMkLst>
        <pc:spChg chg="add mod">
          <ac:chgData name="Zonghua Gu" userId="9a7e1853e1951ef5" providerId="LiveId" clId="{CF1FAA12-072C-4ED5-BA76-0FFFAEFDB88A}" dt="2025-09-23T21:55:51.214" v="1271" actId="20577"/>
          <ac:spMkLst>
            <pc:docMk/>
            <pc:sldMk cId="2633759448" sldId="460"/>
            <ac:spMk id="4" creationId="{3BD61D7E-104E-5DA6-4F0D-226E80168A0C}"/>
          </ac:spMkLst>
        </pc:spChg>
      </pc:sldChg>
      <pc:sldChg chg="addSp modSp mod">
        <pc:chgData name="Zonghua Gu" userId="9a7e1853e1951ef5" providerId="LiveId" clId="{CF1FAA12-072C-4ED5-BA76-0FFFAEFDB88A}" dt="2025-09-23T21:55:05.642" v="1226" actId="20577"/>
        <pc:sldMkLst>
          <pc:docMk/>
          <pc:sldMk cId="3778220886" sldId="461"/>
        </pc:sldMkLst>
        <pc:spChg chg="add mod">
          <ac:chgData name="Zonghua Gu" userId="9a7e1853e1951ef5" providerId="LiveId" clId="{CF1FAA12-072C-4ED5-BA76-0FFFAEFDB88A}" dt="2025-09-23T21:55:05.642" v="1226" actId="20577"/>
          <ac:spMkLst>
            <pc:docMk/>
            <pc:sldMk cId="3778220886" sldId="461"/>
            <ac:spMk id="4" creationId="{580A27E5-6E23-2583-1A13-FC8C875BDE4C}"/>
          </ac:spMkLst>
        </pc:spChg>
      </pc:sldChg>
      <pc:sldChg chg="addSp modSp mod">
        <pc:chgData name="Zonghua Gu" userId="9a7e1853e1951ef5" providerId="LiveId" clId="{CF1FAA12-072C-4ED5-BA76-0FFFAEFDB88A}" dt="2025-09-23T21:49:29.402" v="1047" actId="20577"/>
        <pc:sldMkLst>
          <pc:docMk/>
          <pc:sldMk cId="1400575851" sldId="462"/>
        </pc:sldMkLst>
        <pc:spChg chg="add mod">
          <ac:chgData name="Zonghua Gu" userId="9a7e1853e1951ef5" providerId="LiveId" clId="{CF1FAA12-072C-4ED5-BA76-0FFFAEFDB88A}" dt="2025-09-23T21:49:29.402" v="1047" actId="20577"/>
          <ac:spMkLst>
            <pc:docMk/>
            <pc:sldMk cId="1400575851" sldId="462"/>
            <ac:spMk id="4" creationId="{9B051F0A-D212-2D00-49C6-15350879D51D}"/>
          </ac:spMkLst>
        </pc:spChg>
      </pc:sldChg>
      <pc:sldChg chg="modSp mod">
        <pc:chgData name="Zonghua Gu" userId="9a7e1853e1951ef5" providerId="LiveId" clId="{CF1FAA12-072C-4ED5-BA76-0FFFAEFDB88A}" dt="2025-09-23T21:19:48.780" v="205" actId="14100"/>
        <pc:sldMkLst>
          <pc:docMk/>
          <pc:sldMk cId="2425134034" sldId="465"/>
        </pc:sldMkLst>
        <pc:spChg chg="mod">
          <ac:chgData name="Zonghua Gu" userId="9a7e1853e1951ef5" providerId="LiveId" clId="{CF1FAA12-072C-4ED5-BA76-0FFFAEFDB88A}" dt="2025-09-23T21:19:48.780" v="205" actId="14100"/>
          <ac:spMkLst>
            <pc:docMk/>
            <pc:sldMk cId="2425134034" sldId="465"/>
            <ac:spMk id="79" creationId="{00000000-0000-0000-0000-000000000000}"/>
          </ac:spMkLst>
        </pc:spChg>
      </pc:sldChg>
      <pc:sldChg chg="modSp new del mod">
        <pc:chgData name="Zonghua Gu" userId="9a7e1853e1951ef5" providerId="LiveId" clId="{CF1FAA12-072C-4ED5-BA76-0FFFAEFDB88A}" dt="2025-10-05T23:52:45.576" v="1510" actId="2696"/>
        <pc:sldMkLst>
          <pc:docMk/>
          <pc:sldMk cId="2972501320" sldId="467"/>
        </pc:sldMkLst>
      </pc:sldChg>
      <pc:sldChg chg="modSp new mod modNotesTx">
        <pc:chgData name="Zonghua Gu" userId="9a7e1853e1951ef5" providerId="LiveId" clId="{CF1FAA12-072C-4ED5-BA76-0FFFAEFDB88A}" dt="2025-09-29T01:16:41.149" v="1495" actId="20577"/>
        <pc:sldMkLst>
          <pc:docMk/>
          <pc:sldMk cId="2941114839" sldId="468"/>
        </pc:sldMkLst>
        <pc:spChg chg="mod">
          <ac:chgData name="Zonghua Gu" userId="9a7e1853e1951ef5" providerId="LiveId" clId="{CF1FAA12-072C-4ED5-BA76-0FFFAEFDB88A}" dt="2025-09-29T01:09:43.405" v="1290"/>
          <ac:spMkLst>
            <pc:docMk/>
            <pc:sldMk cId="2941114839" sldId="468"/>
            <ac:spMk id="2" creationId="{F1D851B8-D224-A5C0-C978-F21E09C7FBC0}"/>
          </ac:spMkLst>
        </pc:spChg>
        <pc:spChg chg="mod">
          <ac:chgData name="Zonghua Gu" userId="9a7e1853e1951ef5" providerId="LiveId" clId="{CF1FAA12-072C-4ED5-BA76-0FFFAEFDB88A}" dt="2025-09-29T01:16:41.149" v="1495" actId="20577"/>
          <ac:spMkLst>
            <pc:docMk/>
            <pc:sldMk cId="2941114839" sldId="468"/>
            <ac:spMk id="4" creationId="{A5B6F9A4-63DA-2E54-898F-B7515B482A4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10/5/2025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10/5/2025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stackoverflow.com/questions/42688466/arm-cortex-m-exception-entry-and-stack-framing" TargetMode="External"/><Relationship Id="rId4" Type="http://schemas.openxmlformats.org/officeDocument/2006/relationships/hyperlink" Target="https://users.ece.utexas.edu/~valvano/Volume1/E-Book/C12_Interrupts.htm" TargetMode="External"/><Relationship Id="rId5" Type="http://schemas.openxmlformats.org/officeDocument/2006/relationships/hyperlink" Target="https://interrupt.memfault.com/blog/cortex-m-rtos-context-switching" TargetMode="External"/><Relationship Id="rId6" Type="http://schemas.openxmlformats.org/officeDocument/2006/relationships/hyperlink" Target="https://developer.arm.com/documentation/ddi0403/d/System-Level-Architecture/System-Level-Programmers--Model/ARMv7-M-exception-model/Exception-entry-behavior" TargetMode="External"/><Relationship Id="rId7" Type="http://schemas.openxmlformats.org/officeDocument/2006/relationships/hyperlink" Target="https://community.arm.com/support-forums/f/keil-forum/34201/stacking-and-interrupts" TargetMode="External"/><Relationship Id="rId8" Type="http://schemas.openxmlformats.org/officeDocument/2006/relationships/hyperlink" Target="https://stackoverflow.com/questions/38292995/what-are-the-registers-pushed-to-the-stack-when-an-interrupt-occurs" TargetMode="External"/><Relationship Id="rId9" Type="http://schemas.openxmlformats.org/officeDocument/2006/relationships/hyperlink" Target="https://developer.arm.com/documentation/107706/latest/Exceptions-and-interrupts-overview/Stack-frames" TargetMode="External"/><Relationship Id="rId10" Type="http://schemas.openxmlformats.org/officeDocument/2006/relationships/hyperlink" Target="https://interrupt.memfault.com/blog/arm-cortex-m-exceptions-and-nvic" TargetMode="External"/><Relationship Id="rId11" Type="http://schemas.openxmlformats.org/officeDocument/2006/relationships/hyperlink" Target="https://www.embeddedrelated.com/showarticle/878.php" TargetMode="External"/><Relationship Id="rId12" Type="http://schemas.openxmlformats.org/officeDocument/2006/relationships/hyperlink" Target="https://interrupt.memfault.com/blog/cortex-m-hardfault-debug" TargetMode="External"/><Relationship Id="rId13" Type="http://schemas.openxmlformats.org/officeDocument/2006/relationships/hyperlink" Target="https://developer.arm.com/documentation/dui0646/latest/The-Cortex-M7-Processor/Exception-model/Exception-entry-and-return" TargetMode="External"/><Relationship Id="rId14" Type="http://schemas.openxmlformats.org/officeDocument/2006/relationships/hyperlink" Target="https://stackoverflow.com/questions/45461739/which-stack-is-used-when-entering-interrupt-handler-from-user-program-for-cortex" TargetMode="External"/><Relationship Id="rId15" Type="http://schemas.openxmlformats.org/officeDocument/2006/relationships/hyperlink" Target="https://www.ti.com/lit/pdf/spna218" TargetMode="External"/><Relationship Id="rId16" Type="http://schemas.openxmlformats.org/officeDocument/2006/relationships/hyperlink" Target="https://eng.auburn.edu/~nelson/courses/elec5260_6260/slides/ARM%20STM32F476%20Interrupts.pdf" TargetMode="External"/><Relationship Id="rId17" Type="http://schemas.openxmlformats.org/officeDocument/2006/relationships/hyperlink" Target="https://developer.arm.com/documentation/107706/latest/Use-case-examples/context-switch-fp/Task-initialization" TargetMode="External"/><Relationship Id="rId18" Type="http://schemas.openxmlformats.org/officeDocument/2006/relationships/hyperlink" Target="https://www.reddit.com/r/embedded/comments/c0pmlv/cortex_m3_can_anyone_help_me_understanding_how/" TargetMode="External"/><Relationship Id="rId19" Type="http://schemas.openxmlformats.org/officeDocument/2006/relationships/hyperlink" Target="https://www.embeddedrelated.com/showarticle/912.php" TargetMode="External"/><Relationship Id="rId20" Type="http://schemas.openxmlformats.org/officeDocument/2006/relationships/hyperlink" Target="https://www.embeddedrelated.com/thread/7406/stack-interrupt-function-call" TargetMode="External"/><Relationship Id="rId21" Type="http://schemas.openxmlformats.org/officeDocument/2006/relationships/hyperlink" Target="https://www.sciencedirect.com/topics/engineering/exception-return-mechanism" TargetMode="External"/><Relationship Id="rId22" Type="http://schemas.openxmlformats.org/officeDocument/2006/relationships/hyperlink" Target="https://e2e.ti.com/support/microcontrollers/arm-based-microcontrollers-group/arm-based-microcontrollers/f/arm-based-microcontrollers-forum/1094104/lp-am243-printing-the-stack-frame"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{{Pause=2}} There are two ways to monitor the logic state of an input pin, which is attached to a push button. One is polling, and the other is interrupt. The polling method is like picking up your phone every few seconds, to check whether you are getting a call. The interrupt method is like waiting for the phone to ring. Apparently, the interrupt method is more efficient. You are free to do whatever you should do, and pick up the phone, only when it rings. </a:t>
            </a:r>
          </a:p>
          <a:p>
            <a:endParaRPr lang="en-US" dirty="0"/>
          </a:p>
          <a:p>
            <a:r>
              <a:rPr lang="en-US" dirty="0"/>
              <a:t>{{Pause=1}} Here is a simplified pseudocode of the polling method. In the while loop, software constantly reads the input of {{Pause=0.1}} the pin attached to the push button. It won’t exit the loop until the button is pressed.  After the program exits from the while loop, it turns on the LED. The polling method is a busy waiting approach, in which the processor repeatedly reads the input until the button is pressed. It is easy to see, the polling method is simple but inefficient.  </a:t>
            </a:r>
          </a:p>
          <a:p>
            <a:endParaRPr lang="en-US" dirty="0"/>
          </a:p>
          <a:p>
            <a:r>
              <a:rPr lang="en-US" dirty="0"/>
              <a:t>{{Pause=1}} The interrupt approach is much more efficient than polling.  If the user presses the button, an electrical signal, called interrupt request, is generated. When the processor receives the interrupt request, it automatically suspends the execution of the regular program, and starts the execution of a special defined function called interrupt handler. {{Pause=0.5}} After the interrupt handler completes, the processor restarts the execution of the regular program from where it was stopped. {{Pause=0.5}}  Why do we call it an interrupt? {{Pause=0.5}} Because the execution of the regular program is suspended, and the processor is forced to take care of an interrupt request. {{Pause=0.5}} This video explains how interrupts work.</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1186064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xml:space="preserve">{{Pause=2}} Let’s quickly review the memory map. The memory address of ARM Cortex-M  has a total of 32 bits, supporting 4 gigabytes of memory space. The memory space is divided into six different pre-defined regions.  Each region is given for recommended usage. {{Pause=0.5}} The first region is code region. It is primarily used to store program code. It can also store data. The code region is on-chip memory, typically on-chip flash. The size of on-chip flash is limited to half a gigabyte.  The actual size of the on-chip flash varies based on different venders and different chips. {{Pause=0.5}} The second region is Static Random{{Pause=0.1}}  Access Memory (SRAM). It is primarily used to store data, such as heaps and stacks. We can also put code here. It supports half a gigabyte. {{Pause=0.5}} The third region is peripheral. These peripherals include AHB peripherals, such as G P I O, and A D C, {{Pause=0.1}} and APB peripherals, such as timers, and USART. {{Pause=0.5}} The next region is external RAM, which is an executable region for data. It is off-chip memory, primarily used to store large data blocks. {{Pause=0.5}} The next is the external device region, for devices such as an SD card. It also has a total of 1 gigabyte. {{Pause=0.5}} The last one is system region, which includes the N V I C, system timer, system control block, and vendor-specific memory.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1081940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{{Pause=2}} The internal SRAM region, is assigned a space of half a gigabyte. However, the capacity of on-chip SRAM, is often very small. For example, on-chip SRAM on STM32L4 has only 96 kilo-bytes. The SRAM is divided into several segments.  {{Pause=0.5}} the initialized data segment. It contains global and static variables, which the program gives some initial values. {{Pause=0.5}} The zero-initialized data segment. It contains all global, or static variables, which are uninitialized, or initialized to zero, in the program. {{Pause=0.5}} The heap segment. It holds all data objects, which an application creates dynamically at runtime. {{Pause=0.5}} The stack segment. Stack is used for various purposes. For example, the stack can store local variables of subroutines, save the runtime environment, and pass arguments to a subroutine.</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The stack is placed on the top of the internal SRAM memory, and it grows downwards. The heap is placed at the bottom of the free memory region, and it grows upwards. The stack and the heap, are located at the opposite end of, the free memory region. They grow in the opposite direction. In this way, the stack and the heap can take full advantage of the available memory space. When the stack meets the heap, free memory space is exhausted.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1248584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{{Pause=2}} While the code space can have as large as half a gigabyte, much of this space is reserved or not used. For example, STM32L4 chip has, only 1 MB, on-chip flash memory. The memory address of the on-chip flash memory, starts at 8000000 in hex, and ends at 8 0 F </a:t>
            </a:r>
            <a:r>
              <a:rPr lang="en-US" dirty="0" err="1"/>
              <a:t>F</a:t>
            </a:r>
            <a:r>
              <a:rPr lang="en-US" dirty="0"/>
              <a:t> </a:t>
            </a:r>
            <a:r>
              <a:rPr lang="en-US" dirty="0" err="1"/>
              <a:t>F</a:t>
            </a:r>
            <a:r>
              <a:rPr lang="en-US" dirty="0"/>
              <a:t> </a:t>
            </a:r>
            <a:r>
              <a:rPr lang="en-US" dirty="0" err="1"/>
              <a:t>F</a:t>
            </a:r>
            <a:r>
              <a:rPr lang="en-US" dirty="0"/>
              <a:t> </a:t>
            </a:r>
            <a:r>
              <a:rPr lang="en-US" dirty="0" err="1"/>
              <a:t>F</a:t>
            </a:r>
            <a:r>
              <a:rPr lang="en-US" dirty="0"/>
              <a:t> in hex.  Typically, the on-chip flash memory stores, the initial value of the stack pointer, {{Pause=0.3}} the interrupt vector table, {{Pause=0.3}} the text section, {{Pause=0.3}} the read-only data section, {{Pause=0.3}} and the read-write data section.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The text section consists of binary machine instructions. The read-only data section that defines the value of variables that cannot change at runtime.  The read-write data section that sets the initial values of statically allocated and modifiable variables.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In addition, a small memory region starting at 8000000 in hex, is mapping to, the lowest memory region starting at the address of 0. In other words, two addresses can point to the same data item in this mapped memory region.  This mapping region includes the initial value for the main stack pointer, and the interrupt vector table.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71875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 xml:space="preserve">{{Pause=2}} The Nested Vectored Interrupt Controller (NVIC),  prioritizes and handles all interrupts.  When we press the push button connected to the pin PA 3, the hardware generates an electrical signal, called interrupt request, E X T I 3. When N V I C receives the interrupt request, it forces the processor to jump to, and execute, a special piece of code, called an interrupt service routine, or an interrupt handler. Specifically, the processor will execute the function named E X T I 3  IRQ Handler. {{Pause=1}}  The entry points of all interrupt service routines, are stored in a special table. This special table is called an interrupt vector table. The interrupt vector table is stored at a pre-defined area, in the memory. For ARM Cortex processors, the interrupt vector table starts at memory address 0 (the first word holds the initial MSP value; the Reset vector is at address 4). By default, the interrupt vector table is mapped to the lowest address of the internal flash memory. However, software can re-map it to a different location, such as internal SRAM. </a:t>
            </a:r>
          </a:p>
          <a:p>
            <a:endParaRPr lang="en-US" dirty="0"/>
          </a:p>
          <a:p>
            <a:r>
              <a:rPr lang="en-US" dirty="0"/>
              <a:t>{{Pause=1}} To understand interrupts, the concept of interrupt vector table is very important. The interrupt vector table holds an array of memory addresses. Each entry in the interrupt vector table is four bytes long. Each entry contains the starting memory address of an interrupt service routine. To put it simply, the interrupt vector table holds an array of function pointers.  </a:t>
            </a:r>
          </a:p>
          <a:p>
            <a:endParaRPr lang="en-US" dirty="0"/>
          </a:p>
          <a:p>
            <a:r>
              <a:rPr lang="en-US" dirty="0"/>
              <a:t>{{Pause=2}} Every type of interrupt is assigned a number, called interrupt number. The interrupt number is used to index into the interrupt vector table. When interrupt x is triggered, N V I C uses the interrupt number x, as the index value, to look up the interrupt vector table, finds the memory address of the corresponding interrupt service routine for interrupt x, and forces the processor to jump to and execute this interrupt service routine.</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25729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the interrupt vector table is mapped to the lowest address of the internal flash memory. However, software can re-map it to a different location, such as internal SRAM. </a:t>
            </a:r>
          </a:p>
          <a:p>
            <a:r>
              <a:rPr lang="en-US" dirty="0"/>
              <a:t xml:space="preserve">For ARM Cortex processors, the IVT starts at memory address 0 (the first word holds the initial MSP value; the Reset vector is at address 4). </a:t>
            </a:r>
          </a:p>
          <a:p>
            <a:endParaRPr lang="en-US" dirty="0"/>
          </a:p>
          <a:p>
            <a:r>
              <a:rPr lang="en-US" dirty="0"/>
              <a:t>{{Pause=1}} To understand interrupts, the concept of interrupt vector table is very important. </a:t>
            </a:r>
          </a:p>
        </p:txBody>
      </p:sp>
      <p:sp>
        <p:nvSpPr>
          <p:cNvPr id="4" name="Slide Number Placeholder 3"/>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44490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aseline="0" dirty="0"/>
              <a:t>{{Pause=2}} How does the N V I C controller use the interrupt number to look up the interrupt vector table? {{Pause=0.5}} The first word in the memory is the initial MSP value. Here is the main stack, typically located in SRAM. {{Pause=2}} The second word in the memory is a pointer to the reset handler, which is the starting memory address, or called entry point, of the function reset handler.  The reset handler contains program code, which is executed when the processor is reset. Typically, the reset handler performs some hardware initialization first, and then calls the main function. Immediately after the processor, is reset, the program counter is initialized to this value. </a:t>
            </a:r>
          </a:p>
          <a:p>
            <a:endParaRPr lang="en-US" baseline="0" dirty="0"/>
          </a:p>
          <a:p>
            <a:r>
              <a:rPr lang="en-US" baseline="0" dirty="0"/>
              <a:t>{{Pause=1}} For ARM Cortex-M processors, if the interrupt number is n,  the pointer that points the interrupt service routine of interrupt n, is stored at, this address, in the interrupt vector table.  {{Pause=0.5}} For example, the interrupt number of E X T I 3, is 9. Then, the address of E X T I 3  IRQ Handler is stored at the memory address: 64 plus, 4 times 9. The result is 100 in decimal, or 64 in hex. Suppose the handler for external interrupt 3, is stored at the memory address, 0 8 0 0 0 3 0 C, in hex. {{Pause=1}} In the interrupt table, the value 0 8 0 0 0 3 0 D, is stored at the location 64 in hex. {{Pause=1}}  If E X T I 3 interrupt request arrives, the N V I C controller will read the word stored at the memory address 64, and then set the program counter to that value. In this way, the N V I C controller forces the processor to jump to the interrupt service routine, E X T I 3  IRQ Handler. </a:t>
            </a:r>
          </a:p>
          <a:p>
            <a:endParaRPr lang="en-US" baseline="0" dirty="0"/>
          </a:p>
          <a:p>
            <a:r>
              <a:rPr lang="en-US" baseline="0" dirty="0"/>
              <a:t>{{Pause=1}} Note that, the least-significant bit of these memory addresses is 1. When the processor jumps to a new code, it examines bit 0 of the destination address to determine the processor state. In general, for ARM processor family, if bit 0 of the destination address is 1, the processor will be in the Thumb state. If bit 0 is 0, the processor will switch to the ARM state. However, for ARM Cortex processors, the bit 0 of the destination address must always be 1. This is because ARM Cortex processors, only support Thumb instructions.</a:t>
            </a:r>
          </a:p>
          <a:p>
            <a:endParaRPr lang="en-US" baseline="0" dirty="0"/>
          </a:p>
          <a:p>
            <a:r>
              <a:rPr lang="en-US" baseline="0" dirty="0"/>
              <a:t>{{Pause=1}} Please pay attention that the interrupt number can be negative. For example, the interrupt number of system timer (SysTick) is negative 1.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590419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is the interrupt vector table of STM32L4. {{Pause=0.5}}  The first word holds the top of the main stack. {{Pause=0.5}} The next 15 words hold the pointers of 15 system exception handlers. {{Pause=0.5}} The next are pointers to vender-specific interrupt handlers. The size of the interrupt vector table, varies among different processor chips.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2908866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use an example to see how N V I C handles an interrupt. Suppose external interrupt 3 (E X T I 3), arrives at this time instant. Assume software has already enabled E X T I 3 interrupt. An interrupt can be enabled by setting the corresponding bit in the interrupt enable register. {{Pause=0.5}}  The interrupt number of E X T I 3 is pre-defined as 9.  As you see from the interrupt enable register, external interrupt 3 has already been enabled. The interrupt priority register shows that, the priority of external interrupt 3, is set to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943449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N V I C first writes 1 to the pending bit of, external interrupt 3, in the interrupt pending register. Let’s assume the floating-point unit (FPU) has not been used in this example. Then, N V I C automatically starts the stacking process, and pushes, eight registers to preserve the running environment. If the floating-point unit is used, more registers are pushed into the stack during the stacking.</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3450332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V I C first pushes the program status register (x</a:t>
            </a:r>
            <a:r>
              <a:rPr lang="en-US" baseline="0" dirty="0"/>
              <a:t> P S R) onto the stack,</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017295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pushes the program counter (PC), which is register 15,</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2070008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pushes the link register (LR), which is register 14,</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1549801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 xml:space="preserve">pushes register 12, Because on Cortex‑M exception entry the hardware automatically stacks the “volatile” call‑clobbered registers R0–R3, R12 (aka IP), LR, PC, and </a:t>
            </a:r>
            <a:r>
              <a:rPr lang="en-US" dirty="0" err="1"/>
              <a:t>xPSR</a:t>
            </a:r>
            <a:r>
              <a:rPr lang="en-US" dirty="0"/>
              <a:t> so an ISR can be written like a normal C function without manually saving them, and R12 is included because it’s a scratch register used by veneers/trampolines and function calls, so preserving it avoids corrupting in‑flight call sequences when an interrupt fires.</a:t>
            </a:r>
            <a:r>
              <a:rPr lang="en-US" dirty="0">
                <a:hlinkClick r:id="rId3"/>
              </a:rPr>
              <a:t/>
            </a:r>
            <a:endParaRPr lang="en-US" dirty="0"/>
          </a:p>
          <a:p>
            <a:r>
              <a:rPr lang="en-US" dirty="0"/>
              <a:t>The fixed hardware stack frame contains exactly eight words: </a:t>
            </a:r>
            <a:r>
              <a:rPr lang="en-US" dirty="0" err="1"/>
              <a:t>xPSR</a:t>
            </a:r>
            <a:r>
              <a:rPr lang="en-US" dirty="0"/>
              <a:t>, </a:t>
            </a:r>
            <a:r>
              <a:rPr lang="en-US" dirty="0" err="1"/>
              <a:t>ReturnAddress</a:t>
            </a:r>
            <a:r>
              <a:rPr lang="en-US" dirty="0"/>
              <a:t> (PC), LR, R12, R3, R2, R1, and R0; this is pushed automatically on interrupt entry before the ISR runs.</a:t>
            </a:r>
            <a:r>
              <a:rPr lang="en-US" dirty="0">
                <a:hlinkClick r:id="rId4"/>
              </a:rPr>
              <a:t/>
            </a:r>
            <a:endParaRPr lang="en-US" dirty="0"/>
          </a:p>
          <a:p>
            <a:r>
              <a:rPr lang="en-US" dirty="0"/>
              <a:t>R12 is designated the intra‑procedure call scratch register on ARM, used by linker‑generated veneers for far calls; since it is call‑clobbered and may hold temporary state during calls, the architecture chooses to save it in the exception frame to guarantee correct resumption after the </a:t>
            </a:r>
            <a:r>
              <a:rPr lang="en-US" dirty="0" err="1"/>
              <a:t>ISR.</a:t>
            </a:r>
            <a:r>
              <a:rPr lang="en-US" dirty="0" err="1">
                <a:hlinkClick r:id="rId5"/>
              </a:rPr>
              <a:t/>
            </a:r>
            <a:endParaRPr lang="en-US" dirty="0"/>
          </a:p>
          <a:p>
            <a:r>
              <a:rPr lang="en-US" dirty="0">
                <a:hlinkClick r:id="rId3"/>
              </a:rPr>
              <a:t>https://stackoverflow.com/questions/42688466/arm-cortex-m-exception-entry-and-stack-framing</a:t>
            </a:r>
            <a:endParaRPr lang="en-US" dirty="0"/>
          </a:p>
          <a:p>
            <a:r>
              <a:rPr lang="en-US" dirty="0">
                <a:hlinkClick r:id="rId6"/>
              </a:rPr>
              <a:t>https://developer.arm.com/documentation/ddi0403/d/System-Level-Architecture/System-Level-Programmers--Model/ARMv7-M-exception-model/Exception-entry-behavior</a:t>
            </a:r>
            <a:endParaRPr lang="en-US" dirty="0"/>
          </a:p>
          <a:p>
            <a:r>
              <a:rPr lang="en-US" dirty="0">
                <a:hlinkClick r:id="rId4"/>
              </a:rPr>
              <a:t>https://users.ece.utexas.edu/~valvano/Volume1/E-Book/C12_Interrupts.htm</a:t>
            </a:r>
            <a:endParaRPr lang="en-US" dirty="0"/>
          </a:p>
          <a:p>
            <a:r>
              <a:rPr lang="en-US" dirty="0">
                <a:hlinkClick r:id="rId5"/>
              </a:rPr>
              <a:t>https://interrupt.memfault.com/blog/cortex-m-rtos-context-switching</a:t>
            </a:r>
            <a:endParaRPr lang="en-US" dirty="0"/>
          </a:p>
          <a:p>
            <a:r>
              <a:rPr lang="en-US" dirty="0">
                <a:hlinkClick r:id="rId7"/>
              </a:rPr>
              <a:t>https://community.arm.com/support-forums/f/keil-forum/34201/stacking-and-interrupts</a:t>
            </a:r>
            <a:endParaRPr lang="en-US" dirty="0"/>
          </a:p>
          <a:p>
            <a:r>
              <a:rPr lang="en-US" dirty="0">
                <a:hlinkClick r:id="rId8"/>
              </a:rPr>
              <a:t>https://stackoverflow.com/questions/38292995/what-are-the-registers-pushed-to-the-stack-when-an-interrupt-occurs</a:t>
            </a:r>
            <a:endParaRPr lang="en-US" dirty="0"/>
          </a:p>
          <a:p>
            <a:r>
              <a:rPr lang="en-US" dirty="0">
                <a:hlinkClick r:id="rId9"/>
              </a:rPr>
              <a:t>https://developer.arm.com/documentation/107706/latest/Exceptions-and-interrupts-overview/Stack-frames</a:t>
            </a:r>
            <a:endParaRPr lang="en-US" dirty="0"/>
          </a:p>
          <a:p>
            <a:r>
              <a:rPr lang="en-US" dirty="0">
                <a:hlinkClick r:id="rId10"/>
              </a:rPr>
              <a:t>https://interrupt.memfault.com/blog/arm-cortex-m-exceptions-and-nvic</a:t>
            </a:r>
            <a:endParaRPr lang="en-US" dirty="0"/>
          </a:p>
          <a:p>
            <a:r>
              <a:rPr lang="en-US" dirty="0">
                <a:hlinkClick r:id="rId11"/>
              </a:rPr>
              <a:t>https://www.embeddedrelated.com/showarticle/878.php</a:t>
            </a:r>
            <a:endParaRPr lang="en-US" dirty="0"/>
          </a:p>
          <a:p>
            <a:r>
              <a:rPr lang="en-US" dirty="0">
                <a:hlinkClick r:id="rId12"/>
              </a:rPr>
              <a:t>https://interrupt.memfault.com/blog/cortex-m-hardfault-debug</a:t>
            </a:r>
            <a:endParaRPr lang="en-US" dirty="0"/>
          </a:p>
          <a:p>
            <a:r>
              <a:rPr lang="en-US" dirty="0">
                <a:hlinkClick r:id="rId13"/>
              </a:rPr>
              <a:t>https://developer.arm.com/documentation/dui0646/latest/The-Cortex-M7-Processor/Exception-model/Exception-entry-and-return</a:t>
            </a:r>
            <a:endParaRPr lang="en-US" dirty="0"/>
          </a:p>
          <a:p>
            <a:r>
              <a:rPr lang="en-US" dirty="0">
                <a:hlinkClick r:id="rId14"/>
              </a:rPr>
              <a:t>https://stackoverflow.com/questions/45461739/which-stack-is-used-when-entering-interrupt-handler-from-user-program-for-cortex</a:t>
            </a:r>
            <a:endParaRPr lang="en-US" dirty="0"/>
          </a:p>
          <a:p>
            <a:r>
              <a:rPr lang="en-US" dirty="0">
                <a:hlinkClick r:id="rId15"/>
              </a:rPr>
              <a:t>https://www.ti.com/lit/pdf/spna218</a:t>
            </a:r>
            <a:endParaRPr lang="en-US" dirty="0"/>
          </a:p>
          <a:p>
            <a:r>
              <a:rPr lang="en-US" dirty="0">
                <a:hlinkClick r:id="rId16"/>
              </a:rPr>
              <a:t>https://eng.auburn.edu/~nelson/courses/elec5260_6260/slides/ARM%20STM32F476%20Interrupts.pdf</a:t>
            </a:r>
            <a:endParaRPr lang="en-US" dirty="0"/>
          </a:p>
          <a:p>
            <a:r>
              <a:rPr lang="en-US" dirty="0">
                <a:hlinkClick r:id="rId17"/>
              </a:rPr>
              <a:t>https://developer.arm.com/documentation/107706/latest/Use-case-examples/context-switch-fp/Task-initialization</a:t>
            </a:r>
            <a:endParaRPr lang="en-US" dirty="0"/>
          </a:p>
          <a:p>
            <a:r>
              <a:rPr lang="en-US" dirty="0">
                <a:hlinkClick r:id="rId18"/>
              </a:rPr>
              <a:t>https://www.reddit.com/r/embedded/comments/c0pmlv/cortex_m3_can_anyone_help_me_understanding_how/</a:t>
            </a:r>
            <a:endParaRPr lang="en-US" dirty="0"/>
          </a:p>
          <a:p>
            <a:r>
              <a:rPr lang="en-US" dirty="0">
                <a:hlinkClick r:id="rId19"/>
              </a:rPr>
              <a:t>https://www.embeddedrelated.com/showarticle/912.php</a:t>
            </a:r>
            <a:endParaRPr lang="en-US" dirty="0"/>
          </a:p>
          <a:p>
            <a:r>
              <a:rPr lang="en-US" dirty="0">
                <a:hlinkClick r:id="rId20"/>
              </a:rPr>
              <a:t>https://www.embeddedrelated.com/thread/7406/stack-interrupt-function-call</a:t>
            </a:r>
            <a:endParaRPr lang="en-US" dirty="0"/>
          </a:p>
          <a:p>
            <a:r>
              <a:rPr lang="en-US" dirty="0">
                <a:hlinkClick r:id="rId21"/>
              </a:rPr>
              <a:t>https://www.sciencedirect.com/topics/engineering/exception-return-mechanism</a:t>
            </a:r>
            <a:endParaRPr lang="en-US" dirty="0"/>
          </a:p>
          <a:p>
            <a:r>
              <a:rPr lang="en-US" dirty="0">
                <a:hlinkClick r:id="rId22"/>
              </a:rPr>
              <a:t>https://e2e.ti.com/support/microcontrollers/arm-based-microcontrollers-group/arm-based-microcontrollers/f/arm-based-microcontrollers-forum/1094104/lp-am243-printing-the-stack-frame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2896096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then, register 3,</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747103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714467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1</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271053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a:t>
            </a:r>
            <a:r>
              <a:rPr lang="en-US" baseline="0" dirty="0"/>
              <a:t> finally, pushes register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891438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ARM Cortex uses full descending stacks. If a 32-bit item is pushed onto the stack, the stack pointer (SP) is decremented by four. After N V I C pushes these eight registers onto the stack, the size of the stack increases by 32 bytes, and the stack pointer is decremented by 32. This stacking process is automatically performed by the N V I C controller, not by the user code.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1618030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Then, N V I C looks up the interrupt vector table, and finds the starting address of the interrupt service routine for external interrupt 3. {{Pause=1}}  Next, N V I C changes the status of interrupt 9, from the pending state, to the active state. {{Pause=1}}  After that, N V I C forces the processor to branch to the interrupt handler, and starts to execute the interrupt handler.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172616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interrupt service routine, completes its execution, by running the following instruction: {{Pause=0.3}} BX LR.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1731520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instruction, BX LR, informs the N V I C controller to perform an {{Pause=0.1}} unstacking process. At the same time, the active bit, in the interrupt active register, is cleared. {{Pause=1}} The unstacking process, automatically pops the values of these eight registers, out of the stack. Therefore, N V I C recovers, the processor’s state, or called running environment, to the time instant immediately before the interrupt handler starts.</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1559411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Let’s see how the unstacking process work. First, N V I C pops register 0 off the stack.</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3895765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pop</a:t>
            </a:r>
            <a:r>
              <a:rPr lang="en-US" baseline="0" dirty="0"/>
              <a:t> register 1,</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25</a:t>
            </a:fld>
            <a:endParaRPr lang="en-US"/>
          </a:p>
        </p:txBody>
      </p:sp>
    </p:spTree>
    <p:extLst>
      <p:ext uri="{BB962C8B-B14F-4D97-AF65-F5344CB8AC3E}">
        <p14:creationId xmlns:p14="http://schemas.microsoft.com/office/powerpoint/2010/main" val="959783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1217398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3,</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107915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12,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32035616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register,</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29</a:t>
            </a:fld>
            <a:endParaRPr lang="en-US"/>
          </a:p>
        </p:txBody>
      </p:sp>
    </p:spTree>
    <p:extLst>
      <p:ext uri="{BB962C8B-B14F-4D97-AF65-F5344CB8AC3E}">
        <p14:creationId xmlns:p14="http://schemas.microsoft.com/office/powerpoint/2010/main" val="38377511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counter,</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30</a:t>
            </a:fld>
            <a:endParaRPr lang="en-US"/>
          </a:p>
        </p:txBody>
      </p:sp>
    </p:spTree>
    <p:extLst>
      <p:ext uri="{BB962C8B-B14F-4D97-AF65-F5344CB8AC3E}">
        <p14:creationId xmlns:p14="http://schemas.microsoft.com/office/powerpoint/2010/main" val="4058223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pop the program status register off the stack.</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2004463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unstacking completes, the running environment has been fully recovered from the stack. All registers have their original values, as if the interrupt has never happened.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3890745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result, the processor can successfully continue to execute the user program, which has been interrupted by the external interrupt 3.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16553455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see how the N V I C controller handles multiple interrupts. Suppose interrupt request 9 (E X T I 3)  arrives at this time instant.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34</a:t>
            </a:fld>
            <a:endParaRPr lang="en-US"/>
          </a:p>
        </p:txBody>
      </p:sp>
    </p:spTree>
    <p:extLst>
      <p:ext uri="{BB962C8B-B14F-4D97-AF65-F5344CB8AC3E}">
        <p14:creationId xmlns:p14="http://schemas.microsoft.com/office/powerpoint/2010/main" val="2230016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N V I C first performs stacking, and pushes these eight registers onto the stack. {{Pause=1}}   Then, N V I C forces the processor to execute the interrupt service routine for interrupt 9.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35</a:t>
            </a:fld>
            <a:endParaRPr lang="en-US"/>
          </a:p>
        </p:txBody>
      </p:sp>
    </p:spTree>
    <p:extLst>
      <p:ext uri="{BB962C8B-B14F-4D97-AF65-F5344CB8AC3E}">
        <p14:creationId xmlns:p14="http://schemas.microsoft.com/office/powerpoint/2010/main" val="3333905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another interrupt request (DMA 1 Channel 2) arrives, before the interrupt service routine 9 completes. In addition, this new coming interrupt, has a higher urgency, than the current interrupt being served. {{Pause=1}} As you see from this table, the interrupt priority value is 3 for interrupt 12,  and 5 for interrupt 9. Note that,  for ARM Cortex processors, a lower priority value actually represents a higher urgency. Accordingly, N V I C has to respond to the new coming interrupt.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36</a:t>
            </a:fld>
            <a:endParaRPr lang="en-US"/>
          </a:p>
        </p:txBody>
      </p:sp>
    </p:spTree>
    <p:extLst>
      <p:ext uri="{BB962C8B-B14F-4D97-AF65-F5344CB8AC3E}">
        <p14:creationId xmlns:p14="http://schemas.microsoft.com/office/powerpoint/2010/main" val="1592921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Because the new interrupt has a higher urgency, N V I C then stops the current interrupt service routine, and performs another stacking. Again, it pushes another set of eight registers, onto the stack. Note that these two sets of registers have different values. The first set holds register values, for the user program. {{Pause=0.5}} The second set hold register values, for the interrupt service routine 9. {{Pause=1}} After the stacking, N V I C starts to execute, the interrupt service routine of the new coming interrupt. The process of stopping the current interrupt handler, and starting to serve another interrupt, is called interrupt preemption.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37</a:t>
            </a:fld>
            <a:endParaRPr lang="en-US"/>
          </a:p>
        </p:txBody>
      </p:sp>
    </p:spTree>
    <p:extLst>
      <p:ext uri="{BB962C8B-B14F-4D97-AF65-F5344CB8AC3E}">
        <p14:creationId xmlns:p14="http://schemas.microsoft.com/office/powerpoint/2010/main" val="1485279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12 completes, N V I C performs unstacking, pops out eight registers from the stack, and recovers the running environment, for the interrupt service routine 9.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38</a:t>
            </a:fld>
            <a:endParaRPr lang="en-US"/>
          </a:p>
        </p:txBody>
      </p:sp>
    </p:spTree>
    <p:extLst>
      <p:ext uri="{BB962C8B-B14F-4D97-AF65-F5344CB8AC3E}">
        <p14:creationId xmlns:p14="http://schemas.microsoft.com/office/powerpoint/2010/main" val="13668515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N</a:t>
            </a:r>
            <a:r>
              <a:rPr lang="en-US" baseline="0" dirty="0"/>
              <a:t> V I C continues the execution of interrupt service routine 9.</a:t>
            </a:r>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39</a:t>
            </a:fld>
            <a:endParaRPr lang="en-US"/>
          </a:p>
        </p:txBody>
      </p:sp>
    </p:spTree>
    <p:extLst>
      <p:ext uri="{BB962C8B-B14F-4D97-AF65-F5344CB8AC3E}">
        <p14:creationId xmlns:p14="http://schemas.microsoft.com/office/powerpoint/2010/main" val="37533563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9 completes, N V I C performs un-stacking to recover the running environment of the user program. After unstacking, the user program resumes the computation.</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40</a:t>
            </a:fld>
            <a:endParaRPr lang="en-US"/>
          </a:p>
        </p:txBody>
      </p:sp>
    </p:spTree>
    <p:extLst>
      <p:ext uri="{BB962C8B-B14F-4D97-AF65-F5344CB8AC3E}">
        <p14:creationId xmlns:p14="http://schemas.microsoft.com/office/powerpoint/2010/main" val="1112037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the previous example, we have shown that, an interrupt with higher urgency, can preempt, an interrupt with relatively lower urgency. What would happen if the new coming interrupt request has a lower urgency? {{Pause=1}} Suppose external interrupt 4 has less urgency than </a:t>
            </a:r>
            <a:r>
              <a:rPr lang="en-US" dirty="0" err="1"/>
              <a:t>exernal</a:t>
            </a:r>
            <a:r>
              <a:rPr lang="en-US" dirty="0"/>
              <a:t> interrupt 3. If external interrupt 4 arrives, before the external interrupt 3 Handler completes, N V I C won’t respond the new coming interrupt request. Instead, N V I C will continue the execution of the current interrupt service routine. After the current interrupt service routine completes,  unstacking and  stacking are performed, before the new interrupt service routine starts. </a:t>
            </a:r>
          </a:p>
          <a:p>
            <a:endParaRPr lang="en-US" dirty="0"/>
          </a:p>
          <a:p>
            <a:r>
              <a:rPr lang="en-US" dirty="0"/>
              <a:t>{{Pause=1}} As you notice, the middle unstacking and stacking processes are unnecessary in this example. Therefore, ARM Cortex-M deploys an optimization technique, called tail chaining, to reduce the interrupt latency. Typically the unstacking process takes 12 cycles. The stacking takes 12 cycles too. However, the tail chaining takes only 6 cycles.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41</a:t>
            </a:fld>
            <a:endParaRPr lang="en-US"/>
          </a:p>
        </p:txBody>
      </p:sp>
    </p:spTree>
    <p:extLst>
      <p:ext uri="{BB962C8B-B14F-4D97-AF65-F5344CB8AC3E}">
        <p14:creationId xmlns:p14="http://schemas.microsoft.com/office/powerpoint/2010/main" val="2466414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10/5/2025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10/5/2025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BA00D299-558C-468E-A8B3-0F5C3BFA45F9}" type="datetime1">
              <a:rPr lang="en-US" smtClean="0"/>
              <a:pPr/>
              <a:t>10/5/2025</a:t>
            </a:fld>
            <a:endParaRPr lang="en-US"/>
          </a:p>
        </p:txBody>
      </p:sp>
      <p:sp>
        <p:nvSpPr>
          <p:cNvPr id="17" name="Footer Placeholder 16"/>
          <p:cNvSpPr>
            <a:spLocks noGrp="1"/>
          </p:cNvSpPr>
          <p:nvPr>
            <p:ph type="ftr" sz="quarter" idx="11"/>
          </p:nvPr>
        </p:nvSpPr>
        <p:spPr>
          <a:xfrm>
            <a:off x="3864864" y="6355080"/>
            <a:ext cx="4632960" cy="365760"/>
          </a:xfrm>
        </p:spPr>
        <p:txBody>
          <a:bodyPr/>
          <a:lstStyle/>
          <a:p>
            <a:endParaRPr lang="en-US"/>
          </a:p>
        </p:txBody>
      </p:sp>
      <p:sp>
        <p:nvSpPr>
          <p:cNvPr id="29" name="Slide Number Placeholder 28"/>
          <p:cNvSpPr>
            <a:spLocks noGrp="1"/>
          </p:cNvSpPr>
          <p:nvPr>
            <p:ph type="sldNum" sz="quarter" idx="12"/>
          </p:nvPr>
        </p:nvSpPr>
        <p:spPr>
          <a:xfrm>
            <a:off x="1621536" y="6355080"/>
            <a:ext cx="16256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627029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86427771"/>
      </p:ext>
    </p:extLst>
  </p:cSld>
  <p:clrMapOvr>
    <a:masterClrMapping/>
  </p:clrMapOvr>
  <p:transition>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E470CD76-7AB7-4744-8178-DC5367B833CD}" type="datetime1">
              <a:rPr lang="en-US" smtClean="0"/>
              <a:pPr/>
              <a:t>10/5/2025</a:t>
            </a:fld>
            <a:endParaRPr lang="en-US"/>
          </a:p>
        </p:txBody>
      </p:sp>
      <p:sp>
        <p:nvSpPr>
          <p:cNvPr id="5" name="Footer Placeholder 4"/>
          <p:cNvSpPr>
            <a:spLocks noGrp="1"/>
          </p:cNvSpPr>
          <p:nvPr>
            <p:ph type="ftr" sz="quarter" idx="11"/>
          </p:nvPr>
        </p:nvSpPr>
        <p:spPr>
          <a:xfrm>
            <a:off x="3864864" y="6355080"/>
            <a:ext cx="4632960" cy="365760"/>
          </a:xfrm>
        </p:spPr>
        <p:txBody>
          <a:bodyPr/>
          <a:lstStyle/>
          <a:p>
            <a:endParaRPr lang="en-US"/>
          </a:p>
        </p:txBody>
      </p:sp>
      <p:sp>
        <p:nvSpPr>
          <p:cNvPr id="6" name="Slide Number Placeholder 5"/>
          <p:cNvSpPr>
            <a:spLocks noGrp="1"/>
          </p:cNvSpPr>
          <p:nvPr>
            <p:ph type="sldNum" sz="quarter" idx="12"/>
          </p:nvPr>
        </p:nvSpPr>
        <p:spPr>
          <a:xfrm>
            <a:off x="1426464" y="6355080"/>
            <a:ext cx="2027936" cy="365760"/>
          </a:xfrm>
        </p:spPr>
        <p:txBody>
          <a:bodyPr/>
          <a:lstStyle/>
          <a:p>
            <a:fld id="{AEE14D4A-FE32-40AF-B06D-E9622816B101}" type="slidenum">
              <a:rPr lang="en-US" smtClean="0"/>
              <a:pPr/>
              <a:t>‹#›</a:t>
            </a:fld>
            <a:endParaRPr lang="en-U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2316713286"/>
      </p:ext>
    </p:extLst>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43684112"/>
      </p:ext>
    </p:extLst>
  </p:cSld>
  <p:clrMapOvr>
    <a:masterClrMapping/>
  </p:clrMapOvr>
  <p:transition>
    <p:pull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78125616"/>
      </p:ext>
    </p:extLst>
  </p:cSld>
  <p:clrMapOvr>
    <a:masterClrMapping/>
  </p:clrMapOvr>
  <p:transition>
    <p:pull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895424703"/>
      </p:ext>
    </p:extLst>
  </p:cSld>
  <p:clrMapOvr>
    <a:masterClrMapping/>
  </p:clrMapOvr>
  <p:transition>
    <p:pull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896620876"/>
      </p:ext>
    </p:extLst>
  </p:cSld>
  <p:clrMapOvr>
    <a:masterClrMapping/>
  </p:clrMapOvr>
  <p:transition>
    <p:pull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41146414"/>
      </p:ext>
    </p:extLst>
  </p:cSld>
  <p:clrMapOvr>
    <a:masterClrMapping/>
  </p:clrMapOvr>
  <p:transition>
    <p:pull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713892301"/>
      </p:ext>
    </p:extLst>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extLst>
      <p:ext uri="{BB962C8B-B14F-4D97-AF65-F5344CB8AC3E}">
        <p14:creationId xmlns:p14="http://schemas.microsoft.com/office/powerpoint/2010/main" val="2088395907"/>
      </p:ext>
    </p:extLst>
  </p:cSld>
  <p:clrMapOvr>
    <a:masterClrMapping/>
  </p:clrMapOvr>
  <p:transition>
    <p:pull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extLst>
      <p:ext uri="{BB962C8B-B14F-4D97-AF65-F5344CB8AC3E}">
        <p14:creationId xmlns:p14="http://schemas.microsoft.com/office/powerpoint/2010/main" val="671059632"/>
      </p:ext>
    </p:extLst>
  </p:cSld>
  <p:clrMapOvr>
    <a:masterClrMapping/>
  </p:clrMapOvr>
  <p:transition>
    <p:pull dir="ru"/>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10/5/2025</a:t>
            </a:fld>
            <a:endParaRPr lang="en-U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993785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fontAlgn="base">
              <a:spcBef>
                <a:spcPct val="0"/>
              </a:spcBef>
              <a:spcAft>
                <a:spcPct val="0"/>
              </a:spcAft>
            </a:pPr>
            <a:fld id="{A0A1CC8E-A1B6-4F03-86F4-7DF2A440C9C6}" type="slidenum">
              <a:rPr lang="en-US" b="1">
                <a:solidFill>
                  <a:srgbClr val="1F497D"/>
                </a:solidFill>
                <a:latin typeface="Courier New" pitchFamily="49" charset="0"/>
              </a:rPr>
              <a:pPr fontAlgn="base">
                <a:spcBef>
                  <a:spcPct val="0"/>
                </a:spcBef>
                <a:spcAft>
                  <a:spcPct val="0"/>
                </a:spcAft>
              </a:pPr>
              <a:t>1</a:t>
            </a:fld>
            <a:endParaRPr lang="en-US" b="1">
              <a:solidFill>
                <a:srgbClr val="1F497D"/>
              </a:solidFill>
              <a:latin typeface="Courier New" pitchFamily="49" charset="0"/>
            </a:endParaRPr>
          </a:p>
        </p:txBody>
      </p:sp>
      <p:sp>
        <p:nvSpPr>
          <p:cNvPr id="10" name="TextBox 9"/>
          <p:cNvSpPr txBox="1"/>
          <p:nvPr/>
        </p:nvSpPr>
        <p:spPr>
          <a:xfrm>
            <a:off x="4419599" y="326277"/>
            <a:ext cx="6477000" cy="523220"/>
          </a:xfrm>
          <a:prstGeom prst="rect">
            <a:avLst/>
          </a:prstGeom>
          <a:noFill/>
        </p:spPr>
        <p:txBody>
          <a:bodyPr wrap="square" rtlCol="0">
            <a:spAutoFit/>
          </a:bodyPr>
          <a:lstStyle/>
          <a:p>
            <a:pPr algn="r" eaLnBrk="0" fontAlgn="base" hangingPunct="0">
              <a:spcBef>
                <a:spcPct val="0"/>
              </a:spcBef>
              <a:spcAft>
                <a:spcPct val="0"/>
              </a:spcAft>
            </a:pPr>
            <a:r>
              <a:rPr lang="en-US" sz="1400" b="1" dirty="0">
                <a:solidFill>
                  <a:prstClr val="black"/>
                </a:solidFill>
                <a:latin typeface="Bookman Old Style (Headings)"/>
              </a:rPr>
              <a:t>Embedded Systems with ARM Cortex-M Microcontrollers in Assembly Language and C</a:t>
            </a:r>
          </a:p>
        </p:txBody>
      </p:sp>
      <p:sp>
        <p:nvSpPr>
          <p:cNvPr id="11" name="TextBox 10"/>
          <p:cNvSpPr txBox="1"/>
          <p:nvPr/>
        </p:nvSpPr>
        <p:spPr>
          <a:xfrm>
            <a:off x="7343638" y="1868997"/>
            <a:ext cx="3580101" cy="830997"/>
          </a:xfrm>
          <a:prstGeom prst="rect">
            <a:avLst/>
          </a:prstGeom>
          <a:noFill/>
        </p:spPr>
        <p:txBody>
          <a:bodyPr wrap="square" rtlCol="0">
            <a:spAutoFit/>
          </a:bodyPr>
          <a:lstStyle/>
          <a:p>
            <a:pPr algn="r"/>
            <a:r>
              <a:rPr lang="en-US" sz="2400" b="1" dirty="0">
                <a:solidFill>
                  <a:srgbClr val="C00000"/>
                </a:solidFill>
              </a:rPr>
              <a:t>Chapter 11</a:t>
            </a:r>
          </a:p>
          <a:p>
            <a:pPr algn="r"/>
            <a:r>
              <a:rPr lang="en-US" sz="2400" b="1" dirty="0">
                <a:solidFill>
                  <a:srgbClr val="C00000"/>
                </a:solidFill>
              </a:rPr>
              <a:t>Interrupt Tutorial</a:t>
            </a:r>
          </a:p>
        </p:txBody>
      </p:sp>
      <p:sp>
        <p:nvSpPr>
          <p:cNvPr id="12" name="Subtitle 2"/>
          <p:cNvSpPr txBox="1">
            <a:spLocks/>
          </p:cNvSpPr>
          <p:nvPr/>
        </p:nvSpPr>
        <p:spPr>
          <a:xfrm>
            <a:off x="4065739" y="5106125"/>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fontAlgn="base">
              <a:spcAft>
                <a:spcPct val="0"/>
              </a:spcAft>
              <a:buClr>
                <a:srgbClr val="4F81BD"/>
              </a:buClr>
            </a:pPr>
            <a:r>
              <a:rPr lang="en-US" dirty="0">
                <a:solidFill>
                  <a:srgbClr val="1F497D"/>
                </a:solidFill>
                <a:latin typeface="Bookman Old Style"/>
              </a:rPr>
              <a:t>Fall 2026</a:t>
            </a:r>
          </a:p>
        </p:txBody>
      </p:sp>
      <p:sp>
        <p:nvSpPr>
          <p:cNvPr id="14" name="Title 1"/>
          <p:cNvSpPr>
            <a:spLocks noGrp="1"/>
          </p:cNvSpPr>
          <p:nvPr>
            <p:ph type="ctrTitle"/>
          </p:nvPr>
        </p:nvSpPr>
        <p:spPr>
          <a:xfrm>
            <a:off x="4065739" y="3833187"/>
            <a:ext cx="6858000" cy="990600"/>
          </a:xfrm>
        </p:spPr>
        <p:txBody>
          <a:bodyPr>
            <a:noAutofit/>
          </a:bodyPr>
          <a:lstStyle/>
          <a:p>
            <a:r>
              <a:rPr lang="en-US" sz="2000" dirty="0"/>
              <a:t>Z.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3"/>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5562600" y="609600"/>
            <a:ext cx="3249433" cy="5715000"/>
            <a:chOff x="8256473" y="838200"/>
            <a:chExt cx="3249433" cy="5715000"/>
          </a:xfrm>
        </p:grpSpPr>
        <p:pic>
          <p:nvPicPr>
            <p:cNvPr id="10" name="Picture 9"/>
            <p:cNvPicPr>
              <a:picLocks noChangeAspect="1"/>
            </p:cNvPicPr>
            <p:nvPr/>
          </p:nvPicPr>
          <p:blipFill>
            <a:blip r:embed="rId3"/>
            <a:stretch>
              <a:fillRect/>
            </a:stretch>
          </p:blipFill>
          <p:spPr>
            <a:xfrm>
              <a:off x="8891351" y="1249588"/>
              <a:ext cx="2403698" cy="5303612"/>
            </a:xfrm>
            <a:prstGeom prst="rect">
              <a:avLst/>
            </a:prstGeom>
          </p:spPr>
        </p:pic>
        <p:sp>
          <p:nvSpPr>
            <p:cNvPr id="11" name="Rectangle 10"/>
            <p:cNvSpPr/>
            <p:nvPr/>
          </p:nvSpPr>
          <p:spPr>
            <a:xfrm>
              <a:off x="9275469" y="4768850"/>
              <a:ext cx="228600" cy="3810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3" idx="2"/>
              <a:endCxn id="11" idx="1"/>
            </p:cNvCxnSpPr>
            <p:nvPr/>
          </p:nvCxnSpPr>
          <p:spPr>
            <a:xfrm>
              <a:off x="8692364" y="4732391"/>
              <a:ext cx="583105" cy="2269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256473" y="3901394"/>
              <a:ext cx="871781" cy="830997"/>
            </a:xfrm>
            <a:prstGeom prst="rect">
              <a:avLst/>
            </a:prstGeom>
            <a:noFill/>
          </p:spPr>
          <p:txBody>
            <a:bodyPr wrap="square" rtlCol="0">
              <a:spAutoFit/>
            </a:bodyPr>
            <a:lstStyle/>
            <a:p>
              <a:r>
                <a:rPr lang="en-US" sz="1600" dirty="0">
                  <a:solidFill>
                    <a:srgbClr val="FF0000"/>
                  </a:solidFill>
                </a:rPr>
                <a:t>Red &amp; Green LEDs</a:t>
              </a:r>
            </a:p>
          </p:txBody>
        </p:sp>
        <p:sp>
          <p:nvSpPr>
            <p:cNvPr id="14" name="TextBox 13"/>
            <p:cNvSpPr txBox="1"/>
            <p:nvPr/>
          </p:nvSpPr>
          <p:spPr>
            <a:xfrm>
              <a:off x="8891351" y="838200"/>
              <a:ext cx="2403698" cy="338554"/>
            </a:xfrm>
            <a:prstGeom prst="rect">
              <a:avLst/>
            </a:prstGeom>
            <a:noFill/>
          </p:spPr>
          <p:txBody>
            <a:bodyPr wrap="square" rtlCol="0">
              <a:spAutoFit/>
            </a:bodyPr>
            <a:lstStyle/>
            <a:p>
              <a:pPr algn="ctr"/>
              <a:r>
                <a:rPr lang="en-US" sz="1600" dirty="0"/>
                <a:t>STM32L4 Discovery Kit</a:t>
              </a:r>
            </a:p>
          </p:txBody>
        </p:sp>
        <p:sp>
          <p:nvSpPr>
            <p:cNvPr id="15" name="Rectangle 14"/>
            <p:cNvSpPr/>
            <p:nvPr/>
          </p:nvSpPr>
          <p:spPr>
            <a:xfrm>
              <a:off x="10113669" y="4764042"/>
              <a:ext cx="762000" cy="7223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0236937" y="4436353"/>
              <a:ext cx="463588" cy="369332"/>
            </a:xfrm>
            <a:prstGeom prst="rect">
              <a:avLst/>
            </a:prstGeom>
          </p:spPr>
          <p:txBody>
            <a:bodyPr wrap="none">
              <a:spAutoFit/>
            </a:bodyPr>
            <a:lstStyle/>
            <a:p>
              <a:r>
                <a:rPr lang="en-US" dirty="0">
                  <a:solidFill>
                    <a:srgbClr val="FF0000"/>
                  </a:solidFill>
                </a:rPr>
                <a:t>Up</a:t>
              </a:r>
              <a:endParaRPr lang="en-US" dirty="0"/>
            </a:p>
          </p:txBody>
        </p:sp>
        <p:sp>
          <p:nvSpPr>
            <p:cNvPr id="18" name="Rectangle 17"/>
            <p:cNvSpPr/>
            <p:nvPr/>
          </p:nvSpPr>
          <p:spPr>
            <a:xfrm>
              <a:off x="10117854" y="5511699"/>
              <a:ext cx="764312" cy="369332"/>
            </a:xfrm>
            <a:prstGeom prst="rect">
              <a:avLst/>
            </a:prstGeom>
          </p:spPr>
          <p:txBody>
            <a:bodyPr wrap="none">
              <a:spAutoFit/>
            </a:bodyPr>
            <a:lstStyle/>
            <a:p>
              <a:r>
                <a:rPr lang="en-US" dirty="0">
                  <a:solidFill>
                    <a:srgbClr val="FF0000"/>
                  </a:solidFill>
                </a:rPr>
                <a:t>Down</a:t>
              </a:r>
              <a:endParaRPr lang="en-US" dirty="0"/>
            </a:p>
          </p:txBody>
        </p:sp>
        <p:sp>
          <p:nvSpPr>
            <p:cNvPr id="19" name="Rectangle 18"/>
            <p:cNvSpPr/>
            <p:nvPr/>
          </p:nvSpPr>
          <p:spPr>
            <a:xfrm>
              <a:off x="9628779" y="4904407"/>
              <a:ext cx="543739" cy="369332"/>
            </a:xfrm>
            <a:prstGeom prst="rect">
              <a:avLst/>
            </a:prstGeom>
          </p:spPr>
          <p:txBody>
            <a:bodyPr wrap="none">
              <a:spAutoFit/>
            </a:bodyPr>
            <a:lstStyle/>
            <a:p>
              <a:r>
                <a:rPr lang="en-US" dirty="0">
                  <a:solidFill>
                    <a:srgbClr val="FF0000"/>
                  </a:solidFill>
                </a:rPr>
                <a:t>Left</a:t>
              </a:r>
              <a:endParaRPr lang="en-US" dirty="0"/>
            </a:p>
          </p:txBody>
        </p:sp>
        <p:sp>
          <p:nvSpPr>
            <p:cNvPr id="20" name="Rectangle 19"/>
            <p:cNvSpPr/>
            <p:nvPr/>
          </p:nvSpPr>
          <p:spPr>
            <a:xfrm>
              <a:off x="10840339" y="4931226"/>
              <a:ext cx="665567" cy="369332"/>
            </a:xfrm>
            <a:prstGeom prst="rect">
              <a:avLst/>
            </a:prstGeom>
          </p:spPr>
          <p:txBody>
            <a:bodyPr wrap="none">
              <a:spAutoFit/>
            </a:bodyPr>
            <a:lstStyle/>
            <a:p>
              <a:r>
                <a:rPr lang="en-US" dirty="0">
                  <a:solidFill>
                    <a:srgbClr val="FF0000"/>
                  </a:solidFill>
                </a:rPr>
                <a:t>Right</a:t>
              </a:r>
              <a:endParaRPr lang="en-US" dirty="0"/>
            </a:p>
          </p:txBody>
        </p:sp>
        <p:sp>
          <p:nvSpPr>
            <p:cNvPr id="21" name="Rectangle 20"/>
            <p:cNvSpPr/>
            <p:nvPr/>
          </p:nvSpPr>
          <p:spPr>
            <a:xfrm>
              <a:off x="10113669" y="4927176"/>
              <a:ext cx="776919" cy="307777"/>
            </a:xfrm>
            <a:prstGeom prst="rect">
              <a:avLst/>
            </a:prstGeom>
          </p:spPr>
          <p:txBody>
            <a:bodyPr wrap="square">
              <a:spAutoFit/>
            </a:bodyPr>
            <a:lstStyle/>
            <a:p>
              <a:r>
                <a:rPr lang="en-US" sz="1400" b="1" dirty="0">
                  <a:solidFill>
                    <a:srgbClr val="FF0000"/>
                  </a:solidFill>
                </a:rPr>
                <a:t>Center</a:t>
              </a:r>
              <a:endParaRPr lang="en-US" sz="1400" b="1" dirty="0"/>
            </a:p>
          </p:txBody>
        </p:sp>
      </p:grpSp>
      <p:pic>
        <p:nvPicPr>
          <p:cNvPr id="1026" name="Picture 2" descr="Image result for waiting for phone c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524000"/>
            <a:ext cx="4485456" cy="46349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Polling </a:t>
            </a:r>
            <a:r>
              <a:rPr lang="en-US" i="1" dirty="0" err="1"/>
              <a:t>vs</a:t>
            </a:r>
            <a:r>
              <a:rPr lang="en-US" dirty="0"/>
              <a:t>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7" name="TextBox 6"/>
          <p:cNvSpPr txBox="1"/>
          <p:nvPr/>
        </p:nvSpPr>
        <p:spPr>
          <a:xfrm>
            <a:off x="3722094" y="2236111"/>
            <a:ext cx="2198734" cy="3416320"/>
          </a:xfrm>
          <a:prstGeom prst="rect">
            <a:avLst/>
          </a:prstGeom>
          <a:noFill/>
        </p:spPr>
        <p:txBody>
          <a:bodyPr wrap="square" rtlCol="0">
            <a:spAutoFit/>
          </a:bodyPr>
          <a:lstStyle/>
          <a:p>
            <a:r>
              <a:rPr lang="en-US" b="1" dirty="0">
                <a:solidFill>
                  <a:srgbClr val="0000FF"/>
                </a:solidFill>
              </a:rPr>
              <a:t>Polling</a:t>
            </a:r>
            <a:r>
              <a:rPr lang="en-US" dirty="0"/>
              <a:t>: </a:t>
            </a:r>
          </a:p>
          <a:p>
            <a:r>
              <a:rPr lang="en-US" dirty="0"/>
              <a:t>You </a:t>
            </a:r>
            <a:r>
              <a:rPr lang="en-US" dirty="0">
                <a:solidFill>
                  <a:srgbClr val="C00000"/>
                </a:solidFill>
              </a:rPr>
              <a:t>pick up the phone every few seco</a:t>
            </a:r>
            <a:r>
              <a:rPr lang="en-US" dirty="0">
                <a:solidFill>
                  <a:srgbClr val="FF0000"/>
                </a:solidFill>
              </a:rPr>
              <a:t>nds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a:t>
            </a:r>
          </a:p>
        </p:txBody>
      </p:sp>
      <p:sp>
        <p:nvSpPr>
          <p:cNvPr id="8" name="TextBox 7"/>
          <p:cNvSpPr txBox="1"/>
          <p:nvPr/>
        </p:nvSpPr>
        <p:spPr>
          <a:xfrm>
            <a:off x="8891078" y="1258468"/>
            <a:ext cx="2954459"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latin typeface="Consolas" panose="020B0609020204030204" pitchFamily="49" charset="0"/>
                <a:cs typeface="Arial" panose="020B0604020202020204" pitchFamily="34" charset="0"/>
              </a:rPr>
              <a:t>// Polling method</a:t>
            </a:r>
          </a:p>
          <a:p>
            <a:r>
              <a:rPr lang="en-US" dirty="0">
                <a:latin typeface="Consolas" panose="020B0609020204030204" pitchFamily="49" charset="0"/>
                <a:cs typeface="Arial" panose="020B0604020202020204" pitchFamily="34" charset="0"/>
              </a:rPr>
              <a:t>while (1) {</a:t>
            </a:r>
          </a:p>
          <a:p>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read_button_input</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if (pushed)</a:t>
            </a:r>
          </a:p>
          <a:p>
            <a:r>
              <a:rPr lang="en-US" dirty="0">
                <a:latin typeface="Consolas" panose="020B0609020204030204" pitchFamily="49" charset="0"/>
                <a:cs typeface="Arial" panose="020B0604020202020204" pitchFamily="34" charset="0"/>
              </a:rPr>
              <a:t>        exit;</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err="1">
                <a:latin typeface="Consolas" panose="020B0609020204030204" pitchFamily="49" charset="0"/>
                <a:cs typeface="Arial" panose="020B0604020202020204" pitchFamily="34" charset="0"/>
              </a:rPr>
              <a:t>turn_on_LED</a:t>
            </a:r>
            <a:r>
              <a:rPr lang="en-US" dirty="0">
                <a:latin typeface="Consolas" panose="020B0609020204030204" pitchFamily="49" charset="0"/>
                <a:cs typeface="Arial" panose="020B0604020202020204" pitchFamily="34" charset="0"/>
              </a:rPr>
              <a:t>;</a:t>
            </a:r>
          </a:p>
        </p:txBody>
      </p:sp>
      <p:sp>
        <p:nvSpPr>
          <p:cNvPr id="22" name="TextBox 21"/>
          <p:cNvSpPr txBox="1"/>
          <p:nvPr/>
        </p:nvSpPr>
        <p:spPr>
          <a:xfrm>
            <a:off x="8883927" y="3944271"/>
            <a:ext cx="2954459" cy="2031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Interrupt method</a:t>
            </a:r>
          </a:p>
          <a:p>
            <a:r>
              <a:rPr lang="en-US" dirty="0" err="1">
                <a:latin typeface="Consolas" panose="020B0609020204030204" pitchFamily="49" charset="0"/>
                <a:cs typeface="Arial" panose="020B0604020202020204" pitchFamily="34" charset="0"/>
              </a:rPr>
              <a:t>interrupt_handler</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turn_on_LED</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exit;</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4880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 </a:t>
            </a:r>
            <a:r>
              <a:rPr lang="en-US"/>
              <a:t>of Cortex-M4</a:t>
            </a:r>
            <a:endParaRPr lang="en-US" dirty="0"/>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3</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grpSp>
        <p:nvGrpSpPr>
          <p:cNvPr id="62" name="Group 61"/>
          <p:cNvGrpSpPr/>
          <p:nvPr/>
        </p:nvGrpSpPr>
        <p:grpSpPr>
          <a:xfrm>
            <a:off x="5897189" y="1319169"/>
            <a:ext cx="864591" cy="4807498"/>
            <a:chOff x="4373188" y="1319169"/>
            <a:chExt cx="864591" cy="4807498"/>
          </a:xfrm>
        </p:grpSpPr>
        <p:sp>
          <p:nvSpPr>
            <p:cNvPr id="60" name="Right Brace 59"/>
            <p:cNvSpPr/>
            <p:nvPr/>
          </p:nvSpPr>
          <p:spPr>
            <a:xfrm>
              <a:off x="4373188" y="1319169"/>
              <a:ext cx="304800" cy="48074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 name="TextBox 60"/>
            <p:cNvSpPr txBox="1"/>
            <p:nvPr/>
          </p:nvSpPr>
          <p:spPr>
            <a:xfrm>
              <a:off x="4694040" y="3582567"/>
              <a:ext cx="54373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4 GB</a:t>
              </a:r>
            </a:p>
          </p:txBody>
        </p:sp>
      </p:grpSp>
      <p:cxnSp>
        <p:nvCxnSpPr>
          <p:cNvPr id="56" name="Straight Arrow Connector 55"/>
          <p:cNvCxnSpPr/>
          <p:nvPr/>
        </p:nvCxnSpPr>
        <p:spPr>
          <a:xfrm>
            <a:off x="5801598" y="5791200"/>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917825" y="5608628"/>
            <a:ext cx="3022302" cy="369332"/>
          </a:xfrm>
          <a:prstGeom prst="rect">
            <a:avLst/>
          </a:prstGeom>
          <a:noFill/>
        </p:spPr>
        <p:txBody>
          <a:bodyPr wrap="none" rtlCol="0">
            <a:spAutoFit/>
          </a:bodyPr>
          <a:lstStyle/>
          <a:p>
            <a:r>
              <a:rPr lang="en-US" dirty="0"/>
              <a:t>On-chip Flash, for code &amp; data</a:t>
            </a:r>
          </a:p>
        </p:txBody>
      </p:sp>
      <p:cxnSp>
        <p:nvCxnSpPr>
          <p:cNvPr id="64" name="Straight Arrow Connector 63"/>
          <p:cNvCxnSpPr/>
          <p:nvPr/>
        </p:nvCxnSpPr>
        <p:spPr>
          <a:xfrm>
            <a:off x="5825432" y="523578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941659" y="5053214"/>
            <a:ext cx="3669146" cy="369332"/>
          </a:xfrm>
          <a:prstGeom prst="rect">
            <a:avLst/>
          </a:prstGeom>
          <a:noFill/>
        </p:spPr>
        <p:txBody>
          <a:bodyPr wrap="none" rtlCol="0">
            <a:spAutoFit/>
          </a:bodyPr>
          <a:lstStyle/>
          <a:p>
            <a:r>
              <a:rPr lang="en-US" dirty="0"/>
              <a:t>On-chip RAM, for heap, stack, &amp; code</a:t>
            </a:r>
          </a:p>
        </p:txBody>
      </p:sp>
      <p:cxnSp>
        <p:nvCxnSpPr>
          <p:cNvPr id="66" name="Straight Arrow Connector 65"/>
          <p:cNvCxnSpPr/>
          <p:nvPr/>
        </p:nvCxnSpPr>
        <p:spPr>
          <a:xfrm>
            <a:off x="5834282" y="468223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6950509" y="4499659"/>
            <a:ext cx="3339056" cy="369332"/>
          </a:xfrm>
          <a:prstGeom prst="rect">
            <a:avLst/>
          </a:prstGeom>
          <a:noFill/>
        </p:spPr>
        <p:txBody>
          <a:bodyPr wrap="none" rtlCol="0">
            <a:spAutoFit/>
          </a:bodyPr>
          <a:lstStyle/>
          <a:p>
            <a:r>
              <a:rPr lang="en-US" dirty="0"/>
              <a:t>AHB &amp; APB, such as timers, GPIO</a:t>
            </a:r>
          </a:p>
        </p:txBody>
      </p:sp>
      <p:cxnSp>
        <p:nvCxnSpPr>
          <p:cNvPr id="68" name="Straight Arrow Connector 67"/>
          <p:cNvCxnSpPr/>
          <p:nvPr/>
        </p:nvCxnSpPr>
        <p:spPr>
          <a:xfrm>
            <a:off x="5843748" y="385956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959975" y="3676994"/>
            <a:ext cx="1683218" cy="369332"/>
          </a:xfrm>
          <a:prstGeom prst="rect">
            <a:avLst/>
          </a:prstGeom>
          <a:noFill/>
        </p:spPr>
        <p:txBody>
          <a:bodyPr wrap="none" rtlCol="0">
            <a:spAutoFit/>
          </a:bodyPr>
          <a:lstStyle/>
          <a:p>
            <a:r>
              <a:rPr lang="en-US" dirty="0"/>
              <a:t>Off-chip memory for data</a:t>
            </a:r>
          </a:p>
        </p:txBody>
      </p:sp>
      <p:cxnSp>
        <p:nvCxnSpPr>
          <p:cNvPr id="70" name="Straight Arrow Connector 69"/>
          <p:cNvCxnSpPr/>
          <p:nvPr/>
        </p:nvCxnSpPr>
        <p:spPr>
          <a:xfrm>
            <a:off x="5798692" y="2635734"/>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6914920" y="2453162"/>
            <a:ext cx="2596993" cy="369332"/>
          </a:xfrm>
          <a:prstGeom prst="rect">
            <a:avLst/>
          </a:prstGeom>
          <a:noFill/>
        </p:spPr>
        <p:txBody>
          <a:bodyPr wrap="none" rtlCol="0">
            <a:spAutoFit/>
          </a:bodyPr>
          <a:lstStyle/>
          <a:p>
            <a:r>
              <a:rPr lang="en-US" dirty="0"/>
              <a:t>Such as SD card</a:t>
            </a:r>
          </a:p>
        </p:txBody>
      </p:sp>
      <p:cxnSp>
        <p:nvCxnSpPr>
          <p:cNvPr id="72" name="Straight Arrow Connector 71"/>
          <p:cNvCxnSpPr/>
          <p:nvPr/>
        </p:nvCxnSpPr>
        <p:spPr>
          <a:xfrm>
            <a:off x="5785530" y="165658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901758" y="1334870"/>
            <a:ext cx="3073425" cy="646331"/>
          </a:xfrm>
          <a:prstGeom prst="rect">
            <a:avLst/>
          </a:prstGeom>
          <a:noFill/>
        </p:spPr>
        <p:txBody>
          <a:bodyPr wrap="square" rtlCol="0">
            <a:spAutoFit/>
          </a:bodyPr>
          <a:lstStyle/>
          <a:p>
            <a:r>
              <a:rPr lang="en-US" dirty="0"/>
              <a:t>NVIC, System Timer, SCB, vendor-specific memory</a:t>
            </a:r>
          </a:p>
        </p:txBody>
      </p:sp>
    </p:spTree>
    <p:custDataLst>
      <p:tags r:id="rId1"/>
    </p:custDataLst>
    <p:extLst>
      <p:ext uri="{BB962C8B-B14F-4D97-AF65-F5344CB8AC3E}">
        <p14:creationId xmlns:p14="http://schemas.microsoft.com/office/powerpoint/2010/main" val="88221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2"/>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57"/>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7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63" grpId="0"/>
      <p:bldP spid="65" grpId="0"/>
      <p:bldP spid="67" grpId="0"/>
      <p:bldP spid="69" grpId="0"/>
      <p:bldP spid="71" grpId="0"/>
      <p:bldP spid="7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7543800" y="1316726"/>
            <a:ext cx="2136648" cy="48075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7543800" y="3763744"/>
            <a:ext cx="2136648" cy="23767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Data Memory</a:t>
            </a:r>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4</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475600"/>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sp>
        <p:nvSpPr>
          <p:cNvPr id="76" name="Rectangle 75"/>
          <p:cNvSpPr/>
          <p:nvPr/>
        </p:nvSpPr>
        <p:spPr>
          <a:xfrm>
            <a:off x="7547149" y="3763744"/>
            <a:ext cx="2136648" cy="472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cxnSp>
        <p:nvCxnSpPr>
          <p:cNvPr id="25" name="Straight Arrow Connector 24"/>
          <p:cNvCxnSpPr/>
          <p:nvPr/>
        </p:nvCxnSpPr>
        <p:spPr>
          <a:xfrm flipV="1">
            <a:off x="5782536" y="1316726"/>
            <a:ext cx="1749428" cy="3625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5782536" y="5562600"/>
            <a:ext cx="1763328" cy="577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7545088" y="4945681"/>
            <a:ext cx="2136648" cy="472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Heap</a:t>
            </a:r>
          </a:p>
        </p:txBody>
      </p:sp>
      <p:grpSp>
        <p:nvGrpSpPr>
          <p:cNvPr id="40" name="Group 39"/>
          <p:cNvGrpSpPr/>
          <p:nvPr/>
        </p:nvGrpSpPr>
        <p:grpSpPr>
          <a:xfrm>
            <a:off x="9666032" y="1166542"/>
            <a:ext cx="2540947" cy="5107692"/>
            <a:chOff x="9666032" y="1166542"/>
            <a:chExt cx="2540947" cy="5107692"/>
          </a:xfrm>
        </p:grpSpPr>
        <p:sp>
          <p:nvSpPr>
            <p:cNvPr id="32" name="TextBox 31"/>
            <p:cNvSpPr txBox="1"/>
            <p:nvPr/>
          </p:nvSpPr>
          <p:spPr>
            <a:xfrm>
              <a:off x="11390212" y="5361801"/>
              <a:ext cx="619080" cy="276999"/>
            </a:xfrm>
            <a:prstGeom prst="rect">
              <a:avLst/>
            </a:prstGeom>
            <a:noFill/>
          </p:spPr>
          <p:txBody>
            <a:bodyPr wrap="none" rtlCol="0">
              <a:spAutoFit/>
            </a:bodyPr>
            <a:lstStyle/>
            <a:p>
              <a:r>
                <a:rPr lang="en-US" sz="1200" b="1" dirty="0">
                  <a:solidFill>
                    <a:srgbClr val="C00000"/>
                  </a:solidFill>
                  <a:latin typeface="Arial" panose="020B0604020202020204" pitchFamily="34" charset="0"/>
                  <a:cs typeface="Arial" panose="020B0604020202020204" pitchFamily="34" charset="0"/>
                </a:rPr>
                <a:t>96 KB</a:t>
              </a:r>
            </a:p>
          </p:txBody>
        </p:sp>
        <p:sp>
          <p:nvSpPr>
            <p:cNvPr id="78" name="Rectangle 77"/>
            <p:cNvSpPr/>
            <p:nvPr/>
          </p:nvSpPr>
          <p:spPr>
            <a:xfrm>
              <a:off x="9666032" y="5935680"/>
              <a:ext cx="1306768" cy="338554"/>
            </a:xfrm>
            <a:prstGeom prst="rect">
              <a:avLst/>
            </a:prstGeom>
          </p:spPr>
          <p:txBody>
            <a:bodyPr wrap="none">
              <a:spAutoFit/>
            </a:bodyPr>
            <a:lstStyle/>
            <a:p>
              <a:r>
                <a:rPr lang="en-US" sz="1600" dirty="0">
                  <a:latin typeface="Consolas" panose="020B0609020204030204" pitchFamily="49" charset="0"/>
                </a:rPr>
                <a:t>0x20000000</a:t>
              </a:r>
            </a:p>
          </p:txBody>
        </p:sp>
        <p:sp>
          <p:nvSpPr>
            <p:cNvPr id="79" name="Rectangle 78"/>
            <p:cNvSpPr/>
            <p:nvPr/>
          </p:nvSpPr>
          <p:spPr>
            <a:xfrm>
              <a:off x="9680448" y="1166542"/>
              <a:ext cx="1306768" cy="338554"/>
            </a:xfrm>
            <a:prstGeom prst="rect">
              <a:avLst/>
            </a:prstGeom>
          </p:spPr>
          <p:txBody>
            <a:bodyPr wrap="none">
              <a:spAutoFit/>
            </a:bodyPr>
            <a:lstStyle/>
            <a:p>
              <a:r>
                <a:rPr lang="en-US" sz="1600" dirty="0">
                  <a:latin typeface="Consolas" panose="020B0609020204030204" pitchFamily="49" charset="0"/>
                </a:rPr>
                <a:t>0x3FFFFFFF</a:t>
              </a:r>
            </a:p>
          </p:txBody>
        </p:sp>
        <p:sp>
          <p:nvSpPr>
            <p:cNvPr id="33" name="Right Brace 32"/>
            <p:cNvSpPr/>
            <p:nvPr/>
          </p:nvSpPr>
          <p:spPr>
            <a:xfrm>
              <a:off x="10976818" y="3763744"/>
              <a:ext cx="259747" cy="2336545"/>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11125200" y="4471769"/>
              <a:ext cx="1081779" cy="923330"/>
            </a:xfrm>
            <a:prstGeom prst="rect">
              <a:avLst/>
            </a:prstGeom>
          </p:spPr>
          <p:txBody>
            <a:bodyPr wrap="square">
              <a:spAutoFit/>
            </a:bodyPr>
            <a:lstStyle/>
            <a:p>
              <a:pPr algn="ctr"/>
              <a:r>
                <a:rPr lang="en-US" dirty="0"/>
                <a:t>Internal </a:t>
              </a:r>
            </a:p>
            <a:p>
              <a:pPr algn="ctr"/>
              <a:r>
                <a:rPr lang="en-US" dirty="0"/>
                <a:t>SRAM</a:t>
              </a:r>
            </a:p>
            <a:p>
              <a:pPr algn="ctr"/>
              <a:r>
                <a:rPr lang="en-US" dirty="0"/>
                <a:t>Memory</a:t>
              </a:r>
            </a:p>
          </p:txBody>
        </p:sp>
        <p:sp>
          <p:nvSpPr>
            <p:cNvPr id="71" name="Rectangle 70"/>
            <p:cNvSpPr/>
            <p:nvPr/>
          </p:nvSpPr>
          <p:spPr>
            <a:xfrm>
              <a:off x="9666032" y="3581400"/>
              <a:ext cx="1306768" cy="338554"/>
            </a:xfrm>
            <a:prstGeom prst="rect">
              <a:avLst/>
            </a:prstGeom>
          </p:spPr>
          <p:txBody>
            <a:bodyPr wrap="none">
              <a:spAutoFit/>
            </a:bodyPr>
            <a:lstStyle/>
            <a:p>
              <a:r>
                <a:rPr lang="en-US" sz="1600" dirty="0">
                  <a:latin typeface="Consolas" panose="020B0609020204030204" pitchFamily="49" charset="0"/>
                </a:rPr>
                <a:t>0x20017FFF</a:t>
              </a:r>
            </a:p>
          </p:txBody>
        </p:sp>
      </p:grpSp>
      <p:cxnSp>
        <p:nvCxnSpPr>
          <p:cNvPr id="27" name="Straight Connector 26"/>
          <p:cNvCxnSpPr/>
          <p:nvPr/>
        </p:nvCxnSpPr>
        <p:spPr>
          <a:xfrm flipV="1">
            <a:off x="8604420" y="4718189"/>
            <a:ext cx="1524" cy="228600"/>
          </a:xfrm>
          <a:prstGeom prst="line">
            <a:avLst/>
          </a:prstGeom>
          <a:ln w="381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8603738" y="4226101"/>
            <a:ext cx="1524" cy="228600"/>
          </a:xfrm>
          <a:prstGeom prst="line">
            <a:avLst/>
          </a:prstGeom>
          <a:ln w="381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7543800" y="5418057"/>
            <a:ext cx="2136648" cy="34077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Zero-initialized data</a:t>
            </a:r>
          </a:p>
        </p:txBody>
      </p:sp>
      <p:sp>
        <p:nvSpPr>
          <p:cNvPr id="75" name="Rectangle 74"/>
          <p:cNvSpPr/>
          <p:nvPr/>
        </p:nvSpPr>
        <p:spPr>
          <a:xfrm>
            <a:off x="7543800" y="5766643"/>
            <a:ext cx="2136648" cy="3615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Initialized data</a:t>
            </a:r>
          </a:p>
        </p:txBody>
      </p:sp>
    </p:spTree>
    <p:custDataLst>
      <p:tags r:id="rId1"/>
    </p:custDataLst>
    <p:extLst>
      <p:ext uri="{BB962C8B-B14F-4D97-AF65-F5344CB8AC3E}">
        <p14:creationId xmlns:p14="http://schemas.microsoft.com/office/powerpoint/2010/main" val="394655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500"/>
                                        <p:tgtEl>
                                          <p:spTgt spid="6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74"/>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ipe(up)">
                                      <p:cBhvr>
                                        <p:cTn id="39" dur="500"/>
                                        <p:tgtEl>
                                          <p:spTgt spid="7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down)">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7" grpId="0" animBg="1"/>
      <p:bldP spid="76" grpId="0" animBg="1"/>
      <p:bldP spid="70" grpId="0" animBg="1"/>
      <p:bldP spid="73" grpId="0" animBg="1"/>
      <p:bldP spid="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7543800" y="1316726"/>
            <a:ext cx="2136648" cy="480752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p:cNvSpPr/>
          <p:nvPr/>
        </p:nvSpPr>
        <p:spPr>
          <a:xfrm>
            <a:off x="7543800" y="2384823"/>
            <a:ext cx="2136648" cy="196124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Instruction Memory</a:t>
            </a:r>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5</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sp>
        <p:nvSpPr>
          <p:cNvPr id="29" name="Rectangle 28"/>
          <p:cNvSpPr/>
          <p:nvPr/>
        </p:nvSpPr>
        <p:spPr>
          <a:xfrm>
            <a:off x="7541956" y="5963479"/>
            <a:ext cx="2136648" cy="17797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 MSP</a:t>
            </a:r>
          </a:p>
        </p:txBody>
      </p:sp>
      <p:sp>
        <p:nvSpPr>
          <p:cNvPr id="76" name="Rectangle 75"/>
          <p:cNvSpPr/>
          <p:nvPr/>
        </p:nvSpPr>
        <p:spPr>
          <a:xfrm>
            <a:off x="7548438" y="5464376"/>
            <a:ext cx="2136648" cy="4974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a:t>
            </a:r>
          </a:p>
          <a:p>
            <a:pPr algn="ctr"/>
            <a:r>
              <a:rPr lang="en-US" dirty="0"/>
              <a:t>Vector Table</a:t>
            </a:r>
          </a:p>
        </p:txBody>
      </p:sp>
      <p:sp>
        <p:nvSpPr>
          <p:cNvPr id="60" name="Rectangle 59"/>
          <p:cNvSpPr/>
          <p:nvPr/>
        </p:nvSpPr>
        <p:spPr>
          <a:xfrm>
            <a:off x="7544890" y="4337842"/>
            <a:ext cx="2136648" cy="112489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grpSp>
        <p:nvGrpSpPr>
          <p:cNvPr id="36" name="Group 35"/>
          <p:cNvGrpSpPr/>
          <p:nvPr/>
        </p:nvGrpSpPr>
        <p:grpSpPr>
          <a:xfrm>
            <a:off x="5986285" y="3663817"/>
            <a:ext cx="1709915" cy="2456139"/>
            <a:chOff x="5986285" y="3663817"/>
            <a:chExt cx="1709915" cy="2456139"/>
          </a:xfrm>
        </p:grpSpPr>
        <p:sp>
          <p:nvSpPr>
            <p:cNvPr id="50" name="Right Brace 49"/>
            <p:cNvSpPr/>
            <p:nvPr/>
          </p:nvSpPr>
          <p:spPr>
            <a:xfrm flipH="1">
              <a:off x="7269206" y="5462742"/>
              <a:ext cx="269862" cy="657214"/>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Right Brace 60"/>
            <p:cNvSpPr/>
            <p:nvPr/>
          </p:nvSpPr>
          <p:spPr>
            <a:xfrm flipH="1">
              <a:off x="7282208" y="3663817"/>
              <a:ext cx="249756" cy="682249"/>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p:cNvSpPr/>
            <p:nvPr/>
          </p:nvSpPr>
          <p:spPr>
            <a:xfrm rot="16200000">
              <a:off x="6377013" y="4464683"/>
              <a:ext cx="1776929" cy="861444"/>
            </a:xfrm>
            <a:prstGeom prst="arc">
              <a:avLst>
                <a:gd name="adj1" fmla="val 10797844"/>
                <a:gd name="adj2" fmla="val 10136"/>
              </a:avLst>
            </a:prstGeom>
            <a:ln w="190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5986285" y="4670979"/>
              <a:ext cx="934871" cy="523220"/>
            </a:xfrm>
            <a:prstGeom prst="rect">
              <a:avLst/>
            </a:prstGeom>
            <a:noFill/>
          </p:spPr>
          <p:txBody>
            <a:bodyPr wrap="none" rtlCol="0">
              <a:spAutoFit/>
            </a:bodyPr>
            <a:lstStyle/>
            <a:p>
              <a:pPr algn="ctr"/>
              <a:r>
                <a:rPr lang="en-US" sz="1400" b="1" dirty="0">
                  <a:solidFill>
                    <a:srgbClr val="C00000"/>
                  </a:solidFill>
                </a:rPr>
                <a:t>Mapped</a:t>
              </a:r>
            </a:p>
            <a:p>
              <a:pPr algn="ctr"/>
              <a:r>
                <a:rPr lang="en-US" sz="1400" b="1" dirty="0">
                  <a:solidFill>
                    <a:srgbClr val="C00000"/>
                  </a:solidFill>
                </a:rPr>
                <a:t>(aliasing)</a:t>
              </a:r>
            </a:p>
          </p:txBody>
        </p:sp>
      </p:grpSp>
      <p:grpSp>
        <p:nvGrpSpPr>
          <p:cNvPr id="38" name="Group 37"/>
          <p:cNvGrpSpPr/>
          <p:nvPr/>
        </p:nvGrpSpPr>
        <p:grpSpPr>
          <a:xfrm>
            <a:off x="9666032" y="1166542"/>
            <a:ext cx="2483620" cy="5107692"/>
            <a:chOff x="9666032" y="1166542"/>
            <a:chExt cx="2483620" cy="5107692"/>
          </a:xfrm>
        </p:grpSpPr>
        <p:sp>
          <p:nvSpPr>
            <p:cNvPr id="30" name="Rectangle 29"/>
            <p:cNvSpPr/>
            <p:nvPr/>
          </p:nvSpPr>
          <p:spPr>
            <a:xfrm>
              <a:off x="9670049" y="4157246"/>
              <a:ext cx="1306768" cy="338554"/>
            </a:xfrm>
            <a:prstGeom prst="rect">
              <a:avLst/>
            </a:prstGeom>
          </p:spPr>
          <p:txBody>
            <a:bodyPr wrap="none">
              <a:spAutoFit/>
            </a:bodyPr>
            <a:lstStyle/>
            <a:p>
              <a:r>
                <a:rPr lang="en-US" sz="1600" dirty="0">
                  <a:latin typeface="Consolas" panose="020B0609020204030204" pitchFamily="49" charset="0"/>
                </a:rPr>
                <a:t>0x08000000</a:t>
              </a:r>
            </a:p>
          </p:txBody>
        </p:sp>
        <p:sp>
          <p:nvSpPr>
            <p:cNvPr id="31" name="Rectangle 30"/>
            <p:cNvSpPr/>
            <p:nvPr/>
          </p:nvSpPr>
          <p:spPr>
            <a:xfrm>
              <a:off x="9680448" y="2229459"/>
              <a:ext cx="1306768" cy="338554"/>
            </a:xfrm>
            <a:prstGeom prst="rect">
              <a:avLst/>
            </a:prstGeom>
          </p:spPr>
          <p:txBody>
            <a:bodyPr wrap="none">
              <a:spAutoFit/>
            </a:bodyPr>
            <a:lstStyle/>
            <a:p>
              <a:r>
                <a:rPr lang="en-US" sz="1600" dirty="0">
                  <a:latin typeface="Consolas" panose="020B0609020204030204" pitchFamily="49" charset="0"/>
                </a:rPr>
                <a:t>0x080FFFFF</a:t>
              </a:r>
            </a:p>
          </p:txBody>
        </p:sp>
        <p:sp>
          <p:nvSpPr>
            <p:cNvPr id="32" name="TextBox 31"/>
            <p:cNvSpPr txBox="1"/>
            <p:nvPr/>
          </p:nvSpPr>
          <p:spPr>
            <a:xfrm>
              <a:off x="11332885" y="3793811"/>
              <a:ext cx="551754" cy="276999"/>
            </a:xfrm>
            <a:prstGeom prst="rect">
              <a:avLst/>
            </a:prstGeom>
            <a:noFill/>
          </p:spPr>
          <p:txBody>
            <a:bodyPr wrap="none" rtlCol="0">
              <a:spAutoFit/>
            </a:bodyPr>
            <a:lstStyle/>
            <a:p>
              <a:r>
                <a:rPr lang="en-US" sz="1200" b="1" dirty="0">
                  <a:solidFill>
                    <a:srgbClr val="C00000"/>
                  </a:solidFill>
                  <a:latin typeface="Arial" panose="020B0604020202020204" pitchFamily="34" charset="0"/>
                  <a:cs typeface="Arial" panose="020B0604020202020204" pitchFamily="34" charset="0"/>
                </a:rPr>
                <a:t>1 MB</a:t>
              </a:r>
            </a:p>
          </p:txBody>
        </p:sp>
        <p:sp>
          <p:nvSpPr>
            <p:cNvPr id="78" name="Rectangle 77"/>
            <p:cNvSpPr/>
            <p:nvPr/>
          </p:nvSpPr>
          <p:spPr>
            <a:xfrm>
              <a:off x="9666032" y="5935680"/>
              <a:ext cx="1306768" cy="338554"/>
            </a:xfrm>
            <a:prstGeom prst="rect">
              <a:avLst/>
            </a:prstGeom>
          </p:spPr>
          <p:txBody>
            <a:bodyPr wrap="none">
              <a:spAutoFit/>
            </a:bodyPr>
            <a:lstStyle/>
            <a:p>
              <a:r>
                <a:rPr lang="en-US" sz="1600" dirty="0">
                  <a:latin typeface="Consolas" panose="020B0609020204030204" pitchFamily="49" charset="0"/>
                </a:rPr>
                <a:t>0x00000000</a:t>
              </a:r>
            </a:p>
          </p:txBody>
        </p:sp>
        <p:sp>
          <p:nvSpPr>
            <p:cNvPr id="79" name="Rectangle 78"/>
            <p:cNvSpPr/>
            <p:nvPr/>
          </p:nvSpPr>
          <p:spPr>
            <a:xfrm>
              <a:off x="9680448" y="1166542"/>
              <a:ext cx="1306768" cy="338554"/>
            </a:xfrm>
            <a:prstGeom prst="rect">
              <a:avLst/>
            </a:prstGeom>
          </p:spPr>
          <p:txBody>
            <a:bodyPr wrap="none">
              <a:spAutoFit/>
            </a:bodyPr>
            <a:lstStyle/>
            <a:p>
              <a:r>
                <a:rPr lang="en-US" sz="1600" dirty="0">
                  <a:latin typeface="Consolas" panose="020B0609020204030204" pitchFamily="49" charset="0"/>
                </a:rPr>
                <a:t>0x1FFFFFFF</a:t>
              </a:r>
            </a:p>
          </p:txBody>
        </p:sp>
        <p:sp>
          <p:nvSpPr>
            <p:cNvPr id="33" name="Right Brace 32"/>
            <p:cNvSpPr/>
            <p:nvPr/>
          </p:nvSpPr>
          <p:spPr>
            <a:xfrm>
              <a:off x="10976817" y="2384823"/>
              <a:ext cx="225397" cy="1941700"/>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11067873" y="2903779"/>
              <a:ext cx="1081779" cy="923330"/>
            </a:xfrm>
            <a:prstGeom prst="rect">
              <a:avLst/>
            </a:prstGeom>
          </p:spPr>
          <p:txBody>
            <a:bodyPr wrap="square">
              <a:spAutoFit/>
            </a:bodyPr>
            <a:lstStyle/>
            <a:p>
              <a:pPr algn="ctr"/>
              <a:r>
                <a:rPr lang="en-US" dirty="0"/>
                <a:t>Internal </a:t>
              </a:r>
            </a:p>
            <a:p>
              <a:pPr algn="ctr"/>
              <a:r>
                <a:rPr lang="en-US" dirty="0"/>
                <a:t>Flash</a:t>
              </a:r>
            </a:p>
            <a:p>
              <a:pPr algn="ctr"/>
              <a:r>
                <a:rPr lang="en-US" dirty="0"/>
                <a:t>Memory</a:t>
              </a:r>
            </a:p>
          </p:txBody>
        </p:sp>
      </p:grpSp>
      <p:sp>
        <p:nvSpPr>
          <p:cNvPr id="62" name="Rectangle 61"/>
          <p:cNvSpPr/>
          <p:nvPr/>
        </p:nvSpPr>
        <p:spPr>
          <a:xfrm>
            <a:off x="7543800" y="4168089"/>
            <a:ext cx="2136648" cy="17797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 MSP</a:t>
            </a:r>
          </a:p>
        </p:txBody>
      </p:sp>
      <p:sp>
        <p:nvSpPr>
          <p:cNvPr id="63" name="Rectangle 62"/>
          <p:cNvSpPr/>
          <p:nvPr/>
        </p:nvSpPr>
        <p:spPr>
          <a:xfrm>
            <a:off x="7545948" y="3668986"/>
            <a:ext cx="2136648" cy="4974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a:t>
            </a:r>
          </a:p>
          <a:p>
            <a:pPr algn="ctr"/>
            <a:r>
              <a:rPr lang="en-US" dirty="0"/>
              <a:t>Vector Table</a:t>
            </a:r>
          </a:p>
        </p:txBody>
      </p:sp>
      <p:sp>
        <p:nvSpPr>
          <p:cNvPr id="64" name="Rectangle 63"/>
          <p:cNvSpPr/>
          <p:nvPr/>
        </p:nvSpPr>
        <p:spPr>
          <a:xfrm>
            <a:off x="7543800" y="3366888"/>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Section</a:t>
            </a:r>
          </a:p>
        </p:txBody>
      </p:sp>
      <p:sp>
        <p:nvSpPr>
          <p:cNvPr id="66" name="Rectangle 65"/>
          <p:cNvSpPr/>
          <p:nvPr/>
        </p:nvSpPr>
        <p:spPr>
          <a:xfrm>
            <a:off x="7543800" y="3067753"/>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 Section</a:t>
            </a:r>
          </a:p>
        </p:txBody>
      </p:sp>
      <p:sp>
        <p:nvSpPr>
          <p:cNvPr id="67" name="Rectangle 66"/>
          <p:cNvSpPr/>
          <p:nvPr/>
        </p:nvSpPr>
        <p:spPr>
          <a:xfrm>
            <a:off x="7545017" y="2760832"/>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 Section</a:t>
            </a:r>
          </a:p>
        </p:txBody>
      </p:sp>
      <p:sp>
        <p:nvSpPr>
          <p:cNvPr id="23" name="Rectangle 22"/>
          <p:cNvSpPr/>
          <p:nvPr/>
        </p:nvSpPr>
        <p:spPr>
          <a:xfrm>
            <a:off x="8082411" y="1622669"/>
            <a:ext cx="1055738" cy="369332"/>
          </a:xfrm>
          <a:prstGeom prst="rect">
            <a:avLst/>
          </a:prstGeom>
        </p:spPr>
        <p:txBody>
          <a:bodyPr wrap="none">
            <a:spAutoFit/>
          </a:bodyPr>
          <a:lstStyle/>
          <a:p>
            <a:r>
              <a:rPr lang="en-US" dirty="0">
                <a:solidFill>
                  <a:schemeClr val="bg1"/>
                </a:solidFill>
              </a:rPr>
              <a:t>Reserved</a:t>
            </a:r>
          </a:p>
        </p:txBody>
      </p:sp>
      <p:cxnSp>
        <p:nvCxnSpPr>
          <p:cNvPr id="25" name="Straight Arrow Connector 24"/>
          <p:cNvCxnSpPr/>
          <p:nvPr/>
        </p:nvCxnSpPr>
        <p:spPr>
          <a:xfrm flipV="1">
            <a:off x="5791200" y="1316726"/>
            <a:ext cx="1740764" cy="4238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V="1">
            <a:off x="5782536" y="6140456"/>
            <a:ext cx="1763328" cy="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8975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500"/>
                                        <p:tgtEl>
                                          <p:spTgt spid="6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7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68" grpId="0" animBg="1"/>
      <p:bldP spid="29" grpId="0" animBg="1"/>
      <p:bldP spid="76" grpId="0" animBg="1"/>
      <p:bldP spid="60" grpId="0" animBg="1"/>
      <p:bldP spid="62" grpId="0" animBg="1"/>
      <p:bldP spid="63" grpId="0" animBg="1"/>
      <p:bldP spid="64" grpId="0" animBg="1"/>
      <p:bldP spid="66" grpId="0" animBg="1"/>
      <p:bldP spid="67"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Vector Table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7" name="Group 6"/>
          <p:cNvGrpSpPr/>
          <p:nvPr/>
        </p:nvGrpSpPr>
        <p:grpSpPr>
          <a:xfrm>
            <a:off x="129634" y="1216899"/>
            <a:ext cx="5890166" cy="5488701"/>
            <a:chOff x="3929333" y="1006354"/>
            <a:chExt cx="2153739" cy="1707232"/>
          </a:xfrm>
        </p:grpSpPr>
        <p:pic>
          <p:nvPicPr>
            <p:cNvPr id="13" name="Picture 3"/>
            <p:cNvPicPr>
              <a:picLocks noChangeAspect="1" noChangeArrowheads="1"/>
            </p:cNvPicPr>
            <p:nvPr/>
          </p:nvPicPr>
          <p:blipFill>
            <a:blip r:embed="rId3" cstate="print"/>
            <a:srcRect/>
            <a:stretch>
              <a:fillRect/>
            </a:stretch>
          </p:blipFill>
          <p:spPr bwMode="auto">
            <a:xfrm>
              <a:off x="3929333" y="1006354"/>
              <a:ext cx="2153739" cy="1707232"/>
            </a:xfrm>
            <a:prstGeom prst="rect">
              <a:avLst/>
            </a:prstGeom>
            <a:noFill/>
            <a:ln w="9525">
              <a:noFill/>
              <a:miter lim="800000"/>
              <a:headEnd/>
              <a:tailEnd/>
            </a:ln>
          </p:spPr>
        </p:pic>
        <p:sp>
          <p:nvSpPr>
            <p:cNvPr id="14" name="TextBox 13"/>
            <p:cNvSpPr txBox="1"/>
            <p:nvPr/>
          </p:nvSpPr>
          <p:spPr>
            <a:xfrm>
              <a:off x="4471440" y="1362696"/>
              <a:ext cx="77930" cy="131476"/>
            </a:xfrm>
            <a:prstGeom prst="rect">
              <a:avLst/>
            </a:prstGeom>
            <a:noFill/>
          </p:spPr>
          <p:txBody>
            <a:bodyPr wrap="none" rtlCol="0">
              <a:spAutoFit/>
            </a:bodyPr>
            <a:lstStyle/>
            <a:p>
              <a:endParaRPr lang="en-US" dirty="0">
                <a:solidFill>
                  <a:schemeClr val="bg1"/>
                </a:solidFill>
              </a:endParaRPr>
            </a:p>
          </p:txBody>
        </p:sp>
      </p:grpSp>
      <p:sp>
        <p:nvSpPr>
          <p:cNvPr id="8" name="TextBox 7"/>
          <p:cNvSpPr txBox="1"/>
          <p:nvPr/>
        </p:nvSpPr>
        <p:spPr>
          <a:xfrm>
            <a:off x="76200" y="3006329"/>
            <a:ext cx="626967" cy="338554"/>
          </a:xfrm>
          <a:prstGeom prst="rect">
            <a:avLst/>
          </a:prstGeom>
          <a:noFill/>
        </p:spPr>
        <p:txBody>
          <a:bodyPr wrap="none" rtlCol="0">
            <a:spAutoFit/>
          </a:bodyPr>
          <a:lstStyle/>
          <a:p>
            <a:r>
              <a:rPr lang="en-US" sz="1600" b="1" dirty="0"/>
              <a:t>PA.3</a:t>
            </a:r>
          </a:p>
        </p:txBody>
      </p:sp>
      <p:sp>
        <p:nvSpPr>
          <p:cNvPr id="9" name="Flowchart: Manual Operation 8"/>
          <p:cNvSpPr/>
          <p:nvPr/>
        </p:nvSpPr>
        <p:spPr>
          <a:xfrm rot="16200000" flipH="1">
            <a:off x="1012644" y="3399129"/>
            <a:ext cx="1489962" cy="415145"/>
          </a:xfrm>
          <a:prstGeom prst="flowChartManualOperati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634993" y="3203034"/>
            <a:ext cx="91505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9" idx="2"/>
            <a:endCxn id="4" idx="1"/>
          </p:cNvCxnSpPr>
          <p:nvPr/>
        </p:nvCxnSpPr>
        <p:spPr>
          <a:xfrm flipV="1">
            <a:off x="1965198" y="3598580"/>
            <a:ext cx="647373" cy="812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21970" y="3178652"/>
            <a:ext cx="753732" cy="338554"/>
          </a:xfrm>
          <a:prstGeom prst="rect">
            <a:avLst/>
          </a:prstGeom>
          <a:noFill/>
        </p:spPr>
        <p:txBody>
          <a:bodyPr wrap="none" rtlCol="0">
            <a:spAutoFit/>
          </a:bodyPr>
          <a:lstStyle/>
          <a:p>
            <a:r>
              <a:rPr lang="en-US" sz="1600" dirty="0">
                <a:solidFill>
                  <a:schemeClr val="bg1"/>
                </a:solidFill>
                <a:latin typeface="Arial" panose="020B0604020202020204" pitchFamily="34" charset="0"/>
                <a:cs typeface="Arial" panose="020B0604020202020204" pitchFamily="34" charset="0"/>
              </a:rPr>
              <a:t>EXTI3</a:t>
            </a:r>
          </a:p>
        </p:txBody>
      </p:sp>
      <p:sp>
        <p:nvSpPr>
          <p:cNvPr id="4" name="Rectangle 3"/>
          <p:cNvSpPr/>
          <p:nvPr/>
        </p:nvSpPr>
        <p:spPr>
          <a:xfrm>
            <a:off x="2612571" y="3090745"/>
            <a:ext cx="565539" cy="1015669"/>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a:t>NVIC</a:t>
            </a:r>
          </a:p>
        </p:txBody>
      </p:sp>
      <p:sp>
        <p:nvSpPr>
          <p:cNvPr id="17" name="Rectangle 16"/>
          <p:cNvSpPr/>
          <p:nvPr/>
        </p:nvSpPr>
        <p:spPr>
          <a:xfrm>
            <a:off x="4130841" y="3087505"/>
            <a:ext cx="781308" cy="1028848"/>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a:t>Cortex-M4</a:t>
            </a:r>
          </a:p>
        </p:txBody>
      </p:sp>
      <p:cxnSp>
        <p:nvCxnSpPr>
          <p:cNvPr id="18" name="Straight Arrow Connector 17"/>
          <p:cNvCxnSpPr>
            <a:stCxn id="4" idx="3"/>
            <a:endCxn id="17" idx="1"/>
          </p:cNvCxnSpPr>
          <p:nvPr/>
        </p:nvCxnSpPr>
        <p:spPr>
          <a:xfrm>
            <a:off x="3178110" y="3598580"/>
            <a:ext cx="952731" cy="334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42372" y="2419854"/>
            <a:ext cx="2703759" cy="646331"/>
          </a:xfrm>
          <a:prstGeom prst="rect">
            <a:avLst/>
          </a:prstGeom>
          <a:noFill/>
        </p:spPr>
        <p:txBody>
          <a:bodyPr wrap="square" rtlCol="0">
            <a:spAutoFit/>
          </a:bodyPr>
          <a:lstStyle/>
          <a:p>
            <a:pPr algn="ctr"/>
            <a:r>
              <a:rPr lang="en-US" dirty="0">
                <a:solidFill>
                  <a:schemeClr val="bg1"/>
                </a:solidFill>
              </a:rPr>
              <a:t>Nested-Vectored Interrupt Controller (NVIC)</a:t>
            </a:r>
          </a:p>
        </p:txBody>
      </p:sp>
      <p:sp>
        <p:nvSpPr>
          <p:cNvPr id="27" name="TextBox 26"/>
          <p:cNvSpPr txBox="1"/>
          <p:nvPr/>
        </p:nvSpPr>
        <p:spPr>
          <a:xfrm>
            <a:off x="7277669" y="1531531"/>
            <a:ext cx="2207014" cy="369332"/>
          </a:xfrm>
          <a:prstGeom prst="rect">
            <a:avLst/>
          </a:prstGeom>
          <a:noFill/>
        </p:spPr>
        <p:txBody>
          <a:bodyPr wrap="none" rtlCol="0">
            <a:spAutoFit/>
          </a:bodyPr>
          <a:lstStyle/>
          <a:p>
            <a:r>
              <a:rPr lang="en-US" dirty="0">
                <a:solidFill>
                  <a:srgbClr val="C00000"/>
                </a:solidFill>
              </a:rPr>
              <a:t>Interrupt Vector Table</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539246174"/>
              </p:ext>
            </p:extLst>
          </p:nvPr>
        </p:nvGraphicFramePr>
        <p:xfrm>
          <a:off x="5684526" y="2001909"/>
          <a:ext cx="6355074" cy="2865120"/>
        </p:xfrm>
        <a:graphic>
          <a:graphicData uri="http://schemas.openxmlformats.org/drawingml/2006/table">
            <a:tbl>
              <a:tblPr firstRow="1" bandRow="1">
                <a:tableStyleId>{5C22544A-7EE6-4342-B048-85BDC9FD1C3A}</a:tableStyleId>
              </a:tblPr>
              <a:tblGrid>
                <a:gridCol w="2221265">
                  <a:extLst>
                    <a:ext uri="{9D8B030D-6E8A-4147-A177-3AD203B41FA5}">
                      <a16:colId xmlns:a16="http://schemas.microsoft.com/office/drawing/2014/main" val="3696067461"/>
                    </a:ext>
                  </a:extLst>
                </a:gridCol>
                <a:gridCol w="4133809">
                  <a:extLst>
                    <a:ext uri="{9D8B030D-6E8A-4147-A177-3AD203B41FA5}">
                      <a16:colId xmlns:a16="http://schemas.microsoft.com/office/drawing/2014/main" val="2927982993"/>
                    </a:ext>
                  </a:extLst>
                </a:gridCol>
              </a:tblGrid>
              <a:tr h="370840">
                <a:tc>
                  <a:txBody>
                    <a:bodyPr/>
                    <a:lstStyle/>
                    <a:p>
                      <a:pPr algn="ctr"/>
                      <a:r>
                        <a:rPr lang="en-US" dirty="0"/>
                        <a:t>Interrupt Number </a:t>
                      </a:r>
                    </a:p>
                    <a:p>
                      <a:pPr algn="ctr"/>
                      <a:r>
                        <a:rPr lang="en-US" dirty="0"/>
                        <a:t>(8 bits)</a:t>
                      </a:r>
                    </a:p>
                  </a:txBody>
                  <a:tcPr/>
                </a:tc>
                <a:tc>
                  <a:txBody>
                    <a:bodyPr/>
                    <a:lstStyle/>
                    <a:p>
                      <a:pPr algn="ctr"/>
                      <a:r>
                        <a:rPr lang="en-US" dirty="0"/>
                        <a:t>Memory Address of ISR </a:t>
                      </a:r>
                    </a:p>
                    <a:p>
                      <a:pPr algn="ctr"/>
                      <a:r>
                        <a:rPr lang="en-US" dirty="0"/>
                        <a:t>(32 bits)</a:t>
                      </a:r>
                    </a:p>
                  </a:txBody>
                  <a:tcPr/>
                </a:tc>
                <a:extLst>
                  <a:ext uri="{0D108BD9-81ED-4DB2-BD59-A6C34878D82A}">
                    <a16:rowId xmlns:a16="http://schemas.microsoft.com/office/drawing/2014/main" val="3128780262"/>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1</a:t>
                      </a:r>
                    </a:p>
                  </a:txBody>
                  <a:tcPr/>
                </a:tc>
                <a:extLst>
                  <a:ext uri="{0D108BD9-81ED-4DB2-BD59-A6C34878D82A}">
                    <a16:rowId xmlns:a16="http://schemas.microsoft.com/office/drawing/2014/main" val="65298044"/>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2</a:t>
                      </a:r>
                    </a:p>
                  </a:txBody>
                  <a:tcPr/>
                </a:tc>
                <a:extLst>
                  <a:ext uri="{0D108BD9-81ED-4DB2-BD59-A6C34878D82A}">
                    <a16:rowId xmlns:a16="http://schemas.microsoft.com/office/drawing/2014/main" val="3266122264"/>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3</a:t>
                      </a:r>
                    </a:p>
                  </a:txBody>
                  <a:tcPr/>
                </a:tc>
                <a:extLst>
                  <a:ext uri="{0D108BD9-81ED-4DB2-BD59-A6C34878D82A}">
                    <a16:rowId xmlns:a16="http://schemas.microsoft.com/office/drawing/2014/main" val="3100880944"/>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4</a:t>
                      </a:r>
                    </a:p>
                  </a:txBody>
                  <a:tcPr/>
                </a:tc>
                <a:extLst>
                  <a:ext uri="{0D108BD9-81ED-4DB2-BD59-A6C34878D82A}">
                    <a16:rowId xmlns:a16="http://schemas.microsoft.com/office/drawing/2014/main" val="173286262"/>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5</a:t>
                      </a:r>
                    </a:p>
                  </a:txBody>
                  <a:tcPr/>
                </a:tc>
                <a:extLst>
                  <a:ext uri="{0D108BD9-81ED-4DB2-BD59-A6C34878D82A}">
                    <a16:rowId xmlns:a16="http://schemas.microsoft.com/office/drawing/2014/main" val="1230519084"/>
                  </a:ext>
                </a:extLst>
              </a:tr>
              <a:tr h="370840">
                <a:tc>
                  <a:txBody>
                    <a:bodyPr/>
                    <a:lstStyle/>
                    <a:p>
                      <a:pPr algn="ctr"/>
                      <a:r>
                        <a:rPr lang="en-US" dirty="0">
                          <a:latin typeface="Arial" panose="020B0604020202020204" pitchFamily="34" charset="0"/>
                          <a:cs typeface="Arial" panose="020B0604020202020204" pitchFamily="34" charset="0"/>
                        </a:rPr>
                        <a:t>…</a:t>
                      </a:r>
                    </a:p>
                  </a:txBody>
                  <a:tcPr/>
                </a:tc>
                <a:tc>
                  <a:txBody>
                    <a:bodyPr/>
                    <a:lstStyle/>
                    <a:p>
                      <a:pPr algn="l"/>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5325571"/>
                  </a:ext>
                </a:extLst>
              </a:tr>
            </a:tbl>
          </a:graphicData>
        </a:graphic>
      </p:graphicFrame>
      <p:sp>
        <p:nvSpPr>
          <p:cNvPr id="28" name="TextBox 27"/>
          <p:cNvSpPr txBox="1"/>
          <p:nvPr/>
        </p:nvSpPr>
        <p:spPr>
          <a:xfrm>
            <a:off x="6498933" y="5167659"/>
            <a:ext cx="430308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When interrupt x is triggered, jump to the ISR for interrupt x. (1 ≤ x ≤ 255)</a:t>
            </a:r>
          </a:p>
        </p:txBody>
      </p:sp>
      <p:cxnSp>
        <p:nvCxnSpPr>
          <p:cNvPr id="19" name="Straight Arrow Connector 18"/>
          <p:cNvCxnSpPr/>
          <p:nvPr/>
        </p:nvCxnSpPr>
        <p:spPr>
          <a:xfrm flipH="1">
            <a:off x="8686800" y="1619399"/>
            <a:ext cx="1447800" cy="11027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9837649" y="1267550"/>
            <a:ext cx="1928733"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Address of ISR 1</a:t>
            </a:r>
          </a:p>
        </p:txBody>
      </p:sp>
      <p:sp>
        <p:nvSpPr>
          <p:cNvPr id="24" name="Rectangle 23"/>
          <p:cNvSpPr/>
          <p:nvPr/>
        </p:nvSpPr>
        <p:spPr>
          <a:xfrm>
            <a:off x="2925713" y="4318620"/>
            <a:ext cx="2110006" cy="338554"/>
          </a:xfrm>
          <a:prstGeom prst="rect">
            <a:avLst/>
          </a:prstGeom>
        </p:spPr>
        <p:txBody>
          <a:bodyPr wrap="square">
            <a:spAutoFit/>
          </a:bodyPr>
          <a:lstStyle/>
          <a:p>
            <a:r>
              <a:rPr lang="en-US" sz="1600" dirty="0">
                <a:solidFill>
                  <a:schemeClr val="bg1"/>
                </a:solidFill>
                <a:latin typeface="Arial" panose="020B0604020202020204" pitchFamily="34" charset="0"/>
                <a:cs typeface="Arial" panose="020B0604020202020204" pitchFamily="34" charset="0"/>
              </a:rPr>
              <a:t>EXTI3_IRQHandler</a:t>
            </a:r>
          </a:p>
        </p:txBody>
      </p:sp>
      <p:sp>
        <p:nvSpPr>
          <p:cNvPr id="29" name="Rectangle 28"/>
          <p:cNvSpPr/>
          <p:nvPr/>
        </p:nvSpPr>
        <p:spPr>
          <a:xfrm>
            <a:off x="2287195" y="4779476"/>
            <a:ext cx="1206410" cy="783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Vector Table</a:t>
            </a:r>
          </a:p>
        </p:txBody>
      </p:sp>
      <p:cxnSp>
        <p:nvCxnSpPr>
          <p:cNvPr id="31" name="Straight Arrow Connector 30"/>
          <p:cNvCxnSpPr>
            <a:stCxn id="29" idx="0"/>
          </p:cNvCxnSpPr>
          <p:nvPr/>
        </p:nvCxnSpPr>
        <p:spPr>
          <a:xfrm flipV="1">
            <a:off x="2890400" y="4116353"/>
            <a:ext cx="10086" cy="6631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86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51B8-D224-A5C0-C978-F21E09C7FBC0}"/>
              </a:ext>
            </a:extLst>
          </p:cNvPr>
          <p:cNvSpPr>
            <a:spLocks noGrp="1"/>
          </p:cNvSpPr>
          <p:nvPr>
            <p:ph type="title"/>
          </p:nvPr>
        </p:nvSpPr>
        <p:spPr/>
        <p:txBody>
          <a:bodyPr/>
          <a:lstStyle/>
          <a:p>
            <a:r>
              <a:rPr lang="en-US" dirty="0"/>
              <a:t>Interrupt Vector Table</a:t>
            </a:r>
          </a:p>
        </p:txBody>
      </p:sp>
      <p:sp>
        <p:nvSpPr>
          <p:cNvPr id="3" name="Slide Number Placeholder 2">
            <a:extLst>
              <a:ext uri="{FF2B5EF4-FFF2-40B4-BE49-F238E27FC236}">
                <a16:creationId xmlns:a16="http://schemas.microsoft.com/office/drawing/2014/main" id="{56DE8570-9EC5-DF4A-36EA-CE02E077D6B0}"/>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A5B6F9A4-63DA-2E54-898F-B7515B482A41}"/>
              </a:ext>
            </a:extLst>
          </p:cNvPr>
          <p:cNvSpPr>
            <a:spLocks noGrp="1"/>
          </p:cNvSpPr>
          <p:nvPr>
            <p:ph sz="quarter" idx="1"/>
          </p:nvPr>
        </p:nvSpPr>
        <p:spPr/>
        <p:txBody>
          <a:bodyPr>
            <a:normAutofit/>
          </a:bodyPr>
          <a:lstStyle/>
          <a:p>
            <a:r>
              <a:rPr lang="en-US" dirty="0"/>
              <a:t>The Nested Vectored Interrupt Controller (NVIC),  prioritizes and handles all interrupts. The IVT holds an array of memory addresses, each entry is a function pointer pointing to the starting memory address of an ISR. </a:t>
            </a:r>
          </a:p>
          <a:p>
            <a:r>
              <a:rPr lang="en-US" dirty="0"/>
              <a:t>Every type of interrupt is assigned a number, called </a:t>
            </a:r>
            <a:r>
              <a:rPr lang="en-US"/>
              <a:t>interrupt number, </a:t>
            </a:r>
            <a:r>
              <a:rPr lang="en-US" dirty="0"/>
              <a:t>used to index into the IVT.  When interrupt x is triggered, NVIC uses the interrupt number x as the index to look up the memory address of its corresponding ISR, and forces the processor to jump to and execute this ISR.</a:t>
            </a:r>
          </a:p>
          <a:p>
            <a:pPr lvl="1"/>
            <a:r>
              <a:rPr lang="en-US" dirty="0"/>
              <a:t>When we press the push button connected to the pin PA.3, the hardware generates an electrical signal, called interrupt request EXTI3.  When NVIC receives the interrupt request, it forces the processor to jump to and execute, the ISR named EXTI3 IRQ Handler.  </a:t>
            </a:r>
          </a:p>
          <a:p>
            <a:endParaRPr lang="en-US" dirty="0"/>
          </a:p>
          <a:p>
            <a:endParaRPr lang="en-US" dirty="0"/>
          </a:p>
        </p:txBody>
      </p:sp>
    </p:spTree>
    <p:extLst>
      <p:ext uri="{BB962C8B-B14F-4D97-AF65-F5344CB8AC3E}">
        <p14:creationId xmlns:p14="http://schemas.microsoft.com/office/powerpoint/2010/main" val="2941114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Vector Table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91073" y="3183244"/>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828800"/>
            <a:ext cx="1167307" cy="369332"/>
          </a:xfrm>
          <a:prstGeom prst="rect">
            <a:avLst/>
          </a:prstGeom>
          <a:noFill/>
        </p:spPr>
        <p:txBody>
          <a:bodyPr wrap="none" rtlCol="0">
            <a:spAutoFit/>
          </a:bodyPr>
          <a:lstStyle/>
          <a:p>
            <a:r>
              <a:rPr lang="en-US" dirty="0">
                <a:solidFill>
                  <a:srgbClr val="0000FF"/>
                </a:solidFill>
              </a:rPr>
              <a:t>Main stack</a:t>
            </a:r>
          </a:p>
        </p:txBody>
      </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2654894" cy="307777"/>
          </a:xfrm>
          <a:prstGeom prst="rect">
            <a:avLst/>
          </a:prstGeom>
          <a:noFill/>
        </p:spPr>
        <p:txBody>
          <a:bodyPr wrap="none" rtlCol="0">
            <a:spAutoFit/>
          </a:bodyPr>
          <a:lstStyle/>
          <a:p>
            <a:r>
              <a:rPr lang="en-US" sz="1400" dirty="0">
                <a:solidFill>
                  <a:srgbClr val="0000FF"/>
                </a:solidFill>
              </a:rPr>
              <a:t>Initialize MSP (main stack pointer)</a:t>
            </a:r>
          </a:p>
        </p:txBody>
      </p:sp>
      <p:sp>
        <p:nvSpPr>
          <p:cNvPr id="203" name="Rectangle 202"/>
          <p:cNvSpPr/>
          <p:nvPr/>
        </p:nvSpPr>
        <p:spPr>
          <a:xfrm>
            <a:off x="2967141" y="4790712"/>
            <a:ext cx="2595459"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bg1"/>
                </a:solidFill>
              </a:rPr>
              <a:t>Bit </a:t>
            </a:r>
            <a:r>
              <a:rPr lang="en-US" sz="1400" dirty="0">
                <a:solidFill>
                  <a:schemeClr val="bg1"/>
                </a:solidFill>
                <a:latin typeface="Consolas"/>
                <a:cs typeface="Consolas"/>
              </a:rPr>
              <a:t>0</a:t>
            </a:r>
            <a:r>
              <a:rPr lang="en-US" sz="1400" dirty="0">
                <a:solidFill>
                  <a:schemeClr val="bg1"/>
                </a:solidFill>
              </a:rPr>
              <a:t> is </a:t>
            </a:r>
            <a:r>
              <a:rPr lang="en-US" sz="1400" dirty="0">
                <a:solidFill>
                  <a:schemeClr val="bg1"/>
                </a:solidFill>
                <a:latin typeface="Consolas"/>
                <a:cs typeface="Consolas"/>
              </a:rPr>
              <a:t>1</a:t>
            </a:r>
            <a:r>
              <a:rPr lang="en-US" sz="1400" dirty="0">
                <a:solidFill>
                  <a:schemeClr val="bg1"/>
                </a:solidFill>
              </a:rPr>
              <a:t>, indicating Thumb state.</a:t>
            </a:r>
          </a:p>
        </p:txBody>
      </p:sp>
      <p:cxnSp>
        <p:nvCxnSpPr>
          <p:cNvPr id="204" name="Straight Arrow Connector 203"/>
          <p:cNvCxnSpPr/>
          <p:nvPr/>
        </p:nvCxnSpPr>
        <p:spPr>
          <a:xfrm flipV="1">
            <a:off x="2438400" y="5488533"/>
            <a:ext cx="381167" cy="395"/>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3786614" cy="307777"/>
          </a:xfrm>
          <a:prstGeom prst="rect">
            <a:avLst/>
          </a:prstGeom>
          <a:noFill/>
        </p:spPr>
        <p:txBody>
          <a:bodyPr wrap="none" rtlCol="0">
            <a:spAutoFit/>
          </a:bodyPr>
          <a:lstStyle/>
          <a:p>
            <a:r>
              <a:rPr lang="en-US" sz="1400" dirty="0" err="1">
                <a:solidFill>
                  <a:srgbClr val="FF00FF"/>
                </a:solidFill>
              </a:rPr>
              <a:t>Reset_Handler</a:t>
            </a:r>
            <a:r>
              <a:rPr lang="en-US" sz="1400" dirty="0">
                <a:solidFill>
                  <a:srgbClr val="FF00FF"/>
                </a:solidFill>
              </a:rPr>
              <a:t>();  Initialize PC (program counter)</a:t>
            </a:r>
          </a:p>
        </p:txBody>
      </p:sp>
      <p:cxnSp>
        <p:nvCxnSpPr>
          <p:cNvPr id="207" name="Straight Arrow Connector 206"/>
          <p:cNvCxnSpPr>
            <a:stCxn id="148" idx="3"/>
            <a:endCxn id="203" idx="1"/>
          </p:cNvCxnSpPr>
          <p:nvPr/>
        </p:nvCxnSpPr>
        <p:spPr>
          <a:xfrm>
            <a:off x="2435592" y="4376126"/>
            <a:ext cx="531549" cy="5684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a:stCxn id="138" idx="3"/>
            <a:endCxn id="203" idx="1"/>
          </p:cNvCxnSpPr>
          <p:nvPr/>
        </p:nvCxnSpPr>
        <p:spPr>
          <a:xfrm flipV="1">
            <a:off x="2438400" y="4944601"/>
            <a:ext cx="528741" cy="5217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188016" y="5530881"/>
            <a:ext cx="1279749" cy="307777"/>
          </a:xfrm>
          <a:prstGeom prst="rect">
            <a:avLst/>
          </a:prstGeom>
        </p:spPr>
        <p:txBody>
          <a:bodyPr wrap="square">
            <a:spAutoFit/>
          </a:bodyPr>
          <a:lstStyle/>
          <a:p>
            <a:r>
              <a:rPr lang="en-GB" sz="1400" b="1" dirty="0">
                <a:solidFill>
                  <a:srgbClr val="0000FF"/>
                </a:solidFill>
                <a:latin typeface="Consolas" panose="020B0609020204030204" pitchFamily="49" charset="0"/>
              </a:rPr>
              <a:t>0x20000068</a:t>
            </a:r>
            <a:endParaRPr lang="en-US" b="1" dirty="0"/>
          </a:p>
        </p:txBody>
      </p:sp>
      <p:sp>
        <p:nvSpPr>
          <p:cNvPr id="6" name="Rectangle 5"/>
          <p:cNvSpPr/>
          <p:nvPr/>
        </p:nvSpPr>
        <p:spPr>
          <a:xfrm>
            <a:off x="1196108" y="5307575"/>
            <a:ext cx="1178528" cy="307777"/>
          </a:xfrm>
          <a:prstGeom prst="rect">
            <a:avLst/>
          </a:prstGeom>
        </p:spPr>
        <p:txBody>
          <a:bodyPr wrap="none">
            <a:spAutoFit/>
          </a:bodyPr>
          <a:lstStyle/>
          <a:p>
            <a:r>
              <a:rPr lang="en-GB" sz="1400" b="1" dirty="0">
                <a:solidFill>
                  <a:srgbClr val="FF00FF"/>
                </a:solidFill>
                <a:latin typeface="Consolas" panose="020B0609020204030204" pitchFamily="49" charset="0"/>
              </a:rPr>
              <a:t>0x0800020D</a:t>
            </a:r>
            <a:endParaRPr lang="en-US" sz="1400" b="1" dirty="0">
              <a:solidFill>
                <a:srgbClr val="FF00FF"/>
              </a:solidFill>
            </a:endParaRPr>
          </a:p>
        </p:txBody>
      </p:sp>
      <p:sp>
        <p:nvSpPr>
          <p:cNvPr id="7" name="Rectangle 6"/>
          <p:cNvSpPr/>
          <p:nvPr/>
        </p:nvSpPr>
        <p:spPr>
          <a:xfrm>
            <a:off x="1217863" y="4226123"/>
            <a:ext cx="1178528" cy="307777"/>
          </a:xfrm>
          <a:prstGeom prst="rect">
            <a:avLst/>
          </a:prstGeom>
        </p:spPr>
        <p:txBody>
          <a:bodyPr wrap="none">
            <a:spAutoFit/>
          </a:bodyPr>
          <a:lstStyle/>
          <a:p>
            <a:r>
              <a:rPr lang="en-US" sz="1400" b="1" dirty="0">
                <a:solidFill>
                  <a:srgbClr val="C00000"/>
                </a:solidFill>
                <a:latin typeface="Consolas" panose="020B0609020204030204" pitchFamily="49" charset="0"/>
              </a:rPr>
              <a:t>0x0800030D</a:t>
            </a:r>
            <a:endParaRPr lang="en-US" sz="1400" b="1" dirty="0"/>
          </a:p>
        </p:txBody>
      </p:sp>
      <p:sp>
        <p:nvSpPr>
          <p:cNvPr id="4" name="TextBox 3"/>
          <p:cNvSpPr txBox="1"/>
          <p:nvPr/>
        </p:nvSpPr>
        <p:spPr>
          <a:xfrm>
            <a:off x="4724400" y="1494641"/>
            <a:ext cx="6953570" cy="646331"/>
          </a:xfrm>
          <a:prstGeom prst="rect">
            <a:avLst/>
          </a:prstGeom>
          <a:noFill/>
        </p:spPr>
        <p:txBody>
          <a:bodyPr wrap="none" rtlCol="0">
            <a:spAutoFit/>
          </a:bodyPr>
          <a:lstStyle/>
          <a:p>
            <a:r>
              <a:rPr lang="en-US" dirty="0">
                <a:solidFill>
                  <a:srgbClr val="C00000"/>
                </a:solidFill>
              </a:rPr>
              <a:t>Calculate the address which holds the address of the ISR for interrupt n:</a:t>
            </a:r>
          </a:p>
          <a:p>
            <a:pPr algn="ctr"/>
            <a:r>
              <a:rPr lang="en-US" b="1" dirty="0">
                <a:latin typeface="Consolas" panose="020B0609020204030204" pitchFamily="49" charset="0"/>
              </a:rPr>
              <a:t>Address of pointer = 64 + 4 × n</a:t>
            </a:r>
          </a:p>
        </p:txBody>
      </p:sp>
      <p:sp>
        <p:nvSpPr>
          <p:cNvPr id="8" name="Rectangle 7"/>
          <p:cNvSpPr/>
          <p:nvPr/>
        </p:nvSpPr>
        <p:spPr>
          <a:xfrm>
            <a:off x="5257800" y="2278062"/>
            <a:ext cx="6934200" cy="3139321"/>
          </a:xfrm>
          <a:prstGeom prst="rect">
            <a:avLst/>
          </a:prstGeom>
        </p:spPr>
        <p:txBody>
          <a:bodyPr wrap="square">
            <a:spAutoFit/>
          </a:bodyPr>
          <a:lstStyle/>
          <a:p>
            <a:r>
              <a:rPr lang="en-US" b="1" dirty="0">
                <a:solidFill>
                  <a:schemeClr val="accent6">
                    <a:lumMod val="75000"/>
                  </a:schemeClr>
                </a:solidFill>
                <a:latin typeface="Consolas" panose="020B0609020204030204" pitchFamily="49" charset="0"/>
              </a:rPr>
              <a:t>Example 1</a:t>
            </a:r>
            <a:r>
              <a:rPr lang="en-US" dirty="0">
                <a:latin typeface="Consolas" panose="020B0609020204030204" pitchFamily="49" charset="0"/>
              </a:rPr>
              <a:t>: EXTI3_IRQn = 9</a:t>
            </a:r>
          </a:p>
          <a:p>
            <a:endParaRPr lang="en-US" dirty="0">
              <a:latin typeface="Consolas" panose="020B0609020204030204" pitchFamily="49" charset="0"/>
            </a:endParaRPr>
          </a:p>
          <a:p>
            <a:r>
              <a:rPr lang="en-US" dirty="0">
                <a:latin typeface="Consolas" panose="020B0609020204030204" pitchFamily="49" charset="0"/>
              </a:rPr>
              <a:t>  Address of pointer to EXTI3 ISR = 64 + 4 × 9 </a:t>
            </a:r>
          </a:p>
          <a:p>
            <a:r>
              <a:rPr lang="en-US" dirty="0">
                <a:latin typeface="Consolas" panose="020B0609020204030204" pitchFamily="49" charset="0"/>
              </a:rPr>
              <a:t>                                  = 100 </a:t>
            </a:r>
          </a:p>
          <a:p>
            <a:r>
              <a:rPr lang="en-US" dirty="0">
                <a:latin typeface="Consolas" panose="020B0609020204030204" pitchFamily="49" charset="0"/>
              </a:rPr>
              <a:t>                                  = 0x64</a:t>
            </a:r>
          </a:p>
          <a:p>
            <a:endParaRPr lang="en-US" dirty="0">
              <a:latin typeface="Consolas" panose="020B0609020204030204" pitchFamily="49" charset="0"/>
            </a:endParaRPr>
          </a:p>
          <a:p>
            <a:r>
              <a:rPr lang="en-US" b="1" dirty="0">
                <a:solidFill>
                  <a:schemeClr val="accent6">
                    <a:lumMod val="75000"/>
                  </a:schemeClr>
                </a:solidFill>
                <a:latin typeface="Consolas" panose="020B0609020204030204" pitchFamily="49" charset="0"/>
              </a:rPr>
              <a:t>Example 2</a:t>
            </a:r>
            <a:r>
              <a:rPr lang="en-US" dirty="0">
                <a:latin typeface="Consolas" panose="020B0609020204030204" pitchFamily="49" charset="0"/>
              </a:rPr>
              <a:t>: </a:t>
            </a:r>
            <a:r>
              <a:rPr lang="en-US" dirty="0" err="1">
                <a:latin typeface="Consolas" panose="020B0609020204030204" pitchFamily="49" charset="0"/>
              </a:rPr>
              <a:t>SysTick_IRQn</a:t>
            </a:r>
            <a:r>
              <a:rPr lang="en-US" dirty="0">
                <a:latin typeface="Consolas" panose="020B0609020204030204" pitchFamily="49" charset="0"/>
              </a:rPr>
              <a:t> = -1</a:t>
            </a:r>
          </a:p>
          <a:p>
            <a:endParaRPr lang="en-US" dirty="0">
              <a:latin typeface="Consolas" panose="020B0609020204030204" pitchFamily="49" charset="0"/>
            </a:endParaRPr>
          </a:p>
          <a:p>
            <a:r>
              <a:rPr lang="en-US" dirty="0">
                <a:latin typeface="Consolas" panose="020B0609020204030204" pitchFamily="49" charset="0"/>
              </a:rPr>
              <a:t>  Address of pointer to SysTick ISR = 64 + 4 × (-1) </a:t>
            </a:r>
          </a:p>
          <a:p>
            <a:r>
              <a:rPr lang="en-US" dirty="0">
                <a:latin typeface="Consolas" panose="020B0609020204030204" pitchFamily="49" charset="0"/>
              </a:rPr>
              <a:t>                                    = 60</a:t>
            </a:r>
          </a:p>
          <a:p>
            <a:r>
              <a:rPr lang="en-US" dirty="0">
                <a:latin typeface="Consolas" panose="020B0609020204030204" pitchFamily="49" charset="0"/>
              </a:rPr>
              <a:t>                                    = 0x3C</a:t>
            </a:r>
          </a:p>
        </p:txBody>
      </p:sp>
      <p:sp>
        <p:nvSpPr>
          <p:cNvPr id="9" name="内容占位符 2">
            <a:extLst>
              <a:ext uri="{FF2B5EF4-FFF2-40B4-BE49-F238E27FC236}">
                <a16:creationId xmlns:a16="http://schemas.microsoft.com/office/drawing/2014/main" id="{A98B6116-AF04-5FF2-3B55-0E8FCB98C669}"/>
              </a:ext>
            </a:extLst>
          </p:cNvPr>
          <p:cNvSpPr txBox="1">
            <a:spLocks/>
          </p:cNvSpPr>
          <p:nvPr/>
        </p:nvSpPr>
        <p:spPr bwMode="auto">
          <a:xfrm>
            <a:off x="5889059" y="5726629"/>
            <a:ext cx="5105400" cy="646331"/>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2000" dirty="0"/>
              <a:t>For interrupt number n, its ISR is stored at address 64 + 4 x n, in the interrupt vector table. </a:t>
            </a:r>
            <a:endParaRPr lang="en-US" sz="2000" b="0" dirty="0"/>
          </a:p>
        </p:txBody>
      </p:sp>
    </p:spTree>
    <p:extLst>
      <p:ext uri="{BB962C8B-B14F-4D97-AF65-F5344CB8AC3E}">
        <p14:creationId xmlns:p14="http://schemas.microsoft.com/office/powerpoint/2010/main" val="398694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200"/>
                                        </p:tgtEl>
                                        <p:attrNameLst>
                                          <p:attrName>style.visibility</p:attrName>
                                        </p:attrNameLst>
                                      </p:cBhvr>
                                      <p:to>
                                        <p:strVal val="visible"/>
                                      </p:to>
                                    </p:set>
                                    <p:animEffect transition="in" filter="wipe(down)">
                                      <p:cBhvr>
                                        <p:cTn id="10" dur="500"/>
                                        <p:tgtEl>
                                          <p:spTgt spid="200"/>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01"/>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nodeType="afterEffect">
                                  <p:stCondLst>
                                    <p:cond delay="0"/>
                                  </p:stCondLst>
                                  <p:childTnLst>
                                    <p:set>
                                      <p:cBhvr>
                                        <p:cTn id="27" dur="1" fill="hold">
                                          <p:stCondLst>
                                            <p:cond delay="0"/>
                                          </p:stCondLst>
                                        </p:cTn>
                                        <p:tgtEl>
                                          <p:spTgt spid="204"/>
                                        </p:tgtEl>
                                        <p:attrNameLst>
                                          <p:attrName>style.visibility</p:attrName>
                                        </p:attrNameLst>
                                      </p:cBhvr>
                                      <p:to>
                                        <p:strVal val="visible"/>
                                      </p:to>
                                    </p:set>
                                    <p:animEffect transition="in" filter="wipe(left)">
                                      <p:cBhvr>
                                        <p:cTn id="28" dur="500"/>
                                        <p:tgtEl>
                                          <p:spTgt spid="204"/>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0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xEl>
                                              <p:pRg st="0" end="0"/>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
                                            <p:txEl>
                                              <p:pRg st="2" end="2"/>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
                                            <p:txEl>
                                              <p:pRg st="3" end="3"/>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5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207"/>
                                        </p:tgtEl>
                                        <p:attrNameLst>
                                          <p:attrName>style.visibility</p:attrName>
                                        </p:attrNameLst>
                                      </p:cBhvr>
                                      <p:to>
                                        <p:strVal val="visible"/>
                                      </p:to>
                                    </p:set>
                                    <p:animEffect transition="in" filter="wipe(up)">
                                      <p:cBhvr>
                                        <p:cTn id="65" dur="500"/>
                                        <p:tgtEl>
                                          <p:spTgt spid="207"/>
                                        </p:tgtEl>
                                      </p:cBhvr>
                                    </p:animEffect>
                                  </p:childTnLst>
                                </p:cTn>
                              </p:par>
                              <p:par>
                                <p:cTn id="66" presetID="22" presetClass="entr" presetSubtype="4" fill="hold" nodeType="withEffect">
                                  <p:stCondLst>
                                    <p:cond delay="0"/>
                                  </p:stCondLst>
                                  <p:childTnLst>
                                    <p:set>
                                      <p:cBhvr>
                                        <p:cTn id="67" dur="1" fill="hold">
                                          <p:stCondLst>
                                            <p:cond delay="0"/>
                                          </p:stCondLst>
                                        </p:cTn>
                                        <p:tgtEl>
                                          <p:spTgt spid="208"/>
                                        </p:tgtEl>
                                        <p:attrNameLst>
                                          <p:attrName>style.visibility</p:attrName>
                                        </p:attrNameLst>
                                      </p:cBhvr>
                                      <p:to>
                                        <p:strVal val="visible"/>
                                      </p:to>
                                    </p:set>
                                    <p:animEffect transition="in" filter="wipe(down)">
                                      <p:cBhvr>
                                        <p:cTn id="68" dur="500"/>
                                        <p:tgtEl>
                                          <p:spTgt spid="208"/>
                                        </p:tgtEl>
                                      </p:cBhvr>
                                    </p:animEffect>
                                  </p:childTnLst>
                                </p:cTn>
                              </p:par>
                            </p:childTnLst>
                          </p:cTn>
                        </p:par>
                        <p:par>
                          <p:cTn id="69" fill="hold">
                            <p:stCondLst>
                              <p:cond delay="500"/>
                            </p:stCondLst>
                            <p:childTnLst>
                              <p:par>
                                <p:cTn id="70" presetID="1" presetClass="entr" presetSubtype="0" fill="hold" grpId="0" nodeType="afterEffect">
                                  <p:stCondLst>
                                    <p:cond delay="0"/>
                                  </p:stCondLst>
                                  <p:childTnLst>
                                    <p:set>
                                      <p:cBhvr>
                                        <p:cTn id="71" dur="1" fill="hold">
                                          <p:stCondLst>
                                            <p:cond delay="0"/>
                                          </p:stCondLst>
                                        </p:cTn>
                                        <p:tgtEl>
                                          <p:spTgt spid="20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8">
                                            <p:txEl>
                                              <p:pRg st="6" end="6"/>
                                            </p:txEl>
                                          </p:spTgt>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8">
                                            <p:txEl>
                                              <p:pRg st="8" end="8"/>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8">
                                            <p:txEl>
                                              <p:pRg st="9" end="9"/>
                                            </p:txEl>
                                          </p:spTgt>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8" grpId="0" animBg="1"/>
      <p:bldP spid="69" grpId="0"/>
      <p:bldP spid="137" grpId="0"/>
      <p:bldP spid="159" grpId="0" animBg="1"/>
      <p:bldP spid="168" grpId="0" animBg="1"/>
      <p:bldP spid="169" grpId="0"/>
      <p:bldP spid="201" grpId="0"/>
      <p:bldP spid="203" grpId="0" animBg="1"/>
      <p:bldP spid="205" grpId="0"/>
      <p:bldP spid="5" grpId="0"/>
      <p:bldP spid="6" grpId="0"/>
      <p:bldP spid="7"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Service Routine (ISR)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54462" y="3183244"/>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sp>
        <p:nvSpPr>
          <p:cNvPr id="203" name="Rectangle 202"/>
          <p:cNvSpPr/>
          <p:nvPr/>
        </p:nvSpPr>
        <p:spPr>
          <a:xfrm>
            <a:off x="2967141" y="4790712"/>
            <a:ext cx="2595459"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bg1"/>
                </a:solidFill>
              </a:rPr>
              <a:t>Bit </a:t>
            </a:r>
            <a:r>
              <a:rPr lang="en-US" sz="1400" dirty="0">
                <a:solidFill>
                  <a:schemeClr val="bg1"/>
                </a:solidFill>
                <a:latin typeface="Consolas"/>
                <a:cs typeface="Consolas"/>
              </a:rPr>
              <a:t>0</a:t>
            </a:r>
            <a:r>
              <a:rPr lang="en-US" sz="1400" dirty="0">
                <a:solidFill>
                  <a:schemeClr val="bg1"/>
                </a:solidFill>
              </a:rPr>
              <a:t> is </a:t>
            </a:r>
            <a:r>
              <a:rPr lang="en-US" sz="1400" dirty="0">
                <a:solidFill>
                  <a:schemeClr val="bg1"/>
                </a:solidFill>
                <a:latin typeface="Consolas"/>
                <a:cs typeface="Consolas"/>
              </a:rPr>
              <a:t>1</a:t>
            </a:r>
            <a:r>
              <a:rPr lang="en-US" sz="1400" dirty="0">
                <a:solidFill>
                  <a:schemeClr val="bg1"/>
                </a:solidFill>
              </a:rPr>
              <a:t>, indicating Thumb state.</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cxnSp>
        <p:nvCxnSpPr>
          <p:cNvPr id="207" name="Straight Arrow Connector 206"/>
          <p:cNvCxnSpPr>
            <a:stCxn id="148" idx="3"/>
            <a:endCxn id="203" idx="1"/>
          </p:cNvCxnSpPr>
          <p:nvPr/>
        </p:nvCxnSpPr>
        <p:spPr>
          <a:xfrm>
            <a:off x="2435592" y="4376126"/>
            <a:ext cx="531549" cy="5684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a:stCxn id="138" idx="3"/>
            <a:endCxn id="203" idx="1"/>
          </p:cNvCxnSpPr>
          <p:nvPr/>
        </p:nvCxnSpPr>
        <p:spPr>
          <a:xfrm flipV="1">
            <a:off x="2438400" y="4944601"/>
            <a:ext cx="528741" cy="5217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6732815" y="304800"/>
            <a:ext cx="5352168" cy="6438222"/>
          </a:xfrm>
          <a:prstGeom prst="rect">
            <a:avLst/>
          </a:prstGeom>
        </p:spPr>
      </p:pic>
      <p:sp>
        <p:nvSpPr>
          <p:cNvPr id="4" name="内容占位符 2">
            <a:extLst>
              <a:ext uri="{FF2B5EF4-FFF2-40B4-BE49-F238E27FC236}">
                <a16:creationId xmlns:a16="http://schemas.microsoft.com/office/drawing/2014/main" id="{C07FF5D1-4CAC-1A5F-F4FB-834F1750F9BC}"/>
              </a:ext>
            </a:extLst>
          </p:cNvPr>
          <p:cNvSpPr txBox="1">
            <a:spLocks/>
          </p:cNvSpPr>
          <p:nvPr/>
        </p:nvSpPr>
        <p:spPr bwMode="auto">
          <a:xfrm>
            <a:off x="3766448" y="5211781"/>
            <a:ext cx="3530444" cy="1573335"/>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interrupt vector table of STM32L4. The first word holds the top of the main stack. The next 15 words hold the pointers of 15 system exception handlers. The next are pointers to vender-specific interrupt handlers. </a:t>
            </a:r>
            <a:endParaRPr lang="en-US" sz="1800" b="0" dirty="0"/>
          </a:p>
        </p:txBody>
      </p:sp>
    </p:spTree>
    <p:extLst>
      <p:ext uri="{BB962C8B-B14F-4D97-AF65-F5344CB8AC3E}">
        <p14:creationId xmlns:p14="http://schemas.microsoft.com/office/powerpoint/2010/main" val="147589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down)">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extLst>
              <p:ext uri="{D42A27DB-BD31-4B8C-83A1-F6EECF244321}">
                <p14:modId xmlns:p14="http://schemas.microsoft.com/office/powerpoint/2010/main" val="1051290275"/>
              </p:ext>
            </p:extLst>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extLst>
              <p:ext uri="{D42A27DB-BD31-4B8C-83A1-F6EECF244321}">
                <p14:modId xmlns:p14="http://schemas.microsoft.com/office/powerpoint/2010/main" val="4271921742"/>
              </p:ext>
            </p:extLst>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1642175448"/>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extLst>
              <p:ext uri="{D42A27DB-BD31-4B8C-83A1-F6EECF244321}">
                <p14:modId xmlns:p14="http://schemas.microsoft.com/office/powerpoint/2010/main" val="2846270905"/>
              </p:ext>
            </p:extLst>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extLst>
              <p:ext uri="{D42A27DB-BD31-4B8C-83A1-F6EECF244321}">
                <p14:modId xmlns:p14="http://schemas.microsoft.com/office/powerpoint/2010/main" val="1907312558"/>
              </p:ext>
            </p:extLst>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93385653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94" name="Lightning Bolt 93"/>
          <p:cNvSpPr/>
          <p:nvPr/>
        </p:nvSpPr>
        <p:spPr>
          <a:xfrm flipH="1">
            <a:off x="5346699" y="2512159"/>
            <a:ext cx="303455" cy="45075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47975" y="2226620"/>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EXTI3</a:t>
            </a:r>
          </a:p>
        </p:txBody>
      </p:sp>
      <p:sp>
        <p:nvSpPr>
          <p:cNvPr id="5" name="内容占位符 2">
            <a:extLst>
              <a:ext uri="{FF2B5EF4-FFF2-40B4-BE49-F238E27FC236}">
                <a16:creationId xmlns:a16="http://schemas.microsoft.com/office/drawing/2014/main" id="{49BD453E-2891-7F96-AC2F-8B399C985A6E}"/>
              </a:ext>
            </a:extLst>
          </p:cNvPr>
          <p:cNvSpPr txBox="1">
            <a:spLocks/>
          </p:cNvSpPr>
          <p:nvPr/>
        </p:nvSpPr>
        <p:spPr bwMode="auto">
          <a:xfrm>
            <a:off x="3810132" y="4258697"/>
            <a:ext cx="3376587" cy="2165328"/>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EXTI3 arrives. Assume software has already enabled EXTI3 by setting the corresponding bit in the interrupt Enable Register. The interrupt number of EXTI3 is pre-defined as 9. Interrupt priority register shows that its priority is set to 2.</a:t>
            </a:r>
            <a:endParaRPr lang="en-US" sz="1800" b="0" dirty="0"/>
          </a:p>
        </p:txBody>
      </p:sp>
    </p:spTree>
    <p:extLst>
      <p:ext uri="{BB962C8B-B14F-4D97-AF65-F5344CB8AC3E}">
        <p14:creationId xmlns:p14="http://schemas.microsoft.com/office/powerpoint/2010/main" val="72632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883200496"/>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E062AF3E-6DC5-B187-1E1C-805A92DC6722}"/>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writes 1 to the pending bit of EXTI3 in the interrupt pending register. NVIC starts the stacking process, and pushes, 8 registers to preserve the running environment. (If FPU is used, more registers are pushed into the stack during the stacking.)</a:t>
            </a:r>
            <a:endParaRPr lang="en-US" sz="1800" b="0" dirty="0"/>
          </a:p>
        </p:txBody>
      </p:sp>
    </p:spTree>
    <p:extLst>
      <p:ext uri="{BB962C8B-B14F-4D97-AF65-F5344CB8AC3E}">
        <p14:creationId xmlns:p14="http://schemas.microsoft.com/office/powerpoint/2010/main" val="174256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1000" fill="hold"/>
                                        <p:tgtEl>
                                          <p:spTgt spid="82"/>
                                        </p:tgtEl>
                                        <p:attrNameLst>
                                          <p:attrName>ppt_w</p:attrName>
                                        </p:attrNameLst>
                                      </p:cBhvr>
                                      <p:tavLst>
                                        <p:tav tm="0">
                                          <p:val>
                                            <p:fltVal val="0"/>
                                          </p:val>
                                        </p:tav>
                                        <p:tav tm="100000">
                                          <p:val>
                                            <p:strVal val="#ppt_w"/>
                                          </p:val>
                                        </p:tav>
                                      </p:tavLst>
                                    </p:anim>
                                    <p:anim calcmode="lin" valueType="num">
                                      <p:cBhvr>
                                        <p:cTn id="8" dur="1000" fill="hold"/>
                                        <p:tgtEl>
                                          <p:spTgt spid="82"/>
                                        </p:tgtEl>
                                        <p:attrNameLst>
                                          <p:attrName>ppt_h</p:attrName>
                                        </p:attrNameLst>
                                      </p:cBhvr>
                                      <p:tavLst>
                                        <p:tav tm="0">
                                          <p:val>
                                            <p:fltVal val="0"/>
                                          </p:val>
                                        </p:tav>
                                        <p:tav tm="100000">
                                          <p:val>
                                            <p:strVal val="#ppt_h"/>
                                          </p:val>
                                        </p:tav>
                                      </p:tavLst>
                                    </p:anim>
                                    <p:animEffect transition="in" filter="fade">
                                      <p:cBhvr>
                                        <p:cTn id="9" dur="1000"/>
                                        <p:tgtEl>
                                          <p:spTgt spid="82"/>
                                        </p:tgtEl>
                                      </p:cBhvr>
                                    </p:animEffect>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0"/>
                                        <p:tgtEl>
                                          <p:spTgt spid="79"/>
                                        </p:tgtEl>
                                      </p:cBhvr>
                                    </p:animEffect>
                                    <p:anim calcmode="lin" valueType="num">
                                      <p:cBhvr>
                                        <p:cTn id="14" dur="1000" fill="hold"/>
                                        <p:tgtEl>
                                          <p:spTgt spid="79"/>
                                        </p:tgtEl>
                                        <p:attrNameLst>
                                          <p:attrName>ppt_x</p:attrName>
                                        </p:attrNameLst>
                                      </p:cBhvr>
                                      <p:tavLst>
                                        <p:tav tm="0">
                                          <p:val>
                                            <p:strVal val="#ppt_x"/>
                                          </p:val>
                                        </p:tav>
                                        <p:tav tm="100000">
                                          <p:val>
                                            <p:strVal val="#ppt_x"/>
                                          </p:val>
                                        </p:tav>
                                      </p:tavLst>
                                    </p:anim>
                                    <p:anim calcmode="lin" valueType="num">
                                      <p:cBhvr>
                                        <p:cTn id="15" dur="1000" fill="hold"/>
                                        <p:tgtEl>
                                          <p:spTgt spid="79"/>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80"/>
                                        </p:tgtEl>
                                        <p:attrNameLst>
                                          <p:attrName>style.visibility</p:attrName>
                                        </p:attrNameLst>
                                      </p:cBhvr>
                                      <p:to>
                                        <p:strVal val="visible"/>
                                      </p:to>
                                    </p:set>
                                    <p:animEffect transition="in" filter="fade">
                                      <p:cBhvr>
                                        <p:cTn id="18" dur="1000"/>
                                        <p:tgtEl>
                                          <p:spTgt spid="80"/>
                                        </p:tgtEl>
                                      </p:cBhvr>
                                    </p:animEffect>
                                    <p:anim calcmode="lin" valueType="num">
                                      <p:cBhvr>
                                        <p:cTn id="19" dur="1000" fill="hold"/>
                                        <p:tgtEl>
                                          <p:spTgt spid="80"/>
                                        </p:tgtEl>
                                        <p:attrNameLst>
                                          <p:attrName>ppt_x</p:attrName>
                                        </p:attrNameLst>
                                      </p:cBhvr>
                                      <p:tavLst>
                                        <p:tav tm="0">
                                          <p:val>
                                            <p:strVal val="#ppt_x"/>
                                          </p:val>
                                        </p:tav>
                                        <p:tav tm="100000">
                                          <p:val>
                                            <p:strVal val="#ppt_x"/>
                                          </p:val>
                                        </p:tav>
                                      </p:tavLst>
                                    </p:anim>
                                    <p:anim calcmode="lin" valueType="num">
                                      <p:cBhvr>
                                        <p:cTn id="20" dur="1000" fill="hold"/>
                                        <p:tgtEl>
                                          <p:spTgt spid="80"/>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fade">
                                      <p:cBhvr>
                                        <p:cTn id="23" dur="1000"/>
                                        <p:tgtEl>
                                          <p:spTgt spid="81"/>
                                        </p:tgtEl>
                                      </p:cBhvr>
                                    </p:animEffect>
                                    <p:anim calcmode="lin" valueType="num">
                                      <p:cBhvr>
                                        <p:cTn id="24" dur="1000" fill="hold"/>
                                        <p:tgtEl>
                                          <p:spTgt spid="81"/>
                                        </p:tgtEl>
                                        <p:attrNameLst>
                                          <p:attrName>ppt_x</p:attrName>
                                        </p:attrNameLst>
                                      </p:cBhvr>
                                      <p:tavLst>
                                        <p:tav tm="0">
                                          <p:val>
                                            <p:strVal val="#ppt_x"/>
                                          </p:val>
                                        </p:tav>
                                        <p:tav tm="100000">
                                          <p:val>
                                            <p:strVal val="#ppt_x"/>
                                          </p:val>
                                        </p:tav>
                                      </p:tavLst>
                                    </p:anim>
                                    <p:anim calcmode="lin" valueType="num">
                                      <p:cBhvr>
                                        <p:cTn id="25"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p:bldP spid="8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extLst>
              <p:ext uri="{D42A27DB-BD31-4B8C-83A1-F6EECF244321}">
                <p14:modId xmlns:p14="http://schemas.microsoft.com/office/powerpoint/2010/main" val="735592875"/>
              </p:ext>
            </p:extLst>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904523530"/>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5" name="Group 4"/>
          <p:cNvGrpSpPr/>
          <p:nvPr/>
        </p:nvGrpSpPr>
        <p:grpSpPr>
          <a:xfrm>
            <a:off x="8534400" y="15210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19AC2682-F407-6673-F0E0-AB6B75ADA87F}"/>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pushes program status register (</a:t>
            </a:r>
            <a:r>
              <a:rPr lang="en-US" sz="1800" dirty="0" err="1"/>
              <a:t>xPSR</a:t>
            </a:r>
            <a:r>
              <a:rPr lang="en-US" sz="1800" dirty="0"/>
              <a:t>) onto the stack.</a:t>
            </a:r>
          </a:p>
          <a:p>
            <a:pPr marL="0" indent="0">
              <a:buNone/>
            </a:pPr>
            <a:endParaRPr lang="en-US" sz="1800" b="0" dirty="0"/>
          </a:p>
        </p:txBody>
      </p:sp>
    </p:spTree>
    <p:extLst>
      <p:ext uri="{BB962C8B-B14F-4D97-AF65-F5344CB8AC3E}">
        <p14:creationId xmlns:p14="http://schemas.microsoft.com/office/powerpoint/2010/main" val="227843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4231422613"/>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17496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041D9F23-81A6-6E5B-BE99-1538E9B0D56A}"/>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then pushes program counter (PC), which is r15.</a:t>
            </a:r>
          </a:p>
          <a:p>
            <a:pPr marL="0" indent="0">
              <a:buNone/>
            </a:pPr>
            <a:endParaRPr lang="en-US" sz="1800" b="0" dirty="0"/>
          </a:p>
        </p:txBody>
      </p:sp>
    </p:spTree>
    <p:extLst>
      <p:ext uri="{BB962C8B-B14F-4D97-AF65-F5344CB8AC3E}">
        <p14:creationId xmlns:p14="http://schemas.microsoft.com/office/powerpoint/2010/main" val="2309974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493500055"/>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19782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0186F08-4D6B-BE9F-5615-A81498DA632C}"/>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then pushes link register (LR), which is r14.</a:t>
            </a:r>
          </a:p>
          <a:p>
            <a:endParaRPr lang="en-US" sz="1800" dirty="0"/>
          </a:p>
          <a:p>
            <a:pPr marL="0" indent="0">
              <a:buNone/>
            </a:pPr>
            <a:endParaRPr lang="en-US" sz="1800" b="0" dirty="0"/>
          </a:p>
        </p:txBody>
      </p:sp>
    </p:spTree>
    <p:extLst>
      <p:ext uri="{BB962C8B-B14F-4D97-AF65-F5344CB8AC3E}">
        <p14:creationId xmlns:p14="http://schemas.microsoft.com/office/powerpoint/2010/main" val="2863896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102978885"/>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233982"/>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4F95B37-3C26-1BAF-CC13-F0143A3E137C}"/>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r12 (intra‑procedure call scratch register).</a:t>
            </a:r>
          </a:p>
          <a:p>
            <a:endParaRPr lang="en-US" sz="1800" dirty="0"/>
          </a:p>
          <a:p>
            <a:pPr marL="0" indent="0">
              <a:buNone/>
            </a:pPr>
            <a:endParaRPr lang="en-US" sz="1800" b="0" dirty="0"/>
          </a:p>
        </p:txBody>
      </p:sp>
    </p:spTree>
    <p:extLst>
      <p:ext uri="{BB962C8B-B14F-4D97-AF65-F5344CB8AC3E}">
        <p14:creationId xmlns:p14="http://schemas.microsoft.com/office/powerpoint/2010/main" val="3832501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156778121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5116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F225481-EC8D-FE76-A2F4-AF02BBE46545}"/>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r3.</a:t>
            </a:r>
          </a:p>
          <a:p>
            <a:endParaRPr lang="en-US" sz="1800" dirty="0"/>
          </a:p>
          <a:p>
            <a:pPr marL="0" indent="0">
              <a:buNone/>
            </a:pPr>
            <a:endParaRPr lang="en-US" sz="1800" b="0" dirty="0"/>
          </a:p>
        </p:txBody>
      </p:sp>
    </p:spTree>
    <p:extLst>
      <p:ext uri="{BB962C8B-B14F-4D97-AF65-F5344CB8AC3E}">
        <p14:creationId xmlns:p14="http://schemas.microsoft.com/office/powerpoint/2010/main" val="14652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452637353"/>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7402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4F56A777-5BFA-A625-77A9-CAA3C3895354}"/>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r2.</a:t>
            </a:r>
          </a:p>
          <a:p>
            <a:endParaRPr lang="en-US" sz="1800" dirty="0"/>
          </a:p>
          <a:p>
            <a:pPr marL="0" indent="0">
              <a:buNone/>
            </a:pPr>
            <a:endParaRPr lang="en-US" sz="1800" b="0" dirty="0"/>
          </a:p>
        </p:txBody>
      </p:sp>
    </p:spTree>
    <p:extLst>
      <p:ext uri="{BB962C8B-B14F-4D97-AF65-F5344CB8AC3E}">
        <p14:creationId xmlns:p14="http://schemas.microsoft.com/office/powerpoint/2010/main" val="2750495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479350160"/>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971800"/>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1EA68450-489B-6BD2-3B33-7D68B3585C34}"/>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r1.</a:t>
            </a:r>
          </a:p>
          <a:p>
            <a:endParaRPr lang="en-US" sz="1800" dirty="0"/>
          </a:p>
          <a:p>
            <a:pPr marL="0" indent="0">
              <a:buNone/>
            </a:pPr>
            <a:endParaRPr lang="en-US" sz="1800" b="0" dirty="0"/>
          </a:p>
        </p:txBody>
      </p:sp>
    </p:spTree>
    <p:extLst>
      <p:ext uri="{BB962C8B-B14F-4D97-AF65-F5344CB8AC3E}">
        <p14:creationId xmlns:p14="http://schemas.microsoft.com/office/powerpoint/2010/main" val="2834939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a:t>
            </a:r>
            <a:r>
              <a:rPr lang="en-US" sz="1400" i="1" dirty="0"/>
              <a:t>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8BFC1C68-B8A7-AE4C-5102-6EB2BB00612D}"/>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r0.</a:t>
            </a:r>
          </a:p>
          <a:p>
            <a:endParaRPr lang="en-US" sz="1800" dirty="0"/>
          </a:p>
          <a:p>
            <a:pPr marL="0" indent="0">
              <a:buNone/>
            </a:pPr>
            <a:endParaRPr lang="en-US" sz="1800" b="0" dirty="0"/>
          </a:p>
        </p:txBody>
      </p:sp>
    </p:spTree>
    <p:extLst>
      <p:ext uri="{BB962C8B-B14F-4D97-AF65-F5344CB8AC3E}">
        <p14:creationId xmlns:p14="http://schemas.microsoft.com/office/powerpoint/2010/main" val="3838966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75563597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5" name="内容占位符 2">
            <a:extLst>
              <a:ext uri="{FF2B5EF4-FFF2-40B4-BE49-F238E27FC236}">
                <a16:creationId xmlns:a16="http://schemas.microsoft.com/office/drawing/2014/main" id="{1E4D90BD-122C-C325-0E09-E7955107167B}"/>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After NVIC pushes these 8 registers onto the stack, the size of the stack increases by 4*8=32 bytes, and the stack pointer is decremented by 32. (ARM Cortex uses full descending stacks.)</a:t>
            </a:r>
            <a:endParaRPr lang="en-US" sz="1800" b="0" dirty="0"/>
          </a:p>
        </p:txBody>
      </p:sp>
    </p:spTree>
    <p:extLst>
      <p:ext uri="{BB962C8B-B14F-4D97-AF65-F5344CB8AC3E}">
        <p14:creationId xmlns:p14="http://schemas.microsoft.com/office/powerpoint/2010/main" val="2885802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2404108476"/>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85" name="Oval 84"/>
          <p:cNvSpPr/>
          <p:nvPr/>
        </p:nvSpPr>
        <p:spPr>
          <a:xfrm>
            <a:off x="10896600" y="487267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10896600" y="5275906"/>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5" name="内容占位符 2">
            <a:extLst>
              <a:ext uri="{FF2B5EF4-FFF2-40B4-BE49-F238E27FC236}">
                <a16:creationId xmlns:a16="http://schemas.microsoft.com/office/drawing/2014/main" id="{1F3DDE7B-69FD-6C7D-F17B-34276F4FB260}"/>
              </a:ext>
            </a:extLst>
          </p:cNvPr>
          <p:cNvSpPr txBox="1">
            <a:spLocks/>
          </p:cNvSpPr>
          <p:nvPr/>
        </p:nvSpPr>
        <p:spPr bwMode="auto">
          <a:xfrm>
            <a:off x="3810132" y="4258696"/>
            <a:ext cx="3431135" cy="246301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b="0" dirty="0"/>
              <a:t>NVIC looks up interrupt vector table and finds the starting address of ISR 9 for EXTI3. </a:t>
            </a:r>
            <a:r>
              <a:rPr lang="en-US" sz="1800" dirty="0"/>
              <a:t>I</a:t>
            </a:r>
            <a:r>
              <a:rPr lang="en-US" sz="1800" b="0" dirty="0"/>
              <a:t>t changes status of interrupt 9, from pending to active state by setting its active bit to 1 in Active Register. It then forces the processor to branch to and start to execute ISR 9. </a:t>
            </a:r>
          </a:p>
        </p:txBody>
      </p:sp>
    </p:spTree>
    <p:extLst>
      <p:ext uri="{BB962C8B-B14F-4D97-AF65-F5344CB8AC3E}">
        <p14:creationId xmlns:p14="http://schemas.microsoft.com/office/powerpoint/2010/main" val="3676657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85" name="Oval 84"/>
          <p:cNvSpPr/>
          <p:nvPr/>
        </p:nvSpPr>
        <p:spPr>
          <a:xfrm>
            <a:off x="10896600" y="487267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10896600" y="5275906"/>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cxnSp>
        <p:nvCxnSpPr>
          <p:cNvPr id="88" name="Straight Arrow Connector 87"/>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7" name="内容占位符 2">
            <a:extLst>
              <a:ext uri="{FF2B5EF4-FFF2-40B4-BE49-F238E27FC236}">
                <a16:creationId xmlns:a16="http://schemas.microsoft.com/office/drawing/2014/main" id="{D6EF1310-DE49-1E78-E233-45CAD743734C}"/>
              </a:ext>
            </a:extLst>
          </p:cNvPr>
          <p:cNvSpPr txBox="1">
            <a:spLocks/>
          </p:cNvSpPr>
          <p:nvPr/>
        </p:nvSpPr>
        <p:spPr bwMode="auto">
          <a:xfrm>
            <a:off x="3810132" y="4258696"/>
            <a:ext cx="3431135" cy="246301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ISR 9 completes its execution by executing BX LR as its last instruction. </a:t>
            </a:r>
            <a:endParaRPr lang="en-US" sz="1800" b="0" dirty="0"/>
          </a:p>
        </p:txBody>
      </p:sp>
    </p:spTree>
    <p:extLst>
      <p:ext uri="{BB962C8B-B14F-4D97-AF65-F5344CB8AC3E}">
        <p14:creationId xmlns:p14="http://schemas.microsoft.com/office/powerpoint/2010/main" val="285414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3197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39CFC6B2-B0BC-83FF-5513-D8E565EEA810}"/>
              </a:ext>
            </a:extLst>
          </p:cNvPr>
          <p:cNvSpPr txBox="1">
            <a:spLocks/>
          </p:cNvSpPr>
          <p:nvPr/>
        </p:nvSpPr>
        <p:spPr bwMode="auto">
          <a:xfrm>
            <a:off x="3831204" y="3911579"/>
            <a:ext cx="3441270" cy="2859564"/>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Instruction BX LR informs NVIC to perform the unstacking process. The active bit in Active Register is cleared. The unstacking process pops the values of the 8 registers, out of the stack. Therefore, the processor’s state (running environment) is recovered, to the time instant immediately before ISR started.</a:t>
            </a:r>
            <a:endParaRPr lang="en-US" sz="1800" b="0" dirty="0"/>
          </a:p>
        </p:txBody>
      </p:sp>
    </p:spTree>
    <p:extLst>
      <p:ext uri="{BB962C8B-B14F-4D97-AF65-F5344CB8AC3E}">
        <p14:creationId xmlns:p14="http://schemas.microsoft.com/office/powerpoint/2010/main" val="375679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403287830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3197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5" name="内容占位符 2">
            <a:extLst>
              <a:ext uri="{FF2B5EF4-FFF2-40B4-BE49-F238E27FC236}">
                <a16:creationId xmlns:a16="http://schemas.microsoft.com/office/drawing/2014/main" id="{43FE2505-306F-C0E1-D3C7-B412F145CB2A}"/>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pops the 8 registers in the reverse order when they were pushed, thus recovering their original values.</a:t>
            </a:r>
          </a:p>
          <a:p>
            <a:endParaRPr lang="en-US" sz="1800" dirty="0"/>
          </a:p>
          <a:p>
            <a:pPr marL="0" indent="0">
              <a:buNone/>
            </a:pPr>
            <a:endParaRPr lang="en-US" sz="1800" b="0" dirty="0"/>
          </a:p>
        </p:txBody>
      </p:sp>
    </p:spTree>
    <p:extLst>
      <p:ext uri="{BB962C8B-B14F-4D97-AF65-F5344CB8AC3E}">
        <p14:creationId xmlns:p14="http://schemas.microsoft.com/office/powerpoint/2010/main" val="3455164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22131792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9718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91760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2414980671"/>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7432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2521720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317136827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5146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176670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631748916"/>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264917"/>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1656880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247983792"/>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9812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1757536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0623466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7526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218650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2649559951"/>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5240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2650507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337285743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292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F174FB0F-C263-AF42-7FDD-9D124C8AF137}"/>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unstacking completes, the running environment has been fully recovered from the stack. All registers have their original values, as if the interrupt has never happened. </a:t>
            </a:r>
          </a:p>
        </p:txBody>
      </p:sp>
    </p:spTree>
    <p:extLst>
      <p:ext uri="{BB962C8B-B14F-4D97-AF65-F5344CB8AC3E}">
        <p14:creationId xmlns:p14="http://schemas.microsoft.com/office/powerpoint/2010/main" val="3392675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33832689"/>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0x0800020D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graphicFrame>
        <p:nvGraphicFramePr>
          <p:cNvPr id="85" name="Table 84"/>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292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90" name="Rectangle 89"/>
          <p:cNvSpPr/>
          <p:nvPr/>
        </p:nvSpPr>
        <p:spPr>
          <a:xfrm>
            <a:off x="6607120" y="2114748"/>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cxnSp>
        <p:nvCxnSpPr>
          <p:cNvPr id="89" name="Straight Arrow Connector 88"/>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0F8C246E-3551-9091-9323-EE2E4310AA3E}"/>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Afterwards, the processor continues to execute the user program, which was interrupted by EXTI3, ISR 9. </a:t>
            </a:r>
          </a:p>
        </p:txBody>
      </p:sp>
    </p:spTree>
    <p:extLst>
      <p:ext uri="{BB962C8B-B14F-4D97-AF65-F5344CB8AC3E}">
        <p14:creationId xmlns:p14="http://schemas.microsoft.com/office/powerpoint/2010/main" val="3076723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lowchart: Process 29"/>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extLst>
              <p:ext uri="{D42A27DB-BD31-4B8C-83A1-F6EECF244321}">
                <p14:modId xmlns:p14="http://schemas.microsoft.com/office/powerpoint/2010/main" val="2616670325"/>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21864" y="1292423"/>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 name="内容占位符 2">
            <a:extLst>
              <a:ext uri="{FF2B5EF4-FFF2-40B4-BE49-F238E27FC236}">
                <a16:creationId xmlns:a16="http://schemas.microsoft.com/office/drawing/2014/main" id="{12DD773A-FEDB-8EBB-750D-6D2963D49BC4}"/>
              </a:ext>
            </a:extLst>
          </p:cNvPr>
          <p:cNvSpPr txBox="1">
            <a:spLocks/>
          </p:cNvSpPr>
          <p:nvPr/>
        </p:nvSpPr>
        <p:spPr bwMode="auto">
          <a:xfrm>
            <a:off x="147607" y="3822245"/>
            <a:ext cx="241107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EXTI 3 arrives at this time instant.</a:t>
            </a:r>
          </a:p>
        </p:txBody>
      </p:sp>
    </p:spTree>
    <p:extLst>
      <p:ext uri="{BB962C8B-B14F-4D97-AF65-F5344CB8AC3E}">
        <p14:creationId xmlns:p14="http://schemas.microsoft.com/office/powerpoint/2010/main" val="2984234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lowchart: Process 33"/>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extLst>
              <p:ext uri="{D42A27DB-BD31-4B8C-83A1-F6EECF244321}">
                <p14:modId xmlns:p14="http://schemas.microsoft.com/office/powerpoint/2010/main" val="2926329481"/>
              </p:ext>
            </p:extLst>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3225" y="3224714"/>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9B051F0A-D212-2D00-49C6-15350879D51D}"/>
              </a:ext>
            </a:extLst>
          </p:cNvPr>
          <p:cNvSpPr txBox="1">
            <a:spLocks/>
          </p:cNvSpPr>
          <p:nvPr/>
        </p:nvSpPr>
        <p:spPr bwMode="auto">
          <a:xfrm>
            <a:off x="147607" y="3822245"/>
            <a:ext cx="2411077" cy="2340277"/>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performs stacking, and pushes 8 registers onto the stack. NVIC then forces the processor to execute ISR 9 for EXTI3. </a:t>
            </a:r>
          </a:p>
        </p:txBody>
      </p:sp>
    </p:spTree>
    <p:extLst>
      <p:ext uri="{BB962C8B-B14F-4D97-AF65-F5344CB8AC3E}">
        <p14:creationId xmlns:p14="http://schemas.microsoft.com/office/powerpoint/2010/main" val="140057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lowchart: Process 5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extLst>
              <p:ext uri="{D42A27DB-BD31-4B8C-83A1-F6EECF244321}">
                <p14:modId xmlns:p14="http://schemas.microsoft.com/office/powerpoint/2010/main" val="2966546846"/>
              </p:ext>
            </p:extLst>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extLst>
              <p:ext uri="{D42A27DB-BD31-4B8C-83A1-F6EECF244321}">
                <p14:modId xmlns:p14="http://schemas.microsoft.com/office/powerpoint/2010/main" val="4003292709"/>
              </p:ext>
            </p:extLst>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811145771"/>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extLst>
              <p:ext uri="{D42A27DB-BD31-4B8C-83A1-F6EECF244321}">
                <p14:modId xmlns:p14="http://schemas.microsoft.com/office/powerpoint/2010/main" val="3225158999"/>
              </p:ext>
            </p:extLst>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extLst>
              <p:ext uri="{D42A27DB-BD31-4B8C-83A1-F6EECF244321}">
                <p14:modId xmlns:p14="http://schemas.microsoft.com/office/powerpoint/2010/main" val="2180865794"/>
              </p:ext>
            </p:extLst>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extLst>
              <p:ext uri="{D42A27DB-BD31-4B8C-83A1-F6EECF244321}">
                <p14:modId xmlns:p14="http://schemas.microsoft.com/office/powerpoint/2010/main" val="2904636234"/>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3225" y="3224714"/>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495800" y="524219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1</a:t>
            </a:r>
          </a:p>
        </p:txBody>
      </p:sp>
      <p:sp>
        <p:nvSpPr>
          <p:cNvPr id="36" name="Oval 35"/>
          <p:cNvSpPr/>
          <p:nvPr/>
        </p:nvSpPr>
        <p:spPr>
          <a:xfrm>
            <a:off x="4525617" y="5658678"/>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3</a:t>
            </a:r>
          </a:p>
        </p:txBody>
      </p:sp>
      <p:sp>
        <p:nvSpPr>
          <p:cNvPr id="37" name="Oval 36"/>
          <p:cNvSpPr/>
          <p:nvPr/>
        </p:nvSpPr>
        <p:spPr>
          <a:xfrm>
            <a:off x="6238461" y="564873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5</a:t>
            </a:r>
          </a:p>
        </p:txBody>
      </p:sp>
      <p:sp>
        <p:nvSpPr>
          <p:cNvPr id="4" name="Rectangle 3"/>
          <p:cNvSpPr/>
          <p:nvPr/>
        </p:nvSpPr>
        <p:spPr>
          <a:xfrm>
            <a:off x="3580350" y="6401476"/>
            <a:ext cx="4346126" cy="369332"/>
          </a:xfrm>
          <a:prstGeom prst="rect">
            <a:avLst/>
          </a:prstGeom>
        </p:spPr>
        <p:txBody>
          <a:bodyPr wrap="none">
            <a:spAutoFit/>
          </a:bodyPr>
          <a:lstStyle/>
          <a:p>
            <a:pPr lvl="1" algn="ctr"/>
            <a:r>
              <a:rPr lang="en-US" i="1" dirty="0">
                <a:solidFill>
                  <a:srgbClr val="0000FF"/>
                </a:solidFill>
              </a:rPr>
              <a:t>Lower priority value means higher urgency.</a:t>
            </a:r>
          </a:p>
        </p:txBody>
      </p:sp>
      <p:cxnSp>
        <p:nvCxnSpPr>
          <p:cNvPr id="14" name="Straight Arrow Connector 13"/>
          <p:cNvCxnSpPr>
            <a:stCxn id="4" idx="0"/>
            <a:endCxn id="37" idx="4"/>
          </p:cNvCxnSpPr>
          <p:nvPr/>
        </p:nvCxnSpPr>
        <p:spPr>
          <a:xfrm flipV="1">
            <a:off x="5753413" y="6050988"/>
            <a:ext cx="789848" cy="35048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0"/>
          </p:cNvCxnSpPr>
          <p:nvPr/>
        </p:nvCxnSpPr>
        <p:spPr>
          <a:xfrm flipH="1" flipV="1">
            <a:off x="4830417" y="6075452"/>
            <a:ext cx="922996" cy="326024"/>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 name="内容占位符 2">
            <a:extLst>
              <a:ext uri="{FF2B5EF4-FFF2-40B4-BE49-F238E27FC236}">
                <a16:creationId xmlns:a16="http://schemas.microsoft.com/office/drawing/2014/main" id="{FB125199-1365-BE9B-3293-1AEEA49CB03E}"/>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another interrupt (DMA 1 Channel 2) arrives, before ISR 9 completes. This new interrupt has higher urgency than the current interrupt being served, hence NVIC has to respond to the new coming interrupt.</a:t>
            </a:r>
          </a:p>
        </p:txBody>
      </p:sp>
    </p:spTree>
    <p:extLst>
      <p:ext uri="{BB962C8B-B14F-4D97-AF65-F5344CB8AC3E}">
        <p14:creationId xmlns:p14="http://schemas.microsoft.com/office/powerpoint/2010/main" val="3568017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lowchart: Process 39"/>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Interrupt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109492711"/>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graphicFrame>
        <p:nvGraphicFramePr>
          <p:cNvPr id="42" name="Table 41"/>
          <p:cNvGraphicFramePr>
            <a:graphicFrameLocks noGrp="1"/>
          </p:cNvGraphicFramePr>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r12</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r3</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r2</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r1</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r0</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516258" y="482173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1</a:t>
            </a:r>
          </a:p>
        </p:txBody>
      </p:sp>
      <p:grpSp>
        <p:nvGrpSpPr>
          <p:cNvPr id="53" name="Group 52"/>
          <p:cNvGrpSpPr/>
          <p:nvPr/>
        </p:nvGrpSpPr>
        <p:grpSpPr>
          <a:xfrm>
            <a:off x="8613225" y="5168349"/>
            <a:ext cx="1156566" cy="307777"/>
            <a:chOff x="8534400" y="1278523"/>
            <a:chExt cx="1156566" cy="307777"/>
          </a:xfrm>
        </p:grpSpPr>
        <p:sp>
          <p:nvSpPr>
            <p:cNvPr id="54" name="TextBox 5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E422945C-B912-E98A-1B7D-7FB66B478952}"/>
              </a:ext>
            </a:extLst>
          </p:cNvPr>
          <p:cNvSpPr txBox="1">
            <a:spLocks/>
          </p:cNvSpPr>
          <p:nvPr/>
        </p:nvSpPr>
        <p:spPr bwMode="auto">
          <a:xfrm>
            <a:off x="84307" y="3334386"/>
            <a:ext cx="2458540" cy="3376945"/>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600" dirty="0"/>
              <a:t>NVIC stops the current ISR 9 and performs another stacking by pushing another set of 8 registers, onto the stack. Note that these two sets of registers have different values. The first set holds register values, for the user program. The second set hold register values, for the interrupt service routine 9. After the stacking, NVIC starts to execute ISR 12 of the new coming interrupt. </a:t>
            </a:r>
          </a:p>
        </p:txBody>
      </p:sp>
    </p:spTree>
    <p:extLst>
      <p:ext uri="{BB962C8B-B14F-4D97-AF65-F5344CB8AC3E}">
        <p14:creationId xmlns:p14="http://schemas.microsoft.com/office/powerpoint/2010/main" val="142580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3077571910"/>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graphicFrame>
        <p:nvGraphicFramePr>
          <p:cNvPr id="42" name="Table 41"/>
          <p:cNvGraphicFramePr>
            <a:graphicFrameLocks noGrp="1"/>
          </p:cNvGraphicFramePr>
          <p:nvPr>
            <p:extLst>
              <p:ext uri="{D42A27DB-BD31-4B8C-83A1-F6EECF244321}">
                <p14:modId xmlns:p14="http://schemas.microsoft.com/office/powerpoint/2010/main" val="2957234091"/>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527160" y="482171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0</a:t>
            </a:r>
          </a:p>
        </p:txBody>
      </p:sp>
      <p:grpSp>
        <p:nvGrpSpPr>
          <p:cNvPr id="53" name="Group 52"/>
          <p:cNvGrpSpPr/>
          <p:nvPr/>
        </p:nvGrpSpPr>
        <p:grpSpPr>
          <a:xfrm>
            <a:off x="8613225" y="3224714"/>
            <a:ext cx="1156566" cy="307777"/>
            <a:chOff x="8534400" y="1278523"/>
            <a:chExt cx="1156566" cy="307777"/>
          </a:xfrm>
        </p:grpSpPr>
        <p:sp>
          <p:nvSpPr>
            <p:cNvPr id="54" name="TextBox 5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A2E826D9-4BDE-1B19-8091-4E2A0109CE18}"/>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ISR12 completes, NVIC performs unstacking, pops out eight registers from the stack, and recovers the running environment, for ISR 9. </a:t>
            </a:r>
          </a:p>
        </p:txBody>
      </p:sp>
    </p:spTree>
    <p:extLst>
      <p:ext uri="{BB962C8B-B14F-4D97-AF65-F5344CB8AC3E}">
        <p14:creationId xmlns:p14="http://schemas.microsoft.com/office/powerpoint/2010/main" val="3091737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sp>
        <p:nvSpPr>
          <p:cNvPr id="40" name="Rectangle 39"/>
          <p:cNvSpPr/>
          <p:nvPr/>
        </p:nvSpPr>
        <p:spPr>
          <a:xfrm>
            <a:off x="4813761" y="2052693"/>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graphicFrame>
        <p:nvGraphicFramePr>
          <p:cNvPr id="42" name="Table 41"/>
          <p:cNvGraphicFramePr>
            <a:graphicFrameLocks noGrp="1"/>
          </p:cNvGraphicFramePr>
          <p:nvPr>
            <p:extLst>
              <p:ext uri="{D42A27DB-BD31-4B8C-83A1-F6EECF244321}">
                <p14:modId xmlns:p14="http://schemas.microsoft.com/office/powerpoint/2010/main" val="721316452"/>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grpSp>
        <p:nvGrpSpPr>
          <p:cNvPr id="52" name="Group 51"/>
          <p:cNvGrpSpPr/>
          <p:nvPr/>
        </p:nvGrpSpPr>
        <p:grpSpPr>
          <a:xfrm>
            <a:off x="8613225" y="3224714"/>
            <a:ext cx="1156566" cy="307777"/>
            <a:chOff x="8534400" y="1278523"/>
            <a:chExt cx="1156566" cy="307777"/>
          </a:xfrm>
        </p:grpSpPr>
        <p:sp>
          <p:nvSpPr>
            <p:cNvPr id="53" name="TextBox 52"/>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4" name="Straight Arrow Connector 53"/>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580A27E5-6E23-2583-1A13-FC8C875BDE4C}"/>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continues execution of ISR 9. </a:t>
            </a:r>
          </a:p>
        </p:txBody>
      </p:sp>
    </p:spTree>
    <p:extLst>
      <p:ext uri="{BB962C8B-B14F-4D97-AF65-F5344CB8AC3E}">
        <p14:creationId xmlns:p14="http://schemas.microsoft.com/office/powerpoint/2010/main" val="3778220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5" name="Flowchart: Process 4"/>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5562661" y="1743960"/>
            <a:ext cx="1483505" cy="694627"/>
            <a:chOff x="8253468" y="402921"/>
            <a:chExt cx="1483505"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8534400" y="402921"/>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5740347" y="2613666"/>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sp>
        <p:nvSpPr>
          <p:cNvPr id="40" name="Rectangle 39"/>
          <p:cNvSpPr/>
          <p:nvPr/>
        </p:nvSpPr>
        <p:spPr>
          <a:xfrm>
            <a:off x="4813761" y="2052693"/>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graphicFrame>
        <p:nvGraphicFramePr>
          <p:cNvPr id="42" name="Table 41"/>
          <p:cNvGraphicFramePr>
            <a:graphicFrameLocks noGrp="1"/>
          </p:cNvGraphicFramePr>
          <p:nvPr>
            <p:extLst>
              <p:ext uri="{D42A27DB-BD31-4B8C-83A1-F6EECF244321}">
                <p14:modId xmlns:p14="http://schemas.microsoft.com/office/powerpoint/2010/main" val="142013241"/>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0600" y="1292423"/>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4" name="内容占位符 2">
            <a:extLst>
              <a:ext uri="{FF2B5EF4-FFF2-40B4-BE49-F238E27FC236}">
                <a16:creationId xmlns:a16="http://schemas.microsoft.com/office/drawing/2014/main" id="{3BD61D7E-104E-5DA6-4F0D-226E80168A0C}"/>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ISR 9 completes, NVIC performs unstacking to recover the running environment of the user program. The user program then resumes its execution.</a:t>
            </a:r>
          </a:p>
        </p:txBody>
      </p:sp>
    </p:spTree>
    <p:extLst>
      <p:ext uri="{BB962C8B-B14F-4D97-AF65-F5344CB8AC3E}">
        <p14:creationId xmlns:p14="http://schemas.microsoft.com/office/powerpoint/2010/main" val="2633759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Tail Chaining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9" name="Content Placeholder 78"/>
          <p:cNvSpPr>
            <a:spLocks noGrp="1"/>
          </p:cNvSpPr>
          <p:nvPr>
            <p:ph sz="quarter" idx="1"/>
          </p:nvPr>
        </p:nvSpPr>
        <p:spPr>
          <a:xfrm>
            <a:off x="199792" y="1371600"/>
            <a:ext cx="4246785" cy="5105400"/>
          </a:xfrm>
        </p:spPr>
        <p:txBody>
          <a:bodyPr>
            <a:normAutofit fontScale="92500" lnSpcReduction="20000"/>
          </a:bodyPr>
          <a:lstStyle/>
          <a:p>
            <a:r>
              <a:rPr lang="en-US" sz="2000" dirty="0"/>
              <a:t>EXTI3 → ISR 9</a:t>
            </a:r>
          </a:p>
          <a:p>
            <a:r>
              <a:rPr lang="en-US" sz="2000" dirty="0"/>
              <a:t>EXTI4 → ISR 10</a:t>
            </a:r>
          </a:p>
          <a:p>
            <a:r>
              <a:rPr lang="en-US" sz="2000" dirty="0"/>
              <a:t>Suppose EXTI4 has lower urgency than EXTI3.</a:t>
            </a:r>
          </a:p>
          <a:p>
            <a:pPr lvl="1"/>
            <a:r>
              <a:rPr lang="en-US" sz="1700" dirty="0"/>
              <a:t>EXTI4 has a higher numeric priority value than EXTI3.</a:t>
            </a:r>
          </a:p>
          <a:p>
            <a:pPr lvl="1"/>
            <a:r>
              <a:rPr lang="en-US" sz="1700" dirty="0"/>
              <a:t xml:space="preserve">If interrupt 4 EXTI4 arrives before the interrupt 3 EXTI3’s handler completes, NVIC will continue the execution of the current ISR 9 for EXTI3. After it completes,  unstacking and  stacking are performed, before the new ISR 10 for EXTI4 starts. </a:t>
            </a:r>
          </a:p>
          <a:p>
            <a:r>
              <a:rPr lang="en-US" sz="2000" dirty="0"/>
              <a:t>The middle unstacking and stacking are unnecessary in this example. Tail chaining is an optimization technique to reduce the interrupt latency. </a:t>
            </a:r>
          </a:p>
          <a:p>
            <a:pPr lvl="1"/>
            <a:r>
              <a:rPr lang="en-US" sz="1700" dirty="0"/>
              <a:t>Typically unstacking and stacking each takes 12 cycles.. However, tail chaining takes only 6 cycles. </a:t>
            </a:r>
          </a:p>
          <a:p>
            <a:endParaRPr lang="en-US" sz="2000" dirty="0"/>
          </a:p>
        </p:txBody>
      </p:sp>
      <p:sp>
        <p:nvSpPr>
          <p:cNvPr id="52" name="Flowchart: Process 51"/>
          <p:cNvSpPr/>
          <p:nvPr/>
        </p:nvSpPr>
        <p:spPr>
          <a:xfrm>
            <a:off x="4437524" y="1213891"/>
            <a:ext cx="7206770" cy="2459561"/>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53" name="Straight Arrow Connector 52"/>
          <p:cNvCxnSpPr/>
          <p:nvPr/>
        </p:nvCxnSpPr>
        <p:spPr>
          <a:xfrm>
            <a:off x="4489620" y="3368497"/>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p:cNvCxnSpPr>
          <p:nvPr/>
        </p:nvCxnSpPr>
        <p:spPr>
          <a:xfrm flipV="1">
            <a:off x="4582920" y="1250752"/>
            <a:ext cx="0" cy="23463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4659120" y="2606497"/>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56" name="TextBox 55"/>
          <p:cNvSpPr txBox="1"/>
          <p:nvPr/>
        </p:nvSpPr>
        <p:spPr>
          <a:xfrm>
            <a:off x="10920986" y="2962942"/>
            <a:ext cx="609600" cy="369332"/>
          </a:xfrm>
          <a:prstGeom prst="rect">
            <a:avLst/>
          </a:prstGeom>
          <a:noFill/>
        </p:spPr>
        <p:txBody>
          <a:bodyPr wrap="square" rtlCol="0">
            <a:spAutoFit/>
          </a:bodyPr>
          <a:lstStyle/>
          <a:p>
            <a:r>
              <a:rPr lang="en-US" dirty="0"/>
              <a:t>time</a:t>
            </a:r>
          </a:p>
        </p:txBody>
      </p:sp>
      <p:sp>
        <p:nvSpPr>
          <p:cNvPr id="58" name="Rectangle 57"/>
          <p:cNvSpPr/>
          <p:nvPr/>
        </p:nvSpPr>
        <p:spPr>
          <a:xfrm>
            <a:off x="6115556" y="2128977"/>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p:cNvSpPr txBox="1"/>
          <p:nvPr/>
        </p:nvSpPr>
        <p:spPr>
          <a:xfrm>
            <a:off x="5072785" y="1813466"/>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60" name="Straight Arrow Connector 59"/>
          <p:cNvCxnSpPr>
            <a:stCxn id="58" idx="1"/>
          </p:cNvCxnSpPr>
          <p:nvPr/>
        </p:nvCxnSpPr>
        <p:spPr>
          <a:xfrm flipH="1" flipV="1">
            <a:off x="5932980" y="2182798"/>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7715340" y="2132569"/>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p:cNvSpPr txBox="1"/>
          <p:nvPr/>
        </p:nvSpPr>
        <p:spPr>
          <a:xfrm>
            <a:off x="6832465" y="1752600"/>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sp>
        <p:nvSpPr>
          <p:cNvPr id="65" name="Rectangle 64"/>
          <p:cNvSpPr/>
          <p:nvPr/>
        </p:nvSpPr>
        <p:spPr>
          <a:xfrm>
            <a:off x="9655584" y="2605577"/>
            <a:ext cx="1265402"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67" name="Rectangle 66"/>
          <p:cNvSpPr/>
          <p:nvPr/>
        </p:nvSpPr>
        <p:spPr>
          <a:xfrm>
            <a:off x="8000884" y="1509280"/>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p:cNvSpPr/>
          <p:nvPr/>
        </p:nvSpPr>
        <p:spPr>
          <a:xfrm>
            <a:off x="9414955" y="1507658"/>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extBox 68"/>
          <p:cNvSpPr txBox="1"/>
          <p:nvPr/>
        </p:nvSpPr>
        <p:spPr>
          <a:xfrm>
            <a:off x="7865687" y="1146574"/>
            <a:ext cx="941283" cy="369332"/>
          </a:xfrm>
          <a:prstGeom prst="rect">
            <a:avLst/>
          </a:prstGeom>
          <a:noFill/>
        </p:spPr>
        <p:txBody>
          <a:bodyPr wrap="none" rtlCol="0">
            <a:spAutoFit/>
          </a:bodyPr>
          <a:lstStyle/>
          <a:p>
            <a:r>
              <a:rPr lang="en-US" dirty="0">
                <a:solidFill>
                  <a:srgbClr val="00B050"/>
                </a:solidFill>
              </a:rPr>
              <a:t>Stacking</a:t>
            </a:r>
          </a:p>
        </p:txBody>
      </p:sp>
      <p:sp>
        <p:nvSpPr>
          <p:cNvPr id="70" name="TextBox 69"/>
          <p:cNvSpPr txBox="1"/>
          <p:nvPr/>
        </p:nvSpPr>
        <p:spPr>
          <a:xfrm>
            <a:off x="8975997" y="1143000"/>
            <a:ext cx="1202573" cy="369332"/>
          </a:xfrm>
          <a:prstGeom prst="rect">
            <a:avLst/>
          </a:prstGeom>
          <a:noFill/>
        </p:spPr>
        <p:txBody>
          <a:bodyPr wrap="none" rtlCol="0">
            <a:spAutoFit/>
          </a:bodyPr>
          <a:lstStyle/>
          <a:p>
            <a:r>
              <a:rPr lang="en-US" dirty="0">
                <a:solidFill>
                  <a:srgbClr val="00B050"/>
                </a:solidFill>
              </a:rPr>
              <a:t>Unstacking</a:t>
            </a:r>
          </a:p>
        </p:txBody>
      </p:sp>
      <p:sp>
        <p:nvSpPr>
          <p:cNvPr id="72" name="Lightning Bolt 71"/>
          <p:cNvSpPr/>
          <p:nvPr/>
        </p:nvSpPr>
        <p:spPr>
          <a:xfrm flipH="1">
            <a:off x="6149230" y="3138745"/>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3" name="TextBox 72"/>
          <p:cNvSpPr txBox="1"/>
          <p:nvPr/>
        </p:nvSpPr>
        <p:spPr>
          <a:xfrm>
            <a:off x="6350506" y="2853206"/>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74" name="Lightning Bolt 73"/>
          <p:cNvSpPr/>
          <p:nvPr/>
        </p:nvSpPr>
        <p:spPr>
          <a:xfrm flipH="1">
            <a:off x="7064910" y="3147729"/>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5" name="TextBox 74"/>
          <p:cNvSpPr txBox="1"/>
          <p:nvPr/>
        </p:nvSpPr>
        <p:spPr>
          <a:xfrm>
            <a:off x="7266186" y="2862190"/>
            <a:ext cx="82586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EXTI4</a:t>
            </a:r>
          </a:p>
        </p:txBody>
      </p:sp>
      <p:sp>
        <p:nvSpPr>
          <p:cNvPr id="76" name="Rectangle 75"/>
          <p:cNvSpPr/>
          <p:nvPr/>
        </p:nvSpPr>
        <p:spPr>
          <a:xfrm>
            <a:off x="6346447" y="2124184"/>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77" name="Rectangle 76"/>
          <p:cNvSpPr/>
          <p:nvPr/>
        </p:nvSpPr>
        <p:spPr>
          <a:xfrm>
            <a:off x="8251597" y="1506546"/>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10</a:t>
            </a:r>
          </a:p>
        </p:txBody>
      </p:sp>
      <p:sp>
        <p:nvSpPr>
          <p:cNvPr id="5" name="Flowchart: Process 4"/>
          <p:cNvSpPr/>
          <p:nvPr/>
        </p:nvSpPr>
        <p:spPr>
          <a:xfrm>
            <a:off x="4466986" y="4182922"/>
            <a:ext cx="7206770" cy="2533532"/>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4466986" y="64177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V="1">
            <a:off x="4560286" y="4298927"/>
            <a:ext cx="0" cy="23473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636486" y="56557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10898352" y="60121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6328581" y="5178195"/>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6092922" y="51781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5050151" y="48626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5910346" y="52320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8935910" y="4343400"/>
            <a:ext cx="1483505" cy="694627"/>
            <a:chOff x="8253468" y="402921"/>
            <a:chExt cx="1483505"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8534400" y="402921"/>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9216308" y="574172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32" name="Rectangle 31"/>
          <p:cNvSpPr/>
          <p:nvPr/>
        </p:nvSpPr>
        <p:spPr>
          <a:xfrm>
            <a:off x="7791125" y="4651604"/>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10</a:t>
            </a:r>
          </a:p>
        </p:txBody>
      </p:sp>
      <p:sp>
        <p:nvSpPr>
          <p:cNvPr id="47" name="Lightning Bolt 46"/>
          <p:cNvSpPr/>
          <p:nvPr/>
        </p:nvSpPr>
        <p:spPr>
          <a:xfrm flipH="1">
            <a:off x="6126596" y="61879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6327872" y="59024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7042276" y="61969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7243552" y="5911408"/>
            <a:ext cx="82586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EXTI4</a:t>
            </a:r>
          </a:p>
        </p:txBody>
      </p:sp>
      <p:sp>
        <p:nvSpPr>
          <p:cNvPr id="78" name="Rectangle 77"/>
          <p:cNvSpPr/>
          <p:nvPr/>
        </p:nvSpPr>
        <p:spPr>
          <a:xfrm>
            <a:off x="7663971" y="4656840"/>
            <a:ext cx="76200" cy="3810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p:cNvSpPr/>
          <p:nvPr/>
        </p:nvSpPr>
        <p:spPr>
          <a:xfrm>
            <a:off x="6980130" y="4280832"/>
            <a:ext cx="1367682" cy="369332"/>
          </a:xfrm>
          <a:prstGeom prst="rect">
            <a:avLst/>
          </a:prstGeom>
        </p:spPr>
        <p:txBody>
          <a:bodyPr wrap="none">
            <a:spAutoFit/>
          </a:bodyPr>
          <a:lstStyle/>
          <a:p>
            <a:r>
              <a:rPr lang="en-US" dirty="0">
                <a:solidFill>
                  <a:srgbClr val="0000FF"/>
                </a:solidFill>
              </a:rPr>
              <a:t>Tail Chaining</a:t>
            </a:r>
          </a:p>
        </p:txBody>
      </p:sp>
      <p:grpSp>
        <p:nvGrpSpPr>
          <p:cNvPr id="27" name="Group 26"/>
          <p:cNvGrpSpPr/>
          <p:nvPr/>
        </p:nvGrpSpPr>
        <p:grpSpPr>
          <a:xfrm>
            <a:off x="6934200" y="1250752"/>
            <a:ext cx="1146468" cy="871180"/>
            <a:chOff x="6934200" y="1250752"/>
            <a:chExt cx="1146468" cy="871180"/>
          </a:xfrm>
        </p:grpSpPr>
        <p:cxnSp>
          <p:nvCxnSpPr>
            <p:cNvPr id="20" name="Straight Arrow Connector 19"/>
            <p:cNvCxnSpPr>
              <a:endCxn id="21" idx="2"/>
            </p:cNvCxnSpPr>
            <p:nvPr/>
          </p:nvCxnSpPr>
          <p:spPr>
            <a:xfrm flipH="1" flipV="1">
              <a:off x="7507434" y="1620084"/>
              <a:ext cx="280955" cy="50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34200" y="1250752"/>
              <a:ext cx="114646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12 cycles</a:t>
              </a:r>
            </a:p>
          </p:txBody>
        </p:sp>
      </p:grpSp>
      <p:grpSp>
        <p:nvGrpSpPr>
          <p:cNvPr id="28" name="Group 27"/>
          <p:cNvGrpSpPr/>
          <p:nvPr/>
        </p:nvGrpSpPr>
        <p:grpSpPr>
          <a:xfrm>
            <a:off x="8009589" y="351043"/>
            <a:ext cx="1146468" cy="868157"/>
            <a:chOff x="8009589" y="1253775"/>
            <a:chExt cx="1146468" cy="868157"/>
          </a:xfrm>
        </p:grpSpPr>
        <p:cxnSp>
          <p:nvCxnSpPr>
            <p:cNvPr id="57" name="Straight Arrow Connector 56"/>
            <p:cNvCxnSpPr/>
            <p:nvPr/>
          </p:nvCxnSpPr>
          <p:spPr>
            <a:xfrm flipV="1">
              <a:off x="8112336" y="1593155"/>
              <a:ext cx="325975" cy="52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8009589" y="1253775"/>
              <a:ext cx="114646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12 cycles</a:t>
              </a:r>
            </a:p>
          </p:txBody>
        </p:sp>
      </p:grpSp>
      <p:grpSp>
        <p:nvGrpSpPr>
          <p:cNvPr id="34" name="Group 33"/>
          <p:cNvGrpSpPr/>
          <p:nvPr/>
        </p:nvGrpSpPr>
        <p:grpSpPr>
          <a:xfrm>
            <a:off x="7715340" y="5009107"/>
            <a:ext cx="1166126" cy="369332"/>
            <a:chOff x="7702071" y="4964385"/>
            <a:chExt cx="1166126" cy="369332"/>
          </a:xfrm>
        </p:grpSpPr>
        <p:cxnSp>
          <p:nvCxnSpPr>
            <p:cNvPr id="30" name="Straight Arrow Connector 29"/>
            <p:cNvCxnSpPr>
              <a:stCxn id="78" idx="2"/>
            </p:cNvCxnSpPr>
            <p:nvPr/>
          </p:nvCxnSpPr>
          <p:spPr>
            <a:xfrm>
              <a:off x="7702071" y="5037840"/>
              <a:ext cx="191646" cy="21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849970" y="4964385"/>
              <a:ext cx="1018227"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6 cycles</a:t>
              </a:r>
            </a:p>
          </p:txBody>
        </p:sp>
      </p:grpSp>
      <p:cxnSp>
        <p:nvCxnSpPr>
          <p:cNvPr id="22" name="Straight Connector 21"/>
          <p:cNvCxnSpPr/>
          <p:nvPr/>
        </p:nvCxnSpPr>
        <p:spPr>
          <a:xfrm flipV="1">
            <a:off x="7180497" y="2514237"/>
            <a:ext cx="0" cy="85660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2513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5.6|20.4|11.8|14.2|4.7|11.9"/>
</p:tagLst>
</file>

<file path=ppt/tags/tag2.xml><?xml version="1.0" encoding="utf-8"?>
<p:tagLst xmlns:a="http://schemas.openxmlformats.org/drawingml/2006/main" xmlns:r="http://schemas.openxmlformats.org/officeDocument/2006/relationships" xmlns:p="http://schemas.openxmlformats.org/presentationml/2006/main">
  <p:tag name="TIMING" val="|15.6|20.4|11.8|14.2|4.7|11.9"/>
</p:tagLst>
</file>

<file path=ppt/tags/tag3.xml><?xml version="1.0" encoding="utf-8"?>
<p:tagLst xmlns:a="http://schemas.openxmlformats.org/drawingml/2006/main" xmlns:r="http://schemas.openxmlformats.org/officeDocument/2006/relationships" xmlns:p="http://schemas.openxmlformats.org/presentationml/2006/main">
  <p:tag name="TIMING" val="|15.6|20.4|11.8|14.2|4.7|11.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17317</TotalTime>
  <Words>8224</Words>
  <Application>Microsoft Office PowerPoint</Application>
  <PresentationFormat>Widescreen</PresentationFormat>
  <Paragraphs>2349</Paragraphs>
  <Slides>41</Slides>
  <Notes>41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41</vt:i4>
      </vt:variant>
    </vt:vector>
  </HeadingPairs>
  <TitlesOfParts>
    <vt:vector size="54" baseType="lpstr">
      <vt:lpstr>Bookman Old Style (Headings)</vt:lpstr>
      <vt:lpstr>Gill Sans Light</vt:lpstr>
      <vt:lpstr>Arial</vt:lpstr>
      <vt:lpstr>Bookman Old Style</vt:lpstr>
      <vt:lpstr>Calibri</vt:lpstr>
      <vt:lpstr>Consolas</vt:lpstr>
      <vt:lpstr>Courier New</vt:lpstr>
      <vt:lpstr>Gill Sans MT</vt:lpstr>
      <vt:lpstr>Verdana</vt:lpstr>
      <vt:lpstr>Wingdings</vt:lpstr>
      <vt:lpstr>Wingdings 3</vt:lpstr>
      <vt:lpstr>Origin</vt:lpstr>
      <vt:lpstr>1_Origin</vt:lpstr>
      <vt:lpstr>Z. Gu</vt:lpstr>
      <vt:lpstr>Polling vs Interrupt</vt:lpstr>
      <vt:lpstr>Memory Map of Cortex-M4</vt:lpstr>
      <vt:lpstr>Data Memory</vt:lpstr>
      <vt:lpstr>Instruction Memory</vt:lpstr>
      <vt:lpstr>Interrupt Vector Table</vt:lpstr>
      <vt:lpstr>Interrupt Vector Table</vt:lpstr>
      <vt:lpstr>Interrupt Vector Table</vt:lpstr>
      <vt:lpstr>Interrupt Service Routine (ISR)</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Nested Interrupts: Example of Preemption</vt:lpstr>
      <vt:lpstr>Nested Interrupts: Example of Preemption</vt:lpstr>
      <vt:lpstr>Nested Interrupts: Example of Preemption</vt:lpstr>
      <vt:lpstr>Nested Interrupts: Example of Interrupt Preemption</vt:lpstr>
      <vt:lpstr>Nested Interrupts: Example of Preemption</vt:lpstr>
      <vt:lpstr>Nested Interrupts: Example of Preemption</vt:lpstr>
      <vt:lpstr>Nested Interrupts: Example of Preemption</vt:lpstr>
      <vt:lpstr>Nested Interrupts: Tail Chaining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648</cp:revision>
  <dcterms:created xsi:type="dcterms:W3CDTF">2013-02-03T05:36:57Z</dcterms:created>
  <dcterms:modified xsi:type="dcterms:W3CDTF">2025-10-05T23:52:54Z</dcterms:modified>
</cp:coreProperties>
</file>