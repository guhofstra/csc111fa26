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56" r:id="rId2"/>
    <p:sldId id="352" r:id="rId3"/>
    <p:sldId id="384" r:id="rId4"/>
    <p:sldId id="354" r:id="rId5"/>
    <p:sldId id="257" r:id="rId6"/>
    <p:sldId id="369" r:id="rId7"/>
    <p:sldId id="375" r:id="rId8"/>
    <p:sldId id="380" r:id="rId9"/>
    <p:sldId id="382" r:id="rId10"/>
    <p:sldId id="376" r:id="rId11"/>
    <p:sldId id="378" r:id="rId12"/>
    <p:sldId id="361" r:id="rId13"/>
    <p:sldId id="362" r:id="rId14"/>
    <p:sldId id="363" r:id="rId15"/>
    <p:sldId id="364" r:id="rId16"/>
    <p:sldId id="368" r:id="rId17"/>
    <p:sldId id="370" r:id="rId18"/>
    <p:sldId id="372" r:id="rId19"/>
    <p:sldId id="373" r:id="rId20"/>
    <p:sldId id="366" r:id="rId21"/>
    <p:sldId id="367" r:id="rId22"/>
    <p:sldId id="287" r:id="rId23"/>
    <p:sldId id="357" r:id="rId24"/>
    <p:sldId id="358" r:id="rId25"/>
    <p:sldId id="359" r:id="rId26"/>
    <p:sldId id="360" r:id="rId27"/>
  </p:sldIdLst>
  <p:sldSz cx="9144000" cy="6858000" type="screen4x3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2800" autoAdjust="0"/>
    <p:restoredTop sz="79477" autoAdjust="0"/>
  </p:normalViewPr>
  <p:slideViewPr>
    <p:cSldViewPr>
      <p:cViewPr varScale="1">
        <p:scale>
          <a:sx n="65" d="100"/>
          <a:sy n="65" d="100"/>
        </p:scale>
        <p:origin x="2083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39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delSld modSld">
      <pc:chgData name="Zonghua Gu" userId="9a7e1853e1951ef5" providerId="LiveId" clId="{CF1FAA12-072C-4ED5-BA76-0FFFAEFDB88A}" dt="2025-09-28T19:05:59.918" v="8" actId="47"/>
      <pc:docMkLst>
        <pc:docMk/>
      </pc:docMkLst>
      <pc:sldChg chg="modSp mod">
        <pc:chgData name="Zonghua Gu" userId="9a7e1853e1951ef5" providerId="LiveId" clId="{CF1FAA12-072C-4ED5-BA76-0FFFAEFDB88A}" dt="2025-09-28T19:05:48.574" v="0" actId="20577"/>
        <pc:sldMkLst>
          <pc:docMk/>
          <pc:sldMk cId="1683281344" sldId="256"/>
        </pc:sldMkLst>
        <pc:spChg chg="mod">
          <ac:chgData name="Zonghua Gu" userId="9a7e1853e1951ef5" providerId="LiveId" clId="{CF1FAA12-072C-4ED5-BA76-0FFFAEFDB88A}" dt="2025-09-28T19:05:48.574" v="0" actId="20577"/>
          <ac:spMkLst>
            <pc:docMk/>
            <pc:sldMk cId="1683281344" sldId="256"/>
            <ac:spMk id="6" creationId="{00000000-0000-0000-0000-000000000000}"/>
          </ac:spMkLst>
        </pc:spChg>
      </pc:sldChg>
      <pc:sldChg chg="del">
        <pc:chgData name="Zonghua Gu" userId="9a7e1853e1951ef5" providerId="LiveId" clId="{CF1FAA12-072C-4ED5-BA76-0FFFAEFDB88A}" dt="2025-09-28T19:05:52.670" v="2" actId="47"/>
        <pc:sldMkLst>
          <pc:docMk/>
          <pc:sldMk cId="188395404" sldId="353"/>
        </pc:sldMkLst>
      </pc:sldChg>
      <pc:sldChg chg="del">
        <pc:chgData name="Zonghua Gu" userId="9a7e1853e1951ef5" providerId="LiveId" clId="{CF1FAA12-072C-4ED5-BA76-0FFFAEFDB88A}" dt="2025-09-28T19:05:53.628" v="3" actId="47"/>
        <pc:sldMkLst>
          <pc:docMk/>
          <pc:sldMk cId="3013293955" sldId="355"/>
        </pc:sldMkLst>
      </pc:sldChg>
      <pc:sldChg chg="del">
        <pc:chgData name="Zonghua Gu" userId="9a7e1853e1951ef5" providerId="LiveId" clId="{CF1FAA12-072C-4ED5-BA76-0FFFAEFDB88A}" dt="2025-09-28T19:05:55.440" v="4" actId="47"/>
        <pc:sldMkLst>
          <pc:docMk/>
          <pc:sldMk cId="2876358127" sldId="356"/>
        </pc:sldMkLst>
      </pc:sldChg>
      <pc:sldChg chg="del">
        <pc:chgData name="Zonghua Gu" userId="9a7e1853e1951ef5" providerId="LiveId" clId="{CF1FAA12-072C-4ED5-BA76-0FFFAEFDB88A}" dt="2025-09-28T19:05:56.236" v="5" actId="47"/>
        <pc:sldMkLst>
          <pc:docMk/>
          <pc:sldMk cId="3582392412" sldId="371"/>
        </pc:sldMkLst>
      </pc:sldChg>
      <pc:sldChg chg="del">
        <pc:chgData name="Zonghua Gu" userId="9a7e1853e1951ef5" providerId="LiveId" clId="{CF1FAA12-072C-4ED5-BA76-0FFFAEFDB88A}" dt="2025-09-28T19:05:58.543" v="7" actId="47"/>
        <pc:sldMkLst>
          <pc:docMk/>
          <pc:sldMk cId="824643333" sldId="374"/>
        </pc:sldMkLst>
      </pc:sldChg>
      <pc:sldChg chg="del">
        <pc:chgData name="Zonghua Gu" userId="9a7e1853e1951ef5" providerId="LiveId" clId="{CF1FAA12-072C-4ED5-BA76-0FFFAEFDB88A}" dt="2025-09-28T19:05:59.918" v="8" actId="47"/>
        <pc:sldMkLst>
          <pc:docMk/>
          <pc:sldMk cId="3558794685" sldId="379"/>
        </pc:sldMkLst>
      </pc:sldChg>
      <pc:sldChg chg="del">
        <pc:chgData name="Zonghua Gu" userId="9a7e1853e1951ef5" providerId="LiveId" clId="{CF1FAA12-072C-4ED5-BA76-0FFFAEFDB88A}" dt="2025-09-28T19:05:57.279" v="6" actId="47"/>
        <pc:sldMkLst>
          <pc:docMk/>
          <pc:sldMk cId="3938986292" sldId="381"/>
        </pc:sldMkLst>
      </pc:sldChg>
      <pc:sldChg chg="del">
        <pc:chgData name="Zonghua Gu" userId="9a7e1853e1951ef5" providerId="LiveId" clId="{CF1FAA12-072C-4ED5-BA76-0FFFAEFDB88A}" dt="2025-09-28T19:05:51.779" v="1" actId="47"/>
        <pc:sldMkLst>
          <pc:docMk/>
          <pc:sldMk cId="3010226585" sldId="38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/>
          <a:lstStyle>
            <a:lvl1pPr algn="r">
              <a:defRPr sz="1200"/>
            </a:lvl1pPr>
          </a:lstStyle>
          <a:p>
            <a:fld id="{2AEAFE1F-9E52-45C8-9793-E819F0044A1C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692150"/>
            <a:ext cx="4616450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87" tIns="46244" rIns="92487" bIns="4624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87" tIns="46244" rIns="92487" bIns="4624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9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9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 anchor="b"/>
          <a:lstStyle>
            <a:lvl1pPr algn="r">
              <a:defRPr sz="1200"/>
            </a:lvl1pPr>
          </a:lstStyle>
          <a:p>
            <a:fld id="{2D71AD5F-E36F-46B9-A99B-7B02524435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616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Compare r0 and r1</a:t>
            </a:r>
          </a:p>
          <a:p>
            <a:r>
              <a:rPr lang="en-US" dirty="0"/>
              <a:t>@ Branch to skip if r0 == r1 (skip the addition)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@ r2 = r2 + r2 (only executed if r0 != r1)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i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Compare r0 and r1</a:t>
            </a:r>
          </a:p>
          <a:p>
            <a:r>
              <a:rPr lang="en-US" dirty="0"/>
              <a:t>ANS A:</a:t>
            </a:r>
          </a:p>
          <a:p>
            <a:pPr lvl="1"/>
            <a:r>
              <a:rPr lang="en-US" dirty="0"/>
              <a:t>CMP r0, r1         </a:t>
            </a:r>
          </a:p>
          <a:p>
            <a:pPr lvl="1"/>
            <a:r>
              <a:rPr lang="en-US" dirty="0"/>
              <a:t>BEQ skip</a:t>
            </a:r>
          </a:p>
          <a:p>
            <a:pPr lvl="1"/>
            <a:r>
              <a:rPr lang="en-US" dirty="0"/>
              <a:t>ADD r2, r2, r2      </a:t>
            </a:r>
          </a:p>
          <a:p>
            <a:pPr lvl="1"/>
            <a:r>
              <a:rPr lang="en-US" dirty="0"/>
              <a:t>skip:</a:t>
            </a:r>
          </a:p>
          <a:p>
            <a:r>
              <a:rPr lang="en-US" dirty="0"/>
              <a:t>ANS B: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i="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369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EBB4E-8AB6-9327-DB23-68FF34B79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D67CF5-3750-98EA-0473-C2FFA46255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8710C2-3CB4-3124-9E12-25B21C4E68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Alternative solution: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55E10-BB88-1105-6F23-3D56538740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555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for 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&lt;8; </a:t>
            </a:r>
            <a:r>
              <a:rPr lang="en-US" dirty="0" err="1"/>
              <a:t>i</a:t>
            </a:r>
            <a:r>
              <a:rPr lang="en-US" dirty="0"/>
              <a:t>++){</a:t>
            </a:r>
          </a:p>
          <a:p>
            <a:pPr lvl="1"/>
            <a:r>
              <a:rPr lang="en-US" dirty="0"/>
              <a:t>a[</a:t>
            </a:r>
            <a:r>
              <a:rPr lang="en-US" dirty="0" err="1"/>
              <a:t>i</a:t>
            </a:r>
            <a:r>
              <a:rPr lang="en-US" dirty="0"/>
              <a:t>] = b[7-i];</a:t>
            </a:r>
          </a:p>
          <a:p>
            <a:pPr lvl="1"/>
            <a:r>
              <a:rPr lang="en-US" dirty="0"/>
              <a:t>}</a:t>
            </a:r>
          </a:p>
          <a:p>
            <a:r>
              <a:rPr lang="en-US" dirty="0"/>
              <a:t>ANS:</a:t>
            </a:r>
          </a:p>
          <a:p>
            <a:pPr lvl="1"/>
            <a:r>
              <a:rPr lang="en-US" dirty="0"/>
              <a:t>@ for 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&lt;8; </a:t>
            </a:r>
            <a:r>
              <a:rPr lang="en-US" dirty="0" err="1"/>
              <a:t>i</a:t>
            </a:r>
            <a:r>
              <a:rPr lang="en-US" dirty="0"/>
              <a:t>++) { a[</a:t>
            </a:r>
            <a:r>
              <a:rPr lang="en-US" dirty="0" err="1"/>
              <a:t>i</a:t>
            </a:r>
            <a:r>
              <a:rPr lang="en-US" dirty="0"/>
              <a:t>] = b[7-i]; }</a:t>
            </a:r>
          </a:p>
          <a:p>
            <a:pPr lvl="1"/>
            <a:r>
              <a:rPr lang="en-US" dirty="0"/>
              <a:t>@ Assume r0 = base address of a, r1 = base address of b</a:t>
            </a:r>
          </a:p>
          <a:p>
            <a:pPr lvl="1"/>
            <a:r>
              <a:rPr lang="en-US" dirty="0"/>
              <a:t>MOV r2, #0          @ </a:t>
            </a:r>
            <a:r>
              <a:rPr lang="en-US" dirty="0" err="1"/>
              <a:t>i</a:t>
            </a:r>
            <a:r>
              <a:rPr lang="en-US" dirty="0"/>
              <a:t> = 0</a:t>
            </a:r>
          </a:p>
          <a:p>
            <a:pPr lvl="1"/>
            <a:r>
              <a:rPr lang="en-US" dirty="0" err="1"/>
              <a:t>loop_start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…</a:t>
            </a:r>
          </a:p>
          <a:p>
            <a:pPr lvl="1"/>
            <a:r>
              <a:rPr lang="en-US" dirty="0" err="1"/>
              <a:t>loop_end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1328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412AB-13B4-B035-0958-DA9C98290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6F495B-59BA-E964-8205-8317BD120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0832F4-7DCD-B8E4-7248-B122F9B2AC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B25462-90E1-D5A5-988E-2D33F273D7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803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38E8E-8967-FABC-4379-055C5BB4A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20BA70-AB8C-5A9E-3A4F-2FF475D73C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233B47-99E1-DA8E-01DD-DCC2ABA96C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No—do not replace BNE with BPL in that loop.image.jpg</a:t>
            </a:r>
          </a:p>
          <a:p>
            <a:r>
              <a:rPr lang="en-US" b="1" dirty="0"/>
              <a:t>Why BNE is correct</a:t>
            </a:r>
          </a:p>
          <a:p>
            <a:r>
              <a:rPr lang="en-US" dirty="0"/>
              <a:t>After SUB r0, r0, #1, the Zero flag Z is set only when r0 becomes 0, so BNE (“branch if not equal to zero”) repeats exactly until the counter hits 0, giving 10 iterations from an initial value of 10.image.jpg</a:t>
            </a:r>
          </a:p>
          <a:p>
            <a:r>
              <a:rPr lang="en-US" b="1" dirty="0"/>
              <a:t>Why BPL is wrong here</a:t>
            </a:r>
          </a:p>
          <a:p>
            <a:r>
              <a:rPr lang="en-US" dirty="0"/>
              <a:t>BPL tests the Negative flag N=0 (i.e., “plus/non‑negative”), not whether the value is nonzero. Starting from 10 and decrementing, N stays 0 for 10 down to 0, so BPL would still branch at r0=0 and continue into −1</a:t>
            </a:r>
          </a:p>
          <a:p>
            <a:r>
              <a:rPr lang="en-US" b="1" dirty="0"/>
              <a:t>If using “plus” logic</a:t>
            </a:r>
          </a:p>
          <a:p>
            <a:r>
              <a:rPr lang="en-US" dirty="0"/>
              <a:t>To stop before going negative, the condition would need to be “branch while r0 &gt; 0,” which is achieved with BGT after a CMP r0,#0 or by keeping BNE after SUBS. Using BPL alone does not encode “greater than zero.”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160E0-1640-110C-2FA4-4D81E7C017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8037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24810" y="4404346"/>
            <a:ext cx="5100458" cy="417057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5780" tIns="47890" rIns="95780" bIns="47890"/>
          <a:lstStyle/>
          <a:p>
            <a:pPr marL="0" lvl="2" defTabSz="924879">
              <a:defRPr/>
            </a:pPr>
            <a:r>
              <a:rPr lang="en-US" dirty="0"/>
              <a:t>Condition codes are simply a way of testing the ALU status flags. </a:t>
            </a:r>
          </a:p>
          <a:p>
            <a:pPr marL="0" lvl="2" defTabSz="924879">
              <a:defRPr/>
            </a:pPr>
            <a:r>
              <a:rPr lang="en-US" dirty="0"/>
              <a:t>Note AL is the default and does not need to be specified </a:t>
            </a:r>
            <a:endParaRPr lang="en-GB" dirty="0"/>
          </a:p>
          <a:p>
            <a:endParaRPr lang="en-US" dirty="0"/>
          </a:p>
        </p:txBody>
      </p:sp>
      <p:sp>
        <p:nvSpPr>
          <p:cNvPr id="45059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9525" y="863600"/>
            <a:ext cx="4403725" cy="3303588"/>
          </a:xfrm>
          <a:ln/>
        </p:spPr>
      </p:sp>
    </p:spTree>
    <p:extLst>
      <p:ext uri="{BB962C8B-B14F-4D97-AF65-F5344CB8AC3E}">
        <p14:creationId xmlns:p14="http://schemas.microsoft.com/office/powerpoint/2010/main" val="2172682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DEF10-5531-8248-33E1-4809D8DB8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B38B50-17AC-38C6-BE82-A167E093AA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AC1DE8-8CE9-B47B-E133-A8C3276E4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After a CMP/CMN or SUBS/ADDS used as an unsigned compare where the first operand is strictly greater than the second; for example, after CMP r0, r1, HI means r0 &gt; r1 when treated as unsigned.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B5C0F-9341-5534-5F6A-552401C926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1164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After a CMP/CMN or SUBS/ADDS used as an unsigned compare where the first operand is strictly greater than the second; for example, after CMP r0, r1, HI means r0 &gt; r1 when treated as unsigned.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13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2E26774B-6488-4259-9342-6CBDB2BFD4E4}" type="datetime1">
              <a:rPr lang="en-US" smtClean="0"/>
              <a:pPr eaLnBrk="1" latinLnBrk="0" hangingPunct="1"/>
              <a:t>9/28/2025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0F52420-10F8-488E-969A-A9BE388BE9C4}" type="datetime1">
              <a:rPr lang="en-US" smtClean="0"/>
              <a:pPr eaLnBrk="1" latinLnBrk="0" hangingPunct="1"/>
              <a:t>9/28/2025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96E96F24-58CF-47DA-907C-A9CD6353E425}" type="datetime1">
              <a:rPr lang="en-US" smtClean="0"/>
              <a:pPr eaLnBrk="1" latinLnBrk="0" hangingPunct="1"/>
              <a:t>9/28/2025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3AE4463-726A-4A35-9F46-98893432A3F9}" type="datetime1">
              <a:rPr lang="en-US" smtClean="0"/>
              <a:pPr eaLnBrk="1" latinLnBrk="0" hangingPunct="1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DF404D0-E306-4E90-90E3-E44D26246FFC}" type="datetime1">
              <a:rPr lang="en-US" smtClean="0"/>
              <a:pPr eaLnBrk="1" latinLnBrk="0" hangingPunct="1"/>
              <a:t>9/28/2025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485DA14-76F0-4D93-83FB-7878C79A1986}" type="datetime1">
              <a:rPr lang="en-US" smtClean="0"/>
              <a:pPr eaLnBrk="1" latinLnBrk="0" hangingPunct="1"/>
              <a:t>9/28/2025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15E552D-49E1-496B-B79C-E100986B8B5F}" type="datetime1">
              <a:rPr lang="en-US" smtClean="0"/>
              <a:pPr eaLnBrk="1" latinLnBrk="0" hangingPunct="1"/>
              <a:t>9/28/2025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EC72505-1551-4A98-97CD-F520B07184AD}" type="datetime1">
              <a:rPr lang="en-US" smtClean="0"/>
              <a:pPr eaLnBrk="1" latinLnBrk="0" hangingPunct="1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218F47B-BA16-4F20-B5BA-73F598D94B51}" type="datetime1">
              <a:rPr lang="en-US" smtClean="0"/>
              <a:pPr eaLnBrk="1" latinLnBrk="0" hangingPunct="1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B2E7711-0BE3-4AFC-959B-CB5C31A7AE48}" type="datetime1">
              <a:rPr lang="en-US" smtClean="0"/>
              <a:pPr eaLnBrk="1" latinLnBrk="0" hangingPunct="1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825AAB62-A572-4E37-B772-B4A75ADE0B18}" type="datetime1">
              <a:rPr lang="en-US" smtClean="0"/>
              <a:pPr eaLnBrk="1" latinLnBrk="0" hangingPunct="1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4F3CB514-9CA6-4E48-9463-A430D31CFDE3}" type="datetime1">
              <a:rPr lang="en-US" smtClean="0"/>
              <a:pPr eaLnBrk="1" latinLnBrk="0" hangingPunct="1"/>
              <a:t>9/28/2025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eece.maine.edu/~zhu/book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37547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13019" y="1828800"/>
            <a:ext cx="38563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6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Flow Control in Assembly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Exercises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F938EB-593A-3F78-8471-70DE26383963}"/>
              </a:ext>
            </a:extLst>
          </p:cNvPr>
          <p:cNvSpPr txBox="1"/>
          <p:nvPr/>
        </p:nvSpPr>
        <p:spPr>
          <a:xfrm>
            <a:off x="709138" y="6307127"/>
            <a:ext cx="7725724" cy="461665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  <a:hlinkClick r:id="rId2"/>
              </a:rPr>
              <a:t>https://web.eece.maine.edu/~zhu/book/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 </a:t>
            </a:r>
            <a:endParaRPr lang="en-SE" sz="1200" dirty="0">
              <a:solidFill>
                <a:schemeClr val="tx1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933DF-9610-809C-11B2-6E559AD6F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Pseudocode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51F047-7DC1-1269-97CA-1BFB3E386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5194D1-447C-6A4E-281D-DAB9A59A84C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057400"/>
          </a:xfrm>
        </p:spPr>
        <p:txBody>
          <a:bodyPr>
            <a:normAutofit/>
          </a:bodyPr>
          <a:lstStyle/>
          <a:p>
            <a:r>
              <a:rPr lang="en-US" dirty="0"/>
              <a:t>Write assembly program for pseudocode, one version without Conditional Execution instructions, one version with Conditional Execution.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5FA2BB6-217B-C52B-5A1B-6F25A3FDBB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617822"/>
              </p:ext>
            </p:extLst>
          </p:nvPr>
        </p:nvGraphicFramePr>
        <p:xfrm>
          <a:off x="876300" y="2844265"/>
          <a:ext cx="7391400" cy="101707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Pseudocode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if (r0 != r1) r2 = r2 + r2</a:t>
                      </a:r>
                    </a:p>
                    <a:p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38E8EFF-813B-0481-15DB-FE881211C9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8323536"/>
              </p:ext>
            </p:extLst>
          </p:nvPr>
        </p:nvGraphicFramePr>
        <p:xfrm>
          <a:off x="876300" y="4220310"/>
          <a:ext cx="7391400" cy="116257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831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Pseudocode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w/Conditional Execution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899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if (r0 != r1) r2 = r2 + r2</a:t>
                      </a:r>
                    </a:p>
                    <a:p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4675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ADCAF-BE50-17FF-579D-A0CE75A6B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E9D73-DFD9-5FD9-049A-AA9B12814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Pseudocode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823922-1E53-1B09-CCCD-2732CE03A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A5B4AA-F936-2EFD-9745-FCE6245B0DC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609600"/>
          </a:xfrm>
        </p:spPr>
        <p:txBody>
          <a:bodyPr/>
          <a:lstStyle/>
          <a:p>
            <a:r>
              <a:rPr lang="en-US" dirty="0"/>
              <a:t>Write assembly program for pseudocode.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F085B11-F5FB-4007-9CB4-3ABD525B24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834828"/>
              </p:ext>
            </p:extLst>
          </p:nvPr>
        </p:nvGraphicFramePr>
        <p:xfrm>
          <a:off x="762000" y="1828800"/>
          <a:ext cx="7391400" cy="7315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58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Pseudocode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1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175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r1 = (r0 &gt;&gt; 4) &amp; 15</a:t>
                      </a:r>
                    </a:p>
                    <a:p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4608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A91CE-CC77-9A35-BF4E-63E1CEF46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Program Understanding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9D288F-B402-F285-2057-DA59079C6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432836-5391-1803-C991-983B7660679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What is r0 equal to after running this program:</a:t>
            </a:r>
          </a:p>
          <a:p>
            <a:pPr lvl="1"/>
            <a:r>
              <a:rPr lang="pt-BR" dirty="0"/>
              <a:t>MOV r0, #10</a:t>
            </a:r>
          </a:p>
          <a:p>
            <a:pPr lvl="1"/>
            <a:r>
              <a:rPr lang="pt-BR" dirty="0"/>
              <a:t>MOV r1, #7</a:t>
            </a:r>
          </a:p>
          <a:p>
            <a:pPr lvl="1"/>
            <a:r>
              <a:rPr lang="pt-BR" dirty="0"/>
              <a:t>MOV r2, #5</a:t>
            </a:r>
          </a:p>
          <a:p>
            <a:pPr lvl="1"/>
            <a:r>
              <a:rPr lang="pt-BR" dirty="0"/>
              <a:t>CMP r1, r2</a:t>
            </a:r>
          </a:p>
          <a:p>
            <a:pPr lvl="1"/>
            <a:r>
              <a:rPr lang="pt-BR" dirty="0"/>
              <a:t>ADDGT r0, r0, #100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486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EC3D6-5403-5D32-35E4-EA5165302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EC8C92-0A50-88F1-CE32-D3EA11AC0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242E21-1FD3-CB05-AD91-461DFAA4741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the equivalent assembly program for this piece of code in C.</a:t>
            </a:r>
          </a:p>
          <a:p>
            <a:r>
              <a:rPr lang="en-US" dirty="0"/>
              <a:t>save[] is an array of 32-bit integers.  Assume that </a:t>
            </a:r>
            <a:r>
              <a:rPr lang="en-US" dirty="0" err="1"/>
              <a:t>i</a:t>
            </a:r>
            <a:r>
              <a:rPr lang="en-US" dirty="0"/>
              <a:t> and k correspond to registers r1 and r2, and the base of the array save is in r0.  Write assembly code corresponding to this C code.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BB421C2-3A8D-7BE1-41D7-8E20F0B1E9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902447"/>
              </p:ext>
            </p:extLst>
          </p:nvPr>
        </p:nvGraphicFramePr>
        <p:xfrm>
          <a:off x="990600" y="3886200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370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0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58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 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175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(save[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] == k)</a:t>
                      </a:r>
                    </a:p>
                    <a:p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+= 1;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@ r0 = &amp;save[0]    (base address of array)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@ r1 = i           (index)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@ r2 = k           (value to compare)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...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878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01E19-B414-84A8-4EAA-88A0BDEC7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9AEE47-CB5D-C0DB-F3D5-D8FD0C5E4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B7C113-0674-6062-1A2E-1AD4971E29A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Write the equivalent assembly program for this piece of code in C.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0222894-2409-8D52-DD5B-8A904AD638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720059"/>
              </p:ext>
            </p:extLst>
          </p:nvPr>
        </p:nvGraphicFramePr>
        <p:xfrm>
          <a:off x="990600" y="2362200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370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0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58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 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1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for (i=0; i&lt;8; i++){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a[i] = b[7-i];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@ Assume r0 = base address of a, r1 = base address of b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4229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44D64-9022-3456-632D-D2D7D5D93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4C9F1-D3D9-18E8-D429-AD38C0280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Assembly: What is wrong?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F15384-4ED2-1672-43DC-EB578D184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DB9A0A3-9301-65C3-B5C6-8AEF572394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003482"/>
              </p:ext>
            </p:extLst>
          </p:nvPr>
        </p:nvGraphicFramePr>
        <p:xfrm>
          <a:off x="457200" y="1219200"/>
          <a:ext cx="8153400" cy="209973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467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726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&lt;= 10)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++;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MOV r0, #1       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1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loop:    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  CMP r0, #10     ; Compare x0 with 10 while x0 &lt;=10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BEQ end         ; If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== 10, branch to end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ADD r0, r0, #1  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+ 1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B loop          ; Repeat the loop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FACABF7-FFF7-3BBF-C49F-124791C54B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0776646"/>
              </p:ext>
            </p:extLst>
          </p:nvPr>
        </p:nvGraphicFramePr>
        <p:xfrm>
          <a:off x="457200" y="3787775"/>
          <a:ext cx="8153400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137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64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!=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//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 r0, r0, #1   //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flags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BNE  loop     //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9733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B3FFA-1B38-C23C-27C7-A1FE03EDD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CF7D1-587D-1B50-B854-46925DB60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304800"/>
            <a:ext cx="8229600" cy="990600"/>
          </a:xfrm>
        </p:spPr>
        <p:txBody>
          <a:bodyPr/>
          <a:lstStyle/>
          <a:p>
            <a:r>
              <a:rPr lang="en-US" dirty="0"/>
              <a:t>C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A1D2F7-3321-714E-832A-AA1911A40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DA7FC0-53BF-D572-93A1-622E763F06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8607215"/>
              </p:ext>
            </p:extLst>
          </p:nvPr>
        </p:nvGraphicFramePr>
        <p:xfrm>
          <a:off x="495300" y="685800"/>
          <a:ext cx="8153400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&lt;= 10)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++;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         //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ADD  ??? //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++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CMP  ???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BLE  ???  // while (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&lt;= 10) continue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   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08CEA76-20F8-81D0-1E3F-7401CB2001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7450760"/>
              </p:ext>
            </p:extLst>
          </p:nvPr>
        </p:nvGraphicFramePr>
        <p:xfrm>
          <a:off x="495300" y="2739390"/>
          <a:ext cx="8153400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32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629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!=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//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SUBS ???  //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Z flag if r0=0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BNE  ???     //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E6B181D-F24A-E836-C5CF-CA3D671434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5230015"/>
              </p:ext>
            </p:extLst>
          </p:nvPr>
        </p:nvGraphicFramePr>
        <p:xfrm>
          <a:off x="495300" y="4771390"/>
          <a:ext cx="8153400" cy="173013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32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629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&gt;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//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SUBS ???//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Z flag if r0=0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BGT  ???     //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6862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03125-7437-16CA-FD54-FD3998917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B2C29-FAA8-E0FC-9D90-062900CD1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Assembly: What is wrong?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103B5E-1165-3FCB-4CE9-4AE11E7C0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E35C772-DE0B-2EAC-7244-85D4FA033251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181100"/>
          <a:ext cx="8153400" cy="187737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3363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3538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&gt;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//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SUBS r0, r0, #1   //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Z flag if r0=0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BPL  loop     //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7832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CCC7F-CE76-4282-D019-4CC0F724F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Assembly: for loop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4C2F10-CB15-9260-0CF5-60A59575D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3021DFD-9755-D138-E0BA-8F2BF27616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472418"/>
              </p:ext>
            </p:extLst>
          </p:nvPr>
        </p:nvGraphicFramePr>
        <p:xfrm>
          <a:off x="495300" y="1189355"/>
          <a:ext cx="8153400" cy="29260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70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 array[200];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for (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199;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&gt;= 0;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- 1) {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array[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 = array[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 * 8;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%  R0 = base address of array, R1 =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0x60000000  // base address where array resides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R1, #199 //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199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FOR: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LDR R2, [R0, R1, LSL #2] // R2 = array[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 (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*4 byte offset)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LSL   R2, R2, #3             // R2 = R2 * 8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STR   R2, [R0, R1, LSL #2]   // array[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 = R2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SUBS  R1, R1, #1      //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- 1, set flags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BPL   FOR            // while (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&gt;= 0) repeat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3465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3C95F-814B-34F5-540D-021AE4238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17876-6FC1-5014-9537-894EA2B39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Assembly: for loop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ED23FA-6D43-34AD-893F-179F8BE30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93E3B6C-D6FB-3D9D-2CBD-453096B446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638927"/>
              </p:ext>
            </p:extLst>
          </p:nvPr>
        </p:nvGraphicFramePr>
        <p:xfrm>
          <a:off x="495300" y="1189355"/>
          <a:ext cx="8153400" cy="41452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70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 array[200];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for (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200;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&gt; 0;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- 1) {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array[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 = array[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 * 8;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%  R0 = base address of array, R1 =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0x60000000  // base address where array resides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R1, #200 //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200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FOR: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CMP R1, #0       // while (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&gt; 0)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BEQ .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Ldone</a:t>
                      </a: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LDR R2, [R0, R1, LSL #2] // R2 = array[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 (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*4 byte offset)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LSL   R2, R2, #3             // R2 = R2 * 8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STR   R2, [R0, R1, LSL #2]   // array[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 = R2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SUBS  R1, R1, #1      //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- 1, set flags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B     FOR            // while (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&gt;= 0) repeat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Ldone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//return/exit (fall through or BX LR in a function)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4822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63992-2E9D-0FA5-BCCF-C587DE003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E3977F-CB71-7224-C20F-01E40F2B8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B04EC6-DE14-0E80-5C57-8972B043856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4114800"/>
            <a:ext cx="8229600" cy="2042160"/>
          </a:xfrm>
        </p:spPr>
        <p:txBody>
          <a:bodyPr/>
          <a:lstStyle/>
          <a:p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9861495-0CBB-23AF-BD88-8C94E413DC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156626"/>
              </p:ext>
            </p:extLst>
          </p:nvPr>
        </p:nvGraphicFramePr>
        <p:xfrm>
          <a:off x="457200" y="1219200"/>
          <a:ext cx="8153400" cy="24384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98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49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//Calculate x such that 2</a:t>
                      </a:r>
                      <a:r>
                        <a:rPr kumimoji="0" lang="en-US" sz="1600" b="0" i="0" kern="120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^x=128</a:t>
                      </a:r>
                      <a:endParaRPr kumimoji="0" lang="en-US" sz="16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pow = 1;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x = 0;</a:t>
                      </a:r>
                    </a:p>
                    <a:p>
                      <a:endParaRPr kumimoji="0" lang="en-US" sz="16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while (pow != 128) {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pow = pow * 2;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x = x + 1;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}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r0 = pow, r1 = x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MOV r0, #1 ; pow = 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MOV r1, #0 ; x = 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WHILE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455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3A810-5A85-6DBF-465F-279D9368C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FFF15-20BD-DD2B-C761-29053EDBF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 ANS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EDA5D2-83BD-3B87-4DC5-348EFA91B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A62B72-8CD3-1C22-B422-E7966ED0294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4114800"/>
            <a:ext cx="8229600" cy="2042160"/>
          </a:xfrm>
        </p:spPr>
        <p:txBody>
          <a:bodyPr/>
          <a:lstStyle/>
          <a:p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E0A734A-5388-0D64-9AF4-4B261562DC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1279520"/>
              </p:ext>
            </p:extLst>
          </p:nvPr>
        </p:nvGraphicFramePr>
        <p:xfrm>
          <a:off x="457200" y="1219200"/>
          <a:ext cx="8153400" cy="29260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98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49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//Calculate x such that 2^x = 128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pow = 1;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x = 0;</a:t>
                      </a:r>
                    </a:p>
                    <a:p>
                      <a:endParaRPr kumimoji="0" lang="en-US" sz="16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while (pow != 128) {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pow = pow * 2;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x = x + 1;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}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r0 = pow, r1 = x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MOV r0, #1 ; pow = 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MOV r1, #0 ; x = 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WHILE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CMP r0, #128 ; r0-128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BEQ DONE ; if (pow==128) exit loop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LSL r0, r0, #1 ; pow = pow * 2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ADD r1, r1, #1 ; x = x + 1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B WHILE ; repeat loop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72928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DBE30-CE9B-1B6D-6A4A-6B6EA5CC3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75490-947F-5AFD-6FE0-9CAFDE4D0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3A3EFE-5323-ACD8-6FE1-AB4B2171D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1D3EA2-DC46-3341-8CF9-CFCEF1A12B9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4191000"/>
            <a:ext cx="8229600" cy="196596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For an array of 32‑bit </a:t>
            </a:r>
            <a:r>
              <a:rPr lang="en-US" dirty="0" err="1"/>
              <a:t>ints</a:t>
            </a:r>
            <a:r>
              <a:rPr lang="en-US" dirty="0"/>
              <a:t>, each element is 4 bytes, so element </a:t>
            </a:r>
            <a:r>
              <a:rPr lang="en-US" dirty="0" err="1"/>
              <a:t>i</a:t>
            </a:r>
            <a:r>
              <a:rPr lang="en-US" dirty="0"/>
              <a:t> lives at base + </a:t>
            </a:r>
            <a:r>
              <a:rPr lang="en-US" dirty="0" err="1"/>
              <a:t>i</a:t>
            </a:r>
            <a:r>
              <a:rPr lang="en-US" dirty="0"/>
              <a:t>*4, which is implemented as base + (</a:t>
            </a:r>
            <a:r>
              <a:rPr lang="en-US" dirty="0" err="1"/>
              <a:t>i</a:t>
            </a:r>
            <a:r>
              <a:rPr lang="en-US" dirty="0"/>
              <a:t> &lt;&lt; 2) via LSL #2 in the addressing mode</a:t>
            </a:r>
          </a:p>
          <a:p>
            <a:r>
              <a:rPr lang="en-US" dirty="0"/>
              <a:t>BPL “Branch if </a:t>
            </a:r>
            <a:r>
              <a:rPr lang="en-US" dirty="0" err="1"/>
              <a:t>PLus</a:t>
            </a:r>
            <a:r>
              <a:rPr lang="en-US" dirty="0"/>
              <a:t>” branches when the N (negative) flag N == 0, meaning the prior result was positive or zero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287FE73-3E90-5E25-A781-0E28058727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380933"/>
              </p:ext>
            </p:extLst>
          </p:nvPr>
        </p:nvGraphicFramePr>
        <p:xfrm>
          <a:off x="457200" y="1219200"/>
          <a:ext cx="8229600" cy="21945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461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8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array[200];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i;</a:t>
                      </a:r>
                    </a:p>
                    <a:p>
                      <a:endParaRPr lang="nn-NO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for (i = 199; i &gt;= 0</a:t>
                      </a:r>
                      <a:r>
                        <a:rPr lang="nn-NO" sz="1600" b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; i=i-1</a:t>
                      </a:r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)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array[i] = array[i] * 8;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R0 = array base address, R1 = i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0x60000000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R1, #199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FOR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6807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5F016-4C8B-F6CB-CAF4-68B469313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5EA6B-8952-40EB-3949-6B580717C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 ANS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6C4BA2-E8FF-80CA-AD47-94FDF9E2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5A28E5-49A3-66F7-990B-B2B6CBD1939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4191000"/>
            <a:ext cx="8229600" cy="196596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For an array of 32‑bit </a:t>
            </a:r>
            <a:r>
              <a:rPr lang="en-US" dirty="0" err="1"/>
              <a:t>ints</a:t>
            </a:r>
            <a:r>
              <a:rPr lang="en-US" dirty="0"/>
              <a:t>, each element is 4 bytes, so element </a:t>
            </a:r>
            <a:r>
              <a:rPr lang="en-US" dirty="0" err="1"/>
              <a:t>i</a:t>
            </a:r>
            <a:r>
              <a:rPr lang="en-US" dirty="0"/>
              <a:t> lives at base + </a:t>
            </a:r>
            <a:r>
              <a:rPr lang="en-US" dirty="0" err="1"/>
              <a:t>i</a:t>
            </a:r>
            <a:r>
              <a:rPr lang="en-US" dirty="0"/>
              <a:t>*4, which is implemented as base + (</a:t>
            </a:r>
            <a:r>
              <a:rPr lang="en-US" dirty="0" err="1"/>
              <a:t>i</a:t>
            </a:r>
            <a:r>
              <a:rPr lang="en-US" dirty="0"/>
              <a:t> &lt;&lt; 2) via LSL #2 in the addressing mode</a:t>
            </a:r>
          </a:p>
          <a:p>
            <a:r>
              <a:rPr lang="en-US" dirty="0"/>
              <a:t>BPL “Branch if </a:t>
            </a:r>
            <a:r>
              <a:rPr lang="en-US" dirty="0" err="1"/>
              <a:t>PLus</a:t>
            </a:r>
            <a:r>
              <a:rPr lang="en-US" dirty="0"/>
              <a:t>” branches when the N (negative) flag N == 0, meaning the prior result was positive or zero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51A6033-F35D-AA78-84E4-0829739E30DC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219200"/>
          <a:ext cx="8229600" cy="26822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461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8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array[200];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i;</a:t>
                      </a:r>
                    </a:p>
                    <a:p>
                      <a:endParaRPr lang="nn-NO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for (i = 199; i &gt;= 0; i = i - 1)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array[i] = array[i] * 8;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R0 = array base address, R1 = i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0x60000000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R1, #199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FOR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LDR R2, [R0, R1, LSL #2] ;R2 = array(i)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LSL R2, R2, #3 ; R2 = R2&lt;&lt;3 = R2*8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STR R2, [R0, R1, LSL #2] ;array(i) = R2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SUBS R1, R1, #1 ; i=i-1 and set flags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BPL FOR ; if (i &gt;= 0) repeat loop</a:t>
                      </a: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8422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881C7-467A-5E22-27C4-993FCFB9D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Programming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8F155D-E149-0458-9E03-F5E1A3335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F41425-80C3-BB89-8E06-F17C64CA6E9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3542" y="1280795"/>
            <a:ext cx="8643257" cy="4937760"/>
          </a:xfrm>
        </p:spPr>
        <p:txBody>
          <a:bodyPr>
            <a:normAutofit/>
          </a:bodyPr>
          <a:lstStyle/>
          <a:p>
            <a:r>
              <a:rPr lang="en-US" dirty="0"/>
              <a:t>Write a program that reverses the bits in a register, such that the register containing d31,d30,d29...d1,d0 now contains d0,d1,...d29,d30,d3.</a:t>
            </a:r>
          </a:p>
        </p:txBody>
      </p:sp>
    </p:spTree>
    <p:extLst>
      <p:ext uri="{BB962C8B-B14F-4D97-AF65-F5344CB8AC3E}">
        <p14:creationId xmlns:p14="http://schemas.microsoft.com/office/powerpoint/2010/main" val="34812095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C49CA-42B3-B605-E8A7-359167C0D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56B5B-A6C0-DC4C-DEB4-8732098DF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Programming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821D49-2F4C-52CF-C331-66D1689BD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6C8B17-C01D-A13D-3A3B-0B0D369E641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3543" y="1280795"/>
            <a:ext cx="4114800" cy="493776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ANS: </a:t>
            </a:r>
          </a:p>
          <a:p>
            <a:pPr lvl="1"/>
            <a:r>
              <a:rPr lang="en-US" dirty="0"/>
              <a:t>@ Reverse bits in r0, result in r1</a:t>
            </a:r>
          </a:p>
          <a:p>
            <a:pPr lvl="1"/>
            <a:r>
              <a:rPr lang="en-US" dirty="0"/>
              <a:t>MOV r1, #0          @ Initialize result</a:t>
            </a:r>
          </a:p>
          <a:p>
            <a:pPr lvl="1"/>
            <a:r>
              <a:rPr lang="en-US" dirty="0"/>
              <a:t>MOV r2, #32         @ Bit counter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reverse_loop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    CMP r2, #0</a:t>
            </a:r>
          </a:p>
          <a:p>
            <a:pPr lvl="1"/>
            <a:r>
              <a:rPr lang="en-US" dirty="0"/>
              <a:t>    BEQ </a:t>
            </a:r>
            <a:r>
              <a:rPr lang="en-US" dirty="0" err="1"/>
              <a:t>reverse_end</a:t>
            </a:r>
            <a:endParaRPr lang="en-US" dirty="0"/>
          </a:p>
          <a:p>
            <a:pPr lvl="1"/>
            <a:r>
              <a:rPr lang="en-US" dirty="0"/>
              <a:t>    LSL r1, r1, #1    @ Shift result left</a:t>
            </a:r>
          </a:p>
          <a:p>
            <a:pPr lvl="1"/>
            <a:r>
              <a:rPr lang="en-US" dirty="0"/>
              <a:t>    AND r3, r0, #1   @ Get LSB of r0</a:t>
            </a:r>
          </a:p>
          <a:p>
            <a:pPr lvl="1"/>
            <a:r>
              <a:rPr lang="en-US" dirty="0"/>
              <a:t>    ORR r1, r1, r3    @ Add to result</a:t>
            </a:r>
          </a:p>
          <a:p>
            <a:pPr lvl="1"/>
            <a:r>
              <a:rPr lang="en-US" dirty="0"/>
              <a:t>    LSR r0, r0, #1    @ Shift r0 right</a:t>
            </a:r>
          </a:p>
          <a:p>
            <a:pPr lvl="1"/>
            <a:r>
              <a:rPr lang="en-US" dirty="0"/>
              <a:t>    SUB r2, r2, #1    @ Decrement counter</a:t>
            </a:r>
          </a:p>
          <a:p>
            <a:pPr lvl="1"/>
            <a:r>
              <a:rPr lang="en-US" dirty="0"/>
              <a:t>    B </a:t>
            </a:r>
            <a:r>
              <a:rPr lang="en-US" dirty="0" err="1"/>
              <a:t>reverse_loop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 err="1"/>
              <a:t>reverse_end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F7D098B-7A33-76F5-883C-E025A8679A7A}"/>
              </a:ext>
            </a:extLst>
          </p:cNvPr>
          <p:cNvSpPr txBox="1">
            <a:spLocks/>
          </p:cNvSpPr>
          <p:nvPr/>
        </p:nvSpPr>
        <p:spPr>
          <a:xfrm>
            <a:off x="3886200" y="1197428"/>
            <a:ext cx="5181600" cy="5660572"/>
          </a:xfrm>
          <a:prstGeom prst="rect">
            <a:avLst/>
          </a:prstGeom>
        </p:spPr>
        <p:txBody>
          <a:bodyPr vert="horz">
            <a:normAutofit fontScale="925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Example with 8 bits:</a:t>
            </a:r>
          </a:p>
          <a:p>
            <a:r>
              <a:rPr lang="en-US" sz="1400" dirty="0"/>
              <a:t>Let input r0 = 0b1011_0010</a:t>
            </a:r>
          </a:p>
          <a:p>
            <a:r>
              <a:rPr lang="en-US" sz="1400" dirty="0"/>
              <a:t>Initialize r1 = 0, r2 = 8 (bit counter), and r3 is the scratch for the extracted bit; the loop body runs 8 times.</a:t>
            </a:r>
          </a:p>
          <a:p>
            <a:r>
              <a:rPr lang="en-US" sz="1400" b="1" dirty="0"/>
              <a:t>Iteration 1</a:t>
            </a:r>
          </a:p>
          <a:p>
            <a:r>
              <a:rPr lang="en-US" sz="1400" dirty="0"/>
              <a:t>LSL r1, r1, #1: r1 = 0 &lt;&lt; 1 = 0.</a:t>
            </a:r>
          </a:p>
          <a:p>
            <a:r>
              <a:rPr lang="en-US" sz="1400" dirty="0"/>
              <a:t>AND r3, r0, #1: r3 = 0b1011_0010 &amp; 1 = 0 (LSB of r0 is 0).</a:t>
            </a:r>
          </a:p>
          <a:p>
            <a:r>
              <a:rPr lang="en-US" sz="1400" dirty="0"/>
              <a:t>ORR r1, r1, r3: r1 = 0 | 0 = 0.</a:t>
            </a:r>
          </a:p>
          <a:p>
            <a:r>
              <a:rPr lang="en-US" sz="1400" dirty="0"/>
              <a:t>LSR r0, r0, #1: r0 = 0b0101_1001 (shift right, next LSB becomes current).</a:t>
            </a:r>
          </a:p>
          <a:p>
            <a:r>
              <a:rPr lang="en-US" sz="1400" dirty="0"/>
              <a:t>SUB r2, r2, #1: r2 = 7.</a:t>
            </a:r>
          </a:p>
          <a:p>
            <a:r>
              <a:rPr lang="en-US" sz="1400" dirty="0"/>
              <a:t>Effect:  The first output bit appears at the LSB of r1 and equals original d0.</a:t>
            </a:r>
          </a:p>
          <a:p>
            <a:r>
              <a:rPr lang="en-US" sz="1400" b="1" dirty="0"/>
              <a:t>Iteration 2</a:t>
            </a:r>
          </a:p>
          <a:p>
            <a:r>
              <a:rPr lang="en-US" sz="1400" dirty="0"/>
              <a:t>LSL r1: r1 = 0 &lt;&lt; 1 = 0.</a:t>
            </a:r>
          </a:p>
          <a:p>
            <a:r>
              <a:rPr lang="en-US" sz="1400" dirty="0"/>
              <a:t>AND r3, r0, #1: r3 = 0b0101_1001 &amp; 1 = 1 (new LSB is 1).</a:t>
            </a:r>
          </a:p>
          <a:p>
            <a:r>
              <a:rPr lang="en-US" sz="1400" dirty="0"/>
              <a:t>ORR r1, r1, r3: r1 = 0 | 1 = 1 (now r1 = 0b0000_0001).</a:t>
            </a:r>
          </a:p>
          <a:p>
            <a:r>
              <a:rPr lang="en-US" sz="1400" dirty="0"/>
              <a:t>LSR r0: r0 = 0b0010_1100.</a:t>
            </a:r>
          </a:p>
          <a:p>
            <a:r>
              <a:rPr lang="en-US" sz="1400" dirty="0"/>
              <a:t>SUB r2: r2 = 6.</a:t>
            </a:r>
          </a:p>
          <a:p>
            <a:r>
              <a:rPr lang="en-US" sz="1400" dirty="0"/>
              <a:t>Effect: r1 now holds bits “d0 d1”.</a:t>
            </a:r>
          </a:p>
          <a:p>
            <a:r>
              <a:rPr lang="en-US" sz="1400" dirty="0"/>
              <a:t>On each subsequent iteration, r1 is shifted left before inserting the next bit, so earlier bits move toward the MSB while the newly inserted bit always starts at the LSB; over the whole loop, this builds the reversed word with the earliest extracted bits ending up toward the MSB by the end.</a:t>
            </a:r>
          </a:p>
        </p:txBody>
      </p:sp>
    </p:spTree>
    <p:extLst>
      <p:ext uri="{BB962C8B-B14F-4D97-AF65-F5344CB8AC3E}">
        <p14:creationId xmlns:p14="http://schemas.microsoft.com/office/powerpoint/2010/main" val="38666487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A883A-F8CE-E82A-B1A3-6EC2CD284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for Equal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01EFB2-11F5-B39F-34E5-E54A841CC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B16539-02BC-5FF9-955C-7C457DDED9F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 the different methods to test if two values held in registers r0 and r1 are equal.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3869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ADFB1-F357-68E2-175B-2C5C6C85D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FD91B-CCB1-1FF1-5A3E-E3A233A25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for Equal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7F3D79-E0FB-0BC2-C900-A473C8603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2D8EDD-ADE2-ED0A-3035-5EABE2583A7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 the different methods to test if two values held in registers r0 and r1 are equal.</a:t>
            </a:r>
          </a:p>
          <a:p>
            <a:r>
              <a:rPr lang="en-US" dirty="0"/>
              <a:t>ANS:</a:t>
            </a:r>
          </a:p>
          <a:p>
            <a:pPr lvl="1"/>
            <a:r>
              <a:rPr lang="en-US" dirty="0"/>
              <a:t>@ Method 1: Compare instruction</a:t>
            </a:r>
          </a:p>
          <a:p>
            <a:pPr lvl="1"/>
            <a:r>
              <a:rPr lang="en-US" dirty="0"/>
              <a:t>CMP r0, r1</a:t>
            </a:r>
          </a:p>
          <a:p>
            <a:pPr lvl="1"/>
            <a:r>
              <a:rPr lang="en-US" dirty="0"/>
              <a:t>@ Method 2: Exclusive OR</a:t>
            </a:r>
          </a:p>
          <a:p>
            <a:pPr lvl="1"/>
            <a:r>
              <a:rPr lang="en-US" dirty="0"/>
              <a:t>EORS r2, r0, r1  @ If equal, result is zero and Z flag set</a:t>
            </a:r>
          </a:p>
          <a:p>
            <a:pPr lvl="1"/>
            <a:r>
              <a:rPr lang="en-US" dirty="0"/>
              <a:t>@ Method 3: Subtract and test</a:t>
            </a:r>
          </a:p>
          <a:p>
            <a:pPr lvl="1"/>
            <a:r>
              <a:rPr lang="en-US" dirty="0"/>
              <a:t>SUBS r2, r0, r1  @ If equal, result is zero and Z flag set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895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type="title"/>
          </p:nvPr>
        </p:nvSpPr>
        <p:spPr>
          <a:xfrm>
            <a:off x="1603248" y="203216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Summary:</a:t>
            </a:r>
            <a:br>
              <a:rPr lang="en-US" dirty="0"/>
            </a:br>
            <a:r>
              <a:rPr lang="en-US" dirty="0"/>
              <a:t>Condition Codes </a:t>
            </a:r>
          </a:p>
        </p:txBody>
      </p:sp>
      <p:sp>
        <p:nvSpPr>
          <p:cNvPr id="54" name="Slide Number Placeholder 5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390649" y="5765380"/>
            <a:ext cx="63588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/>
            <a:r>
              <a:rPr lang="en-US" sz="1400" i="1" dirty="0"/>
              <a:t>Note AL is the default and does not need to be specified </a:t>
            </a:r>
            <a:endParaRPr lang="en-GB" sz="1400" i="1" dirty="0"/>
          </a:p>
        </p:txBody>
      </p:sp>
      <p:grpSp>
        <p:nvGrpSpPr>
          <p:cNvPr id="4" name="Group 3"/>
          <p:cNvGrpSpPr/>
          <p:nvPr/>
        </p:nvGrpSpPr>
        <p:grpSpPr>
          <a:xfrm>
            <a:off x="1390650" y="1412356"/>
            <a:ext cx="6362700" cy="4241801"/>
            <a:chOff x="1423974" y="1779588"/>
            <a:chExt cx="6362700" cy="4241801"/>
          </a:xfrm>
        </p:grpSpPr>
        <p:sp>
          <p:nvSpPr>
            <p:cNvPr id="14342" name="Rectangle 5"/>
            <p:cNvSpPr>
              <a:spLocks noChangeArrowheads="1"/>
            </p:cNvSpPr>
            <p:nvPr/>
          </p:nvSpPr>
          <p:spPr bwMode="auto">
            <a:xfrm>
              <a:off x="2696971" y="230981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ot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43" name="Rectangle 6"/>
            <p:cNvSpPr>
              <a:spLocks noChangeArrowheads="1"/>
            </p:cNvSpPr>
            <p:nvPr/>
          </p:nvSpPr>
          <p:spPr bwMode="auto">
            <a:xfrm>
              <a:off x="2696971" y="257492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igher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ame</a:t>
              </a:r>
            </a:p>
          </p:txBody>
        </p:sp>
        <p:sp>
          <p:nvSpPr>
            <p:cNvPr id="14344" name="Rectangle 7"/>
            <p:cNvSpPr>
              <a:spLocks noChangeArrowheads="1"/>
            </p:cNvSpPr>
            <p:nvPr/>
          </p:nvSpPr>
          <p:spPr bwMode="auto">
            <a:xfrm>
              <a:off x="2696971" y="284003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LO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wer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45" name="Rectangle 8"/>
            <p:cNvSpPr>
              <a:spLocks noChangeArrowheads="1"/>
            </p:cNvSpPr>
            <p:nvPr/>
          </p:nvSpPr>
          <p:spPr bwMode="auto">
            <a:xfrm>
              <a:off x="2696971" y="310515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MI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nus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Negative)</a:t>
              </a:r>
            </a:p>
          </p:txBody>
        </p:sp>
        <p:sp>
          <p:nvSpPr>
            <p:cNvPr id="14346" name="Rectangle 9"/>
            <p:cNvSpPr>
              <a:spLocks noChangeArrowheads="1"/>
            </p:cNvSpPr>
            <p:nvPr/>
          </p:nvSpPr>
          <p:spPr bwMode="auto">
            <a:xfrm>
              <a:off x="2696971" y="204470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EQ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ual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47" name="Rectangle 10"/>
            <p:cNvSpPr>
              <a:spLocks noChangeArrowheads="1"/>
            </p:cNvSpPr>
            <p:nvPr/>
          </p:nvSpPr>
          <p:spPr bwMode="auto">
            <a:xfrm>
              <a:off x="2696971" y="363537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erflow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et</a:t>
              </a:r>
            </a:p>
          </p:txBody>
        </p:sp>
        <p:sp>
          <p:nvSpPr>
            <p:cNvPr id="14348" name="Rectangle 11"/>
            <p:cNvSpPr>
              <a:spLocks noChangeArrowheads="1"/>
            </p:cNvSpPr>
            <p:nvPr/>
          </p:nvSpPr>
          <p:spPr bwMode="auto">
            <a:xfrm>
              <a:off x="2696971" y="390048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  <a:r>
                <a:rPr lang="en-US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erflow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leared</a:t>
              </a:r>
            </a:p>
          </p:txBody>
        </p:sp>
        <p:sp>
          <p:nvSpPr>
            <p:cNvPr id="14349" name="Rectangle 12"/>
            <p:cNvSpPr>
              <a:spLocks noChangeArrowheads="1"/>
            </p:cNvSpPr>
            <p:nvPr/>
          </p:nvSpPr>
          <p:spPr bwMode="auto">
            <a:xfrm>
              <a:off x="2696971" y="416560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HI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gher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50" name="Rectangle 13"/>
            <p:cNvSpPr>
              <a:spLocks noChangeArrowheads="1"/>
            </p:cNvSpPr>
            <p:nvPr/>
          </p:nvSpPr>
          <p:spPr bwMode="auto">
            <a:xfrm>
              <a:off x="2696971" y="443071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ower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ame</a:t>
              </a:r>
            </a:p>
          </p:txBody>
        </p:sp>
        <p:sp>
          <p:nvSpPr>
            <p:cNvPr id="14351" name="Rectangle 14"/>
            <p:cNvSpPr>
              <a:spLocks noChangeArrowheads="1"/>
            </p:cNvSpPr>
            <p:nvPr/>
          </p:nvSpPr>
          <p:spPr bwMode="auto">
            <a:xfrm>
              <a:off x="2696971" y="337026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PL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us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 (Positive or Zero)</a:t>
              </a:r>
            </a:p>
          </p:txBody>
        </p:sp>
        <p:sp>
          <p:nvSpPr>
            <p:cNvPr id="14352" name="Rectangle 15"/>
            <p:cNvSpPr>
              <a:spLocks noChangeArrowheads="1"/>
            </p:cNvSpPr>
            <p:nvPr/>
          </p:nvSpPr>
          <p:spPr bwMode="auto">
            <a:xfrm>
              <a:off x="2696971" y="496093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ess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han</a:t>
              </a:r>
            </a:p>
          </p:txBody>
        </p:sp>
        <p:sp>
          <p:nvSpPr>
            <p:cNvPr id="14353" name="Rectangle 16"/>
            <p:cNvSpPr>
              <a:spLocks noChangeArrowheads="1"/>
            </p:cNvSpPr>
            <p:nvPr/>
          </p:nvSpPr>
          <p:spPr bwMode="auto">
            <a:xfrm>
              <a:off x="2696971" y="522605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reater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han</a:t>
              </a:r>
            </a:p>
          </p:txBody>
        </p:sp>
        <p:sp>
          <p:nvSpPr>
            <p:cNvPr id="14354" name="Rectangle 17"/>
            <p:cNvSpPr>
              <a:spLocks noChangeArrowheads="1"/>
            </p:cNvSpPr>
            <p:nvPr/>
          </p:nvSpPr>
          <p:spPr bwMode="auto">
            <a:xfrm>
              <a:off x="2696971" y="549116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ess than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55" name="Rectangle 18"/>
            <p:cNvSpPr>
              <a:spLocks noChangeArrowheads="1"/>
            </p:cNvSpPr>
            <p:nvPr/>
          </p:nvSpPr>
          <p:spPr bwMode="auto">
            <a:xfrm>
              <a:off x="2696971" y="575627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AL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ways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56" name="Rectangle 19"/>
            <p:cNvSpPr>
              <a:spLocks noChangeArrowheads="1"/>
            </p:cNvSpPr>
            <p:nvPr/>
          </p:nvSpPr>
          <p:spPr bwMode="auto">
            <a:xfrm>
              <a:off x="2696971" y="469582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reater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57" name="Rectangle 20"/>
            <p:cNvSpPr>
              <a:spLocks noChangeArrowheads="1"/>
            </p:cNvSpPr>
            <p:nvPr/>
          </p:nvSpPr>
          <p:spPr bwMode="auto">
            <a:xfrm>
              <a:off x="1423974" y="204470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EQ</a:t>
              </a:r>
            </a:p>
          </p:txBody>
        </p:sp>
        <p:sp>
          <p:nvSpPr>
            <p:cNvPr id="14358" name="Rectangle 21"/>
            <p:cNvSpPr>
              <a:spLocks noChangeArrowheads="1"/>
            </p:cNvSpPr>
            <p:nvPr/>
          </p:nvSpPr>
          <p:spPr bwMode="auto">
            <a:xfrm>
              <a:off x="1423974" y="230981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NE</a:t>
              </a:r>
            </a:p>
          </p:txBody>
        </p:sp>
        <p:sp>
          <p:nvSpPr>
            <p:cNvPr id="14359" name="Rectangle 22"/>
            <p:cNvSpPr>
              <a:spLocks noChangeArrowheads="1"/>
            </p:cNvSpPr>
            <p:nvPr/>
          </p:nvSpPr>
          <p:spPr bwMode="auto">
            <a:xfrm>
              <a:off x="1423974" y="257492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CS/HS</a:t>
              </a:r>
            </a:p>
          </p:txBody>
        </p:sp>
        <p:sp>
          <p:nvSpPr>
            <p:cNvPr id="14360" name="Rectangle 23"/>
            <p:cNvSpPr>
              <a:spLocks noChangeArrowheads="1"/>
            </p:cNvSpPr>
            <p:nvPr/>
          </p:nvSpPr>
          <p:spPr bwMode="auto">
            <a:xfrm>
              <a:off x="1423974" y="284003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CC/LO</a:t>
              </a:r>
            </a:p>
          </p:txBody>
        </p:sp>
        <p:sp>
          <p:nvSpPr>
            <p:cNvPr id="14361" name="Rectangle 24"/>
            <p:cNvSpPr>
              <a:spLocks noChangeArrowheads="1"/>
            </p:cNvSpPr>
            <p:nvPr/>
          </p:nvSpPr>
          <p:spPr bwMode="auto">
            <a:xfrm>
              <a:off x="1423974" y="337026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PL</a:t>
              </a:r>
            </a:p>
          </p:txBody>
        </p:sp>
        <p:sp>
          <p:nvSpPr>
            <p:cNvPr id="14362" name="Rectangle 25"/>
            <p:cNvSpPr>
              <a:spLocks noChangeArrowheads="1"/>
            </p:cNvSpPr>
            <p:nvPr/>
          </p:nvSpPr>
          <p:spPr bwMode="auto">
            <a:xfrm>
              <a:off x="1423974" y="363537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VS</a:t>
              </a:r>
            </a:p>
          </p:txBody>
        </p:sp>
        <p:sp>
          <p:nvSpPr>
            <p:cNvPr id="14363" name="Rectangle 26"/>
            <p:cNvSpPr>
              <a:spLocks noChangeArrowheads="1"/>
            </p:cNvSpPr>
            <p:nvPr/>
          </p:nvSpPr>
          <p:spPr bwMode="auto">
            <a:xfrm>
              <a:off x="1423974" y="416560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HI</a:t>
              </a:r>
            </a:p>
          </p:txBody>
        </p:sp>
        <p:sp>
          <p:nvSpPr>
            <p:cNvPr id="14364" name="Rectangle 27"/>
            <p:cNvSpPr>
              <a:spLocks noChangeArrowheads="1"/>
            </p:cNvSpPr>
            <p:nvPr/>
          </p:nvSpPr>
          <p:spPr bwMode="auto">
            <a:xfrm>
              <a:off x="1423974" y="443071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LS</a:t>
              </a:r>
            </a:p>
          </p:txBody>
        </p:sp>
        <p:sp>
          <p:nvSpPr>
            <p:cNvPr id="14365" name="Rectangle 28"/>
            <p:cNvSpPr>
              <a:spLocks noChangeArrowheads="1"/>
            </p:cNvSpPr>
            <p:nvPr/>
          </p:nvSpPr>
          <p:spPr bwMode="auto">
            <a:xfrm>
              <a:off x="1423974" y="469582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GE</a:t>
              </a:r>
            </a:p>
          </p:txBody>
        </p:sp>
        <p:sp>
          <p:nvSpPr>
            <p:cNvPr id="14366" name="Rectangle 29"/>
            <p:cNvSpPr>
              <a:spLocks noChangeArrowheads="1"/>
            </p:cNvSpPr>
            <p:nvPr/>
          </p:nvSpPr>
          <p:spPr bwMode="auto">
            <a:xfrm>
              <a:off x="1423974" y="496093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LT</a:t>
              </a:r>
            </a:p>
          </p:txBody>
        </p:sp>
        <p:sp>
          <p:nvSpPr>
            <p:cNvPr id="14367" name="Rectangle 30"/>
            <p:cNvSpPr>
              <a:spLocks noChangeArrowheads="1"/>
            </p:cNvSpPr>
            <p:nvPr/>
          </p:nvSpPr>
          <p:spPr bwMode="auto">
            <a:xfrm>
              <a:off x="1423974" y="522605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GT</a:t>
              </a:r>
            </a:p>
          </p:txBody>
        </p:sp>
        <p:sp>
          <p:nvSpPr>
            <p:cNvPr id="14368" name="Rectangle 31"/>
            <p:cNvSpPr>
              <a:spLocks noChangeArrowheads="1"/>
            </p:cNvSpPr>
            <p:nvPr/>
          </p:nvSpPr>
          <p:spPr bwMode="auto">
            <a:xfrm>
              <a:off x="1423974" y="549116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LE</a:t>
              </a:r>
            </a:p>
          </p:txBody>
        </p:sp>
        <p:sp>
          <p:nvSpPr>
            <p:cNvPr id="14369" name="Rectangle 32"/>
            <p:cNvSpPr>
              <a:spLocks noChangeArrowheads="1"/>
            </p:cNvSpPr>
            <p:nvPr/>
          </p:nvSpPr>
          <p:spPr bwMode="auto">
            <a:xfrm>
              <a:off x="1423974" y="575627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AL</a:t>
              </a:r>
            </a:p>
          </p:txBody>
        </p:sp>
        <p:sp>
          <p:nvSpPr>
            <p:cNvPr id="14370" name="Rectangle 33"/>
            <p:cNvSpPr>
              <a:spLocks noChangeArrowheads="1"/>
            </p:cNvSpPr>
            <p:nvPr/>
          </p:nvSpPr>
          <p:spPr bwMode="auto">
            <a:xfrm>
              <a:off x="1423974" y="310515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MI</a:t>
              </a:r>
            </a:p>
          </p:txBody>
        </p:sp>
        <p:sp>
          <p:nvSpPr>
            <p:cNvPr id="14371" name="Rectangle 34"/>
            <p:cNvSpPr>
              <a:spLocks noChangeArrowheads="1"/>
            </p:cNvSpPr>
            <p:nvPr/>
          </p:nvSpPr>
          <p:spPr bwMode="auto">
            <a:xfrm>
              <a:off x="1423974" y="390048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VC</a:t>
              </a:r>
            </a:p>
          </p:txBody>
        </p:sp>
        <p:sp>
          <p:nvSpPr>
            <p:cNvPr id="14372" name="Rectangle 35"/>
            <p:cNvSpPr>
              <a:spLocks noChangeArrowheads="1"/>
            </p:cNvSpPr>
            <p:nvPr/>
          </p:nvSpPr>
          <p:spPr bwMode="auto">
            <a:xfrm>
              <a:off x="1423974" y="1779588"/>
              <a:ext cx="1272997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Suffix</a:t>
              </a:r>
            </a:p>
          </p:txBody>
        </p:sp>
        <p:sp>
          <p:nvSpPr>
            <p:cNvPr id="14373" name="Rectangle 36"/>
            <p:cNvSpPr>
              <a:spLocks noChangeArrowheads="1"/>
            </p:cNvSpPr>
            <p:nvPr/>
          </p:nvSpPr>
          <p:spPr bwMode="auto">
            <a:xfrm>
              <a:off x="2696971" y="1779588"/>
              <a:ext cx="3435035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Description</a:t>
              </a:r>
            </a:p>
          </p:txBody>
        </p:sp>
        <p:sp>
          <p:nvSpPr>
            <p:cNvPr id="14374" name="Rectangle 37"/>
            <p:cNvSpPr>
              <a:spLocks noChangeArrowheads="1"/>
            </p:cNvSpPr>
            <p:nvPr/>
          </p:nvSpPr>
          <p:spPr bwMode="auto">
            <a:xfrm>
              <a:off x="6132006" y="230981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Z=0</a:t>
              </a:r>
            </a:p>
          </p:txBody>
        </p:sp>
        <p:sp>
          <p:nvSpPr>
            <p:cNvPr id="14375" name="Rectangle 38"/>
            <p:cNvSpPr>
              <a:spLocks noChangeArrowheads="1"/>
            </p:cNvSpPr>
            <p:nvPr/>
          </p:nvSpPr>
          <p:spPr bwMode="auto">
            <a:xfrm>
              <a:off x="6132006" y="257492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C=1</a:t>
              </a:r>
            </a:p>
          </p:txBody>
        </p:sp>
        <p:sp>
          <p:nvSpPr>
            <p:cNvPr id="14376" name="Rectangle 39"/>
            <p:cNvSpPr>
              <a:spLocks noChangeArrowheads="1"/>
            </p:cNvSpPr>
            <p:nvPr/>
          </p:nvSpPr>
          <p:spPr bwMode="auto">
            <a:xfrm>
              <a:off x="6132006" y="284003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C=0</a:t>
              </a:r>
            </a:p>
          </p:txBody>
        </p:sp>
        <p:sp>
          <p:nvSpPr>
            <p:cNvPr id="14377" name="Rectangle 40"/>
            <p:cNvSpPr>
              <a:spLocks noChangeArrowheads="1"/>
            </p:cNvSpPr>
            <p:nvPr/>
          </p:nvSpPr>
          <p:spPr bwMode="auto">
            <a:xfrm>
              <a:off x="6132006" y="204470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Z=1</a:t>
              </a:r>
            </a:p>
          </p:txBody>
        </p:sp>
        <p:sp>
          <p:nvSpPr>
            <p:cNvPr id="14378" name="Rectangle 41"/>
            <p:cNvSpPr>
              <a:spLocks noChangeArrowheads="1"/>
            </p:cNvSpPr>
            <p:nvPr/>
          </p:nvSpPr>
          <p:spPr bwMode="auto">
            <a:xfrm>
              <a:off x="6132006" y="1779588"/>
              <a:ext cx="1654668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Flags tested</a:t>
              </a:r>
            </a:p>
          </p:txBody>
        </p:sp>
        <p:sp>
          <p:nvSpPr>
            <p:cNvPr id="14379" name="Rectangle 42"/>
            <p:cNvSpPr>
              <a:spLocks noChangeArrowheads="1"/>
            </p:cNvSpPr>
            <p:nvPr/>
          </p:nvSpPr>
          <p:spPr bwMode="auto">
            <a:xfrm>
              <a:off x="6132006" y="310515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N=1</a:t>
              </a:r>
            </a:p>
          </p:txBody>
        </p:sp>
        <p:sp>
          <p:nvSpPr>
            <p:cNvPr id="14380" name="Rectangle 43"/>
            <p:cNvSpPr>
              <a:spLocks noChangeArrowheads="1"/>
            </p:cNvSpPr>
            <p:nvPr/>
          </p:nvSpPr>
          <p:spPr bwMode="auto">
            <a:xfrm>
              <a:off x="6132006" y="337026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N=0</a:t>
              </a:r>
            </a:p>
          </p:txBody>
        </p:sp>
        <p:sp>
          <p:nvSpPr>
            <p:cNvPr id="14381" name="Rectangle 44"/>
            <p:cNvSpPr>
              <a:spLocks noChangeArrowheads="1"/>
            </p:cNvSpPr>
            <p:nvPr/>
          </p:nvSpPr>
          <p:spPr bwMode="auto">
            <a:xfrm>
              <a:off x="6132006" y="363537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V=1</a:t>
              </a:r>
            </a:p>
          </p:txBody>
        </p:sp>
        <p:sp>
          <p:nvSpPr>
            <p:cNvPr id="14382" name="Rectangle 45"/>
            <p:cNvSpPr>
              <a:spLocks noChangeArrowheads="1"/>
            </p:cNvSpPr>
            <p:nvPr/>
          </p:nvSpPr>
          <p:spPr bwMode="auto">
            <a:xfrm>
              <a:off x="6132006" y="390048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V=0</a:t>
              </a:r>
            </a:p>
          </p:txBody>
        </p:sp>
        <p:sp>
          <p:nvSpPr>
            <p:cNvPr id="14383" name="Rectangle 46"/>
            <p:cNvSpPr>
              <a:spLocks noChangeArrowheads="1"/>
            </p:cNvSpPr>
            <p:nvPr/>
          </p:nvSpPr>
          <p:spPr bwMode="auto">
            <a:xfrm>
              <a:off x="6132006" y="416560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C=1 &amp; Z=0</a:t>
              </a:r>
            </a:p>
          </p:txBody>
        </p:sp>
        <p:sp>
          <p:nvSpPr>
            <p:cNvPr id="14384" name="Rectangle 47"/>
            <p:cNvSpPr>
              <a:spLocks noChangeArrowheads="1"/>
            </p:cNvSpPr>
            <p:nvPr/>
          </p:nvSpPr>
          <p:spPr bwMode="auto">
            <a:xfrm>
              <a:off x="6132006" y="443071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C=0 or Z=1</a:t>
              </a:r>
            </a:p>
          </p:txBody>
        </p:sp>
        <p:sp>
          <p:nvSpPr>
            <p:cNvPr id="14385" name="Rectangle 48"/>
            <p:cNvSpPr>
              <a:spLocks noChangeArrowheads="1"/>
            </p:cNvSpPr>
            <p:nvPr/>
          </p:nvSpPr>
          <p:spPr bwMode="auto">
            <a:xfrm>
              <a:off x="6132006" y="469582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N=V</a:t>
              </a:r>
            </a:p>
          </p:txBody>
        </p:sp>
        <p:sp>
          <p:nvSpPr>
            <p:cNvPr id="14386" name="Rectangle 49"/>
            <p:cNvSpPr>
              <a:spLocks noChangeArrowheads="1"/>
            </p:cNvSpPr>
            <p:nvPr/>
          </p:nvSpPr>
          <p:spPr bwMode="auto">
            <a:xfrm>
              <a:off x="6132006" y="496093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N!=V</a:t>
              </a:r>
            </a:p>
          </p:txBody>
        </p:sp>
        <p:sp>
          <p:nvSpPr>
            <p:cNvPr id="14387" name="Rectangle 50"/>
            <p:cNvSpPr>
              <a:spLocks noChangeArrowheads="1"/>
            </p:cNvSpPr>
            <p:nvPr/>
          </p:nvSpPr>
          <p:spPr bwMode="auto">
            <a:xfrm>
              <a:off x="6132006" y="522605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Z=0 &amp; N=V</a:t>
              </a:r>
            </a:p>
          </p:txBody>
        </p:sp>
        <p:sp>
          <p:nvSpPr>
            <p:cNvPr id="14388" name="Rectangle 51"/>
            <p:cNvSpPr>
              <a:spLocks noChangeArrowheads="1"/>
            </p:cNvSpPr>
            <p:nvPr/>
          </p:nvSpPr>
          <p:spPr bwMode="auto">
            <a:xfrm>
              <a:off x="6132006" y="549116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Z=1 or N!=V</a:t>
              </a:r>
            </a:p>
          </p:txBody>
        </p:sp>
        <p:sp>
          <p:nvSpPr>
            <p:cNvPr id="14389" name="Rectangle 52"/>
            <p:cNvSpPr>
              <a:spLocks noChangeArrowheads="1"/>
            </p:cNvSpPr>
            <p:nvPr/>
          </p:nvSpPr>
          <p:spPr bwMode="auto">
            <a:xfrm>
              <a:off x="6132006" y="575627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 sz="18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3" name="Horizontal Scroll 6">
            <a:extLst>
              <a:ext uri="{FF2B5EF4-FFF2-40B4-BE49-F238E27FC236}">
                <a16:creationId xmlns:a16="http://schemas.microsoft.com/office/drawing/2014/main" id="{E7D41462-9020-C1BE-FC22-4828849CCA2B}"/>
              </a:ext>
            </a:extLst>
          </p:cNvPr>
          <p:cNvSpPr/>
          <p:nvPr/>
        </p:nvSpPr>
        <p:spPr>
          <a:xfrm>
            <a:off x="124937" y="-114300"/>
            <a:ext cx="1265712" cy="762000"/>
          </a:xfrm>
          <a:prstGeom prst="horizontalScroll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022176175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9E463-C948-C3C6-EBEB-D76147143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F5097-3883-A979-F516-EB30063B3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Instructions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8E367A-C927-A764-1B9B-DFE3844E5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EDB43E-83C0-5DC3-0240-AA027631F40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Write the following ARMv7 instructions:</a:t>
            </a:r>
          </a:p>
          <a:p>
            <a:pPr lvl="1"/>
            <a:r>
              <a:rPr lang="en-US" dirty="0"/>
              <a:t>Add registers r3 and r6 only if N is clear (from a previous instruction). Store the result in register r7.</a:t>
            </a:r>
          </a:p>
          <a:p>
            <a:pPr lvl="1"/>
            <a:r>
              <a:rPr lang="en-US" dirty="0"/>
              <a:t>Multiply registers r7 and r12, put the results in register r3 only if C is set and Z is clear (from a previous instruction)</a:t>
            </a:r>
          </a:p>
          <a:p>
            <a:pPr lvl="1"/>
            <a:r>
              <a:rPr lang="en-US" dirty="0"/>
              <a:t>Compare registers r6 and r8 only if Z is clear (from a previous instruction)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0460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4BE69-79FC-AC78-9289-90E2DF96E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Instructions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F286BD-84A0-8013-8D00-D4806A6D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644054-91F4-1D97-9E7A-B6455D72537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Write the following ARMv7 instructions:</a:t>
            </a:r>
          </a:p>
          <a:p>
            <a:pPr lvl="1"/>
            <a:r>
              <a:rPr lang="en-US" dirty="0"/>
              <a:t>Add registers r3 and r6 only if N is clear. Store the result in register r7.</a:t>
            </a:r>
          </a:p>
          <a:p>
            <a:pPr lvl="1"/>
            <a:r>
              <a:rPr lang="en-US" dirty="0"/>
              <a:t>Multiply registers r7 and r12, put the results in register r3 only if C is set and Z is clear</a:t>
            </a:r>
          </a:p>
          <a:p>
            <a:pPr lvl="1"/>
            <a:r>
              <a:rPr lang="en-US" dirty="0"/>
              <a:t>Compare registers r6 and r8 only if Z is clear</a:t>
            </a:r>
          </a:p>
          <a:p>
            <a:r>
              <a:rPr lang="en-US" dirty="0"/>
              <a:t>ANS:</a:t>
            </a:r>
          </a:p>
          <a:p>
            <a:pPr lvl="1"/>
            <a:r>
              <a:rPr lang="en-US" dirty="0"/>
              <a:t>@ Plus, Positive or Zero, (N=0).  Add r3 and r6 only if N is clear, store in r7</a:t>
            </a:r>
          </a:p>
          <a:p>
            <a:pPr lvl="1"/>
            <a:r>
              <a:rPr lang="en-US" dirty="0"/>
              <a:t>ADDPL r7, r3, r6</a:t>
            </a:r>
          </a:p>
          <a:p>
            <a:pPr lvl="1"/>
            <a:r>
              <a:rPr lang="en-US" dirty="0"/>
              <a:t>@ HI, Unsigned Higher, (C=1 &amp; Z=0). Multiply r7 and r12, put result in r3 only if C is set and Z is clear</a:t>
            </a:r>
          </a:p>
          <a:p>
            <a:pPr lvl="1"/>
            <a:r>
              <a:rPr lang="en-US" dirty="0"/>
              <a:t>MULHI r3, r7, r12</a:t>
            </a:r>
          </a:p>
          <a:p>
            <a:pPr lvl="1"/>
            <a:r>
              <a:rPr lang="en-US" dirty="0"/>
              <a:t>@ NE, Not equal (Z=0). Compare r6 and r8 only if Z is clear</a:t>
            </a:r>
          </a:p>
          <a:p>
            <a:pPr lvl="1"/>
            <a:r>
              <a:rPr lang="en-US" dirty="0"/>
              <a:t>CMPNE r6, r8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1275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6A44A-55C3-B775-BDF5-DBBAFA487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to 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536686-7909-EFFD-2EA4-080CB4F10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B1293-ADB9-BD5E-3F28-CA9A983DB1C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0668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Write the equivalent C program for the following assembly code, assuming registers and C variables are related as (x=r0, y=r1). ( Variables in C are in memory, and load/store assembly instructions are omitted here for brevity.) For example: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1E2EF3A-0CFB-A04C-C777-25F838793CFD}"/>
              </a:ext>
            </a:extLst>
          </p:cNvPr>
          <p:cNvGraphicFramePr>
            <a:graphicFrameLocks noGrp="1"/>
          </p:cNvGraphicFramePr>
          <p:nvPr/>
        </p:nvGraphicFramePr>
        <p:xfrm>
          <a:off x="751114" y="2296886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5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9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en-US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#5</a:t>
                      </a:r>
                    </a:p>
                    <a:p>
                      <a:r>
                        <a:rPr kumimoji="0" lang="en-US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MOVEQ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#10  </a:t>
                      </a:r>
                    </a:p>
                    <a:p>
                      <a:r>
                        <a:rPr kumimoji="0" lang="en-US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BLEQ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sz="16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fn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if (x == 5) {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x = 10;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sz="16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fn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(x);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}</a:t>
                      </a: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4459CE1-F656-C404-376E-E4D220603EDA}"/>
              </a:ext>
            </a:extLst>
          </p:cNvPr>
          <p:cNvGraphicFramePr>
            <a:graphicFrameLocks noGrp="1"/>
          </p:cNvGraphicFramePr>
          <p:nvPr/>
        </p:nvGraphicFramePr>
        <p:xfrm>
          <a:off x="751114" y="3559629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5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9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#0   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MOVLE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#0   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MOVGT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406CADB-4F7C-3316-85F7-F1FBB67120E7}"/>
              </a:ext>
            </a:extLst>
          </p:cNvPr>
          <p:cNvGraphicFramePr>
            <a:graphicFrameLocks noGrp="1"/>
          </p:cNvGraphicFramePr>
          <p:nvPr/>
        </p:nvGraphicFramePr>
        <p:xfrm>
          <a:off x="751114" y="4822372"/>
          <a:ext cx="7391400" cy="101707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5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9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#'A’</a:t>
                      </a:r>
                      <a:r>
                        <a:rPr kumimoji="0" lang="pt-BR" sz="1600" b="0" i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CMPNE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#'</a:t>
                      </a:r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'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MOVEQ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r1, #1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13249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3D518-09E9-3CD6-D9C0-ABABDD47C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979E-7DDE-ACAB-E9A4-40598C650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to C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12B89A-7B68-155D-7061-BE05A8DA0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B1A9E9-5521-A49F-71D6-A319ADEF622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0668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Write the equivalent C program for the following assembly code, assuming registers and C variables are related as (x=r0, y=r1). ( Variables in C are in memory, and load/store assembly instructions are omitted here for brevity.)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28C4A95-33F3-BABE-565A-E12BD4DBAF93}"/>
              </a:ext>
            </a:extLst>
          </p:cNvPr>
          <p:cNvGraphicFramePr>
            <a:graphicFrameLocks noGrp="1"/>
          </p:cNvGraphicFramePr>
          <p:nvPr/>
        </p:nvGraphicFramePr>
        <p:xfrm>
          <a:off x="751114" y="2296886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5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9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en-US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#5</a:t>
                      </a:r>
                    </a:p>
                    <a:p>
                      <a:r>
                        <a:rPr kumimoji="0" lang="en-US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MOVEQ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#10  </a:t>
                      </a:r>
                    </a:p>
                    <a:p>
                      <a:r>
                        <a:rPr kumimoji="0" lang="en-US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BLEQ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sz="16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fn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if (x == 5) {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x = 10;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sz="16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fn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(x);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}</a:t>
                      </a: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1C10A8C-B88B-BA01-723F-3EF7F7464A2A}"/>
              </a:ext>
            </a:extLst>
          </p:cNvPr>
          <p:cNvGraphicFramePr>
            <a:graphicFrameLocks noGrp="1"/>
          </p:cNvGraphicFramePr>
          <p:nvPr/>
        </p:nvGraphicFramePr>
        <p:xfrm>
          <a:off x="751114" y="3559629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5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9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#0   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MOVLE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#0   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MOVGT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if (x &lt;= 0)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x = 0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;</a:t>
                      </a:r>
                      <a:endParaRPr kumimoji="0" lang="pt-BR" sz="16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else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x = 1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;</a:t>
                      </a: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1C02443-040B-0C53-44B2-CAD7E2F6C144}"/>
              </a:ext>
            </a:extLst>
          </p:cNvPr>
          <p:cNvGraphicFramePr>
            <a:graphicFrameLocks noGrp="1"/>
          </p:cNvGraphicFramePr>
          <p:nvPr/>
        </p:nvGraphicFramePr>
        <p:xfrm>
          <a:off x="751114" y="4822372"/>
          <a:ext cx="7391400" cy="101707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5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9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#'A’</a:t>
                      </a:r>
                      <a:r>
                        <a:rPr kumimoji="0" lang="pt-BR" sz="1600" b="0" i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CMPNE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#'</a:t>
                      </a:r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'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MOVEQ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r1, #1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if (c == ‘A’ || c == 'B')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y = 1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;</a:t>
                      </a: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6374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4EAC2-9F15-2B24-C0B1-B9A988733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88944-D39C-3332-EB2A-C74E13CF2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Execution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379C2D-2D7D-1339-2969-6C4DC0245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E65C1E-4BED-C61A-C779-DB76D6C26A2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066800"/>
          </a:xfrm>
        </p:spPr>
        <p:txBody>
          <a:bodyPr>
            <a:normAutofit/>
          </a:bodyPr>
          <a:lstStyle/>
          <a:p>
            <a:r>
              <a:rPr lang="en-US" dirty="0"/>
              <a:t>Rewrite the assembly program to use conditional execution statements.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A52D138-72F3-E1D6-16A6-0C5877E20770}"/>
              </a:ext>
            </a:extLst>
          </p:cNvPr>
          <p:cNvGraphicFramePr>
            <a:graphicFrameLocks noGrp="1"/>
          </p:cNvGraphicFramePr>
          <p:nvPr/>
        </p:nvGraphicFramePr>
        <p:xfrm>
          <a:off x="751114" y="2296886"/>
          <a:ext cx="7391400" cy="17068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363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7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with Cond. Exec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r3, #0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BEQ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next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r0, r1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SUB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r0, r2</a:t>
                      </a:r>
                    </a:p>
                    <a:p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next</a:t>
                      </a:r>
                    </a:p>
                    <a:p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02806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BE3F5-48A1-1259-2939-01C736162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B2DFE-415C-E925-2881-4415892CD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Execution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2D6F19-7B0D-5790-77C2-AB5681AB3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3C577B-1FF5-F77F-BF4E-5BAE6A56A14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066800"/>
          </a:xfrm>
        </p:spPr>
        <p:txBody>
          <a:bodyPr>
            <a:normAutofit/>
          </a:bodyPr>
          <a:lstStyle/>
          <a:p>
            <a:r>
              <a:rPr lang="en-US" dirty="0"/>
              <a:t>Rewrite the assembly program to use conditional execution statements.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3832AA0-E233-FF6A-1E2F-808AF36F42FB}"/>
              </a:ext>
            </a:extLst>
          </p:cNvPr>
          <p:cNvGraphicFramePr>
            <a:graphicFrameLocks noGrp="1"/>
          </p:cNvGraphicFramePr>
          <p:nvPr/>
        </p:nvGraphicFramePr>
        <p:xfrm>
          <a:off x="751114" y="2296886"/>
          <a:ext cx="7391400" cy="17068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363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7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with Cond. Exec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r3, #0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BEQ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next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r0, r1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SUB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r0, r2</a:t>
                      </a:r>
                    </a:p>
                    <a:p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next</a:t>
                      </a:r>
                    </a:p>
                    <a:p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r3, #0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ADDNE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r0, r1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SUBNE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r0, r2</a:t>
                      </a:r>
                    </a:p>
                    <a:p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...</a:t>
                      </a: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68723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3789</TotalTime>
  <Words>3463</Words>
  <Application>Microsoft Office PowerPoint</Application>
  <PresentationFormat>On-screen Show (4:3)</PresentationFormat>
  <Paragraphs>498</Paragraphs>
  <Slides>26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Bookman Old Style (Headings)</vt:lpstr>
      <vt:lpstr>Gill Sans Light</vt:lpstr>
      <vt:lpstr>Arial</vt:lpstr>
      <vt:lpstr>Bookman Old Style</vt:lpstr>
      <vt:lpstr>Calibri</vt:lpstr>
      <vt:lpstr>Consolas</vt:lpstr>
      <vt:lpstr>Gill Sans MT</vt:lpstr>
      <vt:lpstr>Wingdings</vt:lpstr>
      <vt:lpstr>Wingdings 3</vt:lpstr>
      <vt:lpstr>Origin</vt:lpstr>
      <vt:lpstr>Z. Gu</vt:lpstr>
      <vt:lpstr>Pseudocode to Assembly</vt:lpstr>
      <vt:lpstr>Pseudocode to Assembly</vt:lpstr>
      <vt:lpstr>Assembly Program Understanding</vt:lpstr>
      <vt:lpstr>C to Assembly</vt:lpstr>
      <vt:lpstr>C to Assembly</vt:lpstr>
      <vt:lpstr>C to Assembly: What is wrong?</vt:lpstr>
      <vt:lpstr>C to Assembly</vt:lpstr>
      <vt:lpstr>C to Assembly: What is wrong? </vt:lpstr>
      <vt:lpstr>C to Assembly: for loop</vt:lpstr>
      <vt:lpstr>C to Assembly: for loop</vt:lpstr>
      <vt:lpstr>C to Assembly</vt:lpstr>
      <vt:lpstr>C to Assembly ANS </vt:lpstr>
      <vt:lpstr>C to Assembly</vt:lpstr>
      <vt:lpstr>C to Assembly ANS </vt:lpstr>
      <vt:lpstr>Assembly Programming</vt:lpstr>
      <vt:lpstr>Assembly Programming ANS</vt:lpstr>
      <vt:lpstr>Test for Equal</vt:lpstr>
      <vt:lpstr>Test for Equal ANS</vt:lpstr>
      <vt:lpstr>Summary: Condition Codes </vt:lpstr>
      <vt:lpstr>Conditional Instructions</vt:lpstr>
      <vt:lpstr>Conditional Instructions ANS</vt:lpstr>
      <vt:lpstr>Assembly to C</vt:lpstr>
      <vt:lpstr>Assembly to C ANS</vt:lpstr>
      <vt:lpstr>Conditional Execution</vt:lpstr>
      <vt:lpstr>Conditional Execution ANS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218</cp:revision>
  <cp:lastPrinted>2018-02-28T12:51:32Z</cp:lastPrinted>
  <dcterms:created xsi:type="dcterms:W3CDTF">2014-02-09T17:12:51Z</dcterms:created>
  <dcterms:modified xsi:type="dcterms:W3CDTF">2025-09-28T19:06:10Z</dcterms:modified>
</cp:coreProperties>
</file>