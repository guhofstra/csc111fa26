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67" r:id="rId3"/>
    <p:sldId id="257" r:id="rId4"/>
    <p:sldId id="28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C031E0-D52E-4E46-9A6F-BF4E84E8B6CB}" v="52" dt="2025-10-04T19:12:37.1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734" autoAdjust="0"/>
  </p:normalViewPr>
  <p:slideViewPr>
    <p:cSldViewPr>
      <p:cViewPr varScale="1">
        <p:scale>
          <a:sx n="71" d="100"/>
          <a:sy n="71" d="100"/>
        </p:scale>
        <p:origin x="1786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addSld delSld modSld">
      <pc:chgData name="Zonghua Gu" userId="9a7e1853e1951ef5" providerId="LiveId" clId="{CF1FAA12-072C-4ED5-BA76-0FFFAEFDB88A}" dt="2025-10-04T19:12:44.374" v="114" actId="20577"/>
      <pc:docMkLst>
        <pc:docMk/>
      </pc:docMkLst>
      <pc:sldChg chg="modSp mod">
        <pc:chgData name="Zonghua Gu" userId="9a7e1853e1951ef5" providerId="LiveId" clId="{CF1FAA12-072C-4ED5-BA76-0FFFAEFDB88A}" dt="2025-09-26T23:32:13.878" v="18" actId="20577"/>
        <pc:sldMkLst>
          <pc:docMk/>
          <pc:sldMk cId="1683281344" sldId="256"/>
        </pc:sldMkLst>
        <pc:spChg chg="mod">
          <ac:chgData name="Zonghua Gu" userId="9a7e1853e1951ef5" providerId="LiveId" clId="{CF1FAA12-072C-4ED5-BA76-0FFFAEFDB88A}" dt="2025-09-26T23:32:13.878" v="18" actId="20577"/>
          <ac:spMkLst>
            <pc:docMk/>
            <pc:sldMk cId="1683281344" sldId="256"/>
            <ac:spMk id="6" creationId="{00000000-0000-0000-0000-000000000000}"/>
          </ac:spMkLst>
        </pc:spChg>
      </pc:sldChg>
      <pc:sldChg chg="new">
        <pc:chgData name="Zonghua Gu" userId="9a7e1853e1951ef5" providerId="LiveId" clId="{CF1FAA12-072C-4ED5-BA76-0FFFAEFDB88A}" dt="2025-09-26T23:32:14.647" v="19" actId="680"/>
        <pc:sldMkLst>
          <pc:docMk/>
          <pc:sldMk cId="100762959" sldId="25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218711516" sldId="25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11405843" sldId="258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87797743" sldId="259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164444141" sldId="260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669434976" sldId="261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210065581" sldId="263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896628209" sldId="264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858537890" sldId="265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780392420" sldId="266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78386796" sldId="267"/>
        </pc:sldMkLst>
      </pc:sldChg>
      <pc:sldChg chg="modSp add mod">
        <pc:chgData name="Zonghua Gu" userId="9a7e1853e1951ef5" providerId="LiveId" clId="{CF1FAA12-072C-4ED5-BA76-0FFFAEFDB88A}" dt="2025-09-26T23:40:17.184" v="103" actId="20577"/>
        <pc:sldMkLst>
          <pc:docMk/>
          <pc:sldMk cId="1529515534" sldId="267"/>
        </pc:sldMkLst>
        <pc:spChg chg="mod">
          <ac:chgData name="Zonghua Gu" userId="9a7e1853e1951ef5" providerId="LiveId" clId="{CF1FAA12-072C-4ED5-BA76-0FFFAEFDB88A}" dt="2025-09-26T23:33:28.784" v="42" actId="207"/>
          <ac:spMkLst>
            <pc:docMk/>
            <pc:sldMk cId="1529515534" sldId="267"/>
            <ac:spMk id="2" creationId="{C32FB2B8-7E14-4A2F-4D72-A942A2A2D466}"/>
          </ac:spMkLst>
        </pc:spChg>
        <pc:spChg chg="mod">
          <ac:chgData name="Zonghua Gu" userId="9a7e1853e1951ef5" providerId="LiveId" clId="{CF1FAA12-072C-4ED5-BA76-0FFFAEFDB88A}" dt="2025-09-26T23:40:17.184" v="103" actId="20577"/>
          <ac:spMkLst>
            <pc:docMk/>
            <pc:sldMk cId="1529515534" sldId="267"/>
            <ac:spMk id="4" creationId="{18228579-7ACA-AA2F-265C-3D4BFE0BAEB5}"/>
          </ac:spMkLst>
        </pc:spChg>
        <pc:spChg chg="mod">
          <ac:chgData name="Zonghua Gu" userId="9a7e1853e1951ef5" providerId="LiveId" clId="{CF1FAA12-072C-4ED5-BA76-0FFFAEFDB88A}" dt="2025-09-26T23:33:53.879" v="48" actId="20577"/>
          <ac:spMkLst>
            <pc:docMk/>
            <pc:sldMk cId="1529515534" sldId="267"/>
            <ac:spMk id="5" creationId="{8F1DEF68-A5DE-F0F9-BD49-95E4A89559A2}"/>
          </ac:spMkLst>
        </pc:spChg>
        <pc:spChg chg="mod">
          <ac:chgData name="Zonghua Gu" userId="9a7e1853e1951ef5" providerId="LiveId" clId="{CF1FAA12-072C-4ED5-BA76-0FFFAEFDB88A}" dt="2025-09-26T23:33:22.776" v="41" actId="20577"/>
          <ac:spMkLst>
            <pc:docMk/>
            <pc:sldMk cId="1529515534" sldId="267"/>
            <ac:spMk id="6" creationId="{FBD0A525-5536-D0F2-41EB-88CB92AF035B}"/>
          </ac:spMkLst>
        </pc:spChg>
        <pc:spChg chg="mod">
          <ac:chgData name="Zonghua Gu" userId="9a7e1853e1951ef5" providerId="LiveId" clId="{CF1FAA12-072C-4ED5-BA76-0FFFAEFDB88A}" dt="2025-09-26T23:33:57.222" v="49" actId="20577"/>
          <ac:spMkLst>
            <pc:docMk/>
            <pc:sldMk cId="1529515534" sldId="267"/>
            <ac:spMk id="7" creationId="{BEF2A1D6-2774-EB00-B7B3-68DB2EB6F31A}"/>
          </ac:spMkLst>
        </pc:spChg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849682855" sldId="268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3558897582" sldId="270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974167674" sldId="272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13887454" sldId="273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103323537" sldId="275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2241758158" sldId="276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430635750" sldId="277"/>
        </pc:sldMkLst>
      </pc:sldChg>
      <pc:sldChg chg="del">
        <pc:chgData name="Zonghua Gu" userId="9a7e1853e1951ef5" providerId="LiveId" clId="{CF1FAA12-072C-4ED5-BA76-0FFFAEFDB88A}" dt="2025-09-26T23:32:01.266" v="0" actId="47"/>
        <pc:sldMkLst>
          <pc:docMk/>
          <pc:sldMk cId="1945936955" sldId="278"/>
        </pc:sldMkLst>
      </pc:sldChg>
      <pc:sldChg chg="modSp add mod">
        <pc:chgData name="Zonghua Gu" userId="9a7e1853e1951ef5" providerId="LiveId" clId="{CF1FAA12-072C-4ED5-BA76-0FFFAEFDB88A}" dt="2025-10-04T19:12:44.374" v="114" actId="20577"/>
        <pc:sldMkLst>
          <pc:docMk/>
          <pc:sldMk cId="3761897037" sldId="281"/>
        </pc:sldMkLst>
        <pc:spChg chg="mod">
          <ac:chgData name="Zonghua Gu" userId="9a7e1853e1951ef5" providerId="LiveId" clId="{CF1FAA12-072C-4ED5-BA76-0FFFAEFDB88A}" dt="2025-10-04T19:12:44.374" v="114" actId="20577"/>
          <ac:spMkLst>
            <pc:docMk/>
            <pc:sldMk cId="3761897037" sldId="281"/>
            <ac:spMk id="2" creationId="{375475F4-E526-1473-6263-AB10E888210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4DF53-3DD3-9F45-9E7E-472B96F1AB8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0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10/4/2025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10/4/2025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W_Knvo9NuJ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37547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9306" y="1828800"/>
            <a:ext cx="61800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12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D4353-9834-2C9B-4D5E-539A51A87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FB2B8-7E14-4A2F-4D72-A942A2A2D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FF0000"/>
                </a:solidFill>
              </a:rPr>
              <a:t>-</a:t>
            </a:r>
            <a:r>
              <a:rPr lang="en-US" b="1" dirty="0">
                <a:solidFill>
                  <a:srgbClr val="C00000"/>
                </a:solidFill>
              </a:rPr>
              <a:t>6.5</a:t>
            </a:r>
            <a:r>
              <a:rPr lang="en-US" b="1" dirty="0"/>
              <a:t> into IEEE Std 754 Single-Precision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4CE3FDD-6390-6959-5D32-5BDAACEB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228579-7ACA-AA2F-265C-3D4BFE0BAEB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</p:spPr>
            <p:txBody>
              <a:bodyPr>
                <a:normAutofit fontScale="77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=1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/>
                      </a:rPr>
                      <m:t>+127=1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29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need to solve for 0-1 variables a, b, c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×2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=0.8125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i="1">
                        <a:latin typeface="Cambria Math"/>
                      </a:rPr>
                      <m:t>25×2=1.</m:t>
                    </m:r>
                    <m:r>
                      <a:rPr lang="en-US" i="1" smtClean="0">
                        <a:latin typeface="Cambria Math"/>
                      </a:rPr>
                      <m:t> </m:t>
                    </m:r>
                    <m:r>
                      <a:rPr lang="en-US" i="1">
                        <a:latin typeface="Cambria Math"/>
                      </a:rPr>
                      <m:t>25=1+0.25</m:t>
                    </m:r>
                  </m:oMath>
                </a14:m>
                <a:r>
                  <a:rPr lang="en-US" dirty="0"/>
                  <a:t>, hence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>
                        <a:latin typeface="Cambria Math"/>
                      </a:rPr>
                      <m:t>5=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0+0.5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hence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-6.5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en-US" dirty="0">
                    <a:solidFill>
                      <a:srgbClr val="0000FF"/>
                    </a:solidFill>
                    <a:latin typeface="Cambria Math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10100000000000000000000</a:t>
                </a:r>
                <a:r>
                  <a:rPr lang="en-US" dirty="0"/>
                  <a:t> in binary </a:t>
                </a:r>
                <a:r>
                  <a:rPr lang="en-US"/>
                  <a:t>or </a:t>
                </a:r>
                <a:r>
                  <a:rPr lang="en-US">
                    <a:latin typeface="Consolas" panose="020B0609020204030204" pitchFamily="49" charset="0"/>
                    <a:cs typeface="Consolas" panose="020B0609020204030204" pitchFamily="49" charset="0"/>
                  </a:rPr>
                  <a:t>0xC0D00000</a:t>
                </a:r>
                <a:r>
                  <a:rPr lang="en-US"/>
                  <a:t> </a:t>
                </a:r>
                <a:r>
                  <a:rPr lang="en-US" dirty="0"/>
                  <a:t>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8228579-7ACA-AA2F-265C-3D4BFE0BA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2819400"/>
                <a:ext cx="8229600" cy="3429000"/>
              </a:xfrm>
              <a:blipFill>
                <a:blip r:embed="rId2"/>
                <a:stretch>
                  <a:fillRect l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1DEF68-A5DE-F0F9-BD49-95E4A89559A2}"/>
                  </a:ext>
                </a:extLst>
              </p:cNvPr>
              <p:cNvSpPr/>
              <p:nvPr/>
            </p:nvSpPr>
            <p:spPr>
              <a:xfrm>
                <a:off x="1447800" y="1667272"/>
                <a:ext cx="4572000" cy="5232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US" sz="2800" i="1">
                          <a:latin typeface="Cambria Math"/>
                        </a:rPr>
                        <m:t>.5=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1.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latin typeface="Cambria Math"/>
                        </a:rPr>
                        <m:t>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8F1DEF68-A5DE-F0F9-BD49-95E4A89559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800" y="1667272"/>
                <a:ext cx="4572000" cy="523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BD0A525-5536-D0F2-41EB-88CB92AF035B}"/>
              </a:ext>
            </a:extLst>
          </p:cNvPr>
          <p:cNvSpPr txBox="1"/>
          <p:nvPr/>
        </p:nvSpPr>
        <p:spPr>
          <a:xfrm>
            <a:off x="454511" y="1102668"/>
            <a:ext cx="85733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 (-6.5 is between 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=4 and 2</a:t>
            </a:r>
            <a:r>
              <a:rPr lang="en-US" sz="2400" baseline="30000" dirty="0">
                <a:solidFill>
                  <a:srgbClr val="C00000"/>
                </a:solidFill>
              </a:rPr>
              <a:t>3</a:t>
            </a:r>
            <a:r>
              <a:rPr lang="en-US" sz="2400" dirty="0">
                <a:solidFill>
                  <a:srgbClr val="C00000"/>
                </a:solidFill>
              </a:rPr>
              <a:t>=8, hence we factor out</a:t>
            </a:r>
          </a:p>
          <a:p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sz="2400" baseline="30000" dirty="0">
                <a:solidFill>
                  <a:srgbClr val="C00000"/>
                </a:solidFill>
              </a:rPr>
              <a:t>2</a:t>
            </a:r>
            <a:r>
              <a:rPr lang="en-US" sz="2400" dirty="0">
                <a:solidFill>
                  <a:srgbClr val="C00000"/>
                </a:solidFill>
              </a:rPr>
              <a:t>):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F2A1D6-2774-EB00-B7B3-68DB2EB6F31A}"/>
                  </a:ext>
                </a:extLst>
              </p:cNvPr>
              <p:cNvSpPr/>
              <p:nvPr/>
            </p:nvSpPr>
            <p:spPr>
              <a:xfrm>
                <a:off x="2865499" y="2262114"/>
                <a:ext cx="349416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/>
                        </a:rPr>
                        <m:t>(1+0.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US" sz="2800" i="1">
                          <a:latin typeface="Cambria Math"/>
                        </a:rPr>
                        <m:t>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EF2A1D6-2774-EB00-B7B3-68DB2EB6F3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5499" y="2262114"/>
                <a:ext cx="349416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515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8FA6C-B67A-6F2D-E560-5DE862B1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53EC88-695B-DF78-483D-F955F85B7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B7E3C-4B3E-F7E4-6E06-CEAA4B79179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2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75F4-E526-1473-6263-AB10E8882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Decoding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48B895-1373-021B-15E1-6EDC308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Binary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10000001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00100000000000000000000</a:t>
                </a:r>
              </a:p>
              <a:p>
                <a:r>
                  <a:rPr lang="en-US" sz="2100" dirty="0"/>
                  <a:t>Sign = </a:t>
                </a:r>
                <a:r>
                  <a:rPr lang="en-US" sz="21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</a:p>
              <a:p>
                <a:r>
                  <a:rPr lang="en-US" sz="2100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/>
                          </a:rPr>
                          <m:t>100000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100" i="1">
                            <a:latin typeface="Cambria Math"/>
                          </a:rPr>
                          <m:t>1</m:t>
                        </m:r>
                      </m:e>
                      <m:sub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100" i="1">
                        <a:latin typeface="Cambria Math"/>
                      </a:rPr>
                      <m:t>=1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endParaRPr lang="en-US" sz="2100" dirty="0"/>
              </a:p>
              <a:p>
                <a:r>
                  <a:rPr lang="en-US" sz="2100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>
                            <a:latin typeface="Cambria Math"/>
                          </a:rPr>
                          <m:t>0.</m:t>
                        </m:r>
                        <m:r>
                          <a:rPr lang="en-US" sz="2100" i="1">
                            <a:latin typeface="Cambria Math" panose="02040503050406030204" pitchFamily="18" charset="0"/>
                          </a:rPr>
                          <m:t>001</m:t>
                        </m:r>
                      </m:e>
                      <m:sub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m:rPr>
                        <m:aln/>
                      </m:rPr>
                      <a:rPr lang="en-US" sz="2100" i="1">
                        <a:latin typeface="Cambria Math"/>
                      </a:rPr>
                      <m:t>=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1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100" i="1"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a:rPr lang="en-US" sz="2100" i="1">
                        <a:latin typeface="Cambria Math"/>
                      </a:rPr>
                      <m:t>+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1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100" i="1">
                            <a:latin typeface="Cambria Math"/>
                          </a:rPr>
                          <m:t>−2</m:t>
                        </m:r>
                      </m:sup>
                    </m:sSup>
                    <m:r>
                      <a:rPr lang="en-US" sz="2100" i="1">
                        <a:latin typeface="Cambria Math"/>
                      </a:rPr>
                      <m:t>+1×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100" i="1">
                            <a:latin typeface="Cambria Math"/>
                          </a:rPr>
                          <m:t>−3</m:t>
                        </m:r>
                      </m:sup>
                    </m:sSup>
                    <m:r>
                      <a:rPr lang="en-US" sz="21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100" i="1">
                        <a:latin typeface="Cambria Math"/>
                      </a:rPr>
                      <m:t>0.</m:t>
                    </m:r>
                    <m:r>
                      <a:rPr lang="en-US" sz="2100" i="1"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endParaRPr lang="en-US" sz="2100" dirty="0"/>
              </a:p>
              <a:p>
                <a14:m>
                  <m:oMath xmlns:m="http://schemas.openxmlformats.org/officeDocument/2006/math">
                    <m:r>
                      <a:rPr lang="en-US" sz="2100" i="1">
                        <a:latin typeface="Cambria Math"/>
                      </a:rPr>
                      <m:t>𝑓</m:t>
                    </m:r>
                    <m:r>
                      <m:rPr>
                        <m:aln/>
                      </m:rPr>
                      <a:rPr lang="en-US" sz="2100" i="1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1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100" i="1">
                                <a:latin typeface="Cambria Math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sz="2100" i="1">
                            <a:latin typeface="Cambria Math"/>
                          </a:rPr>
                          <m:t>𝑆</m:t>
                        </m:r>
                      </m:sup>
                    </m:sSup>
                    <m:r>
                      <a:rPr lang="en-US" sz="2100" i="1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>
                            <a:latin typeface="Cambria Math"/>
                          </a:rPr>
                          <m:t>1+</m:t>
                        </m:r>
                        <m:r>
                          <a:rPr lang="en-US" sz="2100" i="1">
                            <a:latin typeface="Cambria Math"/>
                          </a:rPr>
                          <m:t>𝐹𝑟𝑎𝑐𝑡𝑖𝑜𝑛</m:t>
                        </m:r>
                      </m:e>
                    </m:d>
                    <m:r>
                      <a:rPr lang="en-US" sz="2100" i="1">
                        <a:latin typeface="Cambria Math"/>
                      </a:rPr>
                      <m:t>×</m:t>
                    </m:r>
                    <m:sSup>
                      <m:sSupPr>
                        <m:ctrlPr>
                          <a:rPr lang="en-US" sz="21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100" i="1">
                            <a:latin typeface="Cambria Math"/>
                          </a:rPr>
                          <m:t>𝐸𝑥𝑝𝑜𝑛𝑒𝑛𝑡</m:t>
                        </m:r>
                        <m:r>
                          <a:rPr lang="en-US" sz="2100" i="1">
                            <a:latin typeface="Cambria Math"/>
                          </a:rPr>
                          <m:t>−127</m:t>
                        </m:r>
                      </m:sup>
                    </m:sSup>
                  </m:oMath>
                </a14:m>
                <a:endParaRPr lang="en-US" sz="21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1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1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1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latin typeface="Cambria Math"/>
                            </a:rPr>
                            <m:t>1+0.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125</m:t>
                          </m:r>
                        </m:e>
                      </m:d>
                      <m:r>
                        <a:rPr lang="en-US" sz="21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100" i="1">
                              <a:latin typeface="Cambria Math"/>
                            </a:rPr>
                            <m:t>1</m:t>
                          </m:r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29</m:t>
                          </m:r>
                          <m:r>
                            <a:rPr lang="en-US" sz="21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100" i="1">
                          <a:latin typeface="Cambria Math"/>
                        </a:rPr>
                        <m:t>=</m:t>
                      </m:r>
                      <m:r>
                        <a:rPr lang="en-US" sz="2100" i="1">
                          <a:latin typeface="Cambria Math"/>
                        </a:rPr>
                        <m:t>−1×1.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125</m:t>
                      </m:r>
                      <m:r>
                        <a:rPr lang="en-US" sz="21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1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1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100" i="1">
                          <a:latin typeface="Cambria Math"/>
                        </a:rPr>
                        <m:t>=</m:t>
                      </m:r>
                      <m:r>
                        <a:rPr lang="en-US" sz="2100" i="1">
                          <a:latin typeface="Cambria Math" panose="02040503050406030204" pitchFamily="18" charset="0"/>
                        </a:rPr>
                        <m:t>4.5</m:t>
                      </m:r>
                    </m:oMath>
                  </m:oMathPara>
                </a14:m>
                <a:endParaRPr lang="en-US" dirty="0">
                  <a:solidFill>
                    <a:srgbClr val="00B050"/>
                  </a:solidFill>
                  <a:latin typeface="Consolas" panose="020B0609020204030204" pitchFamily="49" charset="0"/>
                </a:endParaRPr>
              </a:p>
              <a:p>
                <a:r>
                  <a:rPr lang="en-US" dirty="0"/>
                  <a:t>How Floating Point Numbers Work (in 7 minutes!)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https://www.youtube.com/watch?v=W_Knvo9NuJY</a:t>
                </a: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34DA398-7598-5E3A-A505-43A059F4F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667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18970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2666</TotalTime>
  <Words>205</Words>
  <Application>Microsoft Office PowerPoint</Application>
  <PresentationFormat>On-screen Show (4:3)</PresentationFormat>
  <Paragraphs>33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Bookman Old Style (Headings)</vt:lpstr>
      <vt:lpstr>Bookman Old Style</vt:lpstr>
      <vt:lpstr>Calibri</vt:lpstr>
      <vt:lpstr>Cambria Math</vt:lpstr>
      <vt:lpstr>Consolas</vt:lpstr>
      <vt:lpstr>Gill Sans MT</vt:lpstr>
      <vt:lpstr>Wingdings</vt:lpstr>
      <vt:lpstr>Wingdings 3</vt:lpstr>
      <vt:lpstr>Origin</vt:lpstr>
      <vt:lpstr>Z. Gu</vt:lpstr>
      <vt:lpstr>Encoding -6.5 into IEEE Std 754 Single-Precision</vt:lpstr>
      <vt:lpstr>PowerPoint Presentation</vt:lpstr>
      <vt:lpstr>Decoding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278</cp:revision>
  <dcterms:created xsi:type="dcterms:W3CDTF">2013-02-03T05:36:57Z</dcterms:created>
  <dcterms:modified xsi:type="dcterms:W3CDTF">2025-10-04T19:12:49Z</dcterms:modified>
</cp:coreProperties>
</file>