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363" r:id="rId3"/>
    <p:sldId id="364" r:id="rId4"/>
    <p:sldId id="356" r:id="rId5"/>
    <p:sldId id="357" r:id="rId6"/>
    <p:sldId id="358" r:id="rId7"/>
    <p:sldId id="3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40ECDD-0212-4B45-9BF7-647D2D054BF4}" v="1" dt="2025-12-30T22:43:30.4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0"/>
    <p:restoredTop sz="79085" autoAdjust="0"/>
  </p:normalViewPr>
  <p:slideViewPr>
    <p:cSldViewPr>
      <p:cViewPr varScale="1">
        <p:scale>
          <a:sx n="65" d="100"/>
          <a:sy n="65" d="100"/>
        </p:scale>
        <p:origin x="1493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52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440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63875" y="684213"/>
            <a:ext cx="3487738" cy="2616200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77580" y="3488352"/>
            <a:ext cx="7046042" cy="33031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03223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63875" y="684213"/>
            <a:ext cx="3487738" cy="2616200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77580" y="3488352"/>
            <a:ext cx="7046042" cy="33031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518169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12/30/2025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12/30/2025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31631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537" y="1905000"/>
            <a:ext cx="50340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3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Instruction Set Architecture</a:t>
            </a:r>
          </a:p>
          <a:p>
            <a:pPr algn="r"/>
            <a:r>
              <a:rPr lang="en-US" sz="2400" b="1">
                <a:solidFill>
                  <a:srgbClr val="C00000"/>
                </a:solidFill>
              </a:rPr>
              <a:t>Exercises ANS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F2752-E869-44D3-259E-876E866AF15A}"/>
              </a:ext>
            </a:extLst>
          </p:cNvPr>
          <p:cNvSpPr txBox="1"/>
          <p:nvPr/>
        </p:nvSpPr>
        <p:spPr>
          <a:xfrm>
            <a:off x="2334738" y="6321031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</a:t>
            </a:r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EAAEAC-5A83-FC31-3AD1-D95A0084E014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295401"/>
            <a:ext cx="7162801" cy="457199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Assume Big Endian ordering. If a 32-bit word resides at memory address N, what is the address of: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The MSB (Most Significant Byte)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The 16-bit half-word corresponding to the most significant half of the word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  <a:latin typeface="Calibri"/>
              </a:rPr>
              <a:t>Q: </a:t>
            </a:r>
            <a:r>
              <a:rPr lang="en-US" sz="2000" dirty="0">
                <a:solidFill>
                  <a:prstClr val="black"/>
                </a:solidFill>
              </a:rPr>
              <a:t>Redo the question assuming Little Endian ordering.</a:t>
            </a:r>
          </a:p>
          <a:p>
            <a:pPr marL="257175" indent="-257175" defTabSz="342900"/>
            <a:endParaRPr lang="en-US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6BB36-F7F6-7578-6D42-2AA85F7E8DBE}"/>
              </a:ext>
            </a:extLst>
          </p:cNvPr>
          <p:cNvSpPr txBox="1"/>
          <p:nvPr/>
        </p:nvSpPr>
        <p:spPr>
          <a:xfrm>
            <a:off x="9849714" y="3094658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5796D-3335-5534-5D96-A9140AE9A628}"/>
              </a:ext>
            </a:extLst>
          </p:cNvPr>
          <p:cNvSpPr txBox="1"/>
          <p:nvPr/>
        </p:nvSpPr>
        <p:spPr>
          <a:xfrm>
            <a:off x="9830888" y="1668764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grpSp>
        <p:nvGrpSpPr>
          <p:cNvPr id="8" name="Group 33">
            <a:extLst>
              <a:ext uri="{FF2B5EF4-FFF2-40B4-BE49-F238E27FC236}">
                <a16:creationId xmlns:a16="http://schemas.microsoft.com/office/drawing/2014/main" id="{35C46318-1511-5927-1843-060ED31D9F4C}"/>
              </a:ext>
            </a:extLst>
          </p:cNvPr>
          <p:cNvGrpSpPr>
            <a:grpSpLocks/>
          </p:cNvGrpSpPr>
          <p:nvPr/>
        </p:nvGrpSpPr>
        <p:grpSpPr bwMode="auto">
          <a:xfrm>
            <a:off x="9267008" y="1615328"/>
            <a:ext cx="609600" cy="1944698"/>
            <a:chOff x="0" y="0"/>
            <a:chExt cx="384" cy="3072"/>
          </a:xfrm>
        </p:grpSpPr>
        <p:sp>
          <p:nvSpPr>
            <p:cNvPr id="9" name="Rectangle 34">
              <a:extLst>
                <a:ext uri="{FF2B5EF4-FFF2-40B4-BE49-F238E27FC236}">
                  <a16:creationId xmlns:a16="http://schemas.microsoft.com/office/drawing/2014/main" id="{D3CE61B3-7BC8-DF50-1362-0AE8D584E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0" name="Rectangle 35">
              <a:extLst>
                <a:ext uri="{FF2B5EF4-FFF2-40B4-BE49-F238E27FC236}">
                  <a16:creationId xmlns:a16="http://schemas.microsoft.com/office/drawing/2014/main" id="{F1F75AFF-16CC-3BED-47F1-ACAC71AA8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Rectangle 36">
              <a:extLst>
                <a:ext uri="{FF2B5EF4-FFF2-40B4-BE49-F238E27FC236}">
                  <a16:creationId xmlns:a16="http://schemas.microsoft.com/office/drawing/2014/main" id="{557CE143-5421-0957-D1D0-0F02EBBD1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Rectangle 37">
              <a:extLst>
                <a:ext uri="{FF2B5EF4-FFF2-40B4-BE49-F238E27FC236}">
                  <a16:creationId xmlns:a16="http://schemas.microsoft.com/office/drawing/2014/main" id="{1EE626ED-7010-17DE-AB5D-6AFB4D638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2139613-6F00-189E-A3E7-E5782922CBC4}"/>
              </a:ext>
            </a:extLst>
          </p:cNvPr>
          <p:cNvSpPr txBox="1"/>
          <p:nvPr/>
        </p:nvSpPr>
        <p:spPr>
          <a:xfrm>
            <a:off x="7485325" y="239467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CA3B04-30BA-AB52-96CE-C4D0D46EBB0E}"/>
              </a:ext>
            </a:extLst>
          </p:cNvPr>
          <p:cNvSpPr txBox="1"/>
          <p:nvPr/>
        </p:nvSpPr>
        <p:spPr>
          <a:xfrm>
            <a:off x="8938569" y="31309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D2F51-C323-A016-AE65-89BBE14397AE}"/>
              </a:ext>
            </a:extLst>
          </p:cNvPr>
          <p:cNvSpPr txBox="1"/>
          <p:nvPr/>
        </p:nvSpPr>
        <p:spPr>
          <a:xfrm>
            <a:off x="8688501" y="26257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04BC0F-A245-42B3-C099-6BBF3E77DA07}"/>
              </a:ext>
            </a:extLst>
          </p:cNvPr>
          <p:cNvSpPr txBox="1"/>
          <p:nvPr/>
        </p:nvSpPr>
        <p:spPr>
          <a:xfrm>
            <a:off x="8688501" y="21205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F79D3-BC63-01D9-8A39-ECF46F38BC95}"/>
              </a:ext>
            </a:extLst>
          </p:cNvPr>
          <p:cNvSpPr txBox="1"/>
          <p:nvPr/>
        </p:nvSpPr>
        <p:spPr>
          <a:xfrm>
            <a:off x="8688501" y="161532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69F1EE-91D8-E398-DD9D-52F4AB1EE7FB}"/>
              </a:ext>
            </a:extLst>
          </p:cNvPr>
          <p:cNvSpPr txBox="1"/>
          <p:nvPr/>
        </p:nvSpPr>
        <p:spPr>
          <a:xfrm>
            <a:off x="9868540" y="5672166"/>
            <a:ext cx="6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F0D440-E8BC-AE46-3AE9-338FF6B33378}"/>
              </a:ext>
            </a:extLst>
          </p:cNvPr>
          <p:cNvSpPr txBox="1"/>
          <p:nvPr/>
        </p:nvSpPr>
        <p:spPr>
          <a:xfrm>
            <a:off x="9849714" y="4246272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grpSp>
        <p:nvGrpSpPr>
          <p:cNvPr id="20" name="Group 33">
            <a:extLst>
              <a:ext uri="{FF2B5EF4-FFF2-40B4-BE49-F238E27FC236}">
                <a16:creationId xmlns:a16="http://schemas.microsoft.com/office/drawing/2014/main" id="{183D2BEA-EE34-406C-6810-8CC6014B68DE}"/>
              </a:ext>
            </a:extLst>
          </p:cNvPr>
          <p:cNvGrpSpPr>
            <a:grpSpLocks/>
          </p:cNvGrpSpPr>
          <p:nvPr/>
        </p:nvGrpSpPr>
        <p:grpSpPr bwMode="auto">
          <a:xfrm>
            <a:off x="9285834" y="4192837"/>
            <a:ext cx="609600" cy="1944699"/>
            <a:chOff x="0" y="0"/>
            <a:chExt cx="384" cy="3072"/>
          </a:xfrm>
        </p:grpSpPr>
        <p:sp>
          <p:nvSpPr>
            <p:cNvPr id="21" name="Rectangle 34">
              <a:extLst>
                <a:ext uri="{FF2B5EF4-FFF2-40B4-BE49-F238E27FC236}">
                  <a16:creationId xmlns:a16="http://schemas.microsoft.com/office/drawing/2014/main" id="{C7582571-BA7F-69D0-827B-EBD82C5EE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2" name="Rectangle 35">
              <a:extLst>
                <a:ext uri="{FF2B5EF4-FFF2-40B4-BE49-F238E27FC236}">
                  <a16:creationId xmlns:a16="http://schemas.microsoft.com/office/drawing/2014/main" id="{2C9B86DC-C9E1-CB88-7CD3-681B277B4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Rectangle 36">
              <a:extLst>
                <a:ext uri="{FF2B5EF4-FFF2-40B4-BE49-F238E27FC236}">
                  <a16:creationId xmlns:a16="http://schemas.microsoft.com/office/drawing/2014/main" id="{2A76A58B-264C-EFD2-2DD5-02427C49A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37">
              <a:extLst>
                <a:ext uri="{FF2B5EF4-FFF2-40B4-BE49-F238E27FC236}">
                  <a16:creationId xmlns:a16="http://schemas.microsoft.com/office/drawing/2014/main" id="{E9D9C064-223F-22B8-97AD-F27CD454A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BADE73D-7CA6-218E-0220-1DF06272FAF8}"/>
              </a:ext>
            </a:extLst>
          </p:cNvPr>
          <p:cNvSpPr txBox="1"/>
          <p:nvPr/>
        </p:nvSpPr>
        <p:spPr>
          <a:xfrm>
            <a:off x="7264110" y="496059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22B737-C4CA-666C-7381-726AE2810029}"/>
              </a:ext>
            </a:extLst>
          </p:cNvPr>
          <p:cNvSpPr txBox="1"/>
          <p:nvPr/>
        </p:nvSpPr>
        <p:spPr>
          <a:xfrm>
            <a:off x="8938569" y="570845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9C1593-9919-82DF-B1C1-1207903CD675}"/>
              </a:ext>
            </a:extLst>
          </p:cNvPr>
          <p:cNvSpPr txBox="1"/>
          <p:nvPr/>
        </p:nvSpPr>
        <p:spPr>
          <a:xfrm>
            <a:off x="8688501" y="5203251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6131F4-49C2-41CB-B120-1D95E9BC8D28}"/>
              </a:ext>
            </a:extLst>
          </p:cNvPr>
          <p:cNvSpPr txBox="1"/>
          <p:nvPr/>
        </p:nvSpPr>
        <p:spPr>
          <a:xfrm>
            <a:off x="8688501" y="46980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556331-7EE5-1D81-15A9-F4F2DCDE82CA}"/>
              </a:ext>
            </a:extLst>
          </p:cNvPr>
          <p:cNvSpPr txBox="1"/>
          <p:nvPr/>
        </p:nvSpPr>
        <p:spPr>
          <a:xfrm>
            <a:off x="8688501" y="41928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</p:spTree>
    <p:extLst>
      <p:ext uri="{BB962C8B-B14F-4D97-AF65-F5344CB8AC3E}">
        <p14:creationId xmlns:p14="http://schemas.microsoft.com/office/powerpoint/2010/main" val="348604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08566" y="1141510"/>
            <a:ext cx="6805626" cy="541169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Assume Big Endian ordering. If a 32-bit word resides at memory address N, what is the address of: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The MSB (Most Significant Byte)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The 16-bit half-word corresponding to the most significant half of the word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Redo the question assuming Little Endian ordering.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A: With Big Endian ordering: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N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N (the half-word has address range of [N, N+1], so its address is N)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With Little Endian ordering: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N+3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N+2 (the half-word has address range of [N+2, N+3], so its address is N+2)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D03F1-A762-F492-543B-9AD6EC9F9CD7}"/>
              </a:ext>
            </a:extLst>
          </p:cNvPr>
          <p:cNvSpPr txBox="1"/>
          <p:nvPr/>
        </p:nvSpPr>
        <p:spPr>
          <a:xfrm>
            <a:off x="9849714" y="3094658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9EBAB1-3E91-1738-6671-40808660D47E}"/>
              </a:ext>
            </a:extLst>
          </p:cNvPr>
          <p:cNvSpPr txBox="1"/>
          <p:nvPr/>
        </p:nvSpPr>
        <p:spPr>
          <a:xfrm>
            <a:off x="9830888" y="1668764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grpSp>
        <p:nvGrpSpPr>
          <p:cNvPr id="9" name="Group 33">
            <a:extLst>
              <a:ext uri="{FF2B5EF4-FFF2-40B4-BE49-F238E27FC236}">
                <a16:creationId xmlns:a16="http://schemas.microsoft.com/office/drawing/2014/main" id="{0FF2FFB8-C1EC-4B19-F866-D1FB55EAD587}"/>
              </a:ext>
            </a:extLst>
          </p:cNvPr>
          <p:cNvGrpSpPr>
            <a:grpSpLocks/>
          </p:cNvGrpSpPr>
          <p:nvPr/>
        </p:nvGrpSpPr>
        <p:grpSpPr bwMode="auto">
          <a:xfrm>
            <a:off x="9267008" y="1615328"/>
            <a:ext cx="609600" cy="1944698"/>
            <a:chOff x="0" y="0"/>
            <a:chExt cx="384" cy="3072"/>
          </a:xfrm>
        </p:grpSpPr>
        <p:sp>
          <p:nvSpPr>
            <p:cNvPr id="10" name="Rectangle 34">
              <a:extLst>
                <a:ext uri="{FF2B5EF4-FFF2-40B4-BE49-F238E27FC236}">
                  <a16:creationId xmlns:a16="http://schemas.microsoft.com/office/drawing/2014/main" id="{F31FEC1C-ACD5-A713-4BFA-212468CF1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Rectangle 35">
              <a:extLst>
                <a:ext uri="{FF2B5EF4-FFF2-40B4-BE49-F238E27FC236}">
                  <a16:creationId xmlns:a16="http://schemas.microsoft.com/office/drawing/2014/main" id="{8901F92C-FFDE-99A5-2A39-F3A959892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Rectangle 36">
              <a:extLst>
                <a:ext uri="{FF2B5EF4-FFF2-40B4-BE49-F238E27FC236}">
                  <a16:creationId xmlns:a16="http://schemas.microsoft.com/office/drawing/2014/main" id="{FBF8E902-648C-92E9-3599-30414D1EC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3" name="Rectangle 37">
              <a:extLst>
                <a:ext uri="{FF2B5EF4-FFF2-40B4-BE49-F238E27FC236}">
                  <a16:creationId xmlns:a16="http://schemas.microsoft.com/office/drawing/2014/main" id="{936169EB-F16E-DE3D-C69C-5E732BA94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0136153-F36F-FA15-4D76-068229B88F7A}"/>
              </a:ext>
            </a:extLst>
          </p:cNvPr>
          <p:cNvSpPr txBox="1"/>
          <p:nvPr/>
        </p:nvSpPr>
        <p:spPr>
          <a:xfrm>
            <a:off x="7485325" y="239467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9CB7C6-E157-92DF-797C-BCBEF1292FF3}"/>
              </a:ext>
            </a:extLst>
          </p:cNvPr>
          <p:cNvSpPr txBox="1"/>
          <p:nvPr/>
        </p:nvSpPr>
        <p:spPr>
          <a:xfrm>
            <a:off x="8938569" y="31309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519806-F7FA-F088-EDA0-400A30CE0486}"/>
              </a:ext>
            </a:extLst>
          </p:cNvPr>
          <p:cNvSpPr txBox="1"/>
          <p:nvPr/>
        </p:nvSpPr>
        <p:spPr>
          <a:xfrm>
            <a:off x="8688501" y="26257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A961C8-CAFC-5D62-A95B-EA81F6CE747D}"/>
              </a:ext>
            </a:extLst>
          </p:cNvPr>
          <p:cNvSpPr txBox="1"/>
          <p:nvPr/>
        </p:nvSpPr>
        <p:spPr>
          <a:xfrm>
            <a:off x="8688501" y="21205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AA8BB3-C5EF-3F77-86D2-DB1CCAEF36EC}"/>
              </a:ext>
            </a:extLst>
          </p:cNvPr>
          <p:cNvSpPr txBox="1"/>
          <p:nvPr/>
        </p:nvSpPr>
        <p:spPr>
          <a:xfrm>
            <a:off x="8688501" y="161532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6F1534-5A97-76BA-4D10-552F77E560B8}"/>
              </a:ext>
            </a:extLst>
          </p:cNvPr>
          <p:cNvSpPr txBox="1"/>
          <p:nvPr/>
        </p:nvSpPr>
        <p:spPr>
          <a:xfrm>
            <a:off x="9868540" y="5672166"/>
            <a:ext cx="6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D6B71C-8785-BDEE-BEA1-D103CF6951D1}"/>
              </a:ext>
            </a:extLst>
          </p:cNvPr>
          <p:cNvSpPr txBox="1"/>
          <p:nvPr/>
        </p:nvSpPr>
        <p:spPr>
          <a:xfrm>
            <a:off x="9849714" y="4246272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grpSp>
        <p:nvGrpSpPr>
          <p:cNvPr id="21" name="Group 33">
            <a:extLst>
              <a:ext uri="{FF2B5EF4-FFF2-40B4-BE49-F238E27FC236}">
                <a16:creationId xmlns:a16="http://schemas.microsoft.com/office/drawing/2014/main" id="{77DD1410-0E9B-3B5D-C548-891FB3449B78}"/>
              </a:ext>
            </a:extLst>
          </p:cNvPr>
          <p:cNvGrpSpPr>
            <a:grpSpLocks/>
          </p:cNvGrpSpPr>
          <p:nvPr/>
        </p:nvGrpSpPr>
        <p:grpSpPr bwMode="auto">
          <a:xfrm>
            <a:off x="9285834" y="4192837"/>
            <a:ext cx="609600" cy="1944699"/>
            <a:chOff x="0" y="0"/>
            <a:chExt cx="384" cy="3072"/>
          </a:xfrm>
        </p:grpSpPr>
        <p:sp>
          <p:nvSpPr>
            <p:cNvPr id="22" name="Rectangle 34">
              <a:extLst>
                <a:ext uri="{FF2B5EF4-FFF2-40B4-BE49-F238E27FC236}">
                  <a16:creationId xmlns:a16="http://schemas.microsoft.com/office/drawing/2014/main" id="{ED0F7942-A8BC-20A0-E327-00CCBDCED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Rectangle 35">
              <a:extLst>
                <a:ext uri="{FF2B5EF4-FFF2-40B4-BE49-F238E27FC236}">
                  <a16:creationId xmlns:a16="http://schemas.microsoft.com/office/drawing/2014/main" id="{3B811DFC-B92F-7CA1-6FD4-485CC4601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36">
              <a:extLst>
                <a:ext uri="{FF2B5EF4-FFF2-40B4-BE49-F238E27FC236}">
                  <a16:creationId xmlns:a16="http://schemas.microsoft.com/office/drawing/2014/main" id="{19400406-FD11-6DEA-2CD1-191108C0D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5" name="Rectangle 37">
              <a:extLst>
                <a:ext uri="{FF2B5EF4-FFF2-40B4-BE49-F238E27FC236}">
                  <a16:creationId xmlns:a16="http://schemas.microsoft.com/office/drawing/2014/main" id="{CB0D7C8C-041A-DC9B-629E-F0CCD357F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BB9DD8F-2242-59A2-BE32-39681AA7529C}"/>
              </a:ext>
            </a:extLst>
          </p:cNvPr>
          <p:cNvSpPr txBox="1"/>
          <p:nvPr/>
        </p:nvSpPr>
        <p:spPr>
          <a:xfrm>
            <a:off x="7264110" y="496059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C21416-D864-3591-BC43-7915457E3818}"/>
              </a:ext>
            </a:extLst>
          </p:cNvPr>
          <p:cNvSpPr txBox="1"/>
          <p:nvPr/>
        </p:nvSpPr>
        <p:spPr>
          <a:xfrm>
            <a:off x="8938569" y="570845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D21E6B-94B9-06E4-6B52-2FB442C51E81}"/>
              </a:ext>
            </a:extLst>
          </p:cNvPr>
          <p:cNvSpPr txBox="1"/>
          <p:nvPr/>
        </p:nvSpPr>
        <p:spPr>
          <a:xfrm>
            <a:off x="8688501" y="5203251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E7BC82-354E-E661-231F-1B084AAE406E}"/>
              </a:ext>
            </a:extLst>
          </p:cNvPr>
          <p:cNvSpPr txBox="1"/>
          <p:nvPr/>
        </p:nvSpPr>
        <p:spPr>
          <a:xfrm>
            <a:off x="8688501" y="46980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ED4791-16C8-D283-A94D-BFD275E68AC3}"/>
              </a:ext>
            </a:extLst>
          </p:cNvPr>
          <p:cNvSpPr txBox="1"/>
          <p:nvPr/>
        </p:nvSpPr>
        <p:spPr>
          <a:xfrm>
            <a:off x="8688501" y="41928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638461-6269-C6E9-6786-C46710975E86}"/>
              </a:ext>
            </a:extLst>
          </p:cNvPr>
          <p:cNvSpPr/>
          <p:nvPr/>
        </p:nvSpPr>
        <p:spPr>
          <a:xfrm>
            <a:off x="9276966" y="2587679"/>
            <a:ext cx="599643" cy="972349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26192F-D559-ADA3-4CCF-645E6A7E1269}"/>
              </a:ext>
            </a:extLst>
          </p:cNvPr>
          <p:cNvSpPr/>
          <p:nvPr/>
        </p:nvSpPr>
        <p:spPr>
          <a:xfrm>
            <a:off x="9296826" y="4202354"/>
            <a:ext cx="599643" cy="972349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9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/>
            <a:r>
              <a:rPr lang="en-US" altLang="zh-CN" dirty="0"/>
              <a:t>Question: Endianness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7154863" y="1057853"/>
            <a:ext cx="2504258" cy="5615166"/>
            <a:chOff x="5824055" y="1154163"/>
            <a:chExt cx="2504258" cy="5615166"/>
          </a:xfrm>
        </p:grpSpPr>
        <p:sp>
          <p:nvSpPr>
            <p:cNvPr id="63" name="Rectangle 6"/>
            <p:cNvSpPr>
              <a:spLocks/>
            </p:cNvSpPr>
            <p:nvPr/>
          </p:nvSpPr>
          <p:spPr bwMode="auto">
            <a:xfrm>
              <a:off x="6850351" y="1817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4" name="Rectangle 7"/>
            <p:cNvSpPr>
              <a:spLocks/>
            </p:cNvSpPr>
            <p:nvPr/>
          </p:nvSpPr>
          <p:spPr bwMode="auto">
            <a:xfrm>
              <a:off x="6850351" y="2122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5" name="Rectangle 8"/>
            <p:cNvSpPr>
              <a:spLocks/>
            </p:cNvSpPr>
            <p:nvPr/>
          </p:nvSpPr>
          <p:spPr bwMode="auto">
            <a:xfrm>
              <a:off x="6850351" y="2427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6" name="Rectangle 9"/>
            <p:cNvSpPr>
              <a:spLocks/>
            </p:cNvSpPr>
            <p:nvPr/>
          </p:nvSpPr>
          <p:spPr bwMode="auto">
            <a:xfrm>
              <a:off x="6850351" y="2732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7" name="Rectangle 10"/>
            <p:cNvSpPr>
              <a:spLocks/>
            </p:cNvSpPr>
            <p:nvPr/>
          </p:nvSpPr>
          <p:spPr bwMode="auto">
            <a:xfrm>
              <a:off x="6850351" y="3036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8" name="Rectangle 11"/>
            <p:cNvSpPr>
              <a:spLocks/>
            </p:cNvSpPr>
            <p:nvPr/>
          </p:nvSpPr>
          <p:spPr bwMode="auto">
            <a:xfrm>
              <a:off x="6850351" y="3341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9" name="Rectangle 12"/>
            <p:cNvSpPr>
              <a:spLocks/>
            </p:cNvSpPr>
            <p:nvPr/>
          </p:nvSpPr>
          <p:spPr bwMode="auto">
            <a:xfrm>
              <a:off x="6850351" y="3646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0" name="Rectangle 13"/>
            <p:cNvSpPr>
              <a:spLocks/>
            </p:cNvSpPr>
            <p:nvPr/>
          </p:nvSpPr>
          <p:spPr bwMode="auto">
            <a:xfrm>
              <a:off x="6850351" y="3951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1" name="Rectangle 14"/>
            <p:cNvSpPr>
              <a:spLocks/>
            </p:cNvSpPr>
            <p:nvPr/>
          </p:nvSpPr>
          <p:spPr bwMode="auto">
            <a:xfrm>
              <a:off x="6850351" y="4256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2" name="Rectangle 15"/>
            <p:cNvSpPr>
              <a:spLocks/>
            </p:cNvSpPr>
            <p:nvPr/>
          </p:nvSpPr>
          <p:spPr bwMode="auto">
            <a:xfrm>
              <a:off x="6850351" y="4560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3" name="Rectangle 16"/>
            <p:cNvSpPr>
              <a:spLocks/>
            </p:cNvSpPr>
            <p:nvPr/>
          </p:nvSpPr>
          <p:spPr bwMode="auto">
            <a:xfrm>
              <a:off x="6850351" y="4865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4" name="Rectangle 17"/>
            <p:cNvSpPr>
              <a:spLocks/>
            </p:cNvSpPr>
            <p:nvPr/>
          </p:nvSpPr>
          <p:spPr bwMode="auto">
            <a:xfrm>
              <a:off x="6850351" y="5170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12351" y="176245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12351" y="213897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12351" y="2452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12351" y="2757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12351" y="3062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12351" y="3367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12351" y="3671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12351" y="3976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12351" y="4281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12351" y="4586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12351" y="4865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12351" y="5170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grpSp>
          <p:nvGrpSpPr>
            <p:cNvPr id="87" name="Group 33"/>
            <p:cNvGrpSpPr>
              <a:grpSpLocks/>
            </p:cNvGrpSpPr>
            <p:nvPr/>
          </p:nvGrpSpPr>
          <p:grpSpPr bwMode="auto">
            <a:xfrm>
              <a:off x="5952643" y="1817738"/>
              <a:ext cx="609600" cy="4876800"/>
              <a:chOff x="0" y="0"/>
              <a:chExt cx="384" cy="3072"/>
            </a:xfrm>
          </p:grpSpPr>
          <p:sp>
            <p:nvSpPr>
              <p:cNvPr id="108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9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0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1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8" name="Rectangle 38"/>
            <p:cNvSpPr>
              <a:spLocks/>
            </p:cNvSpPr>
            <p:nvPr/>
          </p:nvSpPr>
          <p:spPr bwMode="auto">
            <a:xfrm>
              <a:off x="5824055" y="1154163"/>
              <a:ext cx="862013" cy="6604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89" name="Rectangle 39"/>
            <p:cNvSpPr>
              <a:spLocks/>
            </p:cNvSpPr>
            <p:nvPr/>
          </p:nvSpPr>
          <p:spPr bwMode="auto">
            <a:xfrm>
              <a:off x="6763038" y="1284338"/>
              <a:ext cx="7778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90" name="Rectangle 40"/>
            <p:cNvSpPr>
              <a:spLocks/>
            </p:cNvSpPr>
            <p:nvPr/>
          </p:nvSpPr>
          <p:spPr bwMode="auto">
            <a:xfrm>
              <a:off x="7588538" y="1284338"/>
              <a:ext cx="7397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91" name="Rectangle 41"/>
            <p:cNvSpPr>
              <a:spLocks/>
            </p:cNvSpPr>
            <p:nvPr/>
          </p:nvSpPr>
          <p:spPr bwMode="auto">
            <a:xfrm>
              <a:off x="6850351" y="5475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12351" y="5475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3" name="Rectangle 43"/>
            <p:cNvSpPr>
              <a:spLocks/>
            </p:cNvSpPr>
            <p:nvPr/>
          </p:nvSpPr>
          <p:spPr bwMode="auto">
            <a:xfrm>
              <a:off x="6850351" y="5780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12351" y="5780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5" name="Rectangle 45"/>
            <p:cNvSpPr>
              <a:spLocks/>
            </p:cNvSpPr>
            <p:nvPr/>
          </p:nvSpPr>
          <p:spPr bwMode="auto">
            <a:xfrm>
              <a:off x="6850351" y="6084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12351" y="6084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7" name="Rectangle 47"/>
            <p:cNvSpPr>
              <a:spLocks/>
            </p:cNvSpPr>
            <p:nvPr/>
          </p:nvSpPr>
          <p:spPr bwMode="auto">
            <a:xfrm>
              <a:off x="6850351" y="6389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12351" y="6389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sp>
          <p:nvSpPr>
            <p:cNvPr id="99" name="Rectangle 52"/>
            <p:cNvSpPr>
              <a:spLocks/>
            </p:cNvSpPr>
            <p:nvPr/>
          </p:nvSpPr>
          <p:spPr bwMode="auto">
            <a:xfrm>
              <a:off x="5952643" y="20463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0" name="Rectangle 53"/>
            <p:cNvSpPr>
              <a:spLocks/>
            </p:cNvSpPr>
            <p:nvPr/>
          </p:nvSpPr>
          <p:spPr bwMode="auto">
            <a:xfrm>
              <a:off x="5952643" y="32655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1" name="Rectangle 54"/>
            <p:cNvSpPr>
              <a:spLocks/>
            </p:cNvSpPr>
            <p:nvPr/>
          </p:nvSpPr>
          <p:spPr bwMode="auto">
            <a:xfrm>
              <a:off x="5952643" y="44847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2" name="Rectangle 55"/>
            <p:cNvSpPr>
              <a:spLocks/>
            </p:cNvSpPr>
            <p:nvPr/>
          </p:nvSpPr>
          <p:spPr bwMode="auto">
            <a:xfrm>
              <a:off x="5952643" y="57039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grpSp>
          <p:nvGrpSpPr>
            <p:cNvPr id="103" name="Group 56"/>
            <p:cNvGrpSpPr>
              <a:grpSpLocks/>
            </p:cNvGrpSpPr>
            <p:nvPr/>
          </p:nvGrpSpPr>
          <p:grpSpPr bwMode="auto">
            <a:xfrm>
              <a:off x="6208232" y="2470201"/>
              <a:ext cx="96838" cy="3954463"/>
              <a:chOff x="139" y="3"/>
              <a:chExt cx="61" cy="2491"/>
            </a:xfrm>
          </p:grpSpPr>
          <p:sp>
            <p:nvSpPr>
              <p:cNvPr id="104" name="Rectangle 59"/>
              <p:cNvSpPr>
                <a:spLocks/>
              </p:cNvSpPr>
              <p:nvPr/>
            </p:nvSpPr>
            <p:spPr bwMode="auto">
              <a:xfrm>
                <a:off x="139" y="3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5" name="Rectangle 62"/>
              <p:cNvSpPr>
                <a:spLocks/>
              </p:cNvSpPr>
              <p:nvPr/>
            </p:nvSpPr>
            <p:spPr bwMode="auto">
              <a:xfrm>
                <a:off x="139" y="771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6" name="Rectangle 65"/>
              <p:cNvSpPr>
                <a:spLocks/>
              </p:cNvSpPr>
              <p:nvPr/>
            </p:nvSpPr>
            <p:spPr bwMode="auto">
              <a:xfrm>
                <a:off x="139" y="1539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7" name="Rectangle 68"/>
              <p:cNvSpPr>
                <a:spLocks/>
              </p:cNvSpPr>
              <p:nvPr/>
            </p:nvSpPr>
            <p:spPr bwMode="auto">
              <a:xfrm>
                <a:off x="139" y="2307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</p:grpSp>
      </p:grpSp>
      <p:sp>
        <p:nvSpPr>
          <p:cNvPr id="10" name="TextBox 9"/>
          <p:cNvSpPr txBox="1"/>
          <p:nvPr/>
        </p:nvSpPr>
        <p:spPr>
          <a:xfrm>
            <a:off x="1768699" y="2826467"/>
            <a:ext cx="4151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C00000"/>
                </a:solidFill>
                <a:latin typeface="Gill Sans MT"/>
              </a:rPr>
              <a:t>What are the memory address of these four words?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985" y="2178629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89931" y="3407254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22130" y="456184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9076" y="5790468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429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/>
            <a:r>
              <a:rPr lang="en-US" dirty="0"/>
              <a:t>Answer</a:t>
            </a:r>
            <a:r>
              <a:rPr lang="en-US" altLang="zh-CN" dirty="0"/>
              <a:t>: Endianness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7154863" y="1057853"/>
            <a:ext cx="2504258" cy="5615166"/>
            <a:chOff x="5824055" y="1154163"/>
            <a:chExt cx="2504258" cy="5615166"/>
          </a:xfrm>
        </p:grpSpPr>
        <p:sp>
          <p:nvSpPr>
            <p:cNvPr id="63" name="Rectangle 6"/>
            <p:cNvSpPr>
              <a:spLocks/>
            </p:cNvSpPr>
            <p:nvPr/>
          </p:nvSpPr>
          <p:spPr bwMode="auto">
            <a:xfrm>
              <a:off x="6850351" y="1817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4" name="Rectangle 7"/>
            <p:cNvSpPr>
              <a:spLocks/>
            </p:cNvSpPr>
            <p:nvPr/>
          </p:nvSpPr>
          <p:spPr bwMode="auto">
            <a:xfrm>
              <a:off x="6850351" y="2122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5" name="Rectangle 8"/>
            <p:cNvSpPr>
              <a:spLocks/>
            </p:cNvSpPr>
            <p:nvPr/>
          </p:nvSpPr>
          <p:spPr bwMode="auto">
            <a:xfrm>
              <a:off x="6850351" y="2427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6" name="Rectangle 9"/>
            <p:cNvSpPr>
              <a:spLocks/>
            </p:cNvSpPr>
            <p:nvPr/>
          </p:nvSpPr>
          <p:spPr bwMode="auto">
            <a:xfrm>
              <a:off x="6850351" y="2732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7" name="Rectangle 10"/>
            <p:cNvSpPr>
              <a:spLocks/>
            </p:cNvSpPr>
            <p:nvPr/>
          </p:nvSpPr>
          <p:spPr bwMode="auto">
            <a:xfrm>
              <a:off x="6850351" y="3036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8" name="Rectangle 11"/>
            <p:cNvSpPr>
              <a:spLocks/>
            </p:cNvSpPr>
            <p:nvPr/>
          </p:nvSpPr>
          <p:spPr bwMode="auto">
            <a:xfrm>
              <a:off x="6850351" y="3341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9" name="Rectangle 12"/>
            <p:cNvSpPr>
              <a:spLocks/>
            </p:cNvSpPr>
            <p:nvPr/>
          </p:nvSpPr>
          <p:spPr bwMode="auto">
            <a:xfrm>
              <a:off x="6850351" y="3646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0" name="Rectangle 13"/>
            <p:cNvSpPr>
              <a:spLocks/>
            </p:cNvSpPr>
            <p:nvPr/>
          </p:nvSpPr>
          <p:spPr bwMode="auto">
            <a:xfrm>
              <a:off x="6850351" y="3951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1" name="Rectangle 14"/>
            <p:cNvSpPr>
              <a:spLocks/>
            </p:cNvSpPr>
            <p:nvPr/>
          </p:nvSpPr>
          <p:spPr bwMode="auto">
            <a:xfrm>
              <a:off x="6850351" y="4256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2" name="Rectangle 15"/>
            <p:cNvSpPr>
              <a:spLocks/>
            </p:cNvSpPr>
            <p:nvPr/>
          </p:nvSpPr>
          <p:spPr bwMode="auto">
            <a:xfrm>
              <a:off x="6850351" y="4560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3" name="Rectangle 16"/>
            <p:cNvSpPr>
              <a:spLocks/>
            </p:cNvSpPr>
            <p:nvPr/>
          </p:nvSpPr>
          <p:spPr bwMode="auto">
            <a:xfrm>
              <a:off x="6850351" y="4865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4" name="Rectangle 17"/>
            <p:cNvSpPr>
              <a:spLocks/>
            </p:cNvSpPr>
            <p:nvPr/>
          </p:nvSpPr>
          <p:spPr bwMode="auto">
            <a:xfrm>
              <a:off x="6850351" y="5170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12351" y="176245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12351" y="213897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12351" y="2452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12351" y="2757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12351" y="3062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12351" y="3367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12351" y="3671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12351" y="3976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12351" y="4281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12351" y="4586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12351" y="4865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12351" y="5170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grpSp>
          <p:nvGrpSpPr>
            <p:cNvPr id="87" name="Group 33"/>
            <p:cNvGrpSpPr>
              <a:grpSpLocks/>
            </p:cNvGrpSpPr>
            <p:nvPr/>
          </p:nvGrpSpPr>
          <p:grpSpPr bwMode="auto">
            <a:xfrm>
              <a:off x="5952643" y="1817738"/>
              <a:ext cx="609600" cy="4876800"/>
              <a:chOff x="0" y="0"/>
              <a:chExt cx="384" cy="3072"/>
            </a:xfrm>
          </p:grpSpPr>
          <p:sp>
            <p:nvSpPr>
              <p:cNvPr id="108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9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0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1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8" name="Rectangle 38"/>
            <p:cNvSpPr>
              <a:spLocks/>
            </p:cNvSpPr>
            <p:nvPr/>
          </p:nvSpPr>
          <p:spPr bwMode="auto">
            <a:xfrm>
              <a:off x="5824055" y="1154163"/>
              <a:ext cx="862013" cy="6604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89" name="Rectangle 39"/>
            <p:cNvSpPr>
              <a:spLocks/>
            </p:cNvSpPr>
            <p:nvPr/>
          </p:nvSpPr>
          <p:spPr bwMode="auto">
            <a:xfrm>
              <a:off x="6763038" y="1284338"/>
              <a:ext cx="7778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90" name="Rectangle 40"/>
            <p:cNvSpPr>
              <a:spLocks/>
            </p:cNvSpPr>
            <p:nvPr/>
          </p:nvSpPr>
          <p:spPr bwMode="auto">
            <a:xfrm>
              <a:off x="7588538" y="1284338"/>
              <a:ext cx="7397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91" name="Rectangle 41"/>
            <p:cNvSpPr>
              <a:spLocks/>
            </p:cNvSpPr>
            <p:nvPr/>
          </p:nvSpPr>
          <p:spPr bwMode="auto">
            <a:xfrm>
              <a:off x="6850351" y="5475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12351" y="5475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3" name="Rectangle 43"/>
            <p:cNvSpPr>
              <a:spLocks/>
            </p:cNvSpPr>
            <p:nvPr/>
          </p:nvSpPr>
          <p:spPr bwMode="auto">
            <a:xfrm>
              <a:off x="6850351" y="5780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12351" y="5780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5" name="Rectangle 45"/>
            <p:cNvSpPr>
              <a:spLocks/>
            </p:cNvSpPr>
            <p:nvPr/>
          </p:nvSpPr>
          <p:spPr bwMode="auto">
            <a:xfrm>
              <a:off x="6850351" y="6084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12351" y="6084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7" name="Rectangle 47"/>
            <p:cNvSpPr>
              <a:spLocks/>
            </p:cNvSpPr>
            <p:nvPr/>
          </p:nvSpPr>
          <p:spPr bwMode="auto">
            <a:xfrm>
              <a:off x="6850351" y="6389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12351" y="6389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sp>
          <p:nvSpPr>
            <p:cNvPr id="99" name="Rectangle 52"/>
            <p:cNvSpPr>
              <a:spLocks/>
            </p:cNvSpPr>
            <p:nvPr/>
          </p:nvSpPr>
          <p:spPr bwMode="auto">
            <a:xfrm>
              <a:off x="5952643" y="20463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00" b="1" dirty="0" err="1">
                  <a:solidFill>
                    <a:srgbClr val="C00000"/>
                  </a:solidFill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0x0012</a:t>
              </a:r>
              <a:endParaRPr lang="en-US" sz="1300" b="1" dirty="0">
                <a:solidFill>
                  <a:srgbClr val="C00000"/>
                </a:solidFill>
                <a:latin typeface="Arial Narrow" panose="020B0606020202030204" pitchFamily="34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0" name="Rectangle 53"/>
            <p:cNvSpPr>
              <a:spLocks/>
            </p:cNvSpPr>
            <p:nvPr/>
          </p:nvSpPr>
          <p:spPr bwMode="auto">
            <a:xfrm>
              <a:off x="5907817" y="3265538"/>
              <a:ext cx="733425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srgbClr val="C00000"/>
                  </a:solidFill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0x0008</a:t>
              </a:r>
              <a:endParaRPr lang="en-US" sz="14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1" name="Rectangle 54"/>
            <p:cNvSpPr>
              <a:spLocks/>
            </p:cNvSpPr>
            <p:nvPr/>
          </p:nvSpPr>
          <p:spPr bwMode="auto">
            <a:xfrm>
              <a:off x="5925747" y="4484738"/>
              <a:ext cx="688599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srgbClr val="C00000"/>
                  </a:solidFill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0x0004</a:t>
              </a:r>
              <a:endParaRPr lang="en-US" sz="14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2" name="Rectangle 55"/>
            <p:cNvSpPr>
              <a:spLocks/>
            </p:cNvSpPr>
            <p:nvPr/>
          </p:nvSpPr>
          <p:spPr bwMode="auto">
            <a:xfrm>
              <a:off x="5907818" y="5703938"/>
              <a:ext cx="733424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srgbClr val="C00000"/>
                  </a:solidFill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0x0000</a:t>
              </a:r>
              <a:endParaRPr lang="en-US" sz="14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grpSp>
          <p:nvGrpSpPr>
            <p:cNvPr id="103" name="Group 56"/>
            <p:cNvGrpSpPr>
              <a:grpSpLocks/>
            </p:cNvGrpSpPr>
            <p:nvPr/>
          </p:nvGrpSpPr>
          <p:grpSpPr bwMode="auto">
            <a:xfrm>
              <a:off x="6208232" y="2470201"/>
              <a:ext cx="96838" cy="3954463"/>
              <a:chOff x="139" y="3"/>
              <a:chExt cx="61" cy="2491"/>
            </a:xfrm>
          </p:grpSpPr>
          <p:sp>
            <p:nvSpPr>
              <p:cNvPr id="104" name="Rectangle 59"/>
              <p:cNvSpPr>
                <a:spLocks/>
              </p:cNvSpPr>
              <p:nvPr/>
            </p:nvSpPr>
            <p:spPr bwMode="auto">
              <a:xfrm>
                <a:off x="139" y="3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5" name="Rectangle 62"/>
              <p:cNvSpPr>
                <a:spLocks/>
              </p:cNvSpPr>
              <p:nvPr/>
            </p:nvSpPr>
            <p:spPr bwMode="auto">
              <a:xfrm>
                <a:off x="139" y="771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6" name="Rectangle 65"/>
              <p:cNvSpPr>
                <a:spLocks/>
              </p:cNvSpPr>
              <p:nvPr/>
            </p:nvSpPr>
            <p:spPr bwMode="auto">
              <a:xfrm>
                <a:off x="139" y="1539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7" name="Rectangle 68"/>
              <p:cNvSpPr>
                <a:spLocks/>
              </p:cNvSpPr>
              <p:nvPr/>
            </p:nvSpPr>
            <p:spPr bwMode="auto">
              <a:xfrm>
                <a:off x="139" y="2307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</p:grpSp>
      </p:grpSp>
      <p:sp>
        <p:nvSpPr>
          <p:cNvPr id="11" name="TextBox 10"/>
          <p:cNvSpPr txBox="1"/>
          <p:nvPr/>
        </p:nvSpPr>
        <p:spPr>
          <a:xfrm>
            <a:off x="6272985" y="2178629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89931" y="3407254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22130" y="456184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9076" y="5790468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768699" y="2826468"/>
            <a:ext cx="41512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C00000"/>
                </a:solidFill>
                <a:latin typeface="Gill Sans MT"/>
              </a:rPr>
              <a:t>What are the memory address of these four words?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C00000"/>
                </a:solidFill>
                <a:latin typeface="Gill Sans MT"/>
              </a:rPr>
              <a:t>Same as the address of the lowest-address </a:t>
            </a:r>
            <a:r>
              <a:rPr lang="en-US" sz="2000">
                <a:solidFill>
                  <a:srgbClr val="C00000"/>
                </a:solidFill>
                <a:latin typeface="Gill Sans MT"/>
              </a:rPr>
              <a:t>Byte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C00000"/>
                </a:solidFill>
                <a:latin typeface="Gill Sans MT"/>
              </a:rPr>
              <a:t>(</a:t>
            </a:r>
            <a:r>
              <a:rPr lang="en-US" sz="2000" dirty="0">
                <a:solidFill>
                  <a:srgbClr val="C00000"/>
                </a:solidFill>
                <a:latin typeface="Gill Sans MT"/>
              </a:rPr>
              <a:t>this is true </a:t>
            </a:r>
            <a:r>
              <a:rPr lang="en-US" sz="2000" dirty="0">
                <a:solidFill>
                  <a:srgbClr val="C00000"/>
                </a:solidFill>
              </a:rPr>
              <a:t>for either Little-Endian or Big-Endian ordering)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C00000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239709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altLang="zh-CN" dirty="0"/>
              <a:t>Question: Endianness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91267" y="2722693"/>
          <a:ext cx="47736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487701" y="305847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00439" y="3018266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3784" y="147197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Big-Endian ordering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701" y="54826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00439" y="5442436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3784" y="389614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Little-Endian ordering is</a:t>
            </a:r>
          </a:p>
        </p:txBody>
      </p:sp>
    </p:spTree>
    <p:extLst>
      <p:ext uri="{BB962C8B-B14F-4D97-AF65-F5344CB8AC3E}">
        <p14:creationId xmlns:p14="http://schemas.microsoft.com/office/powerpoint/2010/main" val="150281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altLang="zh-CN" dirty="0"/>
              <a:t>Answer: Endianness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91267" y="2722693"/>
          <a:ext cx="47736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487701" y="305847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00440" y="3018266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0xEE8C90A7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3784" y="147197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Big-Endian ordering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701" y="54826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00440" y="5442436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0xA7908CEE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3784" y="389614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Little-Endian ordering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53784" y="5982293"/>
            <a:ext cx="8829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>
                <a:solidFill>
                  <a:srgbClr val="0041FF"/>
                </a:solidFill>
                <a:latin typeface="Courier New" pitchFamily="49" charset="0"/>
              </a:rPr>
              <a:t>Endianness only specifies byte order, not bit order in a byte!</a:t>
            </a:r>
          </a:p>
        </p:txBody>
      </p:sp>
    </p:spTree>
    <p:extLst>
      <p:ext uri="{BB962C8B-B14F-4D97-AF65-F5344CB8AC3E}">
        <p14:creationId xmlns:p14="http://schemas.microsoft.com/office/powerpoint/2010/main" val="67090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2853</TotalTime>
  <Words>634</Words>
  <Application>Microsoft Office PowerPoint</Application>
  <PresentationFormat>Widescreen</PresentationFormat>
  <Paragraphs>177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0" baseType="lpstr">
      <vt:lpstr>Bookman Old Style (Headings)</vt:lpstr>
      <vt:lpstr>Gill Sans</vt:lpstr>
      <vt:lpstr>Gill Sans Light</vt:lpstr>
      <vt:lpstr>Arial Narrow</vt:lpstr>
      <vt:lpstr>Bookman Old Style</vt:lpstr>
      <vt:lpstr>Calibri</vt:lpstr>
      <vt:lpstr>Consolas</vt:lpstr>
      <vt:lpstr>Courier New</vt:lpstr>
      <vt:lpstr>Gill Sans MT</vt:lpstr>
      <vt:lpstr>Helvetica</vt:lpstr>
      <vt:lpstr>Wingdings</vt:lpstr>
      <vt:lpstr>Wingdings 3</vt:lpstr>
      <vt:lpstr>Origin</vt:lpstr>
      <vt:lpstr>Z. Gu</vt:lpstr>
      <vt:lpstr>Question: Endianness</vt:lpstr>
      <vt:lpstr>Answer: Endianness</vt:lpstr>
      <vt:lpstr>Question: Endianness</vt:lpstr>
      <vt:lpstr>Answer: Endianness</vt:lpstr>
      <vt:lpstr>Question: Endianness</vt:lpstr>
      <vt:lpstr>Answer: Endianness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300</cp:revision>
  <dcterms:created xsi:type="dcterms:W3CDTF">2013-02-03T05:36:57Z</dcterms:created>
  <dcterms:modified xsi:type="dcterms:W3CDTF">2025-12-30T22:44:20Z</dcterms:modified>
</cp:coreProperties>
</file>