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9"/>
  </p:notesMasterIdLst>
  <p:handoutMasterIdLst>
    <p:handoutMasterId r:id="rId40"/>
  </p:handoutMasterIdLst>
  <p:sldIdLst>
    <p:sldId id="256" r:id="rId3"/>
    <p:sldId id="278" r:id="rId4"/>
    <p:sldId id="279" r:id="rId5"/>
    <p:sldId id="261" r:id="rId6"/>
    <p:sldId id="263" r:id="rId7"/>
    <p:sldId id="280" r:id="rId8"/>
    <p:sldId id="260" r:id="rId9"/>
    <p:sldId id="264" r:id="rId10"/>
    <p:sldId id="268" r:id="rId11"/>
    <p:sldId id="762" r:id="rId12"/>
    <p:sldId id="816" r:id="rId13"/>
    <p:sldId id="817" r:id="rId14"/>
    <p:sldId id="367" r:id="rId15"/>
    <p:sldId id="374" r:id="rId16"/>
    <p:sldId id="760" r:id="rId17"/>
    <p:sldId id="759" r:id="rId18"/>
    <p:sldId id="371" r:id="rId19"/>
    <p:sldId id="369" r:id="rId20"/>
    <p:sldId id="257" r:id="rId21"/>
    <p:sldId id="258" r:id="rId22"/>
    <p:sldId id="763" r:id="rId23"/>
    <p:sldId id="764" r:id="rId24"/>
    <p:sldId id="281" r:id="rId25"/>
    <p:sldId id="282" r:id="rId26"/>
    <p:sldId id="818" r:id="rId27"/>
    <p:sldId id="819" r:id="rId28"/>
    <p:sldId id="820" r:id="rId29"/>
    <p:sldId id="821" r:id="rId30"/>
    <p:sldId id="283" r:id="rId31"/>
    <p:sldId id="286" r:id="rId32"/>
    <p:sldId id="353" r:id="rId33"/>
    <p:sldId id="354" r:id="rId34"/>
    <p:sldId id="757" r:id="rId35"/>
    <p:sldId id="751" r:id="rId36"/>
    <p:sldId id="752" r:id="rId37"/>
    <p:sldId id="756" r:id="rId38"/>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5CFAAB-C8C1-4DD9-9F50-5A543D35DA07}" v="3" dt="2026-04-23T15:02:55.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24"/>
    <p:restoredTop sz="87190" autoAdjust="0"/>
  </p:normalViewPr>
  <p:slideViewPr>
    <p:cSldViewPr>
      <p:cViewPr varScale="1">
        <p:scale>
          <a:sx n="72" d="100"/>
          <a:sy n="72" d="100"/>
        </p:scale>
        <p:origin x="1570" y="53"/>
      </p:cViewPr>
      <p:guideLst>
        <p:guide orient="horz" pos="2160"/>
        <p:guide pos="2880"/>
      </p:guideLst>
    </p:cSldViewPr>
  </p:slideViewPr>
  <p:notesTextViewPr>
    <p:cViewPr>
      <p:scale>
        <a:sx n="1" d="1"/>
        <a:sy n="1" d="1"/>
      </p:scale>
      <p:origin x="0" y="0"/>
    </p:cViewPr>
  </p:notesTextViewPr>
  <p:sorterViewPr>
    <p:cViewPr>
      <p:scale>
        <a:sx n="125" d="100"/>
        <a:sy n="125" d="100"/>
      </p:scale>
      <p:origin x="0" y="-807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 Id="rId4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23T15:02:55.362" v="4897"/>
      <pc:docMkLst>
        <pc:docMk/>
      </pc:docMkLst>
      <pc:sldChg chg="addSp delSp modSp add mod modTransition">
        <pc:chgData name="Zonghua Gu" userId="9a7e1853e1951ef5" providerId="LiveId" clId="{CF1FAA12-072C-4ED5-BA76-0FFFAEFDB88A}" dt="2026-04-23T14:52:38.870" v="4895" actId="20577"/>
        <pc:sldMkLst>
          <pc:docMk/>
          <pc:sldMk cId="436543705" sldId="817"/>
        </pc:sldMkLst>
        <pc:spChg chg="mod">
          <ac:chgData name="Zonghua Gu" userId="9a7e1853e1951ef5" providerId="LiveId" clId="{CF1FAA12-072C-4ED5-BA76-0FFFAEFDB88A}" dt="2026-04-23T14:52:38.870" v="4895" actId="20577"/>
          <ac:spMkLst>
            <pc:docMk/>
            <pc:sldMk cId="436543705" sldId="817"/>
            <ac:spMk id="11" creationId="{722AEABA-ECF0-EE34-D92D-0B9E8214F92E}"/>
          </ac:spMkLst>
        </pc:spChg>
      </pc:sldChg>
      <pc:sldChg chg="del">
        <pc:chgData name="Zonghua Gu" userId="9a7e1853e1951ef5" providerId="LiveId" clId="{CF1FAA12-072C-4ED5-BA76-0FFFAEFDB88A}" dt="2026-04-23T15:02:50.637" v="4896" actId="2696"/>
        <pc:sldMkLst>
          <pc:docMk/>
          <pc:sldMk cId="1829076800" sldId="818"/>
        </pc:sldMkLst>
      </pc:sldChg>
      <pc:sldChg chg="add">
        <pc:chgData name="Zonghua Gu" userId="9a7e1853e1951ef5" providerId="LiveId" clId="{CF1FAA12-072C-4ED5-BA76-0FFFAEFDB88A}" dt="2026-04-23T15:02:55.362" v="4897"/>
        <pc:sldMkLst>
          <pc:docMk/>
          <pc:sldMk cId="3372098353" sldId="818"/>
        </pc:sldMkLst>
      </pc:sldChg>
      <pc:sldChg chg="add">
        <pc:chgData name="Zonghua Gu" userId="9a7e1853e1951ef5" providerId="LiveId" clId="{CF1FAA12-072C-4ED5-BA76-0FFFAEFDB88A}" dt="2026-04-23T15:02:55.362" v="4897"/>
        <pc:sldMkLst>
          <pc:docMk/>
          <pc:sldMk cId="1011627645" sldId="819"/>
        </pc:sldMkLst>
      </pc:sldChg>
      <pc:sldChg chg="del">
        <pc:chgData name="Zonghua Gu" userId="9a7e1853e1951ef5" providerId="LiveId" clId="{CF1FAA12-072C-4ED5-BA76-0FFFAEFDB88A}" dt="2026-04-23T15:02:50.637" v="4896" actId="2696"/>
        <pc:sldMkLst>
          <pc:docMk/>
          <pc:sldMk cId="2287290416" sldId="819"/>
        </pc:sldMkLst>
      </pc:sldChg>
      <pc:sldChg chg="add">
        <pc:chgData name="Zonghua Gu" userId="9a7e1853e1951ef5" providerId="LiveId" clId="{CF1FAA12-072C-4ED5-BA76-0FFFAEFDB88A}" dt="2026-04-23T15:02:55.362" v="4897"/>
        <pc:sldMkLst>
          <pc:docMk/>
          <pc:sldMk cId="150664292" sldId="820"/>
        </pc:sldMkLst>
      </pc:sldChg>
      <pc:sldChg chg="del">
        <pc:chgData name="Zonghua Gu" userId="9a7e1853e1951ef5" providerId="LiveId" clId="{CF1FAA12-072C-4ED5-BA76-0FFFAEFDB88A}" dt="2026-04-23T15:02:50.637" v="4896" actId="2696"/>
        <pc:sldMkLst>
          <pc:docMk/>
          <pc:sldMk cId="1555766300" sldId="82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4/23/2026</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4/23/2026</a:t>
            </a:fld>
            <a:endParaRPr lang="en-US"/>
          </a:p>
        </p:txBody>
      </p:sp>
      <p:sp>
        <p:nvSpPr>
          <p:cNvPr id="4" name="Slide Image Placeholder 3"/>
          <p:cNvSpPr>
            <a:spLocks noGrp="1" noRot="1" noChangeAspect="1"/>
          </p:cNvSpPr>
          <p:nvPr>
            <p:ph type="sldImg" idx="2"/>
          </p:nvPr>
        </p:nvSpPr>
        <p:spPr>
          <a:xfrm>
            <a:off x="1165225" y="692150"/>
            <a:ext cx="46196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PUSH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SUB SP, SP,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 RN, [SP]</a:t>
            </a:r>
          </a:p>
          <a:p>
            <a:r>
              <a:rPr lang="en-US" sz="1200" b="0" i="0" kern="1200" dirty="0">
                <a:solidFill>
                  <a:schemeClr val="tx1"/>
                </a:solidFill>
                <a:effectLst/>
                <a:latin typeface="+mn-lt"/>
                <a:ea typeface="+mn-ea"/>
                <a:cs typeface="+mn-cs"/>
              </a:rPr>
              <a:t>POP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LDR RN, [SP]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ADD SP, #4</a:t>
            </a:r>
          </a:p>
          <a:p>
            <a:endParaRPr lang="en-US" dirty="0"/>
          </a:p>
          <a:p>
            <a:endParaRPr lang="en-US" dirty="0"/>
          </a:p>
          <a:p>
            <a:r>
              <a:rPr lang="en-US" dirty="0"/>
              <a:t>PUSH {R1, R2} == </a:t>
            </a:r>
          </a:p>
          <a:p>
            <a:r>
              <a:rPr lang="en-US" dirty="0"/>
              <a:t>    STMFD SP!, {R1, R2} ; or STMDB SP!, {R1, R2}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 is decremented before PUSH (pre-decrement), and incremented after POP (post-increment).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B2AF1D-1787-4F45-8D94-E7435950448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0235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program </a:t>
            </a:r>
            <a:r>
              <a:rPr lang="en-US" i="1" dirty="0"/>
              <a:t>does in practice</a:t>
            </a:r>
            <a:r>
              <a:rPr lang="en-US" dirty="0"/>
              <a:t>:</a:t>
            </a:r>
          </a:p>
          <a:p>
            <a:r>
              <a:rPr lang="en-US" dirty="0"/>
              <a:t>It starts with </a:t>
            </a:r>
            <a:r>
              <a:rPr lang="en-US" sz="1200" kern="1200" dirty="0">
                <a:solidFill>
                  <a:schemeClr val="tx1"/>
                </a:solidFill>
                <a:latin typeface="+mn-lt"/>
                <a:ea typeface="+mn-ea"/>
                <a:cs typeface="+mn-cs"/>
              </a:rPr>
              <a:t>x0 = 1</a:t>
            </a:r>
            <a:r>
              <a:rPr lang="en-US" dirty="0"/>
              <a:t>.</a:t>
            </a:r>
          </a:p>
          <a:p>
            <a:r>
              <a:rPr lang="en-US" dirty="0"/>
              <a:t>It loops, incrementing </a:t>
            </a:r>
            <a:r>
              <a:rPr lang="en-US" sz="1200" kern="1200" dirty="0">
                <a:solidFill>
                  <a:schemeClr val="tx1"/>
                </a:solidFill>
                <a:latin typeface="+mn-lt"/>
                <a:ea typeface="+mn-ea"/>
                <a:cs typeface="+mn-cs"/>
              </a:rPr>
              <a:t>x0</a:t>
            </a:r>
            <a:r>
              <a:rPr lang="en-US" dirty="0"/>
              <a:t> each time.</a:t>
            </a:r>
          </a:p>
          <a:p>
            <a:r>
              <a:rPr lang="en-US" dirty="0"/>
              <a:t>When </a:t>
            </a:r>
            <a:r>
              <a:rPr lang="en-US" sz="1200" kern="1200" dirty="0">
                <a:solidFill>
                  <a:schemeClr val="tx1"/>
                </a:solidFill>
                <a:latin typeface="+mn-lt"/>
                <a:ea typeface="+mn-ea"/>
                <a:cs typeface="+mn-cs"/>
              </a:rPr>
              <a:t>x0</a:t>
            </a:r>
            <a:r>
              <a:rPr lang="en-US" dirty="0"/>
              <a:t> reaches </a:t>
            </a:r>
            <a:r>
              <a:rPr lang="en-US" sz="1200" kern="1200" dirty="0">
                <a:solidFill>
                  <a:schemeClr val="tx1"/>
                </a:solidFill>
                <a:latin typeface="+mn-lt"/>
                <a:ea typeface="+mn-ea"/>
                <a:cs typeface="+mn-cs"/>
              </a:rPr>
              <a:t>5</a:t>
            </a:r>
            <a:r>
              <a:rPr lang="en-US" dirty="0"/>
              <a:t>, it calls </a:t>
            </a:r>
            <a:r>
              <a:rPr lang="en-US" sz="1200" kern="1200" dirty="0">
                <a:solidFill>
                  <a:schemeClr val="tx1"/>
                </a:solidFill>
                <a:latin typeface="+mn-lt"/>
                <a:ea typeface="+mn-ea"/>
                <a:cs typeface="+mn-cs"/>
              </a:rPr>
              <a:t>call</a:t>
            </a:r>
            <a:r>
              <a:rPr lang="en-US" dirty="0"/>
              <a:t>.</a:t>
            </a:r>
          </a:p>
          <a:p>
            <a:r>
              <a:rPr lang="en-US" sz="1200" kern="1200" dirty="0">
                <a:solidFill>
                  <a:schemeClr val="tx1"/>
                </a:solidFill>
                <a:latin typeface="+mn-lt"/>
                <a:ea typeface="+mn-ea"/>
                <a:cs typeface="+mn-cs"/>
              </a:rPr>
              <a:t>call</a:t>
            </a:r>
            <a:r>
              <a:rPr lang="en-US" dirty="0"/>
              <a:t> adds </a:t>
            </a:r>
            <a:r>
              <a:rPr lang="en-US" sz="1200" kern="1200" dirty="0">
                <a:solidFill>
                  <a:schemeClr val="tx1"/>
                </a:solidFill>
                <a:latin typeface="+mn-lt"/>
                <a:ea typeface="+mn-ea"/>
                <a:cs typeface="+mn-cs"/>
              </a:rPr>
              <a:t>255</a:t>
            </a:r>
            <a:r>
              <a:rPr lang="en-US" dirty="0"/>
              <a:t> to </a:t>
            </a:r>
            <a:r>
              <a:rPr lang="en-US" sz="1200" kern="1200" dirty="0">
                <a:solidFill>
                  <a:schemeClr val="tx1"/>
                </a:solidFill>
                <a:latin typeface="+mn-lt"/>
                <a:ea typeface="+mn-ea"/>
                <a:cs typeface="+mn-cs"/>
              </a:rPr>
              <a:t>x7</a:t>
            </a:r>
            <a:r>
              <a:rPr lang="en-US" dirty="0"/>
              <a:t> and resets </a:t>
            </a:r>
            <a:r>
              <a:rPr lang="en-US" sz="1200" kern="1200" dirty="0">
                <a:solidFill>
                  <a:schemeClr val="tx1"/>
                </a:solidFill>
                <a:latin typeface="+mn-lt"/>
                <a:ea typeface="+mn-ea"/>
                <a:cs typeface="+mn-cs"/>
              </a:rPr>
              <a:t>x0</a:t>
            </a:r>
            <a:r>
              <a:rPr lang="en-US" dirty="0"/>
              <a:t> to </a:t>
            </a:r>
            <a:r>
              <a:rPr lang="en-US" sz="1200" kern="1200" dirty="0">
                <a:solidFill>
                  <a:schemeClr val="tx1"/>
                </a:solidFill>
                <a:latin typeface="+mn-lt"/>
                <a:ea typeface="+mn-ea"/>
                <a:cs typeface="+mn-cs"/>
              </a:rPr>
              <a:t>1</a:t>
            </a:r>
            <a:r>
              <a:rPr lang="en-US" dirty="0"/>
              <a:t>.</a:t>
            </a:r>
          </a:p>
          <a:p>
            <a:r>
              <a:rPr lang="en-US" dirty="0"/>
              <a:t>Control returns to </a:t>
            </a:r>
            <a:r>
              <a:rPr lang="en-US" sz="1200" kern="1200" dirty="0">
                <a:solidFill>
                  <a:schemeClr val="tx1"/>
                </a:solidFill>
                <a:latin typeface="+mn-lt"/>
                <a:ea typeface="+mn-ea"/>
                <a:cs typeface="+mn-cs"/>
              </a:rPr>
              <a:t>main</a:t>
            </a:r>
            <a:r>
              <a:rPr lang="en-US" dirty="0"/>
              <a:t>, and the cycle repeats.</a:t>
            </a:r>
          </a:p>
          <a:p>
            <a:r>
              <a:rPr lang="en-US" dirty="0"/>
              <a:t>So the pattern goes like this:</a:t>
            </a:r>
          </a:p>
          <a:p>
            <a:pPr rtl="0"/>
            <a:r>
              <a:rPr lang="en-US" sz="1200" kern="1200" dirty="0">
                <a:solidFill>
                  <a:schemeClr val="tx1"/>
                </a:solidFill>
                <a:latin typeface="+mn-lt"/>
                <a:ea typeface="+mn-ea"/>
                <a:cs typeface="+mn-cs"/>
              </a:rPr>
              <a:t>x0: 1 → 2 → 3 → 4 → 5 → (call resets to 1)</a:t>
            </a:r>
          </a:p>
          <a:p>
            <a:pPr rtl="0"/>
            <a:r>
              <a:rPr lang="en-US" sz="1200" kern="1200" dirty="0">
                <a:solidFill>
                  <a:schemeClr val="tx1"/>
                </a:solidFill>
                <a:latin typeface="+mn-lt"/>
                <a:ea typeface="+mn-ea"/>
                <a:cs typeface="+mn-cs"/>
              </a:rPr>
              <a:t>x7: +255 each time x0 reaches 5</a:t>
            </a:r>
          </a:p>
        </p:txBody>
      </p:sp>
      <p:sp>
        <p:nvSpPr>
          <p:cNvPr id="4" name="Slide Number Placeholder 3"/>
          <p:cNvSpPr>
            <a:spLocks noGrp="1"/>
          </p:cNvSpPr>
          <p:nvPr>
            <p:ph type="sldNum" sz="quarter" idx="5"/>
          </p:nvPr>
        </p:nvSpPr>
        <p:spPr/>
        <p:txBody>
          <a:bodyPr/>
          <a:lstStyle/>
          <a:p>
            <a:fld id="{D46F4F04-2BB1-473A-9274-1B455085D21A}" type="slidenum">
              <a:rPr lang="en-US" smtClean="0"/>
              <a:pPr/>
              <a:t>21</a:t>
            </a:fld>
            <a:endParaRPr lang="en-US"/>
          </a:p>
        </p:txBody>
      </p:sp>
    </p:spTree>
    <p:extLst>
      <p:ext uri="{BB962C8B-B14F-4D97-AF65-F5344CB8AC3E}">
        <p14:creationId xmlns:p14="http://schemas.microsoft.com/office/powerpoint/2010/main" val="2433729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7C537-0F01-0DCA-2284-5B6554C4A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3AD5C-C850-531A-91F6-BCF6A2A1F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54735-AC8D-E1A4-D4D6-D561E501E42C}"/>
              </a:ext>
            </a:extLst>
          </p:cNvPr>
          <p:cNvSpPr>
            <a:spLocks noGrp="1"/>
          </p:cNvSpPr>
          <p:nvPr>
            <p:ph type="body" idx="1"/>
          </p:nvPr>
        </p:nvSpPr>
        <p:spPr/>
        <p:txBody>
          <a:bodyPr/>
          <a:lstStyle/>
          <a:p>
            <a:r>
              <a:rPr lang="en-US" dirty="0"/>
              <a:t>Here’s what the program </a:t>
            </a:r>
            <a:r>
              <a:rPr lang="en-US" i="1" dirty="0"/>
              <a:t>does in practice</a:t>
            </a:r>
            <a:r>
              <a:rPr lang="en-US" dirty="0"/>
              <a:t>:</a:t>
            </a:r>
          </a:p>
          <a:p>
            <a:r>
              <a:rPr lang="en-US" dirty="0"/>
              <a:t>It starts with </a:t>
            </a:r>
            <a:r>
              <a:rPr lang="en-US" sz="1200" kern="1200" dirty="0">
                <a:solidFill>
                  <a:schemeClr val="tx1"/>
                </a:solidFill>
                <a:latin typeface="+mn-lt"/>
                <a:ea typeface="+mn-ea"/>
                <a:cs typeface="+mn-cs"/>
              </a:rPr>
              <a:t>x0 = 1</a:t>
            </a:r>
            <a:r>
              <a:rPr lang="en-US" dirty="0"/>
              <a:t>.</a:t>
            </a:r>
          </a:p>
          <a:p>
            <a:r>
              <a:rPr lang="en-US" dirty="0"/>
              <a:t>It loops, incrementing </a:t>
            </a:r>
            <a:r>
              <a:rPr lang="en-US" sz="1200" kern="1200" dirty="0">
                <a:solidFill>
                  <a:schemeClr val="tx1"/>
                </a:solidFill>
                <a:latin typeface="+mn-lt"/>
                <a:ea typeface="+mn-ea"/>
                <a:cs typeface="+mn-cs"/>
              </a:rPr>
              <a:t>x0</a:t>
            </a:r>
            <a:r>
              <a:rPr lang="en-US" dirty="0"/>
              <a:t> each time.</a:t>
            </a:r>
          </a:p>
          <a:p>
            <a:r>
              <a:rPr lang="en-US" dirty="0"/>
              <a:t>When </a:t>
            </a:r>
            <a:r>
              <a:rPr lang="en-US" sz="1200" kern="1200" dirty="0">
                <a:solidFill>
                  <a:schemeClr val="tx1"/>
                </a:solidFill>
                <a:latin typeface="+mn-lt"/>
                <a:ea typeface="+mn-ea"/>
                <a:cs typeface="+mn-cs"/>
              </a:rPr>
              <a:t>x0</a:t>
            </a:r>
            <a:r>
              <a:rPr lang="en-US" dirty="0"/>
              <a:t> reaches </a:t>
            </a:r>
            <a:r>
              <a:rPr lang="en-US" sz="1200" kern="1200" dirty="0">
                <a:solidFill>
                  <a:schemeClr val="tx1"/>
                </a:solidFill>
                <a:latin typeface="+mn-lt"/>
                <a:ea typeface="+mn-ea"/>
                <a:cs typeface="+mn-cs"/>
              </a:rPr>
              <a:t>5</a:t>
            </a:r>
            <a:r>
              <a:rPr lang="en-US" dirty="0"/>
              <a:t>, it calls </a:t>
            </a:r>
            <a:r>
              <a:rPr lang="en-US" sz="1200" kern="1200" dirty="0">
                <a:solidFill>
                  <a:schemeClr val="tx1"/>
                </a:solidFill>
                <a:latin typeface="+mn-lt"/>
                <a:ea typeface="+mn-ea"/>
                <a:cs typeface="+mn-cs"/>
              </a:rPr>
              <a:t>call</a:t>
            </a:r>
            <a:r>
              <a:rPr lang="en-US" dirty="0"/>
              <a:t>.</a:t>
            </a:r>
          </a:p>
          <a:p>
            <a:r>
              <a:rPr lang="en-US" sz="1200" kern="1200" dirty="0">
                <a:solidFill>
                  <a:schemeClr val="tx1"/>
                </a:solidFill>
                <a:latin typeface="+mn-lt"/>
                <a:ea typeface="+mn-ea"/>
                <a:cs typeface="+mn-cs"/>
              </a:rPr>
              <a:t>call</a:t>
            </a:r>
            <a:r>
              <a:rPr lang="en-US" dirty="0"/>
              <a:t> adds </a:t>
            </a:r>
            <a:r>
              <a:rPr lang="en-US" sz="1200" kern="1200" dirty="0">
                <a:solidFill>
                  <a:schemeClr val="tx1"/>
                </a:solidFill>
                <a:latin typeface="+mn-lt"/>
                <a:ea typeface="+mn-ea"/>
                <a:cs typeface="+mn-cs"/>
              </a:rPr>
              <a:t>255</a:t>
            </a:r>
            <a:r>
              <a:rPr lang="en-US" dirty="0"/>
              <a:t> to </a:t>
            </a:r>
            <a:r>
              <a:rPr lang="en-US" sz="1200" kern="1200" dirty="0">
                <a:solidFill>
                  <a:schemeClr val="tx1"/>
                </a:solidFill>
                <a:latin typeface="+mn-lt"/>
                <a:ea typeface="+mn-ea"/>
                <a:cs typeface="+mn-cs"/>
              </a:rPr>
              <a:t>x7</a:t>
            </a:r>
            <a:r>
              <a:rPr lang="en-US" dirty="0"/>
              <a:t> and resets </a:t>
            </a:r>
            <a:r>
              <a:rPr lang="en-US" sz="1200" kern="1200" dirty="0">
                <a:solidFill>
                  <a:schemeClr val="tx1"/>
                </a:solidFill>
                <a:latin typeface="+mn-lt"/>
                <a:ea typeface="+mn-ea"/>
                <a:cs typeface="+mn-cs"/>
              </a:rPr>
              <a:t>x0</a:t>
            </a:r>
            <a:r>
              <a:rPr lang="en-US" dirty="0"/>
              <a:t> to </a:t>
            </a:r>
            <a:r>
              <a:rPr lang="en-US" sz="1200" kern="1200" dirty="0">
                <a:solidFill>
                  <a:schemeClr val="tx1"/>
                </a:solidFill>
                <a:latin typeface="+mn-lt"/>
                <a:ea typeface="+mn-ea"/>
                <a:cs typeface="+mn-cs"/>
              </a:rPr>
              <a:t>1</a:t>
            </a:r>
            <a:r>
              <a:rPr lang="en-US" dirty="0"/>
              <a:t>.</a:t>
            </a:r>
          </a:p>
          <a:p>
            <a:r>
              <a:rPr lang="en-US" dirty="0"/>
              <a:t>Control returns to </a:t>
            </a:r>
            <a:r>
              <a:rPr lang="en-US" sz="1200" kern="1200" dirty="0">
                <a:solidFill>
                  <a:schemeClr val="tx1"/>
                </a:solidFill>
                <a:latin typeface="+mn-lt"/>
                <a:ea typeface="+mn-ea"/>
                <a:cs typeface="+mn-cs"/>
              </a:rPr>
              <a:t>main</a:t>
            </a:r>
            <a:r>
              <a:rPr lang="en-US" dirty="0"/>
              <a:t>, and the cycle repeats.</a:t>
            </a:r>
          </a:p>
          <a:p>
            <a:r>
              <a:rPr lang="en-US" dirty="0"/>
              <a:t>So the pattern goes like this:</a:t>
            </a:r>
          </a:p>
          <a:p>
            <a:pPr rtl="0"/>
            <a:r>
              <a:rPr lang="en-US" sz="1200" kern="1200" dirty="0">
                <a:solidFill>
                  <a:schemeClr val="tx1"/>
                </a:solidFill>
                <a:latin typeface="+mn-lt"/>
                <a:ea typeface="+mn-ea"/>
                <a:cs typeface="+mn-cs"/>
              </a:rPr>
              <a:t>x0: 1 → 2 → 3 → 4 → 5 → (call resets to 1)</a:t>
            </a:r>
          </a:p>
          <a:p>
            <a:pPr rtl="0"/>
            <a:r>
              <a:rPr lang="en-US" sz="1200" kern="1200" dirty="0">
                <a:solidFill>
                  <a:schemeClr val="tx1"/>
                </a:solidFill>
                <a:latin typeface="+mn-lt"/>
                <a:ea typeface="+mn-ea"/>
                <a:cs typeface="+mn-cs"/>
              </a:rPr>
              <a:t>x7: +255 each time x0 reaches 5</a:t>
            </a:r>
          </a:p>
        </p:txBody>
      </p:sp>
      <p:sp>
        <p:nvSpPr>
          <p:cNvPr id="4" name="Slide Number Placeholder 3">
            <a:extLst>
              <a:ext uri="{FF2B5EF4-FFF2-40B4-BE49-F238E27FC236}">
                <a16:creationId xmlns:a16="http://schemas.microsoft.com/office/drawing/2014/main" id="{AFBE590A-94DE-53D9-D55F-DBC7B7287FF3}"/>
              </a:ext>
            </a:extLst>
          </p:cNvPr>
          <p:cNvSpPr>
            <a:spLocks noGrp="1"/>
          </p:cNvSpPr>
          <p:nvPr>
            <p:ph type="sldNum" sz="quarter" idx="5"/>
          </p:nvPr>
        </p:nvSpPr>
        <p:spPr/>
        <p:txBody>
          <a:bodyPr/>
          <a:lstStyle/>
          <a:p>
            <a:fld id="{D46F4F04-2BB1-473A-9274-1B455085D21A}" type="slidenum">
              <a:rPr lang="en-US" smtClean="0"/>
              <a:pPr/>
              <a:t>22</a:t>
            </a:fld>
            <a:endParaRPr lang="en-US"/>
          </a:p>
        </p:txBody>
      </p:sp>
    </p:spTree>
    <p:extLst>
      <p:ext uri="{BB962C8B-B14F-4D97-AF65-F5344CB8AC3E}">
        <p14:creationId xmlns:p14="http://schemas.microsoft.com/office/powerpoint/2010/main" val="1773790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int mystery2(int c)</a:t>
            </a:r>
          </a:p>
          <a:p>
            <a:r>
              <a:rPr lang="en-US" dirty="0"/>
              <a:t>    @ r0: c  -&gt; returns r0</a:t>
            </a:r>
          </a:p>
          <a:p>
            <a:endParaRPr lang="en-US" dirty="0"/>
          </a:p>
          <a:p>
            <a:r>
              <a:rPr lang="en-US" dirty="0"/>
              <a:t>    .text</a:t>
            </a:r>
          </a:p>
          <a:p>
            <a:r>
              <a:rPr lang="en-US" dirty="0"/>
              <a:t>    .align 2</a:t>
            </a:r>
          </a:p>
          <a:p>
            <a:r>
              <a:rPr lang="en-US" dirty="0"/>
              <a:t>    .global mystery2</a:t>
            </a:r>
          </a:p>
          <a:p>
            <a:r>
              <a:rPr lang="en-US" dirty="0"/>
              <a:t>mystery2:</a:t>
            </a:r>
          </a:p>
          <a:p>
            <a:r>
              <a:rPr lang="en-US" dirty="0"/>
              <a:t>    </a:t>
            </a:r>
            <a:r>
              <a:rPr lang="en-US" dirty="0" err="1"/>
              <a:t>cmp</a:t>
            </a:r>
            <a:r>
              <a:rPr lang="en-US" dirty="0"/>
              <a:t>     r0, #'A'                @ c ? 'A'</a:t>
            </a:r>
          </a:p>
          <a:p>
            <a:r>
              <a:rPr lang="en-US" dirty="0"/>
              <a:t>    </a:t>
            </a:r>
            <a:r>
              <a:rPr lang="en-US" dirty="0" err="1"/>
              <a:t>blt</a:t>
            </a:r>
            <a:r>
              <a:rPr lang="en-US" dirty="0"/>
              <a:t>     1f                      @ if c &lt; 'A' -&gt; skip add</a:t>
            </a:r>
          </a:p>
          <a:p>
            <a:r>
              <a:rPr lang="en-US" dirty="0"/>
              <a:t>    </a:t>
            </a:r>
            <a:r>
              <a:rPr lang="en-US" dirty="0" err="1"/>
              <a:t>cmp</a:t>
            </a:r>
            <a:r>
              <a:rPr lang="en-US" dirty="0"/>
              <a:t>     r0, #'Z'                @ c ? 'Z'</a:t>
            </a:r>
          </a:p>
          <a:p>
            <a:r>
              <a:rPr lang="en-US" dirty="0"/>
              <a:t>    </a:t>
            </a:r>
            <a:r>
              <a:rPr lang="en-US" dirty="0" err="1"/>
              <a:t>bgt</a:t>
            </a:r>
            <a:r>
              <a:rPr lang="en-US" dirty="0"/>
              <a:t>     1f                      @ if c &gt; 'Z' -&gt; skip add</a:t>
            </a:r>
          </a:p>
          <a:p>
            <a:r>
              <a:rPr lang="en-US" dirty="0"/>
              <a:t>    add     r0, r0, #('a' - 'A')    @ c += 32 (ASCII delta)</a:t>
            </a:r>
          </a:p>
          <a:p>
            <a:r>
              <a:rPr lang="en-US" dirty="0"/>
              <a:t>1:</a:t>
            </a:r>
          </a:p>
          <a:p>
            <a:r>
              <a:rPr lang="en-US" dirty="0"/>
              <a:t>    bx      </a:t>
            </a:r>
            <a:r>
              <a:rPr lang="en-US" dirty="0" err="1"/>
              <a:t>lr</a:t>
            </a:r>
            <a:r>
              <a:rPr lang="en-US" dirty="0"/>
              <a:t>                      @ return c (possibly adjusted)</a:t>
            </a:r>
          </a:p>
        </p:txBody>
      </p:sp>
      <p:sp>
        <p:nvSpPr>
          <p:cNvPr id="4" name="Slide Number Placeholder 3"/>
          <p:cNvSpPr>
            <a:spLocks noGrp="1"/>
          </p:cNvSpPr>
          <p:nvPr>
            <p:ph type="sldNum" sz="quarter" idx="5"/>
          </p:nvPr>
        </p:nvSpPr>
        <p:spPr/>
        <p:txBody>
          <a:bodyPr/>
          <a:lstStyle/>
          <a:p>
            <a:fld id="{D46F4F04-2BB1-473A-9274-1B455085D21A}" type="slidenum">
              <a:rPr lang="en-US" smtClean="0"/>
              <a:pPr/>
              <a:t>23</a:t>
            </a:fld>
            <a:endParaRPr lang="en-US"/>
          </a:p>
        </p:txBody>
      </p:sp>
    </p:spTree>
    <p:extLst>
      <p:ext uri="{BB962C8B-B14F-4D97-AF65-F5344CB8AC3E}">
        <p14:creationId xmlns:p14="http://schemas.microsoft.com/office/powerpoint/2010/main" val="388830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50F2D-B710-7C2B-F932-9CA73BD17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C7E1-AE8A-FAD0-696A-6424492F1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8D7F5-51E1-6057-8428-AB4BEC5BD9BA}"/>
              </a:ext>
            </a:extLst>
          </p:cNvPr>
          <p:cNvSpPr>
            <a:spLocks noGrp="1"/>
          </p:cNvSpPr>
          <p:nvPr>
            <p:ph type="body" idx="1"/>
          </p:nvPr>
        </p:nvSpPr>
        <p:spPr/>
        <p:txBody>
          <a:bodyPr/>
          <a:lstStyle/>
          <a:p>
            <a:r>
              <a:rPr lang="en-US" dirty="0"/>
              <a:t> @ int mystery2(int c)</a:t>
            </a:r>
          </a:p>
          <a:p>
            <a:r>
              <a:rPr lang="en-US" dirty="0"/>
              <a:t>    @ r0: c  -&gt; returns r0</a:t>
            </a:r>
          </a:p>
          <a:p>
            <a:endParaRPr lang="en-US" dirty="0"/>
          </a:p>
          <a:p>
            <a:r>
              <a:rPr lang="en-US" dirty="0"/>
              <a:t>    .text</a:t>
            </a:r>
          </a:p>
          <a:p>
            <a:r>
              <a:rPr lang="en-US" dirty="0"/>
              <a:t>    .align 2</a:t>
            </a:r>
          </a:p>
          <a:p>
            <a:r>
              <a:rPr lang="en-US" dirty="0"/>
              <a:t>    .global mystery2</a:t>
            </a:r>
          </a:p>
          <a:p>
            <a:r>
              <a:rPr lang="en-US" dirty="0"/>
              <a:t>mystery2:</a:t>
            </a:r>
          </a:p>
          <a:p>
            <a:r>
              <a:rPr lang="en-US" dirty="0"/>
              <a:t>    </a:t>
            </a:r>
            <a:r>
              <a:rPr lang="en-US" dirty="0" err="1"/>
              <a:t>cmp</a:t>
            </a:r>
            <a:r>
              <a:rPr lang="en-US" dirty="0"/>
              <a:t>     r0, #'A'                @ c ? 'A'</a:t>
            </a:r>
          </a:p>
          <a:p>
            <a:r>
              <a:rPr lang="en-US" dirty="0"/>
              <a:t>    </a:t>
            </a:r>
            <a:r>
              <a:rPr lang="en-US" dirty="0" err="1"/>
              <a:t>blt</a:t>
            </a:r>
            <a:r>
              <a:rPr lang="en-US" dirty="0"/>
              <a:t>     1f                      @ if c &lt; 'A' -&gt; skip add</a:t>
            </a:r>
          </a:p>
          <a:p>
            <a:r>
              <a:rPr lang="en-US" dirty="0"/>
              <a:t>    </a:t>
            </a:r>
            <a:r>
              <a:rPr lang="en-US" dirty="0" err="1"/>
              <a:t>cmp</a:t>
            </a:r>
            <a:r>
              <a:rPr lang="en-US" dirty="0"/>
              <a:t>     r0, #'Z'                @ c ? 'Z'</a:t>
            </a:r>
          </a:p>
          <a:p>
            <a:r>
              <a:rPr lang="en-US" dirty="0"/>
              <a:t>    </a:t>
            </a:r>
            <a:r>
              <a:rPr lang="en-US" dirty="0" err="1"/>
              <a:t>bgt</a:t>
            </a:r>
            <a:r>
              <a:rPr lang="en-US" dirty="0"/>
              <a:t>     1f                      @ if c &gt; 'Z' -&gt; skip add</a:t>
            </a:r>
          </a:p>
          <a:p>
            <a:r>
              <a:rPr lang="en-US" dirty="0"/>
              <a:t>    add     r0, r0, #('a' - 'A')    @ c += 32 (ASCII delta)</a:t>
            </a:r>
          </a:p>
          <a:p>
            <a:r>
              <a:rPr lang="en-US" dirty="0"/>
              <a:t>1:</a:t>
            </a:r>
          </a:p>
          <a:p>
            <a:r>
              <a:rPr lang="en-US" dirty="0"/>
              <a:t>    bx      </a:t>
            </a:r>
            <a:r>
              <a:rPr lang="en-US" dirty="0" err="1"/>
              <a:t>lr</a:t>
            </a:r>
            <a:r>
              <a:rPr lang="en-US" dirty="0"/>
              <a:t>                      @ return c (possibly adjusted)</a:t>
            </a:r>
          </a:p>
        </p:txBody>
      </p:sp>
      <p:sp>
        <p:nvSpPr>
          <p:cNvPr id="4" name="Slide Number Placeholder 3">
            <a:extLst>
              <a:ext uri="{FF2B5EF4-FFF2-40B4-BE49-F238E27FC236}">
                <a16:creationId xmlns:a16="http://schemas.microsoft.com/office/drawing/2014/main" id="{AA788E4B-BC69-55C9-4689-173165A5E7DA}"/>
              </a:ext>
            </a:extLst>
          </p:cNvPr>
          <p:cNvSpPr>
            <a:spLocks noGrp="1"/>
          </p:cNvSpPr>
          <p:nvPr>
            <p:ph type="sldNum" sz="quarter" idx="5"/>
          </p:nvPr>
        </p:nvSpPr>
        <p:spPr/>
        <p:txBody>
          <a:bodyPr/>
          <a:lstStyle/>
          <a:p>
            <a:fld id="{D46F4F04-2BB1-473A-9274-1B455085D21A}" type="slidenum">
              <a:rPr lang="en-US" smtClean="0"/>
              <a:pPr/>
              <a:t>24</a:t>
            </a:fld>
            <a:endParaRPr lang="en-US"/>
          </a:p>
        </p:txBody>
      </p:sp>
    </p:spTree>
    <p:extLst>
      <p:ext uri="{BB962C8B-B14F-4D97-AF65-F5344CB8AC3E}">
        <p14:creationId xmlns:p14="http://schemas.microsoft.com/office/powerpoint/2010/main" val="1972380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Straight-line with conditional execution</a:t>
            </a:r>
          </a:p>
          <a:p>
            <a:r>
              <a:rPr lang="en-US" sz="1200" dirty="0"/>
              <a:t>foo:</a:t>
            </a:r>
            <a:br>
              <a:rPr lang="en-US" sz="1200" dirty="0"/>
            </a:br>
            <a:r>
              <a:rPr lang="en-US" sz="1200" dirty="0"/>
              <a:t>    ADD     r2, r0, r1      ; r2 = x + y</a:t>
            </a:r>
            <a:br>
              <a:rPr lang="en-US" sz="1200" dirty="0"/>
            </a:br>
            <a:r>
              <a:rPr lang="en-US" sz="1200" dirty="0"/>
              <a:t>    CMP     r2, #0          ; sets N,Z,V,C for signed compare to 0</a:t>
            </a:r>
            <a:br>
              <a:rPr lang="en-US" sz="1200" dirty="0"/>
            </a:br>
            <a:r>
              <a:rPr lang="en-US" sz="1200" dirty="0"/>
              <a:t>    MOVLT   r0, #0        ; if (</a:t>
            </a:r>
            <a:r>
              <a:rPr lang="en-US" sz="1200" dirty="0" err="1"/>
              <a:t>x+y</a:t>
            </a:r>
            <a:r>
              <a:rPr lang="en-US" sz="1200" dirty="0"/>
              <a:t>) &lt; 0 -&gt; r0 = 0</a:t>
            </a:r>
            <a:br>
              <a:rPr lang="en-US" sz="1200" dirty="0"/>
            </a:br>
            <a:r>
              <a:rPr lang="en-US" sz="1200" dirty="0"/>
              <a:t>    MOVGE   r0, #1       ; else r0 = 1</a:t>
            </a:r>
            <a:br>
              <a:rPr lang="en-US" sz="1200" dirty="0"/>
            </a:br>
            <a:r>
              <a:rPr lang="en-US" sz="1200" dirty="0"/>
              <a:t>    BX      </a:t>
            </a:r>
            <a:r>
              <a:rPr lang="en-US" sz="1200" dirty="0" err="1"/>
              <a:t>lr</a:t>
            </a:r>
            <a:endParaRPr lang="en-US" sz="1200" dirty="0"/>
          </a:p>
          <a:p>
            <a:pPr lvl="0"/>
            <a:endParaRPr lang="en-US" sz="1200" kern="1200" dirty="0">
              <a:solidFill>
                <a:schemeClr val="tx1"/>
              </a:solidFill>
              <a:effectLst/>
              <a:latin typeface="+mn-lt"/>
              <a:ea typeface="+mn-ea"/>
              <a:cs typeface="+mn-cs"/>
            </a:endParaRPr>
          </a:p>
          <a:p>
            <a:r>
              <a:rPr lang="en-US" sz="1200" dirty="0"/>
              <a:t>Conditional branch to label</a:t>
            </a:r>
          </a:p>
          <a:p>
            <a:r>
              <a:rPr lang="en-US" sz="1200" dirty="0"/>
              <a:t>foo:</a:t>
            </a:r>
            <a:br>
              <a:rPr lang="en-US" sz="1200" dirty="0"/>
            </a:br>
            <a:r>
              <a:rPr lang="en-US" sz="1200" dirty="0"/>
              <a:t>    ADD     r2, r0, r1</a:t>
            </a:r>
            <a:br>
              <a:rPr lang="en-US" sz="1200" dirty="0"/>
            </a:br>
            <a:r>
              <a:rPr lang="en-US" sz="1200" dirty="0"/>
              <a:t>    CMP     r2, #0</a:t>
            </a:r>
            <a:br>
              <a:rPr lang="en-US" sz="1200" dirty="0"/>
            </a:br>
            <a:r>
              <a:rPr lang="en-US" sz="1200" dirty="0"/>
              <a:t>    BLT     .</a:t>
            </a:r>
            <a:r>
              <a:rPr lang="en-US" sz="1200" dirty="0" err="1"/>
              <a:t>Lneg</a:t>
            </a:r>
            <a:br>
              <a:rPr lang="en-US" sz="1200" dirty="0"/>
            </a:br>
            <a:r>
              <a:rPr lang="en-US" sz="1200" dirty="0"/>
              <a:t>    MOV     r0, #1</a:t>
            </a:r>
            <a:br>
              <a:rPr lang="en-US" sz="1200" dirty="0"/>
            </a:br>
            <a:r>
              <a:rPr lang="en-US" sz="1200" dirty="0"/>
              <a:t>    BX      </a:t>
            </a:r>
            <a:r>
              <a:rPr lang="en-US" sz="1200" dirty="0" err="1"/>
              <a:t>lr</a:t>
            </a:r>
            <a:br>
              <a:rPr lang="en-US" sz="1200" dirty="0"/>
            </a:br>
            <a:r>
              <a:rPr lang="en-US" sz="1200" dirty="0"/>
              <a:t>.</a:t>
            </a:r>
            <a:r>
              <a:rPr lang="en-US" sz="1200" dirty="0" err="1"/>
              <a:t>Lneg</a:t>
            </a:r>
            <a:r>
              <a:rPr lang="en-US" sz="1200" dirty="0"/>
              <a:t>:</a:t>
            </a:r>
            <a:br>
              <a:rPr lang="en-US" sz="1200" dirty="0"/>
            </a:br>
            <a:r>
              <a:rPr lang="en-US" sz="1200" dirty="0"/>
              <a:t>    MOV     r0, #0</a:t>
            </a:r>
            <a:br>
              <a:rPr lang="en-US" sz="1200" dirty="0"/>
            </a:br>
            <a:r>
              <a:rPr lang="en-US" sz="1200" dirty="0"/>
              <a:t>    BX      </a:t>
            </a:r>
            <a:r>
              <a:rPr lang="en-US" sz="1200" dirty="0" err="1"/>
              <a:t>lr</a:t>
            </a:r>
            <a:endParaRPr lang="pt-BR" sz="1200" dirty="0"/>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Calling convention: inputs </a:t>
            </a:r>
            <a:r>
              <a:rPr lang="en-US" sz="1200" kern="1200" dirty="0" err="1">
                <a:solidFill>
                  <a:schemeClr val="tx1"/>
                </a:solidFill>
                <a:effectLst/>
                <a:latin typeface="+mn-lt"/>
                <a:ea typeface="+mn-ea"/>
                <a:cs typeface="+mn-cs"/>
              </a:rPr>
              <a:t>x,y</a:t>
            </a:r>
            <a:r>
              <a:rPr lang="en-US" sz="1200" kern="1200" dirty="0">
                <a:solidFill>
                  <a:schemeClr val="tx1"/>
                </a:solidFill>
                <a:effectLst/>
                <a:latin typeface="+mn-lt"/>
                <a:ea typeface="+mn-ea"/>
                <a:cs typeface="+mn-cs"/>
              </a:rPr>
              <a:t> in r0,r1; result in r0; </a:t>
            </a:r>
            <a:r>
              <a:rPr lang="en-US" sz="1200" kern="1200" dirty="0" err="1">
                <a:solidFill>
                  <a:schemeClr val="tx1"/>
                </a:solidFill>
                <a:effectLst/>
                <a:latin typeface="+mn-lt"/>
                <a:ea typeface="+mn-ea"/>
                <a:cs typeface="+mn-cs"/>
              </a:rPr>
              <a:t>lr</a:t>
            </a:r>
            <a:r>
              <a:rPr lang="en-US" sz="1200" kern="1200" dirty="0">
                <a:solidFill>
                  <a:schemeClr val="tx1"/>
                </a:solidFill>
                <a:effectLst/>
                <a:latin typeface="+mn-lt"/>
                <a:ea typeface="+mn-ea"/>
                <a:cs typeface="+mn-cs"/>
              </a:rPr>
              <a:t> holds return address; no callee-saved registers are clobbered.</a:t>
            </a:r>
          </a:p>
          <a:p>
            <a:pPr lvl="0"/>
            <a:r>
              <a:rPr lang="en-US" sz="1200" kern="1200" dirty="0">
                <a:solidFill>
                  <a:schemeClr val="tx1"/>
                </a:solidFill>
                <a:effectLst/>
                <a:latin typeface="+mn-lt"/>
                <a:ea typeface="+mn-ea"/>
                <a:cs typeface="+mn-cs"/>
              </a:rPr>
              <a:t>Choose MI/PL (based on N) or LT/GE (signed) consistently; both are correct when flags come from the sum or a compare to zero.</a:t>
            </a:r>
          </a:p>
          <a:p>
            <a:pPr lvl="0"/>
            <a:r>
              <a:rPr lang="en-US" sz="1200" kern="1200" dirty="0">
                <a:solidFill>
                  <a:schemeClr val="tx1"/>
                </a:solidFill>
                <a:effectLst/>
                <a:latin typeface="+mn-lt"/>
                <a:ea typeface="+mn-ea"/>
                <a:cs typeface="+mn-cs"/>
              </a:rPr>
              <a:t>For Thumb-2, prefer conditional branches or the IT block variant if permitted by assembler; for classic ARM state, full conditional MOVs avoid branches.</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30</a:t>
            </a:fld>
            <a:endParaRPr lang="en-US"/>
          </a:p>
        </p:txBody>
      </p:sp>
    </p:spTree>
    <p:extLst>
      <p:ext uri="{BB962C8B-B14F-4D97-AF65-F5344CB8AC3E}">
        <p14:creationId xmlns:p14="http://schemas.microsoft.com/office/powerpoint/2010/main" val="29710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exams, I may provide most of the code and let you fill in the blanks.)</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31</a:t>
            </a:fld>
            <a:endParaRPr lang="en-US"/>
          </a:p>
        </p:txBody>
      </p:sp>
    </p:spTree>
    <p:extLst>
      <p:ext uri="{BB962C8B-B14F-4D97-AF65-F5344CB8AC3E}">
        <p14:creationId xmlns:p14="http://schemas.microsoft.com/office/powerpoint/2010/main" val="2816329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function returns an int16_t, but the assembly returns the full 32-bit sum in r0.  Caller will see a 32-bit value; the correct behavior when the C function is declared to return int16_t is to return the 16-bit value </a:t>
            </a:r>
            <a:r>
              <a:rPr lang="en-US" i="1" dirty="0"/>
              <a:t>sign-extended</a:t>
            </a:r>
            <a:r>
              <a:rPr lang="en-US" dirty="0"/>
              <a:t> to 32 bits. </a:t>
            </a:r>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35</a:t>
            </a:fld>
            <a:endParaRPr lang="en-US"/>
          </a:p>
        </p:txBody>
      </p:sp>
    </p:spTree>
    <p:extLst>
      <p:ext uri="{BB962C8B-B14F-4D97-AF65-F5344CB8AC3E}">
        <p14:creationId xmlns:p14="http://schemas.microsoft.com/office/powerpoint/2010/main" val="227472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7966D375-7FE4-4861-9EA3-8493E3E81506}" type="datetime1">
              <a:rPr lang="en-US" smtClean="0"/>
              <a:t>4/23/2026</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4/23/2026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26D84756-85D3-4017-90AB-B482945A0CB0}" type="datetime1">
              <a:rPr lang="en-US" smtClean="0"/>
              <a:t>4/23/2026</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4/23/2026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4/23/2026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4/23/2026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DFAD6F50-E977-4162-8DF4-4DA1E6F19796}" type="datetime1">
              <a:rPr lang="en-US" smtClean="0"/>
              <a:pPr eaLnBrk="1" latinLnBrk="0" hangingPunct="1"/>
              <a:t>4/23/2026</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79645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4/23/2026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53371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9B206E1-2545-4E30-92FD-1E4787463A36}" type="datetime1">
              <a:rPr lang="en-US" smtClean="0"/>
              <a:pPr eaLnBrk="1" latinLnBrk="0" hangingPunct="1"/>
              <a:t>4/23/2026</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83388857"/>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82413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4/23/2026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107988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4/23/2026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2264810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4/23/2026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234178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700693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4/23/2026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8677958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0337063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4/23/2026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33850071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4/23/2026</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A1DC5B07-A42E-4D40-A069-384595D56939}" type="datetime1">
              <a:rPr lang="en-US" smtClean="0"/>
              <a:pPr eaLnBrk="1" latinLnBrk="0" hangingPunct="1"/>
              <a:t>4/23/2026</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6195649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1828800" y="337547"/>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018008" y="1828800"/>
            <a:ext cx="2251387" cy="1200329"/>
          </a:xfrm>
          <a:prstGeom prst="rect">
            <a:avLst/>
          </a:prstGeom>
          <a:noFill/>
        </p:spPr>
        <p:txBody>
          <a:bodyPr wrap="none" rtlCol="0">
            <a:spAutoFit/>
          </a:bodyPr>
          <a:lstStyle/>
          <a:p>
            <a:pPr algn="r"/>
            <a:r>
              <a:rPr lang="en-US" sz="2400" b="1" dirty="0">
                <a:solidFill>
                  <a:srgbClr val="C00000"/>
                </a:solidFill>
              </a:rPr>
              <a:t>Chapter 8</a:t>
            </a:r>
          </a:p>
          <a:p>
            <a:pPr algn="r"/>
            <a:r>
              <a:rPr lang="en-US" sz="2400" b="1" dirty="0">
                <a:solidFill>
                  <a:srgbClr val="C00000"/>
                </a:solidFill>
              </a:rPr>
              <a:t>Subroutines</a:t>
            </a:r>
          </a:p>
          <a:p>
            <a:pPr algn="r"/>
            <a:r>
              <a:rPr lang="en-US" altLang="zh-CN" sz="2400" b="1" dirty="0">
                <a:solidFill>
                  <a:srgbClr val="C00000"/>
                </a:solidFill>
              </a:rPr>
              <a:t>Exercises ANS</a:t>
            </a:r>
            <a:endParaRPr lang="en-US" sz="2400" b="1" dirty="0">
              <a:solidFill>
                <a:srgbClr val="C00000"/>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457200" y="1838730"/>
            <a:ext cx="8229600" cy="2400300"/>
          </a:xfrm>
        </p:spPr>
        <p:txBody>
          <a:bodyPr/>
          <a:lstStyle/>
          <a:p>
            <a:pPr>
              <a:buNone/>
            </a:pPr>
            <a:r>
              <a:rPr lang="en-GB" sz="2100" b="1" dirty="0">
                <a:solidFill>
                  <a:srgbClr val="FF0000"/>
                </a:solidFill>
                <a:latin typeface="Consolas" panose="020B0609020204030204" pitchFamily="49" charset="0"/>
                <a:cs typeface="Consolas" panose="020B0609020204030204" pitchFamily="49" charset="0"/>
              </a:rPr>
              <a:t>PUSH</a:t>
            </a:r>
            <a:r>
              <a:rPr lang="en-GB" sz="2100" dirty="0">
                <a:solidFill>
                  <a:srgbClr val="FF0000"/>
                </a:solidFill>
                <a:latin typeface="Consolas" panose="020B0609020204030204" pitchFamily="49" charset="0"/>
                <a:cs typeface="Consolas" panose="020B0609020204030204" pitchFamily="49" charset="0"/>
              </a:rPr>
              <a:t> </a:t>
            </a:r>
            <a:r>
              <a:rPr lang="en-GB" sz="2100" dirty="0">
                <a:latin typeface="Consolas" panose="020B0609020204030204" pitchFamily="49" charset="0"/>
                <a:cs typeface="Consolas" panose="020B0609020204030204" pitchFamily="49" charset="0"/>
              </a:rPr>
              <a:t>{Rd} == STMDB SP!, {Rd} == STMFD SP!, {Rd}  </a:t>
            </a:r>
          </a:p>
          <a:p>
            <a:pPr lvl="1"/>
            <a:r>
              <a:rPr lang="en-GB" sz="1800" dirty="0">
                <a:latin typeface="Consolas" panose="020B0609020204030204" pitchFamily="49" charset="0"/>
                <a:cs typeface="Consolas" panose="020B0609020204030204" pitchFamily="49" charset="0"/>
              </a:rPr>
              <a:t>SUB SP, SP, #4 @ SP = SP-4  (</a:t>
            </a:r>
            <a:r>
              <a:rPr lang="en-GB" sz="1800" dirty="0">
                <a:latin typeface="Cambria Math"/>
                <a:ea typeface="Cambria Math"/>
                <a:cs typeface="Consolas" panose="020B0609020204030204" pitchFamily="49" charset="0"/>
              </a:rPr>
              <a:t>descending stack)</a:t>
            </a:r>
            <a:endParaRPr lang="en-GB" sz="1800" dirty="0">
              <a:latin typeface="Consolas" panose="020B0609020204030204" pitchFamily="49" charset="0"/>
              <a:cs typeface="Consolas" panose="020B0609020204030204" pitchFamily="49" charset="0"/>
            </a:endParaRPr>
          </a:p>
          <a:p>
            <a:pPr lvl="1"/>
            <a:r>
              <a:rPr lang="en-GB" sz="1800" dirty="0">
                <a:latin typeface="Consolas" panose="020B0609020204030204" pitchFamily="49" charset="0"/>
                <a:cs typeface="Consolas" panose="020B0609020204030204" pitchFamily="49" charset="0"/>
              </a:rPr>
              <a:t>STR Rd, [SP]   @ (*SP) = Rd</a:t>
            </a:r>
            <a:r>
              <a:rPr lang="en-GB" sz="1800" dirty="0">
                <a:latin typeface="Cambria Math"/>
                <a:ea typeface="Cambria Math"/>
                <a:cs typeface="Consolas" panose="020B0609020204030204" pitchFamily="49" charset="0"/>
              </a:rPr>
              <a:t>   (full stack)</a:t>
            </a:r>
          </a:p>
          <a:p>
            <a:pPr marL="0" indent="0">
              <a:buNone/>
            </a:pPr>
            <a:endParaRPr lang="en-GB" sz="2025" i="1" dirty="0">
              <a:latin typeface="Consolas" panose="020B0609020204030204" pitchFamily="49" charset="0"/>
              <a:cs typeface="Consolas" panose="020B0609020204030204" pitchFamily="49" charset="0"/>
            </a:endParaRPr>
          </a:p>
          <a:p>
            <a:pPr marL="0" indent="0">
              <a:buNone/>
            </a:pPr>
            <a:r>
              <a:rPr lang="en-GB" sz="2025" dirty="0">
                <a:cs typeface="Consolas" panose="020B0609020204030204" pitchFamily="49" charset="0"/>
              </a:rPr>
              <a:t>Push multiple registers</a:t>
            </a:r>
          </a:p>
          <a:p>
            <a:pPr marL="0" indent="0">
              <a:buNone/>
            </a:pPr>
            <a:endParaRPr lang="en-GB" sz="2100" dirty="0"/>
          </a:p>
          <a:p>
            <a:endParaRPr lang="en-GB" sz="1800" dirty="0"/>
          </a:p>
          <a:p>
            <a:pPr>
              <a:buNone/>
            </a:pPr>
            <a:endParaRPr lang="en-GB" dirty="0"/>
          </a:p>
        </p:txBody>
      </p:sp>
      <p:sp>
        <p:nvSpPr>
          <p:cNvPr id="4" name="Slide Number Placeholder 3"/>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2</a:t>
            </a:fld>
            <a:endParaRPr lang="en-US" dirty="0">
              <a:solidFill>
                <a:srgbClr val="1F497D"/>
              </a:solidFill>
              <a:latin typeface="Gill Sans MT"/>
            </a:endParaRPr>
          </a:p>
        </p:txBody>
      </p:sp>
      <p:sp>
        <p:nvSpPr>
          <p:cNvPr id="5" name="Rectangle 4"/>
          <p:cNvSpPr/>
          <p:nvPr/>
        </p:nvSpPr>
        <p:spPr>
          <a:xfrm>
            <a:off x="857250" y="4045684"/>
            <a:ext cx="2122773" cy="507831"/>
          </a:xfrm>
          <a:prstGeom prst="rect">
            <a:avLst/>
          </a:prstGeom>
        </p:spPr>
        <p:txBody>
          <a:bodyPr wrap="squar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{r1, r2, r3, r7}</a:t>
            </a:r>
          </a:p>
        </p:txBody>
      </p:sp>
      <p:sp>
        <p:nvSpPr>
          <p:cNvPr id="6" name="TextBox 5"/>
          <p:cNvSpPr txBox="1"/>
          <p:nvPr/>
        </p:nvSpPr>
        <p:spPr>
          <a:xfrm>
            <a:off x="3771901" y="3799610"/>
            <a:ext cx="1521827" cy="300082"/>
          </a:xfrm>
          <a:prstGeom prst="rect">
            <a:avLst/>
          </a:prstGeom>
          <a:noFill/>
        </p:spPr>
        <p:txBody>
          <a:bodyPr wrap="none" rtlCol="0">
            <a:spAutoFit/>
          </a:bodyPr>
          <a:lstStyle/>
          <a:p>
            <a:pPr defTabSz="685800"/>
            <a:r>
              <a:rPr lang="en-US" sz="1350" i="1" dirty="0">
                <a:solidFill>
                  <a:prstClr val="black"/>
                </a:solidFill>
                <a:latin typeface="Gill Sans MT"/>
              </a:rPr>
              <a:t>They are equivalent. </a:t>
            </a:r>
          </a:p>
        </p:txBody>
      </p:sp>
      <p:sp>
        <p:nvSpPr>
          <p:cNvPr id="8" name="Rectangle 7"/>
          <p:cNvSpPr/>
          <p:nvPr/>
        </p:nvSpPr>
        <p:spPr>
          <a:xfrm>
            <a:off x="6455863" y="3734060"/>
            <a:ext cx="1035861" cy="923330"/>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{r7}</a:t>
            </a:r>
          </a:p>
          <a:p>
            <a:pPr defTabSz="685800"/>
            <a:r>
              <a:rPr lang="en-GB" sz="1350" b="1" dirty="0">
                <a:solidFill>
                  <a:srgbClr val="FF0000"/>
                </a:solidFill>
                <a:latin typeface="Consolas" panose="020B0609020204030204" pitchFamily="49" charset="0"/>
                <a:cs typeface="Consolas" panose="020B0609020204030204" pitchFamily="49" charset="0"/>
              </a:rPr>
              <a:t>PUSH {r3}</a:t>
            </a:r>
          </a:p>
          <a:p>
            <a:pPr defTabSz="685800"/>
            <a:r>
              <a:rPr lang="en-GB" sz="1350" b="1" dirty="0">
                <a:solidFill>
                  <a:srgbClr val="FF0000"/>
                </a:solidFill>
                <a:latin typeface="Consolas" panose="020B0609020204030204" pitchFamily="49" charset="0"/>
                <a:cs typeface="Consolas" panose="020B0609020204030204" pitchFamily="49" charset="0"/>
              </a:rPr>
              <a:t>PUSH {r2}</a:t>
            </a:r>
          </a:p>
          <a:p>
            <a:pPr defTabSz="685800"/>
            <a:r>
              <a:rPr lang="en-GB" sz="1350" b="1" dirty="0">
                <a:solidFill>
                  <a:srgbClr val="FF0000"/>
                </a:solidFill>
                <a:latin typeface="Consolas" panose="020B0609020204030204" pitchFamily="49" charset="0"/>
                <a:cs typeface="Consolas" panose="020B0609020204030204" pitchFamily="49" charset="0"/>
              </a:rPr>
              <a:t>PUSH {r1}</a:t>
            </a:r>
          </a:p>
        </p:txBody>
      </p:sp>
      <p:sp>
        <p:nvSpPr>
          <p:cNvPr id="10" name="Rectangle 9"/>
          <p:cNvSpPr/>
          <p:nvPr/>
        </p:nvSpPr>
        <p:spPr>
          <a:xfrm>
            <a:off x="3558083" y="4045684"/>
            <a:ext cx="2170787" cy="300082"/>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PUSH {r7, r2, r3, r1}</a:t>
            </a:r>
          </a:p>
        </p:txBody>
      </p:sp>
      <p:sp>
        <p:nvSpPr>
          <p:cNvPr id="11" name="Left-Right Arrow 10"/>
          <p:cNvSpPr/>
          <p:nvPr/>
        </p:nvSpPr>
        <p:spPr>
          <a:xfrm>
            <a:off x="3090670" y="4109977"/>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2" name="Left-Right Arrow 11"/>
          <p:cNvSpPr/>
          <p:nvPr/>
        </p:nvSpPr>
        <p:spPr>
          <a:xfrm>
            <a:off x="5870423" y="4109977"/>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3" name="Rectangle 12"/>
          <p:cNvSpPr/>
          <p:nvPr/>
        </p:nvSpPr>
        <p:spPr>
          <a:xfrm>
            <a:off x="444620" y="4651293"/>
            <a:ext cx="8229600" cy="1015663"/>
          </a:xfrm>
          <a:prstGeom prst="rect">
            <a:avLst/>
          </a:prstGeom>
        </p:spPr>
        <p:txBody>
          <a:bodyPr wrap="square">
            <a:spAutoFit/>
          </a:bodyPr>
          <a:lstStyle/>
          <a:p>
            <a:pPr marL="214313" indent="-214313" defTabSz="685800">
              <a:buFont typeface="Arial" panose="020B0604020202020204" pitchFamily="34" charset="0"/>
              <a:buChar char="•"/>
            </a:pPr>
            <a:r>
              <a:rPr lang="en-US" sz="1500" dirty="0">
                <a:solidFill>
                  <a:prstClr val="black"/>
                </a:solidFill>
                <a:latin typeface="Gill Sans MT"/>
              </a:rPr>
              <a:t>SP is decremented before PUSH (pre-decrement).</a:t>
            </a:r>
          </a:p>
          <a:p>
            <a:pPr marL="214313" indent="-214313" defTabSz="685800">
              <a:buFont typeface="Arial" panose="020B0604020202020204" pitchFamily="34" charset="0"/>
              <a:buChar char="•"/>
            </a:pPr>
            <a:r>
              <a:rPr lang="en-US" sz="1500" dirty="0">
                <a:solidFill>
                  <a:prstClr val="black"/>
                </a:solidFill>
                <a:latin typeface="Gill Sans MT"/>
              </a:rPr>
              <a:t>The order in which registers listed in the register list does not matter. </a:t>
            </a:r>
          </a:p>
          <a:p>
            <a:pPr marL="214313" indent="-214313" defTabSz="685800">
              <a:buFont typeface="Arial" panose="020B0604020202020204" pitchFamily="34" charset="0"/>
              <a:buChar char="•"/>
            </a:pPr>
            <a:r>
              <a:rPr lang="en-US" sz="1500" dirty="0">
                <a:solidFill>
                  <a:prstClr val="black"/>
                </a:solidFill>
                <a:latin typeface="Gill Sans MT"/>
              </a:rPr>
              <a:t>When pushing multiple registers, these registers are automatically </a:t>
            </a:r>
            <a:r>
              <a:rPr lang="en-US" sz="1500" dirty="0">
                <a:solidFill>
                  <a:srgbClr val="3333FF"/>
                </a:solidFill>
                <a:latin typeface="Gill Sans MT"/>
              </a:rPr>
              <a:t>sorted by name </a:t>
            </a:r>
            <a:r>
              <a:rPr lang="en-US" sz="1500" dirty="0">
                <a:solidFill>
                  <a:prstClr val="black"/>
                </a:solidFill>
                <a:latin typeface="Gill Sans MT"/>
              </a:rPr>
              <a:t>and </a:t>
            </a:r>
            <a:r>
              <a:rPr lang="en-US" sz="1500" dirty="0">
                <a:solidFill>
                  <a:srgbClr val="3333FF"/>
                </a:solidFill>
                <a:latin typeface="Gill Sans MT"/>
              </a:rPr>
              <a:t>the lowest-numbered register </a:t>
            </a:r>
            <a:r>
              <a:rPr lang="en-US" sz="1500" dirty="0">
                <a:solidFill>
                  <a:prstClr val="black"/>
                </a:solidFill>
                <a:latin typeface="Gill Sans MT"/>
              </a:rPr>
              <a:t>is stored to the lowest memory address, </a:t>
            </a:r>
            <a:r>
              <a:rPr lang="en-US" sz="1500" i="1" dirty="0">
                <a:solidFill>
                  <a:prstClr val="black"/>
                </a:solidFill>
                <a:latin typeface="Gill Sans MT"/>
              </a:rPr>
              <a:t>i.e. </a:t>
            </a:r>
            <a:r>
              <a:rPr lang="en-US" sz="1500" dirty="0">
                <a:solidFill>
                  <a:srgbClr val="3333FF"/>
                </a:solidFill>
                <a:latin typeface="Gill Sans MT"/>
              </a:rPr>
              <a:t>r1 is stored last</a:t>
            </a:r>
            <a:r>
              <a:rPr lang="en-US" sz="1500" dirty="0">
                <a:solidFill>
                  <a:prstClr val="black"/>
                </a:solidFill>
                <a:latin typeface="Gill Sans MT"/>
              </a:rPr>
              <a:t>. </a:t>
            </a:r>
          </a:p>
        </p:txBody>
      </p:sp>
      <p:pic>
        <p:nvPicPr>
          <p:cNvPr id="15" name="Picture 14">
            <a:extLst>
              <a:ext uri="{FF2B5EF4-FFF2-40B4-BE49-F238E27FC236}">
                <a16:creationId xmlns:a16="http://schemas.microsoft.com/office/drawing/2014/main" id="{B793ED65-4325-3394-90AA-C2E15D2D782F}"/>
              </a:ext>
            </a:extLst>
          </p:cNvPr>
          <p:cNvPicPr>
            <a:picLocks noChangeAspect="1"/>
          </p:cNvPicPr>
          <p:nvPr/>
        </p:nvPicPr>
        <p:blipFill>
          <a:blip r:embed="rId3"/>
          <a:stretch>
            <a:fillRect/>
          </a:stretch>
        </p:blipFill>
        <p:spPr>
          <a:xfrm>
            <a:off x="7672392" y="918799"/>
            <a:ext cx="1333425" cy="3538901"/>
          </a:xfrm>
          <a:prstGeom prst="rect">
            <a:avLst/>
          </a:prstGeom>
        </p:spPr>
      </p:pic>
      <p:sp>
        <p:nvSpPr>
          <p:cNvPr id="7" name="Horizontal Scroll 15">
            <a:extLst>
              <a:ext uri="{FF2B5EF4-FFF2-40B4-BE49-F238E27FC236}">
                <a16:creationId xmlns:a16="http://schemas.microsoft.com/office/drawing/2014/main" id="{FB75E523-7548-E904-AAD1-699C9A7D59D2}"/>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12063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100" b="1" dirty="0">
                <a:solidFill>
                  <a:srgbClr val="FF0000"/>
                </a:solidFill>
                <a:latin typeface="Consolas" panose="020B0609020204030204" pitchFamily="49" charset="0"/>
                <a:cs typeface="Consolas" panose="020B0609020204030204" pitchFamily="49" charset="0"/>
              </a:rPr>
              <a:t>POP</a:t>
            </a:r>
            <a:r>
              <a:rPr lang="en-GB" sz="2100" dirty="0">
                <a:solidFill>
                  <a:srgbClr val="FF0000"/>
                </a:solidFill>
                <a:latin typeface="Consolas" panose="020B0609020204030204" pitchFamily="49" charset="0"/>
                <a:cs typeface="Consolas" panose="020B0609020204030204" pitchFamily="49" charset="0"/>
              </a:rPr>
              <a:t> </a:t>
            </a:r>
            <a:r>
              <a:rPr lang="en-GB" sz="2100" dirty="0">
                <a:latin typeface="Consolas" panose="020B0609020204030204" pitchFamily="49" charset="0"/>
                <a:cs typeface="Consolas" panose="020B0609020204030204" pitchFamily="49" charset="0"/>
              </a:rPr>
              <a:t>{</a:t>
            </a:r>
            <a:r>
              <a:rPr lang="en-GB" sz="2100" i="1" dirty="0">
                <a:latin typeface="Consolas" panose="020B0609020204030204" pitchFamily="49" charset="0"/>
                <a:cs typeface="Consolas" panose="020B0609020204030204" pitchFamily="49" charset="0"/>
              </a:rPr>
              <a:t>Rd</a:t>
            </a:r>
            <a:r>
              <a:rPr lang="en-GB" sz="2100" dirty="0">
                <a:latin typeface="Consolas" panose="020B0609020204030204" pitchFamily="49" charset="0"/>
                <a:cs typeface="Consolas" panose="020B0609020204030204" pitchFamily="49" charset="0"/>
              </a:rPr>
              <a:t>} == LDMIA SP!, {Rd} == LDMFD SP!, {Rd}</a:t>
            </a:r>
          </a:p>
          <a:p>
            <a:pPr lvl="1"/>
            <a:r>
              <a:rPr lang="sv-SE" sz="1800" dirty="0">
                <a:latin typeface="Consolas" panose="020B0609020204030204" pitchFamily="49" charset="0"/>
                <a:cs typeface="Consolas" panose="020B0609020204030204" pitchFamily="49" charset="0"/>
              </a:rPr>
              <a:t>LDR Rd, [SP] @ </a:t>
            </a:r>
            <a:r>
              <a:rPr lang="en-GB" sz="1800" dirty="0">
                <a:latin typeface="Consolas" panose="020B0609020204030204" pitchFamily="49" charset="0"/>
                <a:cs typeface="Consolas" panose="020B0609020204030204" pitchFamily="49" charset="0"/>
              </a:rPr>
              <a:t>Rd = (*SP)    </a:t>
            </a:r>
            <a:r>
              <a:rPr lang="en-GB" sz="1800" dirty="0">
                <a:latin typeface="Cambria Math"/>
                <a:ea typeface="Cambria Math"/>
                <a:cs typeface="Consolas" panose="020B0609020204030204" pitchFamily="49" charset="0"/>
              </a:rPr>
              <a:t>(full stack)</a:t>
            </a:r>
            <a:endParaRPr lang="en-GB" sz="1800" dirty="0">
              <a:latin typeface="Consolas" panose="020B0609020204030204" pitchFamily="49" charset="0"/>
              <a:cs typeface="Consolas" panose="020B0609020204030204" pitchFamily="49" charset="0"/>
            </a:endParaRPr>
          </a:p>
          <a:p>
            <a:pPr lvl="1"/>
            <a:r>
              <a:rPr lang="en-GB" sz="1800" dirty="0">
                <a:latin typeface="Consolas" panose="020B0609020204030204" pitchFamily="49" charset="0"/>
                <a:cs typeface="Consolas" panose="020B0609020204030204" pitchFamily="49" charset="0"/>
              </a:rPr>
              <a:t>ADD SP, #4   </a:t>
            </a:r>
            <a:r>
              <a:rPr lang="sv-SE" sz="1800" dirty="0">
                <a:latin typeface="Consolas" panose="020B0609020204030204" pitchFamily="49" charset="0"/>
                <a:cs typeface="Consolas" panose="020B0609020204030204" pitchFamily="49" charset="0"/>
              </a:rPr>
              <a:t>@ </a:t>
            </a:r>
            <a:r>
              <a:rPr lang="en-GB" sz="1800" dirty="0">
                <a:latin typeface="Consolas" panose="020B0609020204030204" pitchFamily="49" charset="0"/>
                <a:cs typeface="Consolas" panose="020B0609020204030204" pitchFamily="49" charset="0"/>
              </a:rPr>
              <a:t>SP = SP + 4   </a:t>
            </a:r>
            <a:r>
              <a:rPr lang="en-GB" sz="1800" dirty="0">
                <a:latin typeface="Cambria Math"/>
                <a:ea typeface="Cambria Math"/>
                <a:cs typeface="Consolas" panose="020B0609020204030204" pitchFamily="49" charset="0"/>
              </a:rPr>
              <a:t>(Stack shrinks)</a:t>
            </a:r>
          </a:p>
          <a:p>
            <a:pPr lvl="1"/>
            <a:endParaRPr lang="en-GB" sz="2025" dirty="0">
              <a:latin typeface="Consolas" panose="020B0609020204030204" pitchFamily="49" charset="0"/>
              <a:cs typeface="Consolas" panose="020B0609020204030204" pitchFamily="49" charset="0"/>
            </a:endParaRPr>
          </a:p>
          <a:p>
            <a:pPr marL="0" indent="0">
              <a:buNone/>
            </a:pPr>
            <a:r>
              <a:rPr lang="en-GB" sz="2025"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3</a:t>
            </a:fld>
            <a:endParaRPr lang="en-US" dirty="0">
              <a:solidFill>
                <a:srgbClr val="1F497D"/>
              </a:solidFill>
              <a:latin typeface="Gill Sans MT"/>
            </a:endParaRPr>
          </a:p>
        </p:txBody>
      </p:sp>
      <p:sp>
        <p:nvSpPr>
          <p:cNvPr id="5" name="Rectangle 4"/>
          <p:cNvSpPr/>
          <p:nvPr/>
        </p:nvSpPr>
        <p:spPr>
          <a:xfrm>
            <a:off x="3629026" y="4075262"/>
            <a:ext cx="2025632" cy="507831"/>
          </a:xfrm>
          <a:prstGeom prst="rect">
            <a:avLst/>
          </a:prstGeom>
        </p:spPr>
        <p:txBody>
          <a:bodyPr wrap="squar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{r7, r3, r2, r1}</a:t>
            </a:r>
          </a:p>
        </p:txBody>
      </p:sp>
      <p:sp>
        <p:nvSpPr>
          <p:cNvPr id="7" name="TextBox 6"/>
          <p:cNvSpPr txBox="1"/>
          <p:nvPr/>
        </p:nvSpPr>
        <p:spPr>
          <a:xfrm>
            <a:off x="3744661" y="3763639"/>
            <a:ext cx="1521827" cy="300082"/>
          </a:xfrm>
          <a:prstGeom prst="rect">
            <a:avLst/>
          </a:prstGeom>
          <a:noFill/>
        </p:spPr>
        <p:txBody>
          <a:bodyPr wrap="none" rtlCol="0">
            <a:spAutoFit/>
          </a:bodyPr>
          <a:lstStyle/>
          <a:p>
            <a:pPr defTabSz="685800"/>
            <a:r>
              <a:rPr lang="en-US" sz="1350" i="1" dirty="0">
                <a:solidFill>
                  <a:prstClr val="black"/>
                </a:solidFill>
                <a:latin typeface="Gill Sans MT"/>
              </a:rPr>
              <a:t>They are equivalent. </a:t>
            </a:r>
          </a:p>
        </p:txBody>
      </p:sp>
      <p:sp>
        <p:nvSpPr>
          <p:cNvPr id="9" name="Rectangle 8"/>
          <p:cNvSpPr/>
          <p:nvPr/>
        </p:nvSpPr>
        <p:spPr>
          <a:xfrm>
            <a:off x="6224130" y="3763639"/>
            <a:ext cx="941283" cy="923330"/>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{r1}</a:t>
            </a:r>
          </a:p>
          <a:p>
            <a:pPr defTabSz="685800"/>
            <a:r>
              <a:rPr lang="en-GB" sz="1350" b="1" dirty="0">
                <a:solidFill>
                  <a:srgbClr val="FF0000"/>
                </a:solidFill>
                <a:latin typeface="Consolas" panose="020B0609020204030204" pitchFamily="49" charset="0"/>
                <a:cs typeface="Consolas" panose="020B0609020204030204" pitchFamily="49" charset="0"/>
              </a:rPr>
              <a:t>POP {r2}</a:t>
            </a:r>
          </a:p>
          <a:p>
            <a:pPr defTabSz="685800"/>
            <a:r>
              <a:rPr lang="en-GB" sz="1350" b="1" dirty="0">
                <a:solidFill>
                  <a:srgbClr val="FF0000"/>
                </a:solidFill>
                <a:latin typeface="Consolas" panose="020B0609020204030204" pitchFamily="49" charset="0"/>
                <a:cs typeface="Consolas" panose="020B0609020204030204" pitchFamily="49" charset="0"/>
              </a:rPr>
              <a:t>POP {r3}</a:t>
            </a:r>
          </a:p>
          <a:p>
            <a:pPr defTabSz="685800"/>
            <a:r>
              <a:rPr lang="en-GB" sz="1350" b="1" dirty="0">
                <a:solidFill>
                  <a:srgbClr val="FF0000"/>
                </a:solidFill>
                <a:latin typeface="Consolas" panose="020B0609020204030204" pitchFamily="49" charset="0"/>
                <a:cs typeface="Consolas" panose="020B0609020204030204" pitchFamily="49" charset="0"/>
              </a:rPr>
              <a:t>POP {r7}</a:t>
            </a:r>
          </a:p>
        </p:txBody>
      </p:sp>
      <p:sp>
        <p:nvSpPr>
          <p:cNvPr id="10" name="Rectangle 9"/>
          <p:cNvSpPr/>
          <p:nvPr/>
        </p:nvSpPr>
        <p:spPr>
          <a:xfrm>
            <a:off x="1125325" y="4075262"/>
            <a:ext cx="2076209" cy="300082"/>
          </a:xfrm>
          <a:prstGeom prst="rect">
            <a:avLst/>
          </a:prstGeom>
        </p:spPr>
        <p:txBody>
          <a:bodyPr wrap="none">
            <a:spAutoFit/>
          </a:bodyPr>
          <a:lstStyle/>
          <a:p>
            <a:pPr defTabSz="685800"/>
            <a:r>
              <a:rPr lang="en-GB" sz="1350" b="1" dirty="0">
                <a:solidFill>
                  <a:srgbClr val="FF0000"/>
                </a:solidFill>
                <a:latin typeface="Consolas" panose="020B0609020204030204" pitchFamily="49" charset="0"/>
                <a:cs typeface="Consolas" panose="020B0609020204030204" pitchFamily="49" charset="0"/>
              </a:rPr>
              <a:t>POP {r1, r2, r3, r7}</a:t>
            </a:r>
          </a:p>
        </p:txBody>
      </p:sp>
      <p:sp>
        <p:nvSpPr>
          <p:cNvPr id="11" name="Left-Right Arrow 10"/>
          <p:cNvSpPr/>
          <p:nvPr/>
        </p:nvSpPr>
        <p:spPr>
          <a:xfrm>
            <a:off x="3213091" y="4139556"/>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12" name="Left-Right Arrow 11"/>
          <p:cNvSpPr/>
          <p:nvPr/>
        </p:nvSpPr>
        <p:spPr>
          <a:xfrm>
            <a:off x="5670541" y="4139556"/>
            <a:ext cx="362213" cy="1484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Gill Sans MT"/>
            </a:endParaRPr>
          </a:p>
        </p:txBody>
      </p:sp>
      <p:sp>
        <p:nvSpPr>
          <p:cNvPr id="6" name="Rectangle 5"/>
          <p:cNvSpPr/>
          <p:nvPr/>
        </p:nvSpPr>
        <p:spPr>
          <a:xfrm>
            <a:off x="441316" y="4663886"/>
            <a:ext cx="8401050" cy="1015663"/>
          </a:xfrm>
          <a:prstGeom prst="rect">
            <a:avLst/>
          </a:prstGeom>
        </p:spPr>
        <p:txBody>
          <a:bodyPr wrap="square">
            <a:spAutoFit/>
          </a:bodyPr>
          <a:lstStyle/>
          <a:p>
            <a:pPr marL="214313" indent="-214313" defTabSz="685800">
              <a:buFont typeface="Arial" panose="020B0604020202020204" pitchFamily="34" charset="0"/>
              <a:buChar char="•"/>
            </a:pPr>
            <a:r>
              <a:rPr lang="en-US" sz="1500" dirty="0">
                <a:solidFill>
                  <a:prstClr val="black"/>
                </a:solidFill>
                <a:latin typeface="Gill Sans MT"/>
              </a:rPr>
              <a:t>SP is incremented after POP (post-increment). </a:t>
            </a:r>
          </a:p>
          <a:p>
            <a:pPr marL="214313" indent="-214313" defTabSz="685800">
              <a:buFont typeface="Arial" panose="020B0604020202020204" pitchFamily="34" charset="0"/>
              <a:buChar char="•"/>
            </a:pPr>
            <a:r>
              <a:rPr lang="en-US" sz="1500" dirty="0">
                <a:solidFill>
                  <a:prstClr val="black"/>
                </a:solidFill>
                <a:latin typeface="Gill Sans MT"/>
              </a:rPr>
              <a:t>The order in which registers listed in the register list does not matter. </a:t>
            </a:r>
          </a:p>
          <a:p>
            <a:pPr marL="214313" indent="-214313" defTabSz="685800">
              <a:buFont typeface="Arial" panose="020B0604020202020204" pitchFamily="34" charset="0"/>
              <a:buChar char="•"/>
            </a:pPr>
            <a:r>
              <a:rPr lang="en-US" sz="1500" dirty="0">
                <a:solidFill>
                  <a:prstClr val="black"/>
                </a:solidFill>
                <a:latin typeface="Gill Sans MT"/>
              </a:rPr>
              <a:t>When popping multiple registers, these registers are automatically </a:t>
            </a:r>
            <a:r>
              <a:rPr lang="en-US" sz="1500" dirty="0">
                <a:solidFill>
                  <a:srgbClr val="3333FF"/>
                </a:solidFill>
                <a:latin typeface="Gill Sans MT"/>
              </a:rPr>
              <a:t>sorted by name </a:t>
            </a:r>
            <a:r>
              <a:rPr lang="en-US" sz="1500" dirty="0">
                <a:solidFill>
                  <a:prstClr val="black"/>
                </a:solidFill>
                <a:latin typeface="Gill Sans MT"/>
              </a:rPr>
              <a:t>and </a:t>
            </a:r>
            <a:r>
              <a:rPr lang="en-US" sz="1500" dirty="0">
                <a:solidFill>
                  <a:srgbClr val="3333FF"/>
                </a:solidFill>
                <a:latin typeface="Gill Sans MT"/>
              </a:rPr>
              <a:t>the lowest-numbered register</a:t>
            </a:r>
            <a:r>
              <a:rPr lang="en-US" sz="1500" dirty="0">
                <a:solidFill>
                  <a:prstClr val="black"/>
                </a:solidFill>
                <a:latin typeface="Gill Sans MT"/>
              </a:rPr>
              <a:t> is loaded from the lowest memory address, </a:t>
            </a:r>
            <a:r>
              <a:rPr lang="en-US" sz="1500" i="1" dirty="0">
                <a:solidFill>
                  <a:prstClr val="black"/>
                </a:solidFill>
                <a:latin typeface="Gill Sans MT"/>
              </a:rPr>
              <a:t>i.e. </a:t>
            </a:r>
            <a:r>
              <a:rPr lang="en-US" sz="1500" dirty="0">
                <a:solidFill>
                  <a:srgbClr val="3333FF"/>
                </a:solidFill>
                <a:latin typeface="Gill Sans MT"/>
              </a:rPr>
              <a:t>r1 is loaded first</a:t>
            </a:r>
            <a:r>
              <a:rPr lang="en-US" sz="1500" dirty="0">
                <a:solidFill>
                  <a:prstClr val="black"/>
                </a:solidFill>
                <a:latin typeface="Gill Sans MT"/>
              </a:rPr>
              <a:t>. </a:t>
            </a:r>
          </a:p>
        </p:txBody>
      </p:sp>
      <p:pic>
        <p:nvPicPr>
          <p:cNvPr id="13" name="Picture 12">
            <a:extLst>
              <a:ext uri="{FF2B5EF4-FFF2-40B4-BE49-F238E27FC236}">
                <a16:creationId xmlns:a16="http://schemas.microsoft.com/office/drawing/2014/main" id="{355D812E-3C2A-BCEA-1442-B45EE486FA9C}"/>
              </a:ext>
            </a:extLst>
          </p:cNvPr>
          <p:cNvPicPr>
            <a:picLocks noChangeAspect="1"/>
          </p:cNvPicPr>
          <p:nvPr/>
        </p:nvPicPr>
        <p:blipFill>
          <a:blip r:embed="rId2"/>
          <a:stretch>
            <a:fillRect/>
          </a:stretch>
        </p:blipFill>
        <p:spPr>
          <a:xfrm>
            <a:off x="7720500" y="933655"/>
            <a:ext cx="1263120" cy="3753851"/>
          </a:xfrm>
          <a:prstGeom prst="rect">
            <a:avLst/>
          </a:prstGeom>
        </p:spPr>
      </p:pic>
      <p:sp>
        <p:nvSpPr>
          <p:cNvPr id="8" name="Horizontal Scroll 15">
            <a:extLst>
              <a:ext uri="{FF2B5EF4-FFF2-40B4-BE49-F238E27FC236}">
                <a16:creationId xmlns:a16="http://schemas.microsoft.com/office/drawing/2014/main" id="{510E2E53-03DD-57F0-F850-07FD9C250CEA}"/>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42497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0350A-DE76-846E-5AB2-1DE2EDB0E9E9}"/>
              </a:ext>
            </a:extLst>
          </p:cNvPr>
          <p:cNvSpPr>
            <a:spLocks noGrp="1"/>
          </p:cNvSpPr>
          <p:nvPr>
            <p:ph type="title"/>
          </p:nvPr>
        </p:nvSpPr>
        <p:spPr/>
        <p:txBody>
          <a:bodyPr/>
          <a:lstStyle/>
          <a:p>
            <a:r>
              <a:rPr lang="en-US" dirty="0"/>
              <a:t>Stack</a:t>
            </a:r>
          </a:p>
        </p:txBody>
      </p:sp>
      <p:sp>
        <p:nvSpPr>
          <p:cNvPr id="3" name="Slide Number Placeholder 2">
            <a:extLst>
              <a:ext uri="{FF2B5EF4-FFF2-40B4-BE49-F238E27FC236}">
                <a16:creationId xmlns:a16="http://schemas.microsoft.com/office/drawing/2014/main" id="{D788CD0F-F59A-17FD-A8C5-A5B8C7F7C22F}"/>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F8B814FC-F419-027A-EA4D-935437EEAA0E}"/>
              </a:ext>
            </a:extLst>
          </p:cNvPr>
          <p:cNvSpPr>
            <a:spLocks noGrp="1"/>
          </p:cNvSpPr>
          <p:nvPr>
            <p:ph sz="quarter" idx="1"/>
          </p:nvPr>
        </p:nvSpPr>
        <p:spPr>
          <a:xfrm>
            <a:off x="457200" y="1219200"/>
            <a:ext cx="8229600" cy="1512689"/>
          </a:xfrm>
        </p:spPr>
        <p:txBody>
          <a:bodyPr/>
          <a:lstStyle/>
          <a:p>
            <a:r>
              <a:rPr lang="en-US" dirty="0"/>
              <a:t>Initially, let </a:t>
            </a:r>
            <a:r>
              <a:rPr lang="en-US" sz="2400" dirty="0"/>
              <a:t>r0=0, r1=1, r2=2.</a:t>
            </a:r>
            <a:endParaRPr lang="en-US" dirty="0"/>
          </a:p>
          <a:p>
            <a:r>
              <a:rPr lang="en-US" dirty="0"/>
              <a:t>a) Execute PUSH {r1,r2}. Draw stack.</a:t>
            </a:r>
          </a:p>
          <a:p>
            <a:r>
              <a:rPr lang="en-US" dirty="0"/>
              <a:t>b) Execute POP {r0,r1}. Draw stack.</a:t>
            </a:r>
          </a:p>
        </p:txBody>
      </p:sp>
      <p:graphicFrame>
        <p:nvGraphicFramePr>
          <p:cNvPr id="7" name="Table 6">
            <a:extLst>
              <a:ext uri="{FF2B5EF4-FFF2-40B4-BE49-F238E27FC236}">
                <a16:creationId xmlns:a16="http://schemas.microsoft.com/office/drawing/2014/main" id="{9CA273F4-CE16-CD49-EA0C-05FC3BE81836}"/>
              </a:ext>
            </a:extLst>
          </p:cNvPr>
          <p:cNvGraphicFramePr>
            <a:graphicFrameLocks noGrp="1"/>
          </p:cNvGraphicFramePr>
          <p:nvPr>
            <p:extLst>
              <p:ext uri="{D42A27DB-BD31-4B8C-83A1-F6EECF244321}">
                <p14:modId xmlns:p14="http://schemas.microsoft.com/office/powerpoint/2010/main" val="3544155278"/>
              </p:ext>
            </p:extLst>
          </p:nvPr>
        </p:nvGraphicFramePr>
        <p:xfrm>
          <a:off x="1535923"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8" name="Arrow: Right 7">
            <a:extLst>
              <a:ext uri="{FF2B5EF4-FFF2-40B4-BE49-F238E27FC236}">
                <a16:creationId xmlns:a16="http://schemas.microsoft.com/office/drawing/2014/main" id="{21C00B18-AB39-00EF-930D-94A66B3DBEEE}"/>
              </a:ext>
            </a:extLst>
          </p:cNvPr>
          <p:cNvSpPr/>
          <p:nvPr/>
        </p:nvSpPr>
        <p:spPr>
          <a:xfrm>
            <a:off x="999475"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771397-E6F5-FBB8-542D-C5B13309CE80}"/>
              </a:ext>
            </a:extLst>
          </p:cNvPr>
          <p:cNvSpPr txBox="1"/>
          <p:nvPr/>
        </p:nvSpPr>
        <p:spPr>
          <a:xfrm>
            <a:off x="496902" y="3204332"/>
            <a:ext cx="433132" cy="400110"/>
          </a:xfrm>
          <a:prstGeom prst="rect">
            <a:avLst/>
          </a:prstGeom>
          <a:noFill/>
        </p:spPr>
        <p:txBody>
          <a:bodyPr wrap="none" rtlCol="0">
            <a:spAutoFit/>
          </a:bodyPr>
          <a:lstStyle/>
          <a:p>
            <a:r>
              <a:rPr lang="en-US" sz="2000" dirty="0"/>
              <a:t>SP</a:t>
            </a:r>
          </a:p>
        </p:txBody>
      </p:sp>
      <p:graphicFrame>
        <p:nvGraphicFramePr>
          <p:cNvPr id="10" name="Table 9">
            <a:extLst>
              <a:ext uri="{FF2B5EF4-FFF2-40B4-BE49-F238E27FC236}">
                <a16:creationId xmlns:a16="http://schemas.microsoft.com/office/drawing/2014/main" id="{769E05C3-D653-26B3-A1FA-DB8D01C197A6}"/>
              </a:ext>
            </a:extLst>
          </p:cNvPr>
          <p:cNvGraphicFramePr>
            <a:graphicFrameLocks noGrp="1"/>
          </p:cNvGraphicFramePr>
          <p:nvPr>
            <p:extLst>
              <p:ext uri="{D42A27DB-BD31-4B8C-83A1-F6EECF244321}">
                <p14:modId xmlns:p14="http://schemas.microsoft.com/office/powerpoint/2010/main" val="4189838150"/>
              </p:ext>
            </p:extLst>
          </p:nvPr>
        </p:nvGraphicFramePr>
        <p:xfrm>
          <a:off x="3798326" y="3199012"/>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graphicFrame>
        <p:nvGraphicFramePr>
          <p:cNvPr id="13" name="Table 12">
            <a:extLst>
              <a:ext uri="{FF2B5EF4-FFF2-40B4-BE49-F238E27FC236}">
                <a16:creationId xmlns:a16="http://schemas.microsoft.com/office/drawing/2014/main" id="{E2800F77-7DAB-31B4-1921-A01DE4EBD781}"/>
              </a:ext>
            </a:extLst>
          </p:cNvPr>
          <p:cNvGraphicFramePr>
            <a:graphicFrameLocks noGrp="1"/>
          </p:cNvGraphicFramePr>
          <p:nvPr>
            <p:extLst>
              <p:ext uri="{D42A27DB-BD31-4B8C-83A1-F6EECF244321}">
                <p14:modId xmlns:p14="http://schemas.microsoft.com/office/powerpoint/2010/main" val="3105809410"/>
              </p:ext>
            </p:extLst>
          </p:nvPr>
        </p:nvGraphicFramePr>
        <p:xfrm>
          <a:off x="6465320"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6" name="TextBox 15">
            <a:extLst>
              <a:ext uri="{FF2B5EF4-FFF2-40B4-BE49-F238E27FC236}">
                <a16:creationId xmlns:a16="http://schemas.microsoft.com/office/drawing/2014/main" id="{F8C9E426-19B3-C381-5E30-7C2FF94F96E8}"/>
              </a:ext>
            </a:extLst>
          </p:cNvPr>
          <p:cNvSpPr txBox="1"/>
          <p:nvPr/>
        </p:nvSpPr>
        <p:spPr>
          <a:xfrm>
            <a:off x="3186926" y="5137542"/>
            <a:ext cx="2172390" cy="400110"/>
          </a:xfrm>
          <a:prstGeom prst="rect">
            <a:avLst/>
          </a:prstGeom>
          <a:noFill/>
        </p:spPr>
        <p:txBody>
          <a:bodyPr wrap="none" rtlCol="0">
            <a:spAutoFit/>
          </a:bodyPr>
          <a:lstStyle/>
          <a:p>
            <a:r>
              <a:rPr lang="en-US" sz="2000" dirty="0"/>
              <a:t>After PUSH {r1,r2}</a:t>
            </a:r>
          </a:p>
        </p:txBody>
      </p:sp>
      <p:sp>
        <p:nvSpPr>
          <p:cNvPr id="22" name="TextBox 21">
            <a:extLst>
              <a:ext uri="{FF2B5EF4-FFF2-40B4-BE49-F238E27FC236}">
                <a16:creationId xmlns:a16="http://schemas.microsoft.com/office/drawing/2014/main" id="{8C3A0F5D-E35F-6473-85B4-E60E6B15F6BA}"/>
              </a:ext>
            </a:extLst>
          </p:cNvPr>
          <p:cNvSpPr txBox="1"/>
          <p:nvPr/>
        </p:nvSpPr>
        <p:spPr>
          <a:xfrm>
            <a:off x="5859431" y="5137542"/>
            <a:ext cx="2085827" cy="707886"/>
          </a:xfrm>
          <a:prstGeom prst="rect">
            <a:avLst/>
          </a:prstGeom>
          <a:noFill/>
        </p:spPr>
        <p:txBody>
          <a:bodyPr wrap="none" rtlCol="0">
            <a:spAutoFit/>
          </a:bodyPr>
          <a:lstStyle/>
          <a:p>
            <a:r>
              <a:rPr lang="en-US" sz="2000" dirty="0"/>
              <a:t>After POP {r0,r1},</a:t>
            </a:r>
          </a:p>
          <a:p>
            <a:r>
              <a:rPr lang="en-US" sz="2000" dirty="0"/>
              <a:t>r0=?, r1=?</a:t>
            </a:r>
          </a:p>
        </p:txBody>
      </p:sp>
    </p:spTree>
    <p:extLst>
      <p:ext uri="{BB962C8B-B14F-4D97-AF65-F5344CB8AC3E}">
        <p14:creationId xmlns:p14="http://schemas.microsoft.com/office/powerpoint/2010/main" val="43788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3F5E7-78DF-6AED-6EFE-A47B82A4A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D1D1B-105E-E184-ADBC-2B07B3BB929E}"/>
              </a:ext>
            </a:extLst>
          </p:cNvPr>
          <p:cNvSpPr>
            <a:spLocks noGrp="1"/>
          </p:cNvSpPr>
          <p:nvPr>
            <p:ph type="title"/>
          </p:nvPr>
        </p:nvSpPr>
        <p:spPr/>
        <p:txBody>
          <a:bodyPr/>
          <a:lstStyle/>
          <a:p>
            <a:r>
              <a:rPr lang="en-US" dirty="0"/>
              <a:t>Stack ANS</a:t>
            </a:r>
          </a:p>
        </p:txBody>
      </p:sp>
      <p:sp>
        <p:nvSpPr>
          <p:cNvPr id="3" name="Slide Number Placeholder 2">
            <a:extLst>
              <a:ext uri="{FF2B5EF4-FFF2-40B4-BE49-F238E27FC236}">
                <a16:creationId xmlns:a16="http://schemas.microsoft.com/office/drawing/2014/main" id="{853C2332-DD8B-2EC1-C288-C9CD991A4074}"/>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DCC0932D-B624-F476-2B57-930187D851D9}"/>
              </a:ext>
            </a:extLst>
          </p:cNvPr>
          <p:cNvSpPr>
            <a:spLocks noGrp="1"/>
          </p:cNvSpPr>
          <p:nvPr>
            <p:ph sz="quarter" idx="1"/>
          </p:nvPr>
        </p:nvSpPr>
        <p:spPr>
          <a:xfrm>
            <a:off x="457200" y="1219200"/>
            <a:ext cx="8229600" cy="1512689"/>
          </a:xfrm>
        </p:spPr>
        <p:txBody>
          <a:bodyPr/>
          <a:lstStyle/>
          <a:p>
            <a:r>
              <a:rPr lang="en-US" dirty="0"/>
              <a:t>Initially, let </a:t>
            </a:r>
            <a:r>
              <a:rPr lang="en-US" sz="2400" dirty="0"/>
              <a:t>r0=0, r1=1, r2=2.</a:t>
            </a:r>
            <a:endParaRPr lang="en-US" dirty="0"/>
          </a:p>
          <a:p>
            <a:r>
              <a:rPr lang="en-US" dirty="0"/>
              <a:t>a) Execute PUSH {r1,r2}. Draw stack.</a:t>
            </a:r>
          </a:p>
          <a:p>
            <a:r>
              <a:rPr lang="en-US" dirty="0"/>
              <a:t>b) Execute POP {r0,r1}. Draw stack.</a:t>
            </a:r>
          </a:p>
        </p:txBody>
      </p:sp>
      <p:graphicFrame>
        <p:nvGraphicFramePr>
          <p:cNvPr id="7" name="Table 6">
            <a:extLst>
              <a:ext uri="{FF2B5EF4-FFF2-40B4-BE49-F238E27FC236}">
                <a16:creationId xmlns:a16="http://schemas.microsoft.com/office/drawing/2014/main" id="{4809732D-EF89-C5A4-C000-5018FA595EFC}"/>
              </a:ext>
            </a:extLst>
          </p:cNvPr>
          <p:cNvGraphicFramePr>
            <a:graphicFrameLocks noGrp="1"/>
          </p:cNvGraphicFramePr>
          <p:nvPr/>
        </p:nvGraphicFramePr>
        <p:xfrm>
          <a:off x="1535923"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8" name="Arrow: Right 7">
            <a:extLst>
              <a:ext uri="{FF2B5EF4-FFF2-40B4-BE49-F238E27FC236}">
                <a16:creationId xmlns:a16="http://schemas.microsoft.com/office/drawing/2014/main" id="{569AE367-163D-297F-3DD6-599C9645483F}"/>
              </a:ext>
            </a:extLst>
          </p:cNvPr>
          <p:cNvSpPr/>
          <p:nvPr/>
        </p:nvSpPr>
        <p:spPr>
          <a:xfrm>
            <a:off x="999475"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2A10B87-EDD6-141E-74DF-591C75B3ADDB}"/>
              </a:ext>
            </a:extLst>
          </p:cNvPr>
          <p:cNvSpPr txBox="1"/>
          <p:nvPr/>
        </p:nvSpPr>
        <p:spPr>
          <a:xfrm>
            <a:off x="496902" y="3204332"/>
            <a:ext cx="433132" cy="400110"/>
          </a:xfrm>
          <a:prstGeom prst="rect">
            <a:avLst/>
          </a:prstGeom>
          <a:noFill/>
        </p:spPr>
        <p:txBody>
          <a:bodyPr wrap="none" rtlCol="0">
            <a:spAutoFit/>
          </a:bodyPr>
          <a:lstStyle/>
          <a:p>
            <a:r>
              <a:rPr lang="en-US" sz="2000" dirty="0"/>
              <a:t>SP</a:t>
            </a:r>
          </a:p>
        </p:txBody>
      </p:sp>
      <p:graphicFrame>
        <p:nvGraphicFramePr>
          <p:cNvPr id="10" name="Table 9">
            <a:extLst>
              <a:ext uri="{FF2B5EF4-FFF2-40B4-BE49-F238E27FC236}">
                <a16:creationId xmlns:a16="http://schemas.microsoft.com/office/drawing/2014/main" id="{B0BB1A3A-DB33-B7A9-4626-5505E2FDAF8D}"/>
              </a:ext>
            </a:extLst>
          </p:cNvPr>
          <p:cNvGraphicFramePr>
            <a:graphicFrameLocks noGrp="1"/>
          </p:cNvGraphicFramePr>
          <p:nvPr/>
        </p:nvGraphicFramePr>
        <p:xfrm>
          <a:off x="3798326" y="3199012"/>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1" name="Arrow: Right 10">
            <a:extLst>
              <a:ext uri="{FF2B5EF4-FFF2-40B4-BE49-F238E27FC236}">
                <a16:creationId xmlns:a16="http://schemas.microsoft.com/office/drawing/2014/main" id="{50186B45-C036-8963-F983-F18A363F0E41}"/>
              </a:ext>
            </a:extLst>
          </p:cNvPr>
          <p:cNvSpPr/>
          <p:nvPr/>
        </p:nvSpPr>
        <p:spPr>
          <a:xfrm>
            <a:off x="3265932" y="4038635"/>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9593EEC-57A9-1968-DC28-8040B4B19D5D}"/>
              </a:ext>
            </a:extLst>
          </p:cNvPr>
          <p:cNvSpPr txBox="1"/>
          <p:nvPr/>
        </p:nvSpPr>
        <p:spPr>
          <a:xfrm>
            <a:off x="2763359" y="3940108"/>
            <a:ext cx="433132" cy="400110"/>
          </a:xfrm>
          <a:prstGeom prst="rect">
            <a:avLst/>
          </a:prstGeom>
          <a:noFill/>
        </p:spPr>
        <p:txBody>
          <a:bodyPr wrap="none" rtlCol="0">
            <a:spAutoFit/>
          </a:bodyPr>
          <a:lstStyle/>
          <a:p>
            <a:r>
              <a:rPr lang="en-US" sz="2000" dirty="0"/>
              <a:t>SP</a:t>
            </a:r>
          </a:p>
        </p:txBody>
      </p:sp>
      <p:graphicFrame>
        <p:nvGraphicFramePr>
          <p:cNvPr id="13" name="Table 12">
            <a:extLst>
              <a:ext uri="{FF2B5EF4-FFF2-40B4-BE49-F238E27FC236}">
                <a16:creationId xmlns:a16="http://schemas.microsoft.com/office/drawing/2014/main" id="{0F90E149-86FB-1EB7-A72E-7589073CE919}"/>
              </a:ext>
            </a:extLst>
          </p:cNvPr>
          <p:cNvGraphicFramePr>
            <a:graphicFrameLocks noGrp="1"/>
          </p:cNvGraphicFramePr>
          <p:nvPr/>
        </p:nvGraphicFramePr>
        <p:xfrm>
          <a:off x="6465320" y="3188273"/>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4" name="Arrow: Right 13">
            <a:extLst>
              <a:ext uri="{FF2B5EF4-FFF2-40B4-BE49-F238E27FC236}">
                <a16:creationId xmlns:a16="http://schemas.microsoft.com/office/drawing/2014/main" id="{CB24527C-F1F4-33BA-B5D6-819E30373882}"/>
              </a:ext>
            </a:extLst>
          </p:cNvPr>
          <p:cNvSpPr/>
          <p:nvPr/>
        </p:nvSpPr>
        <p:spPr>
          <a:xfrm>
            <a:off x="5928872" y="3302859"/>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9061F2C-A317-8DD0-2E26-07A9FB2F6E12}"/>
              </a:ext>
            </a:extLst>
          </p:cNvPr>
          <p:cNvSpPr txBox="1"/>
          <p:nvPr/>
        </p:nvSpPr>
        <p:spPr>
          <a:xfrm>
            <a:off x="5426299" y="3204332"/>
            <a:ext cx="433132" cy="400110"/>
          </a:xfrm>
          <a:prstGeom prst="rect">
            <a:avLst/>
          </a:prstGeom>
          <a:noFill/>
        </p:spPr>
        <p:txBody>
          <a:bodyPr wrap="none" rtlCol="0">
            <a:spAutoFit/>
          </a:bodyPr>
          <a:lstStyle/>
          <a:p>
            <a:r>
              <a:rPr lang="en-US" sz="2000" dirty="0"/>
              <a:t>SP</a:t>
            </a:r>
          </a:p>
        </p:txBody>
      </p:sp>
      <p:sp>
        <p:nvSpPr>
          <p:cNvPr id="16" name="TextBox 15">
            <a:extLst>
              <a:ext uri="{FF2B5EF4-FFF2-40B4-BE49-F238E27FC236}">
                <a16:creationId xmlns:a16="http://schemas.microsoft.com/office/drawing/2014/main" id="{A49D0B57-E431-F7A3-1BED-79D0F8F79AA1}"/>
              </a:ext>
            </a:extLst>
          </p:cNvPr>
          <p:cNvSpPr txBox="1"/>
          <p:nvPr/>
        </p:nvSpPr>
        <p:spPr>
          <a:xfrm>
            <a:off x="3186926" y="5137542"/>
            <a:ext cx="2172390" cy="400110"/>
          </a:xfrm>
          <a:prstGeom prst="rect">
            <a:avLst/>
          </a:prstGeom>
          <a:noFill/>
        </p:spPr>
        <p:txBody>
          <a:bodyPr wrap="none" rtlCol="0">
            <a:spAutoFit/>
          </a:bodyPr>
          <a:lstStyle/>
          <a:p>
            <a:r>
              <a:rPr lang="en-US" sz="2000" dirty="0"/>
              <a:t>After PUSH {r1,r2}</a:t>
            </a:r>
          </a:p>
        </p:txBody>
      </p:sp>
      <p:sp>
        <p:nvSpPr>
          <p:cNvPr id="22" name="TextBox 21">
            <a:extLst>
              <a:ext uri="{FF2B5EF4-FFF2-40B4-BE49-F238E27FC236}">
                <a16:creationId xmlns:a16="http://schemas.microsoft.com/office/drawing/2014/main" id="{EA1D60ED-C6F0-ACD1-8F1A-B034A7D8F690}"/>
              </a:ext>
            </a:extLst>
          </p:cNvPr>
          <p:cNvSpPr txBox="1"/>
          <p:nvPr/>
        </p:nvSpPr>
        <p:spPr>
          <a:xfrm>
            <a:off x="5859431" y="5137542"/>
            <a:ext cx="2085827" cy="707886"/>
          </a:xfrm>
          <a:prstGeom prst="rect">
            <a:avLst/>
          </a:prstGeom>
          <a:noFill/>
        </p:spPr>
        <p:txBody>
          <a:bodyPr wrap="none" rtlCol="0">
            <a:spAutoFit/>
          </a:bodyPr>
          <a:lstStyle/>
          <a:p>
            <a:r>
              <a:rPr lang="en-US" sz="2000" dirty="0"/>
              <a:t>After POP {r0,r1},</a:t>
            </a:r>
          </a:p>
          <a:p>
            <a:r>
              <a:rPr lang="en-US" sz="2000" dirty="0"/>
              <a:t>r0=1, r1=2</a:t>
            </a:r>
          </a:p>
        </p:txBody>
      </p:sp>
      <p:sp>
        <p:nvSpPr>
          <p:cNvPr id="5" name="TextBox 4">
            <a:extLst>
              <a:ext uri="{FF2B5EF4-FFF2-40B4-BE49-F238E27FC236}">
                <a16:creationId xmlns:a16="http://schemas.microsoft.com/office/drawing/2014/main" id="{E934273F-86D4-4FCA-7A42-387A88B6F17F}"/>
              </a:ext>
            </a:extLst>
          </p:cNvPr>
          <p:cNvSpPr txBox="1"/>
          <p:nvPr/>
        </p:nvSpPr>
        <p:spPr>
          <a:xfrm>
            <a:off x="999474" y="5908432"/>
            <a:ext cx="7687325"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t>Stack contains only values like 2, 1… I write r2=2, r1=1 in the figures for illustration purposes only. </a:t>
            </a:r>
          </a:p>
        </p:txBody>
      </p:sp>
    </p:spTree>
    <p:extLst>
      <p:ext uri="{BB962C8B-B14F-4D97-AF65-F5344CB8AC3E}">
        <p14:creationId xmlns:p14="http://schemas.microsoft.com/office/powerpoint/2010/main" val="2007294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1381-7AB9-FDA4-7FF9-72D96B8AD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305BA-4383-D05A-A09F-E8888E979ED1}"/>
              </a:ext>
            </a:extLst>
          </p:cNvPr>
          <p:cNvSpPr>
            <a:spLocks noGrp="1"/>
          </p:cNvSpPr>
          <p:nvPr>
            <p:ph type="title"/>
          </p:nvPr>
        </p:nvSpPr>
        <p:spPr/>
        <p:txBody>
          <a:bodyPr/>
          <a:lstStyle/>
          <a:p>
            <a:r>
              <a:rPr lang="en-US" dirty="0"/>
              <a:t>Stack</a:t>
            </a:r>
          </a:p>
        </p:txBody>
      </p:sp>
      <p:sp>
        <p:nvSpPr>
          <p:cNvPr id="3" name="Slide Number Placeholder 2">
            <a:extLst>
              <a:ext uri="{FF2B5EF4-FFF2-40B4-BE49-F238E27FC236}">
                <a16:creationId xmlns:a16="http://schemas.microsoft.com/office/drawing/2014/main" id="{7B241A1B-240A-D65E-9382-43BCA168C33F}"/>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a:extLst>
              <a:ext uri="{FF2B5EF4-FFF2-40B4-BE49-F238E27FC236}">
                <a16:creationId xmlns:a16="http://schemas.microsoft.com/office/drawing/2014/main" id="{D196B1B3-16B9-7552-E252-1625434D0362}"/>
              </a:ext>
            </a:extLst>
          </p:cNvPr>
          <p:cNvSpPr>
            <a:spLocks noGrp="1"/>
          </p:cNvSpPr>
          <p:nvPr>
            <p:ph sz="quarter" idx="1"/>
          </p:nvPr>
        </p:nvSpPr>
        <p:spPr>
          <a:xfrm>
            <a:off x="457200" y="1219200"/>
            <a:ext cx="8229600" cy="2667000"/>
          </a:xfrm>
        </p:spPr>
        <p:txBody>
          <a:bodyPr>
            <a:normAutofit fontScale="92500" lnSpcReduction="20000"/>
          </a:bodyPr>
          <a:lstStyle/>
          <a:p>
            <a:pPr marL="342900" indent="-342900">
              <a:spcBef>
                <a:spcPts val="0"/>
              </a:spcBef>
            </a:pPr>
            <a:r>
              <a:rPr lang="en-US" dirty="0"/>
              <a:t>Initially, let r0=0, r1=1, r2=2, r3=3</a:t>
            </a:r>
          </a:p>
          <a:p>
            <a:pPr marL="342900" indent="-342900"/>
            <a:r>
              <a:rPr lang="en-US" dirty="0"/>
              <a:t>Execute  </a:t>
            </a:r>
          </a:p>
          <a:p>
            <a:pPr marL="0" indent="0">
              <a:buNone/>
            </a:pPr>
            <a:r>
              <a:rPr lang="en-US" dirty="0">
                <a:solidFill>
                  <a:srgbClr val="7030A0"/>
                </a:solidFill>
                <a:ea typeface="Courier New"/>
                <a:cs typeface="Courier New"/>
                <a:sym typeface="Courier New"/>
              </a:rPr>
              <a:t>     PUSH {r1,r2}</a:t>
            </a:r>
          </a:p>
          <a:p>
            <a:pPr marL="0" indent="0">
              <a:buNone/>
            </a:pPr>
            <a:r>
              <a:rPr lang="en-US" dirty="0">
                <a:solidFill>
                  <a:srgbClr val="7030A0"/>
                </a:solidFill>
                <a:ea typeface="Courier New"/>
                <a:cs typeface="Courier New"/>
                <a:sym typeface="Courier New"/>
              </a:rPr>
              <a:t>     PUSH {r3,r0}</a:t>
            </a:r>
          </a:p>
          <a:p>
            <a:pPr marL="0" indent="0">
              <a:buNone/>
            </a:pPr>
            <a:r>
              <a:rPr lang="en-US" dirty="0">
                <a:solidFill>
                  <a:srgbClr val="7030A0"/>
                </a:solidFill>
                <a:ea typeface="Courier New"/>
                <a:cs typeface="Courier New"/>
                <a:sym typeface="Courier New"/>
              </a:rPr>
              <a:t>     POP {r0-r3}  (same as </a:t>
            </a:r>
            <a:r>
              <a:rPr lang="pt-BR" dirty="0">
                <a:solidFill>
                  <a:srgbClr val="7030A0"/>
                </a:solidFill>
                <a:ea typeface="Courier New"/>
                <a:cs typeface="Courier New"/>
                <a:sym typeface="Courier New"/>
              </a:rPr>
              <a:t>POP {r0, r1, r2, r3}</a:t>
            </a:r>
            <a:r>
              <a:rPr lang="en-US" dirty="0">
                <a:solidFill>
                  <a:srgbClr val="7030A0"/>
                </a:solidFill>
                <a:ea typeface="Courier New"/>
                <a:cs typeface="Courier New"/>
                <a:sym typeface="Courier New"/>
              </a:rPr>
              <a:t>)</a:t>
            </a:r>
          </a:p>
          <a:p>
            <a:pPr marL="342900" indent="-342900"/>
            <a:r>
              <a:rPr lang="en-US" dirty="0"/>
              <a:t>Draw stack after each instruction. What is in registers after execution?</a:t>
            </a:r>
          </a:p>
        </p:txBody>
      </p:sp>
      <p:graphicFrame>
        <p:nvGraphicFramePr>
          <p:cNvPr id="8" name="Table 7">
            <a:extLst>
              <a:ext uri="{FF2B5EF4-FFF2-40B4-BE49-F238E27FC236}">
                <a16:creationId xmlns:a16="http://schemas.microsoft.com/office/drawing/2014/main" id="{DEDAA85D-661A-99AB-3D20-19E0FF250C15}"/>
              </a:ext>
            </a:extLst>
          </p:cNvPr>
          <p:cNvGraphicFramePr>
            <a:graphicFrameLocks noGrp="1"/>
          </p:cNvGraphicFramePr>
          <p:nvPr/>
        </p:nvGraphicFramePr>
        <p:xfrm>
          <a:off x="955684"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9" name="Arrow: Right 8">
            <a:extLst>
              <a:ext uri="{FF2B5EF4-FFF2-40B4-BE49-F238E27FC236}">
                <a16:creationId xmlns:a16="http://schemas.microsoft.com/office/drawing/2014/main" id="{E94243C7-593D-0C96-F723-8D4C183BBC42}"/>
              </a:ext>
            </a:extLst>
          </p:cNvPr>
          <p:cNvSpPr/>
          <p:nvPr/>
        </p:nvSpPr>
        <p:spPr>
          <a:xfrm>
            <a:off x="479216" y="391393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D1BED-766C-F58C-91B9-24985E60BCCB}"/>
              </a:ext>
            </a:extLst>
          </p:cNvPr>
          <p:cNvSpPr txBox="1"/>
          <p:nvPr/>
        </p:nvSpPr>
        <p:spPr>
          <a:xfrm>
            <a:off x="-23357" y="3815407"/>
            <a:ext cx="433132" cy="400110"/>
          </a:xfrm>
          <a:prstGeom prst="rect">
            <a:avLst/>
          </a:prstGeom>
          <a:noFill/>
        </p:spPr>
        <p:txBody>
          <a:bodyPr wrap="none" rtlCol="0">
            <a:spAutoFit/>
          </a:bodyPr>
          <a:lstStyle/>
          <a:p>
            <a:r>
              <a:rPr lang="en-US" sz="2000" dirty="0"/>
              <a:t>SP</a:t>
            </a:r>
          </a:p>
        </p:txBody>
      </p:sp>
      <p:graphicFrame>
        <p:nvGraphicFramePr>
          <p:cNvPr id="11" name="Table 10">
            <a:extLst>
              <a:ext uri="{FF2B5EF4-FFF2-40B4-BE49-F238E27FC236}">
                <a16:creationId xmlns:a16="http://schemas.microsoft.com/office/drawing/2014/main" id="{048D6398-3761-E3BF-934F-679B116555DD}"/>
              </a:ext>
            </a:extLst>
          </p:cNvPr>
          <p:cNvGraphicFramePr>
            <a:graphicFrameLocks noGrp="1"/>
          </p:cNvGraphicFramePr>
          <p:nvPr>
            <p:extLst>
              <p:ext uri="{D42A27DB-BD31-4B8C-83A1-F6EECF244321}">
                <p14:modId xmlns:p14="http://schemas.microsoft.com/office/powerpoint/2010/main" val="475370302"/>
              </p:ext>
            </p:extLst>
          </p:nvPr>
        </p:nvGraphicFramePr>
        <p:xfrm>
          <a:off x="2876940"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graphicFrame>
        <p:nvGraphicFramePr>
          <p:cNvPr id="14" name="Table 13">
            <a:extLst>
              <a:ext uri="{FF2B5EF4-FFF2-40B4-BE49-F238E27FC236}">
                <a16:creationId xmlns:a16="http://schemas.microsoft.com/office/drawing/2014/main" id="{CC6440A4-115E-9454-B8B0-2DAC5F2E8E85}"/>
              </a:ext>
            </a:extLst>
          </p:cNvPr>
          <p:cNvGraphicFramePr>
            <a:graphicFrameLocks noGrp="1"/>
          </p:cNvGraphicFramePr>
          <p:nvPr>
            <p:extLst>
              <p:ext uri="{D42A27DB-BD31-4B8C-83A1-F6EECF244321}">
                <p14:modId xmlns:p14="http://schemas.microsoft.com/office/powerpoint/2010/main" val="790742638"/>
              </p:ext>
            </p:extLst>
          </p:nvPr>
        </p:nvGraphicFramePr>
        <p:xfrm>
          <a:off x="5181600"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7" name="TextBox 16">
            <a:extLst>
              <a:ext uri="{FF2B5EF4-FFF2-40B4-BE49-F238E27FC236}">
                <a16:creationId xmlns:a16="http://schemas.microsoft.com/office/drawing/2014/main" id="{52562272-51E0-2489-4A34-7B222B899CB7}"/>
              </a:ext>
            </a:extLst>
          </p:cNvPr>
          <p:cNvSpPr txBox="1"/>
          <p:nvPr/>
        </p:nvSpPr>
        <p:spPr>
          <a:xfrm>
            <a:off x="2265540" y="5737878"/>
            <a:ext cx="2172390" cy="400110"/>
          </a:xfrm>
          <a:prstGeom prst="rect">
            <a:avLst/>
          </a:prstGeom>
          <a:noFill/>
        </p:spPr>
        <p:txBody>
          <a:bodyPr wrap="none" rtlCol="0">
            <a:spAutoFit/>
          </a:bodyPr>
          <a:lstStyle/>
          <a:p>
            <a:r>
              <a:rPr lang="en-US" sz="2000" dirty="0"/>
              <a:t>After PUSH {r1,r2}</a:t>
            </a:r>
          </a:p>
        </p:txBody>
      </p:sp>
      <p:sp>
        <p:nvSpPr>
          <p:cNvPr id="18" name="TextBox 17">
            <a:extLst>
              <a:ext uri="{FF2B5EF4-FFF2-40B4-BE49-F238E27FC236}">
                <a16:creationId xmlns:a16="http://schemas.microsoft.com/office/drawing/2014/main" id="{FE4D86A8-AA90-1492-FAB2-5B31D09C28BB}"/>
              </a:ext>
            </a:extLst>
          </p:cNvPr>
          <p:cNvSpPr txBox="1"/>
          <p:nvPr/>
        </p:nvSpPr>
        <p:spPr>
          <a:xfrm>
            <a:off x="4575711" y="5733869"/>
            <a:ext cx="2172390" cy="400110"/>
          </a:xfrm>
          <a:prstGeom prst="rect">
            <a:avLst/>
          </a:prstGeom>
          <a:noFill/>
        </p:spPr>
        <p:txBody>
          <a:bodyPr wrap="none" rtlCol="0">
            <a:spAutoFit/>
          </a:bodyPr>
          <a:lstStyle/>
          <a:p>
            <a:r>
              <a:rPr lang="en-US" sz="2000" dirty="0"/>
              <a:t>After PUSH {r3,r0}</a:t>
            </a:r>
          </a:p>
        </p:txBody>
      </p:sp>
      <p:graphicFrame>
        <p:nvGraphicFramePr>
          <p:cNvPr id="19" name="Table 18">
            <a:extLst>
              <a:ext uri="{FF2B5EF4-FFF2-40B4-BE49-F238E27FC236}">
                <a16:creationId xmlns:a16="http://schemas.microsoft.com/office/drawing/2014/main" id="{AF2FBF41-08B2-16FD-577F-65544DBE3A6E}"/>
              </a:ext>
            </a:extLst>
          </p:cNvPr>
          <p:cNvGraphicFramePr>
            <a:graphicFrameLocks noGrp="1"/>
          </p:cNvGraphicFramePr>
          <p:nvPr/>
        </p:nvGraphicFramePr>
        <p:xfrm>
          <a:off x="7417937"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22" name="TextBox 21">
            <a:extLst>
              <a:ext uri="{FF2B5EF4-FFF2-40B4-BE49-F238E27FC236}">
                <a16:creationId xmlns:a16="http://schemas.microsoft.com/office/drawing/2014/main" id="{48B69D91-DFE6-88E9-7060-DADED4F5332B}"/>
              </a:ext>
            </a:extLst>
          </p:cNvPr>
          <p:cNvSpPr txBox="1"/>
          <p:nvPr/>
        </p:nvSpPr>
        <p:spPr>
          <a:xfrm>
            <a:off x="6721062" y="5743714"/>
            <a:ext cx="2383986" cy="707886"/>
          </a:xfrm>
          <a:prstGeom prst="rect">
            <a:avLst/>
          </a:prstGeom>
          <a:noFill/>
        </p:spPr>
        <p:txBody>
          <a:bodyPr wrap="none" rtlCol="0">
            <a:spAutoFit/>
          </a:bodyPr>
          <a:lstStyle/>
          <a:p>
            <a:r>
              <a:rPr lang="en-US" sz="2000" dirty="0"/>
              <a:t>After POP {r0-r3}</a:t>
            </a:r>
          </a:p>
          <a:p>
            <a:r>
              <a:rPr lang="en-US" sz="2000" dirty="0"/>
              <a:t>r0=?, r1=?, r2=?, r3=?</a:t>
            </a:r>
          </a:p>
        </p:txBody>
      </p:sp>
    </p:spTree>
    <p:extLst>
      <p:ext uri="{BB962C8B-B14F-4D97-AF65-F5344CB8AC3E}">
        <p14:creationId xmlns:p14="http://schemas.microsoft.com/office/powerpoint/2010/main" val="465749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492E-E870-6486-2824-677B21BA3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22505-1263-8867-CBD4-3845DB776BF0}"/>
              </a:ext>
            </a:extLst>
          </p:cNvPr>
          <p:cNvSpPr>
            <a:spLocks noGrp="1"/>
          </p:cNvSpPr>
          <p:nvPr>
            <p:ph type="title"/>
          </p:nvPr>
        </p:nvSpPr>
        <p:spPr/>
        <p:txBody>
          <a:bodyPr/>
          <a:lstStyle/>
          <a:p>
            <a:r>
              <a:rPr lang="en-US" dirty="0"/>
              <a:t>Stack ANS</a:t>
            </a:r>
          </a:p>
        </p:txBody>
      </p:sp>
      <p:sp>
        <p:nvSpPr>
          <p:cNvPr id="3" name="Slide Number Placeholder 2">
            <a:extLst>
              <a:ext uri="{FF2B5EF4-FFF2-40B4-BE49-F238E27FC236}">
                <a16:creationId xmlns:a16="http://schemas.microsoft.com/office/drawing/2014/main" id="{DC7FB908-97AA-B669-AB86-CBD8339F3B94}"/>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36843E04-780F-8745-F7A3-B8C73E674D4A}"/>
              </a:ext>
            </a:extLst>
          </p:cNvPr>
          <p:cNvSpPr>
            <a:spLocks noGrp="1"/>
          </p:cNvSpPr>
          <p:nvPr>
            <p:ph sz="quarter" idx="1"/>
          </p:nvPr>
        </p:nvSpPr>
        <p:spPr>
          <a:xfrm>
            <a:off x="457200" y="1219200"/>
            <a:ext cx="8229600" cy="2667000"/>
          </a:xfrm>
        </p:spPr>
        <p:txBody>
          <a:bodyPr>
            <a:normAutofit/>
          </a:bodyPr>
          <a:lstStyle/>
          <a:p>
            <a:pPr marL="342900" indent="-342900">
              <a:spcBef>
                <a:spcPts val="0"/>
              </a:spcBef>
            </a:pPr>
            <a:r>
              <a:rPr lang="en-US" sz="2000" dirty="0"/>
              <a:t>Initially, let r0=0, r1=1, r2=2, r3=3</a:t>
            </a:r>
          </a:p>
          <a:p>
            <a:pPr marL="342900" indent="-342900"/>
            <a:r>
              <a:rPr lang="en-US" sz="2000" dirty="0"/>
              <a:t>Execute  </a:t>
            </a:r>
          </a:p>
          <a:p>
            <a:pPr marL="0" indent="0">
              <a:buNone/>
            </a:pPr>
            <a:r>
              <a:rPr lang="en-US" sz="2000" dirty="0">
                <a:solidFill>
                  <a:srgbClr val="7030A0"/>
                </a:solidFill>
                <a:ea typeface="Courier New"/>
                <a:cs typeface="Courier New"/>
                <a:sym typeface="Courier New"/>
              </a:rPr>
              <a:t>     PUSH {r1,r2} @</a:t>
            </a:r>
            <a:r>
              <a:rPr lang="pt-BR" sz="2000" dirty="0">
                <a:solidFill>
                  <a:srgbClr val="7030A0"/>
                </a:solidFill>
                <a:ea typeface="Courier New"/>
                <a:cs typeface="Courier New"/>
                <a:sym typeface="Courier New"/>
              </a:rPr>
              <a:t> Equiv. to PUSH r2 \n PUSH r1</a:t>
            </a:r>
            <a:endParaRPr lang="en-US" sz="2000" dirty="0">
              <a:solidFill>
                <a:srgbClr val="7030A0"/>
              </a:solidFill>
              <a:ea typeface="Courier New"/>
              <a:cs typeface="Courier New"/>
              <a:sym typeface="Courier New"/>
            </a:endParaRPr>
          </a:p>
          <a:p>
            <a:pPr marL="0" indent="0">
              <a:buNone/>
            </a:pPr>
            <a:r>
              <a:rPr lang="en-US" sz="2000" dirty="0">
                <a:solidFill>
                  <a:srgbClr val="7030A0"/>
                </a:solidFill>
                <a:ea typeface="Courier New"/>
                <a:cs typeface="Courier New"/>
                <a:sym typeface="Courier New"/>
              </a:rPr>
              <a:t>     PUSH {r3,r0} @</a:t>
            </a:r>
            <a:r>
              <a:rPr lang="pt-BR" sz="2000" dirty="0">
                <a:solidFill>
                  <a:srgbClr val="7030A0"/>
                </a:solidFill>
                <a:ea typeface="Courier New"/>
                <a:cs typeface="Courier New"/>
                <a:sym typeface="Courier New"/>
              </a:rPr>
              <a:t> Equiv. to PUSH r3 \n PUSH r0</a:t>
            </a:r>
            <a:endParaRPr lang="en-US" sz="2000" dirty="0">
              <a:solidFill>
                <a:srgbClr val="7030A0"/>
              </a:solidFill>
              <a:ea typeface="Courier New"/>
              <a:cs typeface="Courier New"/>
              <a:sym typeface="Courier New"/>
            </a:endParaRPr>
          </a:p>
          <a:p>
            <a:pPr marL="0" indent="0">
              <a:buNone/>
            </a:pPr>
            <a:r>
              <a:rPr lang="en-US" sz="2000" dirty="0">
                <a:solidFill>
                  <a:srgbClr val="7030A0"/>
                </a:solidFill>
                <a:ea typeface="Courier New"/>
                <a:cs typeface="Courier New"/>
                <a:sym typeface="Courier New"/>
              </a:rPr>
              <a:t>     POP {r0-r3}  @</a:t>
            </a:r>
            <a:r>
              <a:rPr lang="pt-BR" sz="2000" dirty="0">
                <a:solidFill>
                  <a:srgbClr val="7030A0"/>
                </a:solidFill>
                <a:ea typeface="Courier New"/>
                <a:cs typeface="Courier New"/>
                <a:sym typeface="Courier New"/>
              </a:rPr>
              <a:t> Equiv. to POP r0 \n POP r1 \n POP r2 \n POP r3</a:t>
            </a:r>
            <a:endParaRPr lang="en-US" sz="2000" dirty="0">
              <a:solidFill>
                <a:srgbClr val="7030A0"/>
              </a:solidFill>
              <a:ea typeface="Courier New"/>
              <a:cs typeface="Courier New"/>
              <a:sym typeface="Courier New"/>
            </a:endParaRPr>
          </a:p>
        </p:txBody>
      </p:sp>
      <p:graphicFrame>
        <p:nvGraphicFramePr>
          <p:cNvPr id="8" name="Table 7">
            <a:extLst>
              <a:ext uri="{FF2B5EF4-FFF2-40B4-BE49-F238E27FC236}">
                <a16:creationId xmlns:a16="http://schemas.microsoft.com/office/drawing/2014/main" id="{03308E94-A0F6-359D-717D-891E2E630EAB}"/>
              </a:ext>
            </a:extLst>
          </p:cNvPr>
          <p:cNvGraphicFramePr>
            <a:graphicFrameLocks noGrp="1"/>
          </p:cNvGraphicFramePr>
          <p:nvPr>
            <p:extLst>
              <p:ext uri="{D42A27DB-BD31-4B8C-83A1-F6EECF244321}">
                <p14:modId xmlns:p14="http://schemas.microsoft.com/office/powerpoint/2010/main" val="1105686839"/>
              </p:ext>
            </p:extLst>
          </p:nvPr>
        </p:nvGraphicFramePr>
        <p:xfrm>
          <a:off x="955684"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9" name="Arrow: Right 8">
            <a:extLst>
              <a:ext uri="{FF2B5EF4-FFF2-40B4-BE49-F238E27FC236}">
                <a16:creationId xmlns:a16="http://schemas.microsoft.com/office/drawing/2014/main" id="{FBE0A9DC-0F13-5E17-C834-D68F85D8A1B9}"/>
              </a:ext>
            </a:extLst>
          </p:cNvPr>
          <p:cNvSpPr/>
          <p:nvPr/>
        </p:nvSpPr>
        <p:spPr>
          <a:xfrm>
            <a:off x="479216" y="391393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E97FC87-43CF-4901-CF7A-C5C93E8F3712}"/>
              </a:ext>
            </a:extLst>
          </p:cNvPr>
          <p:cNvSpPr txBox="1"/>
          <p:nvPr/>
        </p:nvSpPr>
        <p:spPr>
          <a:xfrm>
            <a:off x="-23357" y="3815407"/>
            <a:ext cx="433132" cy="400110"/>
          </a:xfrm>
          <a:prstGeom prst="rect">
            <a:avLst/>
          </a:prstGeom>
          <a:noFill/>
        </p:spPr>
        <p:txBody>
          <a:bodyPr wrap="none" rtlCol="0">
            <a:spAutoFit/>
          </a:bodyPr>
          <a:lstStyle/>
          <a:p>
            <a:r>
              <a:rPr lang="en-US" sz="2000" dirty="0"/>
              <a:t>SP</a:t>
            </a:r>
          </a:p>
        </p:txBody>
      </p:sp>
      <p:graphicFrame>
        <p:nvGraphicFramePr>
          <p:cNvPr id="11" name="Table 10">
            <a:extLst>
              <a:ext uri="{FF2B5EF4-FFF2-40B4-BE49-F238E27FC236}">
                <a16:creationId xmlns:a16="http://schemas.microsoft.com/office/drawing/2014/main" id="{F41DF45E-6835-8E25-656C-8E8DC4631F0E}"/>
              </a:ext>
            </a:extLst>
          </p:cNvPr>
          <p:cNvGraphicFramePr>
            <a:graphicFrameLocks noGrp="1"/>
          </p:cNvGraphicFramePr>
          <p:nvPr>
            <p:extLst>
              <p:ext uri="{D42A27DB-BD31-4B8C-83A1-F6EECF244321}">
                <p14:modId xmlns:p14="http://schemas.microsoft.com/office/powerpoint/2010/main" val="3297162447"/>
              </p:ext>
            </p:extLst>
          </p:nvPr>
        </p:nvGraphicFramePr>
        <p:xfrm>
          <a:off x="2876940" y="3799348"/>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12" name="Arrow: Right 11">
            <a:extLst>
              <a:ext uri="{FF2B5EF4-FFF2-40B4-BE49-F238E27FC236}">
                <a16:creationId xmlns:a16="http://schemas.microsoft.com/office/drawing/2014/main" id="{B243B488-2D7A-A8C2-598C-7289DABA24B7}"/>
              </a:ext>
            </a:extLst>
          </p:cNvPr>
          <p:cNvSpPr/>
          <p:nvPr/>
        </p:nvSpPr>
        <p:spPr>
          <a:xfrm>
            <a:off x="2420559" y="4638971"/>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6F7C4A-B9A7-2468-84A3-CDFC9A75A5CB}"/>
              </a:ext>
            </a:extLst>
          </p:cNvPr>
          <p:cNvSpPr txBox="1"/>
          <p:nvPr/>
        </p:nvSpPr>
        <p:spPr>
          <a:xfrm>
            <a:off x="1917986" y="4540444"/>
            <a:ext cx="433132" cy="400110"/>
          </a:xfrm>
          <a:prstGeom prst="rect">
            <a:avLst/>
          </a:prstGeom>
          <a:noFill/>
        </p:spPr>
        <p:txBody>
          <a:bodyPr wrap="none" rtlCol="0">
            <a:spAutoFit/>
          </a:bodyPr>
          <a:lstStyle/>
          <a:p>
            <a:r>
              <a:rPr lang="en-US" sz="2000" dirty="0"/>
              <a:t>SP</a:t>
            </a:r>
          </a:p>
        </p:txBody>
      </p:sp>
      <p:graphicFrame>
        <p:nvGraphicFramePr>
          <p:cNvPr id="14" name="Table 13">
            <a:extLst>
              <a:ext uri="{FF2B5EF4-FFF2-40B4-BE49-F238E27FC236}">
                <a16:creationId xmlns:a16="http://schemas.microsoft.com/office/drawing/2014/main" id="{D915B79B-0559-150B-208E-D718B7EC52C1}"/>
              </a:ext>
            </a:extLst>
          </p:cNvPr>
          <p:cNvGraphicFramePr>
            <a:graphicFrameLocks noGrp="1"/>
          </p:cNvGraphicFramePr>
          <p:nvPr>
            <p:extLst>
              <p:ext uri="{D42A27DB-BD31-4B8C-83A1-F6EECF244321}">
                <p14:modId xmlns:p14="http://schemas.microsoft.com/office/powerpoint/2010/main" val="2158631816"/>
              </p:ext>
            </p:extLst>
          </p:nvPr>
        </p:nvGraphicFramePr>
        <p:xfrm>
          <a:off x="5181600"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r>
                        <a:rPr lang="en-US" dirty="0"/>
                        <a:t>r2=2</a:t>
                      </a:r>
                    </a:p>
                  </a:txBody>
                  <a:tcPr/>
                </a:tc>
                <a:extLst>
                  <a:ext uri="{0D108BD9-81ED-4DB2-BD59-A6C34878D82A}">
                    <a16:rowId xmlns:a16="http://schemas.microsoft.com/office/drawing/2014/main" val="2790041352"/>
                  </a:ext>
                </a:extLst>
              </a:tr>
              <a:tr h="370840">
                <a:tc>
                  <a:txBody>
                    <a:bodyPr/>
                    <a:lstStyle/>
                    <a:p>
                      <a:pPr algn="ctr"/>
                      <a:r>
                        <a:rPr lang="en-US" dirty="0"/>
                        <a:t>r1=1</a:t>
                      </a:r>
                    </a:p>
                  </a:txBody>
                  <a:tcPr/>
                </a:tc>
                <a:extLst>
                  <a:ext uri="{0D108BD9-81ED-4DB2-BD59-A6C34878D82A}">
                    <a16:rowId xmlns:a16="http://schemas.microsoft.com/office/drawing/2014/main" val="1635259289"/>
                  </a:ext>
                </a:extLst>
              </a:tr>
              <a:tr h="370840">
                <a:tc>
                  <a:txBody>
                    <a:bodyPr/>
                    <a:lstStyle/>
                    <a:p>
                      <a:pPr algn="ctr"/>
                      <a:r>
                        <a:rPr lang="en-US" dirty="0"/>
                        <a:t>r3=3</a:t>
                      </a:r>
                    </a:p>
                  </a:txBody>
                  <a:tcPr/>
                </a:tc>
                <a:extLst>
                  <a:ext uri="{0D108BD9-81ED-4DB2-BD59-A6C34878D82A}">
                    <a16:rowId xmlns:a16="http://schemas.microsoft.com/office/drawing/2014/main" val="3475318883"/>
                  </a:ext>
                </a:extLst>
              </a:tr>
              <a:tr h="370840">
                <a:tc>
                  <a:txBody>
                    <a:bodyPr/>
                    <a:lstStyle/>
                    <a:p>
                      <a:pPr algn="ctr"/>
                      <a:r>
                        <a:rPr lang="en-US" dirty="0"/>
                        <a:t>r0=0</a:t>
                      </a:r>
                    </a:p>
                  </a:txBody>
                  <a:tcPr/>
                </a:tc>
                <a:extLst>
                  <a:ext uri="{0D108BD9-81ED-4DB2-BD59-A6C34878D82A}">
                    <a16:rowId xmlns:a16="http://schemas.microsoft.com/office/drawing/2014/main" val="2400188190"/>
                  </a:ext>
                </a:extLst>
              </a:tr>
            </a:tbl>
          </a:graphicData>
        </a:graphic>
      </p:graphicFrame>
      <p:sp>
        <p:nvSpPr>
          <p:cNvPr id="15" name="Arrow: Right 14">
            <a:extLst>
              <a:ext uri="{FF2B5EF4-FFF2-40B4-BE49-F238E27FC236}">
                <a16:creationId xmlns:a16="http://schemas.microsoft.com/office/drawing/2014/main" id="{89C82B0B-D220-355C-C11A-2B105F6B47A5}"/>
              </a:ext>
            </a:extLst>
          </p:cNvPr>
          <p:cNvSpPr/>
          <p:nvPr/>
        </p:nvSpPr>
        <p:spPr>
          <a:xfrm>
            <a:off x="4715716" y="5360854"/>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B622E9D-674E-4337-516D-F1611B40B59F}"/>
              </a:ext>
            </a:extLst>
          </p:cNvPr>
          <p:cNvSpPr txBox="1"/>
          <p:nvPr/>
        </p:nvSpPr>
        <p:spPr>
          <a:xfrm>
            <a:off x="4213143" y="5262327"/>
            <a:ext cx="433132" cy="400110"/>
          </a:xfrm>
          <a:prstGeom prst="rect">
            <a:avLst/>
          </a:prstGeom>
          <a:noFill/>
        </p:spPr>
        <p:txBody>
          <a:bodyPr wrap="none" rtlCol="0">
            <a:spAutoFit/>
          </a:bodyPr>
          <a:lstStyle/>
          <a:p>
            <a:r>
              <a:rPr lang="en-US" sz="2000" dirty="0"/>
              <a:t>SP</a:t>
            </a:r>
          </a:p>
        </p:txBody>
      </p:sp>
      <p:sp>
        <p:nvSpPr>
          <p:cNvPr id="17" name="TextBox 16">
            <a:extLst>
              <a:ext uri="{FF2B5EF4-FFF2-40B4-BE49-F238E27FC236}">
                <a16:creationId xmlns:a16="http://schemas.microsoft.com/office/drawing/2014/main" id="{89FABA7E-D88F-B22C-2671-4103A5520001}"/>
              </a:ext>
            </a:extLst>
          </p:cNvPr>
          <p:cNvSpPr txBox="1"/>
          <p:nvPr/>
        </p:nvSpPr>
        <p:spPr>
          <a:xfrm>
            <a:off x="2265540" y="5737878"/>
            <a:ext cx="2172390" cy="400110"/>
          </a:xfrm>
          <a:prstGeom prst="rect">
            <a:avLst/>
          </a:prstGeom>
          <a:noFill/>
        </p:spPr>
        <p:txBody>
          <a:bodyPr wrap="none" rtlCol="0">
            <a:spAutoFit/>
          </a:bodyPr>
          <a:lstStyle/>
          <a:p>
            <a:r>
              <a:rPr lang="en-US" sz="2000" dirty="0"/>
              <a:t>After PUSH {r1,r2}</a:t>
            </a:r>
          </a:p>
        </p:txBody>
      </p:sp>
      <p:sp>
        <p:nvSpPr>
          <p:cNvPr id="18" name="TextBox 17">
            <a:extLst>
              <a:ext uri="{FF2B5EF4-FFF2-40B4-BE49-F238E27FC236}">
                <a16:creationId xmlns:a16="http://schemas.microsoft.com/office/drawing/2014/main" id="{575A4558-8CD1-5604-11F5-98FCE4191B47}"/>
              </a:ext>
            </a:extLst>
          </p:cNvPr>
          <p:cNvSpPr txBox="1"/>
          <p:nvPr/>
        </p:nvSpPr>
        <p:spPr>
          <a:xfrm>
            <a:off x="4575711" y="5733869"/>
            <a:ext cx="2172390" cy="400110"/>
          </a:xfrm>
          <a:prstGeom prst="rect">
            <a:avLst/>
          </a:prstGeom>
          <a:noFill/>
        </p:spPr>
        <p:txBody>
          <a:bodyPr wrap="none" rtlCol="0">
            <a:spAutoFit/>
          </a:bodyPr>
          <a:lstStyle/>
          <a:p>
            <a:r>
              <a:rPr lang="en-US" sz="2000" dirty="0"/>
              <a:t>After PUSH {r3,r0}</a:t>
            </a:r>
          </a:p>
        </p:txBody>
      </p:sp>
      <p:graphicFrame>
        <p:nvGraphicFramePr>
          <p:cNvPr id="19" name="Table 18">
            <a:extLst>
              <a:ext uri="{FF2B5EF4-FFF2-40B4-BE49-F238E27FC236}">
                <a16:creationId xmlns:a16="http://schemas.microsoft.com/office/drawing/2014/main" id="{138764CE-BAA4-9C81-9732-4DD4B550914C}"/>
              </a:ext>
            </a:extLst>
          </p:cNvPr>
          <p:cNvGraphicFramePr>
            <a:graphicFrameLocks noGrp="1"/>
          </p:cNvGraphicFramePr>
          <p:nvPr>
            <p:extLst>
              <p:ext uri="{D42A27DB-BD31-4B8C-83A1-F6EECF244321}">
                <p14:modId xmlns:p14="http://schemas.microsoft.com/office/powerpoint/2010/main" val="3777744457"/>
              </p:ext>
            </p:extLst>
          </p:nvPr>
        </p:nvGraphicFramePr>
        <p:xfrm>
          <a:off x="7417937" y="3784600"/>
          <a:ext cx="838200"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965708559"/>
                    </a:ext>
                  </a:extLst>
                </a:gridCol>
              </a:tblGrid>
              <a:tr h="370840">
                <a:tc>
                  <a:txBody>
                    <a:bodyPr/>
                    <a:lstStyle/>
                    <a:p>
                      <a:pPr algn="ctr"/>
                      <a:endParaRPr lang="en-US" dirty="0"/>
                    </a:p>
                  </a:txBody>
                  <a:tcPr/>
                </a:tc>
                <a:extLst>
                  <a:ext uri="{0D108BD9-81ED-4DB2-BD59-A6C34878D82A}">
                    <a16:rowId xmlns:a16="http://schemas.microsoft.com/office/drawing/2014/main" val="2472658947"/>
                  </a:ext>
                </a:extLst>
              </a:tr>
              <a:tr h="370840">
                <a:tc>
                  <a:txBody>
                    <a:bodyPr/>
                    <a:lstStyle/>
                    <a:p>
                      <a:pPr algn="ctr"/>
                      <a:endParaRPr lang="en-US" dirty="0"/>
                    </a:p>
                  </a:txBody>
                  <a:tcPr/>
                </a:tc>
                <a:extLst>
                  <a:ext uri="{0D108BD9-81ED-4DB2-BD59-A6C34878D82A}">
                    <a16:rowId xmlns:a16="http://schemas.microsoft.com/office/drawing/2014/main" val="2790041352"/>
                  </a:ext>
                </a:extLst>
              </a:tr>
              <a:tr h="370840">
                <a:tc>
                  <a:txBody>
                    <a:bodyPr/>
                    <a:lstStyle/>
                    <a:p>
                      <a:pPr algn="ctr"/>
                      <a:endParaRPr lang="en-US" dirty="0"/>
                    </a:p>
                  </a:txBody>
                  <a:tcPr/>
                </a:tc>
                <a:extLst>
                  <a:ext uri="{0D108BD9-81ED-4DB2-BD59-A6C34878D82A}">
                    <a16:rowId xmlns:a16="http://schemas.microsoft.com/office/drawing/2014/main" val="1635259289"/>
                  </a:ext>
                </a:extLst>
              </a:tr>
              <a:tr h="370840">
                <a:tc>
                  <a:txBody>
                    <a:bodyPr/>
                    <a:lstStyle/>
                    <a:p>
                      <a:pPr algn="ctr"/>
                      <a:endParaRPr lang="en-US" dirty="0"/>
                    </a:p>
                  </a:txBody>
                  <a:tcPr/>
                </a:tc>
                <a:extLst>
                  <a:ext uri="{0D108BD9-81ED-4DB2-BD59-A6C34878D82A}">
                    <a16:rowId xmlns:a16="http://schemas.microsoft.com/office/drawing/2014/main" val="3475318883"/>
                  </a:ext>
                </a:extLst>
              </a:tr>
              <a:tr h="370840">
                <a:tc>
                  <a:txBody>
                    <a:bodyPr/>
                    <a:lstStyle/>
                    <a:p>
                      <a:pPr algn="ctr"/>
                      <a:endParaRPr lang="en-US" dirty="0"/>
                    </a:p>
                  </a:txBody>
                  <a:tcPr/>
                </a:tc>
                <a:extLst>
                  <a:ext uri="{0D108BD9-81ED-4DB2-BD59-A6C34878D82A}">
                    <a16:rowId xmlns:a16="http://schemas.microsoft.com/office/drawing/2014/main" val="2400188190"/>
                  </a:ext>
                </a:extLst>
              </a:tr>
            </a:tbl>
          </a:graphicData>
        </a:graphic>
      </p:graphicFrame>
      <p:sp>
        <p:nvSpPr>
          <p:cNvPr id="20" name="Arrow: Right 19">
            <a:extLst>
              <a:ext uri="{FF2B5EF4-FFF2-40B4-BE49-F238E27FC236}">
                <a16:creationId xmlns:a16="http://schemas.microsoft.com/office/drawing/2014/main" id="{2F85393E-30E2-EDCD-D332-A91D6B997220}"/>
              </a:ext>
            </a:extLst>
          </p:cNvPr>
          <p:cNvSpPr/>
          <p:nvPr/>
        </p:nvSpPr>
        <p:spPr>
          <a:xfrm>
            <a:off x="6944156" y="3895740"/>
            <a:ext cx="397565" cy="235054"/>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24FD91-BDC9-DC17-142A-13AD5F27DA31}"/>
              </a:ext>
            </a:extLst>
          </p:cNvPr>
          <p:cNvSpPr txBox="1"/>
          <p:nvPr/>
        </p:nvSpPr>
        <p:spPr>
          <a:xfrm>
            <a:off x="6441583" y="3797213"/>
            <a:ext cx="433132" cy="400110"/>
          </a:xfrm>
          <a:prstGeom prst="rect">
            <a:avLst/>
          </a:prstGeom>
          <a:noFill/>
        </p:spPr>
        <p:txBody>
          <a:bodyPr wrap="none" rtlCol="0">
            <a:spAutoFit/>
          </a:bodyPr>
          <a:lstStyle/>
          <a:p>
            <a:r>
              <a:rPr lang="en-US" sz="2000" dirty="0"/>
              <a:t>SP</a:t>
            </a:r>
          </a:p>
        </p:txBody>
      </p:sp>
      <p:sp>
        <p:nvSpPr>
          <p:cNvPr id="22" name="TextBox 21">
            <a:extLst>
              <a:ext uri="{FF2B5EF4-FFF2-40B4-BE49-F238E27FC236}">
                <a16:creationId xmlns:a16="http://schemas.microsoft.com/office/drawing/2014/main" id="{875DABEC-3EAE-282B-99E0-5AD8630AFE37}"/>
              </a:ext>
            </a:extLst>
          </p:cNvPr>
          <p:cNvSpPr txBox="1"/>
          <p:nvPr/>
        </p:nvSpPr>
        <p:spPr>
          <a:xfrm>
            <a:off x="6721062" y="5743714"/>
            <a:ext cx="2513830" cy="707886"/>
          </a:xfrm>
          <a:prstGeom prst="rect">
            <a:avLst/>
          </a:prstGeom>
          <a:noFill/>
        </p:spPr>
        <p:txBody>
          <a:bodyPr wrap="none" rtlCol="0">
            <a:spAutoFit/>
          </a:bodyPr>
          <a:lstStyle/>
          <a:p>
            <a:r>
              <a:rPr lang="en-US" sz="2000" dirty="0"/>
              <a:t>After POP {r0-r3}</a:t>
            </a:r>
          </a:p>
          <a:p>
            <a:r>
              <a:rPr lang="en-US" sz="2000" dirty="0"/>
              <a:t>r0=0, r1=3, r2=1, r3=2</a:t>
            </a:r>
          </a:p>
        </p:txBody>
      </p:sp>
    </p:spTree>
    <p:extLst>
      <p:ext uri="{BB962C8B-B14F-4D97-AF65-F5344CB8AC3E}">
        <p14:creationId xmlns:p14="http://schemas.microsoft.com/office/powerpoint/2010/main" val="388489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Stack</a:t>
            </a:r>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5429517" y="2891802"/>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8</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381000" y="2528900"/>
            <a:ext cx="24384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a:solidFill>
                  <a:schemeClr val="tx1"/>
                </a:solidFill>
                <a:latin typeface="Consolas" panose="020B0609020204030204" pitchFamily="49" charset="0"/>
                <a:cs typeface="Consolas" panose="020B0609020204030204" pitchFamily="49" charset="0"/>
              </a:rPr>
              <a:t>{R1,R2}</a:t>
            </a:r>
            <a:endParaRPr lang="en-GB" sz="2400" dirty="0">
              <a:solidFill>
                <a:schemeClr val="tx1"/>
              </a:solidFill>
              <a:latin typeface="Consolas" panose="020B0609020204030204" pitchFamily="49" charset="0"/>
              <a:cs typeface="Consolas" panose="020B0609020204030204" pitchFamily="49" charset="0"/>
            </a:endParaRPr>
          </a:p>
          <a:p>
            <a:pPr>
              <a:buNone/>
            </a:pPr>
            <a:r>
              <a:rPr lang="en-GB" sz="2400" dirty="0">
                <a:solidFill>
                  <a:schemeClr val="tx1"/>
                </a:solidFill>
                <a:latin typeface="Consolas" panose="020B0609020204030204" pitchFamily="49" charset="0"/>
                <a:cs typeface="Consolas" panose="020B0609020204030204" pitchFamily="49" charset="0"/>
              </a:rPr>
              <a:t>POP  {R1}</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736068"/>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0" name="Rectangle 29"/>
          <p:cNvSpPr/>
          <p:nvPr/>
        </p:nvSpPr>
        <p:spPr>
          <a:xfrm>
            <a:off x="443880" y="1675288"/>
            <a:ext cx="2819400" cy="6852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R1=0x11111111</a:t>
            </a:r>
          </a:p>
          <a:p>
            <a:pPr algn="ctr"/>
            <a:r>
              <a:rPr lang="en-US" sz="2400" dirty="0">
                <a:solidFill>
                  <a:schemeClr val="tx1"/>
                </a:solidFill>
                <a:latin typeface="Consolas" panose="020B0609020204030204" pitchFamily="49" charset="0"/>
                <a:cs typeface="Consolas" panose="020B0609020204030204" pitchFamily="49" charset="0"/>
              </a:rPr>
              <a:t>R2=0x22222222</a:t>
            </a:r>
          </a:p>
        </p:txBody>
      </p:sp>
      <p:sp>
        <p:nvSpPr>
          <p:cNvPr id="31" name="Rectangle 30"/>
          <p:cNvSpPr/>
          <p:nvPr/>
        </p:nvSpPr>
        <p:spPr>
          <a:xfrm>
            <a:off x="677570" y="1237054"/>
            <a:ext cx="2441694" cy="400110"/>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Before execution</a:t>
            </a:r>
            <a:endParaRPr lang="en-US" sz="2000" dirty="0"/>
          </a:p>
        </p:txBody>
      </p:sp>
      <p:sp>
        <p:nvSpPr>
          <p:cNvPr id="32" name="Content Placeholder 3"/>
          <p:cNvSpPr>
            <a:spLocks noGrp="1"/>
          </p:cNvSpPr>
          <p:nvPr>
            <p:ph sz="quarter" idx="1"/>
          </p:nvPr>
        </p:nvSpPr>
        <p:spPr>
          <a:xfrm>
            <a:off x="443880" y="5044440"/>
            <a:ext cx="8229600" cy="1404500"/>
          </a:xfrm>
        </p:spPr>
        <p:txBody>
          <a:bodyPr>
            <a:normAutofit fontScale="92500"/>
          </a:bodyPr>
          <a:lstStyle/>
          <a:p>
            <a:r>
              <a:rPr lang="en-US" sz="2400" dirty="0"/>
              <a:t>What is content of stack, and position of SP, after PUSH {R2,R1}?</a:t>
            </a:r>
          </a:p>
          <a:p>
            <a:r>
              <a:rPr lang="en-US" sz="2400" dirty="0"/>
              <a:t>What are the values of R1/R2 after POP {R2}?</a:t>
            </a:r>
          </a:p>
          <a:p>
            <a:r>
              <a:rPr lang="en-US" sz="2400" dirty="0"/>
              <a:t>What are the correct instructions for swapping R1 and R2?</a:t>
            </a:r>
          </a:p>
        </p:txBody>
      </p:sp>
    </p:spTree>
    <p:extLst>
      <p:ext uri="{BB962C8B-B14F-4D97-AF65-F5344CB8AC3E}">
        <p14:creationId xmlns:p14="http://schemas.microsoft.com/office/powerpoint/2010/main" val="245926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Stack ANS</a:t>
            </a:r>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5" idx="1"/>
          </p:cNvCxnSpPr>
          <p:nvPr/>
        </p:nvCxnSpPr>
        <p:spPr>
          <a:xfrm>
            <a:off x="5429517" y="2891802"/>
            <a:ext cx="802628" cy="134083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9</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381000" y="2528900"/>
            <a:ext cx="24384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{R1,R2}</a:t>
            </a:r>
          </a:p>
          <a:p>
            <a:pPr>
              <a:buNone/>
            </a:pPr>
            <a:r>
              <a:rPr lang="en-GB" sz="2400" dirty="0">
                <a:solidFill>
                  <a:schemeClr val="tx1"/>
                </a:solidFill>
                <a:latin typeface="Consolas" panose="020B0609020204030204" pitchFamily="49" charset="0"/>
                <a:cs typeface="Consolas" panose="020B0609020204030204" pitchFamily="49" charset="0"/>
              </a:rPr>
              <a:t>POP  {R1}</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736068"/>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US" sz="1600" dirty="0">
                <a:latin typeface="Consolas" panose="020B0609020204030204" pitchFamily="49" charset="0"/>
                <a:cs typeface="Consolas" panose="020B0609020204030204" pitchFamily="49" charset="0"/>
              </a:rPr>
              <a:t>0x22222222</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338554"/>
          </a:xfrm>
          <a:prstGeom prst="rect">
            <a:avLst/>
          </a:prstGeom>
          <a:noFill/>
        </p:spPr>
        <p:txBody>
          <a:bodyPr wrap="square" rtlCol="0">
            <a:spAutoFit/>
          </a:bodyPr>
          <a:lstStyle/>
          <a:p>
            <a:pPr algn="ctr"/>
            <a:r>
              <a:rPr lang="en-US" sz="1600" dirty="0">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0" name="Rectangle 29"/>
          <p:cNvSpPr/>
          <p:nvPr/>
        </p:nvSpPr>
        <p:spPr>
          <a:xfrm>
            <a:off x="443880" y="1675288"/>
            <a:ext cx="2819400" cy="68527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R1=0x11111111</a:t>
            </a:r>
          </a:p>
          <a:p>
            <a:pPr algn="ctr"/>
            <a:r>
              <a:rPr lang="en-US" sz="2400" dirty="0">
                <a:solidFill>
                  <a:schemeClr val="tx1"/>
                </a:solidFill>
                <a:latin typeface="Consolas" panose="020B0609020204030204" pitchFamily="49" charset="0"/>
                <a:cs typeface="Consolas" panose="020B0609020204030204" pitchFamily="49" charset="0"/>
              </a:rPr>
              <a:t>R2=0x22222222</a:t>
            </a:r>
          </a:p>
        </p:txBody>
      </p:sp>
      <p:sp>
        <p:nvSpPr>
          <p:cNvPr id="31" name="Rectangle 30"/>
          <p:cNvSpPr/>
          <p:nvPr/>
        </p:nvSpPr>
        <p:spPr>
          <a:xfrm>
            <a:off x="677570" y="1237054"/>
            <a:ext cx="2441694" cy="400110"/>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Before execution</a:t>
            </a:r>
            <a:endParaRPr lang="en-US" sz="2000" dirty="0"/>
          </a:p>
        </p:txBody>
      </p:sp>
      <p:sp>
        <p:nvSpPr>
          <p:cNvPr id="32" name="Content Placeholder 3"/>
          <p:cNvSpPr>
            <a:spLocks noGrp="1"/>
          </p:cNvSpPr>
          <p:nvPr>
            <p:ph sz="quarter" idx="1"/>
          </p:nvPr>
        </p:nvSpPr>
        <p:spPr>
          <a:xfrm>
            <a:off x="443880" y="5044440"/>
            <a:ext cx="8229600" cy="1333396"/>
          </a:xfrm>
        </p:spPr>
        <p:txBody>
          <a:bodyPr/>
          <a:lstStyle/>
          <a:p>
            <a:r>
              <a:rPr lang="en-US" dirty="0"/>
              <a:t>Stack content and SP shown in figure</a:t>
            </a:r>
          </a:p>
          <a:p>
            <a:r>
              <a:rPr lang="en-US" dirty="0"/>
              <a:t>After POP {R2}, R1=0x11111111, R2=0x22222222</a:t>
            </a:r>
          </a:p>
        </p:txBody>
      </p:sp>
    </p:spTree>
    <p:extLst>
      <p:ext uri="{BB962C8B-B14F-4D97-AF65-F5344CB8AC3E}">
        <p14:creationId xmlns:p14="http://schemas.microsoft.com/office/powerpoint/2010/main" val="2098831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4127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6230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6230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US" dirty="0"/>
              <a:t>Instructions for swapping R1 and R2</a:t>
            </a:r>
            <a:endParaRPr lang="en-GB" dirty="0"/>
          </a:p>
        </p:txBody>
      </p:sp>
      <p:sp>
        <p:nvSpPr>
          <p:cNvPr id="6" name="Rectangle 5"/>
          <p:cNvSpPr/>
          <p:nvPr/>
        </p:nvSpPr>
        <p:spPr>
          <a:xfrm>
            <a:off x="4127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3551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4127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3551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4127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2971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6230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7526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6230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6230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7526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7526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4127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4127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4127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5429517" y="2891802"/>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10</a:t>
            </a:fld>
            <a:endParaRPr kumimoji="0" lang="en-US"/>
          </a:p>
        </p:txBody>
      </p:sp>
      <p:sp>
        <p:nvSpPr>
          <p:cNvPr id="23" name="TextBox 22"/>
          <p:cNvSpPr txBox="1"/>
          <p:nvPr/>
        </p:nvSpPr>
        <p:spPr>
          <a:xfrm>
            <a:off x="6230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914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6230164"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7738363"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52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533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232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6232145" y="4063355"/>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3465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11</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685800" y="4153386"/>
            <a:ext cx="2018501" cy="70788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PUSH {R1,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POP {R5}</a:t>
            </a: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457200" y="1219200"/>
            <a:ext cx="82296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memory ordering.</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12</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66918043"/>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rgbClr val="FF0000"/>
                          </a:solidFill>
                          <a:latin typeface="+mn-lt"/>
                          <a:ea typeface="+mn-ea"/>
                          <a:cs typeface="+mn-cs"/>
                        </a:rPr>
                        <a:t>00</a:t>
                      </a:r>
                    </a:p>
                  </a:txBody>
                  <a:tcPr/>
                </a:tc>
                <a:tc>
                  <a:txBody>
                    <a:bodyPr/>
                    <a:lstStyle/>
                    <a:p>
                      <a:pPr marL="0" algn="ctr" rtl="0" eaLnBrk="1" latinLnBrk="0" hangingPunct="1"/>
                      <a:r>
                        <a:rPr kumimoji="0" lang="en-US" kern="1200" dirty="0">
                          <a:solidFill>
                            <a:srgbClr val="FF0000"/>
                          </a:solidFill>
                          <a:latin typeface="+mn-lt"/>
                          <a:ea typeface="+mn-ea"/>
                          <a:cs typeface="+mn-cs"/>
                        </a:rPr>
                        <a:t>02</a:t>
                      </a:r>
                    </a:p>
                  </a:txBody>
                  <a:tcPr/>
                </a:tc>
                <a:tc>
                  <a:txBody>
                    <a:bodyPr/>
                    <a:lstStyle/>
                    <a:p>
                      <a:pPr marL="0" algn="ctr" rtl="0" eaLnBrk="1" latinLnBrk="0" hangingPunct="1"/>
                      <a:r>
                        <a:rPr kumimoji="0" lang="en-US" kern="1200" dirty="0">
                          <a:solidFill>
                            <a:srgbClr val="FF0000"/>
                          </a:solidFill>
                          <a:latin typeface="+mn-lt"/>
                          <a:ea typeface="+mn-ea"/>
                          <a:cs typeface="+mn-cs"/>
                        </a:rPr>
                        <a:t>00</a:t>
                      </a:r>
                    </a:p>
                  </a:txBody>
                  <a:tcPr/>
                </a:tc>
                <a:tc>
                  <a:txBody>
                    <a:bodyPr/>
                    <a:lstStyle/>
                    <a:p>
                      <a:pPr marL="0" algn="ctr" rtl="0" eaLnBrk="1" latinLnBrk="0" hangingPunct="1"/>
                      <a:r>
                        <a:rPr kumimoji="0" lang="en-US" kern="1200" dirty="0">
                          <a:solidFill>
                            <a:srgbClr val="FF0000"/>
                          </a:solidFill>
                          <a:latin typeface="+mn-lt"/>
                          <a:ea typeface="+mn-ea"/>
                          <a:cs typeface="+mn-cs"/>
                        </a:rPr>
                        <a:t>10</a:t>
                      </a:r>
                    </a:p>
                  </a:txBody>
                  <a:tcPr/>
                </a:tc>
                <a:tc>
                  <a:txBody>
                    <a:bodyPr/>
                    <a:lstStyle/>
                    <a:p>
                      <a:pPr marL="0" algn="ctr" rtl="0" eaLnBrk="1" latinLnBrk="0" hangingPunct="1"/>
                      <a:r>
                        <a:rPr kumimoji="0" lang="en-US" kern="1200" dirty="0">
                          <a:solidFill>
                            <a:srgbClr val="FF0000"/>
                          </a:solidFill>
                          <a:latin typeface="+mn-lt"/>
                          <a:ea typeface="+mn-ea"/>
                          <a:cs typeface="+mn-cs"/>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extLst>
              <p:ext uri="{D42A27DB-BD31-4B8C-83A1-F6EECF244321}">
                <p14:modId xmlns:p14="http://schemas.microsoft.com/office/powerpoint/2010/main" val="1428665056"/>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rgbClr val="FF0000"/>
                          </a:solidFill>
                          <a:effectLst/>
                          <a:latin typeface="Times New Roman" pitchFamily="18" charset="0"/>
                          <a:ea typeface="+mn-ea"/>
                          <a:cs typeface="+mn-cs"/>
                        </a:rPr>
                        <a:t>0x10000200</a:t>
                      </a:r>
                      <a:endParaRPr kumimoji="0" lang="en-US" b="0" kern="1200" dirty="0">
                        <a:solidFill>
                          <a:srgbClr val="FF0000"/>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0x100001FC</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8229600" cy="2790576"/>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R13 is SP = 0x10000200. </a:t>
            </a:r>
            <a:r>
              <a:rPr lang="en-US" sz="2000" dirty="0"/>
              <a:t>Recall:</a:t>
            </a:r>
            <a:endParaRPr lang="en-US" sz="2000" b="0" dirty="0"/>
          </a:p>
          <a:p>
            <a:pPr fontAlgn="auto">
              <a:spcAft>
                <a:spcPts val="0"/>
              </a:spcAft>
            </a:pPr>
            <a:r>
              <a:rPr lang="en-US" sz="2000" b="0" dirty="0"/>
              <a:t>After two </a:t>
            </a:r>
            <a:r>
              <a:rPr lang="en-US" sz="2000" b="0" dirty="0" err="1"/>
              <a:t>PUSHes</a:t>
            </a:r>
            <a:r>
              <a:rPr lang="en-US" sz="2000" b="0" dirty="0"/>
              <a:t>, SP </a:t>
            </a:r>
            <a:r>
              <a:rPr lang="en-US" sz="2000" dirty="0"/>
              <a:t>= 0x10000200 – 8 = 0x100001F8. Each PUSH is:</a:t>
            </a:r>
            <a:endParaRPr lang="en-US" sz="2000" b="0" dirty="0"/>
          </a:p>
          <a:p>
            <a:pPr lvl="1"/>
            <a:r>
              <a:rPr lang="en-US" sz="1700" b="0" dirty="0"/>
              <a:t>SUB SP, SP, #4 @ SP = SP-4  (descending stack)</a:t>
            </a:r>
          </a:p>
          <a:p>
            <a:pPr lvl="1"/>
            <a:r>
              <a:rPr lang="en-US" sz="1700" b="0" dirty="0"/>
              <a:t>STR Rd, [SP]   @ (*SP) = Rd   (full stack)</a:t>
            </a:r>
          </a:p>
          <a:p>
            <a:pPr fontAlgn="auto">
              <a:spcAft>
                <a:spcPts val="0"/>
              </a:spcAft>
            </a:pPr>
            <a:r>
              <a:rPr lang="en-US" sz="2000" b="0" dirty="0"/>
              <a:t>After one POP</a:t>
            </a:r>
            <a:r>
              <a:rPr lang="en-US" sz="2000" dirty="0"/>
              <a:t>, SP = 0x100001F8 + 4 = 0x100001FC:</a:t>
            </a:r>
            <a:endParaRPr lang="en-US" sz="2000" b="0" dirty="0"/>
          </a:p>
          <a:p>
            <a:pPr lvl="1"/>
            <a:r>
              <a:rPr lang="en-US" sz="1700" b="0" dirty="0"/>
              <a:t>LDR Rd, [SP] @ Rd = (*SP)    (full stack)</a:t>
            </a:r>
          </a:p>
          <a:p>
            <a:pPr lvl="1"/>
            <a:r>
              <a:rPr lang="en-US" sz="1700" b="0" dirty="0"/>
              <a:t>ADD SP, #4   @ SP = SP + 4   (Stack shrinks)</a:t>
            </a:r>
          </a:p>
          <a:p>
            <a:r>
              <a:rPr lang="en-US" sz="2000" dirty="0"/>
              <a:t>R5 = 0x10000200 (value of R1)</a:t>
            </a:r>
            <a:endParaRPr lang="en-US" sz="2000" b="0" dirty="0"/>
          </a:p>
        </p:txBody>
      </p:sp>
      <p:sp>
        <p:nvSpPr>
          <p:cNvPr id="12" name="TextBox 11">
            <a:extLst>
              <a:ext uri="{FF2B5EF4-FFF2-40B4-BE49-F238E27FC236}">
                <a16:creationId xmlns:a16="http://schemas.microsoft.com/office/drawing/2014/main" id="{A8FE334F-F18A-EB69-90F3-94DB53A49559}"/>
              </a:ext>
            </a:extLst>
          </p:cNvPr>
          <p:cNvSpPr txBox="1"/>
          <p:nvPr/>
        </p:nvSpPr>
        <p:spPr>
          <a:xfrm>
            <a:off x="4485167" y="4209831"/>
            <a:ext cx="2266005" cy="400110"/>
          </a:xfrm>
          <a:prstGeom prst="rect">
            <a:avLst/>
          </a:prstGeom>
          <a:noFill/>
        </p:spPr>
        <p:txBody>
          <a:bodyPr wrap="none" rtlCol="0">
            <a:spAutoFit/>
          </a:bodyPr>
          <a:lstStyle/>
          <a:p>
            <a:r>
              <a:rPr lang="en-US" sz="2000" b="0" dirty="0">
                <a:latin typeface="+mn-lt"/>
              </a:rPr>
              <a:t>F</a:t>
            </a:r>
            <a:r>
              <a:rPr lang="en-US" altLang="zh-CN" sz="2000" b="0" dirty="0">
                <a:latin typeface="+mn-lt"/>
              </a:rPr>
              <a:t>inal</a:t>
            </a:r>
            <a:r>
              <a:rPr lang="en-US" sz="2000" b="0" dirty="0">
                <a:latin typeface="+mn-lt"/>
              </a:rPr>
              <a:t>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F0DD5A71-7F69-8C31-5C46-0FF1815F2840}"/>
              </a:ext>
            </a:extLst>
          </p:cNvPr>
          <p:cNvSpPr txBox="1"/>
          <p:nvPr/>
        </p:nvSpPr>
        <p:spPr>
          <a:xfrm>
            <a:off x="685800" y="4153386"/>
            <a:ext cx="2018501" cy="70788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PUSH {R1,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POP {R5}</a:t>
            </a:r>
          </a:p>
        </p:txBody>
      </p:sp>
      <p:sp>
        <p:nvSpPr>
          <p:cNvPr id="6" name="TextBox 5">
            <a:extLst>
              <a:ext uri="{FF2B5EF4-FFF2-40B4-BE49-F238E27FC236}">
                <a16:creationId xmlns:a16="http://schemas.microsoft.com/office/drawing/2014/main" id="{7F0BEA20-3647-D290-9E8E-0B4B87DD74F4}"/>
              </a:ext>
            </a:extLst>
          </p:cNvPr>
          <p:cNvSpPr txBox="1"/>
          <p:nvPr/>
        </p:nvSpPr>
        <p:spPr>
          <a:xfrm>
            <a:off x="964404" y="4745484"/>
            <a:ext cx="534459" cy="369332"/>
          </a:xfrm>
          <a:prstGeom prst="rect">
            <a:avLst/>
          </a:prstGeom>
          <a:noFill/>
        </p:spPr>
        <p:txBody>
          <a:bodyPr wrap="square">
            <a:spAutoFit/>
          </a:bodyPr>
          <a:lstStyle/>
          <a:p>
            <a:r>
              <a:rPr lang="en-US" sz="1800" b="0" dirty="0">
                <a:solidFill>
                  <a:srgbClr val="C00000"/>
                </a:solidFill>
              </a:rPr>
              <a:t>SP</a:t>
            </a:r>
            <a:endParaRPr lang="en-US" dirty="0">
              <a:solidFill>
                <a:srgbClr val="C00000"/>
              </a:solidFill>
            </a:endParaRPr>
          </a:p>
        </p:txBody>
      </p:sp>
      <p:cxnSp>
        <p:nvCxnSpPr>
          <p:cNvPr id="10" name="Straight Arrow Connector 9">
            <a:extLst>
              <a:ext uri="{FF2B5EF4-FFF2-40B4-BE49-F238E27FC236}">
                <a16:creationId xmlns:a16="http://schemas.microsoft.com/office/drawing/2014/main" id="{83A70247-FCDE-B34D-0418-AD0E73C544B3}"/>
              </a:ext>
            </a:extLst>
          </p:cNvPr>
          <p:cNvCxnSpPr>
            <a:cxnSpLocks/>
          </p:cNvCxnSpPr>
          <p:nvPr/>
        </p:nvCxnSpPr>
        <p:spPr>
          <a:xfrm>
            <a:off x="1298734" y="4920586"/>
            <a:ext cx="478733" cy="19423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FC91C62F-544E-446B-5E37-EBD8C0F26C5E}"/>
              </a:ext>
            </a:extLst>
          </p:cNvPr>
          <p:cNvSpPr txBox="1"/>
          <p:nvPr/>
        </p:nvSpPr>
        <p:spPr>
          <a:xfrm>
            <a:off x="4495800" y="4736068"/>
            <a:ext cx="1897823" cy="369332"/>
          </a:xfrm>
          <a:prstGeom prst="rect">
            <a:avLst/>
          </a:prstGeom>
          <a:noFill/>
        </p:spPr>
        <p:txBody>
          <a:bodyPr wrap="square">
            <a:spAutoFit/>
          </a:bodyPr>
          <a:lstStyle/>
          <a:p>
            <a:r>
              <a:rPr lang="en-US" sz="1800" b="0" dirty="0">
                <a:solidFill>
                  <a:srgbClr val="C00000"/>
                </a:solidFill>
              </a:rPr>
              <a:t>SP after 2 </a:t>
            </a:r>
            <a:r>
              <a:rPr lang="en-US" sz="1800" b="0" dirty="0" err="1">
                <a:solidFill>
                  <a:srgbClr val="C00000"/>
                </a:solidFill>
              </a:rPr>
              <a:t>PUSHes</a:t>
            </a:r>
            <a:endParaRPr lang="en-US" dirty="0">
              <a:solidFill>
                <a:srgbClr val="C00000"/>
              </a:solidFill>
            </a:endParaRPr>
          </a:p>
        </p:txBody>
      </p:sp>
      <p:cxnSp>
        <p:nvCxnSpPr>
          <p:cNvPr id="17" name="Straight Arrow Connector 16">
            <a:extLst>
              <a:ext uri="{FF2B5EF4-FFF2-40B4-BE49-F238E27FC236}">
                <a16:creationId xmlns:a16="http://schemas.microsoft.com/office/drawing/2014/main" id="{98C581BD-5415-4240-5CDE-EE805D176DFD}"/>
              </a:ext>
            </a:extLst>
          </p:cNvPr>
          <p:cNvCxnSpPr>
            <a:cxnSpLocks/>
          </p:cNvCxnSpPr>
          <p:nvPr/>
        </p:nvCxnSpPr>
        <p:spPr>
          <a:xfrm>
            <a:off x="5417949" y="5029200"/>
            <a:ext cx="0" cy="6096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TextBox 19">
            <a:extLst>
              <a:ext uri="{FF2B5EF4-FFF2-40B4-BE49-F238E27FC236}">
                <a16:creationId xmlns:a16="http://schemas.microsoft.com/office/drawing/2014/main" id="{6A32EAF7-51C8-6C8C-E34F-3D982CFA9042}"/>
              </a:ext>
            </a:extLst>
          </p:cNvPr>
          <p:cNvSpPr txBox="1"/>
          <p:nvPr/>
        </p:nvSpPr>
        <p:spPr>
          <a:xfrm>
            <a:off x="6583204" y="6473008"/>
            <a:ext cx="1562100" cy="369332"/>
          </a:xfrm>
          <a:prstGeom prst="rect">
            <a:avLst/>
          </a:prstGeom>
          <a:noFill/>
        </p:spPr>
        <p:txBody>
          <a:bodyPr wrap="square">
            <a:spAutoFit/>
          </a:bodyPr>
          <a:lstStyle/>
          <a:p>
            <a:r>
              <a:rPr lang="en-US" sz="1800" b="0" dirty="0">
                <a:solidFill>
                  <a:srgbClr val="C00000"/>
                </a:solidFill>
              </a:rPr>
              <a:t>SP after 1 POP</a:t>
            </a:r>
            <a:endParaRPr lang="en-US" dirty="0">
              <a:solidFill>
                <a:srgbClr val="C00000"/>
              </a:solidFill>
            </a:endParaRPr>
          </a:p>
        </p:txBody>
      </p:sp>
      <p:cxnSp>
        <p:nvCxnSpPr>
          <p:cNvPr id="21" name="Straight Arrow Connector 20">
            <a:extLst>
              <a:ext uri="{FF2B5EF4-FFF2-40B4-BE49-F238E27FC236}">
                <a16:creationId xmlns:a16="http://schemas.microsoft.com/office/drawing/2014/main" id="{50BCB6B3-8463-2EB8-C9F4-91B6D04C1A17}"/>
              </a:ext>
            </a:extLst>
          </p:cNvPr>
          <p:cNvCxnSpPr>
            <a:cxnSpLocks/>
          </p:cNvCxnSpPr>
          <p:nvPr/>
        </p:nvCxnSpPr>
        <p:spPr>
          <a:xfrm flipV="1">
            <a:off x="7391400" y="5823284"/>
            <a:ext cx="0" cy="66002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36543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5" name="Rectangle 4"/>
          <p:cNvSpPr/>
          <p:nvPr/>
        </p:nvSpPr>
        <p:spPr>
          <a:xfrm>
            <a:off x="1219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a64</a:t>
            </a:r>
          </a:p>
        </p:txBody>
      </p:sp>
      <p:sp>
        <p:nvSpPr>
          <p:cNvPr id="6" name="Rectangle 5"/>
          <p:cNvSpPr/>
          <p:nvPr/>
        </p:nvSpPr>
        <p:spPr>
          <a:xfrm>
            <a:off x="2971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7" name="Rectangle 6"/>
          <p:cNvSpPr/>
          <p:nvPr/>
        </p:nvSpPr>
        <p:spPr>
          <a:xfrm>
            <a:off x="4724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8" name="Rectangle 7"/>
          <p:cNvSpPr/>
          <p:nvPr/>
        </p:nvSpPr>
        <p:spPr>
          <a:xfrm>
            <a:off x="6438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d16</a:t>
            </a:r>
          </a:p>
        </p:txBody>
      </p:sp>
      <p:sp>
        <p:nvSpPr>
          <p:cNvPr id="9" name="Rectangle 8"/>
          <p:cNvSpPr/>
          <p:nvPr/>
        </p:nvSpPr>
        <p:spPr>
          <a:xfrm>
            <a:off x="2308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1126316" y="2971800"/>
            <a:ext cx="1011431" cy="369332"/>
          </a:xfrm>
          <a:prstGeom prst="rect">
            <a:avLst/>
          </a:prstGeom>
          <a:noFill/>
        </p:spPr>
        <p:txBody>
          <a:bodyPr wrap="none" rtlCol="0">
            <a:spAutoFit/>
          </a:bodyPr>
          <a:lstStyle/>
          <a:p>
            <a:r>
              <a:rPr lang="en-US" dirty="0"/>
              <a:t>Register:</a:t>
            </a:r>
            <a:endParaRPr lang="en-US" b="1" dirty="0">
              <a:solidFill>
                <a:srgbClr val="FF0000"/>
              </a:solidFill>
              <a:latin typeface="Consolas" panose="020B0609020204030204" pitchFamily="49" charset="0"/>
            </a:endParaRPr>
          </a:p>
        </p:txBody>
      </p:sp>
      <p:sp>
        <p:nvSpPr>
          <p:cNvPr id="12" name="TextBox 11"/>
          <p:cNvSpPr txBox="1"/>
          <p:nvPr/>
        </p:nvSpPr>
        <p:spPr>
          <a:xfrm>
            <a:off x="3060750" y="2971800"/>
            <a:ext cx="1013034" cy="369332"/>
          </a:xfrm>
          <a:prstGeom prst="rect">
            <a:avLst/>
          </a:prstGeom>
          <a:noFill/>
        </p:spPr>
        <p:txBody>
          <a:bodyPr wrap="none" rtlCol="0">
            <a:spAutoFit/>
          </a:bodyPr>
          <a:lstStyle/>
          <a:p>
            <a:r>
              <a:rPr lang="en-US" dirty="0"/>
              <a:t>Register;</a:t>
            </a:r>
            <a:endParaRPr lang="en-US" b="1" dirty="0">
              <a:solidFill>
                <a:srgbClr val="FF0000"/>
              </a:solidFill>
              <a:latin typeface="Consolas" panose="020B0609020204030204" pitchFamily="49" charset="0"/>
            </a:endParaRPr>
          </a:p>
        </p:txBody>
      </p:sp>
      <p:sp>
        <p:nvSpPr>
          <p:cNvPr id="13" name="TextBox 12"/>
          <p:cNvSpPr txBox="1"/>
          <p:nvPr/>
        </p:nvSpPr>
        <p:spPr>
          <a:xfrm>
            <a:off x="4814152" y="2971800"/>
            <a:ext cx="1052468" cy="369332"/>
          </a:xfrm>
          <a:prstGeom prst="rect">
            <a:avLst/>
          </a:prstGeom>
          <a:noFill/>
        </p:spPr>
        <p:txBody>
          <a:bodyPr wrap="none" rtlCol="0">
            <a:spAutoFit/>
          </a:bodyPr>
          <a:lstStyle/>
          <a:p>
            <a:r>
              <a:rPr lang="en-US" dirty="0"/>
              <a:t>Register: </a:t>
            </a:r>
            <a:endParaRPr lang="en-US" b="1" dirty="0">
              <a:solidFill>
                <a:srgbClr val="FF0000"/>
              </a:solidFill>
              <a:latin typeface="Consolas" panose="020B0609020204030204" pitchFamily="49" charset="0"/>
            </a:endParaRPr>
          </a:p>
        </p:txBody>
      </p:sp>
      <p:cxnSp>
        <p:nvCxnSpPr>
          <p:cNvPr id="16" name="Straight Arrow Connector 15"/>
          <p:cNvCxnSpPr/>
          <p:nvPr/>
        </p:nvCxnSpPr>
        <p:spPr>
          <a:xfrm>
            <a:off x="1940328" y="328596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705159"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5055068"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848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4556338"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37050" y="5850017"/>
            <a:ext cx="1269899" cy="369332"/>
          </a:xfrm>
          <a:prstGeom prst="rect">
            <a:avLst/>
          </a:prstGeom>
          <a:noFill/>
        </p:spPr>
        <p:txBody>
          <a:bodyPr wrap="none" rtlCol="0">
            <a:spAutoFit/>
          </a:bodyPr>
          <a:lstStyle/>
          <a:p>
            <a:r>
              <a:rPr lang="en-US" dirty="0"/>
              <a:t>Register R1:R0</a:t>
            </a:r>
            <a:r>
              <a:rPr lang="en-US" b="1" dirty="0">
                <a:solidFill>
                  <a:srgbClr val="FF0000"/>
                </a:solidFill>
                <a:latin typeface="Consolas" panose="020B0609020204030204" pitchFamily="49" charset="0"/>
              </a:rPr>
              <a:t/>
            </a:r>
          </a:p>
        </p:txBody>
      </p:sp>
      <p:sp>
        <p:nvSpPr>
          <p:cNvPr id="11" name="Rectangle 10"/>
          <p:cNvSpPr/>
          <p:nvPr/>
        </p:nvSpPr>
        <p:spPr>
          <a:xfrm>
            <a:off x="76200" y="1593468"/>
            <a:ext cx="9163050" cy="369332"/>
          </a:xfrm>
          <a:prstGeom prst="rect">
            <a:avLst/>
          </a:prstGeom>
        </p:spPr>
        <p:txBody>
          <a:bodyPr wrap="square">
            <a:spAutoFit/>
          </a:bodyPr>
          <a:lstStyle/>
          <a:p>
            <a:r>
              <a:rPr lang="en-US" b="1" dirty="0">
                <a:latin typeface="Consolas" panose="020B0609020204030204" pitchFamily="49" charset="0"/>
              </a:rPr>
              <a:t>uint64_t sum(</a:t>
            </a:r>
            <a:r>
              <a:rPr lang="en-US" b="1" dirty="0">
                <a:solidFill>
                  <a:srgbClr val="FF0000"/>
                </a:solidFill>
                <a:latin typeface="Consolas" panose="020B0609020204030204" pitchFamily="49" charset="0"/>
              </a:rPr>
              <a:t>uint64_t</a:t>
            </a:r>
            <a:r>
              <a:rPr lang="en-US" b="1" dirty="0">
                <a:latin typeface="Consolas" panose="020B0609020204030204" pitchFamily="49" charset="0"/>
              </a:rPr>
              <a:t> a64, uint8_t b8, uint16_t c16, uint16_t d16);</a:t>
            </a:r>
          </a:p>
        </p:txBody>
      </p:sp>
      <p:sp>
        <p:nvSpPr>
          <p:cNvPr id="23" name="TextBox 22"/>
          <p:cNvSpPr txBox="1"/>
          <p:nvPr/>
        </p:nvSpPr>
        <p:spPr>
          <a:xfrm>
            <a:off x="5688297" y="3233683"/>
            <a:ext cx="3254417" cy="646331"/>
          </a:xfrm>
          <a:prstGeom prst="rect">
            <a:avLst/>
          </a:prstGeom>
          <a:noFill/>
        </p:spPr>
        <p:txBody>
          <a:bodyPr wrap="none" rtlCol="0">
            <a:spAutoFit/>
          </a:bodyPr>
          <a:lstStyle/>
          <a:p>
            <a:pPr marL="342900" indent="-342900">
              <a:buFont typeface="Arial" panose="020B0604020202020204" pitchFamily="34" charset="0"/>
              <a:buChar char="•"/>
            </a:pPr>
            <a:r>
              <a:rPr lang="en-US" dirty="0">
                <a:solidFill>
                  <a:srgbClr val="FF0000"/>
                </a:solidFill>
              </a:rPr>
              <a:t>Caller pushes d16 onto stack</a:t>
            </a:r>
          </a:p>
          <a:p>
            <a:pPr marL="342900" indent="-342900">
              <a:buFont typeface="Arial" panose="020B0604020202020204" pitchFamily="34" charset="0"/>
              <a:buChar char="•"/>
            </a:pPr>
            <a:r>
              <a:rPr lang="en-US" dirty="0">
                <a:solidFill>
                  <a:srgbClr val="FF0000"/>
                </a:solidFill>
              </a:rPr>
              <a:t>Callee reads d16 from stack</a:t>
            </a:r>
          </a:p>
        </p:txBody>
      </p:sp>
      <p:sp>
        <p:nvSpPr>
          <p:cNvPr id="4" name="Content Placeholder 3">
            <a:extLst>
              <a:ext uri="{FF2B5EF4-FFF2-40B4-BE49-F238E27FC236}">
                <a16:creationId xmlns:a16="http://schemas.microsoft.com/office/drawing/2014/main" id="{42BCDBB7-71A9-FB4A-2F12-ED2860D67D85}"/>
              </a:ext>
            </a:extLst>
          </p:cNvPr>
          <p:cNvSpPr>
            <a:spLocks noGrp="1"/>
          </p:cNvSpPr>
          <p:nvPr>
            <p:ph sz="quarter" idx="1"/>
          </p:nvPr>
        </p:nvSpPr>
        <p:spPr>
          <a:xfrm>
            <a:off x="457200" y="1962800"/>
            <a:ext cx="8229600" cy="594761"/>
          </a:xfrm>
        </p:spPr>
        <p:txBody>
          <a:bodyPr/>
          <a:lstStyle/>
          <a:p>
            <a:r>
              <a:rPr lang="en-US" dirty="0"/>
              <a:t>Fill in register names.</a:t>
            </a:r>
          </a:p>
        </p:txBody>
      </p:sp>
      <p:sp>
        <p:nvSpPr>
          <p:cNvPr id="14" name="TextBox 13">
            <a:extLst>
              <a:ext uri="{FF2B5EF4-FFF2-40B4-BE49-F238E27FC236}">
                <a16:creationId xmlns:a16="http://schemas.microsoft.com/office/drawing/2014/main" id="{778CF141-54B6-E918-D23B-B3681FDA3C22}"/>
              </a:ext>
            </a:extLst>
          </p:cNvPr>
          <p:cNvSpPr txBox="1"/>
          <p:nvPr/>
        </p:nvSpPr>
        <p:spPr>
          <a:xfrm>
            <a:off x="6438900" y="2971800"/>
            <a:ext cx="1052468" cy="369332"/>
          </a:xfrm>
          <a:prstGeom prst="rect">
            <a:avLst/>
          </a:prstGeom>
          <a:noFill/>
        </p:spPr>
        <p:txBody>
          <a:bodyPr wrap="none" rtlCol="0">
            <a:spAutoFit/>
          </a:bodyPr>
          <a:lstStyle/>
          <a:p>
            <a:r>
              <a:rPr lang="en-US" dirty="0"/>
              <a:t>Register: </a:t>
            </a:r>
            <a:endParaRPr lang="en-US" b="1"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73519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2F123-61BE-0A54-6048-312CB4AFD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C5184-5A3F-8285-0FB9-846B988E0081}"/>
              </a:ext>
            </a:extLst>
          </p:cNvPr>
          <p:cNvSpPr>
            <a:spLocks noGrp="1"/>
          </p:cNvSpPr>
          <p:nvPr>
            <p:ph type="title"/>
          </p:nvPr>
        </p:nvSpPr>
        <p:spPr/>
        <p:txBody>
          <a:bodyPr>
            <a:normAutofit fontScale="90000"/>
          </a:bodyPr>
          <a:lstStyle/>
          <a:p>
            <a:r>
              <a:rPr lang="en-US" dirty="0"/>
              <a:t>Passing arguments and Returning Value ANS</a:t>
            </a:r>
          </a:p>
        </p:txBody>
      </p:sp>
      <p:sp>
        <p:nvSpPr>
          <p:cNvPr id="3" name="Slide Number Placeholder 2">
            <a:extLst>
              <a:ext uri="{FF2B5EF4-FFF2-40B4-BE49-F238E27FC236}">
                <a16:creationId xmlns:a16="http://schemas.microsoft.com/office/drawing/2014/main" id="{C5FC2F61-7664-A486-BB3B-2D444E9E0A8B}"/>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4">
            <a:extLst>
              <a:ext uri="{FF2B5EF4-FFF2-40B4-BE49-F238E27FC236}">
                <a16:creationId xmlns:a16="http://schemas.microsoft.com/office/drawing/2014/main" id="{C421C88C-3034-FB0D-28E9-3DEB10FE7D0E}"/>
              </a:ext>
            </a:extLst>
          </p:cNvPr>
          <p:cNvSpPr/>
          <p:nvPr/>
        </p:nvSpPr>
        <p:spPr>
          <a:xfrm>
            <a:off x="1219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a64</a:t>
            </a:r>
          </a:p>
        </p:txBody>
      </p:sp>
      <p:sp>
        <p:nvSpPr>
          <p:cNvPr id="6" name="Rectangle 5">
            <a:extLst>
              <a:ext uri="{FF2B5EF4-FFF2-40B4-BE49-F238E27FC236}">
                <a16:creationId xmlns:a16="http://schemas.microsoft.com/office/drawing/2014/main" id="{9ECC6E59-0FDE-A291-0344-D331F27C560E}"/>
              </a:ext>
            </a:extLst>
          </p:cNvPr>
          <p:cNvSpPr/>
          <p:nvPr/>
        </p:nvSpPr>
        <p:spPr>
          <a:xfrm>
            <a:off x="2971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7" name="Rectangle 6">
            <a:extLst>
              <a:ext uri="{FF2B5EF4-FFF2-40B4-BE49-F238E27FC236}">
                <a16:creationId xmlns:a16="http://schemas.microsoft.com/office/drawing/2014/main" id="{7D804E98-9DCB-BE7E-0343-C88E43AA13BE}"/>
              </a:ext>
            </a:extLst>
          </p:cNvPr>
          <p:cNvSpPr/>
          <p:nvPr/>
        </p:nvSpPr>
        <p:spPr>
          <a:xfrm>
            <a:off x="4724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8" name="Rectangle 7">
            <a:extLst>
              <a:ext uri="{FF2B5EF4-FFF2-40B4-BE49-F238E27FC236}">
                <a16:creationId xmlns:a16="http://schemas.microsoft.com/office/drawing/2014/main" id="{C52CD9AA-6268-F0F7-4215-97D8AE8E32BD}"/>
              </a:ext>
            </a:extLst>
          </p:cNvPr>
          <p:cNvSpPr/>
          <p:nvPr/>
        </p:nvSpPr>
        <p:spPr>
          <a:xfrm>
            <a:off x="6438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d16</a:t>
            </a:r>
          </a:p>
        </p:txBody>
      </p:sp>
      <p:sp>
        <p:nvSpPr>
          <p:cNvPr id="9" name="Rectangle 8">
            <a:extLst>
              <a:ext uri="{FF2B5EF4-FFF2-40B4-BE49-F238E27FC236}">
                <a16:creationId xmlns:a16="http://schemas.microsoft.com/office/drawing/2014/main" id="{FBBDAD45-29FF-62DB-0790-4129EF0FFE0E}"/>
              </a:ext>
            </a:extLst>
          </p:cNvPr>
          <p:cNvSpPr/>
          <p:nvPr/>
        </p:nvSpPr>
        <p:spPr>
          <a:xfrm>
            <a:off x="2308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a:extLst>
              <a:ext uri="{FF2B5EF4-FFF2-40B4-BE49-F238E27FC236}">
                <a16:creationId xmlns:a16="http://schemas.microsoft.com/office/drawing/2014/main" id="{0CE50D12-7EEF-2322-4458-9E6BB251A31B}"/>
              </a:ext>
            </a:extLst>
          </p:cNvPr>
          <p:cNvSpPr txBox="1"/>
          <p:nvPr/>
        </p:nvSpPr>
        <p:spPr>
          <a:xfrm>
            <a:off x="1126316" y="2971800"/>
            <a:ext cx="1648208"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r1:r0</a:t>
            </a:r>
          </a:p>
        </p:txBody>
      </p:sp>
      <p:sp>
        <p:nvSpPr>
          <p:cNvPr id="12" name="TextBox 11">
            <a:extLst>
              <a:ext uri="{FF2B5EF4-FFF2-40B4-BE49-F238E27FC236}">
                <a16:creationId xmlns:a16="http://schemas.microsoft.com/office/drawing/2014/main" id="{1BF6FCE4-B778-D891-A539-32C9F31C665C}"/>
              </a:ext>
            </a:extLst>
          </p:cNvPr>
          <p:cNvSpPr txBox="1"/>
          <p:nvPr/>
        </p:nvSpPr>
        <p:spPr>
          <a:xfrm>
            <a:off x="3060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3" name="TextBox 12">
            <a:extLst>
              <a:ext uri="{FF2B5EF4-FFF2-40B4-BE49-F238E27FC236}">
                <a16:creationId xmlns:a16="http://schemas.microsoft.com/office/drawing/2014/main" id="{92808386-3B22-1A70-1D2E-E9457F9ACA75}"/>
              </a:ext>
            </a:extLst>
          </p:cNvPr>
          <p:cNvSpPr txBox="1"/>
          <p:nvPr/>
        </p:nvSpPr>
        <p:spPr>
          <a:xfrm>
            <a:off x="4814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a:extLst>
              <a:ext uri="{FF2B5EF4-FFF2-40B4-BE49-F238E27FC236}">
                <a16:creationId xmlns:a16="http://schemas.microsoft.com/office/drawing/2014/main" id="{A0A48D20-9467-A211-65EB-9B7D3330D92D}"/>
              </a:ext>
            </a:extLst>
          </p:cNvPr>
          <p:cNvCxnSpPr/>
          <p:nvPr/>
        </p:nvCxnSpPr>
        <p:spPr>
          <a:xfrm>
            <a:off x="1940328" y="328596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8805BED-252D-C0B1-BCD5-C98E0E7BC7E0}"/>
              </a:ext>
            </a:extLst>
          </p:cNvPr>
          <p:cNvCxnSpPr/>
          <p:nvPr/>
        </p:nvCxnSpPr>
        <p:spPr>
          <a:xfrm>
            <a:off x="3705159"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539C0E9-CC64-D6E3-CE9D-3442B3E00ED2}"/>
              </a:ext>
            </a:extLst>
          </p:cNvPr>
          <p:cNvCxnSpPr/>
          <p:nvPr/>
        </p:nvCxnSpPr>
        <p:spPr>
          <a:xfrm flipH="1">
            <a:off x="5055068"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E738B46-A3CD-B7DE-13FF-CB07BD7708E0}"/>
              </a:ext>
            </a:extLst>
          </p:cNvPr>
          <p:cNvSpPr/>
          <p:nvPr/>
        </p:nvSpPr>
        <p:spPr>
          <a:xfrm>
            <a:off x="3848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a:extLst>
              <a:ext uri="{FF2B5EF4-FFF2-40B4-BE49-F238E27FC236}">
                <a16:creationId xmlns:a16="http://schemas.microsoft.com/office/drawing/2014/main" id="{41D2F895-770F-85D2-1B67-C58EE3AC98FF}"/>
              </a:ext>
            </a:extLst>
          </p:cNvPr>
          <p:cNvCxnSpPr/>
          <p:nvPr/>
        </p:nvCxnSpPr>
        <p:spPr>
          <a:xfrm>
            <a:off x="4556338"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AE8DF0-7A95-F76D-8ABB-A1480862A3A8}"/>
              </a:ext>
            </a:extLst>
          </p:cNvPr>
          <p:cNvSpPr txBox="1"/>
          <p:nvPr/>
        </p:nvSpPr>
        <p:spPr>
          <a:xfrm>
            <a:off x="3937050" y="5850017"/>
            <a:ext cx="1269899" cy="369332"/>
          </a:xfrm>
          <a:prstGeom prst="rect">
            <a:avLst/>
          </a:prstGeom>
          <a:noFill/>
        </p:spPr>
        <p:txBody>
          <a:bodyPr wrap="none" rtlCol="0">
            <a:spAutoFit/>
          </a:bodyPr>
          <a:lstStyle/>
          <a:p>
            <a:r>
              <a:rPr lang="en-US" dirty="0"/>
              <a:t>Register R1:R0</a:t>
            </a:r>
            <a:r>
              <a:rPr lang="en-US" b="1" dirty="0">
                <a:solidFill>
                  <a:srgbClr val="FF0000"/>
                </a:solidFill>
                <a:latin typeface="Consolas" panose="020B0609020204030204" pitchFamily="49" charset="0"/>
              </a:rPr>
              <a:t/>
            </a:r>
          </a:p>
        </p:txBody>
      </p:sp>
      <p:sp>
        <p:nvSpPr>
          <p:cNvPr id="11" name="Rectangle 10">
            <a:extLst>
              <a:ext uri="{FF2B5EF4-FFF2-40B4-BE49-F238E27FC236}">
                <a16:creationId xmlns:a16="http://schemas.microsoft.com/office/drawing/2014/main" id="{E9E03112-E023-013F-1E04-3E5790D7A556}"/>
              </a:ext>
            </a:extLst>
          </p:cNvPr>
          <p:cNvSpPr/>
          <p:nvPr/>
        </p:nvSpPr>
        <p:spPr>
          <a:xfrm>
            <a:off x="76200" y="1593468"/>
            <a:ext cx="9163050" cy="369332"/>
          </a:xfrm>
          <a:prstGeom prst="rect">
            <a:avLst/>
          </a:prstGeom>
        </p:spPr>
        <p:txBody>
          <a:bodyPr wrap="square">
            <a:spAutoFit/>
          </a:bodyPr>
          <a:lstStyle/>
          <a:p>
            <a:r>
              <a:rPr lang="en-US" b="1" dirty="0">
                <a:latin typeface="Consolas" panose="020B0609020204030204" pitchFamily="49" charset="0"/>
              </a:rPr>
              <a:t>uint64_t sum(</a:t>
            </a:r>
            <a:r>
              <a:rPr lang="en-US" b="1" dirty="0">
                <a:solidFill>
                  <a:srgbClr val="FF0000"/>
                </a:solidFill>
                <a:latin typeface="Consolas" panose="020B0609020204030204" pitchFamily="49" charset="0"/>
              </a:rPr>
              <a:t>uint64_t</a:t>
            </a:r>
            <a:r>
              <a:rPr lang="en-US" b="1" dirty="0">
                <a:latin typeface="Consolas" panose="020B0609020204030204" pitchFamily="49" charset="0"/>
              </a:rPr>
              <a:t> a64, uint8_t b8, uint16_t c16, uint16_t d16);</a:t>
            </a:r>
          </a:p>
        </p:txBody>
      </p:sp>
      <p:sp>
        <p:nvSpPr>
          <p:cNvPr id="23" name="TextBox 22">
            <a:extLst>
              <a:ext uri="{FF2B5EF4-FFF2-40B4-BE49-F238E27FC236}">
                <a16:creationId xmlns:a16="http://schemas.microsoft.com/office/drawing/2014/main" id="{2A09A543-6103-44EB-8B1D-8744EF784763}"/>
              </a:ext>
            </a:extLst>
          </p:cNvPr>
          <p:cNvSpPr txBox="1"/>
          <p:nvPr/>
        </p:nvSpPr>
        <p:spPr>
          <a:xfrm>
            <a:off x="5688297" y="3233683"/>
            <a:ext cx="3254417" cy="646331"/>
          </a:xfrm>
          <a:prstGeom prst="rect">
            <a:avLst/>
          </a:prstGeom>
          <a:noFill/>
        </p:spPr>
        <p:txBody>
          <a:bodyPr wrap="none" rtlCol="0">
            <a:spAutoFit/>
          </a:bodyPr>
          <a:lstStyle/>
          <a:p>
            <a:pPr marL="342900" indent="-342900">
              <a:buFont typeface="Arial" panose="020B0604020202020204" pitchFamily="34" charset="0"/>
              <a:buChar char="•"/>
            </a:pPr>
            <a:r>
              <a:rPr lang="en-US" dirty="0">
                <a:solidFill>
                  <a:srgbClr val="FF0000"/>
                </a:solidFill>
              </a:rPr>
              <a:t>Caller pushes d16 onto stack</a:t>
            </a:r>
          </a:p>
          <a:p>
            <a:pPr marL="342900" indent="-342900">
              <a:buFont typeface="Arial" panose="020B0604020202020204" pitchFamily="34" charset="0"/>
              <a:buChar char="•"/>
            </a:pPr>
            <a:r>
              <a:rPr lang="en-US" dirty="0">
                <a:solidFill>
                  <a:srgbClr val="FF0000"/>
                </a:solidFill>
              </a:rPr>
              <a:t>Callee reads d16 from stack</a:t>
            </a:r>
          </a:p>
        </p:txBody>
      </p:sp>
      <p:sp>
        <p:nvSpPr>
          <p:cNvPr id="4" name="Content Placeholder 3">
            <a:extLst>
              <a:ext uri="{FF2B5EF4-FFF2-40B4-BE49-F238E27FC236}">
                <a16:creationId xmlns:a16="http://schemas.microsoft.com/office/drawing/2014/main" id="{72717BE0-5FBD-4A0E-563C-52EA77FE0BE1}"/>
              </a:ext>
            </a:extLst>
          </p:cNvPr>
          <p:cNvSpPr>
            <a:spLocks noGrp="1"/>
          </p:cNvSpPr>
          <p:nvPr>
            <p:ph sz="quarter" idx="1"/>
          </p:nvPr>
        </p:nvSpPr>
        <p:spPr>
          <a:xfrm>
            <a:off x="457200" y="1962800"/>
            <a:ext cx="8229600" cy="595719"/>
          </a:xfrm>
        </p:spPr>
        <p:txBody>
          <a:bodyPr/>
          <a:lstStyle/>
          <a:p>
            <a:r>
              <a:rPr lang="en-US" dirty="0"/>
              <a:t>Fill in register names.</a:t>
            </a:r>
          </a:p>
        </p:txBody>
      </p:sp>
    </p:spTree>
    <p:extLst>
      <p:ext uri="{BB962C8B-B14F-4D97-AF65-F5344CB8AC3E}">
        <p14:creationId xmlns:p14="http://schemas.microsoft.com/office/powerpoint/2010/main" val="291806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 Passing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p:txBody>
          <a:bodyPr/>
          <a:lstStyle/>
          <a:p>
            <a:r>
              <a:rPr lang="en-US" altLang="zh-CN" dirty="0"/>
              <a:t>W</a:t>
            </a:r>
            <a:r>
              <a:rPr lang="en-US" dirty="0"/>
              <a:t>hich registers are used to pass the arguments and return the result? </a:t>
            </a:r>
          </a:p>
        </p:txBody>
      </p:sp>
      <p:sp>
        <p:nvSpPr>
          <p:cNvPr id="5" name="Rectangle 4"/>
          <p:cNvSpPr/>
          <p:nvPr/>
        </p:nvSpPr>
        <p:spPr>
          <a:xfrm>
            <a:off x="304800" y="2133600"/>
            <a:ext cx="558223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long fun (short a1, char a2, double a3,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a4, char a5)</a:t>
            </a:r>
          </a:p>
        </p:txBody>
      </p:sp>
      <p:graphicFrame>
        <p:nvGraphicFramePr>
          <p:cNvPr id="6" name="Content Placeholder 12"/>
          <p:cNvGraphicFramePr>
            <a:graphicFrameLocks/>
          </p:cNvGraphicFramePr>
          <p:nvPr>
            <p:extLst>
              <p:ext uri="{D42A27DB-BD31-4B8C-83A1-F6EECF244321}">
                <p14:modId xmlns:p14="http://schemas.microsoft.com/office/powerpoint/2010/main" val="2965774675"/>
              </p:ext>
            </p:extLst>
          </p:nvPr>
        </p:nvGraphicFramePr>
        <p:xfrm>
          <a:off x="685800" y="2835886"/>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742950">
                  <a:extLst>
                    <a:ext uri="{9D8B030D-6E8A-4147-A177-3AD203B41FA5}">
                      <a16:colId xmlns:a16="http://schemas.microsoft.com/office/drawing/2014/main" val="85967061"/>
                    </a:ext>
                  </a:extLst>
                </a:gridCol>
                <a:gridCol w="742950">
                  <a:extLst>
                    <a:ext uri="{9D8B030D-6E8A-4147-A177-3AD203B41FA5}">
                      <a16:colId xmlns:a16="http://schemas.microsoft.com/office/drawing/2014/main" val="2525421763"/>
                    </a:ext>
                  </a:extLst>
                </a:gridCol>
              </a:tblGrid>
              <a:tr h="370840">
                <a:tc>
                  <a:txBody>
                    <a:bodyPr/>
                    <a:lstStyle/>
                    <a:p>
                      <a:pPr algn="ctr"/>
                      <a:r>
                        <a:rPr lang="en-US" dirty="0"/>
                        <a:t>R0</a:t>
                      </a:r>
                    </a:p>
                  </a:txBody>
                  <a:tcPr/>
                </a:tc>
                <a:tc>
                  <a:txBody>
                    <a:bodyPr/>
                    <a:lstStyle/>
                    <a:p>
                      <a:pPr algn="ctr"/>
                      <a:r>
                        <a:rPr lang="en-US" dirty="0"/>
                        <a:t>R1</a:t>
                      </a:r>
                    </a:p>
                  </a:txBody>
                  <a:tcPr/>
                </a:tc>
                <a:tc>
                  <a:txBody>
                    <a:bodyPr/>
                    <a:lstStyle/>
                    <a:p>
                      <a:pPr algn="ctr"/>
                      <a:r>
                        <a:rPr lang="en-US" dirty="0"/>
                        <a:t>R2</a:t>
                      </a:r>
                    </a:p>
                  </a:txBody>
                  <a:tcPr/>
                </a:tc>
                <a:tc>
                  <a:txBody>
                    <a:bodyPr/>
                    <a:lstStyle/>
                    <a:p>
                      <a:pPr algn="ctr"/>
                      <a:r>
                        <a:rPr lang="en-US" dirty="0"/>
                        <a:t>R3</a:t>
                      </a:r>
                    </a:p>
                  </a:txBody>
                  <a:tcPr/>
                </a:tc>
                <a:extLst>
                  <a:ext uri="{0D108BD9-81ED-4DB2-BD59-A6C34878D82A}">
                    <a16:rowId xmlns:a16="http://schemas.microsoft.com/office/drawing/2014/main" val="3892313521"/>
                  </a:ext>
                </a:extLst>
              </a:tr>
            </a:tbl>
          </a:graphicData>
        </a:graphic>
      </p:graphicFrame>
      <p:graphicFrame>
        <p:nvGraphicFramePr>
          <p:cNvPr id="7" name="Content Placeholder 12"/>
          <p:cNvGraphicFramePr>
            <a:graphicFrameLocks/>
          </p:cNvGraphicFramePr>
          <p:nvPr>
            <p:extLst>
              <p:ext uri="{D42A27DB-BD31-4B8C-83A1-F6EECF244321}">
                <p14:modId xmlns:p14="http://schemas.microsoft.com/office/powerpoint/2010/main" val="429716298"/>
              </p:ext>
            </p:extLst>
          </p:nvPr>
        </p:nvGraphicFramePr>
        <p:xfrm>
          <a:off x="3962397" y="2835886"/>
          <a:ext cx="4648203" cy="370840"/>
        </p:xfrm>
        <a:graphic>
          <a:graphicData uri="http://schemas.openxmlformats.org/drawingml/2006/table">
            <a:tbl>
              <a:tblPr firstRow="1" bandRow="1">
                <a:tableStyleId>{5940675A-B579-460E-94D1-54222C63F5DA}</a:tableStyleId>
              </a:tblPr>
              <a:tblGrid>
                <a:gridCol w="4648203">
                  <a:extLst>
                    <a:ext uri="{9D8B030D-6E8A-4147-A177-3AD203B41FA5}">
                      <a16:colId xmlns:a16="http://schemas.microsoft.com/office/drawing/2014/main" val="242172939"/>
                    </a:ext>
                  </a:extLst>
                </a:gridCol>
              </a:tblGrid>
              <a:tr h="370840">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8" name="TextBox 7"/>
          <p:cNvSpPr txBox="1"/>
          <p:nvPr/>
        </p:nvSpPr>
        <p:spPr>
          <a:xfrm>
            <a:off x="1905000" y="2480826"/>
            <a:ext cx="1039067" cy="369332"/>
          </a:xfrm>
          <a:prstGeom prst="rect">
            <a:avLst/>
          </a:prstGeom>
          <a:noFill/>
        </p:spPr>
        <p:txBody>
          <a:bodyPr wrap="none" rtlCol="0">
            <a:spAutoFit/>
          </a:bodyPr>
          <a:lstStyle/>
          <a:p>
            <a:r>
              <a:rPr lang="en-US" dirty="0"/>
              <a:t>Registers</a:t>
            </a:r>
          </a:p>
        </p:txBody>
      </p:sp>
      <p:sp>
        <p:nvSpPr>
          <p:cNvPr id="9" name="TextBox 8"/>
          <p:cNvSpPr txBox="1"/>
          <p:nvPr/>
        </p:nvSpPr>
        <p:spPr>
          <a:xfrm>
            <a:off x="5334000" y="2480826"/>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Tree>
    <p:extLst>
      <p:ext uri="{BB962C8B-B14F-4D97-AF65-F5344CB8AC3E}">
        <p14:creationId xmlns:p14="http://schemas.microsoft.com/office/powerpoint/2010/main" val="3252337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 Passing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p:txBody>
          <a:bodyPr>
            <a:normAutofit fontScale="92500" lnSpcReduction="20000"/>
          </a:bodyPr>
          <a:lstStyle/>
          <a:p>
            <a:r>
              <a:rPr lang="en-US" altLang="zh-CN" dirty="0"/>
              <a:t>W</a:t>
            </a:r>
            <a:r>
              <a:rPr lang="en-US" dirty="0"/>
              <a:t>hich registers are used to pass the arguments and return the result? </a:t>
            </a:r>
          </a:p>
          <a:p>
            <a:endParaRPr lang="en-US" dirty="0"/>
          </a:p>
          <a:p>
            <a:endParaRPr lang="en-US" dirty="0"/>
          </a:p>
          <a:p>
            <a:endParaRPr lang="en-US" dirty="0"/>
          </a:p>
          <a:p>
            <a:endParaRPr lang="en-US" dirty="0"/>
          </a:p>
          <a:p>
            <a:r>
              <a:rPr lang="en-US" dirty="0"/>
              <a:t>Each argument of 8-bit char, or 16-bit short, is passed in one 32-bit register; cannot use 1 register to pass more than one argument</a:t>
            </a:r>
          </a:p>
          <a:p>
            <a:pPr lvl="1"/>
            <a:r>
              <a:rPr lang="en-US" dirty="0"/>
              <a:t>a1 (short) in R0.</a:t>
            </a:r>
          </a:p>
          <a:p>
            <a:pPr lvl="1"/>
            <a:r>
              <a:rPr lang="en-US" dirty="0"/>
              <a:t>a2 (char) in R1.</a:t>
            </a:r>
          </a:p>
          <a:p>
            <a:pPr lvl="1"/>
            <a:r>
              <a:rPr lang="en-US" dirty="0"/>
              <a:t>a3 (double) in R2 and R3.</a:t>
            </a:r>
          </a:p>
          <a:p>
            <a:pPr lvl="1"/>
            <a:r>
              <a:rPr lang="en-US" dirty="0"/>
              <a:t>a4 (int) on the stack.</a:t>
            </a:r>
          </a:p>
          <a:p>
            <a:pPr lvl="1"/>
            <a:r>
              <a:rPr lang="en-US" dirty="0"/>
              <a:t>a5 (char) on the stack. The result (long, 32 bits) is returned in R0.</a:t>
            </a:r>
          </a:p>
          <a:p>
            <a:endParaRPr lang="en-US" dirty="0"/>
          </a:p>
        </p:txBody>
      </p:sp>
      <p:sp>
        <p:nvSpPr>
          <p:cNvPr id="5" name="Rectangle 4"/>
          <p:cNvSpPr/>
          <p:nvPr/>
        </p:nvSpPr>
        <p:spPr>
          <a:xfrm>
            <a:off x="372140" y="2057400"/>
            <a:ext cx="5582234"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long fun (short a1, char a2, double a3,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a4, char a5)</a:t>
            </a:r>
          </a:p>
        </p:txBody>
      </p:sp>
      <p:graphicFrame>
        <p:nvGraphicFramePr>
          <p:cNvPr id="6" name="Content Placeholder 12"/>
          <p:cNvGraphicFramePr>
            <a:graphicFrameLocks/>
          </p:cNvGraphicFramePr>
          <p:nvPr>
            <p:extLst>
              <p:ext uri="{D42A27DB-BD31-4B8C-83A1-F6EECF244321}">
                <p14:modId xmlns:p14="http://schemas.microsoft.com/office/powerpoint/2010/main" val="4156475260"/>
              </p:ext>
            </p:extLst>
          </p:nvPr>
        </p:nvGraphicFramePr>
        <p:xfrm>
          <a:off x="753140" y="2759686"/>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1485900">
                  <a:extLst>
                    <a:ext uri="{9D8B030D-6E8A-4147-A177-3AD203B41FA5}">
                      <a16:colId xmlns:a16="http://schemas.microsoft.com/office/drawing/2014/main" val="85967061"/>
                    </a:ext>
                  </a:extLst>
                </a:gridCol>
              </a:tblGrid>
              <a:tr h="370840">
                <a:tc>
                  <a:txBody>
                    <a:bodyPr/>
                    <a:lstStyle/>
                    <a:p>
                      <a:pPr algn="ctr"/>
                      <a:r>
                        <a:rPr lang="en-US" altLang="zh-CN" dirty="0"/>
                        <a:t>a1</a:t>
                      </a:r>
                      <a:endParaRPr lang="en-US" dirty="0"/>
                    </a:p>
                  </a:txBody>
                  <a:tcPr/>
                </a:tc>
                <a:tc>
                  <a:txBody>
                    <a:bodyPr/>
                    <a:lstStyle/>
                    <a:p>
                      <a:pPr algn="ctr"/>
                      <a:r>
                        <a:rPr lang="en-US" dirty="0"/>
                        <a:t>a2</a:t>
                      </a:r>
                    </a:p>
                  </a:txBody>
                  <a:tcPr/>
                </a:tc>
                <a:tc>
                  <a:txBody>
                    <a:bodyPr/>
                    <a:lstStyle/>
                    <a:p>
                      <a:pPr algn="ctr"/>
                      <a:r>
                        <a:rPr lang="en-US" dirty="0"/>
                        <a:t>a3</a:t>
                      </a:r>
                    </a:p>
                  </a:txBody>
                  <a:tcPr/>
                </a:tc>
                <a:extLst>
                  <a:ext uri="{0D108BD9-81ED-4DB2-BD59-A6C34878D82A}">
                    <a16:rowId xmlns:a16="http://schemas.microsoft.com/office/drawing/2014/main" val="3892313521"/>
                  </a:ext>
                </a:extLst>
              </a:tr>
            </a:tbl>
          </a:graphicData>
        </a:graphic>
      </p:graphicFrame>
      <p:graphicFrame>
        <p:nvGraphicFramePr>
          <p:cNvPr id="7" name="Content Placeholder 12"/>
          <p:cNvGraphicFramePr>
            <a:graphicFrameLocks/>
          </p:cNvGraphicFramePr>
          <p:nvPr>
            <p:extLst>
              <p:ext uri="{D42A27DB-BD31-4B8C-83A1-F6EECF244321}">
                <p14:modId xmlns:p14="http://schemas.microsoft.com/office/powerpoint/2010/main" val="855738313"/>
              </p:ext>
            </p:extLst>
          </p:nvPr>
        </p:nvGraphicFramePr>
        <p:xfrm>
          <a:off x="4029737" y="2759686"/>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3320145">
                  <a:extLst>
                    <a:ext uri="{9D8B030D-6E8A-4147-A177-3AD203B41FA5}">
                      <a16:colId xmlns:a16="http://schemas.microsoft.com/office/drawing/2014/main" val="85967061"/>
                    </a:ext>
                  </a:extLst>
                </a:gridCol>
              </a:tblGrid>
              <a:tr h="370840">
                <a:tc>
                  <a:txBody>
                    <a:bodyPr/>
                    <a:lstStyle/>
                    <a:p>
                      <a:pPr algn="ctr"/>
                      <a:r>
                        <a:rPr lang="en-US"/>
                        <a:t>a4</a:t>
                      </a:r>
                      <a:endParaRPr lang="en-US" dirty="0"/>
                    </a:p>
                  </a:txBody>
                  <a:tcPr/>
                </a:tc>
                <a:tc>
                  <a:txBody>
                    <a:bodyPr/>
                    <a:lstStyle/>
                    <a:p>
                      <a:pPr algn="ctr"/>
                      <a:r>
                        <a:rPr lang="en-US" dirty="0"/>
                        <a:t>a5</a:t>
                      </a:r>
                    </a:p>
                  </a:txBody>
                  <a:tcPr/>
                </a:tc>
                <a:tc>
                  <a:txBody>
                    <a:bodyPr/>
                    <a:lstStyle/>
                    <a:p>
                      <a:pPr algn="ctr"/>
                      <a:endParaRPr lang="en-US" dirty="0"/>
                    </a:p>
                  </a:txBody>
                  <a:tcPr/>
                </a:tc>
                <a:extLst>
                  <a:ext uri="{0D108BD9-81ED-4DB2-BD59-A6C34878D82A}">
                    <a16:rowId xmlns:a16="http://schemas.microsoft.com/office/drawing/2014/main" val="3892313521"/>
                  </a:ext>
                </a:extLst>
              </a:tr>
            </a:tbl>
          </a:graphicData>
        </a:graphic>
      </p:graphicFrame>
      <p:sp>
        <p:nvSpPr>
          <p:cNvPr id="8" name="TextBox 7"/>
          <p:cNvSpPr txBox="1"/>
          <p:nvPr/>
        </p:nvSpPr>
        <p:spPr>
          <a:xfrm>
            <a:off x="1972340" y="2404626"/>
            <a:ext cx="1039067" cy="369332"/>
          </a:xfrm>
          <a:prstGeom prst="rect">
            <a:avLst/>
          </a:prstGeom>
          <a:noFill/>
        </p:spPr>
        <p:txBody>
          <a:bodyPr wrap="none" rtlCol="0">
            <a:spAutoFit/>
          </a:bodyPr>
          <a:lstStyle/>
          <a:p>
            <a:r>
              <a:rPr lang="en-US" dirty="0"/>
              <a:t>Registers</a:t>
            </a:r>
          </a:p>
        </p:txBody>
      </p:sp>
      <p:sp>
        <p:nvSpPr>
          <p:cNvPr id="9" name="TextBox 8"/>
          <p:cNvSpPr txBox="1"/>
          <p:nvPr/>
        </p:nvSpPr>
        <p:spPr>
          <a:xfrm>
            <a:off x="5401340" y="2404626"/>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Tree>
    <p:extLst>
      <p:ext uri="{BB962C8B-B14F-4D97-AF65-F5344CB8AC3E}">
        <p14:creationId xmlns:p14="http://schemas.microsoft.com/office/powerpoint/2010/main" val="41479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CAEB-CD92-F6E6-96EC-622670592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35D03-E63B-948E-7B28-FE2BC0D48EA8}"/>
              </a:ext>
            </a:extLst>
          </p:cNvPr>
          <p:cNvSpPr>
            <a:spLocks noGrp="1"/>
          </p:cNvSpPr>
          <p:nvPr>
            <p:ph type="title"/>
          </p:nvPr>
        </p:nvSpPr>
        <p:spPr/>
        <p:txBody>
          <a:bodyPr>
            <a:normAutofit fontScale="90000"/>
          </a:bodyPr>
          <a:lstStyle/>
          <a:p>
            <a:r>
              <a:rPr lang="en-US" dirty="0"/>
              <a:t>What’s wrong? Passing arguments and Returning Value</a:t>
            </a:r>
          </a:p>
        </p:txBody>
      </p:sp>
      <p:sp>
        <p:nvSpPr>
          <p:cNvPr id="3" name="Slide Number Placeholder 2">
            <a:extLst>
              <a:ext uri="{FF2B5EF4-FFF2-40B4-BE49-F238E27FC236}">
                <a16:creationId xmlns:a16="http://schemas.microsoft.com/office/drawing/2014/main" id="{F2A24FAD-DC69-0014-9A87-E1D9B0AFB91E}"/>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11" name="Rectangle 10">
            <a:extLst>
              <a:ext uri="{FF2B5EF4-FFF2-40B4-BE49-F238E27FC236}">
                <a16:creationId xmlns:a16="http://schemas.microsoft.com/office/drawing/2014/main" id="{41B1B8CA-B3E7-1ACE-322F-D0B4A4D4E57D}"/>
              </a:ext>
            </a:extLst>
          </p:cNvPr>
          <p:cNvSpPr/>
          <p:nvPr/>
        </p:nvSpPr>
        <p:spPr>
          <a:xfrm>
            <a:off x="76200" y="1593468"/>
            <a:ext cx="9163050" cy="646331"/>
          </a:xfrm>
          <a:prstGeom prst="rect">
            <a:avLst/>
          </a:prstGeom>
        </p:spPr>
        <p:txBody>
          <a:bodyPr wrap="square">
            <a:spAutoFit/>
          </a:bodyPr>
          <a:lstStyle/>
          <a:p>
            <a:r>
              <a:rPr lang="en-US" b="1" dirty="0">
                <a:latin typeface="Consolas" panose="020B0609020204030204" pitchFamily="49" charset="0"/>
              </a:rPr>
              <a:t>uint32_t sum(uint8_t a8, uint8_t b8, uint16_t c16, uint16_t d16, </a:t>
            </a:r>
            <a:r>
              <a:rPr lang="en-US" b="1" dirty="0">
                <a:solidFill>
                  <a:srgbClr val="FF0000"/>
                </a:solidFill>
                <a:latin typeface="Consolas" panose="020B0609020204030204" pitchFamily="49" charset="0"/>
              </a:rPr>
              <a:t>uint32_t e32</a:t>
            </a:r>
            <a:r>
              <a:rPr lang="en-US" b="1" dirty="0">
                <a:latin typeface="Consolas" panose="020B0609020204030204" pitchFamily="49" charset="0"/>
              </a:rPr>
              <a:t>);</a:t>
            </a:r>
          </a:p>
        </p:txBody>
      </p:sp>
      <p:sp>
        <p:nvSpPr>
          <p:cNvPr id="4" name="TextBox 3">
            <a:extLst>
              <a:ext uri="{FF2B5EF4-FFF2-40B4-BE49-F238E27FC236}">
                <a16:creationId xmlns:a16="http://schemas.microsoft.com/office/drawing/2014/main" id="{9BD5669A-1FE1-C6BC-0617-481BE80F1863}"/>
              </a:ext>
            </a:extLst>
          </p:cNvPr>
          <p:cNvSpPr txBox="1"/>
          <p:nvPr/>
        </p:nvSpPr>
        <p:spPr>
          <a:xfrm>
            <a:off x="304800" y="2754035"/>
            <a:ext cx="750526" cy="369332"/>
          </a:xfrm>
          <a:prstGeom prst="rect">
            <a:avLst/>
          </a:prstGeom>
          <a:noFill/>
        </p:spPr>
        <p:txBody>
          <a:bodyPr wrap="none" rtlCol="0">
            <a:spAutoFit/>
          </a:bodyPr>
          <a:lstStyle/>
          <a:p>
            <a:r>
              <a:rPr lang="en-US" dirty="0"/>
              <a:t>Caller</a:t>
            </a:r>
          </a:p>
        </p:txBody>
      </p:sp>
      <p:sp>
        <p:nvSpPr>
          <p:cNvPr id="23" name="Rectangle 22">
            <a:extLst>
              <a:ext uri="{FF2B5EF4-FFF2-40B4-BE49-F238E27FC236}">
                <a16:creationId xmlns:a16="http://schemas.microsoft.com/office/drawing/2014/main" id="{B5A46639-51AC-D259-C3DB-1521D258BD49}"/>
              </a:ext>
            </a:extLst>
          </p:cNvPr>
          <p:cNvSpPr/>
          <p:nvPr/>
        </p:nvSpPr>
        <p:spPr>
          <a:xfrm>
            <a:off x="33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a:t>
            </a:r>
          </a:p>
        </p:txBody>
      </p:sp>
      <p:sp>
        <p:nvSpPr>
          <p:cNvPr id="15" name="TextBox 14">
            <a:extLst>
              <a:ext uri="{FF2B5EF4-FFF2-40B4-BE49-F238E27FC236}">
                <a16:creationId xmlns:a16="http://schemas.microsoft.com/office/drawing/2014/main" id="{D4F04556-2048-4F19-A763-9BBFFFCAD277}"/>
              </a:ext>
            </a:extLst>
          </p:cNvPr>
          <p:cNvSpPr txBox="1"/>
          <p:nvPr/>
        </p:nvSpPr>
        <p:spPr>
          <a:xfrm>
            <a:off x="449580" y="3256122"/>
            <a:ext cx="2464136"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 r0, #5 </a:t>
            </a:r>
            <a:r>
              <a:rPr lang="en-US" dirty="0">
                <a:solidFill>
                  <a:schemeClr val="bg1">
                    <a:lumMod val="50000"/>
                  </a:schemeClr>
                </a:solidFill>
                <a:latin typeface="Consolas" panose="020B0609020204030204" pitchFamily="49" charset="0"/>
              </a:rPr>
              <a:t>; e32</a:t>
            </a:r>
          </a:p>
          <a:p>
            <a:r>
              <a:rPr lang="en-US" dirty="0">
                <a:solidFill>
                  <a:schemeClr val="tx1"/>
                </a:solidFill>
                <a:latin typeface="Consolas" panose="020B0609020204030204" pitchFamily="49" charset="0"/>
              </a:rPr>
              <a:t>  MOV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a:p>
            <a:r>
              <a:rPr lang="en-US" dirty="0">
                <a:latin typeface="Consolas" panose="020B0609020204030204" pitchFamily="49" charset="0"/>
              </a:rPr>
              <a:t>  ...</a:t>
            </a:r>
          </a:p>
        </p:txBody>
      </p:sp>
      <p:sp>
        <p:nvSpPr>
          <p:cNvPr id="27" name="TextBox 26">
            <a:extLst>
              <a:ext uri="{FF2B5EF4-FFF2-40B4-BE49-F238E27FC236}">
                <a16:creationId xmlns:a16="http://schemas.microsoft.com/office/drawing/2014/main" id="{6AC2BFAF-703A-1607-3F8B-C3C6EAC24548}"/>
              </a:ext>
            </a:extLst>
          </p:cNvPr>
          <p:cNvSpPr txBox="1"/>
          <p:nvPr/>
        </p:nvSpPr>
        <p:spPr>
          <a:xfrm>
            <a:off x="3581400" y="2840938"/>
            <a:ext cx="769763" cy="369332"/>
          </a:xfrm>
          <a:prstGeom prst="rect">
            <a:avLst/>
          </a:prstGeom>
          <a:noFill/>
        </p:spPr>
        <p:txBody>
          <a:bodyPr wrap="none" rtlCol="0">
            <a:spAutoFit/>
          </a:bodyPr>
          <a:lstStyle/>
          <a:p>
            <a:r>
              <a:rPr lang="en-US" dirty="0" err="1"/>
              <a:t>Callee</a:t>
            </a:r>
            <a:endParaRPr lang="en-US" dirty="0"/>
          </a:p>
        </p:txBody>
      </p:sp>
      <p:sp>
        <p:nvSpPr>
          <p:cNvPr id="28" name="TextBox 27">
            <a:extLst>
              <a:ext uri="{FF2B5EF4-FFF2-40B4-BE49-F238E27FC236}">
                <a16:creationId xmlns:a16="http://schemas.microsoft.com/office/drawing/2014/main" id="{5A07EE5F-FDFB-4DFD-A418-4743BE043075}"/>
              </a:ext>
            </a:extLst>
          </p:cNvPr>
          <p:cNvSpPr txBox="1"/>
          <p:nvPr/>
        </p:nvSpPr>
        <p:spPr>
          <a:xfrm>
            <a:off x="3607914" y="3305718"/>
            <a:ext cx="3730508" cy="203132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00FF"/>
                </a:solidFill>
                <a:latin typeface="Consolas" panose="020B0609020204030204" pitchFamily="49" charset="0"/>
              </a:rPr>
              <a:t>sum</a:t>
            </a:r>
            <a:r>
              <a:rPr lang="en-US" dirty="0">
                <a:latin typeface="Consolas" panose="020B0609020204030204" pitchFamily="49" charset="0"/>
              </a:rPr>
              <a:t>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solidFill>
                  <a:schemeClr val="tx1"/>
                </a:solidFill>
                <a:latin typeface="Consolas" panose="020B0609020204030204" pitchFamily="49" charset="0"/>
              </a:rPr>
              <a:t>  ADD r0, r0, r1   </a:t>
            </a:r>
            <a:r>
              <a:rPr lang="en-US" dirty="0">
                <a:solidFill>
                  <a:schemeClr val="bg1">
                    <a:lumMod val="50000"/>
                  </a:schemeClr>
                </a:solidFill>
                <a:latin typeface="Consolas" panose="020B0609020204030204" pitchFamily="49" charset="0"/>
              </a:rPr>
              <a:t>; add e32</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397021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What’s wrong? Passing arguments and Returning Value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11" name="Rectangle 10"/>
          <p:cNvSpPr/>
          <p:nvPr/>
        </p:nvSpPr>
        <p:spPr>
          <a:xfrm>
            <a:off x="76200" y="1593468"/>
            <a:ext cx="9163050" cy="646331"/>
          </a:xfrm>
          <a:prstGeom prst="rect">
            <a:avLst/>
          </a:prstGeom>
        </p:spPr>
        <p:txBody>
          <a:bodyPr wrap="square">
            <a:spAutoFit/>
          </a:bodyPr>
          <a:lstStyle/>
          <a:p>
            <a:r>
              <a:rPr lang="en-US" b="1" dirty="0">
                <a:latin typeface="Consolas" panose="020B0609020204030204" pitchFamily="49" charset="0"/>
              </a:rPr>
              <a:t>uint32_t sum(uint8_t a8, uint8_t b8, uint16_t c16, uint16_t d16, </a:t>
            </a:r>
            <a:r>
              <a:rPr lang="en-US" b="1" dirty="0">
                <a:solidFill>
                  <a:srgbClr val="FF0000"/>
                </a:solidFill>
                <a:latin typeface="Consolas" panose="020B0609020204030204" pitchFamily="49" charset="0"/>
              </a:rPr>
              <a:t>uint32_t e32</a:t>
            </a:r>
            <a:r>
              <a:rPr lang="en-US" b="1" dirty="0">
                <a:latin typeface="Consolas" panose="020B0609020204030204" pitchFamily="49" charset="0"/>
              </a:rPr>
              <a:t>);</a:t>
            </a:r>
          </a:p>
        </p:txBody>
      </p:sp>
      <p:sp>
        <p:nvSpPr>
          <p:cNvPr id="4" name="TextBox 3"/>
          <p:cNvSpPr txBox="1"/>
          <p:nvPr/>
        </p:nvSpPr>
        <p:spPr>
          <a:xfrm>
            <a:off x="304800" y="2754035"/>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33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a:t>
            </a:r>
          </a:p>
        </p:txBody>
      </p:sp>
      <p:sp>
        <p:nvSpPr>
          <p:cNvPr id="15" name="TextBox 14"/>
          <p:cNvSpPr txBox="1"/>
          <p:nvPr/>
        </p:nvSpPr>
        <p:spPr>
          <a:xfrm>
            <a:off x="449580" y="3256122"/>
            <a:ext cx="2464136" cy="258532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 r0, #5 </a:t>
            </a:r>
            <a:r>
              <a:rPr lang="en-US" dirty="0">
                <a:solidFill>
                  <a:schemeClr val="bg1">
                    <a:lumMod val="50000"/>
                  </a:schemeClr>
                </a:solidFill>
                <a:latin typeface="Consolas" panose="020B0609020204030204" pitchFamily="49" charset="0"/>
              </a:rPr>
              <a:t>; e32</a:t>
            </a:r>
          </a:p>
          <a:p>
            <a:r>
              <a:rPr lang="en-US" dirty="0">
                <a:latin typeface="Consolas" panose="020B0609020204030204" pitchFamily="49" charset="0"/>
              </a:rPr>
              <a:t>  </a:t>
            </a:r>
            <a:r>
              <a:rPr lang="en-US" b="1" dirty="0">
                <a:solidFill>
                  <a:srgbClr val="FF0000"/>
                </a:solidFill>
                <a:latin typeface="Consolas" panose="020B0609020204030204" pitchFamily="49" charset="0"/>
              </a:rPr>
              <a:t>PUSH {r0}</a:t>
            </a:r>
          </a:p>
          <a:p>
            <a:r>
              <a:rPr lang="en-US" dirty="0">
                <a:solidFill>
                  <a:schemeClr val="tx1"/>
                </a:solidFill>
                <a:latin typeface="Consolas" panose="020B0609020204030204" pitchFamily="49" charset="0"/>
              </a:rPr>
              <a:t>  MOV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a:p>
            <a:r>
              <a:rPr lang="en-US" dirty="0">
                <a:latin typeface="Consolas" panose="020B0609020204030204" pitchFamily="49" charset="0"/>
              </a:rPr>
              <a:t>  ...</a:t>
            </a:r>
          </a:p>
          <a:p>
            <a:r>
              <a:rPr lang="en-US" dirty="0">
                <a:latin typeface="Consolas" panose="020B0609020204030204" pitchFamily="49" charset="0"/>
              </a:rPr>
              <a:t>  </a:t>
            </a:r>
            <a:r>
              <a:rPr lang="en-US" b="1" dirty="0">
                <a:solidFill>
                  <a:srgbClr val="FF0000"/>
                </a:solidFill>
                <a:latin typeface="Consolas" panose="020B0609020204030204" pitchFamily="49" charset="0"/>
              </a:rPr>
              <a:t>ADD sp, sp, #4</a:t>
            </a:r>
          </a:p>
        </p:txBody>
      </p:sp>
      <p:sp>
        <p:nvSpPr>
          <p:cNvPr id="27" name="TextBox 26"/>
          <p:cNvSpPr txBox="1"/>
          <p:nvPr/>
        </p:nvSpPr>
        <p:spPr>
          <a:xfrm>
            <a:off x="3581400" y="2840938"/>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3607914" y="3305718"/>
            <a:ext cx="4996881"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0000FF"/>
                </a:solidFill>
                <a:latin typeface="Consolas" panose="020B0609020204030204" pitchFamily="49" charset="0"/>
              </a:rPr>
              <a:t>sum</a:t>
            </a:r>
            <a:r>
              <a:rPr lang="en-US" dirty="0">
                <a:latin typeface="Consolas" panose="020B0609020204030204" pitchFamily="49" charset="0"/>
              </a:rPr>
              <a:t>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b="1" dirty="0">
                <a:solidFill>
                  <a:srgbClr val="FF0000"/>
                </a:solidFill>
                <a:latin typeface="Consolas" panose="020B0609020204030204" pitchFamily="49" charset="0"/>
              </a:rPr>
              <a:t>  LDR r1, [</a:t>
            </a:r>
            <a:r>
              <a:rPr lang="en-US" b="1" dirty="0" err="1">
                <a:solidFill>
                  <a:srgbClr val="FF0000"/>
                </a:solidFill>
                <a:latin typeface="Consolas" panose="020B0609020204030204" pitchFamily="49" charset="0"/>
              </a:rPr>
              <a:t>sp</a:t>
            </a:r>
            <a:r>
              <a:rPr lang="en-US" b="1" dirty="0">
                <a:solidFill>
                  <a:srgbClr val="FF0000"/>
                </a:solidFill>
                <a:latin typeface="Consolas" panose="020B0609020204030204" pitchFamily="49" charset="0"/>
              </a:rPr>
              <a:t>, #0] </a:t>
            </a:r>
            <a:r>
              <a:rPr lang="en-US" b="1" dirty="0">
                <a:solidFill>
                  <a:schemeClr val="bg1">
                    <a:lumMod val="50000"/>
                  </a:schemeClr>
                </a:solidFill>
                <a:latin typeface="Consolas" panose="020B0609020204030204" pitchFamily="49" charset="0"/>
              </a:rPr>
              <a:t>; read argument e32</a:t>
            </a:r>
          </a:p>
          <a:p>
            <a:r>
              <a:rPr lang="en-US" dirty="0">
                <a:solidFill>
                  <a:schemeClr val="bg1">
                    <a:lumMod val="50000"/>
                  </a:schemeClr>
                </a:solidFill>
                <a:latin typeface="Consolas" panose="020B0609020204030204" pitchFamily="49" charset="0"/>
              </a:rPr>
              <a:t>  </a:t>
            </a:r>
            <a:r>
              <a:rPr lang="en-US" dirty="0">
                <a:solidFill>
                  <a:schemeClr val="tx1"/>
                </a:solidFill>
                <a:latin typeface="Consolas" panose="020B0609020204030204" pitchFamily="49" charset="0"/>
              </a:rPr>
              <a:t>ADD r0, r0, r1   </a:t>
            </a:r>
            <a:r>
              <a:rPr lang="en-US" dirty="0">
                <a:solidFill>
                  <a:schemeClr val="bg1">
                    <a:lumMod val="50000"/>
                  </a:schemeClr>
                </a:solidFill>
                <a:latin typeface="Consolas" panose="020B0609020204030204" pitchFamily="49" charset="0"/>
              </a:rPr>
              <a:t>; add e32</a:t>
            </a:r>
          </a:p>
          <a:p>
            <a:r>
              <a:rPr lang="en-US" dirty="0">
                <a:latin typeface="Consolas" panose="020B0609020204030204" pitchFamily="49" charset="0"/>
              </a:rPr>
              <a:t>  BX  LR</a:t>
            </a:r>
          </a:p>
          <a:p>
            <a:r>
              <a:rPr lang="en-US" dirty="0">
                <a:latin typeface="Consolas" panose="020B0609020204030204" pitchFamily="49" charset="0"/>
              </a:rPr>
              <a:t>  ENDP</a:t>
            </a:r>
          </a:p>
        </p:txBody>
      </p:sp>
      <p:sp>
        <p:nvSpPr>
          <p:cNvPr id="6" name="Rectangle 5"/>
          <p:cNvSpPr/>
          <p:nvPr/>
        </p:nvSpPr>
        <p:spPr>
          <a:xfrm>
            <a:off x="914400" y="5854799"/>
            <a:ext cx="4861560" cy="646331"/>
          </a:xfrm>
          <a:prstGeom prst="rect">
            <a:avLst/>
          </a:prstGeom>
        </p:spPr>
        <p:txBody>
          <a:bodyPr wrap="square">
            <a:spAutoFit/>
          </a:bodyPr>
          <a:lstStyle/>
          <a:p>
            <a:r>
              <a:rPr lang="en-US" dirty="0"/>
              <a:t>The caller is responsible to pop extra arguments out of the stack after the subroutine returns.</a:t>
            </a:r>
          </a:p>
        </p:txBody>
      </p:sp>
    </p:spTree>
    <p:extLst>
      <p:ext uri="{BB962C8B-B14F-4D97-AF65-F5344CB8AC3E}">
        <p14:creationId xmlns:p14="http://schemas.microsoft.com/office/powerpoint/2010/main" val="2345755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69777-22BA-A4F2-A717-CA88FA78E82B}"/>
              </a:ext>
            </a:extLst>
          </p:cNvPr>
          <p:cNvSpPr>
            <a:spLocks noGrp="1"/>
          </p:cNvSpPr>
          <p:nvPr>
            <p:ph type="title"/>
          </p:nvPr>
        </p:nvSpPr>
        <p:spPr/>
        <p:txBody>
          <a:bodyPr/>
          <a:lstStyle/>
          <a:p>
            <a:r>
              <a:rPr lang="en-US" altLang="zh-CN" dirty="0"/>
              <a:t>What </a:t>
            </a:r>
            <a:r>
              <a:rPr lang="en-US" altLang="zh-CN"/>
              <a:t>is Wrong?</a:t>
            </a:r>
            <a:endParaRPr lang="en-US"/>
          </a:p>
        </p:txBody>
      </p:sp>
      <p:sp>
        <p:nvSpPr>
          <p:cNvPr id="3" name="Slide Number Placeholder 2">
            <a:extLst>
              <a:ext uri="{FF2B5EF4-FFF2-40B4-BE49-F238E27FC236}">
                <a16:creationId xmlns:a16="http://schemas.microsoft.com/office/drawing/2014/main" id="{B3A26B7A-A91C-8739-59F7-FED523EC9EA9}"/>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a:extLst>
              <a:ext uri="{FF2B5EF4-FFF2-40B4-BE49-F238E27FC236}">
                <a16:creationId xmlns:a16="http://schemas.microsoft.com/office/drawing/2014/main" id="{5998200F-E2E0-2FC9-A24B-3D85B65165B0}"/>
              </a:ext>
            </a:extLst>
          </p:cNvPr>
          <p:cNvSpPr>
            <a:spLocks noGrp="1"/>
          </p:cNvSpPr>
          <p:nvPr>
            <p:ph sz="quarter" idx="1"/>
          </p:nvPr>
        </p:nvSpPr>
        <p:spPr/>
        <p:txBody>
          <a:bodyPr/>
          <a:lstStyle/>
          <a:p>
            <a:endParaRPr lang="en-US" dirty="0"/>
          </a:p>
        </p:txBody>
      </p:sp>
      <p:graphicFrame>
        <p:nvGraphicFramePr>
          <p:cNvPr id="5" name="Table 4">
            <a:extLst>
              <a:ext uri="{FF2B5EF4-FFF2-40B4-BE49-F238E27FC236}">
                <a16:creationId xmlns:a16="http://schemas.microsoft.com/office/drawing/2014/main" id="{A554D579-850A-433C-2F4C-D7CBDE33F5FD}"/>
              </a:ext>
            </a:extLst>
          </p:cNvPr>
          <p:cNvGraphicFramePr>
            <a:graphicFrameLocks noGrp="1"/>
          </p:cNvGraphicFramePr>
          <p:nvPr>
            <p:extLst>
              <p:ext uri="{D42A27DB-BD31-4B8C-83A1-F6EECF244321}">
                <p14:modId xmlns:p14="http://schemas.microsoft.com/office/powerpoint/2010/main" val="1546225091"/>
              </p:ext>
            </p:extLst>
          </p:nvPr>
        </p:nvGraphicFramePr>
        <p:xfrm>
          <a:off x="2696497" y="1731779"/>
          <a:ext cx="5791200" cy="2018941"/>
        </p:xfrm>
        <a:graphic>
          <a:graphicData uri="http://schemas.openxmlformats.org/drawingml/2006/table">
            <a:tbl>
              <a:tblPr firstRow="1" firstCol="1" bandRow="1">
                <a:tableStyleId>{5940675A-B579-460E-94D1-54222C63F5DA}</a:tableStyleId>
              </a:tblPr>
              <a:tblGrid>
                <a:gridCol w="57912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extern int32_t</a:t>
                      </a:r>
                      <a:r>
                        <a:rPr lang="fr-FR" sz="1400" dirty="0">
                          <a:effectLst/>
                          <a:latin typeface="Consolas" panose="020B0609020204030204" pitchFamily="49" charset="0"/>
                          <a:cs typeface="Consolas" panose="020B0609020204030204" pitchFamily="49" charset="0"/>
                        </a:rPr>
                        <a:t> sum3(int32_t a1, int32_t a2, int32_t a3);</a:t>
                      </a:r>
                    </a:p>
                    <a:p>
                      <a:pPr marL="0" marR="0" algn="l">
                        <a:spcBef>
                          <a:spcPts val="0"/>
                        </a:spcBef>
                        <a:spcAft>
                          <a:spcPts val="0"/>
                        </a:spcAft>
                      </a:pPr>
                      <a:endParaRPr lang="fr-FR"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int</a:t>
                      </a:r>
                      <a:r>
                        <a:rPr lang="fr-FR" sz="1400" dirty="0">
                          <a:effectLst/>
                          <a:latin typeface="Consolas" panose="020B0609020204030204" pitchFamily="49" charset="0"/>
                          <a:cs typeface="Consolas" panose="020B0609020204030204" pitchFamily="49" charset="0"/>
                        </a:rPr>
                        <a:t> main(</a:t>
                      </a:r>
                      <a:r>
                        <a:rPr lang="fr-FR" sz="1400" dirty="0" err="1">
                          <a:effectLst/>
                          <a:latin typeface="Consolas" panose="020B0609020204030204" pitchFamily="49" charset="0"/>
                          <a:cs typeface="Consolas" panose="020B0609020204030204" pitchFamily="49" charset="0"/>
                        </a:rPr>
                        <a:t>void</a:t>
                      </a: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int32_t s;</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s = sum3(-1, -2, -3) + sum3(4, 5, 6);</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7F3EEF33-13EC-BB93-CE67-9DD4DBFC221D}"/>
              </a:ext>
            </a:extLst>
          </p:cNvPr>
          <p:cNvGraphicFramePr>
            <a:graphicFrameLocks noGrp="1"/>
          </p:cNvGraphicFramePr>
          <p:nvPr>
            <p:extLst>
              <p:ext uri="{D42A27DB-BD31-4B8C-83A1-F6EECF244321}">
                <p14:modId xmlns:p14="http://schemas.microsoft.com/office/powerpoint/2010/main" val="3133712184"/>
              </p:ext>
            </p:extLst>
          </p:nvPr>
        </p:nvGraphicFramePr>
        <p:xfrm>
          <a:off x="4847303" y="3856560"/>
          <a:ext cx="3657600" cy="2194560"/>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sum3 PROC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EXPORT sum3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 r3 = sum</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r1 ; sum = a1 + a2</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r2 ; sum += a3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MOV r1, r3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BX pc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20051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13AA5-7512-22DD-1951-CBA6BFFCB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B2E9D-CA3F-A924-BCF5-E675F73BE73B}"/>
              </a:ext>
            </a:extLst>
          </p:cNvPr>
          <p:cNvSpPr>
            <a:spLocks noGrp="1"/>
          </p:cNvSpPr>
          <p:nvPr>
            <p:ph type="title"/>
          </p:nvPr>
        </p:nvSpPr>
        <p:spPr/>
        <p:txBody>
          <a:bodyPr/>
          <a:lstStyle/>
          <a:p>
            <a:r>
              <a:rPr lang="en-US" altLang="zh-CN" dirty="0"/>
              <a:t>What is Wrong? ANS</a:t>
            </a:r>
            <a:endParaRPr lang="en-US" dirty="0"/>
          </a:p>
        </p:txBody>
      </p:sp>
      <p:sp>
        <p:nvSpPr>
          <p:cNvPr id="3" name="Slide Number Placeholder 2">
            <a:extLst>
              <a:ext uri="{FF2B5EF4-FFF2-40B4-BE49-F238E27FC236}">
                <a16:creationId xmlns:a16="http://schemas.microsoft.com/office/drawing/2014/main" id="{239BD184-7857-E916-5337-0E4E92B37032}"/>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888CA4B8-E23A-61B6-D388-BD1EFFC38D5F}"/>
              </a:ext>
            </a:extLst>
          </p:cNvPr>
          <p:cNvSpPr>
            <a:spLocks noGrp="1"/>
          </p:cNvSpPr>
          <p:nvPr>
            <p:ph sz="quarter" idx="1"/>
          </p:nvPr>
        </p:nvSpPr>
        <p:spPr>
          <a:xfrm>
            <a:off x="152400" y="1270963"/>
            <a:ext cx="2544097" cy="4937760"/>
          </a:xfrm>
        </p:spPr>
        <p:txBody>
          <a:bodyPr/>
          <a:lstStyle/>
          <a:p>
            <a:r>
              <a:rPr lang="en-US" dirty="0"/>
              <a:t>Return result should be put into r0, not r1; also ADD r3, r3, r2 (not r0)</a:t>
            </a:r>
          </a:p>
          <a:p>
            <a:r>
              <a:rPr lang="en-US" dirty="0"/>
              <a:t>BX </a:t>
            </a:r>
            <a:r>
              <a:rPr lang="en-US" dirty="0" err="1"/>
              <a:t>lr</a:t>
            </a:r>
            <a:r>
              <a:rPr lang="en-US" dirty="0"/>
              <a:t> returns to caller</a:t>
            </a:r>
          </a:p>
          <a:p>
            <a:r>
              <a:rPr lang="en-US" dirty="0"/>
              <a:t>BX pc is not a return and will re-execute at the PC value</a:t>
            </a:r>
          </a:p>
        </p:txBody>
      </p:sp>
      <p:graphicFrame>
        <p:nvGraphicFramePr>
          <p:cNvPr id="5" name="Table 4">
            <a:extLst>
              <a:ext uri="{FF2B5EF4-FFF2-40B4-BE49-F238E27FC236}">
                <a16:creationId xmlns:a16="http://schemas.microsoft.com/office/drawing/2014/main" id="{28ABCD11-A9ED-D44F-DB84-BC8E920599B7}"/>
              </a:ext>
            </a:extLst>
          </p:cNvPr>
          <p:cNvGraphicFramePr>
            <a:graphicFrameLocks noGrp="1"/>
          </p:cNvGraphicFramePr>
          <p:nvPr/>
        </p:nvGraphicFramePr>
        <p:xfrm>
          <a:off x="2696497" y="1731779"/>
          <a:ext cx="5791200" cy="2018941"/>
        </p:xfrm>
        <a:graphic>
          <a:graphicData uri="http://schemas.openxmlformats.org/drawingml/2006/table">
            <a:tbl>
              <a:tblPr firstRow="1" firstCol="1" bandRow="1">
                <a:tableStyleId>{5940675A-B579-460E-94D1-54222C63F5DA}</a:tableStyleId>
              </a:tblPr>
              <a:tblGrid>
                <a:gridCol w="57912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extern int32_t</a:t>
                      </a:r>
                      <a:r>
                        <a:rPr lang="fr-FR" sz="1400" dirty="0">
                          <a:effectLst/>
                          <a:latin typeface="Consolas" panose="020B0609020204030204" pitchFamily="49" charset="0"/>
                          <a:cs typeface="Consolas" panose="020B0609020204030204" pitchFamily="49" charset="0"/>
                        </a:rPr>
                        <a:t> sum3(int32_t a1, int32_t a2, int32_t a3);</a:t>
                      </a:r>
                    </a:p>
                    <a:p>
                      <a:pPr marL="0" marR="0" algn="l">
                        <a:spcBef>
                          <a:spcPts val="0"/>
                        </a:spcBef>
                        <a:spcAft>
                          <a:spcPts val="0"/>
                        </a:spcAft>
                      </a:pPr>
                      <a:endParaRPr lang="fr-FR" sz="14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fr-FR" sz="1400" dirty="0" err="1">
                          <a:effectLst/>
                          <a:latin typeface="Consolas" panose="020B0609020204030204" pitchFamily="49" charset="0"/>
                          <a:cs typeface="Consolas" panose="020B0609020204030204" pitchFamily="49" charset="0"/>
                        </a:rPr>
                        <a:t>int</a:t>
                      </a:r>
                      <a:r>
                        <a:rPr lang="fr-FR" sz="1400" dirty="0">
                          <a:effectLst/>
                          <a:latin typeface="Consolas" panose="020B0609020204030204" pitchFamily="49" charset="0"/>
                          <a:cs typeface="Consolas" panose="020B0609020204030204" pitchFamily="49" charset="0"/>
                        </a:rPr>
                        <a:t> main(</a:t>
                      </a:r>
                      <a:r>
                        <a:rPr lang="fr-FR" sz="1400" dirty="0" err="1">
                          <a:effectLst/>
                          <a:latin typeface="Consolas" panose="020B0609020204030204" pitchFamily="49" charset="0"/>
                          <a:cs typeface="Consolas" panose="020B0609020204030204" pitchFamily="49" charset="0"/>
                        </a:rPr>
                        <a:t>void</a:t>
                      </a: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int32_t s;</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fr-FR" sz="1400" dirty="0">
                          <a:effectLst/>
                          <a:latin typeface="Consolas" panose="020B0609020204030204" pitchFamily="49" charset="0"/>
                          <a:cs typeface="Consolas" panose="020B0609020204030204" pitchFamily="49" charset="0"/>
                        </a:rPr>
                        <a:t>s = sum3(-1, -2, -3) + sum3(4, 5, 6);</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63F81107-A59E-5244-C57F-4AFF69A7D613}"/>
              </a:ext>
            </a:extLst>
          </p:cNvPr>
          <p:cNvGraphicFramePr>
            <a:graphicFrameLocks noGrp="1"/>
          </p:cNvGraphicFramePr>
          <p:nvPr>
            <p:extLst>
              <p:ext uri="{D42A27DB-BD31-4B8C-83A1-F6EECF244321}">
                <p14:modId xmlns:p14="http://schemas.microsoft.com/office/powerpoint/2010/main" val="2021965596"/>
              </p:ext>
            </p:extLst>
          </p:nvPr>
        </p:nvGraphicFramePr>
        <p:xfrm>
          <a:off x="4847303" y="3856560"/>
          <a:ext cx="3657600" cy="2194560"/>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sum3 PROC</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EXPORT sum3</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 r3 = sum</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r0, r1 ; sum = a1 + a2</a:t>
                      </a: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ADD r3, r3, r2 ; sum += a3</a:t>
                      </a:r>
                    </a:p>
                    <a:p>
                      <a:pPr marL="0" marR="0" algn="just">
                        <a:spcBef>
                          <a:spcPts val="0"/>
                        </a:spcBef>
                        <a:spcAft>
                          <a:spcPts val="0"/>
                        </a:spcAft>
                      </a:pPr>
                      <a:r>
                        <a:rPr lang="pt-BR" sz="1600" dirty="0">
                          <a:solidFill>
                            <a:srgbClr val="FF0000"/>
                          </a:solidFill>
                          <a:effectLst/>
                          <a:latin typeface="Consolas" panose="020B0609020204030204" pitchFamily="49" charset="0"/>
                          <a:cs typeface="Consolas" panose="020B0609020204030204" pitchFamily="49" charset="0"/>
                        </a:rPr>
                        <a:t>MOV r0, r3</a:t>
                      </a:r>
                    </a:p>
                    <a:p>
                      <a:pPr marL="0" marR="0" algn="just">
                        <a:spcBef>
                          <a:spcPts val="0"/>
                        </a:spcBef>
                        <a:spcAft>
                          <a:spcPts val="0"/>
                        </a:spcAft>
                      </a:pPr>
                      <a:r>
                        <a:rPr lang="pt-BR" sz="1600" dirty="0">
                          <a:solidFill>
                            <a:srgbClr val="FF0000"/>
                          </a:solidFill>
                          <a:effectLst/>
                          <a:latin typeface="Consolas" panose="020B0609020204030204" pitchFamily="49" charset="0"/>
                          <a:cs typeface="Consolas" panose="020B0609020204030204" pitchFamily="49" charset="0"/>
                        </a:rPr>
                        <a:t>BX </a:t>
                      </a:r>
                      <a:r>
                        <a:rPr lang="en-US" altLang="zh-CN" sz="1600" dirty="0" err="1">
                          <a:solidFill>
                            <a:srgbClr val="FF0000"/>
                          </a:solidFill>
                          <a:effectLst/>
                          <a:latin typeface="Consolas" panose="020B0609020204030204" pitchFamily="49" charset="0"/>
                          <a:cs typeface="Consolas" panose="020B0609020204030204" pitchFamily="49" charset="0"/>
                        </a:rPr>
                        <a:t>lr</a:t>
                      </a:r>
                      <a:endParaRPr lang="pt-BR" sz="1600"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pt-BR" sz="1600" dirty="0">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14278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C4F0-89D8-54C1-7B5F-442BB66DAAA7}"/>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04ACEC4B-05BD-C502-9FB9-FEB63BA9F5F4}"/>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4C97CD4C-D1B7-839F-818C-C650C0AA8892}"/>
              </a:ext>
            </a:extLst>
          </p:cNvPr>
          <p:cNvSpPr>
            <a:spLocks noGrp="1"/>
          </p:cNvSpPr>
          <p:nvPr>
            <p:ph sz="quarter" idx="1"/>
          </p:nvPr>
        </p:nvSpPr>
        <p:spPr/>
        <p:txBody>
          <a:bodyPr/>
          <a:lstStyle/>
          <a:p>
            <a:r>
              <a:rPr lang="en-US" dirty="0"/>
              <a:t>Write out the sequence of values of r0 and r7 after </a:t>
            </a:r>
            <a:r>
              <a:rPr lang="en-US"/>
              <a:t>running this program. </a:t>
            </a:r>
            <a:endParaRPr lang="en-US" dirty="0"/>
          </a:p>
        </p:txBody>
      </p:sp>
      <p:sp>
        <p:nvSpPr>
          <p:cNvPr id="5" name="TextBox 4">
            <a:extLst>
              <a:ext uri="{FF2B5EF4-FFF2-40B4-BE49-F238E27FC236}">
                <a16:creationId xmlns:a16="http://schemas.microsoft.com/office/drawing/2014/main" id="{E5333230-46BA-8663-0449-A907C073A049}"/>
              </a:ext>
            </a:extLst>
          </p:cNvPr>
          <p:cNvSpPr txBox="1"/>
          <p:nvPr/>
        </p:nvSpPr>
        <p:spPr>
          <a:xfrm>
            <a:off x="866618" y="2125087"/>
            <a:ext cx="3454460" cy="403187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start:</a:t>
            </a:r>
          </a:p>
          <a:p>
            <a:r>
              <a:rPr lang="en-US" sz="1600" dirty="0">
                <a:latin typeface="Consolas" panose="020B0609020204030204" pitchFamily="49" charset="0"/>
                <a:cs typeface="Consolas" panose="020B0609020204030204" pitchFamily="49" charset="0"/>
              </a:rPr>
              <a:t>        mov     r0, #1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main:</a:t>
            </a:r>
          </a:p>
          <a:p>
            <a:r>
              <a:rPr lang="en-US" sz="1600" dirty="0">
                <a:latin typeface="Consolas" panose="020B0609020204030204" pitchFamily="49" charset="0"/>
                <a:cs typeface="Consolas" panose="020B0609020204030204" pitchFamily="49" charset="0"/>
              </a:rPr>
              <a:t>        add     r0, r0, #1</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cmp</a:t>
            </a:r>
            <a:r>
              <a:rPr lang="en-US" sz="1600" dirty="0">
                <a:latin typeface="Consolas" panose="020B0609020204030204" pitchFamily="49" charset="0"/>
                <a:cs typeface="Consolas" panose="020B0609020204030204" pitchFamily="49" charset="0"/>
              </a:rPr>
              <a:t>     r0, #5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bne</a:t>
            </a:r>
            <a:r>
              <a:rPr lang="en-US" sz="1600" dirty="0">
                <a:latin typeface="Consolas" panose="020B0609020204030204" pitchFamily="49" charset="0"/>
                <a:cs typeface="Consolas" panose="020B0609020204030204" pitchFamily="49" charset="0"/>
              </a:rPr>
              <a:t>     skip         </a:t>
            </a:r>
          </a:p>
          <a:p>
            <a:r>
              <a:rPr lang="en-US" sz="1600" dirty="0">
                <a:latin typeface="Consolas" panose="020B0609020204030204" pitchFamily="49" charset="0"/>
                <a:cs typeface="Consolas" panose="020B0609020204030204" pitchFamily="49" charset="0"/>
              </a:rPr>
              <a:t>        bl      call</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skip:</a:t>
            </a:r>
          </a:p>
          <a:p>
            <a:r>
              <a:rPr lang="en-US" sz="1600" dirty="0">
                <a:latin typeface="Consolas" panose="020B0609020204030204" pitchFamily="49" charset="0"/>
                <a:cs typeface="Consolas" panose="020B0609020204030204" pitchFamily="49" charset="0"/>
              </a:rPr>
              <a:t>        b       main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call:</a:t>
            </a:r>
          </a:p>
          <a:p>
            <a:r>
              <a:rPr lang="en-US" sz="1600" dirty="0">
                <a:latin typeface="Consolas" panose="020B0609020204030204" pitchFamily="49" charset="0"/>
                <a:cs typeface="Consolas" panose="020B0609020204030204" pitchFamily="49" charset="0"/>
              </a:rPr>
              <a:t>        add     r7, r7, #255</a:t>
            </a:r>
          </a:p>
          <a:p>
            <a:r>
              <a:rPr lang="en-US" sz="1600" dirty="0">
                <a:latin typeface="Consolas" panose="020B0609020204030204" pitchFamily="49" charset="0"/>
                <a:cs typeface="Consolas" panose="020B0609020204030204" pitchFamily="49" charset="0"/>
              </a:rPr>
              <a:t>        mov     r0, #1       </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r>
              <a:rPr lang="en-US" sz="16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937750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D278-9055-1654-5493-D4D5C252F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67A95-DEC2-DAE0-E275-60B265AA044E}"/>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74502889-1E6F-132B-00E5-EBBFD6734866}"/>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0707AC2E-44F3-B02C-EC23-E5EB61FA94EB}"/>
              </a:ext>
            </a:extLst>
          </p:cNvPr>
          <p:cNvSpPr>
            <a:spLocks noGrp="1"/>
          </p:cNvSpPr>
          <p:nvPr>
            <p:ph sz="quarter" idx="1"/>
          </p:nvPr>
        </p:nvSpPr>
        <p:spPr>
          <a:xfrm>
            <a:off x="473765" y="1082040"/>
            <a:ext cx="8229600" cy="4937760"/>
          </a:xfrm>
        </p:spPr>
        <p:txBody>
          <a:bodyPr>
            <a:normAutofit/>
          </a:bodyPr>
          <a:lstStyle/>
          <a:p>
            <a:r>
              <a:rPr lang="en-US" sz="1800" dirty="0"/>
              <a:t>It starts with r0 = 1. It loops, incrementing r0 each time. When r0 reaches 5, it calls subroutine call, which adds 255 to r7 and resets r0 to 1. Control returns to main, and the cycle repeats. So the pattern goes like this:</a:t>
            </a:r>
          </a:p>
          <a:p>
            <a:r>
              <a:rPr lang="en-US" sz="1800" dirty="0"/>
              <a:t>r0: 1 → 2 → 3 → 4 → 5 → (call resets to 1)</a:t>
            </a:r>
          </a:p>
          <a:p>
            <a:r>
              <a:rPr lang="en-US" sz="1800" dirty="0"/>
              <a:t>r7: +255 each time r0 reaches 5</a:t>
            </a:r>
          </a:p>
        </p:txBody>
      </p:sp>
      <p:sp>
        <p:nvSpPr>
          <p:cNvPr id="5" name="TextBox 4">
            <a:extLst>
              <a:ext uri="{FF2B5EF4-FFF2-40B4-BE49-F238E27FC236}">
                <a16:creationId xmlns:a16="http://schemas.microsoft.com/office/drawing/2014/main" id="{A84A8A79-412F-4394-2139-FF1AAAAEDB7A}"/>
              </a:ext>
            </a:extLst>
          </p:cNvPr>
          <p:cNvSpPr txBox="1"/>
          <p:nvPr/>
        </p:nvSpPr>
        <p:spPr>
          <a:xfrm>
            <a:off x="888940" y="2690237"/>
            <a:ext cx="7366119" cy="4031873"/>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cs typeface="Consolas" panose="020B0609020204030204" pitchFamily="49" charset="0"/>
              </a:rPr>
              <a:t>start:</a:t>
            </a:r>
          </a:p>
          <a:p>
            <a:r>
              <a:rPr lang="en-US" sz="1600" dirty="0">
                <a:latin typeface="Consolas" panose="020B0609020204030204" pitchFamily="49" charset="0"/>
                <a:cs typeface="Consolas" panose="020B0609020204030204" pitchFamily="49" charset="0"/>
              </a:rPr>
              <a:t>        mov     r0, #1       @ start: r0 = 1</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main:</a:t>
            </a:r>
          </a:p>
          <a:p>
            <a:r>
              <a:rPr lang="en-US" sz="1600" dirty="0">
                <a:latin typeface="Consolas" panose="020B0609020204030204" pitchFamily="49" charset="0"/>
                <a:cs typeface="Consolas" panose="020B0609020204030204" pitchFamily="49" charset="0"/>
              </a:rPr>
              <a:t>        add     r0, r0, #1   @ increment r0</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cmp</a:t>
            </a:r>
            <a:r>
              <a:rPr lang="en-US" sz="1600" dirty="0">
                <a:latin typeface="Consolas" panose="020B0609020204030204" pitchFamily="49" charset="0"/>
                <a:cs typeface="Consolas" panose="020B0609020204030204" pitchFamily="49" charset="0"/>
              </a:rPr>
              <a:t>     r0, #5       @ compare r0 to 5</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bne</a:t>
            </a:r>
            <a:r>
              <a:rPr lang="en-US" sz="1600" dirty="0">
                <a:latin typeface="Consolas" panose="020B0609020204030204" pitchFamily="49" charset="0"/>
                <a:cs typeface="Consolas" panose="020B0609020204030204" pitchFamily="49" charset="0"/>
              </a:rPr>
              <a:t>     skip         @ if not equal, go to skip</a:t>
            </a:r>
          </a:p>
          <a:p>
            <a:r>
              <a:rPr lang="en-US" sz="1600" dirty="0">
                <a:latin typeface="Consolas" panose="020B0609020204030204" pitchFamily="49" charset="0"/>
                <a:cs typeface="Consolas" panose="020B0609020204030204" pitchFamily="49" charset="0"/>
              </a:rPr>
              <a:t>        bl      call         @ if equal, branch-and-link to call</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skip:</a:t>
            </a:r>
          </a:p>
          <a:p>
            <a:r>
              <a:rPr lang="en-US" sz="1600" dirty="0">
                <a:latin typeface="Consolas" panose="020B0609020204030204" pitchFamily="49" charset="0"/>
                <a:cs typeface="Consolas" panose="020B0609020204030204" pitchFamily="49" charset="0"/>
              </a:rPr>
              <a:t>        b       main         @ unconditional branch back to main</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call:</a:t>
            </a:r>
          </a:p>
          <a:p>
            <a:r>
              <a:rPr lang="en-US" sz="1600" dirty="0">
                <a:latin typeface="Consolas" panose="020B0609020204030204" pitchFamily="49" charset="0"/>
                <a:cs typeface="Consolas" panose="020B0609020204030204" pitchFamily="49" charset="0"/>
              </a:rPr>
              <a:t>        add     r7, r7, #255 @ add 255 to r7 (side-effect)</a:t>
            </a:r>
          </a:p>
          <a:p>
            <a:r>
              <a:rPr lang="en-US" sz="1600" dirty="0">
                <a:latin typeface="Consolas" panose="020B0609020204030204" pitchFamily="49" charset="0"/>
                <a:cs typeface="Consolas" panose="020B0609020204030204" pitchFamily="49" charset="0"/>
              </a:rPr>
              <a:t>        mov     r0, #1       @ reset r0 to 1</a:t>
            </a:r>
          </a:p>
          <a:p>
            <a:r>
              <a:rPr lang="en-US" sz="1600" dirty="0">
                <a:latin typeface="Consolas" panose="020B0609020204030204" pitchFamily="49" charset="0"/>
                <a:cs typeface="Consolas" panose="020B0609020204030204" pitchFamily="49" charset="0"/>
              </a:rPr>
              <a:t>        bx      </a:t>
            </a:r>
            <a:r>
              <a:rPr lang="en-US" sz="1600" dirty="0" err="1">
                <a:latin typeface="Consolas" panose="020B0609020204030204" pitchFamily="49" charset="0"/>
                <a:cs typeface="Consolas" panose="020B0609020204030204" pitchFamily="49" charset="0"/>
              </a:rPr>
              <a:t>lr</a:t>
            </a:r>
            <a:r>
              <a:rPr lang="en-US" sz="1600" dirty="0">
                <a:latin typeface="Consolas" panose="020B0609020204030204" pitchFamily="49" charset="0"/>
                <a:cs typeface="Consolas" panose="020B0609020204030204" pitchFamily="49" charset="0"/>
              </a:rPr>
              <a:t>           @ return (branch to link register)</a:t>
            </a:r>
          </a:p>
        </p:txBody>
      </p:sp>
    </p:spTree>
    <p:extLst>
      <p:ext uri="{BB962C8B-B14F-4D97-AF65-F5344CB8AC3E}">
        <p14:creationId xmlns:p14="http://schemas.microsoft.com/office/powerpoint/2010/main" val="3110859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1FAD6-E4B6-9B88-FA7A-9F38A7C51248}"/>
              </a:ext>
            </a:extLst>
          </p:cNvPr>
          <p:cNvSpPr>
            <a:spLocks noGrp="1"/>
          </p:cNvSpPr>
          <p:nvPr>
            <p:ph type="title"/>
          </p:nvPr>
        </p:nvSpPr>
        <p:spPr/>
        <p:txBody>
          <a:bodyPr/>
          <a:lstStyle/>
          <a:p>
            <a:r>
              <a:rPr lang="en-US" dirty="0" err="1"/>
              <a:t>toLower</a:t>
            </a:r>
            <a:endParaRPr lang="en-US" dirty="0"/>
          </a:p>
        </p:txBody>
      </p:sp>
      <p:sp>
        <p:nvSpPr>
          <p:cNvPr id="3" name="Slide Number Placeholder 2">
            <a:extLst>
              <a:ext uri="{FF2B5EF4-FFF2-40B4-BE49-F238E27FC236}">
                <a16:creationId xmlns:a16="http://schemas.microsoft.com/office/drawing/2014/main" id="{406B6A81-95A1-E1AF-809E-6F8C58EA574E}"/>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a:extLst>
              <a:ext uri="{FF2B5EF4-FFF2-40B4-BE49-F238E27FC236}">
                <a16:creationId xmlns:a16="http://schemas.microsoft.com/office/drawing/2014/main" id="{B1EBE5EF-493B-E11A-1B1D-CCABF51AA9D7}"/>
              </a:ext>
            </a:extLst>
          </p:cNvPr>
          <p:cNvGraphicFramePr>
            <a:graphicFrameLocks noGrp="1"/>
          </p:cNvGraphicFramePr>
          <p:nvPr>
            <p:extLst>
              <p:ext uri="{D42A27DB-BD31-4B8C-83A1-F6EECF244321}">
                <p14:modId xmlns:p14="http://schemas.microsoft.com/office/powerpoint/2010/main" val="678379025"/>
              </p:ext>
            </p:extLst>
          </p:nvPr>
        </p:nvGraphicFramePr>
        <p:xfrm>
          <a:off x="228600" y="1385857"/>
          <a:ext cx="4800600" cy="4693920"/>
        </p:xfrm>
        <a:graphic>
          <a:graphicData uri="http://schemas.openxmlformats.org/drawingml/2006/table">
            <a:tbl>
              <a:tblPr firstRow="1" firstCol="1" bandRow="1">
                <a:tableStyleId>{5940675A-B579-460E-94D1-54222C63F5DA}</a:tableStyleId>
              </a:tblPr>
              <a:tblGrid>
                <a:gridCol w="4800600">
                  <a:extLst>
                    <a:ext uri="{9D8B030D-6E8A-4147-A177-3AD203B41FA5}">
                      <a16:colId xmlns:a16="http://schemas.microsoft.com/office/drawing/2014/main" val="20000"/>
                    </a:ext>
                  </a:extLst>
                </a:gridCol>
              </a:tblGrid>
              <a:tr h="175619">
                <a:tc>
                  <a:txBody>
                    <a:bodyPr/>
                    <a:lstStyle/>
                    <a:p>
                      <a:pPr marL="0" marR="0" algn="l">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Caller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#include &lt;</a:t>
                      </a:r>
                      <a:r>
                        <a:rPr kumimoji="0" lang="en-US" sz="1400" b="0" i="0" kern="1200" dirty="0" err="1">
                          <a:solidFill>
                            <a:schemeClr val="tx1"/>
                          </a:solidFill>
                          <a:effectLst/>
                          <a:latin typeface="Consolas" panose="020B0609020204030204" pitchFamily="49" charset="0"/>
                          <a:ea typeface="+mn-ea"/>
                          <a:cs typeface="+mn-cs"/>
                        </a:rPr>
                        <a:t>stdio.h</a:t>
                      </a:r>
                      <a:r>
                        <a:rPr kumimoji="0" lang="en-US" sz="1400" b="0" i="0" kern="1200" dirty="0">
                          <a:solidFill>
                            <a:schemeClr val="tx1"/>
                          </a:solidFill>
                          <a:effectLst/>
                          <a:latin typeface="Consolas" panose="020B0609020204030204" pitchFamily="49" charset="0"/>
                          <a:ea typeface="+mn-ea"/>
                          <a:cs typeface="+mn-cs"/>
                        </a:rPr>
                        <a:t>&gt;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1" i="0" kern="1200" dirty="0">
                          <a:solidFill>
                            <a:schemeClr val="tx1"/>
                          </a:solidFill>
                          <a:effectLst/>
                          <a:latin typeface="Consolas" panose="020B0609020204030204" pitchFamily="49" charset="0"/>
                          <a:ea typeface="+mn-ea"/>
                          <a:cs typeface="+mn-cs"/>
                        </a:rPr>
                        <a:t>extern int toLower(int); /* assembler routine */</a:t>
                      </a:r>
                      <a:r>
                        <a:rPr kumimoji="0" lang="en-US" sz="1400" b="0" i="0" kern="1200" dirty="0">
                          <a:solidFill>
                            <a:schemeClr val="tx1"/>
                          </a:solidFill>
                          <a:effectLst/>
                          <a:latin typeface="Consolas" panose="020B0609020204030204" pitchFamily="49" charset="0"/>
                          <a:ea typeface="+mn-ea"/>
                          <a:cs typeface="+mn-cs"/>
                        </a:rPr>
                        <a:t/>
                      </a:r>
                      <a:r>
                        <a:rPr kumimoji="0" lang="en-US" sz="1400" b="1" i="0" kern="1200" dirty="0">
                          <a:solidFill>
                            <a:schemeClr val="tx1"/>
                          </a:solidFill>
                          <a:effectLst/>
                          <a:latin typeface="Consolas" panose="020B0609020204030204" pitchFamily="49" charset="0"/>
                          <a:ea typeface="+mn-ea"/>
                          <a:cs typeface="+mn-cs"/>
                        </a:rPr>
                        <a:t/>
                      </a:r>
                      <a:r>
                        <a:rPr kumimoji="0" lang="en-US" sz="1400" b="0" i="0" kern="1200" dirty="0">
                          <a:solidFill>
                            <a:schemeClr val="tx1"/>
                          </a:solidFill>
                          <a:effectLst/>
                          <a:latin typeface="Consolas" panose="020B0609020204030204" pitchFamily="49" charset="0"/>
                          <a:ea typeface="+mn-ea"/>
                          <a:cs typeface="+mn-cs"/>
                        </a:rPr>
                        <a:t/>
                      </a:r>
                      <a:r>
                        <a:rPr kumimoji="0" lang="en-US" sz="1400" b="1" i="0" kern="1200" dirty="0">
                          <a:solidFill>
                            <a:schemeClr val="tx1"/>
                          </a:solidFill>
                          <a:effectLst/>
                          <a:latin typeface="Consolas" panose="020B0609020204030204" pitchFamily="49" charset="0"/>
                          <a:ea typeface="+mn-ea"/>
                          <a:cs typeface="+mn-cs"/>
                        </a:rPr>
                        <a:t/>
                      </a:r>
                      <a:r>
                        <a:rPr kumimoji="0" lang="en-US" sz="1400" b="0" i="0" kern="1200" dirty="0">
                          <a:solidFill>
                            <a:schemeClr val="tx1"/>
                          </a:solidFill>
                          <a:effectLst/>
                          <a:latin typeface="Consolas" panose="020B0609020204030204" pitchFamily="49" charset="0"/>
                          <a:ea typeface="+mn-ea"/>
                          <a:cs typeface="+mn-cs"/>
                        </a:rPr>
                        <a:t/>
                      </a:r>
                      <a:r>
                        <a:rPr kumimoji="0" lang="en-US" sz="1400" b="0" i="1" kern="1200" dirty="0">
                          <a:solidFill>
                            <a:schemeClr val="tx1"/>
                          </a:solidFill>
                          <a:effectLst/>
                          <a:latin typeface="Consolas" panose="020B0609020204030204" pitchFamily="49" charset="0"/>
                          <a:ea typeface="+mn-ea"/>
                          <a:cs typeface="+mn-cs"/>
                        </a:rPr>
                        <a:t/>
                      </a:r>
                      <a:endParaRPr kumimoji="0" lang="en-US" sz="1400" b="0" i="0" kern="1200" dirty="0">
                        <a:solidFill>
                          <a:schemeClr val="tx1"/>
                        </a:solidFill>
                        <a:effectLst/>
                        <a:latin typeface="Consolas" panose="020B0609020204030204" pitchFamily="49" charset="0"/>
                        <a:ea typeface="+mn-ea"/>
                        <a:cs typeface="+mn-cs"/>
                      </a:endParaRP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main(</a:t>
                      </a:r>
                      <a:r>
                        <a:rPr kumimoji="0" lang="en-US" sz="1400" b="1" i="0" kern="1200" dirty="0">
                          <a:solidFill>
                            <a:schemeClr val="tx1"/>
                          </a:solidFill>
                          <a:effectLst/>
                          <a:latin typeface="Consolas" panose="020B0609020204030204" pitchFamily="49" charset="0"/>
                          <a:ea typeface="+mn-ea"/>
                          <a:cs typeface="+mn-cs"/>
                        </a:rPr>
                        <a:t>void</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static</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const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char</a:t>
                      </a:r>
                      <a:r>
                        <a:rPr kumimoji="0" lang="en-US" sz="1400" b="0" i="0" kern="1200" dirty="0">
                          <a:solidFill>
                            <a:schemeClr val="tx1"/>
                          </a:solidFill>
                          <a:effectLst/>
                          <a:latin typeface="Consolas" panose="020B0609020204030204" pitchFamily="49" charset="0"/>
                          <a:ea typeface="+mn-ea"/>
                          <a:cs typeface="+mn-cs"/>
                        </a:rPr>
                        <a:t> str[]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"Hello, World!";</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const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err="1">
                          <a:solidFill>
                            <a:schemeClr val="tx1"/>
                          </a:solidFill>
                          <a:effectLst/>
                          <a:latin typeface="Consolas" panose="020B0609020204030204" pitchFamily="49" charset="0"/>
                          <a:ea typeface="+mn-ea"/>
                          <a:cs typeface="+mn-cs"/>
                        </a:rPr>
                        <a:t>sizeof</a:t>
                      </a:r>
                      <a:r>
                        <a:rPr kumimoji="0" lang="en-US" sz="1400" b="0" i="0" kern="1200" dirty="0">
                          <a:solidFill>
                            <a:schemeClr val="tx1"/>
                          </a:solidFill>
                          <a:effectLst/>
                          <a:latin typeface="Consolas" panose="020B0609020204030204" pitchFamily="49" charset="0"/>
                          <a:ea typeface="+mn-ea"/>
                          <a:cs typeface="+mn-cs"/>
                        </a:rPr>
                        <a:t>(str)</a:t>
                      </a:r>
                      <a:r>
                        <a:rPr kumimoji="0" lang="en-US" sz="1400" b="1" i="0" kern="1200" dirty="0">
                          <a:solidFill>
                            <a:schemeClr val="tx1"/>
                          </a:solidFill>
                          <a:effectLst/>
                          <a:latin typeface="Consolas" panose="020B0609020204030204" pitchFamily="49" charset="0"/>
                          <a:ea typeface="+mn-ea"/>
                          <a:cs typeface="+mn-cs"/>
                        </a:rPr>
                        <a:t>/</a:t>
                      </a:r>
                      <a:r>
                        <a:rPr kumimoji="0" lang="en-US" sz="1400" b="1" i="0" kern="1200" dirty="0" err="1">
                          <a:solidFill>
                            <a:schemeClr val="tx1"/>
                          </a:solidFill>
                          <a:effectLst/>
                          <a:latin typeface="Consolas" panose="020B0609020204030204" pitchFamily="49" charset="0"/>
                          <a:ea typeface="+mn-ea"/>
                          <a:cs typeface="+mn-cs"/>
                        </a:rPr>
                        <a:t>sizeof</a:t>
                      </a:r>
                      <a:r>
                        <a:rPr kumimoji="0" lang="en-US" sz="1400" b="0" i="0" kern="1200" dirty="0">
                          <a:solidFill>
                            <a:schemeClr val="tx1"/>
                          </a:solidFill>
                          <a:effectLst/>
                          <a:latin typeface="Consolas" panose="020B0609020204030204" pitchFamily="49" charset="0"/>
                          <a:ea typeface="+mn-ea"/>
                          <a:cs typeface="+mn-cs"/>
                        </a:rPr>
                        <a:t>(str[0]);</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char</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int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for</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0; </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&lt;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len</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i</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(str[</a:t>
                      </a:r>
                      <a:r>
                        <a:rPr kumimoji="0" lang="en-US" sz="1400" b="0" i="0" kern="1200" dirty="0" err="1">
                          <a:solidFill>
                            <a:schemeClr val="tx1"/>
                          </a:solidFill>
                          <a:effectLst/>
                          <a:latin typeface="Consolas" panose="020B0609020204030204" pitchFamily="49" charset="0"/>
                          <a:ea typeface="+mn-ea"/>
                          <a:cs typeface="+mn-cs"/>
                        </a:rPr>
                        <a:t>i</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printf</a:t>
                      </a:r>
                      <a:r>
                        <a:rPr kumimoji="0" lang="en-US" sz="1400" b="0" i="0" kern="1200" dirty="0">
                          <a:solidFill>
                            <a:schemeClr val="tx1"/>
                          </a:solidFill>
                          <a:effectLst/>
                          <a:latin typeface="Consolas" panose="020B0609020204030204" pitchFamily="49" charset="0"/>
                          <a:ea typeface="+mn-ea"/>
                          <a:cs typeface="+mn-cs"/>
                        </a:rPr>
                        <a:t>("%s\n", </a:t>
                      </a:r>
                      <a:r>
                        <a:rPr kumimoji="0" lang="en-US" sz="1400" b="0" i="0" kern="1200" dirty="0" err="1">
                          <a:solidFill>
                            <a:schemeClr val="tx1"/>
                          </a:solidFill>
                          <a:effectLst/>
                          <a:latin typeface="Consolas" panose="020B0609020204030204" pitchFamily="49" charset="0"/>
                          <a:ea typeface="+mn-ea"/>
                          <a:cs typeface="+mn-cs"/>
                        </a:rPr>
                        <a:t>newstr</a:t>
                      </a:r>
                      <a:r>
                        <a:rPr kumimoji="0" lang="en-US" sz="1400" b="0" i="0" kern="1200" dirty="0">
                          <a:solidFill>
                            <a:schemeClr val="tx1"/>
                          </a:solidFill>
                          <a:effectLst/>
                          <a:latin typeface="Consolas" panose="020B0609020204030204" pitchFamily="49" charset="0"/>
                          <a:ea typeface="+mn-ea"/>
                          <a:cs typeface="+mn-cs"/>
                        </a:rPr>
                        <a:t>);</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1" i="0" kern="1200" dirty="0">
                          <a:solidFill>
                            <a:schemeClr val="tx1"/>
                          </a:solidFill>
                          <a:effectLst/>
                          <a:latin typeface="Consolas" panose="020B0609020204030204" pitchFamily="49" charset="0"/>
                          <a:ea typeface="+mn-ea"/>
                          <a:cs typeface="+mn-cs"/>
                        </a:rPr>
                        <a:t>return</a:t>
                      </a:r>
                      <a:r>
                        <a:rPr kumimoji="0" lang="en-US" sz="1400" b="0" i="0" kern="1200" dirty="0">
                          <a:solidFill>
                            <a:schemeClr val="tx1"/>
                          </a:solidFill>
                          <a:effectLst/>
                          <a:latin typeface="Consolas" panose="020B0609020204030204" pitchFamily="49" charset="0"/>
                          <a:ea typeface="+mn-ea"/>
                          <a:cs typeface="+mn-cs"/>
                        </a:rPr>
                        <a:t> 0;</a:t>
                      </a:r>
                    </a:p>
                    <a:p>
                      <a:r>
                        <a:rPr kumimoji="0" lang="en-US" sz="1400" b="0" i="0" kern="1200" dirty="0">
                          <a:solidFill>
                            <a:schemeClr val="tx1"/>
                          </a:solidFill>
                          <a:effectLst/>
                          <a:latin typeface="Consolas" panose="020B0609020204030204" pitchFamily="49" charset="0"/>
                          <a:ea typeface="+mn-ea"/>
                          <a:cs typeface="+mn-cs"/>
                        </a:rPr>
                        <a:t>}</a:t>
                      </a:r>
                    </a:p>
                    <a:p>
                      <a:pPr marL="0" marR="0" algn="l">
                        <a:spcBef>
                          <a:spcPts val="0"/>
                        </a:spcBef>
                        <a:spcAft>
                          <a:spcPts val="0"/>
                        </a:spcAft>
                      </a:pPr>
                      <a:endParaRPr lang="en-US" sz="14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441ADC90-ADB8-D7DD-0AC3-9F57EB29BD9E}"/>
              </a:ext>
            </a:extLst>
          </p:cNvPr>
          <p:cNvGraphicFramePr>
            <a:graphicFrameLocks noGrp="1"/>
          </p:cNvGraphicFramePr>
          <p:nvPr>
            <p:extLst>
              <p:ext uri="{D42A27DB-BD31-4B8C-83A1-F6EECF244321}">
                <p14:modId xmlns:p14="http://schemas.microsoft.com/office/powerpoint/2010/main" val="3797739913"/>
              </p:ext>
            </p:extLst>
          </p:nvPr>
        </p:nvGraphicFramePr>
        <p:xfrm>
          <a:off x="5139813" y="2133601"/>
          <a:ext cx="3657600" cy="1787916"/>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20852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44076">
                <a:tc>
                  <a:txBody>
                    <a:bodyPr/>
                    <a:lstStyle/>
                    <a:p>
                      <a:r>
                        <a:rPr kumimoji="0" lang="en-US" sz="1400" b="0" i="0" kern="1200" dirty="0">
                          <a:solidFill>
                            <a:schemeClr val="tx1"/>
                          </a:solidFill>
                          <a:effectLst/>
                          <a:latin typeface="Consolas" panose="020B0609020204030204" pitchFamily="49" charset="0"/>
                          <a:ea typeface="+mn-ea"/>
                          <a:cs typeface="+mn-cs"/>
                        </a:rPr>
                        <a:t>int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(int c)</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if (c &gt;= 'A' &amp;&amp; c &lt;= 'Z')</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kern="1200" dirty="0">
                          <a:solidFill>
                            <a:schemeClr val="tx1"/>
                          </a:solidFill>
                          <a:effectLst/>
                          <a:latin typeface="Consolas" panose="020B0609020204030204" pitchFamily="49" charset="0"/>
                          <a:ea typeface="+mn-ea"/>
                          <a:cs typeface="+mn-cs"/>
                        </a:rPr>
                        <a:t>     c += 32;  </a:t>
                      </a:r>
                      <a:r>
                        <a:rPr kumimoji="0" lang="en-US" sz="1400" b="0" i="1" kern="1200" dirty="0">
                          <a:solidFill>
                            <a:schemeClr val="tx1"/>
                          </a:solidFill>
                          <a:effectLst/>
                          <a:latin typeface="Consolas" panose="020B0609020204030204" pitchFamily="49" charset="0"/>
                          <a:ea typeface="+mn-ea"/>
                          <a:cs typeface="+mn-cs"/>
                        </a:rPr>
                        <a:t>/*</a:t>
                      </a:r>
                      <a:r>
                        <a:rPr kumimoji="0" lang="en-US" sz="1400" b="0" i="0" kern="1200" dirty="0">
                          <a:solidFill>
                            <a:schemeClr val="tx1"/>
                          </a:solidFill>
                          <a:effectLst/>
                          <a:latin typeface="Consolas" panose="020B0609020204030204" pitchFamily="49" charset="0"/>
                          <a:ea typeface="+mn-ea"/>
                          <a:cs typeface="+mn-cs"/>
                        </a:rPr>
                        <a:t>'a' - ‘A’ = 32 </a:t>
                      </a:r>
                      <a:r>
                        <a:rPr kumimoji="0" lang="en-US" sz="1400" b="0" i="1" kern="1200" dirty="0">
                          <a:solidFill>
                            <a:schemeClr val="tx1"/>
                          </a:solidFill>
                          <a:effectLst/>
                          <a:latin typeface="Consolas" panose="020B0609020204030204" pitchFamily="49" charset="0"/>
                          <a:ea typeface="+mn-ea"/>
                          <a:cs typeface="+mn-cs"/>
                        </a:rPr>
                        <a:t>*/</a:t>
                      </a:r>
                      <a:endParaRPr kumimoji="0" lang="en-US" sz="1400" b="0" i="0" kern="1200" dirty="0">
                        <a:solidFill>
                          <a:schemeClr val="tx1"/>
                        </a:solidFill>
                        <a:effectLst/>
                        <a:latin typeface="Consolas" panose="020B0609020204030204" pitchFamily="49" charset="0"/>
                        <a:ea typeface="+mn-ea"/>
                        <a:cs typeface="+mn-cs"/>
                      </a:endParaRP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return c;</a:t>
                      </a:r>
                    </a:p>
                    <a:p>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sp>
        <p:nvSpPr>
          <p:cNvPr id="7" name="Content Placeholder 3">
            <a:extLst>
              <a:ext uri="{FF2B5EF4-FFF2-40B4-BE49-F238E27FC236}">
                <a16:creationId xmlns:a16="http://schemas.microsoft.com/office/drawing/2014/main" id="{A8877E1E-4738-45CE-9CC3-2C75B88FD72F}"/>
              </a:ext>
            </a:extLst>
          </p:cNvPr>
          <p:cNvSpPr>
            <a:spLocks noGrp="1"/>
          </p:cNvSpPr>
          <p:nvPr>
            <p:ph sz="quarter" idx="1"/>
          </p:nvPr>
        </p:nvSpPr>
        <p:spPr>
          <a:xfrm>
            <a:off x="5029200" y="1125794"/>
            <a:ext cx="3581400" cy="1115961"/>
          </a:xfrm>
        </p:spPr>
        <p:txBody>
          <a:bodyPr>
            <a:normAutofit fontScale="85000" lnSpcReduction="10000"/>
          </a:bodyPr>
          <a:lstStyle/>
          <a:p>
            <a:r>
              <a:rPr lang="en-US" sz="2000" dirty="0"/>
              <a:t>Consider the following C program that converts all ASCII letters to lower case. Write the </a:t>
            </a:r>
            <a:r>
              <a:rPr lang="en-US" sz="2000" dirty="0" err="1"/>
              <a:t>toLower</a:t>
            </a:r>
            <a:r>
              <a:rPr lang="en-US" sz="2000" dirty="0"/>
              <a:t> function in ARMv7 assembly code.</a:t>
            </a:r>
          </a:p>
        </p:txBody>
      </p:sp>
      <p:graphicFrame>
        <p:nvGraphicFramePr>
          <p:cNvPr id="8" name="Table 7">
            <a:extLst>
              <a:ext uri="{FF2B5EF4-FFF2-40B4-BE49-F238E27FC236}">
                <a16:creationId xmlns:a16="http://schemas.microsoft.com/office/drawing/2014/main" id="{AA01F272-373C-24EF-CF3E-2DDED1980174}"/>
              </a:ext>
            </a:extLst>
          </p:cNvPr>
          <p:cNvGraphicFramePr>
            <a:graphicFrameLocks noGrp="1"/>
          </p:cNvGraphicFramePr>
          <p:nvPr>
            <p:extLst>
              <p:ext uri="{D42A27DB-BD31-4B8C-83A1-F6EECF244321}">
                <p14:modId xmlns:p14="http://schemas.microsoft.com/office/powerpoint/2010/main" val="918362635"/>
              </p:ext>
            </p:extLst>
          </p:nvPr>
        </p:nvGraphicFramePr>
        <p:xfrm>
          <a:off x="5139813" y="4030356"/>
          <a:ext cx="3657600" cy="2049421"/>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 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    .text</a:t>
                      </a:r>
                    </a:p>
                    <a:p>
                      <a:r>
                        <a:rPr kumimoji="0" lang="en-US" sz="1400" b="0" i="0" kern="1200" dirty="0">
                          <a:solidFill>
                            <a:schemeClr val="tx1"/>
                          </a:solidFill>
                          <a:effectLst/>
                          <a:latin typeface="Consolas" panose="020B0609020204030204" pitchFamily="49" charset="0"/>
                          <a:ea typeface="+mn-ea"/>
                          <a:cs typeface="+mn-cs"/>
                        </a:rPr>
                        <a:t>    .global </a:t>
                      </a:r>
                      <a:r>
                        <a:rPr kumimoji="0" lang="en-US" sz="1400" b="0" i="0" kern="1200" dirty="0" err="1">
                          <a:solidFill>
                            <a:schemeClr val="tx1"/>
                          </a:solidFill>
                          <a:effectLst/>
                          <a:latin typeface="Consolas" panose="020B0609020204030204" pitchFamily="49" charset="0"/>
                          <a:ea typeface="+mn-ea"/>
                          <a:cs typeface="+mn-cs"/>
                        </a:rPr>
                        <a:t>toLower</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18749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11246-2B88-B4D4-DF6F-83B838798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58B75-95E0-2541-7E04-055CF0C60C5B}"/>
              </a:ext>
            </a:extLst>
          </p:cNvPr>
          <p:cNvSpPr>
            <a:spLocks noGrp="1"/>
          </p:cNvSpPr>
          <p:nvPr>
            <p:ph type="title"/>
          </p:nvPr>
        </p:nvSpPr>
        <p:spPr/>
        <p:txBody>
          <a:bodyPr/>
          <a:lstStyle/>
          <a:p>
            <a:r>
              <a:rPr lang="en-US" dirty="0" err="1"/>
              <a:t>toLower</a:t>
            </a:r>
            <a:r>
              <a:rPr lang="en-US" dirty="0"/>
              <a:t> ANS</a:t>
            </a:r>
          </a:p>
        </p:txBody>
      </p:sp>
      <p:sp>
        <p:nvSpPr>
          <p:cNvPr id="3" name="Slide Number Placeholder 2">
            <a:extLst>
              <a:ext uri="{FF2B5EF4-FFF2-40B4-BE49-F238E27FC236}">
                <a16:creationId xmlns:a16="http://schemas.microsoft.com/office/drawing/2014/main" id="{2055FFEA-1824-B30B-B2F0-65F1865F3262}"/>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6" name="Table 5">
            <a:extLst>
              <a:ext uri="{FF2B5EF4-FFF2-40B4-BE49-F238E27FC236}">
                <a16:creationId xmlns:a16="http://schemas.microsoft.com/office/drawing/2014/main" id="{CC203EDA-BA4D-8B0A-42B8-FE11C464F19D}"/>
              </a:ext>
            </a:extLst>
          </p:cNvPr>
          <p:cNvGraphicFramePr>
            <a:graphicFrameLocks noGrp="1"/>
          </p:cNvGraphicFramePr>
          <p:nvPr>
            <p:extLst>
              <p:ext uri="{D42A27DB-BD31-4B8C-83A1-F6EECF244321}">
                <p14:modId xmlns:p14="http://schemas.microsoft.com/office/powerpoint/2010/main" val="4043798945"/>
              </p:ext>
            </p:extLst>
          </p:nvPr>
        </p:nvGraphicFramePr>
        <p:xfrm>
          <a:off x="457200" y="1219200"/>
          <a:ext cx="3657600" cy="1787916"/>
        </p:xfrm>
        <a:graphic>
          <a:graphicData uri="http://schemas.openxmlformats.org/drawingml/2006/table">
            <a:tbl>
              <a:tblPr firstRow="1" firstCol="1" bandRow="1">
                <a:tableStyleId>{5940675A-B579-460E-94D1-54222C63F5DA}</a:tableStyleId>
              </a:tblPr>
              <a:tblGrid>
                <a:gridCol w="3657600">
                  <a:extLst>
                    <a:ext uri="{9D8B030D-6E8A-4147-A177-3AD203B41FA5}">
                      <a16:colId xmlns:a16="http://schemas.microsoft.com/office/drawing/2014/main" val="20000"/>
                    </a:ext>
                  </a:extLst>
                </a:gridCol>
              </a:tblGrid>
              <a:tr h="208524">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Calle</a:t>
                      </a:r>
                      <a:r>
                        <a:rPr lang="en-US" altLang="zh-CN" sz="1600" b="1">
                          <a:solidFill>
                            <a:schemeClr val="bg1"/>
                          </a:solidFill>
                          <a:effectLst/>
                          <a:latin typeface="Consolas" panose="020B0609020204030204" pitchFamily="49" charset="0"/>
                          <a:cs typeface="Consolas" panose="020B0609020204030204" pitchFamily="49" charset="0"/>
                        </a:rPr>
                        <a:t>e</a:t>
                      </a:r>
                      <a:r>
                        <a:rPr lang="en-US" sz="1600" b="1">
                          <a:solidFill>
                            <a:schemeClr val="bg1"/>
                          </a:solidFill>
                          <a:effectLst/>
                          <a:latin typeface="Consolas" panose="020B0609020204030204" pitchFamily="49" charset="0"/>
                          <a:cs typeface="Consolas" panose="020B0609020204030204" pitchFamily="49" charset="0"/>
                        </a:rPr>
                        <a:t>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44076">
                <a:tc>
                  <a:txBody>
                    <a:bodyPr/>
                    <a:lstStyle/>
                    <a:p>
                      <a:r>
                        <a:rPr kumimoji="0" lang="en-US" sz="1400" b="0" i="0" kern="1200" dirty="0">
                          <a:solidFill>
                            <a:schemeClr val="tx1"/>
                          </a:solidFill>
                          <a:effectLst/>
                          <a:latin typeface="Consolas" panose="020B0609020204030204" pitchFamily="49" charset="0"/>
                          <a:ea typeface="+mn-ea"/>
                          <a:cs typeface="+mn-cs"/>
                        </a:rPr>
                        <a:t>int </a:t>
                      </a:r>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(int c)</a:t>
                      </a:r>
                    </a:p>
                    <a:p>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if (c &gt;= 'A' &amp;&amp; c &lt;= 'Z')</a:t>
                      </a:r>
                    </a:p>
                    <a:p>
                      <a:r>
                        <a:rPr kumimoji="0" lang="en-US" sz="1400" b="0" i="0" kern="1200" dirty="0">
                          <a:solidFill>
                            <a:schemeClr val="tx1"/>
                          </a:solidFill>
                          <a:effectLst/>
                          <a:latin typeface="Consolas" panose="020B0609020204030204" pitchFamily="49" charset="0"/>
                          <a:ea typeface="+mn-ea"/>
                          <a:cs typeface="+mn-cs"/>
                        </a:rPr>
                        <a:t>     c += 32;</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return c;</a:t>
                      </a:r>
                    </a:p>
                    <a:p>
                      <a:r>
                        <a:rPr kumimoji="0" lang="en-US" sz="1400" b="0" i="0" kern="1200" dirty="0">
                          <a:solidFill>
                            <a:schemeClr val="tx1"/>
                          </a:solidFill>
                          <a:effectLst/>
                          <a:latin typeface="Consolas" panose="020B0609020204030204" pitchFamily="49" charset="0"/>
                          <a:ea typeface="+mn-ea"/>
                          <a:cs typeface="+mn-cs"/>
                        </a:rPr>
                        <a:t>}</a:t>
                      </a:r>
                    </a:p>
                  </a:txBody>
                  <a:tcPr marL="68580" marR="68580" marT="0" marB="0"/>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058C7988-0F62-036F-DDF3-1121F4620528}"/>
              </a:ext>
            </a:extLst>
          </p:cNvPr>
          <p:cNvGraphicFramePr>
            <a:graphicFrameLocks noGrp="1"/>
          </p:cNvGraphicFramePr>
          <p:nvPr>
            <p:extLst>
              <p:ext uri="{D42A27DB-BD31-4B8C-83A1-F6EECF244321}">
                <p14:modId xmlns:p14="http://schemas.microsoft.com/office/powerpoint/2010/main" val="1881646543"/>
              </p:ext>
            </p:extLst>
          </p:nvPr>
        </p:nvGraphicFramePr>
        <p:xfrm>
          <a:off x="459658" y="3112813"/>
          <a:ext cx="6474542" cy="2590800"/>
        </p:xfrm>
        <a:graphic>
          <a:graphicData uri="http://schemas.openxmlformats.org/drawingml/2006/table">
            <a:tbl>
              <a:tblPr firstRow="1" firstCol="1" bandRow="1">
                <a:tableStyleId>{5940675A-B579-460E-94D1-54222C63F5DA}</a:tableStyleId>
              </a:tblPr>
              <a:tblGrid>
                <a:gridCol w="6474542">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a:t>
                      </a:r>
                      <a:r>
                        <a:rPr lang="en-US" altLang="zh-CN" sz="1600" b="1" dirty="0">
                          <a:solidFill>
                            <a:schemeClr val="bg1"/>
                          </a:solidFill>
                          <a:effectLst/>
                          <a:latin typeface="Consolas" panose="020B0609020204030204" pitchFamily="49" charset="0"/>
                          <a:cs typeface="Consolas" panose="020B0609020204030204" pitchFamily="49" charset="0"/>
                        </a:rPr>
                        <a:t>e</a:t>
                      </a:r>
                      <a:r>
                        <a:rPr lang="en-US" sz="1600" b="1" dirty="0">
                          <a:solidFill>
                            <a:schemeClr val="bg1"/>
                          </a:solidFill>
                          <a:effectLst/>
                          <a:latin typeface="Consolas" panose="020B0609020204030204" pitchFamily="49" charset="0"/>
                          <a:cs typeface="Consolas" panose="020B0609020204030204" pitchFamily="49" charset="0"/>
                        </a:rPr>
                        <a:t> Program Assembly</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r>
                        <a:rPr kumimoji="0" lang="en-US" sz="1400" b="0" i="0" kern="1200" dirty="0">
                          <a:solidFill>
                            <a:schemeClr val="tx1"/>
                          </a:solidFill>
                          <a:effectLst/>
                          <a:latin typeface="Consolas" panose="020B0609020204030204" pitchFamily="49" charset="0"/>
                          <a:ea typeface="+mn-ea"/>
                          <a:cs typeface="+mn-cs"/>
                        </a:rPr>
                        <a:t> .text</a:t>
                      </a:r>
                    </a:p>
                    <a:p>
                      <a:r>
                        <a:rPr kumimoji="0" lang="en-US" sz="1400" b="0" i="0" kern="1200" dirty="0">
                          <a:solidFill>
                            <a:schemeClr val="tx1"/>
                          </a:solidFill>
                          <a:effectLst/>
                          <a:latin typeface="Consolas" panose="020B0609020204030204" pitchFamily="49" charset="0"/>
                          <a:ea typeface="+mn-ea"/>
                          <a:cs typeface="+mn-cs"/>
                        </a:rPr>
                        <a:t>    .global </a:t>
                      </a:r>
                      <a:r>
                        <a:rPr kumimoji="0" lang="en-US" sz="1400" b="0" i="0" kern="1200" dirty="0" err="1">
                          <a:solidFill>
                            <a:schemeClr val="tx1"/>
                          </a:solidFill>
                          <a:effectLst/>
                          <a:latin typeface="Consolas" panose="020B0609020204030204" pitchFamily="49" charset="0"/>
                          <a:ea typeface="+mn-ea"/>
                          <a:cs typeface="+mn-cs"/>
                        </a:rPr>
                        <a:t>toLower</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toLower</a:t>
                      </a:r>
                      <a:r>
                        <a:rPr kumimoji="0" lang="en-US" sz="1400" b="0" i="0" kern="1200" dirty="0">
                          <a:solidFill>
                            <a:schemeClr val="tx1"/>
                          </a:solidFill>
                          <a:effectLst/>
                          <a:latin typeface="Consolas" panose="020B0609020204030204" pitchFamily="49" charset="0"/>
                          <a:ea typeface="+mn-ea"/>
                          <a:cs typeface="+mn-cs"/>
                        </a:rPr>
                        <a:t>: </a:t>
                      </a: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cmp</a:t>
                      </a:r>
                      <a:r>
                        <a:rPr kumimoji="0" lang="en-US" sz="1400" b="0" i="0" kern="1200" dirty="0">
                          <a:solidFill>
                            <a:schemeClr val="tx1"/>
                          </a:solidFill>
                          <a:effectLst/>
                          <a:latin typeface="Consolas" panose="020B0609020204030204" pitchFamily="49" charset="0"/>
                          <a:ea typeface="+mn-ea"/>
                          <a:cs typeface="+mn-cs"/>
                        </a:rPr>
                        <a:t>     r0, #'A'                @ if c &lt; 'A' -&gt;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blt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cmp</a:t>
                      </a:r>
                      <a:r>
                        <a:rPr kumimoji="0" lang="en-US" sz="1400" b="0" i="0" kern="1200" dirty="0">
                          <a:solidFill>
                            <a:schemeClr val="tx1"/>
                          </a:solidFill>
                          <a:effectLst/>
                          <a:latin typeface="Consolas" panose="020B0609020204030204" pitchFamily="49" charset="0"/>
                          <a:ea typeface="+mn-ea"/>
                          <a:cs typeface="+mn-cs"/>
                        </a:rPr>
                        <a:t>     r0, #'Z'                @ if c &gt; 'Z' -&gt;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bgt</a:t>
                      </a:r>
                      <a:r>
                        <a:rPr kumimoji="0" lang="en-US" sz="1400" b="0" i="0" kern="1200" dirty="0">
                          <a:solidFill>
                            <a:schemeClr val="tx1"/>
                          </a:solidFill>
                          <a:effectLst/>
                          <a:latin typeface="Consolas" panose="020B0609020204030204" pitchFamily="49" charset="0"/>
                          <a:ea typeface="+mn-ea"/>
                          <a:cs typeface="+mn-cs"/>
                        </a:rPr>
                        <a:t>     </a:t>
                      </a:r>
                      <a:r>
                        <a:rPr kumimoji="0" lang="en-US" sz="1400" b="0" i="0" kern="1200" dirty="0" err="1">
                          <a:solidFill>
                            <a:schemeClr val="tx1"/>
                          </a:solidFill>
                          <a:effectLst/>
                          <a:latin typeface="Consolas" panose="020B0609020204030204" pitchFamily="49" charset="0"/>
                          <a:ea typeface="+mn-ea"/>
                          <a:cs typeface="+mn-cs"/>
                        </a:rPr>
                        <a:t>skip_adjust</a:t>
                      </a:r>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a:solidFill>
                            <a:schemeClr val="tx1"/>
                          </a:solidFill>
                          <a:effectLst/>
                          <a:latin typeface="Consolas" panose="020B0609020204030204" pitchFamily="49" charset="0"/>
                          <a:ea typeface="+mn-ea"/>
                          <a:cs typeface="+mn-cs"/>
                        </a:rPr>
                        <a:t>    add     r0, r0, #32             @ c += 32 = 'a' - 'A'</a:t>
                      </a:r>
                    </a:p>
                    <a:p>
                      <a:endParaRPr kumimoji="0" lang="en-US" sz="1400" b="0" i="0" kern="1200" dirty="0">
                        <a:solidFill>
                          <a:schemeClr val="tx1"/>
                        </a:solidFill>
                        <a:effectLst/>
                        <a:latin typeface="Consolas" panose="020B0609020204030204" pitchFamily="49" charset="0"/>
                        <a:ea typeface="+mn-ea"/>
                        <a:cs typeface="+mn-cs"/>
                      </a:endParaRPr>
                    </a:p>
                    <a:p>
                      <a:r>
                        <a:rPr kumimoji="0" lang="en-US" sz="1400" b="0" i="0" kern="1200" dirty="0" err="1">
                          <a:solidFill>
                            <a:schemeClr val="tx1"/>
                          </a:solidFill>
                          <a:effectLst/>
                          <a:latin typeface="Consolas" panose="020B0609020204030204" pitchFamily="49" charset="0"/>
                          <a:ea typeface="+mn-ea"/>
                          <a:cs typeface="+mn-cs"/>
                        </a:rPr>
                        <a:t>skip_adjust</a:t>
                      </a:r>
                      <a:r>
                        <a:rPr kumimoji="0" lang="en-US" sz="1400" b="0" i="0" kern="1200" dirty="0">
                          <a:solidFill>
                            <a:schemeClr val="tx1"/>
                          </a:solidFill>
                          <a:effectLst/>
                          <a:latin typeface="Consolas" panose="020B0609020204030204" pitchFamily="49" charset="0"/>
                          <a:ea typeface="+mn-ea"/>
                          <a:cs typeface="+mn-cs"/>
                        </a:rPr>
                        <a:t>:</a:t>
                      </a:r>
                    </a:p>
                    <a:p>
                      <a:r>
                        <a:rPr kumimoji="0" lang="en-US" sz="1400" b="0" i="0" kern="1200" dirty="0">
                          <a:solidFill>
                            <a:schemeClr val="tx1"/>
                          </a:solidFill>
                          <a:effectLst/>
                          <a:latin typeface="Consolas" panose="020B0609020204030204" pitchFamily="49" charset="0"/>
                          <a:ea typeface="+mn-ea"/>
                          <a:cs typeface="+mn-cs"/>
                        </a:rPr>
                        <a:t>    bx      </a:t>
                      </a:r>
                      <a:r>
                        <a:rPr kumimoji="0" lang="en-US" sz="1400" b="0" i="0" kern="1200" dirty="0" err="1">
                          <a:solidFill>
                            <a:schemeClr val="tx1"/>
                          </a:solidFill>
                          <a:effectLst/>
                          <a:latin typeface="Consolas" panose="020B0609020204030204" pitchFamily="49" charset="0"/>
                          <a:ea typeface="+mn-ea"/>
                          <a:cs typeface="+mn-cs"/>
                        </a:rPr>
                        <a:t>lr</a:t>
                      </a:r>
                      <a:endParaRPr kumimoji="0" lang="en-US" sz="1400" b="0" i="0" kern="1200" dirty="0">
                        <a:solidFill>
                          <a:schemeClr val="tx1"/>
                        </a:solidFill>
                        <a:effectLst/>
                        <a:latin typeface="Consolas" panose="020B0609020204030204" pitchFamily="49" charset="0"/>
                        <a:ea typeface="+mn-ea"/>
                        <a:cs typeface="+mn-cs"/>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23618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EC6E-B891-AF83-E66F-8217385C54F6}"/>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5959EC02-DF33-1CB3-210F-7D09C20A83C0}"/>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3DC23136-53FC-2BF5-8C7C-A3096D3761E3}"/>
              </a:ext>
            </a:extLst>
          </p:cNvPr>
          <p:cNvSpPr>
            <a:spLocks noGrp="1"/>
          </p:cNvSpPr>
          <p:nvPr>
            <p:ph sz="quarter" idx="1"/>
          </p:nvPr>
        </p:nvSpPr>
        <p:spPr>
          <a:xfrm>
            <a:off x="457200" y="1219200"/>
            <a:ext cx="8229600" cy="1066800"/>
          </a:xfrm>
        </p:spPr>
        <p:txBody>
          <a:bodyPr>
            <a:normAutofit fontScale="70000" lnSpcReduction="20000"/>
          </a:bodyPr>
          <a:lstStyle/>
          <a:p>
            <a:r>
              <a:rPr lang="en-US" dirty="0"/>
              <a:t>Given the following code, fill in the blanks listed next to each instruction with the values that would be in each register or status bit </a:t>
            </a:r>
            <a:r>
              <a:rPr lang="en-US" dirty="0">
                <a:solidFill>
                  <a:srgbClr val="C00000"/>
                </a:solidFill>
              </a:rPr>
              <a:t>after each instruction executes</a:t>
            </a:r>
            <a:r>
              <a:rPr lang="en-US" dirty="0"/>
              <a:t>. Instruction addresses are given to the left of each assembly instruction (not part of the code).  Assume that SP = 0x10000200 at the start of the program.</a:t>
            </a:r>
          </a:p>
        </p:txBody>
      </p:sp>
      <p:sp>
        <p:nvSpPr>
          <p:cNvPr id="5" name="TextBox 4">
            <a:extLst>
              <a:ext uri="{FF2B5EF4-FFF2-40B4-BE49-F238E27FC236}">
                <a16:creationId xmlns:a16="http://schemas.microsoft.com/office/drawing/2014/main" id="{080C4AE5-B126-9162-362F-24C26D91D6E5}"/>
              </a:ext>
            </a:extLst>
          </p:cNvPr>
          <p:cNvSpPr txBox="1"/>
          <p:nvPr/>
        </p:nvSpPr>
        <p:spPr>
          <a:xfrm>
            <a:off x="641001" y="2182128"/>
            <a:ext cx="8350599" cy="427809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          AREA </a:t>
            </a:r>
            <a:r>
              <a:rPr lang="en-US" sz="1600" dirty="0" err="1">
                <a:latin typeface="Consolas" panose="020B0609020204030204" pitchFamily="49" charset="0"/>
                <a:cs typeface="Consolas" panose="020B0609020204030204" pitchFamily="49" charset="0"/>
              </a:rPr>
              <a:t>mycode</a:t>
            </a:r>
            <a:r>
              <a:rPr lang="en-US" sz="1600" dirty="0">
                <a:latin typeface="Consolas" panose="020B0609020204030204" pitchFamily="49" charset="0"/>
                <a:cs typeface="Consolas" panose="020B0609020204030204" pitchFamily="49" charset="0"/>
              </a:rPr>
              <a:t>, CODE, READONLY</a:t>
            </a:r>
          </a:p>
          <a:p>
            <a:r>
              <a:rPr lang="en-US" sz="1600" dirty="0">
                <a:latin typeface="Consolas" panose="020B0609020204030204" pitchFamily="49" charset="0"/>
                <a:cs typeface="Consolas" panose="020B0609020204030204" pitchFamily="49" charset="0"/>
              </a:rPr>
              <a:t>          EXPORT __main</a:t>
            </a:r>
          </a:p>
          <a:p>
            <a:r>
              <a:rPr lang="en-US" sz="1600" dirty="0">
                <a:latin typeface="Consolas" panose="020B0609020204030204" pitchFamily="49" charset="0"/>
                <a:cs typeface="Consolas" panose="020B0609020204030204" pitchFamily="49" charset="0"/>
              </a:rPr>
              <a:t>__main    PROC</a:t>
            </a:r>
          </a:p>
          <a:p>
            <a:r>
              <a:rPr lang="en-US" sz="1600" dirty="0">
                <a:latin typeface="Consolas" panose="020B0609020204030204" pitchFamily="49" charset="0"/>
                <a:cs typeface="Consolas" panose="020B0609020204030204" pitchFamily="49" charset="0"/>
              </a:rPr>
              <a:t>0x250     MOV R0, #5</a:t>
            </a:r>
          </a:p>
          <a:p>
            <a:r>
              <a:rPr lang="en-US" sz="1600" dirty="0">
                <a:latin typeface="Consolas" panose="020B0609020204030204" pitchFamily="49" charset="0"/>
                <a:cs typeface="Consolas" panose="020B0609020204030204" pitchFamily="49" charset="0"/>
              </a:rPr>
              <a:t>0x254     MOV R1, #10</a:t>
            </a:r>
          </a:p>
          <a:p>
            <a:r>
              <a:rPr lang="en-US" sz="1600" dirty="0">
                <a:latin typeface="Consolas" panose="020B0609020204030204" pitchFamily="49" charset="0"/>
                <a:cs typeface="Consolas" panose="020B0609020204030204" pitchFamily="49" charset="0"/>
              </a:rPr>
              <a:t>0x258     CMP R0, R1           ; NZCV = ______</a:t>
            </a:r>
          </a:p>
          <a:p>
            <a:r>
              <a:rPr lang="en-US" sz="1600" dirty="0">
                <a:latin typeface="Consolas" panose="020B0609020204030204" pitchFamily="49" charset="0"/>
                <a:cs typeface="Consolas" panose="020B0609020204030204" pitchFamily="49" charset="0"/>
              </a:rPr>
              <a:t>0x25A     BGE loop             ; PC = ______(after this instruction)</a:t>
            </a:r>
          </a:p>
          <a:p>
            <a:r>
              <a:rPr lang="en-US" sz="1600" dirty="0">
                <a:latin typeface="Consolas" panose="020B0609020204030204" pitchFamily="49" charset="0"/>
                <a:cs typeface="Consolas" panose="020B0609020204030204" pitchFamily="49" charset="0"/>
              </a:rPr>
              <a:t>0x25C     BL foo               ; LR = ______, PC = ____(after this inst.)</a:t>
            </a:r>
          </a:p>
          <a:p>
            <a:r>
              <a:rPr lang="en-US" sz="1600" dirty="0">
                <a:latin typeface="Consolas" panose="020B0609020204030204" pitchFamily="49" charset="0"/>
                <a:cs typeface="Consolas" panose="020B0609020204030204" pitchFamily="49" charset="0"/>
              </a:rPr>
              <a:t>0x260 loop B loop</a:t>
            </a:r>
          </a:p>
          <a:p>
            <a:r>
              <a:rPr lang="en-US" sz="1600" dirty="0">
                <a:latin typeface="Consolas" panose="020B0609020204030204" pitchFamily="49" charset="0"/>
                <a:cs typeface="Consolas" panose="020B0609020204030204" pitchFamily="49" charset="0"/>
              </a:rPr>
              <a:t>          ENDP</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foo       PROC</a:t>
            </a:r>
          </a:p>
          <a:p>
            <a:r>
              <a:rPr lang="en-US" sz="1600" dirty="0">
                <a:latin typeface="Consolas" panose="020B0609020204030204" pitchFamily="49" charset="0"/>
                <a:cs typeface="Consolas" panose="020B0609020204030204" pitchFamily="49" charset="0"/>
              </a:rPr>
              <a:t>0x262     PUSH{R0, R1}         ; SP = ____________</a:t>
            </a:r>
          </a:p>
          <a:p>
            <a:r>
              <a:rPr lang="en-US" sz="1600" dirty="0">
                <a:latin typeface="Consolas" panose="020B0609020204030204" pitchFamily="49" charset="0"/>
                <a:cs typeface="Consolas" panose="020B0609020204030204" pitchFamily="49" charset="0"/>
              </a:rPr>
              <a:t>0x264     POP{R1}</a:t>
            </a:r>
          </a:p>
          <a:p>
            <a:r>
              <a:rPr lang="en-US" sz="1600" dirty="0">
                <a:latin typeface="Consolas" panose="020B0609020204030204" pitchFamily="49" charset="0"/>
                <a:cs typeface="Consolas" panose="020B0609020204030204" pitchFamily="49" charset="0"/>
              </a:rPr>
              <a:t>0x266     POP{R0}              ; R0 = __________, SP = ____________</a:t>
            </a:r>
          </a:p>
          <a:p>
            <a:r>
              <a:rPr lang="en-US" sz="1600" dirty="0">
                <a:latin typeface="Consolas" panose="020B0609020204030204" pitchFamily="49" charset="0"/>
                <a:cs typeface="Consolas" panose="020B0609020204030204" pitchFamily="49" charset="0"/>
              </a:rPr>
              <a:t>0x268     BX LR                ; LR = ___________, PC = ____________</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3372098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E055-2D92-9967-6D5A-5CAE67FAA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A5A9E-A770-8E75-1A17-1AA527EAD98D}"/>
              </a:ext>
            </a:extLst>
          </p:cNvPr>
          <p:cNvSpPr>
            <a:spLocks noGrp="1"/>
          </p:cNvSpPr>
          <p:nvPr>
            <p:ph type="title"/>
          </p:nvPr>
        </p:nvSpPr>
        <p:spPr/>
        <p:txBody>
          <a:bodyPr/>
          <a:lstStyle/>
          <a:p>
            <a:r>
              <a:rPr lang="en-US" dirty="0"/>
              <a:t>Program Understanding ANS</a:t>
            </a:r>
          </a:p>
        </p:txBody>
      </p:sp>
      <p:sp>
        <p:nvSpPr>
          <p:cNvPr id="3" name="Slide Number Placeholder 2">
            <a:extLst>
              <a:ext uri="{FF2B5EF4-FFF2-40B4-BE49-F238E27FC236}">
                <a16:creationId xmlns:a16="http://schemas.microsoft.com/office/drawing/2014/main" id="{E6EB26F8-63B8-7FD8-7173-F712D1EEF322}"/>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4" name="Content Placeholder 3">
            <a:extLst>
              <a:ext uri="{FF2B5EF4-FFF2-40B4-BE49-F238E27FC236}">
                <a16:creationId xmlns:a16="http://schemas.microsoft.com/office/drawing/2014/main" id="{6887EA07-332E-3EE5-6B34-92FAAEF7BA60}"/>
              </a:ext>
            </a:extLst>
          </p:cNvPr>
          <p:cNvSpPr>
            <a:spLocks noGrp="1"/>
          </p:cNvSpPr>
          <p:nvPr>
            <p:ph sz="quarter" idx="1"/>
          </p:nvPr>
        </p:nvSpPr>
        <p:spPr>
          <a:xfrm>
            <a:off x="457200" y="1219200"/>
            <a:ext cx="8229600" cy="1066800"/>
          </a:xfrm>
        </p:spPr>
        <p:txBody>
          <a:bodyPr>
            <a:normAutofit fontScale="70000" lnSpcReduction="20000"/>
          </a:bodyPr>
          <a:lstStyle/>
          <a:p>
            <a:r>
              <a:rPr lang="en-US" dirty="0"/>
              <a:t>Given the following code, fill in the blanks listed next to each instruction with the values that would be in each register or status bit after the instruction executes. Instruction addresses are given to the left of each assembly instruction (not part of the code).  Assume that SP = 0x10000200 at the start of the program.</a:t>
            </a:r>
          </a:p>
        </p:txBody>
      </p:sp>
      <p:sp>
        <p:nvSpPr>
          <p:cNvPr id="5" name="TextBox 4">
            <a:extLst>
              <a:ext uri="{FF2B5EF4-FFF2-40B4-BE49-F238E27FC236}">
                <a16:creationId xmlns:a16="http://schemas.microsoft.com/office/drawing/2014/main" id="{667005E6-B78A-DE6F-E3EA-2180A0B55757}"/>
              </a:ext>
            </a:extLst>
          </p:cNvPr>
          <p:cNvSpPr txBox="1"/>
          <p:nvPr/>
        </p:nvSpPr>
        <p:spPr>
          <a:xfrm>
            <a:off x="304800" y="2122706"/>
            <a:ext cx="8534400" cy="427809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          AREA </a:t>
            </a:r>
            <a:r>
              <a:rPr lang="en-US" sz="1600" dirty="0" err="1">
                <a:latin typeface="Consolas" panose="020B0609020204030204" pitchFamily="49" charset="0"/>
                <a:cs typeface="Consolas" panose="020B0609020204030204" pitchFamily="49" charset="0"/>
              </a:rPr>
              <a:t>mycode</a:t>
            </a:r>
            <a:r>
              <a:rPr lang="en-US" sz="1600" dirty="0">
                <a:latin typeface="Consolas" panose="020B0609020204030204" pitchFamily="49" charset="0"/>
                <a:cs typeface="Consolas" panose="020B0609020204030204" pitchFamily="49" charset="0"/>
              </a:rPr>
              <a:t>, CODE, READONLY</a:t>
            </a:r>
          </a:p>
          <a:p>
            <a:r>
              <a:rPr lang="en-US" sz="1600" dirty="0">
                <a:latin typeface="Consolas" panose="020B0609020204030204" pitchFamily="49" charset="0"/>
                <a:cs typeface="Consolas" panose="020B0609020204030204" pitchFamily="49" charset="0"/>
              </a:rPr>
              <a:t>          EXPORT __main</a:t>
            </a:r>
          </a:p>
          <a:p>
            <a:r>
              <a:rPr lang="en-US" sz="1600" dirty="0">
                <a:latin typeface="Consolas" panose="020B0609020204030204" pitchFamily="49" charset="0"/>
                <a:cs typeface="Consolas" panose="020B0609020204030204" pitchFamily="49" charset="0"/>
              </a:rPr>
              <a:t>__main    PROC</a:t>
            </a:r>
          </a:p>
          <a:p>
            <a:r>
              <a:rPr lang="en-US" sz="1600" dirty="0">
                <a:latin typeface="Consolas" panose="020B0609020204030204" pitchFamily="49" charset="0"/>
                <a:cs typeface="Consolas" panose="020B0609020204030204" pitchFamily="49" charset="0"/>
              </a:rPr>
              <a:t>0x250     MOV R0, #5</a:t>
            </a:r>
          </a:p>
          <a:p>
            <a:r>
              <a:rPr lang="en-US" sz="1600" dirty="0">
                <a:latin typeface="Consolas" panose="020B0609020204030204" pitchFamily="49" charset="0"/>
                <a:cs typeface="Consolas" panose="020B0609020204030204" pitchFamily="49" charset="0"/>
              </a:rPr>
              <a:t>0x254     MOV R1, #10</a:t>
            </a:r>
          </a:p>
          <a:p>
            <a:r>
              <a:rPr lang="en-US" sz="1600" dirty="0">
                <a:latin typeface="Consolas" panose="020B0609020204030204" pitchFamily="49" charset="0"/>
                <a:cs typeface="Consolas" panose="020B0609020204030204" pitchFamily="49" charset="0"/>
              </a:rPr>
              <a:t>0x258     CMP R0, R1           ; NZCV = 1000</a:t>
            </a:r>
          </a:p>
          <a:p>
            <a:r>
              <a:rPr lang="en-US" sz="1600" dirty="0">
                <a:latin typeface="Consolas" panose="020B0609020204030204" pitchFamily="49" charset="0"/>
                <a:cs typeface="Consolas" panose="020B0609020204030204" pitchFamily="49" charset="0"/>
              </a:rPr>
              <a:t>0x25A     BGE loop             ; PC = 0x25C (after this instruction)</a:t>
            </a:r>
          </a:p>
          <a:p>
            <a:r>
              <a:rPr lang="en-US" sz="1600" dirty="0">
                <a:latin typeface="Consolas" panose="020B0609020204030204" pitchFamily="49" charset="0"/>
                <a:cs typeface="Consolas" panose="020B0609020204030204" pitchFamily="49" charset="0"/>
              </a:rPr>
              <a:t>0x25C     BL foo               ; LR = 0x260, PC = 0x262 (after this inst.)</a:t>
            </a:r>
          </a:p>
          <a:p>
            <a:r>
              <a:rPr lang="en-US" sz="1600" dirty="0">
                <a:latin typeface="Consolas" panose="020B0609020204030204" pitchFamily="49" charset="0"/>
                <a:cs typeface="Consolas" panose="020B0609020204030204" pitchFamily="49" charset="0"/>
              </a:rPr>
              <a:t>0x260 loop B loop</a:t>
            </a:r>
          </a:p>
          <a:p>
            <a:r>
              <a:rPr lang="en-US" sz="1600" dirty="0">
                <a:latin typeface="Consolas" panose="020B0609020204030204" pitchFamily="49" charset="0"/>
                <a:cs typeface="Consolas" panose="020B0609020204030204" pitchFamily="49" charset="0"/>
              </a:rPr>
              <a:t>          ENDP</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foo       PROC</a:t>
            </a:r>
          </a:p>
          <a:p>
            <a:r>
              <a:rPr lang="en-US" sz="1600" dirty="0">
                <a:latin typeface="Consolas" panose="020B0609020204030204" pitchFamily="49" charset="0"/>
                <a:cs typeface="Consolas" panose="020B0609020204030204" pitchFamily="49" charset="0"/>
              </a:rPr>
              <a:t>0x262     PUSH{R0, R1}         ; SP = </a:t>
            </a:r>
            <a:r>
              <a:rPr lang="en-US" sz="1600" dirty="0"/>
              <a:t>0x100001F8</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0x264     POP{R1}              ; R1 = 5</a:t>
            </a:r>
          </a:p>
          <a:p>
            <a:r>
              <a:rPr lang="en-US" sz="1600" dirty="0">
                <a:latin typeface="Consolas" panose="020B0609020204030204" pitchFamily="49" charset="0"/>
                <a:cs typeface="Consolas" panose="020B0609020204030204" pitchFamily="49" charset="0"/>
              </a:rPr>
              <a:t>0x266     POP{R0}              ; R0 = 10, SP = </a:t>
            </a:r>
            <a:r>
              <a:rPr lang="en-US" sz="1600" dirty="0"/>
              <a:t>0x10000200</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0x268     BX LR                ; LR = 0x260, PC = 0x260 (after this inst.)</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011627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4FE6-4AA6-4480-9C1A-B149B1641A6D}"/>
              </a:ext>
            </a:extLst>
          </p:cNvPr>
          <p:cNvSpPr>
            <a:spLocks noGrp="1"/>
          </p:cNvSpPr>
          <p:nvPr>
            <p:ph type="title"/>
          </p:nvPr>
        </p:nvSpPr>
        <p:spPr/>
        <p:txBody>
          <a:bodyPr/>
          <a:lstStyle/>
          <a:p>
            <a:r>
              <a:rPr lang="en-US" dirty="0"/>
              <a:t>Detailed Explanations</a:t>
            </a:r>
          </a:p>
        </p:txBody>
      </p:sp>
      <p:sp>
        <p:nvSpPr>
          <p:cNvPr id="3" name="Slide Number Placeholder 2">
            <a:extLst>
              <a:ext uri="{FF2B5EF4-FFF2-40B4-BE49-F238E27FC236}">
                <a16:creationId xmlns:a16="http://schemas.microsoft.com/office/drawing/2014/main" id="{BD64E820-1675-B2B0-054F-FAA01CAC05B1}"/>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a:extLst>
              <a:ext uri="{FF2B5EF4-FFF2-40B4-BE49-F238E27FC236}">
                <a16:creationId xmlns:a16="http://schemas.microsoft.com/office/drawing/2014/main" id="{0D3349F2-AD23-9931-E5C9-567BF200C2ED}"/>
              </a:ext>
            </a:extLst>
          </p:cNvPr>
          <p:cNvSpPr>
            <a:spLocks noGrp="1"/>
          </p:cNvSpPr>
          <p:nvPr>
            <p:ph sz="quarter" idx="1"/>
          </p:nvPr>
        </p:nvSpPr>
        <p:spPr>
          <a:xfrm>
            <a:off x="457200" y="1143000"/>
            <a:ext cx="8229600" cy="5334000"/>
          </a:xfrm>
        </p:spPr>
        <p:txBody>
          <a:bodyPr>
            <a:normAutofit fontScale="55000" lnSpcReduction="20000"/>
          </a:bodyPr>
          <a:lstStyle/>
          <a:p>
            <a:r>
              <a:rPr lang="en-US" dirty="0"/>
              <a:t>1. CMP R0, R1 (0x258)</a:t>
            </a:r>
          </a:p>
          <a:p>
            <a:pPr lvl="1"/>
            <a:r>
              <a:rPr lang="en-US" dirty="0"/>
              <a:t>Performs: 5 - 10 = -5</a:t>
            </a:r>
          </a:p>
          <a:p>
            <a:pPr lvl="1"/>
            <a:r>
              <a:rPr lang="en-US" dirty="0"/>
              <a:t>NZCV = 1000 (Negative=1, Zero=0, Carry=0, Overflow=0)</a:t>
            </a:r>
          </a:p>
          <a:p>
            <a:r>
              <a:rPr lang="en-US" dirty="0"/>
              <a:t>2. BGE loop (0x25A)</a:t>
            </a:r>
          </a:p>
          <a:p>
            <a:pPr lvl="1"/>
            <a:r>
              <a:rPr lang="en-US" dirty="0"/>
              <a:t>BGE checks if N == V (Greater or Equal in signed comparison)</a:t>
            </a:r>
          </a:p>
          <a:p>
            <a:pPr lvl="1"/>
            <a:r>
              <a:rPr lang="en-US" dirty="0"/>
              <a:t>Since N=1 and V=0, condition is FALSE</a:t>
            </a:r>
          </a:p>
          <a:p>
            <a:r>
              <a:rPr lang="en-US" dirty="0"/>
              <a:t>Branch NOT taken, continues to next instruction</a:t>
            </a:r>
          </a:p>
          <a:p>
            <a:pPr lvl="1"/>
            <a:r>
              <a:rPr lang="en-US" dirty="0"/>
              <a:t>PC = 0x25C</a:t>
            </a:r>
          </a:p>
          <a:p>
            <a:r>
              <a:rPr lang="en-US" dirty="0"/>
              <a:t>3. BL foo (0x25C)</a:t>
            </a:r>
          </a:p>
          <a:p>
            <a:pPr lvl="1"/>
            <a:r>
              <a:rPr lang="en-US" dirty="0"/>
              <a:t>Saves return address in LR and branches to foo</a:t>
            </a:r>
          </a:p>
          <a:p>
            <a:pPr lvl="1"/>
            <a:r>
              <a:rPr lang="en-US" dirty="0"/>
              <a:t>LR = 0x260 (next instruction after BL)</a:t>
            </a:r>
          </a:p>
          <a:p>
            <a:pPr lvl="1"/>
            <a:r>
              <a:rPr lang="en-US" dirty="0"/>
              <a:t>PC = 0x262 (address of foo)</a:t>
            </a:r>
          </a:p>
          <a:p>
            <a:r>
              <a:rPr lang="en-US" dirty="0"/>
              <a:t>4. PUSH {R0, R1} (0x262)</a:t>
            </a:r>
          </a:p>
          <a:p>
            <a:pPr lvl="1"/>
            <a:r>
              <a:rPr lang="en-US" dirty="0"/>
              <a:t>Stack is descending and full, so SP decrements by 8 bytes (2 registers × 4 bytes)</a:t>
            </a:r>
          </a:p>
          <a:p>
            <a:pPr lvl="1"/>
            <a:r>
              <a:rPr lang="en-US" dirty="0"/>
              <a:t>SP = 0x10000200 - 8 = 0x100001F8</a:t>
            </a:r>
          </a:p>
          <a:p>
            <a:r>
              <a:rPr lang="en-US" dirty="0"/>
              <a:t>5. POP {R0} (0x266)</a:t>
            </a:r>
          </a:p>
          <a:p>
            <a:pPr lvl="1"/>
            <a:r>
              <a:rPr lang="en-US" dirty="0"/>
              <a:t>After popping both registers, R0 and R1 are swapped</a:t>
            </a:r>
          </a:p>
          <a:p>
            <a:pPr lvl="1"/>
            <a:r>
              <a:rPr lang="en-US" dirty="0"/>
              <a:t>R0 = 10 (original R1 value)</a:t>
            </a:r>
          </a:p>
          <a:p>
            <a:pPr lvl="1"/>
            <a:r>
              <a:rPr lang="en-US" dirty="0"/>
              <a:t>SP = 0x10000200 (back to original)</a:t>
            </a:r>
          </a:p>
          <a:p>
            <a:r>
              <a:rPr lang="en-US" dirty="0"/>
              <a:t>6. BX LR (0x268)</a:t>
            </a:r>
          </a:p>
          <a:p>
            <a:pPr lvl="1"/>
            <a:r>
              <a:rPr lang="en-US" dirty="0"/>
              <a:t>Returns to address stored in LR</a:t>
            </a:r>
          </a:p>
          <a:p>
            <a:pPr lvl="1"/>
            <a:r>
              <a:rPr lang="en-US" dirty="0"/>
              <a:t>LR = 0x260 (unchanged)</a:t>
            </a:r>
          </a:p>
          <a:p>
            <a:pPr lvl="1"/>
            <a:r>
              <a:rPr lang="en-US" dirty="0"/>
              <a:t>PC = 0x260 (returns to caller)</a:t>
            </a:r>
          </a:p>
        </p:txBody>
      </p:sp>
    </p:spTree>
    <p:extLst>
      <p:ext uri="{BB962C8B-B14F-4D97-AF65-F5344CB8AC3E}">
        <p14:creationId xmlns:p14="http://schemas.microsoft.com/office/powerpoint/2010/main" val="150664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E065B-6E1F-B821-412C-FD0AA6D6FFAC}"/>
              </a:ext>
            </a:extLst>
          </p:cNvPr>
          <p:cNvSpPr>
            <a:spLocks noGrp="1"/>
          </p:cNvSpPr>
          <p:nvPr>
            <p:ph type="title"/>
          </p:nvPr>
        </p:nvSpPr>
        <p:spPr/>
        <p:txBody>
          <a:bodyPr/>
          <a:lstStyle/>
          <a:p>
            <a:pPr algn="ctr"/>
            <a:r>
              <a:rPr lang="en-US" dirty="0">
                <a:solidFill>
                  <a:srgbClr val="C00000"/>
                </a:solidFill>
              </a:rPr>
              <a:t>Separator Page</a:t>
            </a:r>
          </a:p>
        </p:txBody>
      </p:sp>
      <p:sp>
        <p:nvSpPr>
          <p:cNvPr id="3" name="Slide Number Placeholder 2">
            <a:extLst>
              <a:ext uri="{FF2B5EF4-FFF2-40B4-BE49-F238E27FC236}">
                <a16:creationId xmlns:a16="http://schemas.microsoft.com/office/drawing/2014/main" id="{AD736B6C-17FB-16E1-408B-AB3C19FF2650}"/>
              </a:ext>
            </a:extLst>
          </p:cNvPr>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4" name="Content Placeholder 3">
            <a:extLst>
              <a:ext uri="{FF2B5EF4-FFF2-40B4-BE49-F238E27FC236}">
                <a16:creationId xmlns:a16="http://schemas.microsoft.com/office/drawing/2014/main" id="{0C9C6FA3-D066-E5DA-E405-23B7F5B00998}"/>
              </a:ext>
            </a:extLst>
          </p:cNvPr>
          <p:cNvSpPr>
            <a:spLocks noGrp="1"/>
          </p:cNvSpPr>
          <p:nvPr>
            <p:ph sz="quarter" idx="1"/>
          </p:nvPr>
        </p:nvSpPr>
        <p:spPr/>
        <p:txBody>
          <a:bodyPr>
            <a:normAutofit/>
          </a:bodyPr>
          <a:lstStyle/>
          <a:p>
            <a:r>
              <a:rPr lang="en-US" altLang="zh-CN" sz="4000" dirty="0">
                <a:solidFill>
                  <a:srgbClr val="C00000"/>
                </a:solidFill>
              </a:rPr>
              <a:t>The following slides will not be covered in the exam</a:t>
            </a:r>
            <a:endParaRPr lang="en-US" sz="4000" dirty="0">
              <a:solidFill>
                <a:srgbClr val="C00000"/>
              </a:solidFill>
            </a:endParaRPr>
          </a:p>
        </p:txBody>
      </p:sp>
    </p:spTree>
    <p:extLst>
      <p:ext uri="{BB962C8B-B14F-4D97-AF65-F5344CB8AC3E}">
        <p14:creationId xmlns:p14="http://schemas.microsoft.com/office/powerpoint/2010/main" val="780454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ADDE-B5E4-F571-7D39-10F7E6EFD50E}"/>
              </a:ext>
            </a:extLst>
          </p:cNvPr>
          <p:cNvSpPr>
            <a:spLocks noGrp="1"/>
          </p:cNvSpPr>
          <p:nvPr>
            <p:ph type="title"/>
          </p:nvPr>
        </p:nvSpPr>
        <p:spPr/>
        <p:txBody>
          <a:bodyPr/>
          <a:lstStyle/>
          <a:p>
            <a:r>
              <a:rPr lang="en-US" dirty="0"/>
              <a:t>If Then Else</a:t>
            </a:r>
          </a:p>
        </p:txBody>
      </p:sp>
      <p:sp>
        <p:nvSpPr>
          <p:cNvPr id="3" name="Slide Number Placeholder 2">
            <a:extLst>
              <a:ext uri="{FF2B5EF4-FFF2-40B4-BE49-F238E27FC236}">
                <a16:creationId xmlns:a16="http://schemas.microsoft.com/office/drawing/2014/main" id="{F09614DF-7D37-017A-6AE1-CB37C3AAF956}"/>
              </a:ext>
            </a:extLst>
          </p:cNvPr>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a:extLst>
              <a:ext uri="{FF2B5EF4-FFF2-40B4-BE49-F238E27FC236}">
                <a16:creationId xmlns:a16="http://schemas.microsoft.com/office/drawing/2014/main" id="{86CB5709-ADC9-6526-7743-1565742B86E0}"/>
              </a:ext>
            </a:extLst>
          </p:cNvPr>
          <p:cNvSpPr>
            <a:spLocks noGrp="1"/>
          </p:cNvSpPr>
          <p:nvPr>
            <p:ph sz="quarter" idx="1"/>
          </p:nvPr>
        </p:nvSpPr>
        <p:spPr/>
        <p:txBody>
          <a:bodyPr>
            <a:normAutofit/>
          </a:bodyPr>
          <a:lstStyle/>
          <a:p>
            <a:r>
              <a:rPr lang="en-US" dirty="0"/>
              <a:t>Translate the following program into ARMv7 assembly. </a:t>
            </a:r>
          </a:p>
          <a:p>
            <a:endParaRPr lang="en-US" dirty="0"/>
          </a:p>
        </p:txBody>
      </p:sp>
      <p:graphicFrame>
        <p:nvGraphicFramePr>
          <p:cNvPr id="5" name="Table 4">
            <a:extLst>
              <a:ext uri="{FF2B5EF4-FFF2-40B4-BE49-F238E27FC236}">
                <a16:creationId xmlns:a16="http://schemas.microsoft.com/office/drawing/2014/main" id="{D029E53D-EF51-C81E-B5A8-ACE61F697AF7}"/>
              </a:ext>
            </a:extLst>
          </p:cNvPr>
          <p:cNvGraphicFramePr>
            <a:graphicFrameLocks noGrp="1"/>
          </p:cNvGraphicFramePr>
          <p:nvPr>
            <p:extLst>
              <p:ext uri="{D42A27DB-BD31-4B8C-83A1-F6EECF244321}">
                <p14:modId xmlns:p14="http://schemas.microsoft.com/office/powerpoint/2010/main" val="112046773"/>
              </p:ext>
            </p:extLst>
          </p:nvPr>
        </p:nvGraphicFramePr>
        <p:xfrm>
          <a:off x="1295400" y="2438400"/>
          <a:ext cx="6400800" cy="1706880"/>
        </p:xfrm>
        <a:graphic>
          <a:graphicData uri="http://schemas.openxmlformats.org/drawingml/2006/table">
            <a:tbl>
              <a:tblPr firstRow="1" firstCol="1" bandRow="1">
                <a:tableStyleId>{5940675A-B579-460E-94D1-54222C63F5DA}</a:tableStyleId>
              </a:tblPr>
              <a:tblGrid>
                <a:gridCol w="3200400">
                  <a:extLst>
                    <a:ext uri="{9D8B030D-6E8A-4147-A177-3AD203B41FA5}">
                      <a16:colId xmlns:a16="http://schemas.microsoft.com/office/drawing/2014/main" val="2763064386"/>
                    </a:ext>
                  </a:extLst>
                </a:gridCol>
                <a:gridCol w="3200400">
                  <a:extLst>
                    <a:ext uri="{9D8B030D-6E8A-4147-A177-3AD203B41FA5}">
                      <a16:colId xmlns:a16="http://schemas.microsoft.com/office/drawing/2014/main" val="717490994"/>
                    </a:ext>
                  </a:extLst>
                </a:gridCol>
              </a:tblGrid>
              <a:tr h="197961">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 Program </a:t>
                      </a:r>
                    </a:p>
                  </a:txBody>
                  <a:tcPr marL="68580" marR="68580" marT="0" marB="0">
                    <a:solidFill>
                      <a:schemeClr val="accent1"/>
                    </a:solidFill>
                  </a:tcPr>
                </a:tc>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Assembly Program</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499141511"/>
                  </a:ext>
                </a:extLst>
              </a:tr>
              <a:tr h="1385729">
                <a:tc>
                  <a:txBody>
                    <a:bodyPr/>
                    <a:lstStyle/>
                    <a:p>
                      <a:r>
                        <a:rPr lang="en-US" sz="1400" dirty="0"/>
                        <a:t>int foo(int x, int y) {</a:t>
                      </a:r>
                    </a:p>
                    <a:p>
                      <a:r>
                        <a:rPr lang="en-US" sz="1400" dirty="0"/>
                        <a:t>if (</a:t>
                      </a:r>
                      <a:r>
                        <a:rPr lang="en-US" sz="1400" dirty="0" err="1"/>
                        <a:t>x+y</a:t>
                      </a:r>
                      <a:r>
                        <a:rPr lang="en-US" sz="1400" dirty="0"/>
                        <a:t> &lt; 0) </a:t>
                      </a:r>
                    </a:p>
                    <a:p>
                      <a:r>
                        <a:rPr lang="en-US" sz="1400" dirty="0"/>
                        <a:t>  return 0;</a:t>
                      </a:r>
                    </a:p>
                    <a:p>
                      <a:r>
                        <a:rPr lang="en-US" sz="1400" dirty="0"/>
                        <a:t>else </a:t>
                      </a:r>
                    </a:p>
                    <a:p>
                      <a:r>
                        <a:rPr lang="en-US" sz="1400" dirty="0"/>
                        <a:t>  return 1;</a:t>
                      </a:r>
                    </a:p>
                    <a:p>
                      <a:r>
                        <a:rPr lang="en-US" sz="1400" dirty="0"/>
                        <a:t>}</a:t>
                      </a:r>
                    </a:p>
                    <a:p>
                      <a:endParaRPr lang="en-US" sz="1400" dirty="0"/>
                    </a:p>
                  </a:txBody>
                  <a:tcPr marL="68580" marR="68580" marT="0" marB="0"/>
                </a:tc>
                <a:tc>
                  <a:txBody>
                    <a:bodyPr/>
                    <a:lstStyle/>
                    <a:p>
                      <a:r>
                        <a:rPr lang="en-US" sz="1400" dirty="0"/>
                        <a:t>@ int foo(int x, int y) - returns 0 if (</a:t>
                      </a:r>
                      <a:r>
                        <a:rPr lang="en-US" sz="1400" dirty="0" err="1"/>
                        <a:t>x+y</a:t>
                      </a:r>
                      <a:r>
                        <a:rPr lang="en-US" sz="1400" dirty="0"/>
                        <a:t>) &lt; 0, else 1</a:t>
                      </a:r>
                    </a:p>
                    <a:p>
                      <a:r>
                        <a:rPr lang="en-US" sz="1400" dirty="0"/>
                        <a:t>@ x in r0, y in r1, return in r0</a:t>
                      </a:r>
                    </a:p>
                    <a:p>
                      <a:r>
                        <a:rPr lang="en-US" sz="1400" dirty="0"/>
                        <a:t>foo:</a:t>
                      </a:r>
                    </a:p>
                    <a:p>
                      <a:r>
                        <a:rPr lang="en-US" sz="1400" dirty="0"/>
                        <a:t>  …</a:t>
                      </a:r>
                    </a:p>
                    <a:p>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3148403928"/>
                  </a:ext>
                </a:extLst>
              </a:tr>
            </a:tbl>
          </a:graphicData>
        </a:graphic>
      </p:graphicFrame>
    </p:spTree>
    <p:extLst>
      <p:ext uri="{BB962C8B-B14F-4D97-AF65-F5344CB8AC3E}">
        <p14:creationId xmlns:p14="http://schemas.microsoft.com/office/powerpoint/2010/main" val="1767069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12DC-0F10-83D1-ABB7-CBAA3C868C79}"/>
              </a:ext>
            </a:extLst>
          </p:cNvPr>
          <p:cNvSpPr>
            <a:spLocks noGrp="1"/>
          </p:cNvSpPr>
          <p:nvPr>
            <p:ph type="title"/>
          </p:nvPr>
        </p:nvSpPr>
        <p:spPr>
          <a:xfrm>
            <a:off x="457200" y="135890"/>
            <a:ext cx="8229600" cy="924027"/>
          </a:xfrm>
        </p:spPr>
        <p:txBody>
          <a:bodyPr>
            <a:normAutofit/>
          </a:bodyPr>
          <a:lstStyle/>
          <a:p>
            <a:r>
              <a:rPr lang="en-US" dirty="0"/>
              <a:t>If Then Else ANS</a:t>
            </a:r>
          </a:p>
        </p:txBody>
      </p:sp>
      <p:sp>
        <p:nvSpPr>
          <p:cNvPr id="3" name="Slide Number Placeholder 2">
            <a:extLst>
              <a:ext uri="{FF2B5EF4-FFF2-40B4-BE49-F238E27FC236}">
                <a16:creationId xmlns:a16="http://schemas.microsoft.com/office/drawing/2014/main" id="{15F21901-5D89-CA2E-1399-0FE05B68EBA5}"/>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p:graphicFrame>
        <p:nvGraphicFramePr>
          <p:cNvPr id="5" name="Table 4">
            <a:extLst>
              <a:ext uri="{FF2B5EF4-FFF2-40B4-BE49-F238E27FC236}">
                <a16:creationId xmlns:a16="http://schemas.microsoft.com/office/drawing/2014/main" id="{93A61E9E-B8DB-6D7F-89B8-C01FADC19FE2}"/>
              </a:ext>
            </a:extLst>
          </p:cNvPr>
          <p:cNvGraphicFramePr>
            <a:graphicFrameLocks noGrp="1"/>
          </p:cNvGraphicFramePr>
          <p:nvPr>
            <p:extLst>
              <p:ext uri="{D42A27DB-BD31-4B8C-83A1-F6EECF244321}">
                <p14:modId xmlns:p14="http://schemas.microsoft.com/office/powerpoint/2010/main" val="3547717032"/>
              </p:ext>
            </p:extLst>
          </p:nvPr>
        </p:nvGraphicFramePr>
        <p:xfrm>
          <a:off x="381000" y="1231490"/>
          <a:ext cx="4114800" cy="170688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cs typeface="Consolas" panose="020B0609020204030204" pitchFamily="49" charset="0"/>
                        </a:rPr>
                        <a:t>Straight-line with conditional execution</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     r2, r0, r1      ; r2 = x + y</a:t>
                      </a:r>
                      <a:br>
                        <a:rPr lang="en-US" sz="1400" dirty="0"/>
                      </a:br>
                      <a:r>
                        <a:rPr lang="en-US" sz="1400" dirty="0"/>
                        <a:t>    CMP     r2, #0          ; sets N,Z,V,C for signed compare to 0</a:t>
                      </a:r>
                      <a:br>
                        <a:rPr lang="en-US" sz="1400" dirty="0"/>
                      </a:br>
                      <a:r>
                        <a:rPr lang="en-US" sz="1400" dirty="0"/>
                        <a:t>    MOVLT   r0, #0        ; if (</a:t>
                      </a:r>
                      <a:r>
                        <a:rPr lang="en-US" sz="1400" dirty="0" err="1"/>
                        <a:t>x+y</a:t>
                      </a:r>
                      <a:r>
                        <a:rPr lang="en-US" sz="1400" dirty="0"/>
                        <a:t>) &lt; 0 -&gt; r0 = 0</a:t>
                      </a:r>
                      <a:br>
                        <a:rPr lang="en-US" sz="1400" dirty="0"/>
                      </a:br>
                      <a:r>
                        <a:rPr lang="en-US" sz="1400" dirty="0"/>
                        <a:t>    MOVGE   r0, #1       ; else r0 = 1</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08860993-5A4A-FDF2-164A-269A21C1476C}"/>
              </a:ext>
            </a:extLst>
          </p:cNvPr>
          <p:cNvGraphicFramePr>
            <a:graphicFrameLocks noGrp="1"/>
          </p:cNvGraphicFramePr>
          <p:nvPr>
            <p:extLst>
              <p:ext uri="{D42A27DB-BD31-4B8C-83A1-F6EECF244321}">
                <p14:modId xmlns:p14="http://schemas.microsoft.com/office/powerpoint/2010/main" val="3430121529"/>
              </p:ext>
            </p:extLst>
          </p:nvPr>
        </p:nvGraphicFramePr>
        <p:xfrm>
          <a:off x="381000" y="3203842"/>
          <a:ext cx="4114800" cy="213360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Conditional branch to label w/ CMP</a:t>
                      </a: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     r2, r0, r1</a:t>
                      </a:r>
                      <a:br>
                        <a:rPr lang="en-US" sz="1400" dirty="0"/>
                      </a:br>
                      <a:r>
                        <a:rPr lang="en-US" sz="1400" dirty="0"/>
                        <a:t>    CMP     r2, #0</a:t>
                      </a:r>
                      <a:br>
                        <a:rPr lang="en-US" sz="1400" dirty="0"/>
                      </a:br>
                      <a:r>
                        <a:rPr lang="en-US" sz="1400" dirty="0"/>
                        <a:t>    BLT     .</a:t>
                      </a:r>
                      <a:r>
                        <a:rPr lang="en-US" sz="1400" dirty="0" err="1"/>
                        <a:t>Lneg</a:t>
                      </a:r>
                      <a:br>
                        <a:rPr lang="en-US" sz="1400" dirty="0"/>
                      </a:br>
                      <a:r>
                        <a:rPr lang="en-US" sz="1400" dirty="0"/>
                        <a:t>    MOV     r0, #1</a:t>
                      </a:r>
                      <a:br>
                        <a:rPr lang="en-US" sz="1400" dirty="0"/>
                      </a:br>
                      <a:r>
                        <a:rPr lang="en-US" sz="1400" dirty="0"/>
                        <a:t>    BX      </a:t>
                      </a:r>
                      <a:r>
                        <a:rPr lang="en-US" sz="1400" dirty="0" err="1"/>
                        <a:t>lr</a:t>
                      </a:r>
                      <a:br>
                        <a:rPr lang="en-US" sz="1400" dirty="0"/>
                      </a:br>
                      <a:r>
                        <a:rPr lang="en-US" sz="1400" dirty="0"/>
                        <a:t>.</a:t>
                      </a:r>
                      <a:r>
                        <a:rPr lang="en-US" sz="1400" dirty="0" err="1"/>
                        <a:t>Lneg</a:t>
                      </a:r>
                      <a:r>
                        <a:rPr lang="en-US" sz="1400" dirty="0"/>
                        <a:t>:</a:t>
                      </a:r>
                      <a:br>
                        <a:rPr lang="en-US" sz="1400" dirty="0"/>
                      </a:br>
                      <a:r>
                        <a:rPr lang="en-US" sz="1400" dirty="0"/>
                        <a:t>    MOV     r0, #0</a:t>
                      </a:r>
                      <a:br>
                        <a:rPr lang="en-US" sz="1400" dirty="0"/>
                      </a:br>
                      <a:r>
                        <a:rPr lang="en-US" sz="1400" dirty="0"/>
                        <a:t>    BX      </a:t>
                      </a:r>
                      <a:r>
                        <a:rPr lang="en-US" sz="1400" dirty="0" err="1"/>
                        <a:t>lr</a:t>
                      </a:r>
                      <a:endParaRPr lang="pt-BR"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4FA0E8AC-8701-8160-EFCF-45E03B551C1C}"/>
              </a:ext>
            </a:extLst>
          </p:cNvPr>
          <p:cNvGraphicFramePr>
            <a:graphicFrameLocks noGrp="1"/>
          </p:cNvGraphicFramePr>
          <p:nvPr>
            <p:extLst>
              <p:ext uri="{D42A27DB-BD31-4B8C-83A1-F6EECF244321}">
                <p14:modId xmlns:p14="http://schemas.microsoft.com/office/powerpoint/2010/main" val="231938974"/>
              </p:ext>
            </p:extLst>
          </p:nvPr>
        </p:nvGraphicFramePr>
        <p:xfrm>
          <a:off x="4724400" y="1219200"/>
          <a:ext cx="4114800" cy="170688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Combine add and compare with ADDS</a:t>
                      </a: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foo:</a:t>
                      </a:r>
                      <a:br>
                        <a:rPr lang="en-US" sz="1400" dirty="0"/>
                      </a:br>
                      <a:r>
                        <a:rPr lang="en-US" sz="1400" dirty="0"/>
                        <a:t>    ADDS    r2, r0, r1         ; r2 = x + y, sets flags from the sum</a:t>
                      </a:r>
                      <a:br>
                        <a:rPr lang="en-US" sz="1400" dirty="0"/>
                      </a:br>
                      <a:r>
                        <a:rPr lang="en-US" sz="1400" dirty="0"/>
                        <a:t>    MOVMI   r0, #0             ; MI means N=1 (negative)</a:t>
                      </a:r>
                      <a:br>
                        <a:rPr lang="en-US" sz="1400" dirty="0"/>
                      </a:br>
                      <a:r>
                        <a:rPr lang="en-US" sz="1400" dirty="0"/>
                        <a:t>    MOVPL   r0, #1             ; PL means N=0 (non-negative)</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9" name="Table 8">
            <a:extLst>
              <a:ext uri="{FF2B5EF4-FFF2-40B4-BE49-F238E27FC236}">
                <a16:creationId xmlns:a16="http://schemas.microsoft.com/office/drawing/2014/main" id="{744A4DBD-405A-5BB5-8DFC-2B3CDF03BE0C}"/>
              </a:ext>
            </a:extLst>
          </p:cNvPr>
          <p:cNvGraphicFramePr>
            <a:graphicFrameLocks noGrp="1"/>
          </p:cNvGraphicFramePr>
          <p:nvPr>
            <p:extLst>
              <p:ext uri="{D42A27DB-BD31-4B8C-83A1-F6EECF244321}">
                <p14:modId xmlns:p14="http://schemas.microsoft.com/office/powerpoint/2010/main" val="234074655"/>
              </p:ext>
            </p:extLst>
          </p:nvPr>
        </p:nvGraphicFramePr>
        <p:xfrm>
          <a:off x="4724400" y="2971800"/>
          <a:ext cx="4114800" cy="1390304"/>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170419">
                <a:tc>
                  <a:txBody>
                    <a:bodyPr/>
                    <a:lstStyle/>
                    <a:p>
                      <a:pPr marL="0" marR="0" algn="just">
                        <a:spcBef>
                          <a:spcPts val="0"/>
                        </a:spcBef>
                        <a:spcAft>
                          <a:spcPts val="0"/>
                        </a:spcAft>
                      </a:pPr>
                      <a:r>
                        <a:rPr lang="pt-BR" sz="1400" b="1" dirty="0">
                          <a:solidFill>
                            <a:schemeClr val="bg1"/>
                          </a:solidFill>
                          <a:effectLst/>
                          <a:latin typeface="Consolas" panose="020B0609020204030204" pitchFamily="49" charset="0"/>
                          <a:ea typeface="宋体"/>
                          <a:cs typeface="Consolas" panose="020B0609020204030204" pitchFamily="49" charset="0"/>
                        </a:rPr>
                        <a:t>No temp register r2, reuse r0</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176944">
                <a:tc>
                  <a:txBody>
                    <a:bodyPr/>
                    <a:lstStyle/>
                    <a:p>
                      <a:r>
                        <a:rPr lang="en-US" sz="1400" dirty="0"/>
                        <a:t>foo:</a:t>
                      </a:r>
                      <a:br>
                        <a:rPr lang="en-US" sz="1400" dirty="0"/>
                      </a:br>
                      <a:r>
                        <a:rPr lang="en-US" sz="1400" dirty="0"/>
                        <a:t>    ADDS    r0, r0, r1          ; r0 = x + y, flags set</a:t>
                      </a:r>
                      <a:br>
                        <a:rPr lang="en-US" sz="1400" dirty="0"/>
                      </a:br>
                      <a:r>
                        <a:rPr lang="en-US" sz="1400" dirty="0"/>
                        <a:t>    MOVMI   r0, #0</a:t>
                      </a:r>
                      <a:br>
                        <a:rPr lang="en-US" sz="1400" dirty="0"/>
                      </a:br>
                      <a:r>
                        <a:rPr lang="en-US" sz="1400" dirty="0"/>
                        <a:t>    MOVPL   r0, #1</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26CF4D69-C211-B553-B73A-1E1C0BCFC6C4}"/>
              </a:ext>
            </a:extLst>
          </p:cNvPr>
          <p:cNvGraphicFramePr>
            <a:graphicFrameLocks noGrp="1"/>
          </p:cNvGraphicFramePr>
          <p:nvPr>
            <p:extLst>
              <p:ext uri="{D42A27DB-BD31-4B8C-83A1-F6EECF244321}">
                <p14:modId xmlns:p14="http://schemas.microsoft.com/office/powerpoint/2010/main" val="2867381829"/>
              </p:ext>
            </p:extLst>
          </p:nvPr>
        </p:nvGraphicFramePr>
        <p:xfrm>
          <a:off x="4724400" y="4411873"/>
          <a:ext cx="4114800" cy="192024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20000"/>
                    </a:ext>
                  </a:extLst>
                </a:gridCol>
              </a:tblGrid>
              <a:tr h="200818">
                <a:tc>
                  <a:txBody>
                    <a:bodyPr/>
                    <a:lstStyle/>
                    <a:p>
                      <a:pPr marL="0" marR="0" algn="just">
                        <a:spcBef>
                          <a:spcPts val="0"/>
                        </a:spcBef>
                        <a:spcAft>
                          <a:spcPts val="0"/>
                        </a:spcAft>
                      </a:pPr>
                      <a:r>
                        <a:rPr lang="en-US" sz="1400" b="1" dirty="0">
                          <a:solidFill>
                            <a:schemeClr val="bg1"/>
                          </a:solidFill>
                          <a:effectLst/>
                          <a:latin typeface="Consolas" panose="020B0609020204030204" pitchFamily="49" charset="0"/>
                          <a:ea typeface="宋体"/>
                          <a:cs typeface="Consolas" panose="020B0609020204030204" pitchFamily="49" charset="0"/>
                        </a:rPr>
                        <a:t>Conditional branch </a:t>
                      </a:r>
                      <a:r>
                        <a:rPr lang="en-US" sz="1400" b="1">
                          <a:solidFill>
                            <a:schemeClr val="bg1"/>
                          </a:solidFill>
                          <a:effectLst/>
                          <a:latin typeface="Consolas" panose="020B0609020204030204" pitchFamily="49" charset="0"/>
                          <a:ea typeface="宋体"/>
                          <a:cs typeface="Consolas" panose="020B0609020204030204" pitchFamily="49" charset="0"/>
                        </a:rPr>
                        <a:t>to label w/ ADDS</a:t>
                      </a:r>
                      <a:endParaRPr lang="en-US" sz="14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73501">
                <a:tc>
                  <a:txBody>
                    <a:bodyPr/>
                    <a:lstStyle/>
                    <a:p>
                      <a:r>
                        <a:rPr lang="en-US" sz="1400" dirty="0"/>
                        <a:t>foo:</a:t>
                      </a:r>
                      <a:br>
                        <a:rPr lang="en-US" sz="1400" dirty="0"/>
                      </a:br>
                      <a:r>
                        <a:rPr lang="en-US" sz="1400" dirty="0"/>
                        <a:t>    ADDS    r2, r0, r1</a:t>
                      </a:r>
                      <a:br>
                        <a:rPr lang="en-US" sz="1400" dirty="0"/>
                      </a:br>
                      <a:r>
                        <a:rPr lang="en-US" sz="1400" dirty="0"/>
                        <a:t>    BMI       .</a:t>
                      </a:r>
                      <a:r>
                        <a:rPr lang="en-US" sz="1400" dirty="0" err="1"/>
                        <a:t>Lneg</a:t>
                      </a:r>
                      <a:r>
                        <a:rPr lang="en-US" sz="1400" dirty="0"/>
                        <a:t>            ; if negative</a:t>
                      </a:r>
                      <a:br>
                        <a:rPr lang="en-US" sz="1400" dirty="0"/>
                      </a:br>
                      <a:r>
                        <a:rPr lang="en-US" sz="1400" dirty="0"/>
                        <a:t>    MOV    r0, #1</a:t>
                      </a:r>
                      <a:br>
                        <a:rPr lang="en-US" sz="1400" dirty="0"/>
                      </a:br>
                      <a:r>
                        <a:rPr lang="en-US" sz="1400" dirty="0"/>
                        <a:t>    BX      </a:t>
                      </a:r>
                      <a:r>
                        <a:rPr lang="en-US" sz="1400" dirty="0" err="1"/>
                        <a:t>lr</a:t>
                      </a:r>
                      <a:br>
                        <a:rPr lang="en-US" sz="1400" dirty="0"/>
                      </a:br>
                      <a:r>
                        <a:rPr lang="en-US" sz="1400" dirty="0"/>
                        <a:t>.</a:t>
                      </a:r>
                      <a:r>
                        <a:rPr lang="en-US" sz="1400" dirty="0" err="1"/>
                        <a:t>Lneg</a:t>
                      </a:r>
                      <a:r>
                        <a:rPr lang="en-US" sz="1400" dirty="0"/>
                        <a:t>: </a:t>
                      </a:r>
                    </a:p>
                    <a:p>
                      <a:pPr marL="0" indent="0">
                        <a:buNone/>
                      </a:pPr>
                      <a:r>
                        <a:rPr lang="en-US" sz="1400" dirty="0"/>
                        <a:t>          MOV    r0, #0</a:t>
                      </a:r>
                      <a:br>
                        <a:rPr lang="en-US" sz="1400" dirty="0"/>
                      </a:br>
                      <a:r>
                        <a:rPr lang="en-US" sz="1400" dirty="0"/>
                        <a:t>          BX      </a:t>
                      </a:r>
                      <a:r>
                        <a:rPr lang="en-US" sz="1400" dirty="0" err="1"/>
                        <a:t>lr</a:t>
                      </a:r>
                      <a:endParaRPr lang="en-US" sz="1400" dirty="0"/>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87447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DF89D-8DCD-F432-1E58-FAB096FB80C5}"/>
              </a:ext>
            </a:extLst>
          </p:cNvPr>
          <p:cNvSpPr>
            <a:spLocks noGrp="1"/>
          </p:cNvSpPr>
          <p:nvPr>
            <p:ph type="title"/>
          </p:nvPr>
        </p:nvSpPr>
        <p:spPr/>
        <p:txBody>
          <a:bodyPr/>
          <a:lstStyle/>
          <a:p>
            <a:r>
              <a:rPr lang="en-US" dirty="0"/>
              <a:t>Factorial</a:t>
            </a:r>
          </a:p>
        </p:txBody>
      </p:sp>
      <p:sp>
        <p:nvSpPr>
          <p:cNvPr id="3" name="Slide Number Placeholder 2">
            <a:extLst>
              <a:ext uri="{FF2B5EF4-FFF2-40B4-BE49-F238E27FC236}">
                <a16:creationId xmlns:a16="http://schemas.microsoft.com/office/drawing/2014/main" id="{ED177E67-749A-4929-DF9E-A6F535A2290B}"/>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591F8C61-3E91-895F-2C57-5743F12F4706}"/>
              </a:ext>
            </a:extLst>
          </p:cNvPr>
          <p:cNvSpPr>
            <a:spLocks noGrp="1"/>
          </p:cNvSpPr>
          <p:nvPr>
            <p:ph sz="quarter" idx="1"/>
          </p:nvPr>
        </p:nvSpPr>
        <p:spPr>
          <a:xfrm>
            <a:off x="457200" y="1219200"/>
            <a:ext cx="8229600" cy="943610"/>
          </a:xfrm>
        </p:spPr>
        <p:txBody>
          <a:bodyPr>
            <a:normAutofit fontScale="85000" lnSpcReduction="20000"/>
          </a:bodyPr>
          <a:lstStyle/>
          <a:p>
            <a:r>
              <a:rPr lang="en-US" dirty="0"/>
              <a:t>Fill in the blanks (marked TODO) for the assembly programs for calculating the factorial of a number, corresponding to the following C programs. One iterative version, one recursive version.</a:t>
            </a:r>
          </a:p>
        </p:txBody>
      </p:sp>
      <p:sp>
        <p:nvSpPr>
          <p:cNvPr id="5" name="Content Placeholder 3">
            <a:extLst>
              <a:ext uri="{FF2B5EF4-FFF2-40B4-BE49-F238E27FC236}">
                <a16:creationId xmlns:a16="http://schemas.microsoft.com/office/drawing/2014/main" id="{8A76ECE7-0B5A-383E-0091-ADC927BEEC87}"/>
              </a:ext>
            </a:extLst>
          </p:cNvPr>
          <p:cNvSpPr txBox="1">
            <a:spLocks/>
          </p:cNvSpPr>
          <p:nvPr/>
        </p:nvSpPr>
        <p:spPr>
          <a:xfrm>
            <a:off x="4724400" y="2162810"/>
            <a:ext cx="3962400" cy="3794760"/>
          </a:xfrm>
          <a:prstGeom prst="rect">
            <a:avLst/>
          </a:prstGeom>
          <a:ln>
            <a:solidFill>
              <a:schemeClr val="tx1"/>
            </a:solidFill>
          </a:ln>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800" dirty="0"/>
              <a:t>//Recursive version</a:t>
            </a:r>
          </a:p>
          <a:p>
            <a:pPr marL="0" indent="0">
              <a:buNone/>
            </a:pPr>
            <a:r>
              <a:rPr lang="en-US" sz="1800" dirty="0"/>
              <a:t>#include &lt;</a:t>
            </a:r>
            <a:r>
              <a:rPr lang="en-US" sz="1800" dirty="0" err="1"/>
              <a:t>stdint.h</a:t>
            </a:r>
            <a:r>
              <a:rPr lang="en-US" sz="1800" dirty="0"/>
              <a:t>&gt;</a:t>
            </a:r>
          </a:p>
          <a:p>
            <a:pPr marL="0" indent="0">
              <a:buNone/>
            </a:pPr>
            <a:endParaRPr lang="en-US" sz="1800" dirty="0"/>
          </a:p>
          <a:p>
            <a:pPr marL="0" indent="0">
              <a:buNone/>
            </a:pPr>
            <a:r>
              <a:rPr lang="en-US" sz="1800" dirty="0"/>
              <a:t>uint32_t </a:t>
            </a:r>
            <a:r>
              <a:rPr lang="en-US" sz="1800" dirty="0" err="1"/>
              <a:t>fact_rec</a:t>
            </a:r>
            <a:r>
              <a:rPr lang="en-US" sz="1800" dirty="0"/>
              <a:t>(uint32_t n) {</a:t>
            </a:r>
          </a:p>
          <a:p>
            <a:pPr marL="0" indent="0">
              <a:buNone/>
            </a:pPr>
            <a:r>
              <a:rPr lang="en-US" sz="1800" dirty="0"/>
              <a:t>    if (n &lt;= 1) {</a:t>
            </a:r>
          </a:p>
          <a:p>
            <a:pPr marL="0" indent="0">
              <a:buNone/>
            </a:pPr>
            <a:r>
              <a:rPr lang="en-US" sz="1800" dirty="0"/>
              <a:t>        return 1;</a:t>
            </a:r>
          </a:p>
          <a:p>
            <a:pPr marL="0" indent="0">
              <a:buNone/>
            </a:pPr>
            <a:r>
              <a:rPr lang="en-US" sz="1800" dirty="0"/>
              <a:t>    }</a:t>
            </a:r>
          </a:p>
          <a:p>
            <a:pPr marL="0" indent="0">
              <a:buNone/>
            </a:pPr>
            <a:r>
              <a:rPr lang="en-US" sz="1800" dirty="0"/>
              <a:t>    return n * </a:t>
            </a:r>
            <a:r>
              <a:rPr lang="en-US" sz="1800" dirty="0" err="1"/>
              <a:t>fact_rec</a:t>
            </a:r>
            <a:r>
              <a:rPr lang="en-US" sz="1800" dirty="0"/>
              <a:t>(n - 1);</a:t>
            </a:r>
          </a:p>
          <a:p>
            <a:pPr marL="0" indent="0">
              <a:buNone/>
            </a:pPr>
            <a:r>
              <a:rPr lang="en-US" sz="1800" dirty="0"/>
              <a:t>}</a:t>
            </a:r>
          </a:p>
        </p:txBody>
      </p:sp>
      <p:sp>
        <p:nvSpPr>
          <p:cNvPr id="6" name="Content Placeholder 3">
            <a:extLst>
              <a:ext uri="{FF2B5EF4-FFF2-40B4-BE49-F238E27FC236}">
                <a16:creationId xmlns:a16="http://schemas.microsoft.com/office/drawing/2014/main" id="{45D15B45-A356-638A-35FB-768B7AA8995D}"/>
              </a:ext>
            </a:extLst>
          </p:cNvPr>
          <p:cNvSpPr txBox="1">
            <a:spLocks/>
          </p:cNvSpPr>
          <p:nvPr/>
        </p:nvSpPr>
        <p:spPr>
          <a:xfrm>
            <a:off x="685800" y="2162810"/>
            <a:ext cx="3810000" cy="4251960"/>
          </a:xfrm>
          <a:prstGeom prst="rect">
            <a:avLst/>
          </a:prstGeom>
          <a:ln>
            <a:solidFill>
              <a:schemeClr val="tx1"/>
            </a:solidFill>
          </a:ln>
        </p:spPr>
        <p:txBody>
          <a:bodyPr vert="horz">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//Iterative version</a:t>
            </a:r>
          </a:p>
          <a:p>
            <a:pPr marL="0" indent="0">
              <a:buNone/>
            </a:pPr>
            <a:r>
              <a:rPr lang="en-US" dirty="0"/>
              <a:t>#include &lt;</a:t>
            </a:r>
            <a:r>
              <a:rPr lang="en-US" dirty="0" err="1"/>
              <a:t>stdint.h</a:t>
            </a:r>
            <a:r>
              <a:rPr lang="en-US" dirty="0"/>
              <a:t>&gt;</a:t>
            </a:r>
          </a:p>
          <a:p>
            <a:pPr marL="0" indent="0">
              <a:buNone/>
            </a:pPr>
            <a:endParaRPr lang="en-US" dirty="0"/>
          </a:p>
          <a:p>
            <a:pPr marL="0" indent="0">
              <a:buNone/>
            </a:pPr>
            <a:r>
              <a:rPr lang="en-US" dirty="0"/>
              <a:t>uint32_t </a:t>
            </a:r>
            <a:r>
              <a:rPr lang="en-US" dirty="0" err="1"/>
              <a:t>fact_iter</a:t>
            </a:r>
            <a:r>
              <a:rPr lang="en-US" dirty="0"/>
              <a:t>(uint32_t n) {</a:t>
            </a:r>
          </a:p>
          <a:p>
            <a:pPr marL="0" indent="0">
              <a:buNone/>
            </a:pPr>
            <a:r>
              <a:rPr lang="en-US" dirty="0"/>
              <a:t>    uint32_t acc = 1;</a:t>
            </a:r>
          </a:p>
          <a:p>
            <a:pPr marL="0" indent="0">
              <a:buNone/>
            </a:pPr>
            <a:r>
              <a:rPr lang="en-US" dirty="0"/>
              <a:t>    if (n &lt;= 1) {</a:t>
            </a:r>
          </a:p>
          <a:p>
            <a:pPr marL="0" indent="0">
              <a:buNone/>
            </a:pPr>
            <a:r>
              <a:rPr lang="en-US" dirty="0"/>
              <a:t>        return 1;</a:t>
            </a:r>
          </a:p>
          <a:p>
            <a:pPr marL="0" indent="0">
              <a:buNone/>
            </a:pPr>
            <a:r>
              <a:rPr lang="en-US" dirty="0"/>
              <a:t>    }</a:t>
            </a:r>
          </a:p>
          <a:p>
            <a:pPr marL="0" indent="0">
              <a:buNone/>
            </a:pPr>
            <a:r>
              <a:rPr lang="en-US" dirty="0"/>
              <a:t>    while (n &gt; 1) {</a:t>
            </a:r>
          </a:p>
          <a:p>
            <a:pPr marL="0" indent="0">
              <a:buNone/>
            </a:pPr>
            <a:r>
              <a:rPr lang="en-US" dirty="0"/>
              <a:t>        acc *= n;</a:t>
            </a:r>
          </a:p>
          <a:p>
            <a:pPr marL="0" indent="0">
              <a:buNone/>
            </a:pPr>
            <a:r>
              <a:rPr lang="en-US" dirty="0"/>
              <a:t>        n -= 1;</a:t>
            </a:r>
          </a:p>
          <a:p>
            <a:pPr marL="0" indent="0">
              <a:buNone/>
            </a:pPr>
            <a:r>
              <a:rPr lang="en-US" dirty="0"/>
              <a:t>    }</a:t>
            </a:r>
          </a:p>
          <a:p>
            <a:pPr marL="0" indent="0">
              <a:buNone/>
            </a:pPr>
            <a:r>
              <a:rPr lang="en-US" dirty="0"/>
              <a:t>    return acc;</a:t>
            </a:r>
          </a:p>
          <a:p>
            <a:pPr marL="0" indent="0">
              <a:buNone/>
            </a:pPr>
            <a:r>
              <a:rPr lang="en-US" dirty="0"/>
              <a:t>}</a:t>
            </a:r>
          </a:p>
        </p:txBody>
      </p:sp>
    </p:spTree>
    <p:extLst>
      <p:ext uri="{BB962C8B-B14F-4D97-AF65-F5344CB8AC3E}">
        <p14:creationId xmlns:p14="http://schemas.microsoft.com/office/powerpoint/2010/main" val="2707139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26404-63EE-CB5A-481A-AD6B0B09C23D}"/>
              </a:ext>
            </a:extLst>
          </p:cNvPr>
          <p:cNvSpPr>
            <a:spLocks noGrp="1"/>
          </p:cNvSpPr>
          <p:nvPr>
            <p:ph type="title"/>
          </p:nvPr>
        </p:nvSpPr>
        <p:spPr/>
        <p:txBody>
          <a:bodyPr/>
          <a:lstStyle/>
          <a:p>
            <a:r>
              <a:rPr lang="en-US" dirty="0"/>
              <a:t>Factorial</a:t>
            </a:r>
          </a:p>
        </p:txBody>
      </p:sp>
      <p:sp>
        <p:nvSpPr>
          <p:cNvPr id="3" name="Slide Number Placeholder 2">
            <a:extLst>
              <a:ext uri="{FF2B5EF4-FFF2-40B4-BE49-F238E27FC236}">
                <a16:creationId xmlns:a16="http://schemas.microsoft.com/office/drawing/2014/main" id="{923D6100-04EF-AD50-41F7-0624A60BB679}"/>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4" name="Content Placeholder 3">
            <a:extLst>
              <a:ext uri="{FF2B5EF4-FFF2-40B4-BE49-F238E27FC236}">
                <a16:creationId xmlns:a16="http://schemas.microsoft.com/office/drawing/2014/main" id="{C2EFFC15-913C-F5C8-F67E-5B2B5295992D}"/>
              </a:ext>
            </a:extLst>
          </p:cNvPr>
          <p:cNvSpPr>
            <a:spLocks noGrp="1"/>
          </p:cNvSpPr>
          <p:nvPr>
            <p:ph sz="quarter" idx="1"/>
          </p:nvPr>
        </p:nvSpPr>
        <p:spPr>
          <a:xfrm>
            <a:off x="228600" y="1219200"/>
            <a:ext cx="3886200" cy="4572000"/>
          </a:xfrm>
          <a:ln>
            <a:solidFill>
              <a:schemeClr val="tx1"/>
            </a:solidFill>
          </a:ln>
        </p:spPr>
        <p:txBody>
          <a:bodyPr>
            <a:normAutofit fontScale="55000" lnSpcReduction="20000"/>
          </a:bodyPr>
          <a:lstStyle/>
          <a:p>
            <a:pPr marL="0" indent="0">
              <a:buNone/>
            </a:pPr>
            <a:r>
              <a:rPr lang="en-US" dirty="0"/>
              <a:t>@ uint32_t </a:t>
            </a:r>
            <a:r>
              <a:rPr lang="en-US" dirty="0" err="1"/>
              <a:t>fact_iter</a:t>
            </a:r>
            <a:r>
              <a:rPr lang="en-US" dirty="0"/>
              <a:t>(uint32_t n); iterative version</a:t>
            </a:r>
          </a:p>
          <a:p>
            <a:pPr marL="0" indent="0">
              <a:buNone/>
            </a:pPr>
            <a:r>
              <a:rPr lang="en-US" dirty="0"/>
              <a:t>@ r0 = n, returns r0 = n!</a:t>
            </a:r>
          </a:p>
          <a:p>
            <a:pPr marL="0" indent="0">
              <a:buNone/>
            </a:pPr>
            <a:r>
              <a:rPr lang="en-US" dirty="0"/>
              <a:t>    .global </a:t>
            </a:r>
            <a:r>
              <a:rPr lang="en-US" dirty="0" err="1"/>
              <a:t>fact_iter</a:t>
            </a:r>
            <a:endParaRPr lang="en-US" dirty="0"/>
          </a:p>
          <a:p>
            <a:pPr marL="0" indent="0">
              <a:buNone/>
            </a:pPr>
            <a:r>
              <a:rPr lang="en-US" dirty="0" err="1"/>
              <a:t>fact_iter</a:t>
            </a:r>
            <a:r>
              <a:rPr lang="en-US" dirty="0"/>
              <a:t>:</a:t>
            </a:r>
          </a:p>
          <a:p>
            <a:pPr marL="0" indent="0">
              <a:buNone/>
            </a:pPr>
            <a:r>
              <a:rPr lang="en-US" dirty="0"/>
              <a:t>    PUSH    {r4, </a:t>
            </a:r>
            <a:r>
              <a:rPr lang="en-US" dirty="0" err="1"/>
              <a:t>lr</a:t>
            </a:r>
            <a:r>
              <a:rPr lang="en-US" dirty="0"/>
              <a:t>}        @ save callee-saved we’ll use and return </a:t>
            </a:r>
            <a:r>
              <a:rPr lang="en-US" dirty="0" err="1"/>
              <a:t>addr</a:t>
            </a:r>
            <a:endParaRPr lang="en-US" dirty="0"/>
          </a:p>
          <a:p>
            <a:pPr marL="0" indent="0">
              <a:buNone/>
            </a:pPr>
            <a:r>
              <a:rPr lang="en-US" dirty="0"/>
              <a:t>    MOV    r1, r0          @ r1 = n (loop counter)</a:t>
            </a:r>
          </a:p>
          <a:p>
            <a:pPr marL="0" indent="0">
              <a:buNone/>
            </a:pPr>
            <a:r>
              <a:rPr lang="en-US" dirty="0"/>
              <a:t>    MOV    r0, #1         @ r0 = acc = 1</a:t>
            </a:r>
          </a:p>
          <a:p>
            <a:pPr marL="0" indent="0">
              <a:buNone/>
            </a:pPr>
            <a:r>
              <a:rPr lang="en-US" dirty="0"/>
              <a:t>    CMP     r1, #1</a:t>
            </a:r>
          </a:p>
          <a:p>
            <a:pPr marL="0" indent="0">
              <a:buNone/>
            </a:pPr>
            <a:r>
              <a:rPr lang="en-US" dirty="0"/>
              <a:t>    BLS     .</a:t>
            </a:r>
            <a:r>
              <a:rPr lang="en-US" dirty="0" err="1"/>
              <a:t>Ldone_iter</a:t>
            </a:r>
            <a:r>
              <a:rPr lang="en-US" dirty="0"/>
              <a:t>       @ if n &lt;= 1, return 1</a:t>
            </a:r>
          </a:p>
          <a:p>
            <a:pPr marL="0" indent="0">
              <a:buNone/>
            </a:pPr>
            <a:r>
              <a:rPr lang="en-US" dirty="0"/>
              <a:t>                                      @(unsigned compare)</a:t>
            </a:r>
          </a:p>
          <a:p>
            <a:pPr marL="0" indent="0">
              <a:buNone/>
            </a:pPr>
            <a:r>
              <a:rPr lang="en-US" dirty="0"/>
              <a:t>.</a:t>
            </a:r>
            <a:r>
              <a:rPr lang="en-US" dirty="0" err="1"/>
              <a:t>Lloop_iter</a:t>
            </a:r>
            <a:r>
              <a:rPr lang="en-US" dirty="0"/>
              <a:t>:</a:t>
            </a:r>
          </a:p>
          <a:p>
            <a:pPr marL="0" indent="0">
              <a:buNone/>
            </a:pPr>
            <a:r>
              <a:rPr lang="en-US" dirty="0"/>
              <a:t>    @ TODO</a:t>
            </a:r>
          </a:p>
          <a:p>
            <a:pPr marL="0" indent="0">
              <a:buNone/>
            </a:pPr>
            <a:r>
              <a:rPr lang="en-US" dirty="0"/>
              <a:t>.</a:t>
            </a:r>
            <a:r>
              <a:rPr lang="en-US" dirty="0" err="1"/>
              <a:t>Ldone_iter</a:t>
            </a:r>
            <a:r>
              <a:rPr lang="en-US" dirty="0"/>
              <a:t>:</a:t>
            </a:r>
          </a:p>
          <a:p>
            <a:pPr marL="0" indent="0">
              <a:buNone/>
            </a:pPr>
            <a:r>
              <a:rPr lang="en-US" dirty="0"/>
              <a:t>    POP     {r4, </a:t>
            </a:r>
            <a:r>
              <a:rPr lang="en-US" dirty="0" err="1"/>
              <a:t>lr</a:t>
            </a:r>
            <a:r>
              <a:rPr lang="en-US" dirty="0"/>
              <a:t>}</a:t>
            </a:r>
          </a:p>
          <a:p>
            <a:pPr marL="0" indent="0">
              <a:buNone/>
            </a:pPr>
            <a:r>
              <a:rPr lang="en-US" dirty="0"/>
              <a:t>    BX      </a:t>
            </a:r>
            <a:r>
              <a:rPr lang="en-US" dirty="0" err="1"/>
              <a:t>lr</a:t>
            </a:r>
            <a:endParaRPr lang="en-US" dirty="0"/>
          </a:p>
        </p:txBody>
      </p:sp>
      <p:sp>
        <p:nvSpPr>
          <p:cNvPr id="5" name="Content Placeholder 3">
            <a:extLst>
              <a:ext uri="{FF2B5EF4-FFF2-40B4-BE49-F238E27FC236}">
                <a16:creationId xmlns:a16="http://schemas.microsoft.com/office/drawing/2014/main" id="{B60DE175-89CF-1980-2FF5-09D118299DF7}"/>
              </a:ext>
            </a:extLst>
          </p:cNvPr>
          <p:cNvSpPr txBox="1">
            <a:spLocks/>
          </p:cNvSpPr>
          <p:nvPr/>
        </p:nvSpPr>
        <p:spPr>
          <a:xfrm>
            <a:off x="4267200" y="1219200"/>
            <a:ext cx="4800600" cy="5334000"/>
          </a:xfrm>
          <a:prstGeom prst="rect">
            <a:avLst/>
          </a:prstGeom>
          <a:ln>
            <a:solidFill>
              <a:schemeClr val="tx1"/>
            </a:solidFill>
          </a:ln>
        </p:spPr>
        <p:txBody>
          <a:bodyPr vert="horz">
            <a:normAutofit fontScale="4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 uint32_t factorial(uint32_t n); Recursive version</a:t>
            </a:r>
          </a:p>
          <a:p>
            <a:pPr marL="0" indent="0">
              <a:buNone/>
            </a:pPr>
            <a:r>
              <a:rPr lang="en-US" dirty="0"/>
              <a:t>@ r0: n</a:t>
            </a:r>
          </a:p>
          <a:p>
            <a:pPr marL="0" indent="0">
              <a:buNone/>
            </a:pPr>
            <a:r>
              <a:rPr lang="en-US" dirty="0"/>
              <a:t>@ returns r0: n!</a:t>
            </a:r>
          </a:p>
          <a:p>
            <a:pPr marL="0" indent="0">
              <a:buNone/>
            </a:pPr>
            <a:endParaRPr lang="en-US" dirty="0"/>
          </a:p>
          <a:p>
            <a:pPr marL="0" indent="0">
              <a:buNone/>
            </a:pPr>
            <a:r>
              <a:rPr lang="en-US" dirty="0"/>
              <a:t>factorial:</a:t>
            </a:r>
          </a:p>
          <a:p>
            <a:pPr marL="0" indent="0">
              <a:buNone/>
            </a:pPr>
            <a:r>
              <a:rPr lang="en-US" dirty="0"/>
              <a:t>    CMP     r0, #1            @ if (n &lt;= 1) ...</a:t>
            </a:r>
          </a:p>
          <a:p>
            <a:pPr marL="0" indent="0">
              <a:buNone/>
            </a:pPr>
            <a:r>
              <a:rPr lang="en-US" dirty="0"/>
              <a:t>    BLS     </a:t>
            </a:r>
            <a:r>
              <a:rPr lang="en-US" dirty="0" err="1"/>
              <a:t>base_case</a:t>
            </a:r>
            <a:r>
              <a:rPr lang="en-US" dirty="0"/>
              <a:t>         @    ... return 1</a:t>
            </a:r>
          </a:p>
          <a:p>
            <a:pPr marL="0" indent="0">
              <a:buNone/>
            </a:pPr>
            <a:endParaRPr lang="en-US" dirty="0"/>
          </a:p>
          <a:p>
            <a:pPr marL="0" indent="0">
              <a:buNone/>
            </a:pPr>
            <a:r>
              <a:rPr lang="en-US" dirty="0"/>
              <a:t>    PUSH    {</a:t>
            </a:r>
            <a:r>
              <a:rPr lang="en-US" dirty="0" err="1"/>
              <a:t>lr</a:t>
            </a:r>
            <a:r>
              <a:rPr lang="en-US" dirty="0"/>
              <a:t>}              @ save return address for this frame</a:t>
            </a:r>
          </a:p>
          <a:p>
            <a:pPr marL="0" indent="0">
              <a:buNone/>
            </a:pPr>
            <a:r>
              <a:rPr lang="en-US" dirty="0"/>
              <a:t>    PUSH    {r0}              @ save current n on stack (we'll need it after the recursive call)</a:t>
            </a:r>
          </a:p>
          <a:p>
            <a:pPr marL="0" indent="0">
              <a:buNone/>
            </a:pPr>
            <a:endParaRPr lang="en-US" dirty="0"/>
          </a:p>
          <a:p>
            <a:pPr marL="0" indent="0">
              <a:buNone/>
            </a:pPr>
            <a:r>
              <a:rPr lang="en-US" dirty="0"/>
              <a:t>    SUB     r0, r0, #1        @ r0 = n - 1 (argument for recursive call)</a:t>
            </a:r>
          </a:p>
          <a:p>
            <a:pPr marL="0" indent="0">
              <a:buNone/>
            </a:pPr>
            <a:r>
              <a:rPr lang="en-US" dirty="0"/>
              <a:t>    BL      factorial         @ r0 = factorial(n - 1)</a:t>
            </a:r>
          </a:p>
          <a:p>
            <a:pPr marL="0" indent="0">
              <a:buNone/>
            </a:pPr>
            <a:endParaRPr lang="en-US" dirty="0"/>
          </a:p>
          <a:p>
            <a:pPr marL="0" indent="0">
              <a:buNone/>
            </a:pPr>
            <a:r>
              <a:rPr lang="en-US" dirty="0"/>
              <a:t>    POP     {r1}              @ r1 = saved n (restore caller's n)</a:t>
            </a:r>
          </a:p>
          <a:p>
            <a:pPr marL="0" indent="0">
              <a:buNone/>
            </a:pPr>
            <a:r>
              <a:rPr lang="en-US" dirty="0"/>
              <a:t>    MUL     r0, r0, r1        @ r0 = factorial(n - 1) * n</a:t>
            </a:r>
          </a:p>
          <a:p>
            <a:pPr marL="0" indent="0">
              <a:buNone/>
            </a:pPr>
            <a:endParaRPr lang="en-US" dirty="0"/>
          </a:p>
          <a:p>
            <a:pPr marL="0" indent="0">
              <a:buNone/>
            </a:pPr>
            <a:r>
              <a:rPr lang="en-US" dirty="0"/>
              <a:t>    POP     {</a:t>
            </a:r>
            <a:r>
              <a:rPr lang="en-US" dirty="0" err="1"/>
              <a:t>lr</a:t>
            </a:r>
            <a:r>
              <a:rPr lang="en-US" dirty="0"/>
              <a:t>}              @ restore return address</a:t>
            </a:r>
          </a:p>
          <a:p>
            <a:pPr marL="0" indent="0">
              <a:buNone/>
            </a:pPr>
            <a:r>
              <a:rPr lang="en-US" dirty="0"/>
              <a:t>    BX      </a:t>
            </a:r>
            <a:r>
              <a:rPr lang="en-US" dirty="0" err="1"/>
              <a:t>lr</a:t>
            </a:r>
            <a:r>
              <a:rPr lang="en-US" dirty="0"/>
              <a:t>                @ return with result in r0</a:t>
            </a:r>
          </a:p>
          <a:p>
            <a:pPr marL="0" indent="0">
              <a:buNone/>
            </a:pPr>
            <a:endParaRPr lang="en-US" dirty="0"/>
          </a:p>
          <a:p>
            <a:pPr marL="0" indent="0">
              <a:buNone/>
            </a:pPr>
            <a:r>
              <a:rPr lang="en-US" dirty="0" err="1"/>
              <a:t>base_case</a:t>
            </a:r>
            <a:r>
              <a:rPr lang="en-US" dirty="0"/>
              <a:t>:</a:t>
            </a:r>
          </a:p>
          <a:p>
            <a:pPr marL="0" indent="0">
              <a:buNone/>
            </a:pPr>
            <a:r>
              <a:rPr lang="en-US" dirty="0"/>
              <a:t>    @ TODO</a:t>
            </a:r>
          </a:p>
        </p:txBody>
      </p:sp>
    </p:spTree>
    <p:extLst>
      <p:ext uri="{BB962C8B-B14F-4D97-AF65-F5344CB8AC3E}">
        <p14:creationId xmlns:p14="http://schemas.microsoft.com/office/powerpoint/2010/main" val="4056115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5D616-A64C-1463-B27C-39D6A32E0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345B3-FBD4-2D39-F1EB-5F9D94C74C8C}"/>
              </a:ext>
            </a:extLst>
          </p:cNvPr>
          <p:cNvSpPr>
            <a:spLocks noGrp="1"/>
          </p:cNvSpPr>
          <p:nvPr>
            <p:ph type="title"/>
          </p:nvPr>
        </p:nvSpPr>
        <p:spPr/>
        <p:txBody>
          <a:bodyPr/>
          <a:lstStyle/>
          <a:p>
            <a:r>
              <a:rPr lang="en-US" dirty="0"/>
              <a:t>Factorial ANS</a:t>
            </a:r>
          </a:p>
        </p:txBody>
      </p:sp>
      <p:sp>
        <p:nvSpPr>
          <p:cNvPr id="3" name="Slide Number Placeholder 2">
            <a:extLst>
              <a:ext uri="{FF2B5EF4-FFF2-40B4-BE49-F238E27FC236}">
                <a16:creationId xmlns:a16="http://schemas.microsoft.com/office/drawing/2014/main" id="{1A312DDF-3C1F-06F9-1E69-7636875AE65C}"/>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3149164B-AC7F-262E-85D3-203B21C2369A}"/>
              </a:ext>
            </a:extLst>
          </p:cNvPr>
          <p:cNvSpPr>
            <a:spLocks noGrp="1"/>
          </p:cNvSpPr>
          <p:nvPr>
            <p:ph sz="quarter" idx="1"/>
          </p:nvPr>
        </p:nvSpPr>
        <p:spPr>
          <a:xfrm>
            <a:off x="152400" y="1219199"/>
            <a:ext cx="3962400" cy="4800601"/>
          </a:xfrm>
          <a:ln>
            <a:solidFill>
              <a:schemeClr val="tx1"/>
            </a:solidFill>
          </a:ln>
        </p:spPr>
        <p:txBody>
          <a:bodyPr>
            <a:normAutofit fontScale="55000" lnSpcReduction="20000"/>
          </a:bodyPr>
          <a:lstStyle/>
          <a:p>
            <a:pPr marL="0" indent="0">
              <a:buNone/>
            </a:pPr>
            <a:r>
              <a:rPr lang="en-US" dirty="0"/>
              <a:t> @ uint32_t </a:t>
            </a:r>
            <a:r>
              <a:rPr lang="en-US" dirty="0" err="1"/>
              <a:t>fact_iter</a:t>
            </a:r>
            <a:r>
              <a:rPr lang="en-US" dirty="0"/>
              <a:t>(uint32_t n); iterative version</a:t>
            </a:r>
          </a:p>
          <a:p>
            <a:pPr marL="0" indent="0">
              <a:buNone/>
            </a:pPr>
            <a:r>
              <a:rPr lang="en-US" dirty="0"/>
              <a:t> @ r0 = n, returns r0 = n!</a:t>
            </a:r>
          </a:p>
          <a:p>
            <a:pPr marL="0" indent="0">
              <a:buNone/>
            </a:pPr>
            <a:r>
              <a:rPr lang="en-US" dirty="0"/>
              <a:t>    .global </a:t>
            </a:r>
            <a:r>
              <a:rPr lang="en-US" dirty="0" err="1"/>
              <a:t>fact_iter</a:t>
            </a:r>
            <a:endParaRPr lang="en-US" dirty="0"/>
          </a:p>
          <a:p>
            <a:pPr marL="0" indent="0">
              <a:buNone/>
            </a:pPr>
            <a:r>
              <a:rPr lang="en-US" dirty="0" err="1"/>
              <a:t>fact_iter</a:t>
            </a:r>
            <a:r>
              <a:rPr lang="en-US" dirty="0"/>
              <a:t>:</a:t>
            </a:r>
          </a:p>
          <a:p>
            <a:pPr marL="0" indent="0">
              <a:buNone/>
            </a:pPr>
            <a:r>
              <a:rPr lang="en-US" dirty="0"/>
              <a:t>    PUSH    {r4, </a:t>
            </a:r>
            <a:r>
              <a:rPr lang="en-US" dirty="0" err="1"/>
              <a:t>lr</a:t>
            </a:r>
            <a:r>
              <a:rPr lang="en-US" dirty="0"/>
              <a:t>}          @ save callee-saved we’ll use and return </a:t>
            </a:r>
            <a:r>
              <a:rPr lang="en-US" dirty="0" err="1"/>
              <a:t>addr</a:t>
            </a:r>
            <a:endParaRPr lang="en-US" dirty="0"/>
          </a:p>
          <a:p>
            <a:pPr marL="0" indent="0">
              <a:buNone/>
            </a:pPr>
            <a:r>
              <a:rPr lang="en-US" dirty="0"/>
              <a:t>    MOV    r1, r0          @ r1 = n (loop counter)</a:t>
            </a:r>
          </a:p>
          <a:p>
            <a:pPr marL="0" indent="0">
              <a:buNone/>
            </a:pPr>
            <a:r>
              <a:rPr lang="en-US" dirty="0"/>
              <a:t>    MOV    r0, #1         @ r0 = acc = 1</a:t>
            </a:r>
          </a:p>
          <a:p>
            <a:pPr marL="0" indent="0">
              <a:buNone/>
            </a:pPr>
            <a:r>
              <a:rPr lang="en-US" dirty="0"/>
              <a:t>    CMP     r1, #1</a:t>
            </a:r>
          </a:p>
          <a:p>
            <a:pPr marL="0" indent="0">
              <a:buNone/>
            </a:pPr>
            <a:r>
              <a:rPr lang="en-US" dirty="0"/>
              <a:t>    BLS     .</a:t>
            </a:r>
            <a:r>
              <a:rPr lang="en-US" dirty="0" err="1"/>
              <a:t>Ldone_iter</a:t>
            </a:r>
            <a:r>
              <a:rPr lang="en-US" dirty="0"/>
              <a:t>       @ if n &lt;= 1, return 1</a:t>
            </a:r>
          </a:p>
          <a:p>
            <a:pPr marL="0" indent="0">
              <a:buNone/>
            </a:pPr>
            <a:r>
              <a:rPr lang="en-US" dirty="0"/>
              <a:t>                                      @ (unsigned compare)</a:t>
            </a:r>
          </a:p>
          <a:p>
            <a:pPr marL="0" indent="0">
              <a:buNone/>
            </a:pPr>
            <a:r>
              <a:rPr lang="en-US" dirty="0"/>
              <a:t>.</a:t>
            </a:r>
            <a:r>
              <a:rPr lang="en-US" dirty="0" err="1"/>
              <a:t>Lloop_iter</a:t>
            </a:r>
            <a:r>
              <a:rPr lang="en-US" dirty="0"/>
              <a:t>:</a:t>
            </a:r>
          </a:p>
          <a:p>
            <a:pPr marL="0" indent="0">
              <a:buNone/>
            </a:pPr>
            <a:r>
              <a:rPr lang="en-US" dirty="0"/>
              <a:t>    MUL     r0, r0, r1        @ acc *= </a:t>
            </a:r>
            <a:r>
              <a:rPr lang="en-US" dirty="0" err="1"/>
              <a:t>i</a:t>
            </a:r>
            <a:endParaRPr lang="en-US" dirty="0"/>
          </a:p>
          <a:p>
            <a:pPr marL="0" indent="0">
              <a:buNone/>
            </a:pPr>
            <a:r>
              <a:rPr lang="en-US" dirty="0"/>
              <a:t>    SUBS    r1, r1, #1        @ </a:t>
            </a:r>
            <a:r>
              <a:rPr lang="en-US" dirty="0" err="1"/>
              <a:t>i</a:t>
            </a:r>
            <a:r>
              <a:rPr lang="en-US" dirty="0"/>
              <a:t>--</a:t>
            </a:r>
          </a:p>
          <a:p>
            <a:pPr marL="0" indent="0">
              <a:buNone/>
            </a:pPr>
            <a:r>
              <a:rPr lang="en-US" dirty="0"/>
              <a:t>    BHI     .</a:t>
            </a:r>
            <a:r>
              <a:rPr lang="en-US" dirty="0" err="1"/>
              <a:t>Lloop_iter</a:t>
            </a:r>
            <a:r>
              <a:rPr lang="en-US" dirty="0"/>
              <a:t>       @ continue while </a:t>
            </a:r>
            <a:r>
              <a:rPr lang="en-US" dirty="0" err="1"/>
              <a:t>i</a:t>
            </a:r>
            <a:r>
              <a:rPr lang="en-US" dirty="0"/>
              <a:t> &gt; 1</a:t>
            </a:r>
          </a:p>
          <a:p>
            <a:pPr marL="0" indent="0">
              <a:buNone/>
            </a:pPr>
            <a:r>
              <a:rPr lang="en-US" dirty="0"/>
              <a:t>                                      @ (unsigned compare)</a:t>
            </a:r>
          </a:p>
          <a:p>
            <a:pPr marL="0" indent="0">
              <a:buNone/>
            </a:pPr>
            <a:r>
              <a:rPr lang="en-US" dirty="0"/>
              <a:t>.</a:t>
            </a:r>
            <a:r>
              <a:rPr lang="en-US" dirty="0" err="1"/>
              <a:t>Ldone_iter</a:t>
            </a:r>
            <a:r>
              <a:rPr lang="en-US" dirty="0"/>
              <a:t>:</a:t>
            </a:r>
          </a:p>
          <a:p>
            <a:pPr marL="0" indent="0">
              <a:buNone/>
            </a:pPr>
            <a:r>
              <a:rPr lang="en-US" dirty="0"/>
              <a:t>    POP     {r4, </a:t>
            </a:r>
            <a:r>
              <a:rPr lang="en-US" dirty="0" err="1"/>
              <a:t>lr</a:t>
            </a:r>
            <a:r>
              <a:rPr lang="en-US" dirty="0"/>
              <a:t>}</a:t>
            </a:r>
          </a:p>
          <a:p>
            <a:pPr marL="0" indent="0">
              <a:buNone/>
            </a:pPr>
            <a:r>
              <a:rPr lang="en-US" dirty="0"/>
              <a:t>    BX      </a:t>
            </a:r>
            <a:r>
              <a:rPr lang="en-US" dirty="0" err="1"/>
              <a:t>lr</a:t>
            </a:r>
            <a:endParaRPr lang="en-US" dirty="0"/>
          </a:p>
        </p:txBody>
      </p:sp>
      <p:sp>
        <p:nvSpPr>
          <p:cNvPr id="5" name="Content Placeholder 3">
            <a:extLst>
              <a:ext uri="{FF2B5EF4-FFF2-40B4-BE49-F238E27FC236}">
                <a16:creationId xmlns:a16="http://schemas.microsoft.com/office/drawing/2014/main" id="{B0B60CED-9D05-2D49-66A9-FB9AB6E901FB}"/>
              </a:ext>
            </a:extLst>
          </p:cNvPr>
          <p:cNvSpPr txBox="1">
            <a:spLocks/>
          </p:cNvSpPr>
          <p:nvPr/>
        </p:nvSpPr>
        <p:spPr>
          <a:xfrm>
            <a:off x="4267200" y="1219200"/>
            <a:ext cx="4800600" cy="5334000"/>
          </a:xfrm>
          <a:prstGeom prst="rect">
            <a:avLst/>
          </a:prstGeom>
          <a:ln>
            <a:solidFill>
              <a:schemeClr val="tx1"/>
            </a:solidFill>
          </a:ln>
        </p:spPr>
        <p:txBody>
          <a:bodyPr vert="horz">
            <a:normAutofit fontScale="47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t> @ uint32_t factorial(uint32_t n); Recursive version</a:t>
            </a:r>
          </a:p>
          <a:p>
            <a:pPr marL="0" indent="0">
              <a:buNone/>
            </a:pPr>
            <a:r>
              <a:rPr lang="en-US" dirty="0"/>
              <a:t>    @ r0: n</a:t>
            </a:r>
          </a:p>
          <a:p>
            <a:pPr marL="0" indent="0">
              <a:buNone/>
            </a:pPr>
            <a:r>
              <a:rPr lang="en-US" dirty="0"/>
              <a:t>    @ returns r0: n!</a:t>
            </a:r>
          </a:p>
          <a:p>
            <a:pPr marL="0" indent="0">
              <a:buNone/>
            </a:pPr>
            <a:endParaRPr lang="en-US" dirty="0"/>
          </a:p>
          <a:p>
            <a:pPr marL="0" indent="0">
              <a:buNone/>
            </a:pPr>
            <a:r>
              <a:rPr lang="en-US" dirty="0"/>
              <a:t>factorial:</a:t>
            </a:r>
          </a:p>
          <a:p>
            <a:pPr marL="0" indent="0">
              <a:buNone/>
            </a:pPr>
            <a:r>
              <a:rPr lang="en-US" dirty="0"/>
              <a:t>    CMP     r0, #1            @ if (n &lt;= 1) ...</a:t>
            </a:r>
          </a:p>
          <a:p>
            <a:pPr marL="0" indent="0">
              <a:buNone/>
            </a:pPr>
            <a:r>
              <a:rPr lang="en-US" dirty="0"/>
              <a:t>    BL</a:t>
            </a:r>
            <a:r>
              <a:rPr lang="en-US" altLang="zh-CN" dirty="0"/>
              <a:t>S</a:t>
            </a:r>
            <a:r>
              <a:rPr lang="en-US" dirty="0"/>
              <a:t>     </a:t>
            </a:r>
            <a:r>
              <a:rPr lang="en-US" dirty="0" err="1"/>
              <a:t>base_case</a:t>
            </a:r>
            <a:r>
              <a:rPr lang="en-US" dirty="0"/>
              <a:t>         @    ... return 1</a:t>
            </a:r>
          </a:p>
          <a:p>
            <a:pPr marL="0" indent="0">
              <a:buNone/>
            </a:pPr>
            <a:endParaRPr lang="en-US" dirty="0"/>
          </a:p>
          <a:p>
            <a:pPr marL="0" indent="0">
              <a:buNone/>
            </a:pPr>
            <a:r>
              <a:rPr lang="en-US" dirty="0"/>
              <a:t>    PUSH    {</a:t>
            </a:r>
            <a:r>
              <a:rPr lang="en-US" dirty="0" err="1"/>
              <a:t>lr</a:t>
            </a:r>
            <a:r>
              <a:rPr lang="en-US" dirty="0"/>
              <a:t>}              @ save return address for this frame</a:t>
            </a:r>
          </a:p>
          <a:p>
            <a:pPr marL="0" indent="0">
              <a:buNone/>
            </a:pPr>
            <a:r>
              <a:rPr lang="en-US" dirty="0"/>
              <a:t>    PUSH    {r0}             @ save current n on stack (we'll need it after the recursive call)</a:t>
            </a:r>
          </a:p>
          <a:p>
            <a:pPr marL="0" indent="0">
              <a:buNone/>
            </a:pPr>
            <a:endParaRPr lang="en-US" dirty="0"/>
          </a:p>
          <a:p>
            <a:pPr marL="0" indent="0">
              <a:buNone/>
            </a:pPr>
            <a:r>
              <a:rPr lang="en-US" dirty="0"/>
              <a:t>    SUB     r0, r0, #1        @ r0 = n - 1 (argument for recursive call)</a:t>
            </a:r>
          </a:p>
          <a:p>
            <a:pPr marL="0" indent="0">
              <a:buNone/>
            </a:pPr>
            <a:r>
              <a:rPr lang="en-US" dirty="0"/>
              <a:t>    BL      factorial          @ r0 = factorial(n - 1)</a:t>
            </a:r>
          </a:p>
          <a:p>
            <a:pPr marL="0" indent="0">
              <a:buNone/>
            </a:pPr>
            <a:endParaRPr lang="en-US" dirty="0"/>
          </a:p>
          <a:p>
            <a:pPr marL="0" indent="0">
              <a:buNone/>
            </a:pPr>
            <a:r>
              <a:rPr lang="en-US" dirty="0"/>
              <a:t>    POP     {r1}               @ r1 = saved n (restore caller's n)</a:t>
            </a:r>
          </a:p>
          <a:p>
            <a:pPr marL="0" indent="0">
              <a:buNone/>
            </a:pPr>
            <a:r>
              <a:rPr lang="en-US" dirty="0"/>
              <a:t>    MUL     r0, r0, r1        @ r0 = factorial(n - 1) * n</a:t>
            </a:r>
          </a:p>
          <a:p>
            <a:pPr marL="0" indent="0">
              <a:buNone/>
            </a:pPr>
            <a:endParaRPr lang="en-US" dirty="0"/>
          </a:p>
          <a:p>
            <a:pPr marL="0" indent="0">
              <a:buNone/>
            </a:pPr>
            <a:r>
              <a:rPr lang="en-US" dirty="0"/>
              <a:t>    POP     {</a:t>
            </a:r>
            <a:r>
              <a:rPr lang="en-US" dirty="0" err="1"/>
              <a:t>lr</a:t>
            </a:r>
            <a:r>
              <a:rPr lang="en-US" dirty="0"/>
              <a:t>}              @ restore return address</a:t>
            </a:r>
          </a:p>
          <a:p>
            <a:pPr marL="0" indent="0">
              <a:buNone/>
            </a:pPr>
            <a:r>
              <a:rPr lang="en-US" dirty="0"/>
              <a:t>    BX      </a:t>
            </a:r>
            <a:r>
              <a:rPr lang="en-US" dirty="0" err="1"/>
              <a:t>lr</a:t>
            </a:r>
            <a:r>
              <a:rPr lang="en-US" dirty="0"/>
              <a:t>                 @ return with result in r0</a:t>
            </a:r>
          </a:p>
          <a:p>
            <a:pPr marL="0" indent="0">
              <a:buNone/>
            </a:pPr>
            <a:endParaRPr lang="en-US" dirty="0"/>
          </a:p>
          <a:p>
            <a:pPr marL="0" indent="0">
              <a:buNone/>
            </a:pPr>
            <a:r>
              <a:rPr lang="en-US" dirty="0" err="1"/>
              <a:t>base_case</a:t>
            </a:r>
            <a:r>
              <a:rPr lang="en-US" dirty="0"/>
              <a:t>:</a:t>
            </a:r>
          </a:p>
          <a:p>
            <a:pPr marL="0" indent="0">
              <a:buNone/>
            </a:pPr>
            <a:r>
              <a:rPr lang="en-US" dirty="0"/>
              <a:t>    MOV     r0, #1            @ factorial(n) = 1 for n &lt;= 1</a:t>
            </a:r>
          </a:p>
          <a:p>
            <a:pPr marL="0" indent="0">
              <a:buNone/>
            </a:pPr>
            <a:r>
              <a:rPr lang="en-US" dirty="0"/>
              <a:t>    BX      </a:t>
            </a:r>
            <a:r>
              <a:rPr lang="en-US" dirty="0" err="1"/>
              <a:t>lr</a:t>
            </a:r>
            <a:r>
              <a:rPr lang="en-US" dirty="0"/>
              <a:t>                @ return</a:t>
            </a:r>
          </a:p>
        </p:txBody>
      </p:sp>
      <p:sp>
        <p:nvSpPr>
          <p:cNvPr id="6" name="TextBox 5">
            <a:extLst>
              <a:ext uri="{FF2B5EF4-FFF2-40B4-BE49-F238E27FC236}">
                <a16:creationId xmlns:a16="http://schemas.microsoft.com/office/drawing/2014/main" id="{FA97F22B-CBD2-A76E-66A6-7632B8BDAF8F}"/>
              </a:ext>
            </a:extLst>
          </p:cNvPr>
          <p:cNvSpPr txBox="1"/>
          <p:nvPr/>
        </p:nvSpPr>
        <p:spPr>
          <a:xfrm>
            <a:off x="98323" y="5845277"/>
            <a:ext cx="4124632"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400" dirty="0"/>
              <a:t>POP is used here because the function previously </a:t>
            </a:r>
            <a:r>
              <a:rPr lang="en-US" sz="1400" dirty="0" err="1"/>
              <a:t>PUSHed</a:t>
            </a:r>
            <a:r>
              <a:rPr lang="en-US" sz="1400" dirty="0"/>
              <a:t> registers that must be </a:t>
            </a:r>
            <a:r>
              <a:rPr lang="en-US" sz="1400" b="1" dirty="0"/>
              <a:t>restored</a:t>
            </a:r>
            <a:r>
              <a:rPr lang="en-US" sz="1400" dirty="0"/>
              <a:t> before returning; POP both restores those registers and fixes the stack pointer in one instruction.</a:t>
            </a:r>
          </a:p>
        </p:txBody>
      </p:sp>
    </p:spTree>
    <p:extLst>
      <p:ext uri="{BB962C8B-B14F-4D97-AF65-F5344CB8AC3E}">
        <p14:creationId xmlns:p14="http://schemas.microsoft.com/office/powerpoint/2010/main" val="3049968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a:bodyPr>
          <a:lstStyle/>
          <a:p>
            <a:r>
              <a:rPr lang="en-US" dirty="0"/>
              <a:t>What is wrong?</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34</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457200" y="2006188"/>
            <a:ext cx="3752950"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latin typeface="Consolas" panose="020B0609020204030204" pitchFamily="49" charset="0"/>
                <a:cs typeface="Consolas" panose="020B0609020204030204" pitchFamily="49" charset="0"/>
              </a:rPr>
              <a:t>int16_t </a:t>
            </a:r>
            <a:r>
              <a:rPr lang="en-US" sz="1200" b="1" dirty="0" err="1">
                <a:solidFill>
                  <a:schemeClr val="accent1"/>
                </a:solidFill>
                <a:latin typeface="Consolas" panose="020B0609020204030204" pitchFamily="49" charset="0"/>
                <a:cs typeface="Consolas" panose="020B0609020204030204" pitchFamily="49" charset="0"/>
              </a:rPr>
              <a:t>sum_of_array</a:t>
            </a:r>
            <a:r>
              <a:rPr lang="en-US" sz="1200" dirty="0">
                <a:latin typeface="Consolas" panose="020B0609020204030204" pitchFamily="49" charset="0"/>
                <a:cs typeface="Consolas" panose="020B0609020204030204" pitchFamily="49" charset="0"/>
              </a:rPr>
              <a:t>(int16_t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uint32_t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int32_t sum = 0;</a:t>
            </a:r>
          </a:p>
          <a:p>
            <a:r>
              <a:rPr lang="en-US" sz="1200" dirty="0">
                <a:latin typeface="Consolas" panose="020B0609020204030204" pitchFamily="49" charset="0"/>
                <a:cs typeface="Consolas" panose="020B0609020204030204" pitchFamily="49" charset="0"/>
              </a:rPr>
              <a:t>    for(</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=0;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&lt;64;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 array size = 64</a:t>
            </a:r>
          </a:p>
          <a:p>
            <a:r>
              <a:rPr lang="en-US" sz="1200" dirty="0">
                <a:latin typeface="Consolas" panose="020B0609020204030204" pitchFamily="49" charset="0"/>
                <a:cs typeface="Consolas" panose="020B0609020204030204" pitchFamily="49" charset="0"/>
              </a:rPr>
              <a:t>        sum +=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return (int16_t) sum;</a:t>
            </a:r>
          </a:p>
          <a:p>
            <a:r>
              <a:rPr lang="en-US" sz="1200"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B2D23A4E-8569-6941-84A9-89F1C41E64AF}"/>
              </a:ext>
            </a:extLst>
          </p:cNvPr>
          <p:cNvSpPr txBox="1"/>
          <p:nvPr/>
        </p:nvSpPr>
        <p:spPr>
          <a:xfrm>
            <a:off x="4340418" y="2006187"/>
            <a:ext cx="4432624"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b="1" dirty="0" err="1">
                <a:solidFill>
                  <a:schemeClr val="accent1"/>
                </a:solidFill>
                <a:latin typeface="Consolas" panose="020B0609020204030204" pitchFamily="49" charset="0"/>
                <a:cs typeface="Consolas" panose="020B0609020204030204" pitchFamily="49" charset="0"/>
              </a:rPr>
              <a:t>sum_of_array</a:t>
            </a:r>
            <a:r>
              <a:rPr lang="en-US" sz="1200" b="1" dirty="0">
                <a:solidFill>
                  <a:schemeClr val="accent1"/>
                </a:solidFill>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PROC</a:t>
            </a:r>
          </a:p>
          <a:p>
            <a:r>
              <a:rPr lang="en-US" sz="1200" dirty="0">
                <a:latin typeface="Consolas" panose="020B0609020204030204" pitchFamily="49" charset="0"/>
                <a:cs typeface="Consolas" panose="020B0609020204030204" pitchFamily="49" charset="0"/>
              </a:rPr>
              <a:t>      MOV   r2, #0  </a:t>
            </a:r>
            <a:r>
              <a:rPr lang="en-US" sz="1200" dirty="0">
                <a:solidFill>
                  <a:schemeClr val="bg1">
                    <a:lumMod val="50000"/>
                  </a:schemeClr>
                </a:solidFill>
                <a:latin typeface="Consolas" panose="020B0609020204030204" pitchFamily="49" charset="0"/>
                <a:cs typeface="Consolas" panose="020B0609020204030204" pitchFamily="49" charset="0"/>
              </a:rPr>
              <a:t>; loop index</a:t>
            </a:r>
          </a:p>
          <a:p>
            <a:r>
              <a:rPr lang="en-US" sz="1200" dirty="0">
                <a:latin typeface="Consolas" panose="020B0609020204030204" pitchFamily="49" charset="0"/>
                <a:cs typeface="Consolas" panose="020B0609020204030204" pitchFamily="49" charset="0"/>
              </a:rPr>
              <a:t>      MOV   r3, #0  </a:t>
            </a:r>
            <a:r>
              <a:rPr lang="en-US" sz="1200" dirty="0">
                <a:solidFill>
                  <a:schemeClr val="bg1">
                    <a:lumMod val="50000"/>
                  </a:schemeClr>
                </a:solidFill>
                <a:latin typeface="Consolas" panose="020B0609020204030204" pitchFamily="49" charset="0"/>
                <a:cs typeface="Consolas" panose="020B0609020204030204" pitchFamily="49" charset="0"/>
              </a:rPr>
              <a:t>; sum </a:t>
            </a:r>
          </a:p>
          <a:p>
            <a:r>
              <a:rPr lang="en-US" sz="1200" dirty="0">
                <a:latin typeface="Consolas" panose="020B0609020204030204" pitchFamily="49" charset="0"/>
                <a:cs typeface="Consolas" panose="020B0609020204030204" pitchFamily="49" charset="0"/>
              </a:rPr>
              <a:t>      B     check</a:t>
            </a:r>
          </a:p>
          <a:p>
            <a:r>
              <a:rPr lang="en-US" sz="1200" dirty="0">
                <a:latin typeface="Consolas" panose="020B0609020204030204" pitchFamily="49" charset="0"/>
                <a:cs typeface="Consolas" panose="020B0609020204030204" pitchFamily="49" charset="0"/>
              </a:rPr>
              <a:t>loop  </a:t>
            </a:r>
            <a:r>
              <a:rPr lang="pt-BR" sz="1200" dirty="0">
                <a:latin typeface="Consolas" panose="020B0609020204030204" pitchFamily="49" charset="0"/>
                <a:cs typeface="Consolas" panose="020B0609020204030204" pitchFamily="49" charset="0"/>
              </a:rPr>
              <a:t>LDRSH r1, [r0, r2, LSL #1]</a:t>
            </a:r>
          </a:p>
          <a:p>
            <a:r>
              <a:rPr lang="en-US" sz="1200" dirty="0">
                <a:latin typeface="Consolas" panose="020B0609020204030204" pitchFamily="49" charset="0"/>
                <a:cs typeface="Consolas" panose="020B0609020204030204" pitchFamily="49" charset="0"/>
              </a:rPr>
              <a:t>      ADD   r3, r3, r1  </a:t>
            </a:r>
            <a:r>
              <a:rPr lang="en-US" sz="1200" dirty="0">
                <a:solidFill>
                  <a:schemeClr val="bg1">
                    <a:lumMod val="50000"/>
                  </a:schemeClr>
                </a:solidFill>
                <a:latin typeface="Consolas" panose="020B0609020204030204" pitchFamily="49" charset="0"/>
                <a:cs typeface="Consolas" panose="020B0609020204030204" pitchFamily="49" charset="0"/>
              </a:rPr>
              <a:t>; sum += </a:t>
            </a:r>
            <a:r>
              <a:rPr lang="en-US" sz="1200" dirty="0" err="1">
                <a:solidFill>
                  <a:schemeClr val="bg1">
                    <a:lumMod val="50000"/>
                  </a:schemeClr>
                </a:solidFill>
                <a:latin typeface="Consolas" panose="020B0609020204030204" pitchFamily="49" charset="0"/>
                <a:cs typeface="Consolas" panose="020B0609020204030204" pitchFamily="49" charset="0"/>
              </a:rPr>
              <a:t>pArray</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ADD   r2, r2, #1  </a:t>
            </a:r>
            <a:r>
              <a:rPr lang="en-US" sz="1200" dirty="0">
                <a:solidFill>
                  <a:schemeClr val="bg1">
                    <a:lumMod val="50000"/>
                  </a:schemeClr>
                </a:solidFill>
                <a:latin typeface="Consolas" panose="020B0609020204030204" pitchFamily="49" charset="0"/>
                <a:cs typeface="Consolas" panose="020B0609020204030204" pitchFamily="49" charset="0"/>
              </a:rPr>
              <a:t>; </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check CMP   r2, #64</a:t>
            </a:r>
          </a:p>
          <a:p>
            <a:r>
              <a:rPr lang="en-US" sz="1200" dirty="0">
                <a:latin typeface="Consolas" panose="020B0609020204030204" pitchFamily="49" charset="0"/>
                <a:cs typeface="Consolas" panose="020B0609020204030204" pitchFamily="49" charset="0"/>
              </a:rPr>
              <a:t>      BLO   loop        </a:t>
            </a:r>
            <a:r>
              <a:rPr lang="en-US" sz="1200" dirty="0">
                <a:solidFill>
                  <a:schemeClr val="bg1">
                    <a:lumMod val="50000"/>
                  </a:schemeClr>
                </a:solidFill>
                <a:latin typeface="Consolas" panose="020B0609020204030204" pitchFamily="49" charset="0"/>
                <a:cs typeface="Consolas" panose="020B0609020204030204" pitchFamily="49" charset="0"/>
              </a:rPr>
              <a:t>; branch if unsigned </a:t>
            </a:r>
            <a:r>
              <a:rPr lang="en-US" sz="1200" dirty="0" err="1">
                <a:solidFill>
                  <a:schemeClr val="bg1">
                    <a:lumMod val="50000"/>
                  </a:schemeClr>
                </a:solidFill>
                <a:latin typeface="Consolas" panose="020B0609020204030204" pitchFamily="49" charset="0"/>
                <a:cs typeface="Consolas" panose="020B0609020204030204" pitchFamily="49" charset="0"/>
              </a:rPr>
              <a:t>LOwer</a:t>
            </a:r>
            <a:endParaRPr lang="en-US" sz="1200" dirty="0">
              <a:solidFill>
                <a:schemeClr val="bg1">
                  <a:lumMod val="50000"/>
                </a:schemeClr>
              </a:solidFill>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MOV   r0, r3      </a:t>
            </a:r>
            <a:r>
              <a:rPr lang="en-US" sz="1200" dirty="0">
                <a:solidFill>
                  <a:schemeClr val="bg1">
                    <a:lumMod val="50000"/>
                  </a:schemeClr>
                </a:solidFill>
                <a:latin typeface="Consolas" panose="020B0609020204030204" pitchFamily="49" charset="0"/>
                <a:cs typeface="Consolas" panose="020B0609020204030204" pitchFamily="49" charset="0"/>
              </a:rPr>
              <a:t>; return result in r0</a:t>
            </a:r>
          </a:p>
          <a:p>
            <a:r>
              <a:rPr lang="en-US" sz="1200" dirty="0">
                <a:latin typeface="Consolas" panose="020B0609020204030204" pitchFamily="49" charset="0"/>
                <a:cs typeface="Consolas" panose="020B0609020204030204" pitchFamily="49" charset="0"/>
              </a:rPr>
              <a:t>      BX    </a:t>
            </a:r>
            <a:r>
              <a:rPr lang="en-US" sz="1200" dirty="0" err="1">
                <a:latin typeface="Consolas" panose="020B0609020204030204" pitchFamily="49" charset="0"/>
                <a:cs typeface="Consolas" panose="020B0609020204030204" pitchFamily="49" charset="0"/>
              </a:rPr>
              <a:t>lr</a:t>
            </a:r>
            <a:endParaRPr lang="en-US" sz="1200" dirty="0">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017314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1483-7081-C44C-81EF-D92F00104765}"/>
              </a:ext>
            </a:extLst>
          </p:cNvPr>
          <p:cNvSpPr>
            <a:spLocks noGrp="1"/>
          </p:cNvSpPr>
          <p:nvPr>
            <p:ph type="title"/>
          </p:nvPr>
        </p:nvSpPr>
        <p:spPr/>
        <p:txBody>
          <a:bodyPr>
            <a:normAutofit/>
          </a:bodyPr>
          <a:lstStyle/>
          <a:p>
            <a:r>
              <a:rPr lang="en-US" dirty="0"/>
              <a:t>What is wrong? ANS</a:t>
            </a:r>
          </a:p>
        </p:txBody>
      </p:sp>
      <p:sp>
        <p:nvSpPr>
          <p:cNvPr id="3" name="Slide Number Placeholder 2">
            <a:extLst>
              <a:ext uri="{FF2B5EF4-FFF2-40B4-BE49-F238E27FC236}">
                <a16:creationId xmlns:a16="http://schemas.microsoft.com/office/drawing/2014/main" id="{3D15817A-DD66-D447-B2D9-5646440481EB}"/>
              </a:ext>
            </a:extLst>
          </p:cNvPr>
          <p:cNvSpPr>
            <a:spLocks noGrp="1"/>
          </p:cNvSpPr>
          <p:nvPr>
            <p:ph type="sldNum" sz="quarter" idx="12"/>
          </p:nvPr>
        </p:nvSpPr>
        <p:spPr/>
        <p:txBody>
          <a:bodyPr/>
          <a:lstStyle/>
          <a:p>
            <a:fld id="{EA7C8D44-3667-46F6-9772-CC52308E2A7F}" type="slidenum">
              <a:rPr kumimoji="0" lang="en-US" smtClean="0"/>
              <a:pPr/>
              <a:t>35</a:t>
            </a:fld>
            <a:endParaRPr kumimoji="0" lang="en-US" dirty="0"/>
          </a:p>
        </p:txBody>
      </p:sp>
      <p:sp>
        <p:nvSpPr>
          <p:cNvPr id="5" name="TextBox 4">
            <a:extLst>
              <a:ext uri="{FF2B5EF4-FFF2-40B4-BE49-F238E27FC236}">
                <a16:creationId xmlns:a16="http://schemas.microsoft.com/office/drawing/2014/main" id="{67609315-49B9-8548-BA54-379B42B31ADB}"/>
              </a:ext>
            </a:extLst>
          </p:cNvPr>
          <p:cNvSpPr txBox="1"/>
          <p:nvPr/>
        </p:nvSpPr>
        <p:spPr>
          <a:xfrm>
            <a:off x="370958" y="1295401"/>
            <a:ext cx="3752950"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latin typeface="Consolas" panose="020B0609020204030204" pitchFamily="49" charset="0"/>
                <a:cs typeface="Consolas" panose="020B0609020204030204" pitchFamily="49" charset="0"/>
              </a:rPr>
              <a:t>int16_t </a:t>
            </a:r>
            <a:r>
              <a:rPr lang="en-US" sz="1200" b="1" dirty="0" err="1">
                <a:solidFill>
                  <a:schemeClr val="accent1"/>
                </a:solidFill>
                <a:latin typeface="Consolas" panose="020B0609020204030204" pitchFamily="49" charset="0"/>
                <a:cs typeface="Consolas" panose="020B0609020204030204" pitchFamily="49" charset="0"/>
              </a:rPr>
              <a:t>sum_of_array</a:t>
            </a:r>
            <a:r>
              <a:rPr lang="en-US" sz="1200" dirty="0">
                <a:latin typeface="Consolas" panose="020B0609020204030204" pitchFamily="49" charset="0"/>
                <a:cs typeface="Consolas" panose="020B0609020204030204" pitchFamily="49" charset="0"/>
              </a:rPr>
              <a:t>(int16_t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uint32_t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int32_t sum = 0;</a:t>
            </a:r>
          </a:p>
          <a:p>
            <a:r>
              <a:rPr lang="en-US" sz="1200" dirty="0">
                <a:latin typeface="Consolas" panose="020B0609020204030204" pitchFamily="49" charset="0"/>
                <a:cs typeface="Consolas" panose="020B0609020204030204" pitchFamily="49" charset="0"/>
              </a:rPr>
              <a:t>    for(</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=0;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&lt;64; </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 array size = 64</a:t>
            </a:r>
          </a:p>
          <a:p>
            <a:r>
              <a:rPr lang="en-US" sz="1200" dirty="0">
                <a:latin typeface="Consolas" panose="020B0609020204030204" pitchFamily="49" charset="0"/>
                <a:cs typeface="Consolas" panose="020B0609020204030204" pitchFamily="49" charset="0"/>
              </a:rPr>
              <a:t>        sum += </a:t>
            </a:r>
            <a:r>
              <a:rPr lang="en-US" sz="1200" dirty="0" err="1">
                <a:latin typeface="Consolas" panose="020B0609020204030204" pitchFamily="49" charset="0"/>
                <a:cs typeface="Consolas" panose="020B0609020204030204" pitchFamily="49" charset="0"/>
              </a:rPr>
              <a:t>pArray</a:t>
            </a: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i</a:t>
            </a:r>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return (int16_t) sum;</a:t>
            </a:r>
          </a:p>
          <a:p>
            <a:r>
              <a:rPr lang="en-US" sz="1200"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4F4F6D7F-4E8E-4748-B8BF-4AEBF2493640}"/>
              </a:ext>
            </a:extLst>
          </p:cNvPr>
          <p:cNvSpPr txBox="1"/>
          <p:nvPr/>
        </p:nvSpPr>
        <p:spPr>
          <a:xfrm>
            <a:off x="4254176" y="1295400"/>
            <a:ext cx="4432624" cy="249299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b="1" dirty="0" err="1">
                <a:solidFill>
                  <a:schemeClr val="accent1"/>
                </a:solidFill>
                <a:latin typeface="Consolas" panose="020B0609020204030204" pitchFamily="49" charset="0"/>
                <a:cs typeface="Consolas" panose="020B0609020204030204" pitchFamily="49" charset="0"/>
              </a:rPr>
              <a:t>sum_of_array</a:t>
            </a:r>
            <a:r>
              <a:rPr lang="en-US" sz="1200" b="1" dirty="0">
                <a:solidFill>
                  <a:schemeClr val="accent1"/>
                </a:solidFill>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PROC</a:t>
            </a:r>
          </a:p>
          <a:p>
            <a:r>
              <a:rPr lang="en-US" sz="1200" dirty="0">
                <a:latin typeface="Consolas" panose="020B0609020204030204" pitchFamily="49" charset="0"/>
                <a:cs typeface="Consolas" panose="020B0609020204030204" pitchFamily="49" charset="0"/>
              </a:rPr>
              <a:t>      MOV   r2, #0  </a:t>
            </a:r>
            <a:r>
              <a:rPr lang="en-US" sz="1200" dirty="0">
                <a:solidFill>
                  <a:schemeClr val="bg1">
                    <a:lumMod val="50000"/>
                  </a:schemeClr>
                </a:solidFill>
                <a:latin typeface="Consolas" panose="020B0609020204030204" pitchFamily="49" charset="0"/>
                <a:cs typeface="Consolas" panose="020B0609020204030204" pitchFamily="49" charset="0"/>
              </a:rPr>
              <a:t>; loop index</a:t>
            </a:r>
          </a:p>
          <a:p>
            <a:r>
              <a:rPr lang="en-US" sz="1200" dirty="0">
                <a:latin typeface="Consolas" panose="020B0609020204030204" pitchFamily="49" charset="0"/>
                <a:cs typeface="Consolas" panose="020B0609020204030204" pitchFamily="49" charset="0"/>
              </a:rPr>
              <a:t>      MOV   r3, #0  </a:t>
            </a:r>
            <a:r>
              <a:rPr lang="en-US" sz="1200" dirty="0">
                <a:solidFill>
                  <a:schemeClr val="bg1">
                    <a:lumMod val="50000"/>
                  </a:schemeClr>
                </a:solidFill>
                <a:latin typeface="Consolas" panose="020B0609020204030204" pitchFamily="49" charset="0"/>
                <a:cs typeface="Consolas" panose="020B0609020204030204" pitchFamily="49" charset="0"/>
              </a:rPr>
              <a:t>; sum </a:t>
            </a:r>
          </a:p>
          <a:p>
            <a:r>
              <a:rPr lang="en-US" sz="1200" dirty="0">
                <a:latin typeface="Consolas" panose="020B0609020204030204" pitchFamily="49" charset="0"/>
                <a:cs typeface="Consolas" panose="020B0609020204030204" pitchFamily="49" charset="0"/>
              </a:rPr>
              <a:t>      B     check</a:t>
            </a:r>
          </a:p>
          <a:p>
            <a:r>
              <a:rPr lang="en-US" sz="1200" dirty="0">
                <a:latin typeface="Consolas" panose="020B0609020204030204" pitchFamily="49" charset="0"/>
                <a:cs typeface="Consolas" panose="020B0609020204030204" pitchFamily="49" charset="0"/>
              </a:rPr>
              <a:t>loop  </a:t>
            </a:r>
            <a:r>
              <a:rPr lang="pt-BR" sz="1200" dirty="0">
                <a:latin typeface="Consolas" panose="020B0609020204030204" pitchFamily="49" charset="0"/>
                <a:cs typeface="Consolas" panose="020B0609020204030204" pitchFamily="49" charset="0"/>
              </a:rPr>
              <a:t>LDRSH r1, [r0, r2, LSL #1]</a:t>
            </a:r>
          </a:p>
          <a:p>
            <a:r>
              <a:rPr lang="en-US" sz="1200" dirty="0">
                <a:latin typeface="Consolas" panose="020B0609020204030204" pitchFamily="49" charset="0"/>
                <a:cs typeface="Consolas" panose="020B0609020204030204" pitchFamily="49" charset="0"/>
              </a:rPr>
              <a:t>      ADD   r3, r3, r1  </a:t>
            </a:r>
            <a:r>
              <a:rPr lang="en-US" sz="1200" dirty="0">
                <a:solidFill>
                  <a:schemeClr val="bg1">
                    <a:lumMod val="50000"/>
                  </a:schemeClr>
                </a:solidFill>
                <a:latin typeface="Consolas" panose="020B0609020204030204" pitchFamily="49" charset="0"/>
                <a:cs typeface="Consolas" panose="020B0609020204030204" pitchFamily="49" charset="0"/>
              </a:rPr>
              <a:t>; sum += </a:t>
            </a:r>
            <a:r>
              <a:rPr lang="en-US" sz="1200" dirty="0" err="1">
                <a:solidFill>
                  <a:schemeClr val="bg1">
                    <a:lumMod val="50000"/>
                  </a:schemeClr>
                </a:solidFill>
                <a:latin typeface="Consolas" panose="020B0609020204030204" pitchFamily="49" charset="0"/>
                <a:cs typeface="Consolas" panose="020B0609020204030204" pitchFamily="49" charset="0"/>
              </a:rPr>
              <a:t>pArray</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ADD   r2, r2, #1  </a:t>
            </a:r>
            <a:r>
              <a:rPr lang="en-US" sz="1200" dirty="0">
                <a:solidFill>
                  <a:schemeClr val="bg1">
                    <a:lumMod val="50000"/>
                  </a:schemeClr>
                </a:solidFill>
                <a:latin typeface="Consolas" panose="020B0609020204030204" pitchFamily="49" charset="0"/>
                <a:cs typeface="Consolas" panose="020B0609020204030204" pitchFamily="49" charset="0"/>
              </a:rPr>
              <a:t>; </a:t>
            </a:r>
            <a:r>
              <a:rPr lang="en-US" sz="1200" dirty="0" err="1">
                <a:solidFill>
                  <a:schemeClr val="bg1">
                    <a:lumMod val="50000"/>
                  </a:schemeClr>
                </a:solidFill>
                <a:latin typeface="Consolas" panose="020B0609020204030204" pitchFamily="49" charset="0"/>
                <a:cs typeface="Consolas" panose="020B0609020204030204" pitchFamily="49" charset="0"/>
              </a:rPr>
              <a:t>i</a:t>
            </a:r>
            <a:r>
              <a:rPr lang="en-US" sz="1200" dirty="0">
                <a:solidFill>
                  <a:schemeClr val="bg1">
                    <a:lumMod val="50000"/>
                  </a:schemeClr>
                </a:solidFill>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check CMP   r2, #64</a:t>
            </a:r>
          </a:p>
          <a:p>
            <a:r>
              <a:rPr lang="en-US" sz="1200" dirty="0">
                <a:latin typeface="Consolas" panose="020B0609020204030204" pitchFamily="49" charset="0"/>
                <a:cs typeface="Consolas" panose="020B0609020204030204" pitchFamily="49" charset="0"/>
              </a:rPr>
              <a:t>      BLO   loop        </a:t>
            </a:r>
            <a:r>
              <a:rPr lang="en-US" sz="1200" dirty="0">
                <a:solidFill>
                  <a:schemeClr val="bg1">
                    <a:lumMod val="50000"/>
                  </a:schemeClr>
                </a:solidFill>
                <a:latin typeface="Consolas" panose="020B0609020204030204" pitchFamily="49" charset="0"/>
                <a:cs typeface="Consolas" panose="020B0609020204030204" pitchFamily="49" charset="0"/>
              </a:rPr>
              <a:t>; branch if unsigned </a:t>
            </a:r>
            <a:r>
              <a:rPr lang="en-US" sz="1200" dirty="0" err="1">
                <a:solidFill>
                  <a:schemeClr val="bg1">
                    <a:lumMod val="50000"/>
                  </a:schemeClr>
                </a:solidFill>
                <a:latin typeface="Consolas" panose="020B0609020204030204" pitchFamily="49" charset="0"/>
                <a:cs typeface="Consolas" panose="020B0609020204030204" pitchFamily="49" charset="0"/>
              </a:rPr>
              <a:t>LOwer</a:t>
            </a:r>
            <a:endParaRPr lang="en-US" sz="1200" dirty="0">
              <a:solidFill>
                <a:schemeClr val="bg1">
                  <a:lumMod val="50000"/>
                </a:schemeClr>
              </a:solidFill>
              <a:latin typeface="Consolas" panose="020B0609020204030204" pitchFamily="49" charset="0"/>
              <a:cs typeface="Consolas" panose="020B0609020204030204" pitchFamily="49" charset="0"/>
            </a:endParaRPr>
          </a:p>
          <a:p>
            <a:r>
              <a:rPr lang="en-US" sz="1200" dirty="0">
                <a:solidFill>
                  <a:srgbClr val="C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MOV   r0, r3, LSL #16</a:t>
            </a:r>
          </a:p>
          <a:p>
            <a:r>
              <a:rPr lang="en-US" sz="1200" dirty="0">
                <a:solidFill>
                  <a:srgbClr val="C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MOV   r0, r0, ASR #16  </a:t>
            </a:r>
            <a:r>
              <a:rPr lang="en-US" sz="1200" dirty="0">
                <a:solidFill>
                  <a:srgbClr val="C00000"/>
                </a:solidFill>
                <a:latin typeface="Consolas" panose="020B0609020204030204" pitchFamily="49" charset="0"/>
                <a:cs typeface="Consolas" panose="020B0609020204030204" pitchFamily="49" charset="0"/>
              </a:rPr>
              <a:t>; r0 = (short) r3 </a:t>
            </a:r>
          </a:p>
          <a:p>
            <a:r>
              <a:rPr lang="en-US" sz="1200" dirty="0">
                <a:latin typeface="Consolas" panose="020B0609020204030204" pitchFamily="49" charset="0"/>
                <a:cs typeface="Consolas" panose="020B0609020204030204" pitchFamily="49" charset="0"/>
              </a:rPr>
              <a:t>      BX    </a:t>
            </a:r>
            <a:r>
              <a:rPr lang="en-US" sz="1200" dirty="0" err="1">
                <a:latin typeface="Consolas" panose="020B0609020204030204" pitchFamily="49" charset="0"/>
                <a:cs typeface="Consolas" panose="020B0609020204030204" pitchFamily="49" charset="0"/>
              </a:rPr>
              <a:t>lr</a:t>
            </a:r>
            <a:endParaRPr lang="en-US" sz="1200" dirty="0">
              <a:latin typeface="Consolas" panose="020B0609020204030204" pitchFamily="49" charset="0"/>
              <a:cs typeface="Consolas" panose="020B0609020204030204" pitchFamily="49" charset="0"/>
            </a:endParaRPr>
          </a:p>
          <a:p>
            <a:r>
              <a:rPr lang="en-US" sz="1200" dirty="0">
                <a:latin typeface="Consolas" panose="020B0609020204030204" pitchFamily="49" charset="0"/>
                <a:cs typeface="Consolas" panose="020B0609020204030204" pitchFamily="49" charset="0"/>
              </a:rPr>
              <a:t>      ENDP</a:t>
            </a:r>
          </a:p>
        </p:txBody>
      </p:sp>
      <p:sp>
        <p:nvSpPr>
          <p:cNvPr id="7" name="TextBox 6">
            <a:extLst>
              <a:ext uri="{FF2B5EF4-FFF2-40B4-BE49-F238E27FC236}">
                <a16:creationId xmlns:a16="http://schemas.microsoft.com/office/drawing/2014/main" id="{FFE75029-A370-C947-92AB-86784A3F88C0}"/>
              </a:ext>
            </a:extLst>
          </p:cNvPr>
          <p:cNvSpPr txBox="1"/>
          <p:nvPr/>
        </p:nvSpPr>
        <p:spPr>
          <a:xfrm>
            <a:off x="990600" y="336448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0x12345678</a:t>
            </a:r>
          </a:p>
        </p:txBody>
      </p:sp>
      <p:cxnSp>
        <p:nvCxnSpPr>
          <p:cNvPr id="9" name="Straight Arrow Connector 8">
            <a:extLst>
              <a:ext uri="{FF2B5EF4-FFF2-40B4-BE49-F238E27FC236}">
                <a16:creationId xmlns:a16="http://schemas.microsoft.com/office/drawing/2014/main" id="{38C06581-F221-454A-B957-F8258EBDE837}"/>
              </a:ext>
            </a:extLst>
          </p:cNvPr>
          <p:cNvCxnSpPr/>
          <p:nvPr/>
        </p:nvCxnSpPr>
        <p:spPr>
          <a:xfrm>
            <a:off x="2190750" y="3502987"/>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80A862-E780-3041-A52F-CEC03FE2AA6F}"/>
              </a:ext>
            </a:extLst>
          </p:cNvPr>
          <p:cNvSpPr txBox="1"/>
          <p:nvPr/>
        </p:nvSpPr>
        <p:spPr>
          <a:xfrm>
            <a:off x="2587729" y="336448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0x00005678</a:t>
            </a:r>
          </a:p>
        </p:txBody>
      </p:sp>
      <p:sp>
        <p:nvSpPr>
          <p:cNvPr id="11" name="TextBox 10">
            <a:extLst>
              <a:ext uri="{FF2B5EF4-FFF2-40B4-BE49-F238E27FC236}">
                <a16:creationId xmlns:a16="http://schemas.microsoft.com/office/drawing/2014/main" id="{F73CED4B-2CEE-5847-B651-71C8F701F73C}"/>
              </a:ext>
            </a:extLst>
          </p:cNvPr>
          <p:cNvSpPr txBox="1"/>
          <p:nvPr/>
        </p:nvSpPr>
        <p:spPr>
          <a:xfrm>
            <a:off x="995095" y="375083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0x1234ABCD</a:t>
            </a:r>
          </a:p>
        </p:txBody>
      </p:sp>
      <p:cxnSp>
        <p:nvCxnSpPr>
          <p:cNvPr id="12" name="Straight Arrow Connector 11">
            <a:extLst>
              <a:ext uri="{FF2B5EF4-FFF2-40B4-BE49-F238E27FC236}">
                <a16:creationId xmlns:a16="http://schemas.microsoft.com/office/drawing/2014/main" id="{FD215319-D751-D24D-83E5-80D4E6FB9D69}"/>
              </a:ext>
            </a:extLst>
          </p:cNvPr>
          <p:cNvCxnSpPr/>
          <p:nvPr/>
        </p:nvCxnSpPr>
        <p:spPr>
          <a:xfrm>
            <a:off x="2195245" y="3889336"/>
            <a:ext cx="285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396BB7-6492-2C46-A6BE-EF731ECF740B}"/>
              </a:ext>
            </a:extLst>
          </p:cNvPr>
          <p:cNvSpPr txBox="1"/>
          <p:nvPr/>
        </p:nvSpPr>
        <p:spPr>
          <a:xfrm>
            <a:off x="2592224" y="3750837"/>
            <a:ext cx="1130438" cy="300082"/>
          </a:xfrm>
          <a:prstGeom prst="rect">
            <a:avLst/>
          </a:prstGeom>
          <a:noFill/>
        </p:spPr>
        <p:txBody>
          <a:bodyPr wrap="none" rtlCol="0">
            <a:spAutoFit/>
          </a:bodyPr>
          <a:lstStyle/>
          <a:p>
            <a:r>
              <a:rPr lang="en-US" sz="1350" dirty="0">
                <a:latin typeface="Consolas" panose="020B0609020204030204" pitchFamily="49" charset="0"/>
                <a:cs typeface="Consolas" panose="020B0609020204030204" pitchFamily="49" charset="0"/>
              </a:rPr>
              <a:t>0xFFFFABCD</a:t>
            </a:r>
          </a:p>
        </p:txBody>
      </p:sp>
      <p:sp>
        <p:nvSpPr>
          <p:cNvPr id="14" name="TextBox 13">
            <a:extLst>
              <a:ext uri="{FF2B5EF4-FFF2-40B4-BE49-F238E27FC236}">
                <a16:creationId xmlns:a16="http://schemas.microsoft.com/office/drawing/2014/main" id="{37AC389A-52DF-BA4B-B78C-31E43AB8F715}"/>
              </a:ext>
            </a:extLst>
          </p:cNvPr>
          <p:cNvSpPr txBox="1"/>
          <p:nvPr/>
        </p:nvSpPr>
        <p:spPr>
          <a:xfrm>
            <a:off x="990600" y="2775865"/>
            <a:ext cx="2454518" cy="507831"/>
          </a:xfrm>
          <a:prstGeom prst="rect">
            <a:avLst/>
          </a:prstGeom>
          <a:noFill/>
        </p:spPr>
        <p:txBody>
          <a:bodyPr wrap="none" rtlCol="0">
            <a:spAutoFit/>
          </a:bodyPr>
          <a:lstStyle/>
          <a:p>
            <a:r>
              <a:rPr lang="en-US" sz="1350" dirty="0">
                <a:solidFill>
                  <a:srgbClr val="C00000"/>
                </a:solidFill>
                <a:latin typeface="Consolas" panose="020B0609020204030204" pitchFamily="49" charset="0"/>
                <a:cs typeface="Consolas" panose="020B0609020204030204" pitchFamily="49" charset="0"/>
              </a:rPr>
              <a:t>int32_t x = 0x12345678;</a:t>
            </a:r>
          </a:p>
          <a:p>
            <a:r>
              <a:rPr lang="en-US" sz="1350" dirty="0">
                <a:solidFill>
                  <a:srgbClr val="C00000"/>
                </a:solidFill>
                <a:latin typeface="Consolas" panose="020B0609020204030204" pitchFamily="49" charset="0"/>
                <a:cs typeface="Consolas" panose="020B0609020204030204" pitchFamily="49" charset="0"/>
              </a:rPr>
              <a:t>int16_t y = (int16_t) x;</a:t>
            </a:r>
          </a:p>
        </p:txBody>
      </p:sp>
      <p:sp>
        <p:nvSpPr>
          <p:cNvPr id="8" name="Content Placeholder 3">
            <a:extLst>
              <a:ext uri="{FF2B5EF4-FFF2-40B4-BE49-F238E27FC236}">
                <a16:creationId xmlns:a16="http://schemas.microsoft.com/office/drawing/2014/main" id="{B310A4C8-2DBE-3062-F639-E120AE1AC4CB}"/>
              </a:ext>
            </a:extLst>
          </p:cNvPr>
          <p:cNvSpPr>
            <a:spLocks noGrp="1"/>
          </p:cNvSpPr>
          <p:nvPr>
            <p:ph sz="quarter" idx="1"/>
          </p:nvPr>
        </p:nvSpPr>
        <p:spPr>
          <a:xfrm>
            <a:off x="439479" y="4085114"/>
            <a:ext cx="8229600" cy="2432817"/>
          </a:xfrm>
        </p:spPr>
        <p:txBody>
          <a:bodyPr>
            <a:normAutofit fontScale="85000" lnSpcReduction="20000"/>
          </a:bodyPr>
          <a:lstStyle/>
          <a:p>
            <a:r>
              <a:rPr lang="en-US" dirty="0"/>
              <a:t>C function returns int16_t, but the assembly code puts the return in r0 as a 32-bit word, so that 16-bit value in r3 must be sign-extended to 32 bits before returning</a:t>
            </a:r>
          </a:p>
          <a:p>
            <a:pPr lvl="1"/>
            <a:r>
              <a:rPr lang="en-US" dirty="0"/>
              <a:t>While r3 is 32 bits, the meaningful 16-bit result is in r3[15:0]</a:t>
            </a:r>
          </a:p>
          <a:p>
            <a:pPr lvl="1"/>
            <a:r>
              <a:rPr lang="en-US" dirty="0"/>
              <a:t>r3[31:16] may contain carry-over bits and must be replaced by copies of the sign bit before returning. </a:t>
            </a:r>
          </a:p>
          <a:p>
            <a:pPr lvl="1"/>
            <a:r>
              <a:rPr lang="en-US" dirty="0"/>
              <a:t>Casting an int32_t to int16_t keeps only the low 16 bits and produces 32-bit sign-extended result in r0 (e.g. with SXTH)</a:t>
            </a:r>
          </a:p>
        </p:txBody>
      </p:sp>
    </p:spTree>
    <p:extLst>
      <p:ext uri="{BB962C8B-B14F-4D97-AF65-F5344CB8AC3E}">
        <p14:creationId xmlns:p14="http://schemas.microsoft.com/office/powerpoint/2010/main" val="658532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80E2F-C62E-EF54-5DBD-340196E1CA5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9ECF1D85-43EB-71B3-363D-9FF339EE4AA2}"/>
              </a:ext>
            </a:extLst>
          </p:cNvPr>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4" name="Content Placeholder 3">
            <a:extLst>
              <a:ext uri="{FF2B5EF4-FFF2-40B4-BE49-F238E27FC236}">
                <a16:creationId xmlns:a16="http://schemas.microsoft.com/office/drawing/2014/main" id="{E4F57FE1-A328-6D2A-AFB7-A6C1600FE210}"/>
              </a:ext>
            </a:extLst>
          </p:cNvPr>
          <p:cNvSpPr>
            <a:spLocks noGrp="1"/>
          </p:cNvSpPr>
          <p:nvPr>
            <p:ph sz="quarter" idx="1"/>
          </p:nvPr>
        </p:nvSpPr>
        <p:spPr>
          <a:xfrm>
            <a:off x="457200" y="1219200"/>
            <a:ext cx="8229600" cy="5334000"/>
          </a:xfrm>
        </p:spPr>
        <p:txBody>
          <a:bodyPr>
            <a:normAutofit fontScale="70000" lnSpcReduction="20000"/>
          </a:bodyPr>
          <a:lstStyle/>
          <a:p>
            <a:r>
              <a:rPr lang="en-US" dirty="0"/>
              <a:t>These two lines sign-extend the lower 16 bits of r3 into a full 32-bit value in r0.</a:t>
            </a:r>
          </a:p>
          <a:p>
            <a:r>
              <a:rPr lang="en-US" dirty="0"/>
              <a:t>MOV r0, r3, LSL #16</a:t>
            </a:r>
          </a:p>
          <a:p>
            <a:pPr lvl="1"/>
            <a:r>
              <a:rPr lang="en-US" dirty="0"/>
              <a:t>Shifts the value in r3 left by 16 bits.</a:t>
            </a:r>
          </a:p>
          <a:p>
            <a:pPr lvl="1"/>
            <a:r>
              <a:rPr lang="en-US" dirty="0"/>
              <a:t>The lower 16 bits of r3 (the part we care about) move up into the upper 16 bits of r0.</a:t>
            </a:r>
          </a:p>
          <a:p>
            <a:pPr lvl="1"/>
            <a:r>
              <a:rPr lang="en-US" dirty="0"/>
              <a:t>The bottom 16 bits of r0 become 0.</a:t>
            </a:r>
          </a:p>
          <a:p>
            <a:r>
              <a:rPr lang="en-US" dirty="0"/>
              <a:t>MOV r0, r0, ASR #16</a:t>
            </a:r>
          </a:p>
          <a:p>
            <a:pPr lvl="1"/>
            <a:r>
              <a:rPr lang="en-US" dirty="0"/>
              <a:t>Shifts the value right by 16 bits, but preserves the sign (arithmetic shift).</a:t>
            </a:r>
          </a:p>
          <a:p>
            <a:pPr lvl="1"/>
            <a:r>
              <a:rPr lang="en-US" dirty="0"/>
              <a:t>That means if bit 31 (the sign bit after the first shift) is 1, it fills with 1s; if 0, it fills with 0s.</a:t>
            </a:r>
          </a:p>
          <a:p>
            <a:pPr lvl="1"/>
            <a:r>
              <a:rPr lang="en-US" dirty="0"/>
              <a:t>The result is a sign-extended 16-bit value from the original lower half of r3.</a:t>
            </a:r>
          </a:p>
          <a:p>
            <a:r>
              <a:rPr lang="en-US" dirty="0"/>
              <a:t>Examples: </a:t>
            </a:r>
          </a:p>
          <a:p>
            <a:r>
              <a:rPr lang="en-US" dirty="0"/>
              <a:t>r3 = 0x00001234</a:t>
            </a:r>
          </a:p>
          <a:p>
            <a:pPr lvl="1"/>
            <a:r>
              <a:rPr lang="en-US" dirty="0"/>
              <a:t>LSL #16 → 0x12340000</a:t>
            </a:r>
          </a:p>
          <a:p>
            <a:pPr lvl="1"/>
            <a:r>
              <a:rPr lang="en-US" dirty="0"/>
              <a:t>ASR #16 → 0x00001234</a:t>
            </a:r>
          </a:p>
          <a:p>
            <a:r>
              <a:rPr lang="en-US" dirty="0"/>
              <a:t>r3 = 0x0000ABCD</a:t>
            </a:r>
          </a:p>
          <a:p>
            <a:pPr lvl="1"/>
            <a:r>
              <a:rPr lang="en-US" dirty="0"/>
              <a:t>LSL #16 → 0xABCD0000</a:t>
            </a:r>
          </a:p>
          <a:p>
            <a:pPr lvl="1"/>
            <a:r>
              <a:rPr lang="en-US" dirty="0"/>
              <a:t>ASR #16 → 0xFFFFABCD</a:t>
            </a:r>
          </a:p>
          <a:p>
            <a:r>
              <a:rPr lang="pt-BR" dirty="0"/>
              <a:t>Can be replaced with a single instruction:</a:t>
            </a:r>
          </a:p>
          <a:p>
            <a:pPr lvl="1"/>
            <a:r>
              <a:rPr lang="pt-BR" dirty="0"/>
              <a:t>SXTH  r0, r3   ; r0 = (int16_t) r3, sign-extend</a:t>
            </a:r>
          </a:p>
          <a:p>
            <a:pPr lvl="2"/>
            <a:r>
              <a:rPr lang="en-US" dirty="0"/>
              <a:t>Take the low 16 bits of r3, sign-extend them to 32 bits, and store the result in r0.</a:t>
            </a:r>
          </a:p>
        </p:txBody>
      </p:sp>
    </p:spTree>
    <p:extLst>
      <p:ext uri="{BB962C8B-B14F-4D97-AF65-F5344CB8AC3E}">
        <p14:creationId xmlns:p14="http://schemas.microsoft.com/office/powerpoint/2010/main" val="17578122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2506</TotalTime>
  <Words>5773</Words>
  <Application>Microsoft Office PowerPoint</Application>
  <PresentationFormat>On-screen Show (4:3)</PresentationFormat>
  <Paragraphs>926</Paragraphs>
  <Slides>36</Slides>
  <Notes>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36</vt:i4>
      </vt:variant>
    </vt:vector>
  </HeadingPairs>
  <TitlesOfParts>
    <vt:vector size="50" baseType="lpstr">
      <vt:lpstr>Bookman Old Style (Headings)</vt:lpstr>
      <vt:lpstr>Arial</vt:lpstr>
      <vt:lpstr>Bookman Old Style</vt:lpstr>
      <vt:lpstr>Calibri</vt:lpstr>
      <vt:lpstr>Cambria Math</vt:lpstr>
      <vt:lpstr>Consolas</vt:lpstr>
      <vt:lpstr>Courier New</vt:lpstr>
      <vt:lpstr>Gill Sans MT</vt:lpstr>
      <vt:lpstr>Segoe UI</vt:lpstr>
      <vt:lpstr>Times New Roman</vt:lpstr>
      <vt:lpstr>Wingdings</vt:lpstr>
      <vt:lpstr>Wingdings 3</vt:lpstr>
      <vt:lpstr>Origin</vt:lpstr>
      <vt:lpstr>1_Origin</vt:lpstr>
      <vt:lpstr>Z. Gu</vt:lpstr>
      <vt:lpstr>Stack</vt:lpstr>
      <vt:lpstr>Stack</vt:lpstr>
      <vt:lpstr>Stack</vt:lpstr>
      <vt:lpstr>Stack ANS</vt:lpstr>
      <vt:lpstr>Stack</vt:lpstr>
      <vt:lpstr>Stack ANS</vt:lpstr>
      <vt:lpstr>Stack</vt:lpstr>
      <vt:lpstr>Stack ANS</vt:lpstr>
      <vt:lpstr>Instructions for swapping R1 and R2</vt:lpstr>
      <vt:lpstr>Program Understanding</vt:lpstr>
      <vt:lpstr>Program Understanding ANS</vt:lpstr>
      <vt:lpstr>Passing arguments and Returning Value</vt:lpstr>
      <vt:lpstr>Passing arguments and Returning Value ANS</vt:lpstr>
      <vt:lpstr>Argument Passing</vt:lpstr>
      <vt:lpstr>Argument Passing ANS</vt:lpstr>
      <vt:lpstr>What’s wrong? Passing arguments and Returning Value</vt:lpstr>
      <vt:lpstr>What’s wrong? Passing arguments and Returning Value ANS</vt:lpstr>
      <vt:lpstr>What is Wrong?</vt:lpstr>
      <vt:lpstr>What is Wrong? ANS</vt:lpstr>
      <vt:lpstr>Program Understanding</vt:lpstr>
      <vt:lpstr>Program Understanding ANS</vt:lpstr>
      <vt:lpstr>toLower</vt:lpstr>
      <vt:lpstr>toLower ANS</vt:lpstr>
      <vt:lpstr>Program Understanding</vt:lpstr>
      <vt:lpstr>Program Understanding ANS</vt:lpstr>
      <vt:lpstr>Detailed Explanations</vt:lpstr>
      <vt:lpstr>Separator Page</vt:lpstr>
      <vt:lpstr>If Then Else</vt:lpstr>
      <vt:lpstr>If Then Else ANS</vt:lpstr>
      <vt:lpstr>Factorial</vt:lpstr>
      <vt:lpstr>Factorial</vt:lpstr>
      <vt:lpstr>Factorial ANS</vt:lpstr>
      <vt:lpstr>What is wrong?</vt:lpstr>
      <vt:lpstr>What is wrong? ANS</vt:lpstr>
      <vt:lpstr>Explanations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184</cp:revision>
  <cp:lastPrinted>2018-03-21T12:46:41Z</cp:lastPrinted>
  <dcterms:created xsi:type="dcterms:W3CDTF">2012-11-17T20:04:56Z</dcterms:created>
  <dcterms:modified xsi:type="dcterms:W3CDTF">2026-04-23T15:02:58Z</dcterms:modified>
</cp:coreProperties>
</file>