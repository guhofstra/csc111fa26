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69" r:id="rId2"/>
    <p:sldId id="257" r:id="rId3"/>
    <p:sldId id="258" r:id="rId4"/>
    <p:sldId id="259" r:id="rId5"/>
    <p:sldId id="270" r:id="rId6"/>
    <p:sldId id="271" r:id="rId7"/>
    <p:sldId id="261" r:id="rId8"/>
    <p:sldId id="264" r:id="rId9"/>
    <p:sldId id="266" r:id="rId10"/>
    <p:sldId id="268" r:id="rId11"/>
    <p:sldId id="262" r:id="rId12"/>
    <p:sldId id="265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82" autoAdjust="0"/>
  </p:normalViewPr>
  <p:slideViewPr>
    <p:cSldViewPr>
      <p:cViewPr varScale="1">
        <p:scale>
          <a:sx n="71" d="100"/>
          <a:sy n="71" d="100"/>
        </p:scale>
        <p:origin x="13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4-28T14:01:50.862" v="55" actId="1038"/>
      <pc:docMkLst>
        <pc:docMk/>
      </pc:docMkLst>
      <pc:sldChg chg="modSp mod">
        <pc:chgData name="Zonghua Gu" userId="9a7e1853e1951ef5" providerId="LiveId" clId="{CF1FAA12-072C-4ED5-BA76-0FFFAEFDB88A}" dt="2026-04-28T14:01:50.862" v="55" actId="1038"/>
        <pc:sldMkLst>
          <pc:docMk/>
          <pc:sldMk cId="3371855514" sldId="268"/>
        </pc:sldMkLst>
        <pc:spChg chg="mod">
          <ac:chgData name="Zonghua Gu" userId="9a7e1853e1951ef5" providerId="LiveId" clId="{CF1FAA12-072C-4ED5-BA76-0FFFAEFDB88A}" dt="2026-04-28T14:01:50.862" v="55" actId="1038"/>
          <ac:spMkLst>
            <pc:docMk/>
            <pc:sldMk cId="3371855514" sldId="268"/>
            <ac:spMk id="11" creationId="{1F66DCDC-260C-EA34-9282-5EF46AC1E57D}"/>
          </ac:spMkLst>
        </pc:spChg>
        <pc:picChg chg="mod">
          <ac:chgData name="Zonghua Gu" userId="9a7e1853e1951ef5" providerId="LiveId" clId="{CF1FAA12-072C-4ED5-BA76-0FFFAEFDB88A}" dt="2026-04-28T14:01:30.980" v="43" actId="1076"/>
          <ac:picMkLst>
            <pc:docMk/>
            <pc:sldMk cId="3371855514" sldId="268"/>
            <ac:picMk id="5" creationId="{4D38B958-46BB-9D65-5CFE-EF5010B12657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2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TST does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Operation: computes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𝑅𝑛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m:rPr>
                        <m:lit/>
                      </m:rP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&amp;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Operand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updates N and Z from the result; C is set from any shift applied to Operand2; V is unaffected. No registers are modified.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flag: set to 1 if the AND result is zero (i.e., none of the tested bits were set); cleared to 0 otherwise.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flag: copies bit 31 of the AND result (useful when testing sign or high bits).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flag: if Operand2 uses a shift (e.g., LSL #k), C becomes the last bit shifted out; if no shift, C is unchanged.’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NE means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 is the “not equal” condition code tied to the Zero flag Z being 0 after a prior flag-setting instruction like CMP, TST, ADDS, SUBS.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that prior operation’s result was zero, Z = 1 and NE fails; if the result was nonzero, Z = 0 and NE succeeds.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CMP r0, #5: NE is true when r0 ≠ 5 because the subtraction result wasn’t zero, so Z = 0.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TST r0, #0x80000000: NE is true when the tested bit(s) produce a nonzero AND, e.g., the sign bit is 1, so Z = 0.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TST does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Operation: computes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𝑅𝑛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"\&amp;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Operand2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updates N and Z from the result; C is set from any shift applied to Operand2; V is unaffected. No registers are modified.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flag: set to 1 if the AND result is zero (i.e., none of the tested bits were set); cleared to 0 otherwise.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flag: copies bit 31 of the AND result (useful when testing sign or high bits).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flag: if Operand2 uses a shift (e.g., LSL #k), C becomes the last bit shifted out; if no shift, C is unchanged.’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NE means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 is the “not equal” condition code tied to the Zero flag Z being 0 after a prior flag-setting instruction like CMP, TST, ADDS, SUBS.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that prior operation’s result was zero, Z = 1 and NE fails; if the result was nonzero, Z = 0 and NE succeeds.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CMP r0, #5: NE is true when r0 ≠ 5 because the subtraction result wasn’t zero, so Z = 0.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TST r0, #0x80000000: NE is true when the tested bit(s) produce a nonzero AND, e.g., the sign bit is 1, so Z = 0.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1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MLA R9, R2, R1, R5 → R9 = R5 + (R2 × R1).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 r0·r2 already filled r4:r5, adding r1·r2 to r5 correctly accumulates the 2^32 shift of that cross term without disturbing r4.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79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4/28/2026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4/28/2026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81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</a:t>
            </a:r>
            <a:r>
              <a:rPr lang="en-US" b="1" dirty="0" err="1">
                <a:latin typeface="Bookman Old Style (Headings)"/>
              </a:rPr>
              <a:t>M3</a:t>
            </a:r>
            <a:r>
              <a:rPr lang="en-US" b="1" dirty="0">
                <a:latin typeface="Bookman Old Style (Headings)"/>
              </a:rPr>
              <a:t>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97559" y="1872253"/>
            <a:ext cx="3415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9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64-bit Data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938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Addition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895600" y="3581400"/>
            <a:ext cx="7391400" cy="31089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Adding two 64-bit integers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00002222FFFFFFFF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0000044400000001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0x00002222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0x00000444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 A and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+ B[31:0], update Carry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C[63:32] = A[63:32] + B[63:32] + Carry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371601"/>
            <a:ext cx="3886200" cy="19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70528-BC53-C0A5-D452-682668CDC489}"/>
              </a:ext>
            </a:extLst>
          </p:cNvPr>
          <p:cNvSpPr txBox="1"/>
          <p:nvPr/>
        </p:nvSpPr>
        <p:spPr>
          <a:xfrm>
            <a:off x="7467600" y="98612"/>
            <a:ext cx="4610935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uses ADDS (add and update flags, including Carry) and ADC (add with carry) instructions to compute the 64-bit result across two 32-bit parts with carry propagation.</a:t>
            </a:r>
          </a:p>
        </p:txBody>
      </p:sp>
    </p:spTree>
    <p:extLst>
      <p:ext uri="{BB962C8B-B14F-4D97-AF65-F5344CB8AC3E}">
        <p14:creationId xmlns:p14="http://schemas.microsoft.com/office/powerpoint/2010/main" val="447900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Subtraction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3200400"/>
            <a:ext cx="7580616" cy="3505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Subtracting two 64-bit integers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00000002FFFFFFFF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0000000400000001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 xml:space="preserve">  ; Subtract B from A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- B[31:0], update Carry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 xml:space="preserve">; C[63:32] = A[63:32] - B[63:32] + Carry - 1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89" y="1295401"/>
            <a:ext cx="3581400" cy="180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FACEAE-2AD7-ACCE-CECA-DC82E80DF8FF}"/>
              </a:ext>
            </a:extLst>
          </p:cNvPr>
          <p:cNvSpPr txBox="1"/>
          <p:nvPr/>
        </p:nvSpPr>
        <p:spPr>
          <a:xfrm>
            <a:off x="7467600" y="78562"/>
            <a:ext cx="4610935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uses SUBS (subtract and update flags, including Carry) and SBC (subtract with carry) instructions with borrow (= not Carry) to handle the two-part subtraction.</a:t>
            </a:r>
          </a:p>
        </p:txBody>
      </p:sp>
    </p:spTree>
    <p:extLst>
      <p:ext uri="{BB962C8B-B14F-4D97-AF65-F5344CB8AC3E}">
        <p14:creationId xmlns:p14="http://schemas.microsoft.com/office/powerpoint/2010/main" val="23249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Counting Leading Zeroes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1539240"/>
            <a:ext cx="7696200" cy="4404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64-bit input data =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# of leading zero bits in the 64-bit 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upper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 leading zeroes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lower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#32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CLZEQ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32, then count leading zero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bits of the lower word</a:t>
            </a:r>
          </a:p>
          <a:p>
            <a:pPr marL="0" indent="0">
              <a:buNone/>
            </a:pP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ADDEQ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all bits of the upper word are zero,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        ; add the leading zeroes of the lower word</a:t>
            </a:r>
          </a:p>
        </p:txBody>
      </p:sp>
    </p:spTree>
    <p:extLst>
      <p:ext uri="{BB962C8B-B14F-4D97-AF65-F5344CB8AC3E}">
        <p14:creationId xmlns:p14="http://schemas.microsoft.com/office/powerpoint/2010/main" val="403710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185C-1F57-A7D0-C373-932269F2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64-bit Counting Leading Zeroes: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C736D-2977-4581-2FB1-C29A2DFC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2DBCF-749D-BC85-1FB3-2369244197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CLZ on the upper 32 bits: CLZ r2, r1; if r1 ≠ 0, r2 already equals the 64-bit leading-zero count since leading zeros must lie entirely in the upper half for a nonzero upper word.</a:t>
            </a:r>
          </a:p>
          <a:p>
            <a:r>
              <a:rPr lang="en-US" dirty="0"/>
              <a:t>Compare r2 with 32: CMP r2, #32; if equal, the upper word is zero, so count lower: CLZEQ r3, r0; then ADDEQ r2, r2, r3 to add the lower’s leading zeros for the total over 64 bits.</a:t>
            </a:r>
          </a:p>
          <a:p>
            <a:r>
              <a:rPr lang="en-US" dirty="0"/>
              <a:t>Edge cases:</a:t>
            </a:r>
          </a:p>
          <a:p>
            <a:pPr lvl="1"/>
            <a:r>
              <a:rPr lang="en-US" dirty="0"/>
              <a:t>If r1 ≠ 0, the lower word is ignored because the first 1-bit lies in the upper word, making r2 the final answer directly from CLZ r1.</a:t>
            </a:r>
          </a:p>
          <a:p>
            <a:pPr lvl="1"/>
            <a:r>
              <a:rPr lang="en-US" dirty="0"/>
              <a:t>If r1 = 0 and r0 ≠ 0, the total is 32 + CLZ(r0), as there are 32 leading zeros from the upper word plus those from the lower word until its first 1-bit.</a:t>
            </a:r>
          </a:p>
          <a:p>
            <a:pPr lvl="1"/>
            <a:r>
              <a:rPr lang="en-US" dirty="0"/>
              <a:t>If r1 = 0 and r0 = 0, the total is 64; the slide’s conditional path computes r2 = 32 + 32 = 64 via CLZ on both halves.</a:t>
            </a:r>
          </a:p>
        </p:txBody>
      </p:sp>
    </p:spTree>
    <p:extLst>
      <p:ext uri="{BB962C8B-B14F-4D97-AF65-F5344CB8AC3E}">
        <p14:creationId xmlns:p14="http://schemas.microsoft.com/office/powerpoint/2010/main" val="344667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Sign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54162"/>
            <a:ext cx="8229600" cy="20224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 of 64-bit 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 of 64-bit data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 r0, #0x80000000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Check the sign bit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LDRNE r1, =0xFFFFFFFF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MSB is 1, duplicate 1 in upper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LDREQ r1, =0x00000000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MSB is 0, duplicate 0 in upper word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F3C14-4D54-0031-95AB-451FB9954532}"/>
              </a:ext>
            </a:extLst>
          </p:cNvPr>
          <p:cNvSpPr txBox="1"/>
          <p:nvPr/>
        </p:nvSpPr>
        <p:spPr>
          <a:xfrm>
            <a:off x="1981200" y="3387763"/>
            <a:ext cx="8229600" cy="3139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TST (test) performs a bitwise AND between operands to test bits, updates condition flags (notably Z and N), and discards the result. This is effectively “ANDS without write-back,” used to check whether specific bits are set or clear before a conditional operation. </a:t>
            </a:r>
          </a:p>
          <a:p>
            <a:r>
              <a:rPr lang="en-US" dirty="0"/>
              <a:t>TST r0, #0x80000000 checks the sign bit of the low 32 bits by ANDing r0 with the mask and sets condition flags without storing a result. Z=0 implies MSB=1 (negative), Z=1 implies MSB=0 (non-negative).</a:t>
            </a:r>
          </a:p>
          <a:p>
            <a:r>
              <a:rPr lang="en-US" dirty="0"/>
              <a:t>LDRNE r1, =0xFFFFFFFF ; if Z=0, sign bit set MSB=1(result non-zero → NE), set upper 32 = all 1s</a:t>
            </a:r>
          </a:p>
          <a:p>
            <a:r>
              <a:rPr lang="en-US" dirty="0"/>
              <a:t>LDREQ r1, =0x00000000 ; if Z=1, sign bit clear MSB=0 (result zero → EQ),  set upper 32 = all 0s</a:t>
            </a:r>
          </a:p>
        </p:txBody>
      </p:sp>
    </p:spTree>
    <p:extLst>
      <p:ext uri="{BB962C8B-B14F-4D97-AF65-F5344CB8AC3E}">
        <p14:creationId xmlns:p14="http://schemas.microsoft.com/office/powerpoint/2010/main" val="125766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25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Logical Shift Left by 3</a:t>
            </a:r>
          </a:p>
        </p:txBody>
      </p:sp>
      <p:pic>
        <p:nvPicPr>
          <p:cNvPr id="7" name="Picture 6" descr="Diagram, timeline&#10;&#10;Description automatically generated">
            <a:extLst>
              <a:ext uri="{FF2B5EF4-FFF2-40B4-BE49-F238E27FC236}">
                <a16:creationId xmlns:a16="http://schemas.microsoft.com/office/drawing/2014/main" id="{EC09271D-7561-9293-019D-78DF750CDF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94" y="2209800"/>
            <a:ext cx="10603406" cy="30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/>
          </a:bodyPr>
          <a:lstStyle/>
          <a:p>
            <a:r>
              <a:rPr lang="en-US" sz="2000" dirty="0"/>
              <a:t>Write the assembly code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5283202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147912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r3, r0          	</a:t>
            </a:r>
            <a:r>
              <a:rPr lang="en-US" sz="2500" dirty="0">
                <a:latin typeface="Consolas" panose="020B0609020204030204" pitchFamily="49" charset="0"/>
              </a:rPr>
              <a:t>; Backup the lower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MOVS r1, r1, LSL #3  	</a:t>
            </a:r>
            <a:r>
              <a:rPr lang="en-US" sz="2500" dirty="0">
                <a:latin typeface="Consolas" panose="020B0609020204030204" pitchFamily="49" charset="0"/>
              </a:rPr>
              <a:t>; Shift left the upper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r0, r0, LSL #3  	</a:t>
            </a:r>
            <a:r>
              <a:rPr lang="en-US" sz="2500" dirty="0">
                <a:latin typeface="Consolas" panose="020B0609020204030204" pitchFamily="49" charset="0"/>
              </a:rPr>
              <a:t>; Shift left the lower word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ORR  r1, r1, r3, LSR #29   </a:t>
            </a:r>
            <a:r>
              <a:rPr lang="en-US" sz="2500" dirty="0">
                <a:latin typeface="Consolas" panose="020B0609020204030204" pitchFamily="49" charset="0"/>
              </a:rPr>
              <a:t>; upper |= lower &gt;&gt; (32 - 3)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4621375" y="1948926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 (R3, LSR #29)</a:t>
            </a:r>
          </a:p>
        </p:txBody>
      </p:sp>
    </p:spTree>
    <p:extLst>
      <p:ext uri="{BB962C8B-B14F-4D97-AF65-F5344CB8AC3E}">
        <p14:creationId xmlns:p14="http://schemas.microsoft.com/office/powerpoint/2010/main" val="337185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78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Logical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71600"/>
            <a:ext cx="7010400" cy="19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3B00B-1004-E202-E411-07D70B1B5B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5000" y="3563288"/>
            <a:ext cx="10972800" cy="27613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r3, r1              </a:t>
            </a:r>
            <a:r>
              <a:rPr lang="en-US" dirty="0">
                <a:latin typeface="Consolas" panose="020B0609020204030204" pitchFamily="49" charset="0"/>
              </a:rPr>
              <a:t>; Backup the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r1, r1, LSR #3      </a:t>
            </a:r>
            <a:r>
              <a:rPr lang="en-US" dirty="0">
                <a:latin typeface="Consolas" panose="020B0609020204030204" pitchFamily="49" charset="0"/>
              </a:rPr>
              <a:t>; Shift right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r0, r0, LSR #3      </a:t>
            </a:r>
            <a:r>
              <a:rPr lang="en-US" dirty="0">
                <a:latin typeface="Consolas" panose="020B0609020204030204" pitchFamily="49" charset="0"/>
              </a:rPr>
              <a:t>; Shift right lower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 xml:space="preserve">ORR r0, r0, r3, LSL #29  </a:t>
            </a:r>
            <a:r>
              <a:rPr lang="en-US" dirty="0">
                <a:latin typeface="Consolas" panose="020B0609020204030204" pitchFamily="49" charset="0"/>
              </a:rPr>
              <a:t>; lower |= upper &lt;&lt; (32 - 3)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30566-267C-93CA-7E5A-3D2B1076B92C}"/>
              </a:ext>
            </a:extLst>
          </p:cNvPr>
          <p:cNvSpPr txBox="1"/>
          <p:nvPr/>
        </p:nvSpPr>
        <p:spPr>
          <a:xfrm>
            <a:off x="56834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3C1AA-3E98-17B0-B56A-0D87A307675A}"/>
              </a:ext>
            </a:extLst>
          </p:cNvPr>
          <p:cNvSpPr txBox="1"/>
          <p:nvPr/>
        </p:nvSpPr>
        <p:spPr>
          <a:xfrm>
            <a:off x="24830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301B-CD63-74B4-1D7D-B98FCF028166}"/>
              </a:ext>
            </a:extLst>
          </p:cNvPr>
          <p:cNvSpPr txBox="1"/>
          <p:nvPr/>
        </p:nvSpPr>
        <p:spPr>
          <a:xfrm>
            <a:off x="5464490" y="311122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A8B67-4CC2-6901-2C44-577FDE9BF2FF}"/>
              </a:ext>
            </a:extLst>
          </p:cNvPr>
          <p:cNvSpPr txBox="1"/>
          <p:nvPr/>
        </p:nvSpPr>
        <p:spPr>
          <a:xfrm>
            <a:off x="2423793" y="311004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98459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Multiplication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06301" y="1152862"/>
            <a:ext cx="8229600" cy="212373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product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multiplier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× multiplicand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×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The last item exceeds 64 bits and thus it is ignored.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5E53C-60AD-25C3-58B1-487C352241E8}"/>
              </a:ext>
            </a:extLst>
          </p:cNvPr>
          <p:cNvSpPr txBox="1"/>
          <p:nvPr/>
        </p:nvSpPr>
        <p:spPr>
          <a:xfrm>
            <a:off x="1981199" y="3387762"/>
            <a:ext cx="8254701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UMULL r4, r5, r0, r2 computes the 64-bit product of the low words and places the low 32 bits in r4 and the high 32 bits in r5, establishing the initial 64-bit accumulator.</a:t>
            </a:r>
          </a:p>
          <a:p>
            <a:r>
              <a:rPr lang="en-US" dirty="0"/>
              <a:t>MLA Multiply Accumulate: MLA Rd, Rn, Rm, Ra computes </a:t>
            </a:r>
            <a:r>
              <a:rPr lang="da-DK" dirty="0"/>
              <a:t>Rd = (Ra + (Rn × Rm)) mod 2^32. </a:t>
            </a:r>
            <a:r>
              <a:rPr lang="en-US" dirty="0"/>
              <a:t>Only the least-significant 32 bits of the sum are written to Rd; any higher bits are discarded.</a:t>
            </a:r>
          </a:p>
          <a:p>
            <a:r>
              <a:rPr lang="en-US" dirty="0"/>
              <a:t>MLA r5, r1, r2 adds the cross term r1·r2 (which conceptually belongs at bit position 32) into the high half r5</a:t>
            </a:r>
          </a:p>
          <a:p>
            <a:r>
              <a:rPr lang="en-US" dirty="0"/>
              <a:t>MLA r5, r0, r3, r5 similarly adds the other cross term r0·r3 into r5, completing the contribution of both cross terms at the correct alignment; overflow beyond 32 bits of r5 is discarded, ignoring the 2^64·(r1·r3) part.</a:t>
            </a:r>
          </a:p>
        </p:txBody>
      </p:sp>
    </p:spTree>
    <p:extLst>
      <p:ext uri="{BB962C8B-B14F-4D97-AF65-F5344CB8AC3E}">
        <p14:creationId xmlns:p14="http://schemas.microsoft.com/office/powerpoint/2010/main" val="226668900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2475</TotalTime>
  <Words>1749</Words>
  <Application>Microsoft Office PowerPoint</Application>
  <PresentationFormat>Widescreen</PresentationFormat>
  <Paragraphs>147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64-bit Addition</vt:lpstr>
      <vt:lpstr>64-bit Subtraction</vt:lpstr>
      <vt:lpstr>64-bit Counting Leading Zeroes</vt:lpstr>
      <vt:lpstr>64-bit Counting Leading Zeroes: Explanations</vt:lpstr>
      <vt:lpstr>64-bit Sign Extension</vt:lpstr>
      <vt:lpstr>64-bit Logic Shift Left</vt:lpstr>
      <vt:lpstr>64-bit Logic Shift Left</vt:lpstr>
      <vt:lpstr>64-bit Logic Shift Left</vt:lpstr>
      <vt:lpstr>64-bit Logic Shift Left</vt:lpstr>
      <vt:lpstr>64-bit Logic Shift Right</vt:lpstr>
      <vt:lpstr>64-bit Logic Shift Right</vt:lpstr>
      <vt:lpstr>64-bit Logic Shift Right</vt:lpstr>
      <vt:lpstr>64-bit Multiplication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241</cp:revision>
  <dcterms:created xsi:type="dcterms:W3CDTF">2013-02-03T05:36:57Z</dcterms:created>
  <dcterms:modified xsi:type="dcterms:W3CDTF">2026-04-28T14:01:51Z</dcterms:modified>
</cp:coreProperties>
</file>