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84" r:id="rId4"/>
    <p:sldId id="281" r:id="rId5"/>
    <p:sldId id="294" r:id="rId6"/>
    <p:sldId id="291" r:id="rId7"/>
    <p:sldId id="296" r:id="rId8"/>
    <p:sldId id="292" r:id="rId9"/>
    <p:sldId id="293" r:id="rId10"/>
    <p:sldId id="260" r:id="rId11"/>
    <p:sldId id="258" r:id="rId12"/>
    <p:sldId id="259" r:id="rId13"/>
    <p:sldId id="283" r:id="rId14"/>
    <p:sldId id="266" r:id="rId15"/>
    <p:sldId id="289" r:id="rId16"/>
    <p:sldId id="285" r:id="rId17"/>
    <p:sldId id="286" r:id="rId18"/>
    <p:sldId id="287" r:id="rId19"/>
    <p:sldId id="288" r:id="rId20"/>
    <p:sldId id="267" r:id="rId21"/>
    <p:sldId id="269" r:id="rId22"/>
    <p:sldId id="263" r:id="rId23"/>
    <p:sldId id="265" r:id="rId24"/>
    <p:sldId id="270" r:id="rId25"/>
    <p:sldId id="271" r:id="rId26"/>
    <p:sldId id="273" r:id="rId27"/>
    <p:sldId id="274" r:id="rId28"/>
    <p:sldId id="275" r:id="rId29"/>
    <p:sldId id="278" r:id="rId30"/>
    <p:sldId id="276" r:id="rId31"/>
    <p:sldId id="277" r:id="rId32"/>
    <p:sldId id="279" r:id="rId33"/>
    <p:sldId id="272" r:id="rId34"/>
    <p:sldId id="2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18B10-8310-45F1-8C11-DABE510A866C}" v="16" dt="2026-02-10T15:21:42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84" d="100"/>
          <a:sy n="84" d="100"/>
        </p:scale>
        <p:origin x="17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3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2-10T15:51:16.478" v="1114" actId="20577"/>
      <pc:docMkLst>
        <pc:docMk/>
      </pc:docMkLst>
      <pc:sldChg chg="modSp mod">
        <pc:chgData name="Zonghua Gu" userId="9a7e1853e1951ef5" providerId="LiveId" clId="{CF1FAA12-072C-4ED5-BA76-0FFFAEFDB88A}" dt="2026-02-10T15:07:33.008" v="766" actId="20577"/>
        <pc:sldMkLst>
          <pc:docMk/>
          <pc:sldMk cId="3048144614" sldId="258"/>
        </pc:sldMkLst>
        <pc:spChg chg="mod">
          <ac:chgData name="Zonghua Gu" userId="9a7e1853e1951ef5" providerId="LiveId" clId="{CF1FAA12-072C-4ED5-BA76-0FFFAEFDB88A}" dt="2026-02-10T15:07:33.008" v="766" actId="20577"/>
          <ac:spMkLst>
            <pc:docMk/>
            <pc:sldMk cId="3048144614" sldId="258"/>
            <ac:spMk id="4" creationId="{9A19A7A8-C81D-394E-BDB0-8F224A85A401}"/>
          </ac:spMkLst>
        </pc:spChg>
      </pc:sldChg>
      <pc:sldChg chg="addSp modSp mod">
        <pc:chgData name="Zonghua Gu" userId="9a7e1853e1951ef5" providerId="LiveId" clId="{CF1FAA12-072C-4ED5-BA76-0FFFAEFDB88A}" dt="2026-02-10T15:09:48.223" v="845" actId="20577"/>
        <pc:sldMkLst>
          <pc:docMk/>
          <pc:sldMk cId="3048144614" sldId="259"/>
        </pc:sldMkLst>
        <pc:spChg chg="add mod">
          <ac:chgData name="Zonghua Gu" userId="9a7e1853e1951ef5" providerId="LiveId" clId="{CF1FAA12-072C-4ED5-BA76-0FFFAEFDB88A}" dt="2026-02-10T15:09:48.223" v="845" actId="20577"/>
          <ac:spMkLst>
            <pc:docMk/>
            <pc:sldMk cId="3048144614" sldId="259"/>
            <ac:spMk id="5" creationId="{1840CF01-4F3A-3A49-0C1F-EEBBC5A22AF1}"/>
          </ac:spMkLst>
        </pc:spChg>
        <pc:picChg chg="add mod">
          <ac:chgData name="Zonghua Gu" userId="9a7e1853e1951ef5" providerId="LiveId" clId="{CF1FAA12-072C-4ED5-BA76-0FFFAEFDB88A}" dt="2026-02-10T14:59:40.716" v="700" actId="1038"/>
          <ac:picMkLst>
            <pc:docMk/>
            <pc:sldMk cId="3048144614" sldId="259"/>
            <ac:picMk id="4" creationId="{F55AE5CA-6608-3D9A-5251-2205D9CB35A7}"/>
          </ac:picMkLst>
        </pc:picChg>
        <pc:picChg chg="mod">
          <ac:chgData name="Zonghua Gu" userId="9a7e1853e1951ef5" providerId="LiveId" clId="{CF1FAA12-072C-4ED5-BA76-0FFFAEFDB88A}" dt="2026-02-10T14:59:25.127" v="688" actId="1076"/>
          <ac:picMkLst>
            <pc:docMk/>
            <pc:sldMk cId="3048144614" sldId="259"/>
            <ac:picMk id="3074" creationId="{00000000-0000-0000-0000-000000000000}"/>
          </ac:picMkLst>
        </pc:picChg>
      </pc:sldChg>
      <pc:sldChg chg="addSp modSp mod">
        <pc:chgData name="Zonghua Gu" userId="9a7e1853e1951ef5" providerId="LiveId" clId="{CF1FAA12-072C-4ED5-BA76-0FFFAEFDB88A}" dt="2026-02-10T15:23:30.226" v="1090" actId="313"/>
        <pc:sldMkLst>
          <pc:docMk/>
          <pc:sldMk cId="3721319358" sldId="263"/>
        </pc:sldMkLst>
        <pc:spChg chg="add mod">
          <ac:chgData name="Zonghua Gu" userId="9a7e1853e1951ef5" providerId="LiveId" clId="{CF1FAA12-072C-4ED5-BA76-0FFFAEFDB88A}" dt="2026-02-10T15:23:30.226" v="1090" actId="313"/>
          <ac:spMkLst>
            <pc:docMk/>
            <pc:sldMk cId="3721319358" sldId="263"/>
            <ac:spMk id="5" creationId="{6D7D5DD0-0221-C203-84B7-D2E3CE23F1F9}"/>
          </ac:spMkLst>
        </pc:spChg>
      </pc:sldChg>
      <pc:sldChg chg="modSp mod">
        <pc:chgData name="Zonghua Gu" userId="9a7e1853e1951ef5" providerId="LiveId" clId="{CF1FAA12-072C-4ED5-BA76-0FFFAEFDB88A}" dt="2026-02-10T14:49:56.035" v="687" actId="20577"/>
        <pc:sldMkLst>
          <pc:docMk/>
          <pc:sldMk cId="306526086" sldId="281"/>
        </pc:sldMkLst>
        <pc:spChg chg="mod">
          <ac:chgData name="Zonghua Gu" userId="9a7e1853e1951ef5" providerId="LiveId" clId="{CF1FAA12-072C-4ED5-BA76-0FFFAEFDB88A}" dt="2026-02-10T14:49:56.035" v="687" actId="20577"/>
          <ac:spMkLst>
            <pc:docMk/>
            <pc:sldMk cId="306526086" sldId="281"/>
            <ac:spMk id="6" creationId="{831F2802-4C4D-7442-88B9-9C9EBE0D3D45}"/>
          </ac:spMkLst>
        </pc:spChg>
      </pc:sldChg>
      <pc:sldChg chg="modSp mod">
        <pc:chgData name="Zonghua Gu" userId="9a7e1853e1951ef5" providerId="LiveId" clId="{CF1FAA12-072C-4ED5-BA76-0FFFAEFDB88A}" dt="2026-02-10T15:51:16.478" v="1114" actId="20577"/>
        <pc:sldMkLst>
          <pc:docMk/>
          <pc:sldMk cId="1082350610" sldId="293"/>
        </pc:sldMkLst>
        <pc:spChg chg="mod">
          <ac:chgData name="Zonghua Gu" userId="9a7e1853e1951ef5" providerId="LiveId" clId="{CF1FAA12-072C-4ED5-BA76-0FFFAEFDB88A}" dt="2026-02-10T15:51:16.478" v="1114" actId="20577"/>
          <ac:spMkLst>
            <pc:docMk/>
            <pc:sldMk cId="1082350610" sldId="293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3:53:12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9/23/2026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9/23/2026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Spring 2026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05000"/>
            <a:ext cx="50340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DA0862-F5C8-A371-5482-F7FDADAF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50933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7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Processors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3" y="1183222"/>
            <a:ext cx="5795215" cy="5334000"/>
          </a:xfrm>
        </p:spPr>
        <p:txBody>
          <a:bodyPr>
            <a:normAutofit/>
          </a:bodyPr>
          <a:lstStyle/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A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A</a:t>
            </a:r>
            <a:r>
              <a:rPr lang="en-GB" sz="2000" dirty="0"/>
              <a:t>pplications processors </a:t>
            </a:r>
          </a:p>
          <a:p>
            <a:pPr lvl="1"/>
            <a:r>
              <a:rPr lang="en-GB" sz="2000" dirty="0"/>
              <a:t>Support OS and high-performance applications</a:t>
            </a:r>
          </a:p>
          <a:p>
            <a:pPr lvl="1"/>
            <a:r>
              <a:rPr lang="en-GB" sz="2000" dirty="0"/>
              <a:t>Such as Smartphones, Smart TV</a:t>
            </a:r>
          </a:p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R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R</a:t>
            </a:r>
            <a:r>
              <a:rPr lang="en-GB" sz="2000" dirty="0"/>
              <a:t>eal-time processors with high performance and high reliability</a:t>
            </a:r>
          </a:p>
          <a:p>
            <a:pPr lvl="1"/>
            <a:r>
              <a:rPr lang="en-GB" sz="2000" dirty="0"/>
              <a:t>Support real-time processing and mission-critical control</a:t>
            </a:r>
          </a:p>
          <a:p>
            <a:r>
              <a:rPr lang="en-GB" sz="2400" dirty="0"/>
              <a:t>ARM Cortex-</a:t>
            </a:r>
            <a:r>
              <a:rPr lang="en-GB" sz="2400" dirty="0">
                <a:solidFill>
                  <a:srgbClr val="FF0000"/>
                </a:solidFill>
              </a:rPr>
              <a:t>M</a:t>
            </a:r>
            <a:r>
              <a:rPr lang="en-GB" sz="2400" dirty="0"/>
              <a:t> family:</a:t>
            </a:r>
          </a:p>
          <a:p>
            <a:pPr lvl="1"/>
            <a:r>
              <a:rPr lang="en-GB" sz="2000" b="1" dirty="0">
                <a:solidFill>
                  <a:srgbClr val="FF0000"/>
                </a:solidFill>
              </a:rPr>
              <a:t>M</a:t>
            </a:r>
            <a:r>
              <a:rPr lang="en-GB" sz="2000" dirty="0"/>
              <a:t>icrocontroller</a:t>
            </a:r>
          </a:p>
          <a:p>
            <a:pPr lvl="1"/>
            <a:r>
              <a:rPr lang="en-GB" sz="2000" dirty="0"/>
              <a:t>Cost-sensitive, support </a:t>
            </a:r>
            <a:r>
              <a:rPr lang="en-GB" sz="2000" dirty="0" err="1"/>
              <a:t>SoC</a:t>
            </a:r>
            <a:r>
              <a:rPr lang="en-GB" sz="2000" dirty="0"/>
              <a:t> </a:t>
            </a:r>
          </a:p>
          <a:p>
            <a:endParaRPr lang="en-US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7924800" y="1361045"/>
            <a:ext cx="1905000" cy="1371600"/>
            <a:chOff x="12880509" y="5094215"/>
            <a:chExt cx="2904704" cy="1986694"/>
          </a:xfrm>
        </p:grpSpPr>
        <p:pic>
          <p:nvPicPr>
            <p:cNvPr id="7" name="Picture 6" descr="Tablet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7823" y="5094215"/>
              <a:ext cx="2087390" cy="163504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90129" y="5320890"/>
              <a:ext cx="2162959" cy="1594909"/>
            </a:xfrm>
            <a:prstGeom prst="rect">
              <a:avLst/>
            </a:prstGeom>
          </p:spPr>
        </p:pic>
        <p:pic>
          <p:nvPicPr>
            <p:cNvPr id="9" name="Picture 8" descr="[1]Galxy Note3_002_front with pen_Classic White.jp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209439">
              <a:off x="14555715" y="5811442"/>
              <a:ext cx="1176145" cy="1269467"/>
            </a:xfrm>
            <a:prstGeom prst="rect">
              <a:avLst/>
            </a:prstGeom>
            <a:scene3d>
              <a:camera prst="orthographicFront">
                <a:rot lat="0" lon="0" rev="18840000"/>
              </a:camera>
              <a:lightRig rig="threePt" dir="t"/>
            </a:scene3d>
          </p:spPr>
        </p:pic>
        <p:pic>
          <p:nvPicPr>
            <p:cNvPr id="10" name="Picture 9" descr="Phone 3.png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80509" y="5634902"/>
              <a:ext cx="486137" cy="860528"/>
            </a:xfrm>
            <a:prstGeom prst="rect">
              <a:avLst/>
            </a:prstGeom>
          </p:spPr>
        </p:pic>
      </p:grpSp>
      <p:pic>
        <p:nvPicPr>
          <p:cNvPr id="1026" name="Picture 2" descr="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879" y="2992966"/>
            <a:ext cx="1805360" cy="130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nest thermostat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446" y="4815302"/>
            <a:ext cx="1096225" cy="11186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6864" y="1143000"/>
            <a:ext cx="10765536" cy="16349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6865" y="2804799"/>
            <a:ext cx="10765535" cy="167682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16865" y="4543114"/>
            <a:ext cx="10765535" cy="16522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6345" y="4795584"/>
            <a:ext cx="1854200" cy="11472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6945" y="3048688"/>
            <a:ext cx="2133600" cy="119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1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50704"/>
            <a:ext cx="6858000" cy="2956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31F2802-4C4D-7442-88B9-9C9EBE0D3D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010400" y="1371600"/>
            <a:ext cx="5029200" cy="4800600"/>
          </a:xfrm>
        </p:spPr>
        <p:txBody>
          <a:bodyPr>
            <a:normAutofit/>
          </a:bodyPr>
          <a:lstStyle/>
          <a:p>
            <a:r>
              <a:rPr lang="en-US" sz="2000" dirty="0"/>
              <a:t>Instructions: </a:t>
            </a:r>
          </a:p>
          <a:p>
            <a:pPr lvl="1"/>
            <a:r>
              <a:rPr lang="en-US" sz="1800" dirty="0"/>
              <a:t>Encoded to binary machine code by assembler</a:t>
            </a:r>
          </a:p>
          <a:p>
            <a:pPr lvl="1"/>
            <a:r>
              <a:rPr lang="en-US" sz="1800" dirty="0"/>
              <a:t>Executed at runtime by hardware </a:t>
            </a:r>
          </a:p>
          <a:p>
            <a:r>
              <a:rPr lang="en-US" sz="2000" dirty="0"/>
              <a:t>Early 32-bit ARM vs Thumb/Thumb-2</a:t>
            </a:r>
          </a:p>
          <a:p>
            <a:pPr lvl="1"/>
            <a:r>
              <a:rPr lang="en-US" sz="1800" dirty="0"/>
              <a:t>Early 32-bit ARM has larger power consumption and larger program size</a:t>
            </a:r>
          </a:p>
          <a:p>
            <a:pPr lvl="1"/>
            <a:r>
              <a:rPr lang="en-US" sz="1800" dirty="0"/>
              <a:t>16-bit Thumb, first used in ARM7TDMI processors in 1995</a:t>
            </a:r>
          </a:p>
          <a:p>
            <a:pPr lvl="1"/>
            <a:r>
              <a:rPr lang="en-US" sz="1800" dirty="0"/>
              <a:t>Thumb-2: a mix of 16-bit (high code density) and 32-bit (high performance) instructions</a:t>
            </a:r>
          </a:p>
          <a:p>
            <a:r>
              <a:rPr lang="en-US" sz="2000" dirty="0"/>
              <a:t>ARM Cortex-M:</a:t>
            </a:r>
          </a:p>
          <a:p>
            <a:pPr lvl="1"/>
            <a:r>
              <a:rPr lang="en-US" sz="1800" dirty="0"/>
              <a:t>Subset of Thumb-2</a:t>
            </a:r>
          </a:p>
        </p:txBody>
      </p:sp>
    </p:spTree>
    <p:extLst>
      <p:ext uri="{BB962C8B-B14F-4D97-AF65-F5344CB8AC3E}">
        <p14:creationId xmlns:p14="http://schemas.microsoft.com/office/powerpoint/2010/main" val="30652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A409-B997-4745-A66C-27CCCC32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Processors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BBC926-B842-6043-A61E-26F1928A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44242-0460-31DD-9BCA-77573AF5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371600"/>
            <a:ext cx="7696200" cy="475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1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Registers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85212"/>
              </p:ext>
            </p:extLst>
          </p:nvPr>
        </p:nvGraphicFramePr>
        <p:xfrm>
          <a:off x="457200" y="1305366"/>
          <a:ext cx="7041000" cy="424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05366"/>
                        <a:ext cx="7041000" cy="42472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>
          <a:xfrm>
            <a:off x="7151090" y="1752600"/>
            <a:ext cx="4583710" cy="2971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Fastest way to read and write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Registers are within the processor chip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Each register has 32 bits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ARM Cortex-M4 has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Register Bank: </a:t>
            </a:r>
            <a:r>
              <a:rPr lang="en-US" sz="1800" b="1" dirty="0">
                <a:latin typeface="Consolas" panose="020B0609020204030204" pitchFamily="49" charset="0"/>
              </a:rPr>
              <a:t>R0 – R15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R0-R12</a:t>
            </a:r>
            <a:r>
              <a:rPr lang="en-US" sz="1800" dirty="0"/>
              <a:t>: </a:t>
            </a:r>
            <a:r>
              <a:rPr lang="en-US" sz="1800" dirty="0">
                <a:latin typeface="Consolas" charset="0"/>
                <a:ea typeface="Consolas" charset="0"/>
                <a:cs typeface="Consolas" charset="0"/>
              </a:rPr>
              <a:t>13</a:t>
            </a:r>
            <a:r>
              <a:rPr lang="en-US" sz="1800" dirty="0"/>
              <a:t> general-purpose registers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R13</a:t>
            </a:r>
            <a:r>
              <a:rPr lang="en-US" sz="1800" dirty="0"/>
              <a:t>: Stack pointer (Shadow of MSP or PSP)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R14</a:t>
            </a:r>
            <a:r>
              <a:rPr lang="en-US" sz="1800" dirty="0"/>
              <a:t>: Link register (LR)</a:t>
            </a:r>
          </a:p>
          <a:p>
            <a:pPr lvl="2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R15</a:t>
            </a:r>
            <a:r>
              <a:rPr lang="en-US" sz="1800" dirty="0"/>
              <a:t>: Program counter (PC)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Special registers </a:t>
            </a:r>
          </a:p>
          <a:p>
            <a:pPr lvl="2">
              <a:lnSpc>
                <a:spcPct val="90000"/>
              </a:lnSpc>
            </a:pPr>
            <a:r>
              <a:rPr lang="en-US" sz="1800" dirty="0" err="1"/>
              <a:t>xPSR</a:t>
            </a:r>
            <a:r>
              <a:rPr lang="en-US" sz="1800" dirty="0"/>
              <a:t>, BASEPRI, PRIMASK, </a:t>
            </a:r>
            <a:r>
              <a:rPr lang="en-US" sz="1800" dirty="0" err="1"/>
              <a:t>etc</a:t>
            </a:r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1198329" y="562548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58516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 Registers</a:t>
            </a:r>
          </a:p>
        </p:txBody>
      </p:sp>
    </p:spTree>
    <p:extLst>
      <p:ext uri="{BB962C8B-B14F-4D97-AF65-F5344CB8AC3E}">
        <p14:creationId xmlns:p14="http://schemas.microsoft.com/office/powerpoint/2010/main" val="161729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Processor Registers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667001" y="71875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7200" y="1305366"/>
          <a:ext cx="7041000" cy="424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05366"/>
                        <a:ext cx="7041000" cy="42472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98329" y="562548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58516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 Registers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18F8098-9B50-D842-8AA6-9A377206A222}"/>
              </a:ext>
            </a:extLst>
          </p:cNvPr>
          <p:cNvSpPr txBox="1">
            <a:spLocks noChangeArrowheads="1"/>
          </p:cNvSpPr>
          <p:nvPr/>
        </p:nvSpPr>
        <p:spPr>
          <a:xfrm>
            <a:off x="7239000" y="1828800"/>
            <a:ext cx="4890131" cy="29718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Low Registers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2000" dirty="0"/>
              <a:t> –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R7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be accessed by any instruction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High Register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R8</a:t>
            </a:r>
            <a:r>
              <a:rPr lang="en-US" sz="2000" dirty="0"/>
              <a:t> –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only be accessed by some instructions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Stack Pointer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R13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Cortex-M4 supports two stacks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Main SP (MSP) for privileged access (e.g. exception handler)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Process SP (PSP) for application access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Program Counter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R15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Memory address of the current instruction</a:t>
            </a:r>
          </a:p>
        </p:txBody>
      </p:sp>
    </p:spTree>
    <p:extLst>
      <p:ext uri="{BB962C8B-B14F-4D97-AF65-F5344CB8AC3E}">
        <p14:creationId xmlns:p14="http://schemas.microsoft.com/office/powerpoint/2010/main" val="244867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Registers </a:t>
            </a:r>
            <a:r>
              <a:rPr lang="en-US" i="1" dirty="0"/>
              <a:t>vs</a:t>
            </a:r>
            <a:r>
              <a:rPr lang="en-US" dirty="0"/>
              <a:t> Peripheral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1820162" y="1311276"/>
            <a:ext cx="8382000" cy="5410835"/>
            <a:chOff x="2076485" y="2870807"/>
            <a:chExt cx="1207526" cy="1101376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714B200-320E-4F41-B7A6-F6F19AF01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8407" y="2870807"/>
              <a:ext cx="803680" cy="1101376"/>
              <a:chOff x="6767513" y="4391025"/>
              <a:chExt cx="817243" cy="122790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3463D4-2F3A-4345-88A9-1D4B494C1D88}"/>
                  </a:ext>
                </a:extLst>
              </p:cNvPr>
              <p:cNvSpPr/>
              <p:nvPr/>
            </p:nvSpPr>
            <p:spPr bwMode="auto">
              <a:xfrm>
                <a:off x="6766833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93C6CB3-517E-4719-832D-8CECD75DEEAB}"/>
                  </a:ext>
                </a:extLst>
              </p:cNvPr>
              <p:cNvSpPr/>
              <p:nvPr/>
            </p:nvSpPr>
            <p:spPr bwMode="auto">
              <a:xfrm>
                <a:off x="6881057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5B7BE6E-9D0A-454D-800B-15E74BE83B35}"/>
                  </a:ext>
                </a:extLst>
              </p:cNvPr>
              <p:cNvSpPr/>
              <p:nvPr/>
            </p:nvSpPr>
            <p:spPr bwMode="auto">
              <a:xfrm>
                <a:off x="6985762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4F69FD1-5616-413F-9B1C-EE6965CB4F38}"/>
                  </a:ext>
                </a:extLst>
              </p:cNvPr>
              <p:cNvSpPr/>
              <p:nvPr/>
            </p:nvSpPr>
            <p:spPr bwMode="auto">
              <a:xfrm>
                <a:off x="7099986" y="4391025"/>
                <a:ext cx="46007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D65F24E-2189-4FB0-9862-3F9C53DAA7EA}"/>
                  </a:ext>
                </a:extLst>
              </p:cNvPr>
              <p:cNvSpPr/>
              <p:nvPr/>
            </p:nvSpPr>
            <p:spPr bwMode="auto">
              <a:xfrm>
                <a:off x="7206278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8B2E214-F4E9-4422-804A-8BBA4F396EF5}"/>
                  </a:ext>
                </a:extLst>
              </p:cNvPr>
              <p:cNvSpPr/>
              <p:nvPr/>
            </p:nvSpPr>
            <p:spPr bwMode="auto">
              <a:xfrm>
                <a:off x="7320502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E05CB2A-E924-4287-B638-9FB9BA78C38A}"/>
                  </a:ext>
                </a:extLst>
              </p:cNvPr>
              <p:cNvSpPr/>
              <p:nvPr/>
            </p:nvSpPr>
            <p:spPr bwMode="auto">
              <a:xfrm>
                <a:off x="7425207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3B8A551-F093-433E-99E5-7B5F78F71658}"/>
                  </a:ext>
                </a:extLst>
              </p:cNvPr>
              <p:cNvSpPr/>
              <p:nvPr/>
            </p:nvSpPr>
            <p:spPr bwMode="auto">
              <a:xfrm>
                <a:off x="7539430" y="4391025"/>
                <a:ext cx="4600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DAFE8A7-1C63-4EF2-9DFB-4D7ABAFB507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313732" y="2813460"/>
              <a:ext cx="733031" cy="1207526"/>
              <a:chOff x="6767513" y="4391025"/>
              <a:chExt cx="817243" cy="122790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E3A69D6-6525-4320-95F5-6D56D73797DB}"/>
                  </a:ext>
                </a:extLst>
              </p:cNvPr>
              <p:cNvSpPr/>
              <p:nvPr/>
            </p:nvSpPr>
            <p:spPr bwMode="auto">
              <a:xfrm>
                <a:off x="6767096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58AC61E-21BC-4F43-B341-32C7A0488506}"/>
                  </a:ext>
                </a:extLst>
              </p:cNvPr>
              <p:cNvSpPr/>
              <p:nvPr/>
            </p:nvSpPr>
            <p:spPr bwMode="auto">
              <a:xfrm>
                <a:off x="6881467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1511E4-F9E1-409B-8418-C2547D89895E}"/>
                  </a:ext>
                </a:extLst>
              </p:cNvPr>
              <p:cNvSpPr/>
              <p:nvPr/>
            </p:nvSpPr>
            <p:spPr bwMode="auto">
              <a:xfrm>
                <a:off x="6986308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17D8F76-E5DB-48B7-BA78-0C3AD5B79DA3}"/>
                  </a:ext>
                </a:extLst>
              </p:cNvPr>
              <p:cNvSpPr/>
              <p:nvPr/>
            </p:nvSpPr>
            <p:spPr bwMode="auto">
              <a:xfrm>
                <a:off x="7100679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F011D2C-C184-4210-BA39-2DB2C9C5ADFD}"/>
                  </a:ext>
                </a:extLst>
              </p:cNvPr>
              <p:cNvSpPr/>
              <p:nvPr/>
            </p:nvSpPr>
            <p:spPr bwMode="auto">
              <a:xfrm>
                <a:off x="7205519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EB89B35-4A70-49DE-90B3-8F9AB7C2A354}"/>
                  </a:ext>
                </a:extLst>
              </p:cNvPr>
              <p:cNvSpPr/>
              <p:nvPr/>
            </p:nvSpPr>
            <p:spPr bwMode="auto">
              <a:xfrm>
                <a:off x="7319891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1E3533-EB75-4514-B824-60D211894AE0}"/>
                  </a:ext>
                </a:extLst>
              </p:cNvPr>
              <p:cNvSpPr/>
              <p:nvPr/>
            </p:nvSpPr>
            <p:spPr bwMode="auto">
              <a:xfrm>
                <a:off x="7424731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B87C16-00BE-466D-A216-5CCE97B61158}"/>
                  </a:ext>
                </a:extLst>
              </p:cNvPr>
              <p:cNvSpPr/>
              <p:nvPr/>
            </p:nvSpPr>
            <p:spPr bwMode="auto">
              <a:xfrm>
                <a:off x="7539103" y="4391025"/>
                <a:ext cx="46066" cy="12279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GB" sz="1200" b="1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37E58A-8688-4691-8A19-D857900DEE18}"/>
                </a:ext>
              </a:extLst>
            </p:cNvPr>
            <p:cNvSpPr/>
            <p:nvPr/>
          </p:nvSpPr>
          <p:spPr bwMode="auto">
            <a:xfrm>
              <a:off x="2165411" y="2943472"/>
              <a:ext cx="1040594" cy="94749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2743200" y="1962829"/>
            <a:ext cx="2496876" cy="2172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763619" y="2015511"/>
            <a:ext cx="2442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ARM Cortex-M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6340" y="367181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Registers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210712" y="2424680"/>
            <a:ext cx="609601" cy="1044492"/>
            <a:chOff x="152399" y="1754240"/>
            <a:chExt cx="609601" cy="1044492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152399" y="1754240"/>
              <a:ext cx="1" cy="104449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62000" y="2057399"/>
              <a:ext cx="0" cy="42201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152399" y="2474435"/>
              <a:ext cx="608205" cy="3242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53796" y="1754240"/>
              <a:ext cx="608204" cy="30315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4220416" y="273543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618" y="3614348"/>
            <a:ext cx="1130759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Control Unit</a:t>
            </a:r>
          </a:p>
        </p:txBody>
      </p:sp>
      <p:grpSp>
        <p:nvGrpSpPr>
          <p:cNvPr id="198" name="Group 197"/>
          <p:cNvGrpSpPr/>
          <p:nvPr/>
        </p:nvGrpSpPr>
        <p:grpSpPr>
          <a:xfrm>
            <a:off x="5784017" y="1823772"/>
            <a:ext cx="1043199" cy="2379632"/>
            <a:chOff x="4260016" y="1823772"/>
            <a:chExt cx="1043199" cy="2379632"/>
          </a:xfrm>
        </p:grpSpPr>
        <p:sp>
          <p:nvSpPr>
            <p:cNvPr id="90" name="Rectangle 89"/>
            <p:cNvSpPr/>
            <p:nvPr/>
          </p:nvSpPr>
          <p:spPr>
            <a:xfrm>
              <a:off x="4339903" y="1823772"/>
              <a:ext cx="957780" cy="23796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2" name="Group 141"/>
            <p:cNvGrpSpPr/>
            <p:nvPr/>
          </p:nvGrpSpPr>
          <p:grpSpPr>
            <a:xfrm>
              <a:off x="4487162" y="1966577"/>
              <a:ext cx="460737" cy="1082688"/>
              <a:chOff x="4487162" y="1966577"/>
              <a:chExt cx="460737" cy="1082688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90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94" name="Rectangle 93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8" name="Group 97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99" name="Oval 98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sp>
          <p:nvSpPr>
            <p:cNvPr id="92" name="TextBox 91"/>
            <p:cNvSpPr txBox="1"/>
            <p:nvPr/>
          </p:nvSpPr>
          <p:spPr>
            <a:xfrm>
              <a:off x="4264148" y="3089440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260016" y="3753798"/>
              <a:ext cx="1022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GPIO A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 rot="5400000">
            <a:off x="8895165" y="2722038"/>
            <a:ext cx="46696" cy="287609"/>
            <a:chOff x="1776122" y="5280158"/>
            <a:chExt cx="46696" cy="287609"/>
          </a:xfrm>
          <a:noFill/>
        </p:grpSpPr>
        <p:sp>
          <p:nvSpPr>
            <p:cNvPr id="129" name="Oval 128"/>
            <p:cNvSpPr/>
            <p:nvPr/>
          </p:nvSpPr>
          <p:spPr>
            <a:xfrm>
              <a:off x="1777099" y="528015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1776180" y="5405124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/>
            <p:cNvSpPr/>
            <p:nvPr/>
          </p:nvSpPr>
          <p:spPr>
            <a:xfrm>
              <a:off x="1776122" y="552204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3" name="Group 132"/>
          <p:cNvGrpSpPr/>
          <p:nvPr/>
        </p:nvGrpSpPr>
        <p:grpSpPr>
          <a:xfrm rot="5400000">
            <a:off x="9019364" y="5180624"/>
            <a:ext cx="46696" cy="287609"/>
            <a:chOff x="1776122" y="5280158"/>
            <a:chExt cx="46696" cy="287609"/>
          </a:xfrm>
          <a:noFill/>
        </p:grpSpPr>
        <p:sp>
          <p:nvSpPr>
            <p:cNvPr id="134" name="Oval 133"/>
            <p:cNvSpPr/>
            <p:nvPr/>
          </p:nvSpPr>
          <p:spPr>
            <a:xfrm>
              <a:off x="1777099" y="528015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1776180" y="5405124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1776122" y="5522048"/>
              <a:ext cx="45719" cy="4571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7172603" y="1816749"/>
            <a:ext cx="1043199" cy="2379632"/>
            <a:chOff x="5648602" y="1816749"/>
            <a:chExt cx="1043199" cy="2379632"/>
          </a:xfrm>
        </p:grpSpPr>
        <p:sp>
          <p:nvSpPr>
            <p:cNvPr id="77" name="Rectangle 76"/>
            <p:cNvSpPr/>
            <p:nvPr/>
          </p:nvSpPr>
          <p:spPr>
            <a:xfrm>
              <a:off x="5675648" y="1816749"/>
              <a:ext cx="957780" cy="23796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652734" y="3066553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648602" y="3730911"/>
              <a:ext cx="1022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GPIO B</a:t>
              </a:r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5831602" y="1959906"/>
              <a:ext cx="460737" cy="1082688"/>
              <a:chOff x="4487162" y="1966577"/>
              <a:chExt cx="460737" cy="1082688"/>
            </a:xfrm>
          </p:grpSpPr>
          <p:sp>
            <p:nvSpPr>
              <p:cNvPr id="144" name="Rectangle 143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5" name="Group 144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46" name="Rectangle 145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51" name="Oval 150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Oval 151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" name="Oval 152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54" name="Group 153"/>
          <p:cNvGrpSpPr/>
          <p:nvPr/>
        </p:nvGrpSpPr>
        <p:grpSpPr>
          <a:xfrm>
            <a:off x="3008603" y="2455364"/>
            <a:ext cx="460737" cy="1082688"/>
            <a:chOff x="4487162" y="1966577"/>
            <a:chExt cx="460737" cy="1082688"/>
          </a:xfrm>
        </p:grpSpPr>
        <p:sp>
          <p:nvSpPr>
            <p:cNvPr id="155" name="Rectangle 154"/>
            <p:cNvSpPr/>
            <p:nvPr/>
          </p:nvSpPr>
          <p:spPr>
            <a:xfrm>
              <a:off x="4487162" y="2449255"/>
              <a:ext cx="460248" cy="43807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6" name="Group 155"/>
            <p:cNvGrpSpPr/>
            <p:nvPr/>
          </p:nvGrpSpPr>
          <p:grpSpPr>
            <a:xfrm>
              <a:off x="4487162" y="1966577"/>
              <a:ext cx="460737" cy="1082688"/>
              <a:chOff x="151911" y="1668263"/>
              <a:chExt cx="460737" cy="1082688"/>
            </a:xfrm>
          </p:grpSpPr>
          <p:sp>
            <p:nvSpPr>
              <p:cNvPr id="157" name="Rectangle 156"/>
              <p:cNvSpPr/>
              <p:nvPr/>
            </p:nvSpPr>
            <p:spPr>
              <a:xfrm>
                <a:off x="152400" y="1668263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152400" y="1828800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152400" y="1990573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151911" y="2590414"/>
                <a:ext cx="460248" cy="160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1" name="Group 160"/>
              <p:cNvGrpSpPr/>
              <p:nvPr/>
            </p:nvGrpSpPr>
            <p:grpSpPr>
              <a:xfrm>
                <a:off x="359176" y="2221693"/>
                <a:ext cx="46696" cy="287609"/>
                <a:chOff x="373562" y="3135753"/>
                <a:chExt cx="46696" cy="287609"/>
              </a:xfrm>
            </p:grpSpPr>
            <p:sp>
              <p:nvSpPr>
                <p:cNvPr id="162" name="Oval 161"/>
                <p:cNvSpPr/>
                <p:nvPr/>
              </p:nvSpPr>
              <p:spPr>
                <a:xfrm>
                  <a:off x="374539" y="3135753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Oval 162"/>
                <p:cNvSpPr/>
                <p:nvPr/>
              </p:nvSpPr>
              <p:spPr>
                <a:xfrm>
                  <a:off x="373620" y="3260719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>
                <a:xfrm>
                  <a:off x="373562" y="3377643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00" name="Group 199"/>
          <p:cNvGrpSpPr/>
          <p:nvPr/>
        </p:nvGrpSpPr>
        <p:grpSpPr>
          <a:xfrm>
            <a:off x="2710388" y="4436611"/>
            <a:ext cx="1833941" cy="1639031"/>
            <a:chOff x="1186387" y="4436610"/>
            <a:chExt cx="1833941" cy="1639031"/>
          </a:xfrm>
        </p:grpSpPr>
        <p:sp>
          <p:nvSpPr>
            <p:cNvPr id="63" name="Rectangle 62"/>
            <p:cNvSpPr/>
            <p:nvPr/>
          </p:nvSpPr>
          <p:spPr>
            <a:xfrm>
              <a:off x="1209301" y="4436610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186387" y="5686414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026338" y="4966945"/>
              <a:ext cx="993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UART</a:t>
              </a:r>
              <a:r>
                <a:rPr lang="en-US" sz="20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1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1494396" y="4619966"/>
              <a:ext cx="460737" cy="1082688"/>
              <a:chOff x="4487162" y="1966577"/>
              <a:chExt cx="460737" cy="1082688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7" name="Group 166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68" name="Rectangle 167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2" name="Group 171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73" name="Oval 172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" name="Oval 173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Oval 174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01" name="Group 200"/>
          <p:cNvGrpSpPr/>
          <p:nvPr/>
        </p:nvGrpSpPr>
        <p:grpSpPr>
          <a:xfrm>
            <a:off x="4675335" y="4450902"/>
            <a:ext cx="1833941" cy="1639031"/>
            <a:chOff x="3151334" y="4450901"/>
            <a:chExt cx="1833941" cy="1639031"/>
          </a:xfrm>
        </p:grpSpPr>
        <p:sp>
          <p:nvSpPr>
            <p:cNvPr id="104" name="Rectangle 103"/>
            <p:cNvSpPr/>
            <p:nvPr/>
          </p:nvSpPr>
          <p:spPr>
            <a:xfrm>
              <a:off x="3174248" y="4450901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151334" y="5700705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212403" y="4981236"/>
              <a:ext cx="5517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SPI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76" name="Group 175"/>
            <p:cNvGrpSpPr/>
            <p:nvPr/>
          </p:nvGrpSpPr>
          <p:grpSpPr>
            <a:xfrm>
              <a:off x="3484629" y="4603765"/>
              <a:ext cx="460737" cy="1082688"/>
              <a:chOff x="4487162" y="1966577"/>
              <a:chExt cx="460737" cy="1082688"/>
            </a:xfrm>
          </p:grpSpPr>
          <p:sp>
            <p:nvSpPr>
              <p:cNvPr id="177" name="Rectangle 176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79" name="Rectangle 178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3" name="Group 182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84" name="Oval 183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Oval 184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Oval 185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02" name="Group 201"/>
          <p:cNvGrpSpPr/>
          <p:nvPr/>
        </p:nvGrpSpPr>
        <p:grpSpPr>
          <a:xfrm>
            <a:off x="6657545" y="4450024"/>
            <a:ext cx="1833941" cy="1639031"/>
            <a:chOff x="5133544" y="4450023"/>
            <a:chExt cx="1833941" cy="1639031"/>
          </a:xfrm>
        </p:grpSpPr>
        <p:sp>
          <p:nvSpPr>
            <p:cNvPr id="117" name="Rectangle 116"/>
            <p:cNvSpPr/>
            <p:nvPr/>
          </p:nvSpPr>
          <p:spPr>
            <a:xfrm>
              <a:off x="5156458" y="4450023"/>
              <a:ext cx="1811027" cy="1639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33544" y="5699827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Registers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6107250" y="4980358"/>
              <a:ext cx="7264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ADC</a:t>
              </a:r>
              <a:endParaRPr lang="en-US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187" name="Group 186"/>
            <p:cNvGrpSpPr/>
            <p:nvPr/>
          </p:nvGrpSpPr>
          <p:grpSpPr>
            <a:xfrm>
              <a:off x="5449276" y="4603765"/>
              <a:ext cx="460737" cy="1082688"/>
              <a:chOff x="4487162" y="1966577"/>
              <a:chExt cx="460737" cy="1082688"/>
            </a:xfrm>
          </p:grpSpPr>
          <p:sp>
            <p:nvSpPr>
              <p:cNvPr id="188" name="Rectangle 187"/>
              <p:cNvSpPr/>
              <p:nvPr/>
            </p:nvSpPr>
            <p:spPr>
              <a:xfrm>
                <a:off x="4487162" y="2449255"/>
                <a:ext cx="460248" cy="4380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9" name="Group 188"/>
              <p:cNvGrpSpPr/>
              <p:nvPr/>
            </p:nvGrpSpPr>
            <p:grpSpPr>
              <a:xfrm>
                <a:off x="4487162" y="1966577"/>
                <a:ext cx="460737" cy="1082688"/>
                <a:chOff x="151911" y="1668263"/>
                <a:chExt cx="460737" cy="1082688"/>
              </a:xfrm>
            </p:grpSpPr>
            <p:sp>
              <p:nvSpPr>
                <p:cNvPr id="190" name="Rectangle 189"/>
                <p:cNvSpPr/>
                <p:nvPr/>
              </p:nvSpPr>
              <p:spPr>
                <a:xfrm>
                  <a:off x="152400" y="166826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 190"/>
                <p:cNvSpPr/>
                <p:nvPr/>
              </p:nvSpPr>
              <p:spPr>
                <a:xfrm>
                  <a:off x="152400" y="1828800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152400" y="1990573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151911" y="2590414"/>
                  <a:ext cx="460248" cy="160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4" name="Group 193"/>
                <p:cNvGrpSpPr/>
                <p:nvPr/>
              </p:nvGrpSpPr>
              <p:grpSpPr>
                <a:xfrm>
                  <a:off x="359176" y="2221693"/>
                  <a:ext cx="46696" cy="287609"/>
                  <a:chOff x="373562" y="3135753"/>
                  <a:chExt cx="46696" cy="287609"/>
                </a:xfrm>
              </p:grpSpPr>
              <p:sp>
                <p:nvSpPr>
                  <p:cNvPr id="195" name="Oval 194"/>
                  <p:cNvSpPr/>
                  <p:nvPr/>
                </p:nvSpPr>
                <p:spPr>
                  <a:xfrm>
                    <a:off x="374539" y="313575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6" name="Oval 195"/>
                  <p:cNvSpPr/>
                  <p:nvPr/>
                </p:nvSpPr>
                <p:spPr>
                  <a:xfrm>
                    <a:off x="373620" y="3260719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Oval 196"/>
                  <p:cNvSpPr/>
                  <p:nvPr/>
                </p:nvSpPr>
                <p:spPr>
                  <a:xfrm>
                    <a:off x="373562" y="3377643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38897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Registers vs Peripheral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Processor can directly access processor registers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ADD r3,r1,r0   ; r3 = r1 + r0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Processor accesses peripheral registers via memory mapped I/O</a:t>
            </a:r>
          </a:p>
          <a:p>
            <a:pPr lvl="1"/>
            <a:r>
              <a:rPr lang="en-US" dirty="0"/>
              <a:t>Each peripheral register is assigned a fixed memory address at the chip design stage</a:t>
            </a:r>
          </a:p>
          <a:p>
            <a:pPr lvl="1"/>
            <a:r>
              <a:rPr lang="en-US" dirty="0"/>
              <a:t>Processor treats peripherals registers the same as data memory, and uses load/store instructions to read from/write </a:t>
            </a:r>
            <a:r>
              <a:rPr lang="en-US"/>
              <a:t>to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5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</a:t>
            </a:r>
            <a:r>
              <a:rPr lang="en-US" i="1" dirty="0"/>
              <a:t>vs</a:t>
            </a:r>
            <a:r>
              <a:rPr lang="en-US" dirty="0"/>
              <a:t>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47800"/>
            <a:ext cx="869233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1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8" y="990600"/>
            <a:ext cx="815767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9A7A8-C81D-394E-BDB0-8F224A85A401}"/>
              </a:ext>
            </a:extLst>
          </p:cNvPr>
          <p:cNvSpPr txBox="1"/>
          <p:nvPr/>
        </p:nvSpPr>
        <p:spPr>
          <a:xfrm>
            <a:off x="757730" y="3886200"/>
            <a:ext cx="81576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Translating C to assembly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Load</a:t>
            </a:r>
            <a:r>
              <a:rPr lang="en-US" dirty="0"/>
              <a:t> values from memory into registers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LDR r0, =x %Load memory address of variable x into reg r0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LDR r1, [r0] %Load content of memory address r0 into reg r1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Modify </a:t>
            </a:r>
            <a:r>
              <a:rPr lang="en-US" dirty="0"/>
              <a:t>value by applying arithmetic operations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ADD r1, r1, #1 % r1 = r1 +1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Store</a:t>
            </a:r>
            <a:r>
              <a:rPr lang="en-US" dirty="0"/>
              <a:t> result from register to memory 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STR r1, [r0] %Store value of reg r1 into memory address r0 for variable x</a:t>
            </a:r>
          </a:p>
          <a:p>
            <a:pPr>
              <a:buClr>
                <a:schemeClr val="tx1"/>
              </a:buClr>
            </a:pPr>
            <a:r>
              <a:rPr lang="en-US" dirty="0"/>
              <a:t>x=-2 before addition, x=-1 after addition.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FDEC34-6CA6-4E92-9486-C2ECBD8838F4}"/>
                  </a:ext>
                </a:extLst>
              </p14:cNvPr>
              <p14:cNvContentPartPr/>
              <p14:nvPr/>
            </p14:nvContentPartPr>
            <p14:xfrm>
              <a:off x="4328569" y="500918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FDEC34-6CA6-4E92-9486-C2ECBD8838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2449" y="500306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14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670" y="1223296"/>
            <a:ext cx="6505735" cy="513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55AE5CA-6608-3D9A-5251-2205D9CB35A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7" y="1981200"/>
            <a:ext cx="5339795" cy="254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40CF01-4F3A-3A49-0C1F-EEBBC5A22AF1}"/>
              </a:ext>
            </a:extLst>
          </p:cNvPr>
          <p:cNvSpPr txBox="1"/>
          <p:nvPr/>
        </p:nvSpPr>
        <p:spPr>
          <a:xfrm>
            <a:off x="609600" y="1223296"/>
            <a:ext cx="3875485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x is initialized to -2 = 0xFFFFFFFE</a:t>
            </a:r>
          </a:p>
          <a:p>
            <a:r>
              <a:rPr lang="en-US" sz="2000" dirty="0"/>
              <a:t>After addition, x = -1 = 0xFFFFFFFF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C2110-6FDF-8967-7C21-F5660583B14E}"/>
              </a:ext>
            </a:extLst>
          </p:cNvPr>
          <p:cNvSpPr txBox="1"/>
          <p:nvPr/>
        </p:nvSpPr>
        <p:spPr>
          <a:xfrm>
            <a:off x="5379" y="4525004"/>
            <a:ext cx="54752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Memory address is 32 bits, e.g., variable x is stored at mem address 0x20000000.</a:t>
            </a:r>
          </a:p>
          <a:p>
            <a:r>
              <a:rPr lang="en-US" sz="1600" dirty="0"/>
              <a:t>Each memory address stores a Byte (8 bits), e.g., the Byte at mem address 0x20000000 is 0FE</a:t>
            </a:r>
          </a:p>
          <a:p>
            <a:r>
              <a:rPr lang="en-US" sz="1600" dirty="0"/>
              <a:t>Variable x is 0xFFFFFFFE, 4 Bytes (32 bits) and occupies 4 consecutive mem addresses from 0x20000000 to 0x20000003 (assuming Little Endian byte ordering)</a:t>
            </a:r>
          </a:p>
        </p:txBody>
      </p:sp>
    </p:spTree>
    <p:extLst>
      <p:ext uri="{BB962C8B-B14F-4D97-AF65-F5344CB8AC3E}">
        <p14:creationId xmlns:p14="http://schemas.microsoft.com/office/powerpoint/2010/main" val="304814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ARM Cortex-M4 Organization (STM32L4)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98959" y="5987018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System-on-a-chip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03" y="1219200"/>
            <a:ext cx="1127753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10972800" cy="4556760"/>
          </a:xfrm>
        </p:spPr>
        <p:txBody>
          <a:bodyPr/>
          <a:lstStyle/>
          <a:p>
            <a:r>
              <a:rPr lang="en-US" dirty="0"/>
              <a:t>Arithmetic and logic</a:t>
            </a:r>
          </a:p>
          <a:p>
            <a:pPr lvl="1"/>
            <a:r>
              <a:rPr lang="en-US" dirty="0"/>
              <a:t>Add, Subtract, Multiply, Divide, Shift, Rotate</a:t>
            </a:r>
          </a:p>
          <a:p>
            <a:r>
              <a:rPr lang="en-US" dirty="0"/>
              <a:t>Data movement</a:t>
            </a:r>
          </a:p>
          <a:p>
            <a:pPr lvl="1"/>
            <a:r>
              <a:rPr lang="en-US" dirty="0"/>
              <a:t>Load, Store, Move</a:t>
            </a:r>
          </a:p>
          <a:p>
            <a:r>
              <a:rPr lang="en-US" dirty="0"/>
              <a:t>Compare and branch</a:t>
            </a:r>
          </a:p>
          <a:p>
            <a:pPr lvl="1"/>
            <a:r>
              <a:rPr lang="en-US" dirty="0"/>
              <a:t>Compare, Test, If-then, Branch, compare and branch on zero</a:t>
            </a:r>
          </a:p>
          <a:p>
            <a:r>
              <a:rPr lang="en-US" dirty="0"/>
              <a:t>Miscellaneous</a:t>
            </a:r>
          </a:p>
          <a:p>
            <a:pPr lvl="1"/>
            <a:r>
              <a:rPr lang="en-US" dirty="0"/>
              <a:t>Breakpoints, wait for events, interrupt enable/disable, data memory barrier, data synchronization barrier</a:t>
            </a:r>
          </a:p>
        </p:txBody>
      </p:sp>
    </p:spTree>
    <p:extLst>
      <p:ext uri="{BB962C8B-B14F-4D97-AF65-F5344CB8AC3E}">
        <p14:creationId xmlns:p14="http://schemas.microsoft.com/office/powerpoint/2010/main" val="130006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Labels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47091049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17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Labels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0589940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mnemonic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3456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Place marker, marking the memory address of the current instruction</a:t>
            </a:r>
          </a:p>
          <a:p>
            <a:r>
              <a:rPr lang="en-US" sz="2000" dirty="0"/>
              <a:t>Used by branch instructions to implement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if-then </a:t>
            </a:r>
            <a:r>
              <a:rPr lang="en-US" sz="2000" dirty="0"/>
              <a:t>or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goto</a:t>
            </a:r>
            <a:endParaRPr lang="en-US" sz="2000" b="1" dirty="0">
              <a:solidFill>
                <a:srgbClr val="0000FF"/>
              </a:solidFill>
            </a:endParaRPr>
          </a:p>
          <a:p>
            <a:r>
              <a:rPr lang="en-US" sz="2000" dirty="0"/>
              <a:t>Must be unique</a:t>
            </a:r>
          </a:p>
        </p:txBody>
      </p:sp>
    </p:spTree>
    <p:extLst>
      <p:ext uri="{BB962C8B-B14F-4D97-AF65-F5344CB8AC3E}">
        <p14:creationId xmlns:p14="http://schemas.microsoft.com/office/powerpoint/2010/main" val="1229670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Mnemonic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24264907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mnemonic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operand1, operand2, operand3  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7266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name of the instruction</a:t>
            </a:r>
          </a:p>
          <a:p>
            <a:r>
              <a:rPr lang="en-US" sz="2000" dirty="0"/>
              <a:t>Operation to be performed by processor core</a:t>
            </a:r>
          </a:p>
        </p:txBody>
      </p:sp>
    </p:spTree>
    <p:extLst>
      <p:ext uri="{BB962C8B-B14F-4D97-AF65-F5344CB8AC3E}">
        <p14:creationId xmlns:p14="http://schemas.microsoft.com/office/powerpoint/2010/main" val="420843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Operands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61409767"/>
              </p:ext>
            </p:extLst>
          </p:nvPr>
        </p:nvGraphicFramePr>
        <p:xfrm>
          <a:off x="1600200" y="1257300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operand1, operand2, operand3 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comments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32460" y="1763515"/>
            <a:ext cx="10061027" cy="417373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Operands</a:t>
            </a:r>
          </a:p>
          <a:p>
            <a:pPr lvl="1"/>
            <a:r>
              <a:rPr lang="en-US" sz="1600" dirty="0"/>
              <a:t>Registers</a:t>
            </a:r>
          </a:p>
          <a:p>
            <a:pPr lvl="1"/>
            <a:r>
              <a:rPr lang="en-US" sz="1600" dirty="0"/>
              <a:t>Constants (called </a:t>
            </a:r>
            <a:r>
              <a:rPr lang="en-US" sz="1600" i="1" dirty="0">
                <a:solidFill>
                  <a:srgbClr val="0000FF"/>
                </a:solidFill>
              </a:rPr>
              <a:t>immediate values</a:t>
            </a:r>
            <a:r>
              <a:rPr lang="en-US" sz="1600" dirty="0"/>
              <a:t>)</a:t>
            </a:r>
          </a:p>
          <a:p>
            <a:r>
              <a:rPr lang="en-US" sz="1800" dirty="0"/>
              <a:t>Number of operands varies</a:t>
            </a:r>
          </a:p>
          <a:p>
            <a:pPr lvl="1"/>
            <a:r>
              <a:rPr lang="en-US" sz="1600" dirty="0"/>
              <a:t>No operands: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DSB</a:t>
            </a:r>
            <a:endParaRPr lang="en-US" sz="1600" dirty="0"/>
          </a:p>
          <a:p>
            <a:pPr lvl="1"/>
            <a:r>
              <a:rPr lang="en-US" sz="1600" dirty="0"/>
              <a:t>One operand: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BX LR</a:t>
            </a:r>
            <a:endParaRPr lang="en-US" sz="1600" dirty="0"/>
          </a:p>
          <a:p>
            <a:pPr lvl="1"/>
            <a:r>
              <a:rPr lang="en-US" sz="1600" dirty="0"/>
              <a:t>Two operands: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</a:t>
            </a:r>
            <a:endParaRPr lang="en-US" sz="1600" dirty="0"/>
          </a:p>
          <a:p>
            <a:pPr lvl="1"/>
            <a:r>
              <a:rPr lang="en-US" sz="1600" dirty="0"/>
              <a:t>Three operands: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R2, R3</a:t>
            </a:r>
          </a:p>
          <a:p>
            <a:pPr lvl="1"/>
            <a:r>
              <a:rPr lang="en-US" sz="1600" dirty="0"/>
              <a:t>Four operands: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R1, R2, R3, R4</a:t>
            </a:r>
            <a:endParaRPr lang="en-US" sz="1600" dirty="0"/>
          </a:p>
          <a:p>
            <a:r>
              <a:rPr lang="en-US" sz="1800" dirty="0"/>
              <a:t>Normally</a:t>
            </a:r>
            <a:endParaRPr lang="en-US" sz="2400" dirty="0"/>
          </a:p>
          <a:p>
            <a:pPr lvl="1"/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operand1</a:t>
            </a:r>
            <a:r>
              <a:rPr lang="en-US" sz="1600" dirty="0"/>
              <a:t> is the destination register, and operand2 and operand3 are source operands. </a:t>
            </a:r>
          </a:p>
          <a:p>
            <a:pPr lvl="1"/>
            <a:r>
              <a:rPr lang="en-US" sz="1600" dirty="0">
                <a:solidFill>
                  <a:srgbClr val="0000FF"/>
                </a:solidFill>
              </a:rPr>
              <a:t>operand2</a:t>
            </a:r>
            <a:r>
              <a:rPr lang="en-US" sz="1600" dirty="0"/>
              <a:t> is usually a register, and the first source operand</a:t>
            </a:r>
          </a:p>
          <a:p>
            <a:pPr lvl="1"/>
            <a:r>
              <a:rPr lang="en-US" sz="1600" dirty="0">
                <a:solidFill>
                  <a:srgbClr val="0000FF"/>
                </a:solidFill>
              </a:rPr>
              <a:t>operand3</a:t>
            </a:r>
            <a:r>
              <a:rPr lang="en-US" sz="1600" dirty="0"/>
              <a:t> may be a register, an immediate number, a register shifted to a constant number of bits, or a register plus an offset (used for memory access).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39959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Format: Comments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880326210"/>
              </p:ext>
            </p:extLst>
          </p:nvPr>
        </p:nvGraphicFramePr>
        <p:xfrm>
          <a:off x="1978573" y="1586383"/>
          <a:ext cx="8371069" cy="3048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71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   mnemonic operand1, operand2, operand3 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comments</a:t>
                      </a:r>
                      <a:endParaRPr lang="en-US" sz="2800" b="1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609600" y="2365046"/>
            <a:ext cx="8534400" cy="132258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Everything after the semicolon (;) is a comment</a:t>
            </a:r>
          </a:p>
          <a:p>
            <a:r>
              <a:rPr lang="en-US" sz="2000" dirty="0"/>
              <a:t>Explain programmers’ intentions or assumptions </a:t>
            </a:r>
          </a:p>
        </p:txBody>
      </p:sp>
    </p:spTree>
    <p:extLst>
      <p:ext uri="{BB962C8B-B14F-4D97-AF65-F5344CB8AC3E}">
        <p14:creationId xmlns:p14="http://schemas.microsoft.com/office/powerpoint/2010/main" val="234498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Instruction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8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55325585"/>
              </p:ext>
            </p:extLst>
          </p:nvPr>
        </p:nvGraphicFramePr>
        <p:xfrm>
          <a:off x="1676400" y="1676400"/>
          <a:ext cx="8305800" cy="2743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30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	mnemonic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operand1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operand2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operand3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comments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09800" y="2721114"/>
            <a:ext cx="8151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4320" lvl="1"/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target   ADD r0, r2, r3  ; r0 = r2 + r3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514600" y="3352800"/>
            <a:ext cx="12954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267200" y="3335676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29200" y="3340813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91200" y="3345950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553200" y="3335676"/>
            <a:ext cx="6096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2743200" y="3352800"/>
            <a:ext cx="419100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37668" y="427886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152900" y="3352800"/>
            <a:ext cx="419100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1401" y="429369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mnemonic</a:t>
            </a:r>
          </a:p>
        </p:txBody>
      </p:sp>
      <p:cxnSp>
        <p:nvCxnSpPr>
          <p:cNvPr id="23" name="Straight Arrow Connector 22"/>
          <p:cNvCxnSpPr>
            <a:stCxn id="28" idx="0"/>
          </p:cNvCxnSpPr>
          <p:nvPr/>
        </p:nvCxnSpPr>
        <p:spPr>
          <a:xfrm flipV="1">
            <a:off x="5285948" y="3352800"/>
            <a:ext cx="48053" cy="914400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0" idx="0"/>
          </p:cNvCxnSpPr>
          <p:nvPr/>
        </p:nvCxnSpPr>
        <p:spPr>
          <a:xfrm flipH="1" flipV="1">
            <a:off x="6114194" y="3340814"/>
            <a:ext cx="439006" cy="926387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9" idx="0"/>
          </p:cNvCxnSpPr>
          <p:nvPr/>
        </p:nvCxnSpPr>
        <p:spPr>
          <a:xfrm flipH="1" flipV="1">
            <a:off x="6858000" y="3335676"/>
            <a:ext cx="1140432" cy="931524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67801" y="425007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67201"/>
            <a:ext cx="14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destination operand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1401" y="4267201"/>
            <a:ext cx="1214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6983" y="4267201"/>
            <a:ext cx="133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source operand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7391400" y="3335676"/>
            <a:ext cx="2969670" cy="1027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6" idx="0"/>
          </p:cNvCxnSpPr>
          <p:nvPr/>
        </p:nvCxnSpPr>
        <p:spPr>
          <a:xfrm flipH="1" flipV="1">
            <a:off x="8993740" y="3345950"/>
            <a:ext cx="609624" cy="904126"/>
          </a:xfrm>
          <a:prstGeom prst="straightConnector1">
            <a:avLst/>
          </a:prstGeom>
          <a:ln w="127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45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Instruction Format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49477667"/>
              </p:ext>
            </p:extLst>
          </p:nvPr>
        </p:nvGraphicFramePr>
        <p:xfrm>
          <a:off x="1676400" y="1676400"/>
          <a:ext cx="9296400" cy="2743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29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label	mnemonic operand1, operand2, operand3    ; comments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2057400" y="2667000"/>
            <a:ext cx="9448800" cy="3489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Examples:  </a:t>
            </a:r>
            <a:r>
              <a:rPr lang="en-US" dirty="0"/>
              <a:t>Variants of the ADD instruction</a:t>
            </a:r>
            <a:endParaRPr lang="pt-BR" dirty="0"/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r2, r3    ; r1 = r2 + r3. Used in this course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r3        ; r1 = r1 + r3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r2, #4    ; r1 = r2 + 4. Used in this course</a:t>
            </a:r>
          </a:p>
          <a:p>
            <a:pPr marL="274320" lvl="1" indent="0">
              <a:buNone/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ADD r1, #15       ; r1 = r1 + 15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34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Assembly Program: </a:t>
            </a:r>
            <a:br>
              <a:rPr lang="en-US" dirty="0"/>
            </a:br>
            <a:r>
              <a:rPr lang="en-US" dirty="0"/>
              <a:t>Copying a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84367"/>
            <a:ext cx="7641352" cy="4306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D5DD0-0221-C203-84B7-D2E3CE23F1F9}"/>
              </a:ext>
            </a:extLst>
          </p:cNvPr>
          <p:cNvSpPr txBox="1"/>
          <p:nvPr/>
        </p:nvSpPr>
        <p:spPr>
          <a:xfrm>
            <a:off x="6781800" y="609966"/>
            <a:ext cx="4953000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Label “</a:t>
            </a:r>
            <a:r>
              <a:rPr lang="en-US" sz="2000" dirty="0" err="1"/>
              <a:t>strcpy</a:t>
            </a:r>
            <a:r>
              <a:rPr lang="en-US" sz="2000" dirty="0"/>
              <a:t>” is unused in this program</a:t>
            </a:r>
          </a:p>
          <a:p>
            <a:r>
              <a:rPr lang="en-US" sz="2000" dirty="0"/>
              <a:t>Label “loop” is used by “BNE loop” to implement a loop</a:t>
            </a:r>
          </a:p>
          <a:p>
            <a:r>
              <a:rPr lang="en-US" sz="2000" dirty="0"/>
              <a:t>Label “stop” is used by “B stop” to implement an infinite loop (end of program)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CBEA4-FD31-F03F-26B2-2F3310304B64}"/>
              </a:ext>
            </a:extLst>
          </p:cNvPr>
          <p:cNvSpPr txBox="1"/>
          <p:nvPr/>
        </p:nvSpPr>
        <p:spPr>
          <a:xfrm>
            <a:off x="7690821" y="3962400"/>
            <a:ext cx="403860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Recall that a string has an implicit null terminator, used for checking for end of the string</a:t>
            </a:r>
          </a:p>
        </p:txBody>
      </p:sp>
    </p:spTree>
    <p:extLst>
      <p:ext uri="{BB962C8B-B14F-4D97-AF65-F5344CB8AC3E}">
        <p14:creationId xmlns:p14="http://schemas.microsoft.com/office/powerpoint/2010/main" val="3721319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Assembly Program: </a:t>
            </a:r>
            <a:br>
              <a:rPr lang="en-US" dirty="0"/>
            </a:br>
            <a:r>
              <a:rPr lang="en-US" dirty="0"/>
              <a:t>Copying a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03" y="1344207"/>
            <a:ext cx="7311398" cy="48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24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Directives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2743200" y="2209800"/>
          <a:ext cx="7010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AREA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Make a new block of data or code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ENTRY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an entry point where the program execution starts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ALIGN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Align data or code to a particular memory boundary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DCB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bytes (8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DCW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half-words (16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DCD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one or more words (32 bits) of data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SPACE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a zeroed block of memory with a particular size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FILL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Allocate a block of memory and fill with a given value.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EQU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Give a symbol name to a numeric constant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RN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Give a symbol name to a register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EXPORT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a symbol and make it referable by other source files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Provide a symbol defined outside the current source file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INCLUDE/GET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Include a separate source file within the current source file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PROC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Declare the start of a procedure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ENDP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Designate the end of a procedure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END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Designate the end of a source file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19483" marR="19483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Content Placeholder 3"/>
          <p:cNvSpPr txBox="1">
            <a:spLocks/>
          </p:cNvSpPr>
          <p:nvPr/>
        </p:nvSpPr>
        <p:spPr>
          <a:xfrm>
            <a:off x="1981200" y="1219200"/>
            <a:ext cx="82296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Directives are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instructions. Instead, they are used to provide key information for assembly.</a:t>
            </a:r>
          </a:p>
        </p:txBody>
      </p:sp>
    </p:spTree>
    <p:extLst>
      <p:ext uri="{BB962C8B-B14F-4D97-AF65-F5344CB8AC3E}">
        <p14:creationId xmlns:p14="http://schemas.microsoft.com/office/powerpoint/2010/main" val="649671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AREA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ENTRY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END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16608" y="3924300"/>
            <a:ext cx="8839200" cy="231775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en-US" sz="1800" dirty="0"/>
              <a:t> directive indicates to the assembler the start of a new data or code section. </a:t>
            </a:r>
          </a:p>
          <a:p>
            <a:r>
              <a:rPr lang="en-US" sz="1800" dirty="0"/>
              <a:t>Areas are the basic independent and indivisible unit processed by the </a:t>
            </a:r>
            <a:r>
              <a:rPr lang="en-US" sz="1800" b="1" dirty="0">
                <a:solidFill>
                  <a:srgbClr val="0000FF"/>
                </a:solidFill>
              </a:rPr>
              <a:t>linker</a:t>
            </a:r>
            <a:r>
              <a:rPr lang="en-US" sz="1800" dirty="0"/>
              <a:t>. </a:t>
            </a:r>
          </a:p>
          <a:p>
            <a:r>
              <a:rPr lang="en-US" sz="1800" dirty="0"/>
              <a:t>Each area is identified by a name and areas within the same source file </a:t>
            </a:r>
            <a:r>
              <a:rPr lang="en-US" sz="1800" b="1" dirty="0">
                <a:solidFill>
                  <a:srgbClr val="0000FF"/>
                </a:solidFill>
              </a:rPr>
              <a:t>cannot share the same name.</a:t>
            </a:r>
            <a:r>
              <a:rPr lang="en-US" sz="1800" dirty="0"/>
              <a:t>  </a:t>
            </a:r>
          </a:p>
          <a:p>
            <a:r>
              <a:rPr lang="en-US" sz="1800" dirty="0"/>
              <a:t>An assembly program must have </a:t>
            </a:r>
            <a:r>
              <a:rPr lang="en-US" sz="1800" b="1" dirty="0">
                <a:solidFill>
                  <a:srgbClr val="0000FF"/>
                </a:solidFill>
              </a:rPr>
              <a:t>at least one code area</a:t>
            </a:r>
            <a:r>
              <a:rPr lang="en-US" sz="1800" dirty="0"/>
              <a:t>. </a:t>
            </a:r>
          </a:p>
          <a:p>
            <a:r>
              <a:rPr lang="en-US" sz="1800" dirty="0"/>
              <a:t>By default, a code area can only be read 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/>
              <a:t>) and a data area may be read from and written to 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READWRITE</a:t>
            </a:r>
            <a:r>
              <a:rPr lang="en-US" sz="1800" dirty="0"/>
              <a:t>).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9623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ENTRY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END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ENTRY</a:t>
            </a:r>
            <a:r>
              <a:rPr lang="en-US" sz="1800" dirty="0"/>
              <a:t> directive marks </a:t>
            </a:r>
            <a:r>
              <a:rPr lang="en-US" sz="1800" b="1" dirty="0">
                <a:solidFill>
                  <a:srgbClr val="0000FF"/>
                </a:solidFill>
              </a:rPr>
              <a:t>the start point </a:t>
            </a:r>
            <a:r>
              <a:rPr lang="en-US" sz="1800" dirty="0"/>
              <a:t>to execute a program. </a:t>
            </a:r>
          </a:p>
          <a:p>
            <a:r>
              <a:rPr lang="en-US" sz="1800" dirty="0"/>
              <a:t>There must be </a:t>
            </a:r>
            <a:r>
              <a:rPr lang="en-US" sz="1800" b="1" dirty="0">
                <a:solidFill>
                  <a:srgbClr val="0000FF"/>
                </a:solidFill>
              </a:rPr>
              <a:t>exactly one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ENTRY</a:t>
            </a:r>
            <a:r>
              <a:rPr lang="en-US" sz="1800" dirty="0"/>
              <a:t> directive in an application, no matter how many source files the application has. </a:t>
            </a:r>
          </a:p>
        </p:txBody>
      </p:sp>
    </p:spTree>
    <p:extLst>
      <p:ext uri="{BB962C8B-B14F-4D97-AF65-F5344CB8AC3E}">
        <p14:creationId xmlns:p14="http://schemas.microsoft.com/office/powerpoint/2010/main" val="3998497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sz="1800" dirty="0"/>
              <a:t> directive indicates the end of a source file. </a:t>
            </a:r>
          </a:p>
          <a:p>
            <a:r>
              <a:rPr lang="en-US" sz="1800" dirty="0"/>
              <a:t>Each assembly program must end with this directive.</a:t>
            </a:r>
          </a:p>
        </p:txBody>
      </p:sp>
    </p:spTree>
    <p:extLst>
      <p:ext uri="{BB962C8B-B14F-4D97-AF65-F5344CB8AC3E}">
        <p14:creationId xmlns:p14="http://schemas.microsoft.com/office/powerpoint/2010/main" val="253214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</a:t>
            </a:r>
            <a:r>
              <a:rPr lang="en-US" dirty="0" err="1"/>
              <a:t>PROC</a:t>
            </a:r>
            <a:r>
              <a:rPr lang="en-US" dirty="0"/>
              <a:t> and </a:t>
            </a:r>
            <a:r>
              <a:rPr lang="en-US" dirty="0" err="1"/>
              <a:t>ENDP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EXPORT  __main               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 are to mark the start and end of a function (also called subroutine or procedure). </a:t>
            </a:r>
          </a:p>
          <a:p>
            <a:r>
              <a:rPr lang="en-US" sz="1800" dirty="0"/>
              <a:t>A single source file can contain multiple subroutines, with each of them defined by a pair of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. 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sz="1800" dirty="0"/>
              <a:t> cannot be nested. We cannot define a function within another function.</a:t>
            </a:r>
          </a:p>
        </p:txBody>
      </p:sp>
    </p:spTree>
    <p:extLst>
      <p:ext uri="{BB962C8B-B14F-4D97-AF65-F5344CB8AC3E}">
        <p14:creationId xmlns:p14="http://schemas.microsoft.com/office/powerpoint/2010/main" val="597241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EXPORT and IMPORT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21604" y="1371600"/>
          <a:ext cx="8970196" cy="2438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READWRITE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; Define a data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Array	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1, 2, 3, 4, 5            ; Define an array with five integers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AREA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myCode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READONLY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; Define a code section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 __main              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Make __main visible to the linker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ENTRY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Mark the entrance to the entire program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	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;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marks the begin of a subroutine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...                          ; Assembly program starts here.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; Mark the end of a subroutine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                ; Mark the end of a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4038600"/>
            <a:ext cx="8839200" cy="2042160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 sz="1800" dirty="0"/>
              <a:t> declares a symbol and makes this </a:t>
            </a:r>
            <a:r>
              <a:rPr lang="en-US" sz="1800" b="1" dirty="0">
                <a:solidFill>
                  <a:srgbClr val="0000FF"/>
                </a:solidFill>
              </a:rPr>
              <a:t>symbol visible </a:t>
            </a:r>
            <a:r>
              <a:rPr lang="en-US" sz="1800" dirty="0"/>
              <a:t>to the linker. 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800" dirty="0"/>
              <a:t> gives the assembler a symbol that is </a:t>
            </a:r>
            <a:r>
              <a:rPr lang="en-US" sz="1800" b="1" dirty="0">
                <a:solidFill>
                  <a:srgbClr val="0000FF"/>
                </a:solidFill>
              </a:rPr>
              <a:t>not defined locally </a:t>
            </a:r>
            <a:r>
              <a:rPr lang="en-US" sz="1800" dirty="0"/>
              <a:t>in the current assembly file.  The symbol must be defined in another file.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800" dirty="0"/>
              <a:t> is similar to the “extern” keyword in C.</a:t>
            </a:r>
          </a:p>
        </p:txBody>
      </p:sp>
    </p:spTree>
    <p:extLst>
      <p:ext uri="{BB962C8B-B14F-4D97-AF65-F5344CB8AC3E}">
        <p14:creationId xmlns:p14="http://schemas.microsoft.com/office/powerpoint/2010/main" val="1797255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Defining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18360" y="2057400"/>
          <a:ext cx="8077200" cy="34159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Directive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Description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Memory Space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DCB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Byte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8-bit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DCW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Half-word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16-bit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DCD</a:t>
                      </a:r>
                      <a:endParaRPr lang="en-US" sz="18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 Constant Word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32-bit values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4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DCQ</a:t>
                      </a:r>
                      <a:endParaRPr lang="en-US" sz="18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Define Constant 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64-bit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8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DCFS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Define single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-</a:t>
                      </a: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precision floating-point numbers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32-bit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773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DCFD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+mn-lt"/>
                          <a:ea typeface="宋体"/>
                          <a:cs typeface="Consolas" panose="020B0609020204030204" pitchFamily="49" charset="0"/>
                        </a:rPr>
                        <a:t>Define double-precision floating-point numbers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64-bit values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65465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SPACE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Defined Zeroed Bytes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a number of zeroed bytes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7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FILL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</a:rPr>
                        <a:t>Defined Initialized Bytes</a:t>
                      </a:r>
                      <a:endParaRPr lang="en-US" sz="180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Reserve and fill each byte with a value</a:t>
                      </a:r>
                      <a:endParaRPr lang="en-US" sz="1800" dirty="0">
                        <a:effectLst/>
                        <a:latin typeface="+mn-lt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032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 Defining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1208098"/>
            <a:ext cx="8839200" cy="47474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AREA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DATA,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READWRITE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hello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"Hello World!",0  ; Allocate a string that is null-terminated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dollar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2,10,0,200        ; Allocate integers ranging from -128 to 255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scores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2,3.5,-0.8,4.0    ; Allocate 4 words containing decimal values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miles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DCW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100,200,50,0      ; Allocate integers between –32768 and 65535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Pi_S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DCFS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3.14              ; Allocate a single-precision floating number</a:t>
            </a:r>
          </a:p>
          <a:p>
            <a:endParaRPr 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Pi_D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DCFD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3.14              ; Allocate a double-precision floating number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255               ; Allocate 255 bytes of zeroed memory space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20,0xFF,1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; Allocate 20 bytes and set each byte to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binary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2_01010101        ; Allocate a byte in binary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octal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8_73              ; Allocate a byte in octal</a:t>
            </a:r>
          </a:p>
          <a:p>
            <a:endParaRPr lang="en-US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char   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‘A’               ; Allocate a byte initialized to ASCII of ‘A’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00B0-34DA-6FB6-0F47-2B2AEAED2DA8}"/>
              </a:ext>
            </a:extLst>
          </p:cNvPr>
          <p:cNvSpPr txBox="1"/>
          <p:nvPr/>
        </p:nvSpPr>
        <p:spPr>
          <a:xfrm>
            <a:off x="10591800" y="1828800"/>
            <a:ext cx="153471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int: [-128, 127]</a:t>
            </a:r>
          </a:p>
          <a:p>
            <a:r>
              <a:rPr lang="en-US" dirty="0" err="1"/>
              <a:t>uint</a:t>
            </a:r>
            <a:r>
              <a:rPr lang="en-US" dirty="0"/>
              <a:t>: [0, 255]</a:t>
            </a:r>
          </a:p>
        </p:txBody>
      </p:sp>
    </p:spTree>
    <p:extLst>
      <p:ext uri="{BB962C8B-B14F-4D97-AF65-F5344CB8AC3E}">
        <p14:creationId xmlns:p14="http://schemas.microsoft.com/office/powerpoint/2010/main" val="2360826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</a:t>
            </a:r>
            <a:r>
              <a:rPr lang="en-US" dirty="0" err="1"/>
              <a:t>EQU</a:t>
            </a:r>
            <a:r>
              <a:rPr lang="en-US" dirty="0"/>
              <a:t> and RN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4191000"/>
            <a:ext cx="8229600" cy="1965960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directive associates a symbolic name to a numeric constant. </a:t>
            </a:r>
          </a:p>
          <a:p>
            <a:r>
              <a:rPr lang="en-US" sz="1800" dirty="0"/>
              <a:t>Similar to the use of </a:t>
            </a:r>
            <a:r>
              <a:rPr lang="en-US" sz="1800" dirty="0">
                <a:latin typeface="Consolas" panose="020B0609020204030204" pitchFamily="49" charset="0"/>
              </a:rPr>
              <a:t>#define </a:t>
            </a:r>
            <a:r>
              <a:rPr lang="en-US" sz="1800" dirty="0"/>
              <a:t>in a C program, 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can be used to define a constant in an assembly code. </a:t>
            </a:r>
          </a:p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1800" dirty="0"/>
              <a:t> directive gives a symbolic name to a specific register.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295400"/>
            <a:ext cx="8534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Interrupt Number Definition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BusFault_IRQn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-11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Bus Fault Interrupt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SVCall_IRQn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-5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Call Interrupt 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PendSV_IRQn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-2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Pend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Interrupt                       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SysTick_IRQn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-1        ; Cortex-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System Tick Interrupt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Dividend    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6         ; Defines dividend for register 6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Divisor     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5         ; Defines divisor for register 5</a:t>
            </a:r>
          </a:p>
        </p:txBody>
      </p:sp>
    </p:spTree>
    <p:extLst>
      <p:ext uri="{BB962C8B-B14F-4D97-AF65-F5344CB8AC3E}">
        <p14:creationId xmlns:p14="http://schemas.microsoft.com/office/powerpoint/2010/main" val="1407638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ALIGN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2057401"/>
            <a:ext cx="876300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AREA example, CODE,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= 3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Memory address begins at a multiple of 8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ADD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; Instructions start at a multiple of 8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AREA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DATA,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= 2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Address starts at a multiple of four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The first byte of a 4-byte word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 4, 3                   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Align to the last byte (3) of a word (4)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0x33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Set the fourth byte of a 4-byte word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DCB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0x44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; Add a byte to make next data misaligned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; Force the next data to be aligned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DCD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12345                      ; Skip three bytes and store the word</a:t>
            </a:r>
          </a:p>
        </p:txBody>
      </p:sp>
    </p:spTree>
    <p:extLst>
      <p:ext uri="{BB962C8B-B14F-4D97-AF65-F5344CB8AC3E}">
        <p14:creationId xmlns:p14="http://schemas.microsoft.com/office/powerpoint/2010/main" val="456646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Directive: INCLUDE or GET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3733800"/>
            <a:ext cx="8229600" cy="2423160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en-US" sz="1800" dirty="0"/>
              <a:t> or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800" dirty="0"/>
              <a:t> directive is to include an assembly source file within another source file. </a:t>
            </a:r>
          </a:p>
          <a:p>
            <a:r>
              <a:rPr lang="en-US" sz="1800" dirty="0"/>
              <a:t>It is useful to include constant symbols defined by using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EQU</a:t>
            </a:r>
            <a:r>
              <a:rPr lang="en-US" sz="1800" dirty="0"/>
              <a:t> and stored in a separate source file.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95400"/>
            <a:ext cx="8001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INCLUDE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constants.s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Load Constant Definitions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AREA main, CODE,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EXPORT  __main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ENTRY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__main	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END </a:t>
            </a:r>
          </a:p>
        </p:txBody>
      </p:sp>
    </p:spTree>
    <p:extLst>
      <p:ext uri="{BB962C8B-B14F-4D97-AF65-F5344CB8AC3E}">
        <p14:creationId xmlns:p14="http://schemas.microsoft.com/office/powerpoint/2010/main" val="3132813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2964</TotalTime>
  <Words>2701</Words>
  <Application>Microsoft Office PowerPoint</Application>
  <PresentationFormat>Widescreen</PresentationFormat>
  <Paragraphs>384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Visio</vt:lpstr>
      <vt:lpstr>Z. Gu</vt:lpstr>
      <vt:lpstr>History</vt:lpstr>
      <vt:lpstr>ARM Processors</vt:lpstr>
      <vt:lpstr>Instruction Sets</vt:lpstr>
      <vt:lpstr>ARM Processors</vt:lpstr>
      <vt:lpstr>Processor Registers</vt:lpstr>
      <vt:lpstr>Processor Registers</vt:lpstr>
      <vt:lpstr>Processor Registers vs Peripheral Registers</vt:lpstr>
      <vt:lpstr>Processor Registers vs Peripheral Registers</vt:lpstr>
      <vt:lpstr>C vs Assembly</vt:lpstr>
      <vt:lpstr>Load-Modify-Store</vt:lpstr>
      <vt:lpstr>Load-Modify-Store</vt:lpstr>
      <vt:lpstr>ARM Cortex-M4 Organization (STM32L4)</vt:lpstr>
      <vt:lpstr>Assembly Instructions</vt:lpstr>
      <vt:lpstr>Instruction Format: Labels</vt:lpstr>
      <vt:lpstr>Instruction Format: Labels</vt:lpstr>
      <vt:lpstr>Instruction Format: Mnemonic</vt:lpstr>
      <vt:lpstr>Instruction Format: Operands</vt:lpstr>
      <vt:lpstr>Instruction Format: Comments</vt:lpstr>
      <vt:lpstr>ARM Instruction Format</vt:lpstr>
      <vt:lpstr>ARM Instruction Format</vt:lpstr>
      <vt:lpstr>Example Assembly Program:  Copying a String</vt:lpstr>
      <vt:lpstr>Example Assembly Program:  Copying a String</vt:lpstr>
      <vt:lpstr>Assembly Directives</vt:lpstr>
      <vt:lpstr>Directive:  AREA</vt:lpstr>
      <vt:lpstr>Directive:  ENTRY</vt:lpstr>
      <vt:lpstr>Directive:  END</vt:lpstr>
      <vt:lpstr>Directive:  PROC and ENDP</vt:lpstr>
      <vt:lpstr>Directive:  EXPORT and IMPORT</vt:lpstr>
      <vt:lpstr>Directive:  Defining Data</vt:lpstr>
      <vt:lpstr>Directive:  Defining Data</vt:lpstr>
      <vt:lpstr>Directive: EQU and RN</vt:lpstr>
      <vt:lpstr>Directive: ALIGN</vt:lpstr>
      <vt:lpstr>Directive: INCLUDE or 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310</cp:revision>
  <dcterms:created xsi:type="dcterms:W3CDTF">2013-02-03T05:36:57Z</dcterms:created>
  <dcterms:modified xsi:type="dcterms:W3CDTF">2026-09-23T15:04:05Z</dcterms:modified>
</cp:coreProperties>
</file>