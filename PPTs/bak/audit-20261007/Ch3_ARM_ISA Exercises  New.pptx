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363" r:id="rId3"/>
    <p:sldId id="364" r:id="rId4"/>
    <p:sldId id="356" r:id="rId5"/>
    <p:sldId id="357" r:id="rId6"/>
    <p:sldId id="358" r:id="rId7"/>
    <p:sldId id="3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40ECDD-0212-4B45-9BF7-647D2D054BF4}" v="1" dt="2025-12-30T22:43:30.4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80"/>
    <p:restoredTop sz="79085" autoAdjust="0"/>
  </p:normalViewPr>
  <p:slideViewPr>
    <p:cSldViewPr>
      <p:cViewPr varScale="1">
        <p:scale>
          <a:sx n="65" d="100"/>
          <a:sy n="65" d="100"/>
        </p:scale>
        <p:origin x="1493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addSld delSld modSld">
      <pc:chgData name="Zonghua Gu" userId="9a7e1853e1951ef5" providerId="LiveId" clId="{CF1FAA12-072C-4ED5-BA76-0FFFAEFDB88A}" dt="2025-12-30T22:44:00.780" v="20" actId="20577"/>
      <pc:docMkLst>
        <pc:docMk/>
      </pc:docMkLst>
      <pc:sldChg chg="modSp mod">
        <pc:chgData name="Zonghua Gu" userId="9a7e1853e1951ef5" providerId="LiveId" clId="{CF1FAA12-072C-4ED5-BA76-0FFFAEFDB88A}" dt="2025-12-30T22:44:00.780" v="20" actId="20577"/>
        <pc:sldMkLst>
          <pc:docMk/>
          <pc:sldMk cId="1683281344" sldId="256"/>
        </pc:sldMkLst>
        <pc:spChg chg="mod">
          <ac:chgData name="Zonghua Gu" userId="9a7e1853e1951ef5" providerId="LiveId" clId="{CF1FAA12-072C-4ED5-BA76-0FFFAEFDB88A}" dt="2025-12-30T22:44:00.780" v="20" actId="20577"/>
          <ac:spMkLst>
            <pc:docMk/>
            <pc:sldMk cId="1683281344" sldId="256"/>
            <ac:spMk id="6" creationId="{00000000-0000-0000-0000-000000000000}"/>
          </ac:spMkLst>
        </pc:spChg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2279077567" sldId="257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3048144614" sldId="258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3048144614" sldId="259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2324112261" sldId="260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3721319358" sldId="263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2343924571" sldId="265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1300065213" sldId="266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1744451952" sldId="267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4220434429" sldId="269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649671628" sldId="270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2929623183" sldId="271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456646672" sldId="272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3998497617" sldId="273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253214192" sldId="274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597241854" sldId="275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4275032348" sldId="276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2360826136" sldId="277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1797255846" sldId="278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1407638159" sldId="279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3132813864" sldId="280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306526086" sldId="281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2726857319" sldId="283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1718711449" sldId="284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1229670305" sldId="285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4208436722" sldId="286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2039959460" sldId="287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234498914" sldId="288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3256177428" sldId="289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1617291842" sldId="291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2388973279" sldId="292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1082350610" sldId="293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1604217003" sldId="294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2448674747" sldId="296"/>
        </pc:sldMkLst>
      </pc:sldChg>
      <pc:sldChg chg="del">
        <pc:chgData name="Zonghua Gu" userId="9a7e1853e1951ef5" providerId="LiveId" clId="{CF1FAA12-072C-4ED5-BA76-0FFFAEFDB88A}" dt="2025-12-30T22:43:11.902" v="0" actId="47"/>
        <pc:sldMkLst>
          <pc:docMk/>
          <pc:sldMk cId="3939880972" sldId="297"/>
        </pc:sldMkLst>
      </pc:sldChg>
      <pc:sldChg chg="add">
        <pc:chgData name="Zonghua Gu" userId="9a7e1853e1951ef5" providerId="LiveId" clId="{CF1FAA12-072C-4ED5-BA76-0FFFAEFDB88A}" dt="2025-12-30T22:43:30.424" v="1"/>
        <pc:sldMkLst>
          <pc:docMk/>
          <pc:sldMk cId="966429473" sldId="356"/>
        </pc:sldMkLst>
      </pc:sldChg>
      <pc:sldChg chg="add">
        <pc:chgData name="Zonghua Gu" userId="9a7e1853e1951ef5" providerId="LiveId" clId="{CF1FAA12-072C-4ED5-BA76-0FFFAEFDB88A}" dt="2025-12-30T22:43:30.424" v="1"/>
        <pc:sldMkLst>
          <pc:docMk/>
          <pc:sldMk cId="1239709488" sldId="357"/>
        </pc:sldMkLst>
      </pc:sldChg>
      <pc:sldChg chg="add">
        <pc:chgData name="Zonghua Gu" userId="9a7e1853e1951ef5" providerId="LiveId" clId="{CF1FAA12-072C-4ED5-BA76-0FFFAEFDB88A}" dt="2025-12-30T22:43:30.424" v="1"/>
        <pc:sldMkLst>
          <pc:docMk/>
          <pc:sldMk cId="1502810167" sldId="358"/>
        </pc:sldMkLst>
      </pc:sldChg>
      <pc:sldChg chg="add">
        <pc:chgData name="Zonghua Gu" userId="9a7e1853e1951ef5" providerId="LiveId" clId="{CF1FAA12-072C-4ED5-BA76-0FFFAEFDB88A}" dt="2025-12-30T22:43:30.424" v="1"/>
        <pc:sldMkLst>
          <pc:docMk/>
          <pc:sldMk cId="670903100" sldId="359"/>
        </pc:sldMkLst>
      </pc:sldChg>
      <pc:sldChg chg="modSp add mod modTransition">
        <pc:chgData name="Zonghua Gu" userId="9a7e1853e1951ef5" providerId="LiveId" clId="{CF1FAA12-072C-4ED5-BA76-0FFFAEFDB88A}" dt="2025-12-30T22:43:39.500" v="3" actId="14100"/>
        <pc:sldMkLst>
          <pc:docMk/>
          <pc:sldMk cId="3486040908" sldId="363"/>
        </pc:sldMkLst>
        <pc:spChg chg="mod">
          <ac:chgData name="Zonghua Gu" userId="9a7e1853e1951ef5" providerId="LiveId" clId="{CF1FAA12-072C-4ED5-BA76-0FFFAEFDB88A}" dt="2025-12-30T22:43:39.500" v="3" actId="14100"/>
          <ac:spMkLst>
            <pc:docMk/>
            <pc:sldMk cId="3486040908" sldId="363"/>
            <ac:spMk id="5" creationId="{49EAAEAC-5A83-FC31-3AD1-D95A0084E014}"/>
          </ac:spMkLst>
        </pc:spChg>
      </pc:sldChg>
      <pc:sldChg chg="modSp add mod modTransition">
        <pc:chgData name="Zonghua Gu" userId="9a7e1853e1951ef5" providerId="LiveId" clId="{CF1FAA12-072C-4ED5-BA76-0FFFAEFDB88A}" dt="2025-12-30T22:43:43.291" v="4" actId="14100"/>
        <pc:sldMkLst>
          <pc:docMk/>
          <pc:sldMk cId="3561992185" sldId="364"/>
        </pc:sldMkLst>
        <pc:spChg chg="mod">
          <ac:chgData name="Zonghua Gu" userId="9a7e1853e1951ef5" providerId="LiveId" clId="{CF1FAA12-072C-4ED5-BA76-0FFFAEFDB88A}" dt="2025-12-30T22:43:43.291" v="4" actId="14100"/>
          <ac:spMkLst>
            <pc:docMk/>
            <pc:sldMk cId="3561992185" sldId="364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752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440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63875" y="684213"/>
            <a:ext cx="3487738" cy="2616200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77580" y="3488352"/>
            <a:ext cx="7046042" cy="33031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032239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63875" y="684213"/>
            <a:ext cx="3487738" cy="2616200"/>
          </a:xfrm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277580" y="3488352"/>
            <a:ext cx="7046042" cy="33031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r>
              <a:rPr lang="en-US"/>
              <a:t>Halfword access and signed halfword/byte accesses were added to the architecture in v4T, this is the reason the offset field is not as flexible as the normal word/byte load/store - not a problem because these accesses are less common.</a:t>
            </a:r>
          </a:p>
          <a:p>
            <a:endParaRPr lang="en-US"/>
          </a:p>
          <a:p>
            <a:r>
              <a:rPr lang="en-US"/>
              <a:t>Link: diagram on next slide</a:t>
            </a:r>
          </a:p>
        </p:txBody>
      </p:sp>
    </p:spTree>
    <p:extLst>
      <p:ext uri="{BB962C8B-B14F-4D97-AF65-F5344CB8AC3E}">
        <p14:creationId xmlns:p14="http://schemas.microsoft.com/office/powerpoint/2010/main" val="3518169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12/30/2025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12/30/2025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12/30/2025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31631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537" y="1905000"/>
            <a:ext cx="50340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3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ARM Instruction Set Architecture</a:t>
            </a:r>
          </a:p>
          <a:p>
            <a:pPr algn="r"/>
            <a:r>
              <a:rPr lang="en-US" sz="2400" b="1">
                <a:solidFill>
                  <a:srgbClr val="C00000"/>
                </a:solidFill>
              </a:rPr>
              <a:t>Exercises ANS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AF2752-E869-44D3-259E-876E866AF15A}"/>
              </a:ext>
            </a:extLst>
          </p:cNvPr>
          <p:cNvSpPr txBox="1"/>
          <p:nvPr/>
        </p:nvSpPr>
        <p:spPr>
          <a:xfrm>
            <a:off x="2334738" y="6321031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Question: </a:t>
            </a:r>
            <a:r>
              <a:rPr lang="en-US" altLang="zh-CN" dirty="0"/>
              <a:t>Endianness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9EAAEAC-5A83-FC31-3AD1-D95A0084E014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1295401"/>
            <a:ext cx="7162801" cy="4571999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Q: Assume Big Endian ordering. If a 32-bit word resides at memory address N, what is the address of: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The MSB (Most Significant Byte)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The 16-bit half-word corresponding to the most significant half of the word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  <a:latin typeface="Calibri"/>
              </a:rPr>
              <a:t>Q: </a:t>
            </a:r>
            <a:r>
              <a:rPr lang="en-US" sz="2000" dirty="0">
                <a:solidFill>
                  <a:prstClr val="black"/>
                </a:solidFill>
              </a:rPr>
              <a:t>Redo the question assuming Little Endian ordering.</a:t>
            </a:r>
          </a:p>
          <a:p>
            <a:pPr marL="257175" indent="-257175" defTabSz="342900"/>
            <a:endParaRPr lang="en-US" sz="2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C6BB36-F7F6-7578-6D42-2AA85F7E8DBE}"/>
              </a:ext>
            </a:extLst>
          </p:cNvPr>
          <p:cNvSpPr txBox="1"/>
          <p:nvPr/>
        </p:nvSpPr>
        <p:spPr>
          <a:xfrm>
            <a:off x="9849714" y="3094658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45796D-3335-5534-5D96-A9140AE9A628}"/>
              </a:ext>
            </a:extLst>
          </p:cNvPr>
          <p:cNvSpPr txBox="1"/>
          <p:nvPr/>
        </p:nvSpPr>
        <p:spPr>
          <a:xfrm>
            <a:off x="9830888" y="1668764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grpSp>
        <p:nvGrpSpPr>
          <p:cNvPr id="8" name="Group 33">
            <a:extLst>
              <a:ext uri="{FF2B5EF4-FFF2-40B4-BE49-F238E27FC236}">
                <a16:creationId xmlns:a16="http://schemas.microsoft.com/office/drawing/2014/main" id="{35C46318-1511-5927-1843-060ED31D9F4C}"/>
              </a:ext>
            </a:extLst>
          </p:cNvPr>
          <p:cNvGrpSpPr>
            <a:grpSpLocks/>
          </p:cNvGrpSpPr>
          <p:nvPr/>
        </p:nvGrpSpPr>
        <p:grpSpPr bwMode="auto">
          <a:xfrm>
            <a:off x="9267008" y="1615328"/>
            <a:ext cx="609600" cy="1944698"/>
            <a:chOff x="0" y="0"/>
            <a:chExt cx="384" cy="3072"/>
          </a:xfrm>
        </p:grpSpPr>
        <p:sp>
          <p:nvSpPr>
            <p:cNvPr id="9" name="Rectangle 34">
              <a:extLst>
                <a:ext uri="{FF2B5EF4-FFF2-40B4-BE49-F238E27FC236}">
                  <a16:creationId xmlns:a16="http://schemas.microsoft.com/office/drawing/2014/main" id="{D3CE61B3-7BC8-DF50-1362-0AE8D584E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0" name="Rectangle 35">
              <a:extLst>
                <a:ext uri="{FF2B5EF4-FFF2-40B4-BE49-F238E27FC236}">
                  <a16:creationId xmlns:a16="http://schemas.microsoft.com/office/drawing/2014/main" id="{F1F75AFF-16CC-3BED-47F1-ACAC71AA8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" name="Rectangle 36">
              <a:extLst>
                <a:ext uri="{FF2B5EF4-FFF2-40B4-BE49-F238E27FC236}">
                  <a16:creationId xmlns:a16="http://schemas.microsoft.com/office/drawing/2014/main" id="{557CE143-5421-0957-D1D0-0F02EBBD1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2" name="Rectangle 37">
              <a:extLst>
                <a:ext uri="{FF2B5EF4-FFF2-40B4-BE49-F238E27FC236}">
                  <a16:creationId xmlns:a16="http://schemas.microsoft.com/office/drawing/2014/main" id="{1EE626ED-7010-17DE-AB5D-6AFB4D638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2139613-6F00-189E-A3E7-E5782922CBC4}"/>
              </a:ext>
            </a:extLst>
          </p:cNvPr>
          <p:cNvSpPr txBox="1"/>
          <p:nvPr/>
        </p:nvSpPr>
        <p:spPr>
          <a:xfrm>
            <a:off x="7485325" y="2394670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Big-Endian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CA3B04-30BA-AB52-96CE-C4D0D46EBB0E}"/>
              </a:ext>
            </a:extLst>
          </p:cNvPr>
          <p:cNvSpPr txBox="1"/>
          <p:nvPr/>
        </p:nvSpPr>
        <p:spPr>
          <a:xfrm>
            <a:off x="8938569" y="31309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CD2F51-C323-A016-AE65-89BBE14397AE}"/>
              </a:ext>
            </a:extLst>
          </p:cNvPr>
          <p:cNvSpPr txBox="1"/>
          <p:nvPr/>
        </p:nvSpPr>
        <p:spPr>
          <a:xfrm>
            <a:off x="8688501" y="26257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04BC0F-A245-42B3-C099-6BBF3E77DA07}"/>
              </a:ext>
            </a:extLst>
          </p:cNvPr>
          <p:cNvSpPr txBox="1"/>
          <p:nvPr/>
        </p:nvSpPr>
        <p:spPr>
          <a:xfrm>
            <a:off x="8688501" y="21205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DF79D3-BC63-01D9-8A39-ECF46F38BC95}"/>
              </a:ext>
            </a:extLst>
          </p:cNvPr>
          <p:cNvSpPr txBox="1"/>
          <p:nvPr/>
        </p:nvSpPr>
        <p:spPr>
          <a:xfrm>
            <a:off x="8688501" y="1615327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69F1EE-91D8-E398-DD9D-52F4AB1EE7FB}"/>
              </a:ext>
            </a:extLst>
          </p:cNvPr>
          <p:cNvSpPr txBox="1"/>
          <p:nvPr/>
        </p:nvSpPr>
        <p:spPr>
          <a:xfrm>
            <a:off x="9868540" y="5672166"/>
            <a:ext cx="610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F0D440-E8BC-AE46-3AE9-338FF6B33378}"/>
              </a:ext>
            </a:extLst>
          </p:cNvPr>
          <p:cNvSpPr txBox="1"/>
          <p:nvPr/>
        </p:nvSpPr>
        <p:spPr>
          <a:xfrm>
            <a:off x="9849714" y="4246272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grpSp>
        <p:nvGrpSpPr>
          <p:cNvPr id="20" name="Group 33">
            <a:extLst>
              <a:ext uri="{FF2B5EF4-FFF2-40B4-BE49-F238E27FC236}">
                <a16:creationId xmlns:a16="http://schemas.microsoft.com/office/drawing/2014/main" id="{183D2BEA-EE34-406C-6810-8CC6014B68DE}"/>
              </a:ext>
            </a:extLst>
          </p:cNvPr>
          <p:cNvGrpSpPr>
            <a:grpSpLocks/>
          </p:cNvGrpSpPr>
          <p:nvPr/>
        </p:nvGrpSpPr>
        <p:grpSpPr bwMode="auto">
          <a:xfrm>
            <a:off x="9285834" y="4192837"/>
            <a:ext cx="609600" cy="1944699"/>
            <a:chOff x="0" y="0"/>
            <a:chExt cx="384" cy="3072"/>
          </a:xfrm>
        </p:grpSpPr>
        <p:sp>
          <p:nvSpPr>
            <p:cNvPr id="21" name="Rectangle 34">
              <a:extLst>
                <a:ext uri="{FF2B5EF4-FFF2-40B4-BE49-F238E27FC236}">
                  <a16:creationId xmlns:a16="http://schemas.microsoft.com/office/drawing/2014/main" id="{C7582571-BA7F-69D0-827B-EBD82C5EE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2" name="Rectangle 35">
              <a:extLst>
                <a:ext uri="{FF2B5EF4-FFF2-40B4-BE49-F238E27FC236}">
                  <a16:creationId xmlns:a16="http://schemas.microsoft.com/office/drawing/2014/main" id="{2C9B86DC-C9E1-CB88-7CD3-681B277B4DE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3" name="Rectangle 36">
              <a:extLst>
                <a:ext uri="{FF2B5EF4-FFF2-40B4-BE49-F238E27FC236}">
                  <a16:creationId xmlns:a16="http://schemas.microsoft.com/office/drawing/2014/main" id="{2A76A58B-264C-EFD2-2DD5-02427C49A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4" name="Rectangle 37">
              <a:extLst>
                <a:ext uri="{FF2B5EF4-FFF2-40B4-BE49-F238E27FC236}">
                  <a16:creationId xmlns:a16="http://schemas.microsoft.com/office/drawing/2014/main" id="{E9D9C064-223F-22B8-97AD-F27CD454A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BADE73D-7CA6-218E-0220-1DF06272FAF8}"/>
              </a:ext>
            </a:extLst>
          </p:cNvPr>
          <p:cNvSpPr txBox="1"/>
          <p:nvPr/>
        </p:nvSpPr>
        <p:spPr>
          <a:xfrm>
            <a:off x="7264110" y="4960591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22B737-C4CA-666C-7381-726AE2810029}"/>
              </a:ext>
            </a:extLst>
          </p:cNvPr>
          <p:cNvSpPr txBox="1"/>
          <p:nvPr/>
        </p:nvSpPr>
        <p:spPr>
          <a:xfrm>
            <a:off x="8938569" y="570845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9C1593-9919-82DF-B1C1-1207903CD675}"/>
              </a:ext>
            </a:extLst>
          </p:cNvPr>
          <p:cNvSpPr txBox="1"/>
          <p:nvPr/>
        </p:nvSpPr>
        <p:spPr>
          <a:xfrm>
            <a:off x="8688501" y="5203251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6131F4-49C2-41CB-B120-1D95E9BC8D28}"/>
              </a:ext>
            </a:extLst>
          </p:cNvPr>
          <p:cNvSpPr txBox="1"/>
          <p:nvPr/>
        </p:nvSpPr>
        <p:spPr>
          <a:xfrm>
            <a:off x="8688501" y="46980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556331-7EE5-1D81-15A9-F4F2DCDE82CA}"/>
              </a:ext>
            </a:extLst>
          </p:cNvPr>
          <p:cNvSpPr txBox="1"/>
          <p:nvPr/>
        </p:nvSpPr>
        <p:spPr>
          <a:xfrm>
            <a:off x="8688501" y="41928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</p:spTree>
    <p:extLst>
      <p:ext uri="{BB962C8B-B14F-4D97-AF65-F5344CB8AC3E}">
        <p14:creationId xmlns:p14="http://schemas.microsoft.com/office/powerpoint/2010/main" val="3486040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 </a:t>
            </a:r>
            <a:r>
              <a:rPr lang="en-US" altLang="zh-CN" dirty="0"/>
              <a:t>Endianness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3CC63E4C-4642-794D-A2FD-70F6B81535F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08566" y="1141510"/>
            <a:ext cx="6805626" cy="5411690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Q: Assume Big Endian ordering. If a 32-bit word resides at memory address N, what is the address of: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The MSB (Most Significant Byte)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The 16-bit half-word corresponding to the most significant half of the word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Redo the question assuming Little Endian ordering.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A: With Big Endian ordering: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N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N (the half-word has address range of [N, N+1], so its address is N)</a:t>
            </a:r>
          </a:p>
          <a:p>
            <a:pPr marL="257175" indent="-257175" defTabSz="342900"/>
            <a:r>
              <a:rPr lang="en-US" sz="2000" dirty="0">
                <a:solidFill>
                  <a:prstClr val="black"/>
                </a:solidFill>
              </a:rPr>
              <a:t>With Little Endian ordering: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(a) N+3</a:t>
            </a:r>
          </a:p>
          <a:p>
            <a:pPr marL="657225" lvl="1" indent="-257175" defTabSz="342900"/>
            <a:r>
              <a:rPr lang="en-US" sz="1600" dirty="0">
                <a:solidFill>
                  <a:prstClr val="black"/>
                </a:solidFill>
              </a:rPr>
              <a:t>(b) N+2 (the half-word has address range of [N+2, N+3], so its address is N+2)</a:t>
            </a:r>
            <a:endParaRPr lang="en-US" sz="16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5D03F1-A762-F492-543B-9AD6EC9F9CD7}"/>
              </a:ext>
            </a:extLst>
          </p:cNvPr>
          <p:cNvSpPr txBox="1"/>
          <p:nvPr/>
        </p:nvSpPr>
        <p:spPr>
          <a:xfrm>
            <a:off x="9849714" y="3094658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9EBAB1-3E91-1738-6671-40808660D47E}"/>
              </a:ext>
            </a:extLst>
          </p:cNvPr>
          <p:cNvSpPr txBox="1"/>
          <p:nvPr/>
        </p:nvSpPr>
        <p:spPr>
          <a:xfrm>
            <a:off x="9830888" y="1668764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grpSp>
        <p:nvGrpSpPr>
          <p:cNvPr id="9" name="Group 33">
            <a:extLst>
              <a:ext uri="{FF2B5EF4-FFF2-40B4-BE49-F238E27FC236}">
                <a16:creationId xmlns:a16="http://schemas.microsoft.com/office/drawing/2014/main" id="{0FF2FFB8-C1EC-4B19-F866-D1FB55EAD587}"/>
              </a:ext>
            </a:extLst>
          </p:cNvPr>
          <p:cNvGrpSpPr>
            <a:grpSpLocks/>
          </p:cNvGrpSpPr>
          <p:nvPr/>
        </p:nvGrpSpPr>
        <p:grpSpPr bwMode="auto">
          <a:xfrm>
            <a:off x="9267008" y="1615328"/>
            <a:ext cx="609600" cy="1944698"/>
            <a:chOff x="0" y="0"/>
            <a:chExt cx="384" cy="3072"/>
          </a:xfrm>
        </p:grpSpPr>
        <p:sp>
          <p:nvSpPr>
            <p:cNvPr id="10" name="Rectangle 34">
              <a:extLst>
                <a:ext uri="{FF2B5EF4-FFF2-40B4-BE49-F238E27FC236}">
                  <a16:creationId xmlns:a16="http://schemas.microsoft.com/office/drawing/2014/main" id="{F31FEC1C-ACD5-A713-4BFA-212468CF1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" name="Rectangle 35">
              <a:extLst>
                <a:ext uri="{FF2B5EF4-FFF2-40B4-BE49-F238E27FC236}">
                  <a16:creationId xmlns:a16="http://schemas.microsoft.com/office/drawing/2014/main" id="{8901F92C-FFDE-99A5-2A39-F3A959892A5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2" name="Rectangle 36">
              <a:extLst>
                <a:ext uri="{FF2B5EF4-FFF2-40B4-BE49-F238E27FC236}">
                  <a16:creationId xmlns:a16="http://schemas.microsoft.com/office/drawing/2014/main" id="{FBF8E902-648C-92E9-3599-30414D1EC9B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3" name="Rectangle 37">
              <a:extLst>
                <a:ext uri="{FF2B5EF4-FFF2-40B4-BE49-F238E27FC236}">
                  <a16:creationId xmlns:a16="http://schemas.microsoft.com/office/drawing/2014/main" id="{936169EB-F16E-DE3D-C69C-5E732BA94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0136153-F36F-FA15-4D76-068229B88F7A}"/>
              </a:ext>
            </a:extLst>
          </p:cNvPr>
          <p:cNvSpPr txBox="1"/>
          <p:nvPr/>
        </p:nvSpPr>
        <p:spPr>
          <a:xfrm>
            <a:off x="7485325" y="2394670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Big-Endian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9CB7C6-E157-92DF-797C-BCBEF1292FF3}"/>
              </a:ext>
            </a:extLst>
          </p:cNvPr>
          <p:cNvSpPr txBox="1"/>
          <p:nvPr/>
        </p:nvSpPr>
        <p:spPr>
          <a:xfrm>
            <a:off x="8938569" y="313095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519806-F7FA-F088-EDA0-400A30CE0486}"/>
              </a:ext>
            </a:extLst>
          </p:cNvPr>
          <p:cNvSpPr txBox="1"/>
          <p:nvPr/>
        </p:nvSpPr>
        <p:spPr>
          <a:xfrm>
            <a:off x="8688501" y="26257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A961C8-CAFC-5D62-A95B-EA81F6CE747D}"/>
              </a:ext>
            </a:extLst>
          </p:cNvPr>
          <p:cNvSpPr txBox="1"/>
          <p:nvPr/>
        </p:nvSpPr>
        <p:spPr>
          <a:xfrm>
            <a:off x="8688501" y="21205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AA8BB3-C5EF-3F77-86D2-DB1CCAEF36EC}"/>
              </a:ext>
            </a:extLst>
          </p:cNvPr>
          <p:cNvSpPr txBox="1"/>
          <p:nvPr/>
        </p:nvSpPr>
        <p:spPr>
          <a:xfrm>
            <a:off x="8688501" y="1615327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6F1534-5A97-76BA-4D10-552F77E560B8}"/>
              </a:ext>
            </a:extLst>
          </p:cNvPr>
          <p:cNvSpPr txBox="1"/>
          <p:nvPr/>
        </p:nvSpPr>
        <p:spPr>
          <a:xfrm>
            <a:off x="9868540" y="5672166"/>
            <a:ext cx="610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LSB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D6B71C-8785-BDEE-BEA1-D103CF6951D1}"/>
              </a:ext>
            </a:extLst>
          </p:cNvPr>
          <p:cNvSpPr txBox="1"/>
          <p:nvPr/>
        </p:nvSpPr>
        <p:spPr>
          <a:xfrm>
            <a:off x="9849714" y="4246272"/>
            <a:ext cx="722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MSB</a:t>
            </a:r>
          </a:p>
        </p:txBody>
      </p:sp>
      <p:grpSp>
        <p:nvGrpSpPr>
          <p:cNvPr id="21" name="Group 33">
            <a:extLst>
              <a:ext uri="{FF2B5EF4-FFF2-40B4-BE49-F238E27FC236}">
                <a16:creationId xmlns:a16="http://schemas.microsoft.com/office/drawing/2014/main" id="{77DD1410-0E9B-3B5D-C548-891FB3449B78}"/>
              </a:ext>
            </a:extLst>
          </p:cNvPr>
          <p:cNvGrpSpPr>
            <a:grpSpLocks/>
          </p:cNvGrpSpPr>
          <p:nvPr/>
        </p:nvGrpSpPr>
        <p:grpSpPr bwMode="auto">
          <a:xfrm>
            <a:off x="9285834" y="4192837"/>
            <a:ext cx="609600" cy="1944699"/>
            <a:chOff x="0" y="0"/>
            <a:chExt cx="384" cy="3072"/>
          </a:xfrm>
        </p:grpSpPr>
        <p:sp>
          <p:nvSpPr>
            <p:cNvPr id="22" name="Rectangle 34">
              <a:extLst>
                <a:ext uri="{FF2B5EF4-FFF2-40B4-BE49-F238E27FC236}">
                  <a16:creationId xmlns:a16="http://schemas.microsoft.com/office/drawing/2014/main" id="{ED0F7942-A8BC-20A0-E327-00CCBDCED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3" name="Rectangle 35">
              <a:extLst>
                <a:ext uri="{FF2B5EF4-FFF2-40B4-BE49-F238E27FC236}">
                  <a16:creationId xmlns:a16="http://schemas.microsoft.com/office/drawing/2014/main" id="{3B811DFC-B92F-7CA1-6FD4-485CC4601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768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4" name="Rectangle 36">
              <a:extLst>
                <a:ext uri="{FF2B5EF4-FFF2-40B4-BE49-F238E27FC236}">
                  <a16:creationId xmlns:a16="http://schemas.microsoft.com/office/drawing/2014/main" id="{19400406-FD11-6DEA-2CD1-191108C0D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536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5" name="Rectangle 37">
              <a:extLst>
                <a:ext uri="{FF2B5EF4-FFF2-40B4-BE49-F238E27FC236}">
                  <a16:creationId xmlns:a16="http://schemas.microsoft.com/office/drawing/2014/main" id="{CB0D7C8C-041A-DC9B-629E-F0CCD357F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304"/>
              <a:ext cx="384" cy="76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800" dirty="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BB9DD8F-2242-59A2-BE32-39681AA7529C}"/>
              </a:ext>
            </a:extLst>
          </p:cNvPr>
          <p:cNvSpPr txBox="1"/>
          <p:nvPr/>
        </p:nvSpPr>
        <p:spPr>
          <a:xfrm>
            <a:off x="7264110" y="4960591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Little-Endian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C21416-D864-3591-BC43-7915457E3818}"/>
              </a:ext>
            </a:extLst>
          </p:cNvPr>
          <p:cNvSpPr txBox="1"/>
          <p:nvPr/>
        </p:nvSpPr>
        <p:spPr>
          <a:xfrm>
            <a:off x="8938569" y="570845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D21E6B-94B9-06E4-6B52-2FB442C51E81}"/>
              </a:ext>
            </a:extLst>
          </p:cNvPr>
          <p:cNvSpPr txBox="1"/>
          <p:nvPr/>
        </p:nvSpPr>
        <p:spPr>
          <a:xfrm>
            <a:off x="8688501" y="5203251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E7BC82-354E-E661-231F-1B084AAE406E}"/>
              </a:ext>
            </a:extLst>
          </p:cNvPr>
          <p:cNvSpPr txBox="1"/>
          <p:nvPr/>
        </p:nvSpPr>
        <p:spPr>
          <a:xfrm>
            <a:off x="8688501" y="469804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ED4791-16C8-D283-A94D-BFD275E68AC3}"/>
              </a:ext>
            </a:extLst>
          </p:cNvPr>
          <p:cNvSpPr txBox="1"/>
          <p:nvPr/>
        </p:nvSpPr>
        <p:spPr>
          <a:xfrm>
            <a:off x="8688501" y="4192835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N+3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638461-6269-C6E9-6786-C46710975E86}"/>
              </a:ext>
            </a:extLst>
          </p:cNvPr>
          <p:cNvSpPr/>
          <p:nvPr/>
        </p:nvSpPr>
        <p:spPr>
          <a:xfrm>
            <a:off x="9276966" y="2587679"/>
            <a:ext cx="599643" cy="972349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26192F-D559-ADA3-4CCF-645E6A7E1269}"/>
              </a:ext>
            </a:extLst>
          </p:cNvPr>
          <p:cNvSpPr/>
          <p:nvPr/>
        </p:nvSpPr>
        <p:spPr>
          <a:xfrm>
            <a:off x="9296826" y="4202354"/>
            <a:ext cx="599643" cy="972349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99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/>
            <a:r>
              <a:rPr lang="en-US" altLang="zh-CN" dirty="0"/>
              <a:t>Question: Endianness</a:t>
            </a:r>
            <a:endParaRPr lang="en-US" dirty="0"/>
          </a:p>
        </p:txBody>
      </p:sp>
      <p:grpSp>
        <p:nvGrpSpPr>
          <p:cNvPr id="62" name="Group 61"/>
          <p:cNvGrpSpPr/>
          <p:nvPr/>
        </p:nvGrpSpPr>
        <p:grpSpPr>
          <a:xfrm>
            <a:off x="7154863" y="1057853"/>
            <a:ext cx="2504258" cy="5615166"/>
            <a:chOff x="5824055" y="1154163"/>
            <a:chExt cx="2504258" cy="5615166"/>
          </a:xfrm>
        </p:grpSpPr>
        <p:sp>
          <p:nvSpPr>
            <p:cNvPr id="63" name="Rectangle 6"/>
            <p:cNvSpPr>
              <a:spLocks/>
            </p:cNvSpPr>
            <p:nvPr/>
          </p:nvSpPr>
          <p:spPr bwMode="auto">
            <a:xfrm>
              <a:off x="6850351" y="1817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4" name="Rectangle 7"/>
            <p:cNvSpPr>
              <a:spLocks/>
            </p:cNvSpPr>
            <p:nvPr/>
          </p:nvSpPr>
          <p:spPr bwMode="auto">
            <a:xfrm>
              <a:off x="6850351" y="2122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5" name="Rectangle 8"/>
            <p:cNvSpPr>
              <a:spLocks/>
            </p:cNvSpPr>
            <p:nvPr/>
          </p:nvSpPr>
          <p:spPr bwMode="auto">
            <a:xfrm>
              <a:off x="6850351" y="2427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6" name="Rectangle 9"/>
            <p:cNvSpPr>
              <a:spLocks/>
            </p:cNvSpPr>
            <p:nvPr/>
          </p:nvSpPr>
          <p:spPr bwMode="auto">
            <a:xfrm>
              <a:off x="6850351" y="2732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7" name="Rectangle 10"/>
            <p:cNvSpPr>
              <a:spLocks/>
            </p:cNvSpPr>
            <p:nvPr/>
          </p:nvSpPr>
          <p:spPr bwMode="auto">
            <a:xfrm>
              <a:off x="6850351" y="3036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8" name="Rectangle 11"/>
            <p:cNvSpPr>
              <a:spLocks/>
            </p:cNvSpPr>
            <p:nvPr/>
          </p:nvSpPr>
          <p:spPr bwMode="auto">
            <a:xfrm>
              <a:off x="6850351" y="3341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9" name="Rectangle 12"/>
            <p:cNvSpPr>
              <a:spLocks/>
            </p:cNvSpPr>
            <p:nvPr/>
          </p:nvSpPr>
          <p:spPr bwMode="auto">
            <a:xfrm>
              <a:off x="6850351" y="3646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0" name="Rectangle 13"/>
            <p:cNvSpPr>
              <a:spLocks/>
            </p:cNvSpPr>
            <p:nvPr/>
          </p:nvSpPr>
          <p:spPr bwMode="auto">
            <a:xfrm>
              <a:off x="6850351" y="3951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1" name="Rectangle 14"/>
            <p:cNvSpPr>
              <a:spLocks/>
            </p:cNvSpPr>
            <p:nvPr/>
          </p:nvSpPr>
          <p:spPr bwMode="auto">
            <a:xfrm>
              <a:off x="6850351" y="4256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2" name="Rectangle 15"/>
            <p:cNvSpPr>
              <a:spLocks/>
            </p:cNvSpPr>
            <p:nvPr/>
          </p:nvSpPr>
          <p:spPr bwMode="auto">
            <a:xfrm>
              <a:off x="6850351" y="4560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3" name="Rectangle 16"/>
            <p:cNvSpPr>
              <a:spLocks/>
            </p:cNvSpPr>
            <p:nvPr/>
          </p:nvSpPr>
          <p:spPr bwMode="auto">
            <a:xfrm>
              <a:off x="6850351" y="4865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4" name="Rectangle 17"/>
            <p:cNvSpPr>
              <a:spLocks/>
            </p:cNvSpPr>
            <p:nvPr/>
          </p:nvSpPr>
          <p:spPr bwMode="auto">
            <a:xfrm>
              <a:off x="6850351" y="5170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5" name="Rectangle 18"/>
            <p:cNvSpPr>
              <a:spLocks/>
            </p:cNvSpPr>
            <p:nvPr/>
          </p:nvSpPr>
          <p:spPr bwMode="auto">
            <a:xfrm>
              <a:off x="7612351" y="176245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0015</a:t>
              </a:r>
            </a:p>
          </p:txBody>
        </p:sp>
        <p:sp>
          <p:nvSpPr>
            <p:cNvPr id="76" name="Rectangle 19"/>
            <p:cNvSpPr>
              <a:spLocks/>
            </p:cNvSpPr>
            <p:nvPr/>
          </p:nvSpPr>
          <p:spPr bwMode="auto">
            <a:xfrm>
              <a:off x="7612351" y="213897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0014</a:t>
              </a:r>
            </a:p>
          </p:txBody>
        </p:sp>
        <p:sp>
          <p:nvSpPr>
            <p:cNvPr id="77" name="Rectangle 20"/>
            <p:cNvSpPr>
              <a:spLocks/>
            </p:cNvSpPr>
            <p:nvPr/>
          </p:nvSpPr>
          <p:spPr bwMode="auto">
            <a:xfrm>
              <a:off x="7612351" y="2452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0013</a:t>
              </a:r>
            </a:p>
          </p:txBody>
        </p:sp>
        <p:sp>
          <p:nvSpPr>
            <p:cNvPr id="78" name="Rectangle 21"/>
            <p:cNvSpPr>
              <a:spLocks/>
            </p:cNvSpPr>
            <p:nvPr/>
          </p:nvSpPr>
          <p:spPr bwMode="auto">
            <a:xfrm>
              <a:off x="7612351" y="2757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0012</a:t>
              </a:r>
            </a:p>
          </p:txBody>
        </p:sp>
        <p:sp>
          <p:nvSpPr>
            <p:cNvPr id="79" name="Rectangle 22"/>
            <p:cNvSpPr>
              <a:spLocks/>
            </p:cNvSpPr>
            <p:nvPr/>
          </p:nvSpPr>
          <p:spPr bwMode="auto">
            <a:xfrm>
              <a:off x="7612351" y="3062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0011</a:t>
              </a:r>
            </a:p>
          </p:txBody>
        </p:sp>
        <p:sp>
          <p:nvSpPr>
            <p:cNvPr id="80" name="Rectangle 23"/>
            <p:cNvSpPr>
              <a:spLocks/>
            </p:cNvSpPr>
            <p:nvPr/>
          </p:nvSpPr>
          <p:spPr bwMode="auto">
            <a:xfrm>
              <a:off x="7612351" y="3367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0010</a:t>
              </a:r>
            </a:p>
          </p:txBody>
        </p:sp>
        <p:sp>
          <p:nvSpPr>
            <p:cNvPr id="81" name="Rectangle 24"/>
            <p:cNvSpPr>
              <a:spLocks/>
            </p:cNvSpPr>
            <p:nvPr/>
          </p:nvSpPr>
          <p:spPr bwMode="auto">
            <a:xfrm>
              <a:off x="7612351" y="3671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0009</a:t>
              </a:r>
            </a:p>
          </p:txBody>
        </p:sp>
        <p:sp>
          <p:nvSpPr>
            <p:cNvPr id="82" name="Rectangle 25"/>
            <p:cNvSpPr>
              <a:spLocks/>
            </p:cNvSpPr>
            <p:nvPr/>
          </p:nvSpPr>
          <p:spPr bwMode="auto">
            <a:xfrm>
              <a:off x="7612351" y="3976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0008</a:t>
              </a:r>
            </a:p>
          </p:txBody>
        </p:sp>
        <p:sp>
          <p:nvSpPr>
            <p:cNvPr id="83" name="Rectangle 26"/>
            <p:cNvSpPr>
              <a:spLocks/>
            </p:cNvSpPr>
            <p:nvPr/>
          </p:nvSpPr>
          <p:spPr bwMode="auto">
            <a:xfrm>
              <a:off x="7612351" y="4281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0007</a:t>
              </a:r>
            </a:p>
          </p:txBody>
        </p:sp>
        <p:sp>
          <p:nvSpPr>
            <p:cNvPr id="84" name="Rectangle 27"/>
            <p:cNvSpPr>
              <a:spLocks/>
            </p:cNvSpPr>
            <p:nvPr/>
          </p:nvSpPr>
          <p:spPr bwMode="auto">
            <a:xfrm>
              <a:off x="7612351" y="4586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0006</a:t>
              </a:r>
            </a:p>
          </p:txBody>
        </p:sp>
        <p:sp>
          <p:nvSpPr>
            <p:cNvPr id="85" name="Rectangle 28"/>
            <p:cNvSpPr>
              <a:spLocks/>
            </p:cNvSpPr>
            <p:nvPr/>
          </p:nvSpPr>
          <p:spPr bwMode="auto">
            <a:xfrm>
              <a:off x="7612351" y="4865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0005</a:t>
              </a:r>
            </a:p>
          </p:txBody>
        </p:sp>
        <p:sp>
          <p:nvSpPr>
            <p:cNvPr id="86" name="Rectangle 29"/>
            <p:cNvSpPr>
              <a:spLocks/>
            </p:cNvSpPr>
            <p:nvPr/>
          </p:nvSpPr>
          <p:spPr bwMode="auto">
            <a:xfrm>
              <a:off x="7612351" y="5170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0004</a:t>
              </a:r>
            </a:p>
          </p:txBody>
        </p:sp>
        <p:grpSp>
          <p:nvGrpSpPr>
            <p:cNvPr id="87" name="Group 33"/>
            <p:cNvGrpSpPr>
              <a:grpSpLocks/>
            </p:cNvGrpSpPr>
            <p:nvPr/>
          </p:nvGrpSpPr>
          <p:grpSpPr bwMode="auto">
            <a:xfrm>
              <a:off x="5952643" y="1817738"/>
              <a:ext cx="609600" cy="4876800"/>
              <a:chOff x="0" y="0"/>
              <a:chExt cx="384" cy="3072"/>
            </a:xfrm>
          </p:grpSpPr>
          <p:sp>
            <p:nvSpPr>
              <p:cNvPr id="108" name="Rectangle 34"/>
              <p:cNvSpPr>
                <a:spLocks/>
              </p:cNvSpPr>
              <p:nvPr/>
            </p:nvSpPr>
            <p:spPr bwMode="auto">
              <a:xfrm>
                <a:off x="0" y="0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9" name="Rectangle 35"/>
              <p:cNvSpPr>
                <a:spLocks/>
              </p:cNvSpPr>
              <p:nvPr/>
            </p:nvSpPr>
            <p:spPr bwMode="auto">
              <a:xfrm>
                <a:off x="0" y="768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0" name="Rectangle 36"/>
              <p:cNvSpPr>
                <a:spLocks/>
              </p:cNvSpPr>
              <p:nvPr/>
            </p:nvSpPr>
            <p:spPr bwMode="auto">
              <a:xfrm>
                <a:off x="0" y="1536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1" name="Rectangle 37"/>
              <p:cNvSpPr>
                <a:spLocks/>
              </p:cNvSpPr>
              <p:nvPr/>
            </p:nvSpPr>
            <p:spPr bwMode="auto">
              <a:xfrm>
                <a:off x="0" y="2304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88" name="Rectangle 38"/>
            <p:cNvSpPr>
              <a:spLocks/>
            </p:cNvSpPr>
            <p:nvPr/>
          </p:nvSpPr>
          <p:spPr bwMode="auto">
            <a:xfrm>
              <a:off x="5824055" y="1154163"/>
              <a:ext cx="862013" cy="6604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32-bit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Words</a:t>
              </a:r>
            </a:p>
          </p:txBody>
        </p:sp>
        <p:sp>
          <p:nvSpPr>
            <p:cNvPr id="89" name="Rectangle 39"/>
            <p:cNvSpPr>
              <a:spLocks/>
            </p:cNvSpPr>
            <p:nvPr/>
          </p:nvSpPr>
          <p:spPr bwMode="auto">
            <a:xfrm>
              <a:off x="6763038" y="1284338"/>
              <a:ext cx="7778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Bytes</a:t>
              </a:r>
            </a:p>
          </p:txBody>
        </p:sp>
        <p:sp>
          <p:nvSpPr>
            <p:cNvPr id="90" name="Rectangle 40"/>
            <p:cNvSpPr>
              <a:spLocks/>
            </p:cNvSpPr>
            <p:nvPr/>
          </p:nvSpPr>
          <p:spPr bwMode="auto">
            <a:xfrm>
              <a:off x="7588538" y="1284338"/>
              <a:ext cx="7397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Addr.</a:t>
              </a:r>
            </a:p>
          </p:txBody>
        </p:sp>
        <p:sp>
          <p:nvSpPr>
            <p:cNvPr id="91" name="Rectangle 41"/>
            <p:cNvSpPr>
              <a:spLocks/>
            </p:cNvSpPr>
            <p:nvPr/>
          </p:nvSpPr>
          <p:spPr bwMode="auto">
            <a:xfrm>
              <a:off x="6850351" y="5475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2" name="Rectangle 42"/>
            <p:cNvSpPr>
              <a:spLocks/>
            </p:cNvSpPr>
            <p:nvPr/>
          </p:nvSpPr>
          <p:spPr bwMode="auto">
            <a:xfrm>
              <a:off x="7612351" y="5475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0003</a:t>
              </a:r>
            </a:p>
          </p:txBody>
        </p:sp>
        <p:sp>
          <p:nvSpPr>
            <p:cNvPr id="93" name="Rectangle 43"/>
            <p:cNvSpPr>
              <a:spLocks/>
            </p:cNvSpPr>
            <p:nvPr/>
          </p:nvSpPr>
          <p:spPr bwMode="auto">
            <a:xfrm>
              <a:off x="6850351" y="5780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4" name="Rectangle 44"/>
            <p:cNvSpPr>
              <a:spLocks/>
            </p:cNvSpPr>
            <p:nvPr/>
          </p:nvSpPr>
          <p:spPr bwMode="auto">
            <a:xfrm>
              <a:off x="7612351" y="5780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0002</a:t>
              </a:r>
            </a:p>
          </p:txBody>
        </p:sp>
        <p:sp>
          <p:nvSpPr>
            <p:cNvPr id="95" name="Rectangle 45"/>
            <p:cNvSpPr>
              <a:spLocks/>
            </p:cNvSpPr>
            <p:nvPr/>
          </p:nvSpPr>
          <p:spPr bwMode="auto">
            <a:xfrm>
              <a:off x="6850351" y="6084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6" name="Rectangle 46"/>
            <p:cNvSpPr>
              <a:spLocks/>
            </p:cNvSpPr>
            <p:nvPr/>
          </p:nvSpPr>
          <p:spPr bwMode="auto">
            <a:xfrm>
              <a:off x="7612351" y="6084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0001</a:t>
              </a:r>
            </a:p>
          </p:txBody>
        </p:sp>
        <p:sp>
          <p:nvSpPr>
            <p:cNvPr id="97" name="Rectangle 47"/>
            <p:cNvSpPr>
              <a:spLocks/>
            </p:cNvSpPr>
            <p:nvPr/>
          </p:nvSpPr>
          <p:spPr bwMode="auto">
            <a:xfrm>
              <a:off x="6850351" y="6389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8" name="Rectangle 48"/>
            <p:cNvSpPr>
              <a:spLocks/>
            </p:cNvSpPr>
            <p:nvPr/>
          </p:nvSpPr>
          <p:spPr bwMode="auto">
            <a:xfrm>
              <a:off x="7612351" y="6389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0000</a:t>
              </a:r>
            </a:p>
          </p:txBody>
        </p:sp>
        <p:sp>
          <p:nvSpPr>
            <p:cNvPr id="99" name="Rectangle 52"/>
            <p:cNvSpPr>
              <a:spLocks/>
            </p:cNvSpPr>
            <p:nvPr/>
          </p:nvSpPr>
          <p:spPr bwMode="auto">
            <a:xfrm>
              <a:off x="5952643" y="20463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prstClr val="black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0" name="Rectangle 53"/>
            <p:cNvSpPr>
              <a:spLocks/>
            </p:cNvSpPr>
            <p:nvPr/>
          </p:nvSpPr>
          <p:spPr bwMode="auto">
            <a:xfrm>
              <a:off x="5952643" y="32655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dirty="0">
                  <a:solidFill>
                    <a:prstClr val="black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1" name="Rectangle 54"/>
            <p:cNvSpPr>
              <a:spLocks/>
            </p:cNvSpPr>
            <p:nvPr/>
          </p:nvSpPr>
          <p:spPr bwMode="auto">
            <a:xfrm>
              <a:off x="5952643" y="44847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prstClr val="black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sp>
          <p:nvSpPr>
            <p:cNvPr id="102" name="Rectangle 55"/>
            <p:cNvSpPr>
              <a:spLocks/>
            </p:cNvSpPr>
            <p:nvPr/>
          </p:nvSpPr>
          <p:spPr bwMode="auto">
            <a:xfrm>
              <a:off x="5952643" y="57039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>
                  <a:solidFill>
                    <a:prstClr val="black"/>
                  </a:solidFill>
                  <a:latin typeface="Courier New" charset="0"/>
                  <a:ea typeface="Courier New" charset="0"/>
                  <a:cs typeface="Courier New" charset="0"/>
                  <a:sym typeface="Courier New" charset="0"/>
                </a:rPr>
                <a:t>??</a:t>
              </a:r>
            </a:p>
          </p:txBody>
        </p:sp>
        <p:grpSp>
          <p:nvGrpSpPr>
            <p:cNvPr id="103" name="Group 56"/>
            <p:cNvGrpSpPr>
              <a:grpSpLocks/>
            </p:cNvGrpSpPr>
            <p:nvPr/>
          </p:nvGrpSpPr>
          <p:grpSpPr bwMode="auto">
            <a:xfrm>
              <a:off x="6208232" y="2470201"/>
              <a:ext cx="96838" cy="3954463"/>
              <a:chOff x="139" y="3"/>
              <a:chExt cx="61" cy="2491"/>
            </a:xfrm>
          </p:grpSpPr>
          <p:sp>
            <p:nvSpPr>
              <p:cNvPr id="104" name="Rectangle 59"/>
              <p:cNvSpPr>
                <a:spLocks/>
              </p:cNvSpPr>
              <p:nvPr/>
            </p:nvSpPr>
            <p:spPr bwMode="auto">
              <a:xfrm>
                <a:off x="139" y="3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5" name="Rectangle 62"/>
              <p:cNvSpPr>
                <a:spLocks/>
              </p:cNvSpPr>
              <p:nvPr/>
            </p:nvSpPr>
            <p:spPr bwMode="auto">
              <a:xfrm>
                <a:off x="139" y="771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6" name="Rectangle 65"/>
              <p:cNvSpPr>
                <a:spLocks/>
              </p:cNvSpPr>
              <p:nvPr/>
            </p:nvSpPr>
            <p:spPr bwMode="auto">
              <a:xfrm>
                <a:off x="139" y="1539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7" name="Rectangle 68"/>
              <p:cNvSpPr>
                <a:spLocks/>
              </p:cNvSpPr>
              <p:nvPr/>
            </p:nvSpPr>
            <p:spPr bwMode="auto">
              <a:xfrm>
                <a:off x="139" y="2307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</p:grpSp>
      </p:grpSp>
      <p:sp>
        <p:nvSpPr>
          <p:cNvPr id="10" name="TextBox 9"/>
          <p:cNvSpPr txBox="1"/>
          <p:nvPr/>
        </p:nvSpPr>
        <p:spPr>
          <a:xfrm>
            <a:off x="1768699" y="2826467"/>
            <a:ext cx="4151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srgbClr val="C00000"/>
                </a:solidFill>
                <a:latin typeface="Gill Sans MT"/>
              </a:rPr>
              <a:t>What are the memory address of these four words?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985" y="2178629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289931" y="3407254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22130" y="456184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39076" y="5790468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2136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E14D4A-FE32-40AF-B06D-E9622816B101}" type="slidenum">
              <a:rPr lang="en-US" b="1">
                <a:solidFill>
                  <a:prstClr val="black"/>
                </a:solidFill>
                <a:latin typeface="Courier New" pitchFamily="49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b="1">
              <a:solidFill>
                <a:prstClr val="black"/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429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063" indent="-119063"/>
            <a:r>
              <a:rPr lang="en-US" dirty="0"/>
              <a:t>Answer</a:t>
            </a:r>
            <a:r>
              <a:rPr lang="en-US" altLang="zh-CN" dirty="0"/>
              <a:t>: Endianness</a:t>
            </a:r>
            <a:endParaRPr lang="en-US" dirty="0"/>
          </a:p>
        </p:txBody>
      </p:sp>
      <p:grpSp>
        <p:nvGrpSpPr>
          <p:cNvPr id="62" name="Group 61"/>
          <p:cNvGrpSpPr/>
          <p:nvPr/>
        </p:nvGrpSpPr>
        <p:grpSpPr>
          <a:xfrm>
            <a:off x="7154863" y="1057853"/>
            <a:ext cx="2504258" cy="5615166"/>
            <a:chOff x="5824055" y="1154163"/>
            <a:chExt cx="2504258" cy="5615166"/>
          </a:xfrm>
        </p:grpSpPr>
        <p:sp>
          <p:nvSpPr>
            <p:cNvPr id="63" name="Rectangle 6"/>
            <p:cNvSpPr>
              <a:spLocks/>
            </p:cNvSpPr>
            <p:nvPr/>
          </p:nvSpPr>
          <p:spPr bwMode="auto">
            <a:xfrm>
              <a:off x="6850351" y="1817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4" name="Rectangle 7"/>
            <p:cNvSpPr>
              <a:spLocks/>
            </p:cNvSpPr>
            <p:nvPr/>
          </p:nvSpPr>
          <p:spPr bwMode="auto">
            <a:xfrm>
              <a:off x="6850351" y="2122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5" name="Rectangle 8"/>
            <p:cNvSpPr>
              <a:spLocks/>
            </p:cNvSpPr>
            <p:nvPr/>
          </p:nvSpPr>
          <p:spPr bwMode="auto">
            <a:xfrm>
              <a:off x="6850351" y="2427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6" name="Rectangle 9"/>
            <p:cNvSpPr>
              <a:spLocks/>
            </p:cNvSpPr>
            <p:nvPr/>
          </p:nvSpPr>
          <p:spPr bwMode="auto">
            <a:xfrm>
              <a:off x="6850351" y="2732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7" name="Rectangle 10"/>
            <p:cNvSpPr>
              <a:spLocks/>
            </p:cNvSpPr>
            <p:nvPr/>
          </p:nvSpPr>
          <p:spPr bwMode="auto">
            <a:xfrm>
              <a:off x="6850351" y="3036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8" name="Rectangle 11"/>
            <p:cNvSpPr>
              <a:spLocks/>
            </p:cNvSpPr>
            <p:nvPr/>
          </p:nvSpPr>
          <p:spPr bwMode="auto">
            <a:xfrm>
              <a:off x="6850351" y="3341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69" name="Rectangle 12"/>
            <p:cNvSpPr>
              <a:spLocks/>
            </p:cNvSpPr>
            <p:nvPr/>
          </p:nvSpPr>
          <p:spPr bwMode="auto">
            <a:xfrm>
              <a:off x="6850351" y="3646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0" name="Rectangle 13"/>
            <p:cNvSpPr>
              <a:spLocks/>
            </p:cNvSpPr>
            <p:nvPr/>
          </p:nvSpPr>
          <p:spPr bwMode="auto">
            <a:xfrm>
              <a:off x="6850351" y="3951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1" name="Rectangle 14"/>
            <p:cNvSpPr>
              <a:spLocks/>
            </p:cNvSpPr>
            <p:nvPr/>
          </p:nvSpPr>
          <p:spPr bwMode="auto">
            <a:xfrm>
              <a:off x="6850351" y="4256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2" name="Rectangle 15"/>
            <p:cNvSpPr>
              <a:spLocks/>
            </p:cNvSpPr>
            <p:nvPr/>
          </p:nvSpPr>
          <p:spPr bwMode="auto">
            <a:xfrm>
              <a:off x="6850351" y="4560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3" name="Rectangle 16"/>
            <p:cNvSpPr>
              <a:spLocks/>
            </p:cNvSpPr>
            <p:nvPr/>
          </p:nvSpPr>
          <p:spPr bwMode="auto">
            <a:xfrm>
              <a:off x="6850351" y="4865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4" name="Rectangle 17"/>
            <p:cNvSpPr>
              <a:spLocks/>
            </p:cNvSpPr>
            <p:nvPr/>
          </p:nvSpPr>
          <p:spPr bwMode="auto">
            <a:xfrm>
              <a:off x="6850351" y="51705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75" name="Rectangle 18"/>
            <p:cNvSpPr>
              <a:spLocks/>
            </p:cNvSpPr>
            <p:nvPr/>
          </p:nvSpPr>
          <p:spPr bwMode="auto">
            <a:xfrm>
              <a:off x="7612351" y="176245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0015</a:t>
              </a:r>
            </a:p>
          </p:txBody>
        </p:sp>
        <p:sp>
          <p:nvSpPr>
            <p:cNvPr id="76" name="Rectangle 19"/>
            <p:cNvSpPr>
              <a:spLocks/>
            </p:cNvSpPr>
            <p:nvPr/>
          </p:nvSpPr>
          <p:spPr bwMode="auto">
            <a:xfrm>
              <a:off x="7612351" y="2138973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0014</a:t>
              </a:r>
            </a:p>
          </p:txBody>
        </p:sp>
        <p:sp>
          <p:nvSpPr>
            <p:cNvPr id="77" name="Rectangle 20"/>
            <p:cNvSpPr>
              <a:spLocks/>
            </p:cNvSpPr>
            <p:nvPr/>
          </p:nvSpPr>
          <p:spPr bwMode="auto">
            <a:xfrm>
              <a:off x="7612351" y="2452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0013</a:t>
              </a:r>
            </a:p>
          </p:txBody>
        </p:sp>
        <p:sp>
          <p:nvSpPr>
            <p:cNvPr id="78" name="Rectangle 21"/>
            <p:cNvSpPr>
              <a:spLocks/>
            </p:cNvSpPr>
            <p:nvPr/>
          </p:nvSpPr>
          <p:spPr bwMode="auto">
            <a:xfrm>
              <a:off x="7612351" y="2757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0012</a:t>
              </a:r>
            </a:p>
          </p:txBody>
        </p:sp>
        <p:sp>
          <p:nvSpPr>
            <p:cNvPr id="79" name="Rectangle 22"/>
            <p:cNvSpPr>
              <a:spLocks/>
            </p:cNvSpPr>
            <p:nvPr/>
          </p:nvSpPr>
          <p:spPr bwMode="auto">
            <a:xfrm>
              <a:off x="7612351" y="3062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0011</a:t>
              </a:r>
            </a:p>
          </p:txBody>
        </p:sp>
        <p:sp>
          <p:nvSpPr>
            <p:cNvPr id="80" name="Rectangle 23"/>
            <p:cNvSpPr>
              <a:spLocks/>
            </p:cNvSpPr>
            <p:nvPr/>
          </p:nvSpPr>
          <p:spPr bwMode="auto">
            <a:xfrm>
              <a:off x="7612351" y="3367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0010</a:t>
              </a:r>
            </a:p>
          </p:txBody>
        </p:sp>
        <p:sp>
          <p:nvSpPr>
            <p:cNvPr id="81" name="Rectangle 24"/>
            <p:cNvSpPr>
              <a:spLocks/>
            </p:cNvSpPr>
            <p:nvPr/>
          </p:nvSpPr>
          <p:spPr bwMode="auto">
            <a:xfrm>
              <a:off x="7612351" y="3671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0009</a:t>
              </a:r>
            </a:p>
          </p:txBody>
        </p:sp>
        <p:sp>
          <p:nvSpPr>
            <p:cNvPr id="82" name="Rectangle 25"/>
            <p:cNvSpPr>
              <a:spLocks/>
            </p:cNvSpPr>
            <p:nvPr/>
          </p:nvSpPr>
          <p:spPr bwMode="auto">
            <a:xfrm>
              <a:off x="7612351" y="3976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0008</a:t>
              </a:r>
            </a:p>
          </p:txBody>
        </p:sp>
        <p:sp>
          <p:nvSpPr>
            <p:cNvPr id="83" name="Rectangle 26"/>
            <p:cNvSpPr>
              <a:spLocks/>
            </p:cNvSpPr>
            <p:nvPr/>
          </p:nvSpPr>
          <p:spPr bwMode="auto">
            <a:xfrm>
              <a:off x="7612351" y="4281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0007</a:t>
              </a:r>
            </a:p>
          </p:txBody>
        </p:sp>
        <p:sp>
          <p:nvSpPr>
            <p:cNvPr id="84" name="Rectangle 27"/>
            <p:cNvSpPr>
              <a:spLocks/>
            </p:cNvSpPr>
            <p:nvPr/>
          </p:nvSpPr>
          <p:spPr bwMode="auto">
            <a:xfrm>
              <a:off x="7612351" y="4586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0006</a:t>
              </a:r>
            </a:p>
          </p:txBody>
        </p:sp>
        <p:sp>
          <p:nvSpPr>
            <p:cNvPr id="85" name="Rectangle 28"/>
            <p:cNvSpPr>
              <a:spLocks/>
            </p:cNvSpPr>
            <p:nvPr/>
          </p:nvSpPr>
          <p:spPr bwMode="auto">
            <a:xfrm>
              <a:off x="7612351" y="4865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0005</a:t>
              </a:r>
            </a:p>
          </p:txBody>
        </p:sp>
        <p:sp>
          <p:nvSpPr>
            <p:cNvPr id="86" name="Rectangle 29"/>
            <p:cNvSpPr>
              <a:spLocks/>
            </p:cNvSpPr>
            <p:nvPr/>
          </p:nvSpPr>
          <p:spPr bwMode="auto">
            <a:xfrm>
              <a:off x="7612351" y="51705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0004</a:t>
              </a:r>
            </a:p>
          </p:txBody>
        </p:sp>
        <p:grpSp>
          <p:nvGrpSpPr>
            <p:cNvPr id="87" name="Group 33"/>
            <p:cNvGrpSpPr>
              <a:grpSpLocks/>
            </p:cNvGrpSpPr>
            <p:nvPr/>
          </p:nvGrpSpPr>
          <p:grpSpPr bwMode="auto">
            <a:xfrm>
              <a:off x="5952643" y="1817738"/>
              <a:ext cx="609600" cy="4876800"/>
              <a:chOff x="0" y="0"/>
              <a:chExt cx="384" cy="3072"/>
            </a:xfrm>
          </p:grpSpPr>
          <p:sp>
            <p:nvSpPr>
              <p:cNvPr id="108" name="Rectangle 34"/>
              <p:cNvSpPr>
                <a:spLocks/>
              </p:cNvSpPr>
              <p:nvPr/>
            </p:nvSpPr>
            <p:spPr bwMode="auto">
              <a:xfrm>
                <a:off x="0" y="0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09" name="Rectangle 35"/>
              <p:cNvSpPr>
                <a:spLocks/>
              </p:cNvSpPr>
              <p:nvPr/>
            </p:nvSpPr>
            <p:spPr bwMode="auto">
              <a:xfrm>
                <a:off x="0" y="768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0" name="Rectangle 36"/>
              <p:cNvSpPr>
                <a:spLocks/>
              </p:cNvSpPr>
              <p:nvPr/>
            </p:nvSpPr>
            <p:spPr bwMode="auto">
              <a:xfrm>
                <a:off x="0" y="1536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  <p:sp>
            <p:nvSpPr>
              <p:cNvPr id="111" name="Rectangle 37"/>
              <p:cNvSpPr>
                <a:spLocks/>
              </p:cNvSpPr>
              <p:nvPr/>
            </p:nvSpPr>
            <p:spPr bwMode="auto">
              <a:xfrm>
                <a:off x="0" y="2304"/>
                <a:ext cx="384" cy="768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4200">
                  <a:solidFill>
                    <a:prstClr val="black"/>
                  </a:solidFill>
                  <a:latin typeface="Gill Sans" charset="0"/>
                  <a:ea typeface="ヒラギノ角ゴ ProN W3" charset="-128"/>
                  <a:cs typeface="ヒラギノ角ゴ ProN W3" charset="-128"/>
                  <a:sym typeface="Gill Sans" charset="0"/>
                </a:endParaRPr>
              </a:p>
            </p:txBody>
          </p:sp>
        </p:grpSp>
        <p:sp>
          <p:nvSpPr>
            <p:cNvPr id="88" name="Rectangle 38"/>
            <p:cNvSpPr>
              <a:spLocks/>
            </p:cNvSpPr>
            <p:nvPr/>
          </p:nvSpPr>
          <p:spPr bwMode="auto">
            <a:xfrm>
              <a:off x="5824055" y="1154163"/>
              <a:ext cx="862013" cy="6604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32-bit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Words</a:t>
              </a:r>
            </a:p>
          </p:txBody>
        </p:sp>
        <p:sp>
          <p:nvSpPr>
            <p:cNvPr id="89" name="Rectangle 39"/>
            <p:cNvSpPr>
              <a:spLocks/>
            </p:cNvSpPr>
            <p:nvPr/>
          </p:nvSpPr>
          <p:spPr bwMode="auto">
            <a:xfrm>
              <a:off x="6763038" y="1284338"/>
              <a:ext cx="7778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Bytes</a:t>
              </a:r>
            </a:p>
          </p:txBody>
        </p:sp>
        <p:sp>
          <p:nvSpPr>
            <p:cNvPr id="90" name="Rectangle 40"/>
            <p:cNvSpPr>
              <a:spLocks/>
            </p:cNvSpPr>
            <p:nvPr/>
          </p:nvSpPr>
          <p:spPr bwMode="auto">
            <a:xfrm>
              <a:off x="7588538" y="1284338"/>
              <a:ext cx="739775" cy="3810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b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Addr.</a:t>
              </a:r>
            </a:p>
          </p:txBody>
        </p:sp>
        <p:sp>
          <p:nvSpPr>
            <p:cNvPr id="91" name="Rectangle 41"/>
            <p:cNvSpPr>
              <a:spLocks/>
            </p:cNvSpPr>
            <p:nvPr/>
          </p:nvSpPr>
          <p:spPr bwMode="auto">
            <a:xfrm>
              <a:off x="6850351" y="54753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2" name="Rectangle 42"/>
            <p:cNvSpPr>
              <a:spLocks/>
            </p:cNvSpPr>
            <p:nvPr/>
          </p:nvSpPr>
          <p:spPr bwMode="auto">
            <a:xfrm>
              <a:off x="7612351" y="54753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0003</a:t>
              </a:r>
            </a:p>
          </p:txBody>
        </p:sp>
        <p:sp>
          <p:nvSpPr>
            <p:cNvPr id="93" name="Rectangle 43"/>
            <p:cNvSpPr>
              <a:spLocks/>
            </p:cNvSpPr>
            <p:nvPr/>
          </p:nvSpPr>
          <p:spPr bwMode="auto">
            <a:xfrm>
              <a:off x="6850351" y="57801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4" name="Rectangle 44"/>
            <p:cNvSpPr>
              <a:spLocks/>
            </p:cNvSpPr>
            <p:nvPr/>
          </p:nvSpPr>
          <p:spPr bwMode="auto">
            <a:xfrm>
              <a:off x="7612351" y="57801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0002</a:t>
              </a:r>
            </a:p>
          </p:txBody>
        </p:sp>
        <p:sp>
          <p:nvSpPr>
            <p:cNvPr id="95" name="Rectangle 45"/>
            <p:cNvSpPr>
              <a:spLocks/>
            </p:cNvSpPr>
            <p:nvPr/>
          </p:nvSpPr>
          <p:spPr bwMode="auto">
            <a:xfrm>
              <a:off x="6850351" y="60849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6" name="Rectangle 46"/>
            <p:cNvSpPr>
              <a:spLocks/>
            </p:cNvSpPr>
            <p:nvPr/>
          </p:nvSpPr>
          <p:spPr bwMode="auto">
            <a:xfrm>
              <a:off x="7612351" y="60849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0001</a:t>
              </a:r>
            </a:p>
          </p:txBody>
        </p:sp>
        <p:sp>
          <p:nvSpPr>
            <p:cNvPr id="97" name="Rectangle 47"/>
            <p:cNvSpPr>
              <a:spLocks/>
            </p:cNvSpPr>
            <p:nvPr/>
          </p:nvSpPr>
          <p:spPr bwMode="auto">
            <a:xfrm>
              <a:off x="6850351" y="6389738"/>
              <a:ext cx="609600" cy="3048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4200">
                <a:solidFill>
                  <a:prstClr val="black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8" name="Rectangle 48"/>
            <p:cNvSpPr>
              <a:spLocks/>
            </p:cNvSpPr>
            <p:nvPr/>
          </p:nvSpPr>
          <p:spPr bwMode="auto">
            <a:xfrm>
              <a:off x="7612351" y="6389738"/>
              <a:ext cx="650178" cy="3795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rPr>
                <a:t>0000</a:t>
              </a:r>
            </a:p>
          </p:txBody>
        </p:sp>
        <p:sp>
          <p:nvSpPr>
            <p:cNvPr id="99" name="Rectangle 52"/>
            <p:cNvSpPr>
              <a:spLocks/>
            </p:cNvSpPr>
            <p:nvPr/>
          </p:nvSpPr>
          <p:spPr bwMode="auto">
            <a:xfrm>
              <a:off x="5952643" y="2046338"/>
              <a:ext cx="622300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00" b="1" dirty="0" err="1">
                  <a:solidFill>
                    <a:srgbClr val="C00000"/>
                  </a:solidFill>
                  <a:latin typeface="Arial Narrow" panose="020B0606020202030204" pitchFamily="34" charset="0"/>
                  <a:ea typeface="Courier New" charset="0"/>
                  <a:cs typeface="Courier New" charset="0"/>
                  <a:sym typeface="Courier New" charset="0"/>
                </a:rPr>
                <a:t>0x0012</a:t>
              </a:r>
              <a:endParaRPr lang="en-US" sz="1300" b="1" dirty="0">
                <a:solidFill>
                  <a:srgbClr val="C00000"/>
                </a:solidFill>
                <a:latin typeface="Arial Narrow" panose="020B0606020202030204" pitchFamily="34" charset="0"/>
                <a:ea typeface="Courier New" charset="0"/>
                <a:cs typeface="Courier New" charset="0"/>
                <a:sym typeface="Courier New" charset="0"/>
              </a:endParaRPr>
            </a:p>
          </p:txBody>
        </p:sp>
        <p:sp>
          <p:nvSpPr>
            <p:cNvPr id="100" name="Rectangle 53"/>
            <p:cNvSpPr>
              <a:spLocks/>
            </p:cNvSpPr>
            <p:nvPr/>
          </p:nvSpPr>
          <p:spPr bwMode="auto">
            <a:xfrm>
              <a:off x="5907817" y="3265538"/>
              <a:ext cx="733425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srgbClr val="C00000"/>
                  </a:solidFill>
                  <a:latin typeface="Arial Narrow" panose="020B0606020202030204" pitchFamily="34" charset="0"/>
                  <a:ea typeface="Courier New" charset="0"/>
                  <a:cs typeface="Courier New" charset="0"/>
                  <a:sym typeface="Courier New" charset="0"/>
                </a:rPr>
                <a:t>0x0008</a:t>
              </a:r>
              <a:endParaRPr lang="en-US" sz="1400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endParaRPr>
            </a:p>
          </p:txBody>
        </p:sp>
        <p:sp>
          <p:nvSpPr>
            <p:cNvPr id="101" name="Rectangle 54"/>
            <p:cNvSpPr>
              <a:spLocks/>
            </p:cNvSpPr>
            <p:nvPr/>
          </p:nvSpPr>
          <p:spPr bwMode="auto">
            <a:xfrm>
              <a:off x="5925747" y="4484738"/>
              <a:ext cx="688599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srgbClr val="C00000"/>
                  </a:solidFill>
                  <a:latin typeface="Arial Narrow" panose="020B0606020202030204" pitchFamily="34" charset="0"/>
                  <a:ea typeface="Courier New" charset="0"/>
                  <a:cs typeface="Courier New" charset="0"/>
                  <a:sym typeface="Courier New" charset="0"/>
                </a:rPr>
                <a:t>0x0004</a:t>
              </a:r>
              <a:endParaRPr lang="en-US" sz="1400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endParaRPr>
            </a:p>
          </p:txBody>
        </p:sp>
        <p:sp>
          <p:nvSpPr>
            <p:cNvPr id="102" name="Rectangle 55"/>
            <p:cNvSpPr>
              <a:spLocks/>
            </p:cNvSpPr>
            <p:nvPr/>
          </p:nvSpPr>
          <p:spPr bwMode="auto">
            <a:xfrm>
              <a:off x="5907818" y="5703938"/>
              <a:ext cx="733424" cy="7302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Addr</a:t>
              </a: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 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>
                  <a:solidFill>
                    <a:prstClr val="black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=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dirty="0" err="1">
                  <a:solidFill>
                    <a:srgbClr val="C00000"/>
                  </a:solidFill>
                  <a:latin typeface="Arial Narrow" panose="020B0606020202030204" pitchFamily="34" charset="0"/>
                  <a:ea typeface="Courier New" charset="0"/>
                  <a:cs typeface="Courier New" charset="0"/>
                  <a:sym typeface="Courier New" charset="0"/>
                </a:rPr>
                <a:t>0x0000</a:t>
              </a:r>
              <a:endParaRPr lang="en-US" sz="1400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  <a:sym typeface="Courier New" charset="0"/>
              </a:endParaRPr>
            </a:p>
          </p:txBody>
        </p:sp>
        <p:grpSp>
          <p:nvGrpSpPr>
            <p:cNvPr id="103" name="Group 56"/>
            <p:cNvGrpSpPr>
              <a:grpSpLocks/>
            </p:cNvGrpSpPr>
            <p:nvPr/>
          </p:nvGrpSpPr>
          <p:grpSpPr bwMode="auto">
            <a:xfrm>
              <a:off x="6208232" y="2470201"/>
              <a:ext cx="96838" cy="3954463"/>
              <a:chOff x="139" y="3"/>
              <a:chExt cx="61" cy="2491"/>
            </a:xfrm>
          </p:grpSpPr>
          <p:sp>
            <p:nvSpPr>
              <p:cNvPr id="104" name="Rectangle 59"/>
              <p:cNvSpPr>
                <a:spLocks/>
              </p:cNvSpPr>
              <p:nvPr/>
            </p:nvSpPr>
            <p:spPr bwMode="auto">
              <a:xfrm>
                <a:off x="139" y="3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5" name="Rectangle 62"/>
              <p:cNvSpPr>
                <a:spLocks/>
              </p:cNvSpPr>
              <p:nvPr/>
            </p:nvSpPr>
            <p:spPr bwMode="auto">
              <a:xfrm>
                <a:off x="139" y="771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6" name="Rectangle 65"/>
              <p:cNvSpPr>
                <a:spLocks/>
              </p:cNvSpPr>
              <p:nvPr/>
            </p:nvSpPr>
            <p:spPr bwMode="auto">
              <a:xfrm>
                <a:off x="139" y="1539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  <p:sp>
            <p:nvSpPr>
              <p:cNvPr id="107" name="Rectangle 68"/>
              <p:cNvSpPr>
                <a:spLocks/>
              </p:cNvSpPr>
              <p:nvPr/>
            </p:nvSpPr>
            <p:spPr bwMode="auto">
              <a:xfrm>
                <a:off x="139" y="2307"/>
                <a:ext cx="61" cy="187"/>
              </a:xfrm>
              <a:prstGeom prst="rect">
                <a:avLst/>
              </a:prstGeom>
              <a:noFill/>
              <a:ln>
                <a:noFill/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50800" tIns="50800" rIns="45720" bIns="50800" anchor="ctr">
                <a:prstTxWarp prst="textNoShape">
                  <a:avLst/>
                </a:prstTxWarp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1400" b="1" dirty="0">
                  <a:solidFill>
                    <a:prstClr val="black"/>
                  </a:solidFill>
                  <a:latin typeface="Consolas" panose="020B0609020204030204" pitchFamily="49" charset="0"/>
                  <a:ea typeface="Courier New" charset="0"/>
                  <a:cs typeface="Consolas" panose="020B0609020204030204" pitchFamily="49" charset="0"/>
                  <a:sym typeface="Courier New" charset="0"/>
                </a:endParaRPr>
              </a:p>
            </p:txBody>
          </p:sp>
        </p:grpSp>
      </p:grpSp>
      <p:sp>
        <p:nvSpPr>
          <p:cNvPr id="11" name="TextBox 10"/>
          <p:cNvSpPr txBox="1"/>
          <p:nvPr/>
        </p:nvSpPr>
        <p:spPr>
          <a:xfrm>
            <a:off x="6272985" y="2178629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3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289931" y="3407254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322130" y="456184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39076" y="5790468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dirty="0">
                <a:solidFill>
                  <a:prstClr val="black"/>
                </a:solidFill>
                <a:latin typeface="Courier New" pitchFamily="49" charset="0"/>
              </a:rPr>
              <a:t>Word 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2136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E14D4A-FE32-40AF-B06D-E9622816B101}" type="slidenum">
              <a:rPr lang="en-US" b="1">
                <a:solidFill>
                  <a:prstClr val="black"/>
                </a:solidFill>
                <a:latin typeface="Courier New" pitchFamily="49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768699" y="2826468"/>
            <a:ext cx="41512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dirty="0">
                <a:solidFill>
                  <a:srgbClr val="C00000"/>
                </a:solidFill>
                <a:latin typeface="Gill Sans MT"/>
              </a:rPr>
              <a:t>What are the memory address of these four words?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C00000"/>
                </a:solidFill>
                <a:latin typeface="Gill Sans MT"/>
              </a:rPr>
              <a:t>Same as the address of the lowest-address </a:t>
            </a:r>
            <a:r>
              <a:rPr lang="en-US" sz="2000">
                <a:solidFill>
                  <a:srgbClr val="C00000"/>
                </a:solidFill>
                <a:latin typeface="Gill Sans MT"/>
              </a:rPr>
              <a:t>Byte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>
                <a:solidFill>
                  <a:srgbClr val="C00000"/>
                </a:solidFill>
                <a:latin typeface="Gill Sans MT"/>
              </a:rPr>
              <a:t>(</a:t>
            </a:r>
            <a:r>
              <a:rPr lang="en-US" sz="2000" dirty="0">
                <a:solidFill>
                  <a:srgbClr val="C00000"/>
                </a:solidFill>
                <a:latin typeface="Gill Sans MT"/>
              </a:rPr>
              <a:t>this is true </a:t>
            </a:r>
            <a:r>
              <a:rPr lang="en-US" sz="2000" dirty="0">
                <a:solidFill>
                  <a:srgbClr val="C00000"/>
                </a:solidFill>
              </a:rPr>
              <a:t>for either Little-Endian or Big-Endian ordering)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000" dirty="0">
              <a:solidFill>
                <a:srgbClr val="C00000"/>
              </a:solidFill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239709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altLang="zh-CN" dirty="0"/>
              <a:t>Question: Endianness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2136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E14D4A-FE32-40AF-B06D-E9622816B101}" type="slidenum">
              <a:rPr lang="en-US" b="1">
                <a:solidFill>
                  <a:prstClr val="black"/>
                </a:solidFill>
                <a:latin typeface="Courier New" pitchFamily="49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b="1">
              <a:solidFill>
                <a:prstClr val="black"/>
              </a:solidFill>
              <a:latin typeface="Courier New" pitchFamily="49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91267" y="2722693"/>
          <a:ext cx="477363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2487701" y="305847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b="1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00439" y="3018266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53784" y="147197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The word stored at address </a:t>
            </a:r>
            <a:r>
              <a:rPr lang="en-US" sz="2400" b="1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with Big-Endian ordering 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87701" y="548264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b="1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00439" y="5442436"/>
            <a:ext cx="3545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3784" y="389614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The word stored at address </a:t>
            </a:r>
            <a:r>
              <a:rPr lang="en-US" sz="2400" b="1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with Little-Endian ordering is</a:t>
            </a:r>
          </a:p>
        </p:txBody>
      </p:sp>
    </p:spTree>
    <p:extLst>
      <p:ext uri="{BB962C8B-B14F-4D97-AF65-F5344CB8AC3E}">
        <p14:creationId xmlns:p14="http://schemas.microsoft.com/office/powerpoint/2010/main" val="150281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3" name="Rectangle 1027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4" name="Rectangle 1028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5" name="Rectangle 1029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400" b="1">
              <a:solidFill>
                <a:prstClr val="black"/>
              </a:solidFill>
              <a:latin typeface="Courier New" pitchFamily="49" charset="0"/>
            </a:endParaRPr>
          </a:p>
        </p:txBody>
      </p:sp>
      <p:sp>
        <p:nvSpPr>
          <p:cNvPr id="25606" name="Rectangle 1030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altLang="zh-CN" dirty="0"/>
              <a:t>Answer: Endianness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294967295"/>
          </p:nvPr>
        </p:nvSpPr>
        <p:spPr>
          <a:xfrm>
            <a:off x="2136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E14D4A-FE32-40AF-B06D-E9622816B101}" type="slidenum">
              <a:rPr lang="en-US" b="1">
                <a:solidFill>
                  <a:prstClr val="black"/>
                </a:solidFill>
                <a:latin typeface="Courier New" pitchFamily="49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b="1">
              <a:solidFill>
                <a:prstClr val="black"/>
              </a:solidFill>
              <a:latin typeface="Courier New" pitchFamily="49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91267" y="2722693"/>
          <a:ext cx="477363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1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Memory</a:t>
                      </a:r>
                      <a:r>
                        <a:rPr lang="en-US" sz="2800" baseline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Data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0x20008003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0xA7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0x20008002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0x90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0x20008001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0x8C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0x20008000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0xEE</a:t>
                      </a:r>
                      <a:endParaRPr lang="en-US" sz="280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2487701" y="305847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b="1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500440" y="3018266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0xEE8C90A7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53784" y="147197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The word stored at address </a:t>
            </a:r>
            <a:r>
              <a:rPr lang="en-US" sz="2400" b="1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with Big-Endian ordering 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87701" y="5482647"/>
            <a:ext cx="2083633" cy="344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 b="1" dirty="0">
              <a:solidFill>
                <a:prstClr val="black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00440" y="5442436"/>
            <a:ext cx="1883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0xA7908CEE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53784" y="3896147"/>
            <a:ext cx="3810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The word stored at address </a:t>
            </a:r>
            <a:r>
              <a:rPr lang="en-US" sz="2400" b="1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0x20008000</a:t>
            </a: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="1" dirty="0">
                <a:solidFill>
                  <a:prstClr val="black"/>
                </a:solidFill>
                <a:latin typeface="Courier New" pitchFamily="49" charset="0"/>
              </a:rPr>
              <a:t>with Little-Endian ordering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53784" y="5982293"/>
            <a:ext cx="8829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b="1" dirty="0">
                <a:solidFill>
                  <a:srgbClr val="0041FF"/>
                </a:solidFill>
                <a:latin typeface="Courier New" pitchFamily="49" charset="0"/>
              </a:rPr>
              <a:t>Endianness only specifies byte order, not bit order in a byte!</a:t>
            </a:r>
          </a:p>
        </p:txBody>
      </p:sp>
    </p:spTree>
    <p:extLst>
      <p:ext uri="{BB962C8B-B14F-4D97-AF65-F5344CB8AC3E}">
        <p14:creationId xmlns:p14="http://schemas.microsoft.com/office/powerpoint/2010/main" val="670903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6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2852</TotalTime>
  <Words>634</Words>
  <Application>Microsoft Office PowerPoint</Application>
  <PresentationFormat>Widescreen</PresentationFormat>
  <Paragraphs>177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21" baseType="lpstr">
      <vt:lpstr>Bookman Old Style (Headings)</vt:lpstr>
      <vt:lpstr>Gill Sans</vt:lpstr>
      <vt:lpstr>Gill Sans Light</vt:lpstr>
      <vt:lpstr>Arial</vt:lpstr>
      <vt:lpstr>Arial Narrow</vt:lpstr>
      <vt:lpstr>Bookman Old Style</vt:lpstr>
      <vt:lpstr>Calibri</vt:lpstr>
      <vt:lpstr>Consolas</vt:lpstr>
      <vt:lpstr>Courier New</vt:lpstr>
      <vt:lpstr>Gill Sans MT</vt:lpstr>
      <vt:lpstr>Helvetica</vt:lpstr>
      <vt:lpstr>Wingdings</vt:lpstr>
      <vt:lpstr>Wingdings 3</vt:lpstr>
      <vt:lpstr>Origin</vt:lpstr>
      <vt:lpstr>Z. Gu</vt:lpstr>
      <vt:lpstr>Question: Endianness</vt:lpstr>
      <vt:lpstr>Answer: Endianness</vt:lpstr>
      <vt:lpstr>Question: Endianness</vt:lpstr>
      <vt:lpstr>Answer: Endianness</vt:lpstr>
      <vt:lpstr>Question: Endianness</vt:lpstr>
      <vt:lpstr>Answer: Endianness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299</cp:revision>
  <dcterms:created xsi:type="dcterms:W3CDTF">2013-02-03T05:36:57Z</dcterms:created>
  <dcterms:modified xsi:type="dcterms:W3CDTF">2025-12-30T22:44:01Z</dcterms:modified>
</cp:coreProperties>
</file>