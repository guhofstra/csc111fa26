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307" r:id="rId3"/>
    <p:sldId id="308" r:id="rId4"/>
    <p:sldId id="284" r:id="rId5"/>
    <p:sldId id="258" r:id="rId6"/>
    <p:sldId id="259" r:id="rId7"/>
    <p:sldId id="260" r:id="rId8"/>
    <p:sldId id="310" r:id="rId9"/>
    <p:sldId id="261" r:id="rId10"/>
    <p:sldId id="292" r:id="rId11"/>
    <p:sldId id="293" r:id="rId12"/>
    <p:sldId id="263" r:id="rId13"/>
    <p:sldId id="295" r:id="rId14"/>
    <p:sldId id="296" r:id="rId15"/>
    <p:sldId id="303" r:id="rId16"/>
    <p:sldId id="297" r:id="rId17"/>
    <p:sldId id="305" r:id="rId18"/>
    <p:sldId id="306" r:id="rId19"/>
    <p:sldId id="300" r:id="rId20"/>
    <p:sldId id="283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944384-D7F0-4718-A6BC-6EE633C599DF}" v="3" dt="2025-10-07T13:00:49.5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delSld modSld">
      <pc:chgData name="Zonghua Gu" userId="9a7e1853e1951ef5" providerId="LiveId" clId="{CF1FAA12-072C-4ED5-BA76-0FFFAEFDB88A}" dt="2025-10-07T21:33:07.535" v="70" actId="47"/>
      <pc:docMkLst>
        <pc:docMk/>
      </pc:docMkLst>
      <pc:sldChg chg="addSp delSp modSp mod">
        <pc:chgData name="Zonghua Gu" userId="9a7e1853e1951ef5" providerId="LiveId" clId="{CF1FAA12-072C-4ED5-BA76-0FFFAEFDB88A}" dt="2025-10-07T12:45:51.169" v="4"/>
        <pc:sldMkLst>
          <pc:docMk/>
          <pc:sldMk cId="1683281344" sldId="256"/>
        </pc:sldMkLst>
        <pc:spChg chg="del">
          <ac:chgData name="Zonghua Gu" userId="9a7e1853e1951ef5" providerId="LiveId" clId="{CF1FAA12-072C-4ED5-BA76-0FFFAEFDB88A}" dt="2025-10-07T12:45:47.313" v="2" actId="478"/>
          <ac:spMkLst>
            <pc:docMk/>
            <pc:sldMk cId="1683281344" sldId="256"/>
            <ac:spMk id="2" creationId="{00000000-0000-0000-0000-000000000000}"/>
          </ac:spMkLst>
        </pc:spChg>
        <pc:spChg chg="del">
          <ac:chgData name="Zonghua Gu" userId="9a7e1853e1951ef5" providerId="LiveId" clId="{CF1FAA12-072C-4ED5-BA76-0FFFAEFDB88A}" dt="2025-10-07T12:45:47.313" v="2" actId="478"/>
          <ac:spMkLst>
            <pc:docMk/>
            <pc:sldMk cId="1683281344" sldId="256"/>
            <ac:spMk id="3" creationId="{00000000-0000-0000-0000-000000000000}"/>
          </ac:spMkLst>
        </pc:spChg>
        <pc:spChg chg="mod">
          <ac:chgData name="Zonghua Gu" userId="9a7e1853e1951ef5" providerId="LiveId" clId="{CF1FAA12-072C-4ED5-BA76-0FFFAEFDB88A}" dt="2025-10-07T12:45:17.078" v="1" actId="6549"/>
          <ac:spMkLst>
            <pc:docMk/>
            <pc:sldMk cId="1683281344" sldId="256"/>
            <ac:spMk id="6" creationId="{00000000-0000-0000-0000-000000000000}"/>
          </ac:spMkLst>
        </pc:spChg>
        <pc:spChg chg="add del mod">
          <ac:chgData name="Zonghua Gu" userId="9a7e1853e1951ef5" providerId="LiveId" clId="{CF1FAA12-072C-4ED5-BA76-0FFFAEFDB88A}" dt="2025-10-07T12:45:50.300" v="3" actId="478"/>
          <ac:spMkLst>
            <pc:docMk/>
            <pc:sldMk cId="1683281344" sldId="256"/>
            <ac:spMk id="8" creationId="{96158B68-26B7-8932-2A0F-22F178C76003}"/>
          </ac:spMkLst>
        </pc:spChg>
        <pc:spChg chg="add del mod">
          <ac:chgData name="Zonghua Gu" userId="9a7e1853e1951ef5" providerId="LiveId" clId="{CF1FAA12-072C-4ED5-BA76-0FFFAEFDB88A}" dt="2025-10-07T12:45:50.300" v="3" actId="478"/>
          <ac:spMkLst>
            <pc:docMk/>
            <pc:sldMk cId="1683281344" sldId="256"/>
            <ac:spMk id="10" creationId="{004771AA-D394-10DF-2D2C-DF939ED8082D}"/>
          </ac:spMkLst>
        </pc:spChg>
        <pc:spChg chg="add mod">
          <ac:chgData name="Zonghua Gu" userId="9a7e1853e1951ef5" providerId="LiveId" clId="{CF1FAA12-072C-4ED5-BA76-0FFFAEFDB88A}" dt="2025-10-07T12:45:51.169" v="4"/>
          <ac:spMkLst>
            <pc:docMk/>
            <pc:sldMk cId="1683281344" sldId="256"/>
            <ac:spMk id="11" creationId="{2163272C-D316-640E-093D-C3C18C83B6A9}"/>
          </ac:spMkLst>
        </pc:spChg>
        <pc:spChg chg="add mod">
          <ac:chgData name="Zonghua Gu" userId="9a7e1853e1951ef5" providerId="LiveId" clId="{CF1FAA12-072C-4ED5-BA76-0FFFAEFDB88A}" dt="2025-10-07T12:45:51.169" v="4"/>
          <ac:spMkLst>
            <pc:docMk/>
            <pc:sldMk cId="1683281344" sldId="256"/>
            <ac:spMk id="12" creationId="{765BF85F-518B-641A-2DA2-0C9A1AE9CEAF}"/>
          </ac:spMkLst>
        </pc:spChg>
        <pc:spChg chg="add mod">
          <ac:chgData name="Zonghua Gu" userId="9a7e1853e1951ef5" providerId="LiveId" clId="{CF1FAA12-072C-4ED5-BA76-0FFFAEFDB88A}" dt="2025-10-07T12:45:51.169" v="4"/>
          <ac:spMkLst>
            <pc:docMk/>
            <pc:sldMk cId="1683281344" sldId="256"/>
            <ac:spMk id="13" creationId="{D6690234-6E61-CB44-62FA-AA0F4198F533}"/>
          </ac:spMkLst>
        </pc:spChg>
        <pc:spChg chg="add mod">
          <ac:chgData name="Zonghua Gu" userId="9a7e1853e1951ef5" providerId="LiveId" clId="{CF1FAA12-072C-4ED5-BA76-0FFFAEFDB88A}" dt="2025-10-07T12:45:51.169" v="4"/>
          <ac:spMkLst>
            <pc:docMk/>
            <pc:sldMk cId="1683281344" sldId="256"/>
            <ac:spMk id="14" creationId="{FA8E23A1-9C64-77E9-BB44-8AB19906E190}"/>
          </ac:spMkLst>
        </pc:spChg>
      </pc:sldChg>
      <pc:sldChg chg="modSp mod">
        <pc:chgData name="Zonghua Gu" userId="9a7e1853e1951ef5" providerId="LiveId" clId="{CF1FAA12-072C-4ED5-BA76-0FFFAEFDB88A}" dt="2025-10-07T12:46:46.540" v="14" actId="20577"/>
        <pc:sldMkLst>
          <pc:docMk/>
          <pc:sldMk cId="287378539" sldId="258"/>
        </pc:sldMkLst>
        <pc:spChg chg="mod">
          <ac:chgData name="Zonghua Gu" userId="9a7e1853e1951ef5" providerId="LiveId" clId="{CF1FAA12-072C-4ED5-BA76-0FFFAEFDB88A}" dt="2025-10-07T12:46:46.540" v="14" actId="20577"/>
          <ac:spMkLst>
            <pc:docMk/>
            <pc:sldMk cId="287378539" sldId="258"/>
            <ac:spMk id="3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5-10-07T13:01:49.521" v="35" actId="20577"/>
        <pc:sldMkLst>
          <pc:docMk/>
          <pc:sldMk cId="3098443873" sldId="260"/>
        </pc:sldMkLst>
        <pc:spChg chg="mod">
          <ac:chgData name="Zonghua Gu" userId="9a7e1853e1951ef5" providerId="LiveId" clId="{CF1FAA12-072C-4ED5-BA76-0FFFAEFDB88A}" dt="2025-10-07T13:01:49.521" v="35" actId="20577"/>
          <ac:spMkLst>
            <pc:docMk/>
            <pc:sldMk cId="3098443873" sldId="260"/>
            <ac:spMk id="3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0-07T21:29:25.464" v="63" actId="47"/>
        <pc:sldMkLst>
          <pc:docMk/>
          <pc:sldMk cId="3901081122" sldId="266"/>
        </pc:sldMkLst>
      </pc:sldChg>
      <pc:sldChg chg="del">
        <pc:chgData name="Zonghua Gu" userId="9a7e1853e1951ef5" providerId="LiveId" clId="{CF1FAA12-072C-4ED5-BA76-0FFFAEFDB88A}" dt="2025-10-07T21:29:27.318" v="65" actId="47"/>
        <pc:sldMkLst>
          <pc:docMk/>
          <pc:sldMk cId="210484945" sldId="278"/>
        </pc:sldMkLst>
      </pc:sldChg>
      <pc:sldChg chg="del">
        <pc:chgData name="Zonghua Gu" userId="9a7e1853e1951ef5" providerId="LiveId" clId="{CF1FAA12-072C-4ED5-BA76-0FFFAEFDB88A}" dt="2025-10-07T21:29:28.111" v="66" actId="47"/>
        <pc:sldMkLst>
          <pc:docMk/>
          <pc:sldMk cId="3054749938" sldId="279"/>
        </pc:sldMkLst>
      </pc:sldChg>
      <pc:sldChg chg="del">
        <pc:chgData name="Zonghua Gu" userId="9a7e1853e1951ef5" providerId="LiveId" clId="{CF1FAA12-072C-4ED5-BA76-0FFFAEFDB88A}" dt="2025-10-07T21:33:06.229" v="69" actId="47"/>
        <pc:sldMkLst>
          <pc:docMk/>
          <pc:sldMk cId="3034693896" sldId="281"/>
        </pc:sldMkLst>
      </pc:sldChg>
      <pc:sldChg chg="modSp mod">
        <pc:chgData name="Zonghua Gu" userId="9a7e1853e1951ef5" providerId="LiveId" clId="{CF1FAA12-072C-4ED5-BA76-0FFFAEFDB88A}" dt="2025-10-07T21:29:55.259" v="67" actId="947"/>
        <pc:sldMkLst>
          <pc:docMk/>
          <pc:sldMk cId="1623878550" sldId="283"/>
        </pc:sldMkLst>
        <pc:spChg chg="mod">
          <ac:chgData name="Zonghua Gu" userId="9a7e1853e1951ef5" providerId="LiveId" clId="{CF1FAA12-072C-4ED5-BA76-0FFFAEFDB88A}" dt="2025-10-07T21:29:55.259" v="67" actId="947"/>
          <ac:spMkLst>
            <pc:docMk/>
            <pc:sldMk cId="1623878550" sldId="283"/>
            <ac:spMk id="2" creationId="{00000000-0000-0000-0000-000000000000}"/>
          </ac:spMkLst>
        </pc:spChg>
      </pc:sldChg>
      <pc:sldChg chg="addSp modSp mod">
        <pc:chgData name="Zonghua Gu" userId="9a7e1853e1951ef5" providerId="LiveId" clId="{CF1FAA12-072C-4ED5-BA76-0FFFAEFDB88A}" dt="2025-10-07T21:28:17.077" v="59" actId="1076"/>
        <pc:sldMkLst>
          <pc:docMk/>
          <pc:sldMk cId="601431910" sldId="284"/>
        </pc:sldMkLst>
        <pc:spChg chg="add mod">
          <ac:chgData name="Zonghua Gu" userId="9a7e1853e1951ef5" providerId="LiveId" clId="{CF1FAA12-072C-4ED5-BA76-0FFFAEFDB88A}" dt="2025-10-07T21:28:17.077" v="59" actId="1076"/>
          <ac:spMkLst>
            <pc:docMk/>
            <pc:sldMk cId="601431910" sldId="284"/>
            <ac:spMk id="7" creationId="{91A4DE93-40B1-3CA9-1D41-3281E80C40F8}"/>
          </ac:spMkLst>
        </pc:spChg>
        <pc:graphicFrameChg chg="mod">
          <ac:chgData name="Zonghua Gu" userId="9a7e1853e1951ef5" providerId="LiveId" clId="{CF1FAA12-072C-4ED5-BA76-0FFFAEFDB88A}" dt="2025-10-07T21:27:41.041" v="46" actId="1076"/>
          <ac:graphicFrameMkLst>
            <pc:docMk/>
            <pc:sldMk cId="601431910" sldId="284"/>
            <ac:graphicFrameMk id="5" creationId="{00000000-0000-0000-0000-000000000000}"/>
          </ac:graphicFrameMkLst>
        </pc:graphicFrameChg>
      </pc:sldChg>
      <pc:sldChg chg="del">
        <pc:chgData name="Zonghua Gu" userId="9a7e1853e1951ef5" providerId="LiveId" clId="{CF1FAA12-072C-4ED5-BA76-0FFFAEFDB88A}" dt="2025-10-07T21:28:49.131" v="60" actId="47"/>
        <pc:sldMkLst>
          <pc:docMk/>
          <pc:sldMk cId="1620139945" sldId="294"/>
        </pc:sldMkLst>
      </pc:sldChg>
      <pc:sldChg chg="del">
        <pc:chgData name="Zonghua Gu" userId="9a7e1853e1951ef5" providerId="LiveId" clId="{CF1FAA12-072C-4ED5-BA76-0FFFAEFDB88A}" dt="2025-10-07T21:29:26.449" v="64" actId="47"/>
        <pc:sldMkLst>
          <pc:docMk/>
          <pc:sldMk cId="3243208761" sldId="298"/>
        </pc:sldMkLst>
      </pc:sldChg>
      <pc:sldChg chg="del">
        <pc:chgData name="Zonghua Gu" userId="9a7e1853e1951ef5" providerId="LiveId" clId="{CF1FAA12-072C-4ED5-BA76-0FFFAEFDB88A}" dt="2025-10-07T21:33:05.228" v="68" actId="47"/>
        <pc:sldMkLst>
          <pc:docMk/>
          <pc:sldMk cId="1895128042" sldId="299"/>
        </pc:sldMkLst>
      </pc:sldChg>
      <pc:sldChg chg="del">
        <pc:chgData name="Zonghua Gu" userId="9a7e1853e1951ef5" providerId="LiveId" clId="{CF1FAA12-072C-4ED5-BA76-0FFFAEFDB88A}" dt="2025-10-07T21:33:07.535" v="70" actId="47"/>
        <pc:sldMkLst>
          <pc:docMk/>
          <pc:sldMk cId="1849241118" sldId="302"/>
        </pc:sldMkLst>
      </pc:sldChg>
      <pc:sldChg chg="del">
        <pc:chgData name="Zonghua Gu" userId="9a7e1853e1951ef5" providerId="LiveId" clId="{CF1FAA12-072C-4ED5-BA76-0FFFAEFDB88A}" dt="2025-10-07T21:29:04.496" v="61" actId="47"/>
        <pc:sldMkLst>
          <pc:docMk/>
          <pc:sldMk cId="2863756120" sldId="304"/>
        </pc:sldMkLst>
      </pc:sldChg>
      <pc:sldChg chg="del">
        <pc:chgData name="Zonghua Gu" userId="9a7e1853e1951ef5" providerId="LiveId" clId="{CF1FAA12-072C-4ED5-BA76-0FFFAEFDB88A}" dt="2025-10-07T21:29:23.623" v="62" actId="47"/>
        <pc:sldMkLst>
          <pc:docMk/>
          <pc:sldMk cId="3866271372" sldId="309"/>
        </pc:sldMkLst>
      </pc:sldChg>
      <pc:sldChg chg="modSp mod">
        <pc:chgData name="Zonghua Gu" userId="9a7e1853e1951ef5" providerId="LiveId" clId="{CF1FAA12-072C-4ED5-BA76-0FFFAEFDB88A}" dt="2025-10-07T13:12:46.888" v="43" actId="20577"/>
        <pc:sldMkLst>
          <pc:docMk/>
          <pc:sldMk cId="3097634148" sldId="310"/>
        </pc:sldMkLst>
        <pc:spChg chg="mod">
          <ac:chgData name="Zonghua Gu" userId="9a7e1853e1951ef5" providerId="LiveId" clId="{CF1FAA12-072C-4ED5-BA76-0FFFAEFDB88A}" dt="2025-10-07T13:12:46.888" v="43" actId="20577"/>
          <ac:spMkLst>
            <pc:docMk/>
            <pc:sldMk cId="3097634148" sldId="310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A5E3F-0972-45A4-AC9E-F4F032C2257A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F4C3A-4FFF-4769-A3DC-CFCC34F8D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2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r>
              <a:rPr lang="en-US" dirty="0"/>
              <a:t>Save and restore R4-R11,LR if your subroutine wishes to modify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Parameters passing in registers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R0, R1, R2, R3</a:t>
            </a:r>
          </a:p>
          <a:p>
            <a:pPr lvl="1"/>
            <a:r>
              <a:rPr lang="en-US" dirty="0"/>
              <a:t>Extra parameters passing in stack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Return parameter in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45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5385DBA2-727B-43EE-B61A-7232050E756A}" type="datetime1">
              <a:rPr lang="en-US" smtClean="0"/>
              <a:pPr eaLnBrk="1" latinLnBrk="0" hangingPunct="1"/>
              <a:t>10/7/2025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3CB0AB-D709-47D9-B108-C72463926FD4}" type="datetime1">
              <a:rPr lang="en-US" smtClean="0"/>
              <a:pPr eaLnBrk="1" latinLnBrk="0" hangingPunct="1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A15A26EE-9A10-4DC6-9165-C6231F65734D}" type="datetime1">
              <a:rPr lang="en-US" smtClean="0"/>
              <a:pPr eaLnBrk="1" latinLnBrk="0" hangingPunct="1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38F1204-C368-4730-89D0-2AA4D8D0FAB9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9A52CCE-3D4A-4822-AB92-D51BD1732F26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B10BC51-9A51-4195-AB26-809709A20093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53E6368-F58E-49F3-B7B5-FC7AF9F17FE0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2A515F-6EF2-4223-93EA-CB9BA509637A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F777A1D-A95B-4F83-8E3E-DFE663370841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58F74D6-AB91-42D2-8101-D1947966E076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BC2DAB9-8EA6-4157-980F-5E7CBF565945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EDB75FB9-5078-4BA9-9F83-227F6C9A4C15}" type="datetime1">
              <a:rPr lang="en-US" smtClean="0"/>
              <a:pPr eaLnBrk="1" latinLnBrk="0" hangingPunct="1"/>
              <a:t>10/7/2025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emf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28800" y="337547"/>
            <a:ext cx="6477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ECE 271 - Microcomputer Architecture and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8789" y="1828800"/>
            <a:ext cx="1980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Final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163272C-D316-640E-093D-C3C18C83B6A9}"/>
              </a:ext>
            </a:extLst>
          </p:cNvPr>
          <p:cNvSpPr txBox="1">
            <a:spLocks/>
          </p:cNvSpPr>
          <p:nvPr/>
        </p:nvSpPr>
        <p:spPr>
          <a:xfrm>
            <a:off x="1216152" y="6355080"/>
            <a:ext cx="1219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A1CC8E-A1B6-4F03-86F4-7DF2A440C9C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65BF85F-518B-641A-2DA2-0C9A1AE9CEAF}"/>
              </a:ext>
            </a:extLst>
          </p:cNvPr>
          <p:cNvSpPr txBox="1">
            <a:spLocks/>
          </p:cNvSpPr>
          <p:nvPr/>
        </p:nvSpPr>
        <p:spPr>
          <a:xfrm>
            <a:off x="1219200" y="5124450"/>
            <a:ext cx="68580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Fall 2026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690234-6E61-CB44-62FA-AA0F4198F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8E23A1-9C64-77E9-BB44-8AB19906E190}"/>
              </a:ext>
            </a:extLst>
          </p:cNvPr>
          <p:cNvSpPr txBox="1"/>
          <p:nvPr/>
        </p:nvSpPr>
        <p:spPr>
          <a:xfrm>
            <a:off x="709138" y="6259175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Acknowledgement: Lecture slides based on Embedded Systems with ARM Cortex-M Microcontrollers in Assembly Language and C, University of Maine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  <a:hlinkClick r:id="rId2"/>
              </a:rPr>
              <a:t>https://web.eece.maine.edu/~zhu/book/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 </a:t>
            </a:r>
            <a:endParaRPr kumimoji="0" lang="en-SE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Content Placeholder 4" descr="singer_ikea.gif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438400" y="1295400"/>
            <a:ext cx="3965455" cy="5002175"/>
          </a:xfrm>
        </p:spPr>
      </p:pic>
      <p:sp>
        <p:nvSpPr>
          <p:cNvPr id="6" name="Oval 5"/>
          <p:cNvSpPr/>
          <p:nvPr/>
        </p:nvSpPr>
        <p:spPr>
          <a:xfrm>
            <a:off x="2514600" y="3012558"/>
            <a:ext cx="2764465" cy="79744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eaLnBrk="1" hangingPunct="1"/>
            <a:r>
              <a:rPr lang="en-US" dirty="0"/>
              <a:t>Assembly Programs</a:t>
            </a:r>
          </a:p>
        </p:txBody>
      </p:sp>
      <p:sp>
        <p:nvSpPr>
          <p:cNvPr id="2" name="Rectangle 1"/>
          <p:cNvSpPr/>
          <p:nvPr/>
        </p:nvSpPr>
        <p:spPr>
          <a:xfrm>
            <a:off x="6324600" y="5943600"/>
            <a:ext cx="164339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i="1" dirty="0"/>
              <a:t>http://www.andysinger.com/</a:t>
            </a:r>
          </a:p>
        </p:txBody>
      </p:sp>
    </p:spTree>
    <p:extLst>
      <p:ext uri="{BB962C8B-B14F-4D97-AF65-F5344CB8AC3E}">
        <p14:creationId xmlns:p14="http://schemas.microsoft.com/office/powerpoint/2010/main" val="42081831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learn Assembly?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991600" cy="51054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Assembly isn’t “just another language”. 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Help you understand how the processor works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Assembly program runs faster than high-level language. Performance critical codes must be written in assembly.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Use the profiling tools to find the performance bottleneck and rewrite that code section in assembly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Latency-sensitive applications, such as aircraft controller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 xml:space="preserve">Standard C compilers do not use some operations available on ARM processors, such as ROR (Rotate Right) and RRX (Rotate Right Extended). 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Hardware/processor specific code, 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Processor booting code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Device drivers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A test-and-set atomic assembly instruction can be used to implement locks and semaphores. 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Cost-sensitive applications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Embedded devices, where the size of code is limited, washing machine controllers, automobile controllers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The best applications are written by those who've mastered assembly language or fully understand the low-level implementation of the high-level language statements they're choosing.</a:t>
            </a:r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665053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String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4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519048"/>
              </p:ext>
            </p:extLst>
          </p:nvPr>
        </p:nvGraphicFramePr>
        <p:xfrm>
          <a:off x="3810000" y="1875883"/>
          <a:ext cx="4419600" cy="3542116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1897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19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Memory Address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Memory Content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Letter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+ 12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0x00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+ 11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0x79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+ 10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0x6C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+ 9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0x62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+ 8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0x6D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+ 7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0x65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+ 6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0x73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+ 5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0x73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+ 4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0x41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601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+ 3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0x20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space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+ 2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0x4D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0x52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0x41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28600" y="2877372"/>
            <a:ext cx="3181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char </a:t>
            </a:r>
            <a:r>
              <a:rPr lang="en-US" dirty="0" err="1">
                <a:solidFill>
                  <a:srgbClr val="FF0000"/>
                </a:solidFill>
              </a:rPr>
              <a:t>str</a:t>
            </a:r>
            <a:r>
              <a:rPr lang="en-US" dirty="0">
                <a:solidFill>
                  <a:srgbClr val="FF0000"/>
                </a:solidFill>
              </a:rPr>
              <a:t>[13] = “ARM Assembly”;</a:t>
            </a:r>
            <a:endParaRPr lang="en-US" dirty="0">
              <a:solidFill>
                <a:srgbClr val="FF0000"/>
              </a:solidFill>
              <a:latin typeface="Cambria"/>
              <a:ea typeface="Cambria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A4DE93-40B1-3CA9-1D41-3281E80C40F8}"/>
              </a:ext>
            </a:extLst>
          </p:cNvPr>
          <p:cNvSpPr txBox="1"/>
          <p:nvPr/>
        </p:nvSpPr>
        <p:spPr>
          <a:xfrm>
            <a:off x="304800" y="3463413"/>
            <a:ext cx="342595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dirty="0"/>
              <a:t>Big Endian or Little Endian?</a:t>
            </a:r>
          </a:p>
        </p:txBody>
      </p:sp>
    </p:spTree>
    <p:extLst>
      <p:ext uri="{BB962C8B-B14F-4D97-AF65-F5344CB8AC3E}">
        <p14:creationId xmlns:p14="http://schemas.microsoft.com/office/powerpoint/2010/main" val="601431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87450"/>
            <a:ext cx="8229600" cy="513715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Integers</a:t>
            </a:r>
          </a:p>
          <a:p>
            <a:pPr lvl="1"/>
            <a:r>
              <a:rPr lang="en-US" dirty="0"/>
              <a:t>Binary in different bases: binary, octal, hex, decimal</a:t>
            </a:r>
          </a:p>
          <a:p>
            <a:pPr lvl="1"/>
            <a:r>
              <a:rPr lang="en-US" dirty="0"/>
              <a:t>Signed Integers</a:t>
            </a:r>
          </a:p>
          <a:p>
            <a:pPr lvl="2"/>
            <a:r>
              <a:rPr lang="en-US" dirty="0"/>
              <a:t>Two’s complement</a:t>
            </a:r>
          </a:p>
          <a:p>
            <a:pPr lvl="1"/>
            <a:r>
              <a:rPr lang="en-US" dirty="0"/>
              <a:t>Arithmetic Operations</a:t>
            </a:r>
          </a:p>
          <a:p>
            <a:pPr lvl="2"/>
            <a:r>
              <a:rPr lang="en-US" dirty="0"/>
              <a:t>NVCZ flags</a:t>
            </a:r>
          </a:p>
          <a:p>
            <a:pPr lvl="1"/>
            <a:r>
              <a:rPr lang="en-US" dirty="0"/>
              <a:t>Big Endian </a:t>
            </a:r>
            <a:r>
              <a:rPr lang="en-US" dirty="0" err="1"/>
              <a:t>vs</a:t>
            </a:r>
            <a:r>
              <a:rPr lang="en-US" dirty="0"/>
              <a:t> Little Endian</a:t>
            </a:r>
          </a:p>
          <a:p>
            <a:r>
              <a:rPr lang="en-US" dirty="0"/>
              <a:t>ASCII values</a:t>
            </a:r>
          </a:p>
          <a:p>
            <a:pPr lvl="1"/>
            <a:r>
              <a:rPr lang="en-US" dirty="0"/>
              <a:t>Null-terminated string</a:t>
            </a:r>
          </a:p>
          <a:p>
            <a:pPr lvl="1"/>
            <a:r>
              <a:rPr lang="en-US" dirty="0"/>
              <a:t>Converting between numbers and ASCII</a:t>
            </a:r>
          </a:p>
          <a:p>
            <a:pPr lvl="1"/>
            <a:r>
              <a:rPr lang="en-US" dirty="0"/>
              <a:t>Upper case, lower case</a:t>
            </a:r>
          </a:p>
          <a:p>
            <a:r>
              <a:rPr lang="en-US" dirty="0"/>
              <a:t>Fixed point numbers</a:t>
            </a:r>
          </a:p>
          <a:p>
            <a:pPr lvl="1"/>
            <a:r>
              <a:rPr lang="en-US" dirty="0" err="1"/>
              <a:t>Qm.n</a:t>
            </a:r>
            <a:r>
              <a:rPr lang="en-US" dirty="0"/>
              <a:t>, </a:t>
            </a:r>
            <a:r>
              <a:rPr lang="en-US" dirty="0" err="1"/>
              <a:t>UQm.n</a:t>
            </a:r>
            <a:endParaRPr lang="en-US" dirty="0"/>
          </a:p>
          <a:p>
            <a:pPr lvl="1"/>
            <a:r>
              <a:rPr lang="en-US" dirty="0"/>
              <a:t>Addition, subtract, multiplication, division</a:t>
            </a:r>
          </a:p>
          <a:p>
            <a:r>
              <a:rPr lang="en-US" dirty="0"/>
              <a:t>Floating point numbers</a:t>
            </a:r>
          </a:p>
          <a:p>
            <a:pPr lvl="1"/>
            <a:r>
              <a:rPr lang="en-US" dirty="0"/>
              <a:t>IEEE 754 Standard</a:t>
            </a:r>
          </a:p>
          <a:p>
            <a:pPr lvl="1"/>
            <a:r>
              <a:rPr lang="en-US" dirty="0"/>
              <a:t>Single Precision, Double Precision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5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7378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Assembly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Load-modify-store sequence</a:t>
            </a:r>
          </a:p>
          <a:p>
            <a:r>
              <a:rPr lang="en-US" dirty="0"/>
              <a:t>Accessing memory</a:t>
            </a:r>
          </a:p>
          <a:p>
            <a:pPr lvl="1"/>
            <a:r>
              <a:rPr lang="en-US" dirty="0"/>
              <a:t>Memory addressing mode</a:t>
            </a:r>
          </a:p>
          <a:p>
            <a:pPr lvl="2"/>
            <a:r>
              <a:rPr lang="en-US" dirty="0"/>
              <a:t>Pre-index</a:t>
            </a:r>
          </a:p>
          <a:p>
            <a:pPr lvl="2"/>
            <a:r>
              <a:rPr lang="en-US" dirty="0"/>
              <a:t>Post-index</a:t>
            </a:r>
          </a:p>
          <a:p>
            <a:pPr lvl="2"/>
            <a:r>
              <a:rPr lang="en-US" dirty="0"/>
              <a:t>Pre-index with update</a:t>
            </a:r>
          </a:p>
          <a:p>
            <a:r>
              <a:rPr lang="en-US" dirty="0"/>
              <a:t>Data processing</a:t>
            </a:r>
          </a:p>
          <a:p>
            <a:pPr lvl="1"/>
            <a:r>
              <a:rPr lang="en-US" dirty="0"/>
              <a:t>Arithmetic, Logic, Comparison, Data Movement</a:t>
            </a:r>
          </a:p>
          <a:p>
            <a:pPr lvl="1"/>
            <a:r>
              <a:rPr lang="en-US" dirty="0"/>
              <a:t>Barrel Shifter:  </a:t>
            </a:r>
          </a:p>
          <a:p>
            <a:pPr lvl="2"/>
            <a:r>
              <a:rPr lang="en-US" dirty="0"/>
              <a:t>ADD r1, r0, r0, LSL #2</a:t>
            </a:r>
          </a:p>
          <a:p>
            <a:pPr lvl="1"/>
            <a:r>
              <a:rPr lang="en-US" dirty="0"/>
              <a:t>Bit operations</a:t>
            </a:r>
          </a:p>
          <a:p>
            <a:pPr lvl="2"/>
            <a:r>
              <a:rPr lang="en-US" dirty="0"/>
              <a:t>Set a bit, Reset a bit, Toggle a bit, Check a bit</a:t>
            </a:r>
          </a:p>
          <a:p>
            <a:pPr lvl="1"/>
            <a:r>
              <a:rPr lang="en-US" dirty="0"/>
              <a:t>LSL, LSR, ASR, ROR, RRX</a:t>
            </a:r>
          </a:p>
          <a:p>
            <a:r>
              <a:rPr lang="en-US" dirty="0"/>
              <a:t>Flow control: if, if-then-else, for loop, while loop</a:t>
            </a:r>
          </a:p>
          <a:p>
            <a:pPr lvl="1"/>
            <a:r>
              <a:rPr lang="en-US" dirty="0"/>
              <a:t>Unconditional Branch: B</a:t>
            </a:r>
          </a:p>
          <a:p>
            <a:pPr lvl="1"/>
            <a:r>
              <a:rPr lang="en-US" dirty="0"/>
              <a:t>Conditional Branch: CMP, TEQ,TST, BEQ, BNE, BMI, BLS, BHI, etc.</a:t>
            </a:r>
          </a:p>
          <a:p>
            <a:pPr lvl="1"/>
            <a:r>
              <a:rPr lang="en-US" dirty="0"/>
              <a:t>Conditional Execution: MOVEQ, MOVNE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6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73452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Subroutine Without Floating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Calling Subroutine &amp; Exiting Subroutine</a:t>
            </a:r>
          </a:p>
          <a:p>
            <a:pPr lvl="1"/>
            <a:r>
              <a:rPr lang="en-US" dirty="0"/>
              <a:t>BL and BX</a:t>
            </a:r>
          </a:p>
          <a:p>
            <a:pPr lvl="1"/>
            <a:r>
              <a:rPr lang="en-US" dirty="0"/>
              <a:t>How are PC, LR, and SP registers updated?</a:t>
            </a:r>
          </a:p>
          <a:p>
            <a:pPr marR="0" lvl="0" defTabSz="914400" fontAlgn="base">
              <a:lnSpc>
                <a:spcPct val="100000"/>
              </a:lnSpc>
              <a:spcAft>
                <a:spcPct val="0"/>
              </a:spcAft>
              <a:tabLst/>
            </a:pPr>
            <a:r>
              <a:rPr lang="en-US" altLang="en-US" dirty="0"/>
              <a:t>Caller-saved registers: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R0–R3: Arguments/return registers.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R12 (IP): Intra-procedure scratch register.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CPSR: — caller must preserve its state if needed.</a:t>
            </a:r>
          </a:p>
          <a:p>
            <a:pPr marR="0" lvl="0" defTabSz="914400" fontAlgn="base">
              <a:lnSpc>
                <a:spcPct val="100000"/>
              </a:lnSpc>
              <a:spcAft>
                <a:spcPct val="0"/>
              </a:spcAft>
              <a:tabLst/>
            </a:pPr>
            <a:r>
              <a:rPr lang="en-US" altLang="en-US" dirty="0"/>
              <a:t>Callee-saved registers: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R4–R11: Must be saved/restored by the callee if used.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R14 (LR): Must be saved if the callee makes nested calls.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R13 (SP): Stack pointer — must be preserved.</a:t>
            </a:r>
          </a:p>
          <a:p>
            <a:pPr marR="0" lvl="0" defTabSz="914400" fontAlgn="base">
              <a:lnSpc>
                <a:spcPct val="100000"/>
              </a:lnSpc>
              <a:spcAft>
                <a:spcPct val="0"/>
              </a:spcAft>
              <a:tabLst/>
            </a:pPr>
            <a:r>
              <a:rPr lang="en-US" altLang="en-US" dirty="0"/>
              <a:t>Extra parameters passed on stack: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When more than four arguments exist.</a:t>
            </a:r>
          </a:p>
          <a:p>
            <a:pPr marR="0" lvl="0" defTabSz="914400" fontAlgn="base">
              <a:lnSpc>
                <a:spcPct val="100000"/>
              </a:lnSpc>
              <a:spcAft>
                <a:spcPct val="0"/>
              </a:spcAft>
              <a:tabLst/>
            </a:pPr>
            <a:r>
              <a:rPr lang="en-US" altLang="en-US" dirty="0"/>
              <a:t>Return value in R0</a:t>
            </a:r>
          </a:p>
          <a:p>
            <a:r>
              <a:rPr lang="en-US" dirty="0"/>
              <a:t>Recursive functions</a:t>
            </a:r>
          </a:p>
          <a:p>
            <a:pPr lvl="1"/>
            <a:r>
              <a:rPr lang="en-US" dirty="0"/>
              <a:t>How does the stack work?</a:t>
            </a:r>
          </a:p>
          <a:p>
            <a:pPr lvl="1"/>
            <a:r>
              <a:rPr lang="en-US" dirty="0"/>
              <a:t>Pay special attention to </a:t>
            </a:r>
            <a:r>
              <a:rPr lang="en-US" b="1" dirty="0">
                <a:latin typeface="Consolas" panose="020B0609020204030204" pitchFamily="49" charset="0"/>
              </a:rPr>
              <a:t>LR</a:t>
            </a:r>
            <a:r>
              <a:rPr lang="en-US" dirty="0"/>
              <a:t> register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7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098443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Subroutine with Float</a:t>
            </a:r>
            <a:r>
              <a:rPr lang="en-US"/>
              <a:t>/Double </a:t>
            </a:r>
            <a:r>
              <a:rPr lang="en-US" dirty="0"/>
              <a:t>Arguments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4709160"/>
          </a:xfrm>
        </p:spPr>
        <p:txBody>
          <a:bodyPr>
            <a:normAutofit/>
          </a:bodyPr>
          <a:lstStyle/>
          <a:p>
            <a:r>
              <a:rPr lang="en-US" sz="2000" dirty="0"/>
              <a:t>Each number is assigned in turn to the next free register of the corresponding type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Example: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double fun(double a1, float a2, double a3, float a4, float a5, double a6, float a7, double a8)</a:t>
            </a:r>
          </a:p>
          <a:p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612648" y="2967335"/>
            <a:ext cx="80741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20469"/>
            <a:ext cx="8927901" cy="83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634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334000" cy="4937760"/>
          </a:xfrm>
        </p:spPr>
        <p:txBody>
          <a:bodyPr>
            <a:normAutofit/>
          </a:bodyPr>
          <a:lstStyle/>
          <a:p>
            <a:r>
              <a:rPr lang="en-US" dirty="0"/>
              <a:t>Interrupt </a:t>
            </a:r>
            <a:r>
              <a:rPr lang="en-US" dirty="0" err="1"/>
              <a:t>vs</a:t>
            </a:r>
            <a:r>
              <a:rPr lang="en-US" dirty="0"/>
              <a:t> Polling</a:t>
            </a:r>
          </a:p>
          <a:p>
            <a:r>
              <a:rPr lang="en-US" dirty="0"/>
              <a:t>Interrupt Service Routine</a:t>
            </a:r>
          </a:p>
          <a:p>
            <a:r>
              <a:rPr lang="en-US" dirty="0"/>
              <a:t>Interrupt Enable and Disable</a:t>
            </a:r>
          </a:p>
          <a:p>
            <a:r>
              <a:rPr lang="en-US" dirty="0"/>
              <a:t>Interrupt Stacking and </a:t>
            </a:r>
            <a:r>
              <a:rPr lang="en-US" dirty="0" err="1"/>
              <a:t>Unstacking</a:t>
            </a:r>
            <a:endParaRPr lang="en-US" dirty="0"/>
          </a:p>
          <a:p>
            <a:pPr lvl="1"/>
            <a:r>
              <a:rPr lang="en-US" dirty="0"/>
              <a:t>Eight registers (R0-R3, R12, LR, PC, PSR) are automatically pushed into the stack before the handler starts</a:t>
            </a:r>
          </a:p>
          <a:p>
            <a:pPr lvl="1"/>
            <a:r>
              <a:rPr lang="en-US" dirty="0"/>
              <a:t>These registers are automatically popped when exiting the handler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9</a:t>
            </a:fld>
            <a:endParaRPr kumimoji="0" lang="en-US" dirty="0"/>
          </a:p>
        </p:txBody>
      </p:sp>
      <p:pic>
        <p:nvPicPr>
          <p:cNvPr id="6" name="Picture 2" descr="Image result for waiting for phone cal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705600" y="1371600"/>
            <a:ext cx="1698012" cy="175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media.istockphoto.com/vectors/business-dog-vector-id484096828?k=6&amp;m=484096828&amp;s=170667a&amp;w=0&amp;h=eokHbCWPFhuswJxVoryy3kQjg_d4TyV0Ofw3RTnmJ48=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657600"/>
            <a:ext cx="1779899" cy="118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781800" y="4866031"/>
            <a:ext cx="19106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http://www.istockphoto.com/</a:t>
            </a:r>
          </a:p>
        </p:txBody>
      </p:sp>
    </p:spTree>
    <p:extLst>
      <p:ext uri="{BB962C8B-B14F-4D97-AF65-F5344CB8AC3E}">
        <p14:creationId xmlns:p14="http://schemas.microsoft.com/office/powerpoint/2010/main" val="100492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Stacking &amp; </a:t>
            </a:r>
            <a:r>
              <a:rPr lang="en-US" dirty="0" err="1"/>
              <a:t>Unstacking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990600" y="4844533"/>
            <a:ext cx="70104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990600" y="4234933"/>
            <a:ext cx="2057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429000" y="3091933"/>
            <a:ext cx="1981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791200" y="4225408"/>
            <a:ext cx="2209800" cy="95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3048000" y="3091934"/>
            <a:ext cx="381000" cy="1133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 flipV="1">
            <a:off x="5410200" y="3091934"/>
            <a:ext cx="381000" cy="1133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257550" y="2939533"/>
            <a:ext cx="0" cy="2286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600700" y="2939533"/>
            <a:ext cx="0" cy="2286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41605" y="2570201"/>
            <a:ext cx="1849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 Handler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2554" y="4896444"/>
            <a:ext cx="19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Handler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91200" y="4896444"/>
            <a:ext cx="19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Mode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3374" y="4910255"/>
            <a:ext cx="19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2909409"/>
            <a:ext cx="1248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Interrupt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Signal</a:t>
            </a:r>
          </a:p>
        </p:txBody>
      </p:sp>
      <p:cxnSp>
        <p:nvCxnSpPr>
          <p:cNvPr id="32" name="Straight Arrow Connector 31"/>
          <p:cNvCxnSpPr>
            <a:stCxn id="30" idx="2"/>
          </p:cNvCxnSpPr>
          <p:nvPr/>
        </p:nvCxnSpPr>
        <p:spPr>
          <a:xfrm>
            <a:off x="2453010" y="3555740"/>
            <a:ext cx="594990" cy="66966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58481" y="3865601"/>
            <a:ext cx="149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Program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0518" y="3856076"/>
            <a:ext cx="149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Program</a:t>
            </a:r>
          </a:p>
        </p:txBody>
      </p:sp>
      <p:cxnSp>
        <p:nvCxnSpPr>
          <p:cNvPr id="36" name="Straight Arrow Connector 35"/>
          <p:cNvCxnSpPr>
            <a:stCxn id="40" idx="0"/>
          </p:cNvCxnSpPr>
          <p:nvPr/>
        </p:nvCxnSpPr>
        <p:spPr>
          <a:xfrm flipH="1" flipV="1">
            <a:off x="3167671" y="3925759"/>
            <a:ext cx="718538" cy="298782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334615" y="4224541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Stacking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5715000" y="3429000"/>
            <a:ext cx="304800" cy="302817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25146" y="3059668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</a:rPr>
              <a:t>Unstacking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5410200" y="2570201"/>
            <a:ext cx="414946" cy="489467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257800" y="1923870"/>
            <a:ext cx="1248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Interrupt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Exit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4659867"/>
            <a:ext cx="76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48106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Stacking &amp; </a:t>
            </a:r>
            <a:r>
              <a:rPr lang="en-US" dirty="0" err="1"/>
              <a:t>Unstacking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"/>
          </p:nvPr>
        </p:nvSpPr>
        <p:spPr>
          <a:xfrm>
            <a:off x="457200" y="5181600"/>
            <a:ext cx="8229600" cy="1143000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/>
              <a:t>Two </a:t>
            </a:r>
            <a:r>
              <a:rPr lang="en-US" sz="1800" dirty="0" err="1"/>
              <a:t>SPs</a:t>
            </a:r>
            <a:r>
              <a:rPr lang="en-US" sz="1800" dirty="0"/>
              <a:t>: Main </a:t>
            </a:r>
            <a:r>
              <a:rPr lang="en-US" sz="1800" dirty="0" err="1"/>
              <a:t>SP</a:t>
            </a:r>
            <a:r>
              <a:rPr lang="en-US" sz="1800" dirty="0"/>
              <a:t> (</a:t>
            </a:r>
            <a:r>
              <a:rPr lang="en-US" sz="1800" dirty="0" err="1"/>
              <a:t>MSP</a:t>
            </a:r>
            <a:r>
              <a:rPr lang="en-US" sz="1800" dirty="0"/>
              <a:t>) and Process </a:t>
            </a:r>
            <a:r>
              <a:rPr lang="en-US" sz="1800" dirty="0" err="1"/>
              <a:t>SP</a:t>
            </a:r>
            <a:r>
              <a:rPr lang="en-US" sz="1800" dirty="0"/>
              <a:t> (</a:t>
            </a:r>
            <a:r>
              <a:rPr lang="en-US" sz="1800" dirty="0" err="1"/>
              <a:t>PSP</a:t>
            </a:r>
            <a:r>
              <a:rPr lang="en-US" sz="1800" dirty="0"/>
              <a:t>)</a:t>
            </a:r>
          </a:p>
          <a:p>
            <a:r>
              <a:rPr lang="en-US" sz="1800" dirty="0"/>
              <a:t>Determined by operating mode and CONTROL[1]</a:t>
            </a:r>
          </a:p>
          <a:p>
            <a:pPr lvl="1"/>
            <a:r>
              <a:rPr lang="en-US" sz="1700" dirty="0"/>
              <a:t xml:space="preserve">Thread mode </a:t>
            </a:r>
            <a:r>
              <a:rPr lang="en-US" sz="1700" dirty="0">
                <a:latin typeface="Cambria Math"/>
                <a:ea typeface="Cambria Math"/>
              </a:rPr>
              <a:t xml:space="preserve">⟶ </a:t>
            </a:r>
            <a:r>
              <a:rPr lang="en-US" sz="1700" dirty="0" err="1">
                <a:ea typeface="Cambria Math"/>
              </a:rPr>
              <a:t>SP = MSP if CONTROL[1] = 0; Otherwise SP = PSP</a:t>
            </a:r>
            <a:r>
              <a:rPr lang="en-US" sz="1700" dirty="0">
                <a:ea typeface="Cambria Math"/>
              </a:rPr>
              <a:t/>
            </a:r>
            <a:r>
              <a:rPr lang="en-US" sz="1700" dirty="0" err="1">
                <a:ea typeface="Cambria Math"/>
              </a:rPr>
              <a:t/>
            </a:r>
            <a:endParaRPr lang="en-US" sz="1700" dirty="0">
              <a:ea typeface="Cambria Math"/>
            </a:endParaRPr>
          </a:p>
          <a:p>
            <a:pPr lvl="1"/>
            <a:r>
              <a:rPr lang="en-US" sz="1700" dirty="0">
                <a:ea typeface="Cambria Math"/>
              </a:rPr>
              <a:t>Handler mode</a:t>
            </a:r>
            <a:r>
              <a:rPr lang="en-US" sz="1700" dirty="0">
                <a:latin typeface="Cambria Math"/>
                <a:ea typeface="Cambria Math"/>
              </a:rPr>
              <a:t xml:space="preserve"> ⟶ </a:t>
            </a:r>
            <a:r>
              <a:rPr lang="en-US" sz="1700" dirty="0" err="1">
                <a:ea typeface="Cambria Math"/>
              </a:rPr>
              <a:t>SP</a:t>
            </a:r>
            <a:r>
              <a:rPr lang="en-US" sz="1700" dirty="0">
                <a:ea typeface="Cambria Math"/>
              </a:rPr>
              <a:t xml:space="preserve"> = </a:t>
            </a:r>
            <a:r>
              <a:rPr lang="en-US" sz="1700" dirty="0" err="1">
                <a:ea typeface="Cambria Math"/>
              </a:rPr>
              <a:t>MSP</a:t>
            </a:r>
            <a:r>
              <a:rPr lang="en-US" sz="1700" dirty="0">
                <a:ea typeface="Cambria Math"/>
              </a:rPr>
              <a:t/>
            </a:r>
            <a:r>
              <a:rPr lang="en-US" sz="1700" dirty="0" err="1">
                <a:ea typeface="Cambria Math"/>
              </a:rPr>
              <a:t/>
            </a:r>
            <a:r>
              <a:rPr lang="en-US" sz="1700" dirty="0">
                <a:ea typeface="Cambria Math"/>
              </a:rPr>
              <a:t/>
            </a:r>
            <a:r>
              <a:rPr lang="en-US" sz="1700" dirty="0" err="1">
                <a:ea typeface="Cambria Math"/>
              </a:rPr>
              <a:t/>
            </a:r>
            <a:endParaRPr lang="en-US" sz="17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81842" y="1524000"/>
          <a:ext cx="2819400" cy="3337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75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xxxxxxxx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0x1C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xPSR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0x18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 (</a:t>
                      </a:r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r15</a:t>
                      </a:r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0x14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(</a:t>
                      </a:r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r14</a:t>
                      </a:r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r12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0x0C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0x08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0x04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34000" y="2139077"/>
            <a:ext cx="3733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processor automatically pushes these eight registers into the main stack before an interrupt handler starts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processor automatically pops these eight register out of the main stack when an interrupt handler exits.</a:t>
            </a:r>
          </a:p>
        </p:txBody>
      </p:sp>
      <p:sp>
        <p:nvSpPr>
          <p:cNvPr id="7" name="Right Brace 6"/>
          <p:cNvSpPr/>
          <p:nvPr/>
        </p:nvSpPr>
        <p:spPr>
          <a:xfrm>
            <a:off x="4977442" y="1905000"/>
            <a:ext cx="381000" cy="2971800"/>
          </a:xfrm>
          <a:prstGeom prst="rightBrace">
            <a:avLst>
              <a:gd name="adj1" fmla="val 92107"/>
              <a:gd name="adj2" fmla="val 500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42648" y="157921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Old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600200" y="1752600"/>
            <a:ext cx="5334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2648" y="4496974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600200" y="4670363"/>
            <a:ext cx="5334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893026" y="2139077"/>
            <a:ext cx="0" cy="2128123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8023" y="2764163"/>
            <a:ext cx="125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Stack descends.</a:t>
            </a:r>
          </a:p>
        </p:txBody>
      </p:sp>
    </p:spTree>
    <p:extLst>
      <p:ext uri="{BB962C8B-B14F-4D97-AF65-F5344CB8AC3E}">
        <p14:creationId xmlns:p14="http://schemas.microsoft.com/office/powerpoint/2010/main" val="4243349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Mixing C and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Accessing C variables</a:t>
            </a:r>
          </a:p>
          <a:p>
            <a:pPr lvl="1"/>
            <a:r>
              <a:rPr lang="en-US" dirty="0" err="1"/>
              <a:t>Struct</a:t>
            </a:r>
            <a:r>
              <a:rPr lang="en-US" dirty="0"/>
              <a:t> &amp; Data alignment</a:t>
            </a:r>
          </a:p>
          <a:p>
            <a:pPr lvl="1"/>
            <a:r>
              <a:rPr lang="en-US" dirty="0"/>
              <a:t>Static variables</a:t>
            </a:r>
          </a:p>
          <a:p>
            <a:r>
              <a:rPr lang="en-US" dirty="0"/>
              <a:t>Inline Assembly</a:t>
            </a:r>
          </a:p>
          <a:p>
            <a:r>
              <a:rPr lang="en-US" dirty="0"/>
              <a:t>C calling assembly functions</a:t>
            </a:r>
          </a:p>
          <a:p>
            <a:pPr lvl="1"/>
            <a:r>
              <a:rPr lang="en-US" dirty="0"/>
              <a:t>C: extern assembly functions and variables</a:t>
            </a:r>
          </a:p>
          <a:p>
            <a:pPr lvl="1"/>
            <a:r>
              <a:rPr lang="en-US" dirty="0"/>
              <a:t>Assembly: Export</a:t>
            </a:r>
          </a:p>
          <a:p>
            <a:r>
              <a:rPr lang="en-US" dirty="0"/>
              <a:t>Assembly calling C functions</a:t>
            </a:r>
          </a:p>
          <a:p>
            <a:pPr lvl="1"/>
            <a:r>
              <a:rPr lang="en-US" dirty="0"/>
              <a:t>Assembly: Import C function and variables</a:t>
            </a:r>
          </a:p>
          <a:p>
            <a:pPr lvl="1"/>
            <a:r>
              <a:rPr lang="en-US" dirty="0"/>
              <a:t>Export variables to C functions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12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90395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Unsigned Fixed-point Representation</a:t>
            </a:r>
            <a:br>
              <a:rPr lang="en-US" dirty="0"/>
            </a:br>
            <a:r>
              <a:rPr lang="en-US" b="1" dirty="0" err="1">
                <a:solidFill>
                  <a:srgbClr val="C00000"/>
                </a:solidFill>
              </a:rPr>
              <a:t>UQm.n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029200" y="1734572"/>
                <a:ext cx="27152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𝒇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𝒍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1734572"/>
                <a:ext cx="2715230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65525"/>
            <a:ext cx="3495675" cy="156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410075" y="4191000"/>
                <a:ext cx="427672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10101.10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2 </m:t>
                          </m:r>
                        </m:sub>
                      </m:sSub>
                      <m:r>
                        <a:rPr lang="en-US" sz="240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075" y="4191000"/>
                <a:ext cx="4276725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165585" y="4719935"/>
                <a:ext cx="22926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=21+5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585" y="4719935"/>
                <a:ext cx="2292615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199765" y="5253335"/>
                <a:ext cx="14964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=21.625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765" y="5253335"/>
                <a:ext cx="1496435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876" y="1295400"/>
            <a:ext cx="4235944" cy="20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38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Signed Fixed-point Representation</a:t>
            </a:r>
            <a:br>
              <a:rPr lang="en-US" dirty="0"/>
            </a:br>
            <a:r>
              <a:rPr lang="en-US" b="1" dirty="0" err="1">
                <a:solidFill>
                  <a:srgbClr val="C00000"/>
                </a:solidFill>
              </a:rPr>
              <a:t>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7733"/>
            <a:ext cx="7206458" cy="1295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752600" y="3168413"/>
                <a:ext cx="5772606" cy="8572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400" b="1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168413"/>
                <a:ext cx="5772606" cy="85722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740408" y="5305999"/>
                <a:ext cx="30950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Palatino Linotype" panose="0204050205050503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408" y="5305999"/>
                <a:ext cx="3095078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315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770888" y="4274588"/>
                <a:ext cx="1185901" cy="7824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888" y="4274588"/>
                <a:ext cx="1185901" cy="78245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71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Multiplication</a:t>
            </a:r>
            <a:br>
              <a:rPr lang="en-US" dirty="0"/>
            </a:br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Q15.16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3400" y="3505200"/>
            <a:ext cx="8229600" cy="27279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 xml:space="preserve"> r2, r3, r0, r1    ; Signed long multiply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; r2 = low word,  r3 = high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LSLS  r3, r3, #16       ; Shift left high word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LSRS  r2, r2, #16       ; Shift right low word  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ORR   r4, r2, r3        ; Pack two halfwords into a word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6" y="1222247"/>
            <a:ext cx="5568696" cy="1843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5181600" y="1256487"/>
            <a:ext cx="40386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r0 = fixed-point number A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r1 = fixed-point number B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r4 = fixed-point product = A × B</a:t>
            </a:r>
          </a:p>
        </p:txBody>
      </p:sp>
    </p:spTree>
    <p:extLst>
      <p:ext uri="{BB962C8B-B14F-4D97-AF65-F5344CB8AC3E}">
        <p14:creationId xmlns:p14="http://schemas.microsoft.com/office/powerpoint/2010/main" val="3601065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490" y="152400"/>
            <a:ext cx="8487310" cy="990600"/>
          </a:xfrm>
        </p:spPr>
        <p:txBody>
          <a:bodyPr/>
          <a:lstStyle/>
          <a:p>
            <a:r>
              <a:rPr lang="en-US" dirty="0"/>
              <a:t>IEEE </a:t>
            </a:r>
            <a:r>
              <a:rPr lang="en-US" dirty="0" err="1"/>
              <a:t>Std</a:t>
            </a:r>
            <a:r>
              <a:rPr lang="en-US" dirty="0"/>
              <a:t> 754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33400" y="4267200"/>
                <a:ext cx="8382000" cy="18585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IEEE 754 value: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×(1+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𝐹𝑟𝑎𝑐𝑡𝑖𝑜𝑛</m:t>
                      </m:r>
                      <m:r>
                        <a:rPr lang="en-US" sz="2400" i="1">
                          <a:latin typeface="Cambria Math"/>
                        </a:rPr>
                        <m:t>)×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𝐵𝑖𝑎𝑠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127</a:t>
                </a:r>
                <a:r>
                  <a:rPr lang="en-US" dirty="0"/>
                  <a:t> for single precision </a:t>
                </a:r>
              </a:p>
              <a:p>
                <a:r>
                  <a:rPr lang="en-US" dirty="0"/>
                  <a:t>         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1023</a:t>
                </a:r>
                <a:r>
                  <a:rPr lang="en-US" dirty="0"/>
                  <a:t> for double precision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267200"/>
                <a:ext cx="8382000" cy="1858586"/>
              </a:xfrm>
              <a:prstGeom prst="rect">
                <a:avLst/>
              </a:prstGeom>
              <a:blipFill rotWithShape="0">
                <a:blip r:embed="rId2"/>
                <a:stretch>
                  <a:fillRect l="-655" t="-1639" b="-4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3" y="1600200"/>
            <a:ext cx="877146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7597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b="1" dirty="0"/>
              <a:t>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3962400"/>
                <a:ext cx="9144000" cy="22707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𝑓</m:t>
                      </m:r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</m:t>
                          </m:r>
                          <m:r>
                            <a:rPr lang="en-US" sz="2400" i="1">
                              <a:latin typeface="Cambria Math"/>
                            </a:rPr>
                            <m:t>𝐹𝑟𝑎𝑐𝑡𝑖𝑜𝑛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1+0.9921875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131−127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−1×1.9921875×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−31.875</m:t>
                      </m:r>
                    </m:oMath>
                  </m:oMathPara>
                </a14:m>
                <a:endParaRPr lang="en-US" sz="2400" dirty="0"/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3962400"/>
                <a:ext cx="9144000" cy="2270760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14448"/>
            <a:ext cx="6705600" cy="193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4724400" y="2590800"/>
            <a:ext cx="152400" cy="6594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67200" y="3250265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0.9921875</a:t>
            </a:r>
          </a:p>
        </p:txBody>
      </p:sp>
    </p:spTree>
    <p:extLst>
      <p:ext uri="{BB962C8B-B14F-4D97-AF65-F5344CB8AC3E}">
        <p14:creationId xmlns:p14="http://schemas.microsoft.com/office/powerpoint/2010/main" val="2582739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Encoding </a:t>
            </a:r>
            <a:r>
              <a:rPr lang="en-US" b="1" dirty="0">
                <a:solidFill>
                  <a:srgbClr val="C00000"/>
                </a:solidFill>
              </a:rPr>
              <a:t>14.5</a:t>
            </a:r>
            <a:r>
              <a:rPr lang="en-US" b="1" dirty="0"/>
              <a:t> into IEEE </a:t>
            </a:r>
            <a:r>
              <a:rPr lang="en-US" b="1" dirty="0" err="1"/>
              <a:t>Std</a:t>
            </a:r>
            <a:r>
              <a:rPr lang="en-US" b="1" dirty="0"/>
              <a:t> 754 Single-Precision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337560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3+127=130=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10000010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1101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0.8125×2=1.625=1+0.625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0.625×2=1.25=1+0.25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0.25×2=0.5=0+0.5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0.5×2=1</m:t>
                    </m:r>
                  </m:oMath>
                </a14:m>
                <a:endParaRPr lang="en-US" dirty="0"/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14.5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10000010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11010000000000000000000</a:t>
                </a:r>
                <a:r>
                  <a:rPr lang="en-US" dirty="0"/>
                  <a:t> in binary or </a:t>
                </a:r>
                <a:r>
                  <a:rPr lang="en-US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0x41680000</a:t>
                </a:r>
                <a:r>
                  <a:rPr lang="en-US" dirty="0"/>
                  <a:t> in hex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337560"/>
              </a:xfrm>
              <a:blipFill rotWithShape="1">
                <a:blip r:embed="rId2"/>
                <a:stretch>
                  <a:fillRect l="-296" b="-3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981200" y="1524000"/>
                <a:ext cx="4572000" cy="95410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14.5=1.8125×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br>
                  <a:rPr lang="en-US" sz="2800" i="1" dirty="0">
                    <a:latin typeface="Cambria Math"/>
                  </a:rPr>
                </a:br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524000"/>
                <a:ext cx="4572000" cy="95410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1000" y="1211761"/>
            <a:ext cx="2095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Normalization: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398899" y="2118842"/>
                <a:ext cx="342523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(1+0.8125)×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899" y="2118842"/>
                <a:ext cx="3425233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8264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Timer’s Clock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4066391" y="4062569"/>
            <a:ext cx="168897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Current Count</a:t>
            </a: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4019627" y="1768652"/>
            <a:ext cx="1622736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Reload Value</a:t>
            </a: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V="1">
            <a:off x="1571449" y="3201247"/>
            <a:ext cx="257351" cy="1439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830032" y="2812413"/>
            <a:ext cx="2001926" cy="762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TIMx_CNT</a:t>
            </a:r>
            <a:endParaRPr lang="en-US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 rot="5400000">
            <a:off x="3793678" y="3071016"/>
            <a:ext cx="311150" cy="23844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863284" y="3574413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>
            <a:off x="4863284" y="2135365"/>
            <a:ext cx="0" cy="67704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25939" y="2729759"/>
            <a:ext cx="8675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i="1" dirty="0" err="1">
                <a:solidFill>
                  <a:srgbClr val="C00000"/>
                </a:solidFill>
                <a:latin typeface="Arial" charset="0"/>
                <a:cs typeface="Arial" charset="0"/>
              </a:rPr>
              <a:t>f</a:t>
            </a:r>
            <a:r>
              <a:rPr lang="en-US" sz="1800" b="1" i="1" baseline="-25000" dirty="0" err="1">
                <a:solidFill>
                  <a:srgbClr val="C00000"/>
                </a:solidFill>
                <a:latin typeface="Arial" charset="0"/>
                <a:cs typeface="Arial" charset="0"/>
              </a:rPr>
              <a:t>CK_PSC</a:t>
            </a:r>
            <a:endParaRPr lang="en-US" sz="1800" b="1" i="1" baseline="-25000" dirty="0">
              <a:solidFill>
                <a:srgbClr val="C00000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6946242" y="2998230"/>
            <a:ext cx="569387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ISR</a:t>
            </a:r>
            <a:endParaRPr lang="en-US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4" name="AutoShape 20"/>
          <p:cNvCxnSpPr>
            <a:cxnSpLocks noChangeShapeType="1"/>
            <a:stCxn id="8" idx="3"/>
            <a:endCxn id="13" idx="1"/>
          </p:cNvCxnSpPr>
          <p:nvPr/>
        </p:nvCxnSpPr>
        <p:spPr bwMode="auto">
          <a:xfrm flipV="1">
            <a:off x="5831958" y="3182896"/>
            <a:ext cx="1114284" cy="10517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21"/>
          <p:cNvCxnSpPr>
            <a:cxnSpLocks noChangeShapeType="1"/>
            <a:stCxn id="13" idx="3"/>
            <a:endCxn id="16" idx="1"/>
          </p:cNvCxnSpPr>
          <p:nvPr/>
        </p:nvCxnSpPr>
        <p:spPr bwMode="auto">
          <a:xfrm>
            <a:off x="7515629" y="3182896"/>
            <a:ext cx="507898" cy="256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8023527" y="3000796"/>
            <a:ext cx="1043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Resume</a:t>
            </a:r>
          </a:p>
        </p:txBody>
      </p:sp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5831958" y="3201247"/>
            <a:ext cx="1035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Interrupt</a:t>
            </a:r>
          </a:p>
        </p:txBody>
      </p:sp>
      <p:grpSp>
        <p:nvGrpSpPr>
          <p:cNvPr id="18" name="Group 37"/>
          <p:cNvGrpSpPr>
            <a:grpSpLocks/>
          </p:cNvGrpSpPr>
          <p:nvPr/>
        </p:nvGrpSpPr>
        <p:grpSpPr bwMode="auto">
          <a:xfrm>
            <a:off x="38589" y="3124634"/>
            <a:ext cx="1524000" cy="228600"/>
            <a:chOff x="144" y="1440"/>
            <a:chExt cx="960" cy="144"/>
          </a:xfrm>
        </p:grpSpPr>
        <p:sp>
          <p:nvSpPr>
            <p:cNvPr id="19" name="Freeform 27"/>
            <p:cNvSpPr>
              <a:spLocks/>
            </p:cNvSpPr>
            <p:nvPr/>
          </p:nvSpPr>
          <p:spPr bwMode="auto">
            <a:xfrm>
              <a:off x="144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8"/>
            <p:cNvSpPr>
              <a:spLocks/>
            </p:cNvSpPr>
            <p:nvPr/>
          </p:nvSpPr>
          <p:spPr bwMode="auto">
            <a:xfrm>
              <a:off x="240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9"/>
            <p:cNvSpPr>
              <a:spLocks/>
            </p:cNvSpPr>
            <p:nvPr/>
          </p:nvSpPr>
          <p:spPr bwMode="auto">
            <a:xfrm>
              <a:off x="336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0"/>
            <p:cNvSpPr>
              <a:spLocks/>
            </p:cNvSpPr>
            <p:nvPr/>
          </p:nvSpPr>
          <p:spPr bwMode="auto">
            <a:xfrm>
              <a:off x="432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31"/>
            <p:cNvSpPr>
              <a:spLocks/>
            </p:cNvSpPr>
            <p:nvPr/>
          </p:nvSpPr>
          <p:spPr bwMode="auto">
            <a:xfrm>
              <a:off x="528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32"/>
            <p:cNvSpPr>
              <a:spLocks/>
            </p:cNvSpPr>
            <p:nvPr/>
          </p:nvSpPr>
          <p:spPr bwMode="auto">
            <a:xfrm>
              <a:off x="624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33"/>
            <p:cNvSpPr>
              <a:spLocks/>
            </p:cNvSpPr>
            <p:nvPr/>
          </p:nvSpPr>
          <p:spPr bwMode="auto">
            <a:xfrm>
              <a:off x="720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4"/>
            <p:cNvSpPr>
              <a:spLocks/>
            </p:cNvSpPr>
            <p:nvPr/>
          </p:nvSpPr>
          <p:spPr bwMode="auto">
            <a:xfrm>
              <a:off x="816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5"/>
            <p:cNvSpPr>
              <a:spLocks/>
            </p:cNvSpPr>
            <p:nvPr/>
          </p:nvSpPr>
          <p:spPr bwMode="auto">
            <a:xfrm>
              <a:off x="912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6"/>
            <p:cNvSpPr>
              <a:spLocks/>
            </p:cNvSpPr>
            <p:nvPr/>
          </p:nvSpPr>
          <p:spPr bwMode="auto">
            <a:xfrm>
              <a:off x="1008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 Box 41"/>
          <p:cNvSpPr txBox="1">
            <a:spLocks noChangeArrowheads="1"/>
          </p:cNvSpPr>
          <p:nvPr/>
        </p:nvSpPr>
        <p:spPr bwMode="auto">
          <a:xfrm>
            <a:off x="4872711" y="2240809"/>
            <a:ext cx="958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600" i="1" dirty="0">
                <a:latin typeface="Arial" charset="0"/>
                <a:cs typeface="Arial" charset="0"/>
              </a:rPr>
              <a:t>Reload</a:t>
            </a:r>
          </a:p>
        </p:txBody>
      </p:sp>
      <p:sp>
        <p:nvSpPr>
          <p:cNvPr id="30" name="Text Box 17"/>
          <p:cNvSpPr txBox="1">
            <a:spLocks noChangeArrowheads="1"/>
          </p:cNvSpPr>
          <p:nvPr/>
        </p:nvSpPr>
        <p:spPr bwMode="auto">
          <a:xfrm>
            <a:off x="1828800" y="3005571"/>
            <a:ext cx="1313180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TIMx_PSC</a:t>
            </a:r>
            <a:endParaRPr lang="en-US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cxnSp>
        <p:nvCxnSpPr>
          <p:cNvPr id="31" name="AutoShape 21"/>
          <p:cNvCxnSpPr>
            <a:cxnSpLocks noChangeShapeType="1"/>
            <a:stCxn id="30" idx="3"/>
            <a:endCxn id="8" idx="1"/>
          </p:cNvCxnSpPr>
          <p:nvPr/>
        </p:nvCxnSpPr>
        <p:spPr bwMode="auto">
          <a:xfrm>
            <a:off x="3141980" y="3190237"/>
            <a:ext cx="688052" cy="317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Text Box 17"/>
          <p:cNvSpPr txBox="1">
            <a:spLocks noChangeArrowheads="1"/>
          </p:cNvSpPr>
          <p:nvPr/>
        </p:nvSpPr>
        <p:spPr bwMode="auto">
          <a:xfrm>
            <a:off x="6092933" y="1750827"/>
            <a:ext cx="1338828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TIMx_ARR</a:t>
            </a:r>
            <a:endParaRPr 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3" name="AutoShape 21"/>
          <p:cNvCxnSpPr>
            <a:cxnSpLocks noChangeShapeType="1"/>
          </p:cNvCxnSpPr>
          <p:nvPr/>
        </p:nvCxnSpPr>
        <p:spPr bwMode="auto">
          <a:xfrm flipV="1">
            <a:off x="6745961" y="2120159"/>
            <a:ext cx="0" cy="1066388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21"/>
          <p:cNvCxnSpPr>
            <a:cxnSpLocks noChangeShapeType="1"/>
            <a:stCxn id="32" idx="1"/>
            <a:endCxn id="6" idx="3"/>
          </p:cNvCxnSpPr>
          <p:nvPr/>
        </p:nvCxnSpPr>
        <p:spPr bwMode="auto">
          <a:xfrm flipH="1">
            <a:off x="5642363" y="1935493"/>
            <a:ext cx="450570" cy="1651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2672738" y="4876800"/>
                <a:ext cx="4187259" cy="846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𝐶𝐾</m:t>
                          </m:r>
                          <m:r>
                            <a:rPr lang="en-US" sz="2400" i="1">
                              <a:latin typeface="Cambria Math"/>
                            </a:rPr>
                            <m:t>_</m:t>
                          </m:r>
                          <m:r>
                            <a:rPr lang="en-US" sz="2400" i="1">
                              <a:latin typeface="Cambria Math"/>
                            </a:rPr>
                            <m:t>𝐶𝑁𝑇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𝐶𝐾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𝑃𝑆𝐶</m:t>
                              </m:r>
                            </m:sub>
                          </m:sSub>
                        </m:num>
                        <m:den>
                          <m:r>
                            <a:rPr lang="en-US" sz="2400" i="1" smtClean="0">
                              <a:latin typeface="Cambria Math"/>
                            </a:rPr>
                            <m:t>𝑃𝑟𝑒𝑠𝑐𝑎𝑙𝑒𝑟</m:t>
                          </m:r>
                          <m:r>
                            <a:rPr lang="en-US" sz="2400" i="1">
                              <a:latin typeface="Cambria Math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738" y="4876800"/>
                <a:ext cx="4187259" cy="84632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2216941" y="3554248"/>
            <a:ext cx="103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Prescaler</a:t>
            </a:r>
          </a:p>
        </p:txBody>
      </p:sp>
      <p:sp>
        <p:nvSpPr>
          <p:cNvPr id="38" name="Text Box 7"/>
          <p:cNvSpPr txBox="1">
            <a:spLocks noChangeArrowheads="1"/>
          </p:cNvSpPr>
          <p:nvPr/>
        </p:nvSpPr>
        <p:spPr bwMode="auto">
          <a:xfrm>
            <a:off x="2971800" y="2672522"/>
            <a:ext cx="8675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i="1" dirty="0" err="1">
                <a:solidFill>
                  <a:srgbClr val="C00000"/>
                </a:solidFill>
                <a:latin typeface="Arial" charset="0"/>
                <a:cs typeface="Arial" charset="0"/>
              </a:rPr>
              <a:t>f</a:t>
            </a:r>
            <a:r>
              <a:rPr lang="en-US" sz="1800" b="1" i="1" baseline="-25000" dirty="0" err="1">
                <a:solidFill>
                  <a:srgbClr val="C00000"/>
                </a:solidFill>
                <a:latin typeface="Arial" charset="0"/>
                <a:cs typeface="Arial" charset="0"/>
              </a:rPr>
              <a:t>CK_CNT</a:t>
            </a:r>
            <a:endParaRPr lang="en-US" sz="1800" b="1" i="1" baseline="-25000" dirty="0">
              <a:solidFill>
                <a:srgbClr val="C00000"/>
              </a:solidFill>
              <a:latin typeface="Arial" charset="0"/>
              <a:cs typeface="Arial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2996" y="3429000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clock</a:t>
            </a:r>
          </a:p>
        </p:txBody>
      </p:sp>
    </p:spTree>
    <p:extLst>
      <p:ext uri="{BB962C8B-B14F-4D97-AF65-F5344CB8AC3E}">
        <p14:creationId xmlns:p14="http://schemas.microsoft.com/office/powerpoint/2010/main" val="3570882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PWM Duty Cycle = T</a:t>
            </a:r>
            <a:r>
              <a:rPr lang="en-US" baseline="-25000" dirty="0"/>
              <a:t>on</a:t>
            </a:r>
            <a:r>
              <a:rPr lang="en-US" dirty="0"/>
              <a:t>/Time Period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1543050"/>
            <a:ext cx="5381625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71600" y="5486400"/>
                <a:ext cx="6705600" cy="6668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𝑑𝑢𝑡𝑦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𝑐𝑦𝑐𝑙𝑒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𝑝𝑢𝑙𝑠𝑒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𝑜𝑛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𝑡𝑖𝑚𝑒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𝑝𝑢𝑙𝑠𝑒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𝑠𝑤𝑖𝑡𝑐h𝑖𝑛𝑔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𝑝𝑒𝑟𝑖𝑜𝑑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×100%=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×100%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:mv="urn:schemas-microsoft-com:mac:vml"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486400"/>
                <a:ext cx="6705600" cy="66684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8785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3832</TotalTime>
  <Words>1272</Words>
  <Application>Microsoft Office PowerPoint</Application>
  <PresentationFormat>On-screen Show (4:3)</PresentationFormat>
  <Paragraphs>274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4" baseType="lpstr">
      <vt:lpstr>Bookman Old Style (Headings)</vt:lpstr>
      <vt:lpstr>Gill Sans Light</vt:lpstr>
      <vt:lpstr>Arial</vt:lpstr>
      <vt:lpstr>Bookman Old Style</vt:lpstr>
      <vt:lpstr>Calibri</vt:lpstr>
      <vt:lpstr>Cambria</vt:lpstr>
      <vt:lpstr>Cambria Math</vt:lpstr>
      <vt:lpstr>Consolas</vt:lpstr>
      <vt:lpstr>Gill Sans MT</vt:lpstr>
      <vt:lpstr>Palatino Linotype</vt:lpstr>
      <vt:lpstr>Symbol</vt:lpstr>
      <vt:lpstr>Wingdings</vt:lpstr>
      <vt:lpstr>Wingdings 3</vt:lpstr>
      <vt:lpstr>Origin</vt:lpstr>
      <vt:lpstr>Z. Gu</vt:lpstr>
      <vt:lpstr>Assembly Programs</vt:lpstr>
      <vt:lpstr>Why do we learn Assembly?</vt:lpstr>
      <vt:lpstr>Character String</vt:lpstr>
      <vt:lpstr>Data Representation</vt:lpstr>
      <vt:lpstr>Basic Assembly Programming</vt:lpstr>
      <vt:lpstr>Subroutine Without Floating Numbers</vt:lpstr>
      <vt:lpstr>Subroutine with Float/Double Arguments</vt:lpstr>
      <vt:lpstr>Interrupt</vt:lpstr>
      <vt:lpstr>Stacking &amp; Unstacking</vt:lpstr>
      <vt:lpstr>Stacking &amp; Unstacking</vt:lpstr>
      <vt:lpstr>Mixing C and Assembly</vt:lpstr>
      <vt:lpstr>Unsigned Fixed-point Representation UQm.n</vt:lpstr>
      <vt:lpstr>Signed Fixed-point Representation Qm.n</vt:lpstr>
      <vt:lpstr>Fixed-point Multiplication in Q15.16</vt:lpstr>
      <vt:lpstr>IEEE Std 754</vt:lpstr>
      <vt:lpstr>Decoding 0xC1FF0000  into a floating-point number</vt:lpstr>
      <vt:lpstr>Encoding 14.5 into IEEE Std 754 Single-Precision</vt:lpstr>
      <vt:lpstr>Timer’s Clock</vt:lpstr>
      <vt:lpstr>PWM Duty Cycle = Ton/Time Period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61</cp:revision>
  <dcterms:created xsi:type="dcterms:W3CDTF">2014-05-02T14:59:14Z</dcterms:created>
  <dcterms:modified xsi:type="dcterms:W3CDTF">2025-10-07T21:33:16Z</dcterms:modified>
</cp:coreProperties>
</file>