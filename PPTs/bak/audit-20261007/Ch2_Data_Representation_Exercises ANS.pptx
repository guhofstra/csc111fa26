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256" r:id="rId2"/>
    <p:sldId id="354" r:id="rId3"/>
    <p:sldId id="355" r:id="rId4"/>
    <p:sldId id="364" r:id="rId5"/>
    <p:sldId id="365" r:id="rId6"/>
    <p:sldId id="366" r:id="rId7"/>
    <p:sldId id="367" r:id="rId8"/>
    <p:sldId id="368" r:id="rId9"/>
    <p:sldId id="369" r:id="rId10"/>
    <p:sldId id="345" r:id="rId11"/>
    <p:sldId id="347" r:id="rId12"/>
    <p:sldId id="350" r:id="rId13"/>
    <p:sldId id="351" r:id="rId14"/>
    <p:sldId id="376" r:id="rId15"/>
    <p:sldId id="377" r:id="rId16"/>
    <p:sldId id="371" r:id="rId17"/>
    <p:sldId id="379" r:id="rId18"/>
    <p:sldId id="378" r:id="rId19"/>
    <p:sldId id="380" r:id="rId20"/>
    <p:sldId id="381" r:id="rId21"/>
    <p:sldId id="382" r:id="rId22"/>
    <p:sldId id="374" r:id="rId23"/>
    <p:sldId id="3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4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95"/>
    <p:restoredTop sz="96331" autoAdjust="0"/>
  </p:normalViewPr>
  <p:slideViewPr>
    <p:cSldViewPr>
      <p:cViewPr varScale="1">
        <p:scale>
          <a:sx n="109" d="100"/>
          <a:sy n="109" d="100"/>
        </p:scale>
        <p:origin x="588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custSel modSld">
      <pc:chgData name="Zonghua Gu" userId="9a7e1853e1951ef5" providerId="LiveId" clId="{CF1FAA12-072C-4ED5-BA76-0FFFAEFDB88A}" dt="2026-02-05T15:36:01.574" v="83" actId="20577"/>
      <pc:docMkLst>
        <pc:docMk/>
      </pc:docMkLst>
      <pc:sldChg chg="modSp mod">
        <pc:chgData name="Zonghua Gu" userId="9a7e1853e1951ef5" providerId="LiveId" clId="{CF1FAA12-072C-4ED5-BA76-0FFFAEFDB88A}" dt="2026-02-05T15:04:40.861" v="0" actId="108"/>
        <pc:sldMkLst>
          <pc:docMk/>
          <pc:sldMk cId="3239216658" sldId="365"/>
        </pc:sldMkLst>
        <pc:spChg chg="mod">
          <ac:chgData name="Zonghua Gu" userId="9a7e1853e1951ef5" providerId="LiveId" clId="{CF1FAA12-072C-4ED5-BA76-0FFFAEFDB88A}" dt="2026-02-05T15:04:40.861" v="0" actId="108"/>
          <ac:spMkLst>
            <pc:docMk/>
            <pc:sldMk cId="3239216658" sldId="365"/>
            <ac:spMk id="3" creationId="{00000000-0000-0000-0000-000000000000}"/>
          </ac:spMkLst>
        </pc:spChg>
      </pc:sldChg>
      <pc:sldChg chg="modSp mod modAnim">
        <pc:chgData name="Zonghua Gu" userId="9a7e1853e1951ef5" providerId="LiveId" clId="{CF1FAA12-072C-4ED5-BA76-0FFFAEFDB88A}" dt="2026-02-05T15:08:07.216" v="2"/>
        <pc:sldMkLst>
          <pc:docMk/>
          <pc:sldMk cId="3413348423" sldId="367"/>
        </pc:sldMkLst>
        <pc:graphicFrameChg chg="mod">
          <ac:chgData name="Zonghua Gu" userId="9a7e1853e1951ef5" providerId="LiveId" clId="{CF1FAA12-072C-4ED5-BA76-0FFFAEFDB88A}" dt="2026-02-05T15:07:44.409" v="1" actId="1076"/>
          <ac:graphicFrameMkLst>
            <pc:docMk/>
            <pc:sldMk cId="3413348423" sldId="367"/>
            <ac:graphicFrameMk id="4" creationId="{E675A2F8-1917-E32A-1D6F-9612FFD62311}"/>
          </ac:graphicFrameMkLst>
        </pc:graphicFrameChg>
      </pc:sldChg>
      <pc:sldChg chg="modSp mod">
        <pc:chgData name="Zonghua Gu" userId="9a7e1853e1951ef5" providerId="LiveId" clId="{CF1FAA12-072C-4ED5-BA76-0FFFAEFDB88A}" dt="2026-02-05T15:36:01.574" v="83" actId="20577"/>
        <pc:sldMkLst>
          <pc:docMk/>
          <pc:sldMk cId="1834379896" sldId="375"/>
        </pc:sldMkLst>
        <pc:spChg chg="mod">
          <ac:chgData name="Zonghua Gu" userId="9a7e1853e1951ef5" providerId="LiveId" clId="{CF1FAA12-072C-4ED5-BA76-0FFFAEFDB88A}" dt="2026-02-05T15:36:01.574" v="83" actId="20577"/>
          <ac:spMkLst>
            <pc:docMk/>
            <pc:sldMk cId="1834379896" sldId="375"/>
            <ac:spMk id="4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2-05T15:29:50.571" v="3" actId="20577"/>
        <pc:sldMkLst>
          <pc:docMk/>
          <pc:sldMk cId="811871471" sldId="380"/>
        </pc:sldMkLst>
        <pc:spChg chg="mod">
          <ac:chgData name="Zonghua Gu" userId="9a7e1853e1951ef5" providerId="LiveId" clId="{CF1FAA12-072C-4ED5-BA76-0FFFAEFDB88A}" dt="2026-02-05T15:29:50.571" v="3" actId="20577"/>
          <ac:spMkLst>
            <pc:docMk/>
            <pc:sldMk cId="811871471" sldId="380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represent signed integers, the latter is greater </a:t>
            </a:r>
          </a:p>
          <a:p>
            <a:pPr marL="0" indent="0">
              <a:buNone/>
            </a:pPr>
            <a:r>
              <a:rPr lang="en-US" dirty="0"/>
              <a:t>   (</a:t>
            </a:r>
            <a:r>
              <a:rPr lang="en-US" altLang="zh-CN" dirty="0"/>
              <a:t>-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1 &lt; 1</a:t>
            </a:r>
            <a:r>
              <a:rPr lang="en-US" dirty="0"/>
              <a:t>).</a:t>
            </a:r>
          </a:p>
          <a:p>
            <a:r>
              <a:rPr lang="en-US" dirty="0"/>
              <a:t>If they represent unsigned integers, the former is greater</a:t>
            </a:r>
          </a:p>
          <a:p>
            <a:pPr marL="0" indent="0">
              <a:buNone/>
            </a:pPr>
            <a:r>
              <a:rPr lang="en-US" dirty="0"/>
              <a:t>   (2</a:t>
            </a:r>
            <a:r>
              <a:rPr lang="en-US" baseline="30000" dirty="0"/>
              <a:t>32</a:t>
            </a:r>
            <a:r>
              <a:rPr lang="en-US" dirty="0"/>
              <a:t>-1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&gt; 1</a:t>
            </a:r>
            <a:r>
              <a:rPr lang="en-US" dirty="0"/>
              <a:t>).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390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97FDFF-7B9F-7D4D-BFC0-AAD1F3D3D3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890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97FDFF-7B9F-7D4D-BFC0-AAD1F3D3D3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3635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97FDFF-7B9F-7D4D-BFC0-AAD1F3D3D3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7586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97FDFF-7B9F-7D4D-BFC0-AAD1F3D3D3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71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47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9/21/2026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9/21/2026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Z. Gu</a:t>
            </a:r>
            <a:br>
              <a:rPr lang="en-US" sz="2000" dirty="0"/>
            </a:br>
            <a:r>
              <a:rPr lang="en-US" sz="2000" dirty="0"/>
              <a:t>Hofstra University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79233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01425" y="1743875"/>
            <a:ext cx="31681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2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Data Representation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 ANS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Number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kern="0" dirty="0">
                <a:latin typeface="Arial" charset="0"/>
              </a:rPr>
              <a:t>Q: Convert 0x3A56E2F8 into binary  </a:t>
            </a:r>
          </a:p>
          <a:p>
            <a:endParaRPr lang="en-US" dirty="0"/>
          </a:p>
          <a:p>
            <a:r>
              <a:rPr lang="en-US" dirty="0"/>
              <a:t>Q: Convert binary number 111010 into hex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00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Number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kern="0" dirty="0">
                <a:latin typeface="Arial" charset="0"/>
              </a:rPr>
              <a:t>Q: Convert 0x3A56E2F8 into binary  </a:t>
            </a:r>
          </a:p>
          <a:p>
            <a:r>
              <a:rPr lang="en-US" dirty="0"/>
              <a:t>A: 0011 1010 0101 0110 1110 0010 1111 1000 (simple table lookup for each hex symbol)</a:t>
            </a:r>
          </a:p>
          <a:p>
            <a:r>
              <a:rPr lang="en-US" dirty="0"/>
              <a:t>Q: Convert binary number 111010 into hex</a:t>
            </a:r>
          </a:p>
          <a:p>
            <a:r>
              <a:rPr lang="en-US" dirty="0"/>
              <a:t>A: 0x3A (group 111010 into two parts 0011 1010, followed by </a:t>
            </a:r>
            <a:r>
              <a:rPr lang="en-US"/>
              <a:t>table lookup)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356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2’s Complement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For each of the following binary numbers, give the corresponding binary number of its negation, for an 8-bit system, with 2’s-complement representation.</a:t>
            </a:r>
          </a:p>
          <a:p>
            <a:r>
              <a:rPr lang="pt-BR" dirty="0"/>
              <a:t>(a) x=01010101</a:t>
            </a:r>
          </a:p>
          <a:p>
            <a:r>
              <a:rPr lang="pt-BR" dirty="0"/>
              <a:t>(b) x=10101010</a:t>
            </a:r>
          </a:p>
          <a:p>
            <a:r>
              <a:rPr lang="pt-BR" dirty="0"/>
              <a:t>(c) x=10000000</a:t>
            </a:r>
          </a:p>
        </p:txBody>
      </p:sp>
    </p:spTree>
    <p:extLst>
      <p:ext uri="{BB962C8B-B14F-4D97-AF65-F5344CB8AC3E}">
        <p14:creationId xmlns:p14="http://schemas.microsoft.com/office/powerpoint/2010/main" val="4182973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2’s Complement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For each of the following binary numbers, give the corresponding binary number of its negation, for an 8-bit system, with 2’s-complement representation.</a:t>
            </a:r>
          </a:p>
          <a:p>
            <a:r>
              <a:rPr lang="pt-BR" dirty="0"/>
              <a:t>(a) x=01010101</a:t>
            </a:r>
          </a:p>
          <a:p>
            <a:pPr lvl="1"/>
            <a:r>
              <a:rPr lang="pt-BR" dirty="0"/>
              <a:t>-x = 10101011</a:t>
            </a:r>
          </a:p>
          <a:p>
            <a:r>
              <a:rPr lang="pt-BR" dirty="0"/>
              <a:t>(b) x=10101010</a:t>
            </a:r>
          </a:p>
          <a:p>
            <a:pPr lvl="1"/>
            <a:r>
              <a:rPr lang="pt-BR" dirty="0"/>
              <a:t>-x = 01010110</a:t>
            </a:r>
          </a:p>
          <a:p>
            <a:r>
              <a:rPr lang="pt-BR" dirty="0"/>
              <a:t>(c) x= 10000000</a:t>
            </a:r>
          </a:p>
          <a:p>
            <a:pPr lvl="1"/>
            <a:r>
              <a:rPr lang="pt-BR" dirty="0"/>
              <a:t>-x = 10000000</a:t>
            </a:r>
          </a:p>
          <a:p>
            <a:pPr lvl="1"/>
            <a:r>
              <a:rPr lang="pt-BR" dirty="0"/>
              <a:t>In decimal, x and –x are both -128. Hypothetically, for 10-bit system, x=0010000000=128, its TC –x=1110000000=-128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9216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Number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>
                <a:latin typeface="Tahoma" pitchFamily="34" charset="0"/>
                <a:cs typeface="Times New Roman" pitchFamily="18" charset="0"/>
              </a:rPr>
              <a:t>Q: </a:t>
            </a:r>
            <a:r>
              <a:rPr lang="en-US" dirty="0">
                <a:latin typeface="Tahoma" pitchFamily="34" charset="0"/>
                <a:cs typeface="Times New Roman" pitchFamily="18" charset="0"/>
              </a:rPr>
              <a:t>What is the decimal value of binary number x=10100111 as either unsigned </a:t>
            </a:r>
            <a:r>
              <a:rPr lang="en-US" dirty="0" err="1">
                <a:latin typeface="Tahoma" pitchFamily="34" charset="0"/>
                <a:cs typeface="Times New Roman" pitchFamily="18" charset="0"/>
              </a:rPr>
              <a:t>int</a:t>
            </a:r>
            <a:r>
              <a:rPr lang="en-US" dirty="0">
                <a:latin typeface="Tahoma" pitchFamily="34" charset="0"/>
                <a:cs typeface="Times New Roman" pitchFamily="18" charset="0"/>
              </a:rPr>
              <a:t>, or signed </a:t>
            </a:r>
            <a:r>
              <a:rPr lang="en-US" dirty="0" err="1">
                <a:latin typeface="Tahoma" pitchFamily="34" charset="0"/>
                <a:cs typeface="Times New Roman" pitchFamily="18" charset="0"/>
              </a:rPr>
              <a:t>int</a:t>
            </a:r>
            <a:r>
              <a:rPr lang="en-US" dirty="0">
                <a:latin typeface="Tahoma" pitchFamily="34" charset="0"/>
                <a:cs typeface="Times New Roman" pitchFamily="18" charset="0"/>
              </a:rPr>
              <a:t> in 2’s complement representation?</a:t>
            </a:r>
          </a:p>
          <a:p>
            <a:r>
              <a:rPr lang="en-US" dirty="0">
                <a:latin typeface="Tahoma" pitchFamily="34" charset="0"/>
                <a:cs typeface="Times New Roman" pitchFamily="18" charset="0"/>
              </a:rPr>
              <a:t>What about x=11100001? </a:t>
            </a:r>
          </a:p>
          <a:p>
            <a:r>
              <a:rPr lang="en-US" dirty="0">
                <a:latin typeface="Tahoma" pitchFamily="34" charset="0"/>
                <a:cs typeface="Times New Roman" pitchFamily="18" charset="0"/>
              </a:rPr>
              <a:t>What about x=10000000?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876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Number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219201"/>
            <a:ext cx="10972800" cy="3962399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2400" dirty="0">
                <a:latin typeface="Tahoma" pitchFamily="34" charset="0"/>
                <a:cs typeface="Times New Roman" pitchFamily="18" charset="0"/>
              </a:rPr>
              <a:t>Q: </a:t>
            </a:r>
            <a:r>
              <a:rPr lang="en-US" sz="2400" dirty="0">
                <a:latin typeface="Tahoma" pitchFamily="34" charset="0"/>
                <a:cs typeface="Times New Roman" pitchFamily="18" charset="0"/>
              </a:rPr>
              <a:t>What is the decimal value of binary number x=10100111 as either unsigned </a:t>
            </a:r>
            <a:r>
              <a:rPr lang="en-US" sz="2400" dirty="0" err="1">
                <a:latin typeface="Tahoma" pitchFamily="34" charset="0"/>
                <a:cs typeface="Times New Roman" pitchFamily="18" charset="0"/>
              </a:rPr>
              <a:t>int</a:t>
            </a:r>
            <a:r>
              <a:rPr lang="en-US" sz="2400" dirty="0">
                <a:latin typeface="Tahoma" pitchFamily="34" charset="0"/>
                <a:cs typeface="Times New Roman" pitchFamily="18" charset="0"/>
              </a:rPr>
              <a:t>, or signed </a:t>
            </a:r>
            <a:r>
              <a:rPr lang="en-US" sz="2400" dirty="0" err="1">
                <a:latin typeface="Tahoma" pitchFamily="34" charset="0"/>
                <a:cs typeface="Times New Roman" pitchFamily="18" charset="0"/>
              </a:rPr>
              <a:t>int</a:t>
            </a:r>
            <a:r>
              <a:rPr lang="en-US" dirty="0">
                <a:latin typeface="Tahoma" pitchFamily="34" charset="0"/>
                <a:cs typeface="Times New Roman" pitchFamily="18" charset="0"/>
              </a:rPr>
              <a:t> in 2’s complement representation?</a:t>
            </a:r>
            <a:endParaRPr lang="en-US" sz="2400" dirty="0">
              <a:latin typeface="Tahoma" pitchFamily="34" charset="0"/>
              <a:cs typeface="Times New Roman" pitchFamily="18" charset="0"/>
            </a:endParaRPr>
          </a:p>
          <a:p>
            <a:r>
              <a:rPr lang="en-US" sz="2400" dirty="0">
                <a:latin typeface="Tahoma" pitchFamily="34" charset="0"/>
                <a:cs typeface="Times New Roman" pitchFamily="18" charset="0"/>
              </a:rPr>
              <a:t>A: if unsigned </a:t>
            </a:r>
            <a:r>
              <a:rPr lang="en-US" sz="2400" dirty="0" err="1">
                <a:latin typeface="Tahoma" pitchFamily="34" charset="0"/>
                <a:cs typeface="Times New Roman" pitchFamily="18" charset="0"/>
              </a:rPr>
              <a:t>int</a:t>
            </a:r>
            <a:r>
              <a:rPr lang="en-US" sz="2400" dirty="0">
                <a:latin typeface="Tahoma" pitchFamily="34" charset="0"/>
                <a:cs typeface="Times New Roman" pitchFamily="18" charset="0"/>
              </a:rPr>
              <a:t>, then x=2^7+2^5+2^2+2^1+2^0=167</a:t>
            </a:r>
          </a:p>
          <a:p>
            <a:r>
              <a:rPr lang="en-US" sz="2400" dirty="0">
                <a:latin typeface="Tahoma" pitchFamily="34" charset="0"/>
                <a:cs typeface="Times New Roman" pitchFamily="18" charset="0"/>
              </a:rPr>
              <a:t>If signed </a:t>
            </a:r>
            <a:r>
              <a:rPr lang="en-US" sz="2400" dirty="0" err="1">
                <a:latin typeface="Tahoma" pitchFamily="34" charset="0"/>
                <a:cs typeface="Times New Roman" pitchFamily="18" charset="0"/>
              </a:rPr>
              <a:t>int</a:t>
            </a:r>
            <a:r>
              <a:rPr lang="en-US" sz="2400" dirty="0">
                <a:latin typeface="Tahoma" pitchFamily="34" charset="0"/>
                <a:cs typeface="Times New Roman" pitchFamily="18" charset="0"/>
              </a:rPr>
              <a:t>, then it is a negative number, since leftmost sign bit is 1. First </a:t>
            </a:r>
            <a:r>
              <a:rPr lang="en-US" altLang="zh-CN" sz="2400" dirty="0">
                <a:latin typeface="Tahoma" pitchFamily="34" charset="0"/>
                <a:cs typeface="Times New Roman" pitchFamily="18" charset="0"/>
              </a:rPr>
              <a:t>convert it into its positive counterpart of bitwise NOT plus one to get 01011001, which is equal to decimal </a:t>
            </a:r>
            <a:r>
              <a:rPr lang="en-US" sz="2400" dirty="0">
                <a:latin typeface="Tahoma" pitchFamily="34" charset="0"/>
                <a:cs typeface="Times New Roman" pitchFamily="18" charset="0"/>
              </a:rPr>
              <a:t>2^6+2^4+2^3+2^0=89. Hence x=-89</a:t>
            </a:r>
          </a:p>
          <a:p>
            <a:r>
              <a:rPr lang="en-US" dirty="0">
                <a:latin typeface="Tahoma" pitchFamily="34" charset="0"/>
                <a:cs typeface="Times New Roman" pitchFamily="18" charset="0"/>
              </a:rPr>
              <a:t>Similarly, for x=11100001 (unsigned int 225), first convert it into its positive counterpart of bitwise NOT plus one to get 00011111, which is equal to decimal 31. Hence x=-31</a:t>
            </a:r>
          </a:p>
          <a:p>
            <a:r>
              <a:rPr lang="en-US" dirty="0">
                <a:latin typeface="Tahoma" pitchFamily="34" charset="0"/>
                <a:cs typeface="Times New Roman" pitchFamily="18" charset="0"/>
              </a:rPr>
              <a:t>Similarly, for x=10000000 (unsigned int 128), first convert it into its positive counterpart of bitwise NOT plus one to get 10000000, which is equal to decimal 2^7. Hence x=-2^7=-128</a:t>
            </a:r>
          </a:p>
          <a:p>
            <a:endParaRPr lang="en-US" sz="2400" dirty="0">
              <a:latin typeface="Tahoma" pitchFamily="34" charset="0"/>
              <a:cs typeface="Times New Roman" pitchFamily="18" charset="0"/>
            </a:endParaRP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75A2F8-1917-E32A-1D6F-9612FFD62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508349"/>
              </p:ext>
            </p:extLst>
          </p:nvPr>
        </p:nvGraphicFramePr>
        <p:xfrm>
          <a:off x="4457700" y="4953000"/>
          <a:ext cx="3276600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28227611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58220483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902814463"/>
                    </a:ext>
                  </a:extLst>
                </a:gridCol>
              </a:tblGrid>
              <a:tr h="365441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uint</a:t>
                      </a:r>
                      <a:endParaRPr lang="en-US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484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>
                          <a:latin typeface="Tahoma" pitchFamily="34" charset="0"/>
                          <a:cs typeface="Times New Roman" pitchFamily="18" charset="0"/>
                        </a:rPr>
                        <a:t>10100111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167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-89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207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>
                          <a:latin typeface="Tahoma" pitchFamily="34" charset="0"/>
                          <a:cs typeface="Times New Roman" pitchFamily="18" charset="0"/>
                        </a:rPr>
                        <a:t>11100001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225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046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ahoma" pitchFamily="34" charset="0"/>
                          <a:cs typeface="Times New Roman" pitchFamily="18" charset="0"/>
                        </a:rPr>
                        <a:t>10000000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344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3348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Number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Which number is larger: 1001 or 0011 in binary?</a:t>
            </a:r>
          </a:p>
          <a:p>
            <a:r>
              <a:rPr lang="en-US" dirty="0"/>
              <a:t>Q: Which number is larger: 0xFFFFFFFF or 0x00000001 in hex?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579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Number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Which number is larger: 1001 or 0011 in binary?</a:t>
            </a:r>
          </a:p>
          <a:p>
            <a:r>
              <a:rPr lang="en-US" dirty="0"/>
              <a:t>A: depends on the number system. </a:t>
            </a:r>
          </a:p>
          <a:p>
            <a:pPr lvl="1"/>
            <a:r>
              <a:rPr lang="en-US" dirty="0"/>
              <a:t>If unsigned </a:t>
            </a:r>
            <a:r>
              <a:rPr lang="en-US" dirty="0" err="1"/>
              <a:t>int</a:t>
            </a:r>
            <a:r>
              <a:rPr lang="en-US" dirty="0"/>
              <a:t>, then 1001 is 9, and 0011 is 3 in decimal, and 9 &gt; 3</a:t>
            </a:r>
          </a:p>
          <a:p>
            <a:pPr lvl="1"/>
            <a:r>
              <a:rPr lang="en-US" dirty="0"/>
              <a:t>If signed int, then 1001 is -7 (negative of 0111), and 0011 is 3 in decimal, and -7 &lt; 3</a:t>
            </a:r>
          </a:p>
          <a:p>
            <a:r>
              <a:rPr lang="en-US" dirty="0"/>
              <a:t>Q: Which number is larger: 0xFFFFFFFF or 0x00000001 in hex?</a:t>
            </a:r>
          </a:p>
          <a:p>
            <a:r>
              <a:rPr lang="en-US" dirty="0"/>
              <a:t>Q: depends on the number system. </a:t>
            </a:r>
          </a:p>
          <a:p>
            <a:pPr lvl="1"/>
            <a:r>
              <a:rPr lang="en-US" dirty="0"/>
              <a:t>If unsigned </a:t>
            </a:r>
            <a:r>
              <a:rPr lang="en-US" dirty="0" err="1"/>
              <a:t>int</a:t>
            </a:r>
            <a:r>
              <a:rPr lang="en-US" dirty="0"/>
              <a:t>, then 0xFFFFFFFF is 2^32-1, and 0x00000001 is 1 in decimal, and 2^32-1 &gt; 1</a:t>
            </a:r>
          </a:p>
          <a:p>
            <a:pPr lvl="1"/>
            <a:r>
              <a:rPr lang="en-US" dirty="0"/>
              <a:t>If signed </a:t>
            </a:r>
            <a:r>
              <a:rPr lang="en-US" dirty="0" err="1"/>
              <a:t>int</a:t>
            </a:r>
            <a:r>
              <a:rPr lang="en-US" dirty="0"/>
              <a:t>, then 0xFFFFFFFF is -1 (negative of 0x00000001), and 0x00000001 is 1 in decimal, and -1 &lt; 1</a:t>
            </a:r>
          </a:p>
        </p:txBody>
      </p:sp>
    </p:spTree>
    <p:extLst>
      <p:ext uri="{BB962C8B-B14F-4D97-AF65-F5344CB8AC3E}">
        <p14:creationId xmlns:p14="http://schemas.microsoft.com/office/powerpoint/2010/main" val="3227605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Number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range of decimals can be expressed with a 6-bit signed integer (assuming </a:t>
            </a:r>
            <a:r>
              <a:rPr lang="en-US" altLang="zh-CN" dirty="0"/>
              <a:t>Two</a:t>
            </a:r>
            <a:r>
              <a:rPr lang="en-US" dirty="0"/>
              <a:t>’s complement representation)?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>
              <a:defRPr/>
            </a:pPr>
            <a:fld id="{69240954-B576-9D4D-A4A4-BAF4EBC7B2CF}" type="datetime1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342900">
                <a:defRPr/>
              </a:pPr>
              <a:t>9/21/2026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342900">
              <a:defRPr/>
            </a:pPr>
            <a:fld id="{3CC63E4C-4642-794D-A2FD-70F6B81535F5}" type="slidenum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algn="r" defTabSz="342900">
                <a:defRPr/>
              </a:pPr>
              <a:t>10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>
              <a:defRPr/>
            </a:pPr>
            <a:r>
              <a:rPr lang="en-US"/>
              <a:t>Fall </a:t>
            </a:r>
            <a:r>
              <a:rPr lang="is-IS"/>
              <a:t>2017</a:t>
            </a:r>
            <a:r>
              <a:rPr lang="en-US"/>
              <a:t> - Lecture #1</a:t>
            </a:r>
            <a:endParaRPr lang="en-US" sz="900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707576" y="3107377"/>
          <a:ext cx="4572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Answer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Range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-32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-64 … 63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-31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-16 … 15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-32 … 31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7491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Number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range of decimals can be expressed with a 6-bit signed integer (assuming </a:t>
            </a:r>
            <a:r>
              <a:rPr lang="en-US" altLang="zh-CN" dirty="0"/>
              <a:t>Two</a:t>
            </a:r>
            <a:r>
              <a:rPr lang="en-US" dirty="0"/>
              <a:t>’s complement representation)?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>
              <a:defRPr/>
            </a:pPr>
            <a:fld id="{69240954-B576-9D4D-A4A4-BAF4EBC7B2CF}" type="datetime1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342900">
                <a:defRPr/>
              </a:pPr>
              <a:t>9/21/2026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342900">
              <a:defRPr/>
            </a:pPr>
            <a:fld id="{3CC63E4C-4642-794D-A2FD-70F6B81535F5}" type="slidenum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algn="r" defTabSz="342900">
                <a:defRPr/>
              </a:pPr>
              <a:t>11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>
              <a:defRPr/>
            </a:pPr>
            <a:r>
              <a:rPr lang="en-US"/>
              <a:t>Fall </a:t>
            </a:r>
            <a:r>
              <a:rPr lang="is-IS"/>
              <a:t>2017</a:t>
            </a:r>
            <a:r>
              <a:rPr lang="en-US"/>
              <a:t> - Lecture #1</a:t>
            </a:r>
            <a:endParaRPr lang="en-US" sz="900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707576" y="3107377"/>
          <a:ext cx="4572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Answer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Range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-32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-64 … 63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-31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-16 … 15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-32 … 31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707576" y="4820639"/>
            <a:ext cx="4572000" cy="3441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276600" y="5348740"/>
                <a:ext cx="6324600" cy="5186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000">
                              <a:latin typeface="Cambria Math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00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US" sz="2000">
                              <a:latin typeface="Cambria Math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US" sz="200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=[−32,31]</m:t>
                      </m:r>
                    </m:oMath>
                  </m:oMathPara>
                </a14:m>
                <a:endParaRPr lang="en-US" sz="2000" baseline="-25000" dirty="0">
                  <a:solidFill>
                    <a:prstClr val="white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5348740"/>
                <a:ext cx="6324600" cy="518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522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Number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range of decimals can be expressed with a 6-bit </a:t>
            </a:r>
            <a:r>
              <a:rPr lang="en-US" altLang="zh-CN" dirty="0"/>
              <a:t>unsigned integer</a:t>
            </a:r>
            <a:r>
              <a:rPr lang="en-US" dirty="0"/>
              <a:t>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>
              <a:defRPr/>
            </a:pPr>
            <a:fld id="{69240954-B576-9D4D-A4A4-BAF4EBC7B2CF}" type="datetime1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342900">
                <a:defRPr/>
              </a:pPr>
              <a:t>9/21/2026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342900">
              <a:defRPr/>
            </a:pPr>
            <a:fld id="{3CC63E4C-4642-794D-A2FD-70F6B81535F5}" type="slidenum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algn="r" defTabSz="342900">
                <a:defRPr/>
              </a:pPr>
              <a:t>12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>
              <a:defRPr/>
            </a:pPr>
            <a:r>
              <a:rPr lang="en-US"/>
              <a:t>Fall </a:t>
            </a:r>
            <a:r>
              <a:rPr lang="is-IS"/>
              <a:t>2017</a:t>
            </a:r>
            <a:r>
              <a:rPr lang="en-US"/>
              <a:t> - Lecture #1</a:t>
            </a:r>
            <a:endParaRPr lang="en-US" sz="900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E5BA060-B117-DE6C-2E5D-AB4FD225142F}"/>
              </a:ext>
            </a:extLst>
          </p:cNvPr>
          <p:cNvGraphicFramePr>
            <a:graphicFrameLocks noGrp="1"/>
          </p:cNvGraphicFramePr>
          <p:nvPr/>
        </p:nvGraphicFramePr>
        <p:xfrm>
          <a:off x="3707576" y="3107377"/>
          <a:ext cx="4572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Answer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Range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-32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-64 … 63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-31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-16 … 15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  0 … 63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204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Number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range of decimals can be expressed with a 6-bit </a:t>
            </a:r>
            <a:r>
              <a:rPr lang="en-US" altLang="zh-CN" dirty="0"/>
              <a:t>unsigned integer</a:t>
            </a:r>
            <a:r>
              <a:rPr lang="en-US" dirty="0"/>
              <a:t>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>
              <a:defRPr/>
            </a:pPr>
            <a:fld id="{69240954-B576-9D4D-A4A4-BAF4EBC7B2CF}" type="datetime1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342900">
                <a:defRPr/>
              </a:pPr>
              <a:t>9/21/2026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342900">
              <a:defRPr/>
            </a:pPr>
            <a:fld id="{3CC63E4C-4642-794D-A2FD-70F6B81535F5}" type="slidenum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algn="r" defTabSz="342900">
                <a:defRPr/>
              </a:pPr>
              <a:t>13</a:t>
            </a:fld>
            <a:endParaRPr lang="en-US" sz="900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>
              <a:defRPr/>
            </a:pPr>
            <a:r>
              <a:rPr lang="en-US"/>
              <a:t>Fall </a:t>
            </a:r>
            <a:r>
              <a:rPr lang="is-IS"/>
              <a:t>2017</a:t>
            </a:r>
            <a:r>
              <a:rPr lang="en-US"/>
              <a:t> - Lecture #1</a:t>
            </a:r>
            <a:endParaRPr lang="en-US" sz="900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707576" y="3107377"/>
          <a:ext cx="4572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Answer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Range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-32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-64 … 63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-31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-16 … 15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  0 … 63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707576" y="4820639"/>
            <a:ext cx="4572000" cy="3441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276600" y="5348740"/>
                <a:ext cx="6324600" cy="5186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0, 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00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>
                              <a:latin typeface="Cambria Math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a:rPr lang="en-US" sz="200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=[0,63]</m:t>
                      </m:r>
                    </m:oMath>
                  </m:oMathPara>
                </a14:m>
                <a:endParaRPr lang="en-US" sz="2000" baseline="-25000" dirty="0">
                  <a:solidFill>
                    <a:prstClr val="white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5348740"/>
                <a:ext cx="6324600" cy="518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7125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Integer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What is the result of 1001 + 0011?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72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Integer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Consider a 4-bit system. What is the result of 1001 + 0011?</a:t>
            </a:r>
          </a:p>
          <a:p>
            <a:r>
              <a:rPr lang="en-US" dirty="0"/>
              <a:t>A: 1001 + 0011 = 1100</a:t>
            </a:r>
          </a:p>
          <a:p>
            <a:r>
              <a:rPr lang="en-US" dirty="0"/>
              <a:t>Value of 1100 depends on the number system. </a:t>
            </a:r>
          </a:p>
          <a:p>
            <a:pPr lvl="1"/>
            <a:r>
              <a:rPr lang="en-US" dirty="0"/>
              <a:t>If unsigned </a:t>
            </a:r>
            <a:r>
              <a:rPr lang="en-US" dirty="0" err="1"/>
              <a:t>int</a:t>
            </a:r>
            <a:r>
              <a:rPr lang="en-US" dirty="0"/>
              <a:t>, then 1100 is 12, which is equal to 9 (1001) + 3 (0011)</a:t>
            </a:r>
          </a:p>
          <a:p>
            <a:pPr lvl="1"/>
            <a:r>
              <a:rPr lang="en-US" dirty="0"/>
              <a:t>If signed </a:t>
            </a:r>
            <a:r>
              <a:rPr lang="en-US" dirty="0" err="1"/>
              <a:t>int</a:t>
            </a:r>
            <a:r>
              <a:rPr lang="en-US" dirty="0"/>
              <a:t>, then 1100 is -4 (negative of 0100), which is equal to -7 (1001) + 3 (0011) in decimal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80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Question: Addition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Consider a 4-bit system. What is the result of addition  1011+0110, assuming either unsigned integers, or signed integers</a:t>
            </a:r>
            <a:r>
              <a:rPr lang="en-US" altLang="zh-CN" dirty="0"/>
              <a:t> </a:t>
            </a:r>
            <a:r>
              <a:rPr lang="en-US" dirty="0"/>
              <a:t>in 2’s-complement representation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en-US" dirty="0"/>
              <a:t>0001</a:t>
            </a:r>
          </a:p>
        </p:txBody>
      </p:sp>
    </p:spTree>
    <p:extLst>
      <p:ext uri="{BB962C8B-B14F-4D97-AF65-F5344CB8AC3E}">
        <p14:creationId xmlns:p14="http://schemas.microsoft.com/office/powerpoint/2010/main" val="3469062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Answer: Addition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Q: Consider a 4-bit system. What is the result of addition  1011+0110, assuming either unsigned integers, or signed integers</a:t>
            </a:r>
            <a:r>
              <a:rPr lang="en-US" altLang="zh-CN" dirty="0"/>
              <a:t> </a:t>
            </a:r>
            <a:r>
              <a:rPr lang="en-US" dirty="0"/>
              <a:t>in 2’s-complement representation</a:t>
            </a:r>
            <a:r>
              <a:rPr lang="zh-CN" altLang="en-US" dirty="0"/>
              <a:t>？</a:t>
            </a:r>
            <a:endParaRPr lang="en-US" dirty="0"/>
          </a:p>
          <a:p>
            <a:endParaRPr lang="en-US" altLang="zh-CN" dirty="0"/>
          </a:p>
          <a:p>
            <a:r>
              <a:rPr lang="en-US" altLang="zh-CN" dirty="0"/>
              <a:t>A:  </a:t>
            </a:r>
            <a:r>
              <a:rPr lang="en-US" dirty="0"/>
              <a:t>1011+0110 =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0001; the extra leftmost bit is discarded, so the result is 0001 (1 in decimal) for both cases. </a:t>
            </a:r>
          </a:p>
          <a:p>
            <a:r>
              <a:rPr lang="en-US" altLang="zh-CN" dirty="0"/>
              <a:t>1011 is 11 in decimal as unsigned int; -5 in decimal as signed int; 0110 is 6 as either unsigned or signed int. A 4-bit unsigned int has the range [0,2</a:t>
            </a:r>
            <a:r>
              <a:rPr lang="en-US" altLang="zh-CN" baseline="30000" dirty="0"/>
              <a:t>4</a:t>
            </a:r>
            <a:r>
              <a:rPr lang="en-US" altLang="zh-CN" dirty="0"/>
              <a:t>-1]=[0, 15]; a 4-bit signed int has the range [-2</a:t>
            </a:r>
            <a:r>
              <a:rPr lang="en-US" altLang="zh-CN" baseline="30000" dirty="0"/>
              <a:t>3</a:t>
            </a:r>
            <a:r>
              <a:rPr lang="en-US" altLang="zh-CN" dirty="0"/>
              <a:t>, 2</a:t>
            </a:r>
            <a:r>
              <a:rPr lang="en-US" altLang="zh-CN" baseline="30000" dirty="0"/>
              <a:t>3</a:t>
            </a:r>
            <a:r>
              <a:rPr lang="en-US" altLang="zh-CN" dirty="0"/>
              <a:t>-1]=[-8, 7]</a:t>
            </a:r>
          </a:p>
          <a:p>
            <a:r>
              <a:rPr lang="en-US" altLang="zh-CN" dirty="0"/>
              <a:t>For unsigned addition, true result should be 11+6=17 in decimal. Since 17&gt;15, the result is wrong, and </a:t>
            </a:r>
            <a:r>
              <a:rPr lang="en-US" dirty="0"/>
              <a:t>Carry flag is set to 1.</a:t>
            </a:r>
          </a:p>
          <a:p>
            <a:r>
              <a:rPr lang="en-US" altLang="zh-CN" dirty="0"/>
              <a:t>For signed addition, true result should be -5+6=1 in decimal. So the result is correct, and Borrow</a:t>
            </a:r>
            <a:r>
              <a:rPr lang="en-US" dirty="0"/>
              <a:t> flag is set to 0.</a:t>
            </a:r>
          </a:p>
          <a:p>
            <a:r>
              <a:rPr lang="en-US" dirty="0"/>
              <a:t>Throwing away the extra leftmost bit of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 makes result for unsigned addition wrong (Carry = 1), but keeps result for signed addition correct (Borrow = 0)</a:t>
            </a:r>
          </a:p>
        </p:txBody>
      </p:sp>
    </p:spTree>
    <p:extLst>
      <p:ext uri="{BB962C8B-B14F-4D97-AF65-F5344CB8AC3E}">
        <p14:creationId xmlns:p14="http://schemas.microsoft.com/office/powerpoint/2010/main" val="811741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Question: Subtraction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Q: Consider a 4-bit system. What is the result of subtraction 1011-0110, assuming either unsigned integers, or signed integers</a:t>
            </a:r>
            <a:r>
              <a:rPr lang="en-US" altLang="zh-CN" dirty="0"/>
              <a:t> </a:t>
            </a:r>
            <a:r>
              <a:rPr lang="en-US" dirty="0"/>
              <a:t>in 2’s-complement representation</a:t>
            </a:r>
            <a:r>
              <a:rPr lang="zh-CN" altLang="en-US" dirty="0"/>
              <a:t>？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295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Answer: Subtraction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Q: Consider a 4-bit system. What is the result of subtraction 1011-0110, assuming either unsigned integers, or signed integers</a:t>
            </a:r>
            <a:r>
              <a:rPr lang="en-US" altLang="zh-CN" dirty="0"/>
              <a:t> </a:t>
            </a:r>
            <a:r>
              <a:rPr lang="en-US" dirty="0"/>
              <a:t>in 2’s-complement representation</a:t>
            </a:r>
            <a:r>
              <a:rPr lang="zh-CN" altLang="en-US" dirty="0"/>
              <a:t>？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A: </a:t>
            </a:r>
            <a:r>
              <a:rPr lang="en-US" dirty="0"/>
              <a:t>1011-0110 = 0101, so the computed result is 0101 (5 in decimal) for both cases. </a:t>
            </a:r>
          </a:p>
          <a:p>
            <a:r>
              <a:rPr lang="en-US" altLang="zh-CN" dirty="0"/>
              <a:t>For unsigned subtraction, true result should be 11-6=5 in decimal. So the result is correct, </a:t>
            </a:r>
            <a:r>
              <a:rPr lang="en-US" dirty="0"/>
              <a:t>Borrow flag is set to 0.</a:t>
            </a:r>
            <a:endParaRPr lang="en-US" altLang="zh-CN" dirty="0"/>
          </a:p>
          <a:p>
            <a:r>
              <a:rPr lang="en-US" altLang="zh-CN" dirty="0"/>
              <a:t>For signed subtraction, true result should be -5-6=-11. Since -11 &lt; -8, the result of 5 is wrong, and </a:t>
            </a:r>
            <a:r>
              <a:rPr lang="en-US" dirty="0"/>
              <a:t>Overflow flag is set to 1.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71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Question: Subtraction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Consider a 4-bit system. What is the result of subtraction 0110</a:t>
            </a:r>
            <a:r>
              <a:rPr lang="en-US" altLang="zh-CN" dirty="0"/>
              <a:t>-</a:t>
            </a:r>
            <a:r>
              <a:rPr lang="en-US" dirty="0"/>
              <a:t>1011, assuming either unsigned integers, or signed integers</a:t>
            </a:r>
            <a:r>
              <a:rPr lang="en-US" altLang="zh-CN" dirty="0"/>
              <a:t> </a:t>
            </a:r>
            <a:r>
              <a:rPr lang="en-US" dirty="0"/>
              <a:t>in 2’s-complement representation</a:t>
            </a:r>
            <a:r>
              <a:rPr lang="zh-CN" altLang="en-US" dirty="0"/>
              <a:t>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90048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Answer: Subtraction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Q: Consider a 4-bit system. What is the result of subtraction 0110</a:t>
            </a:r>
            <a:r>
              <a:rPr lang="en-US" altLang="zh-CN" dirty="0"/>
              <a:t>-</a:t>
            </a:r>
            <a:r>
              <a:rPr lang="en-US" dirty="0"/>
              <a:t>1011, assuming either unsigned integers, or signed integers</a:t>
            </a:r>
            <a:r>
              <a:rPr lang="en-US" altLang="zh-CN" dirty="0"/>
              <a:t> </a:t>
            </a:r>
            <a:r>
              <a:rPr lang="en-US" dirty="0"/>
              <a:t>in 2’s-complement representation</a:t>
            </a:r>
            <a:r>
              <a:rPr lang="zh-CN" altLang="en-US" dirty="0"/>
              <a:t>？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A: </a:t>
            </a:r>
            <a:r>
              <a:rPr lang="en-US" dirty="0"/>
              <a:t>0110</a:t>
            </a:r>
            <a:r>
              <a:rPr lang="en-US" altLang="zh-CN" dirty="0"/>
              <a:t>-</a:t>
            </a:r>
            <a:r>
              <a:rPr lang="en-US" dirty="0"/>
              <a:t>1011 = 1011 (borrow bit discarded), so the computed result is 11 in decimal for unsigned, or </a:t>
            </a:r>
            <a:r>
              <a:rPr lang="en-US" altLang="zh-CN" dirty="0"/>
              <a:t>-</a:t>
            </a:r>
            <a:r>
              <a:rPr lang="en-US" dirty="0"/>
              <a:t>5 in decimal for </a:t>
            </a:r>
            <a:r>
              <a:rPr lang="en-US" altLang="zh-CN" dirty="0"/>
              <a:t>signed</a:t>
            </a:r>
            <a:r>
              <a:rPr lang="en-US" dirty="0"/>
              <a:t>. </a:t>
            </a:r>
          </a:p>
          <a:p>
            <a:r>
              <a:rPr lang="en-US" altLang="zh-CN" dirty="0"/>
              <a:t>For unsigned subtraction, true result should be 6-11=-5 in decimal. Since -5 &lt; 0, the result is wrong, </a:t>
            </a:r>
            <a:r>
              <a:rPr lang="en-US" altLang="zh-CN"/>
              <a:t>and Borrow </a:t>
            </a:r>
            <a:r>
              <a:rPr lang="en-US" altLang="zh-CN" dirty="0"/>
              <a:t>flag </a:t>
            </a:r>
            <a:r>
              <a:rPr lang="en-US" altLang="zh-CN"/>
              <a:t>is 1.</a:t>
            </a:r>
            <a:endParaRPr lang="en-US" altLang="zh-CN" dirty="0"/>
          </a:p>
          <a:p>
            <a:r>
              <a:rPr lang="en-US" altLang="zh-CN" dirty="0"/>
              <a:t>For signed subtraction, true result should be 6-(-5)</a:t>
            </a:r>
            <a:r>
              <a:rPr lang="zh-CN" altLang="en-US" dirty="0"/>
              <a:t> </a:t>
            </a:r>
            <a:r>
              <a:rPr lang="en-US" altLang="zh-CN" dirty="0"/>
              <a:t>=11. Since 11 &gt; 7, the result is wrong, and </a:t>
            </a:r>
            <a:r>
              <a:rPr lang="en-US" dirty="0"/>
              <a:t>Overflow flag is set to 1.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920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Question: True or False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Overflow is impossible when subtracting one unsigned number from another.</a:t>
            </a:r>
          </a:p>
          <a:p>
            <a:r>
              <a:rPr lang="en-US" dirty="0"/>
              <a:t>2. Overflow is impossible when subtracting two signed operands of the same sign.</a:t>
            </a:r>
          </a:p>
          <a:p>
            <a:r>
              <a:rPr lang="en-US" dirty="0"/>
              <a:t>3. There are two representations of zero in 2’s complement representation.</a:t>
            </a:r>
          </a:p>
          <a:p>
            <a:r>
              <a:rPr lang="en-US" dirty="0"/>
              <a:t>4. In 2’s complement, the absolute values of full-scale negative and full-scale positive are identical</a:t>
            </a:r>
          </a:p>
        </p:txBody>
      </p:sp>
    </p:spTree>
    <p:extLst>
      <p:ext uri="{BB962C8B-B14F-4D97-AF65-F5344CB8AC3E}">
        <p14:creationId xmlns:p14="http://schemas.microsoft.com/office/powerpoint/2010/main" val="3707209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Answer: True or False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Borrow=1 is impossible when subtracting one unsigned number from another. </a:t>
            </a:r>
            <a:r>
              <a:rPr lang="en-US" dirty="0">
                <a:solidFill>
                  <a:srgbClr val="FF0000"/>
                </a:solidFill>
              </a:rPr>
              <a:t>False</a:t>
            </a:r>
          </a:p>
          <a:p>
            <a:r>
              <a:rPr lang="en-US" dirty="0"/>
              <a:t>2. Overflow=1 is impossible when subtracting two signed operands of the same sign.  </a:t>
            </a:r>
            <a:r>
              <a:rPr lang="en-US" dirty="0">
                <a:solidFill>
                  <a:srgbClr val="FF0000"/>
                </a:solidFill>
              </a:rPr>
              <a:t>True</a:t>
            </a:r>
          </a:p>
          <a:p>
            <a:r>
              <a:rPr lang="en-US" dirty="0"/>
              <a:t>3. There are two representations of zero in 2’s complement representation. </a:t>
            </a:r>
            <a:r>
              <a:rPr lang="en-US" dirty="0">
                <a:solidFill>
                  <a:srgbClr val="FF0000"/>
                </a:solidFill>
              </a:rPr>
              <a:t>False</a:t>
            </a:r>
          </a:p>
          <a:p>
            <a:r>
              <a:rPr lang="en-US" dirty="0"/>
              <a:t>4. In 2’s complement, the absolute values of smallest negative and </a:t>
            </a:r>
            <a:r>
              <a:rPr lang="en-US" altLang="zh-CN" dirty="0"/>
              <a:t>largest</a:t>
            </a:r>
            <a:r>
              <a:rPr lang="en-US" dirty="0"/>
              <a:t> positive numbers are identical. </a:t>
            </a:r>
            <a:r>
              <a:rPr lang="en-US" dirty="0">
                <a:solidFill>
                  <a:srgbClr val="FF0000"/>
                </a:solidFill>
              </a:rPr>
              <a:t>False. </a:t>
            </a:r>
            <a:r>
              <a:rPr lang="en-US" dirty="0"/>
              <a:t>e.g., </a:t>
            </a:r>
            <a:r>
              <a:rPr lang="en-US" altLang="zh-CN" dirty="0"/>
              <a:t>[-8, 7] for a 4-bit system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e.g., for a 4-bit system, the range of signed int is [-8, 7], the range of unsigned int is [0</a:t>
            </a:r>
            <a:r>
              <a:rPr lang="en-US">
                <a:solidFill>
                  <a:schemeClr val="tx1"/>
                </a:solidFill>
              </a:rPr>
              <a:t>, 15]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3798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3142</TotalTime>
  <Words>1711</Words>
  <Application>Microsoft Office PowerPoint</Application>
  <PresentationFormat>Widescreen</PresentationFormat>
  <Paragraphs>197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</vt:lpstr>
      <vt:lpstr>Bookman Old Style</vt:lpstr>
      <vt:lpstr>Bookman Old Style (Headings)</vt:lpstr>
      <vt:lpstr>Calibri</vt:lpstr>
      <vt:lpstr>Cambria Math</vt:lpstr>
      <vt:lpstr>Consolas</vt:lpstr>
      <vt:lpstr>Gill Sans MT</vt:lpstr>
      <vt:lpstr>Tahoma</vt:lpstr>
      <vt:lpstr>Wingdings</vt:lpstr>
      <vt:lpstr>Wingdings 3</vt:lpstr>
      <vt:lpstr>Origin</vt:lpstr>
      <vt:lpstr>Z. Gu Hofstra University</vt:lpstr>
      <vt:lpstr>Question: Number Conversion</vt:lpstr>
      <vt:lpstr>Answer: Number Conversion</vt:lpstr>
      <vt:lpstr>Question: 2’s Complement</vt:lpstr>
      <vt:lpstr>Answer: 2’s Complement</vt:lpstr>
      <vt:lpstr>Question: Number Conversion</vt:lpstr>
      <vt:lpstr>Answer: Number Conversion</vt:lpstr>
      <vt:lpstr>Question: Number Conversion</vt:lpstr>
      <vt:lpstr>Answer: Number Conversion</vt:lpstr>
      <vt:lpstr>Question: Number Range</vt:lpstr>
      <vt:lpstr>Answer: Number Range</vt:lpstr>
      <vt:lpstr>Question: Number Range</vt:lpstr>
      <vt:lpstr>Answer: Number Range</vt:lpstr>
      <vt:lpstr>Question: Integer arithmetic</vt:lpstr>
      <vt:lpstr>Answer: Integer arithmetic</vt:lpstr>
      <vt:lpstr>Question: Addition</vt:lpstr>
      <vt:lpstr>Answer: Addition</vt:lpstr>
      <vt:lpstr>Question: Subtraction</vt:lpstr>
      <vt:lpstr>Answer: Subtraction</vt:lpstr>
      <vt:lpstr>Question: Subtraction</vt:lpstr>
      <vt:lpstr>Answer: Subtraction</vt:lpstr>
      <vt:lpstr>Question: True or False</vt:lpstr>
      <vt:lpstr>Answer: True or False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333</cp:revision>
  <dcterms:created xsi:type="dcterms:W3CDTF">2013-02-03T05:36:57Z</dcterms:created>
  <dcterms:modified xsi:type="dcterms:W3CDTF">2026-09-21T14:20:21Z</dcterms:modified>
</cp:coreProperties>
</file>