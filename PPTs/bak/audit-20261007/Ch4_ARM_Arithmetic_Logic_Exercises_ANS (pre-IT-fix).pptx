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1" r:id="rId21"/>
    <p:sldId id="352" r:id="rId22"/>
    <p:sldId id="353" r:id="rId23"/>
    <p:sldId id="560" r:id="rId24"/>
    <p:sldId id="592" r:id="rId25"/>
    <p:sldId id="562" r:id="rId26"/>
    <p:sldId id="561" r:id="rId27"/>
    <p:sldId id="593" r:id="rId28"/>
    <p:sldId id="568" r:id="rId29"/>
    <p:sldId id="570" r:id="rId30"/>
    <p:sldId id="571" r:id="rId31"/>
    <p:sldId id="572" r:id="rId32"/>
    <p:sldId id="574" r:id="rId33"/>
    <p:sldId id="573" r:id="rId34"/>
    <p:sldId id="579" r:id="rId35"/>
    <p:sldId id="582" r:id="rId36"/>
    <p:sldId id="580" r:id="rId37"/>
    <p:sldId id="354" r:id="rId38"/>
    <p:sldId id="356" r:id="rId39"/>
    <p:sldId id="357" r:id="rId40"/>
    <p:sldId id="358" r:id="rId41"/>
    <p:sldId id="384" r:id="rId42"/>
    <p:sldId id="385" r:id="rId43"/>
    <p:sldId id="387" r:id="rId44"/>
    <p:sldId id="589" r:id="rId45"/>
    <p:sldId id="591" r:id="rId46"/>
    <p:sldId id="590" r:id="rId47"/>
    <p:sldId id="587" r:id="rId48"/>
    <p:sldId id="583" r:id="rId49"/>
    <p:sldId id="585" r:id="rId50"/>
    <p:sldId id="586" r:id="rId5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26A7C-643B-4FA3-9A12-084F4CC1FB31}" v="8" dt="2026-02-26T16:03:57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5033" autoAdjust="0"/>
  </p:normalViewPr>
  <p:slideViewPr>
    <p:cSldViewPr>
      <p:cViewPr varScale="1">
        <p:scale>
          <a:sx n="101" d="100"/>
          <a:sy n="101" d="100"/>
        </p:scale>
        <p:origin x="180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">
      <pc:chgData name="Zonghua Gu" userId="9a7e1853e1951ef5" providerId="LiveId" clId="{CF1FAA12-072C-4ED5-BA76-0FFFAEFDB88A}" dt="2026-02-26T16:09:54.631" v="6121" actId="47"/>
      <pc:docMkLst>
        <pc:docMk/>
      </pc:docMkLst>
      <pc:sldChg chg="modSp mod">
        <pc:chgData name="Zonghua Gu" userId="9a7e1853e1951ef5" providerId="LiveId" clId="{CF1FAA12-072C-4ED5-BA76-0FFFAEFDB88A}" dt="2026-02-26T16:04:15.959" v="6120" actId="20577"/>
        <pc:sldMkLst>
          <pc:docMk/>
          <pc:sldMk cId="2350803268" sldId="259"/>
        </pc:sldMkLst>
        <pc:spChg chg="mod">
          <ac:chgData name="Zonghua Gu" userId="9a7e1853e1951ef5" providerId="LiveId" clId="{CF1FAA12-072C-4ED5-BA76-0FFFAEFDB88A}" dt="2026-02-26T16:04:15.959" v="6120" actId="20577"/>
          <ac:spMkLst>
            <pc:docMk/>
            <pc:sldMk cId="2350803268" sldId="259"/>
            <ac:spMk id="4" creationId="{BA07637E-01BA-8126-601A-84479B0807A3}"/>
          </ac:spMkLst>
        </pc:spChg>
      </pc:sldChg>
      <pc:sldChg chg="modSp mod">
        <pc:chgData name="Zonghua Gu" userId="9a7e1853e1951ef5" providerId="LiveId" clId="{CF1FAA12-072C-4ED5-BA76-0FFFAEFDB88A}" dt="2026-02-26T16:02:53.668" v="6113"/>
        <pc:sldMkLst>
          <pc:docMk/>
          <pc:sldMk cId="3642733396" sldId="260"/>
        </pc:sldMkLst>
        <pc:spChg chg="mod">
          <ac:chgData name="Zonghua Gu" userId="9a7e1853e1951ef5" providerId="LiveId" clId="{CF1FAA12-072C-4ED5-BA76-0FFFAEFDB88A}" dt="2026-02-26T16:02:53.668" v="6113"/>
          <ac:spMkLst>
            <pc:docMk/>
            <pc:sldMk cId="3642733396" sldId="260"/>
            <ac:spMk id="4" creationId="{0FB0DF07-A9DB-A45E-E865-E3DA1A2E9A18}"/>
          </ac:spMkLst>
        </pc:spChg>
      </pc:sldChg>
      <pc:sldChg chg="del">
        <pc:chgData name="Zonghua Gu" userId="9a7e1853e1951ef5" providerId="LiveId" clId="{CF1FAA12-072C-4ED5-BA76-0FFFAEFDB88A}" dt="2026-02-26T16:09:54.631" v="6121" actId="47"/>
        <pc:sldMkLst>
          <pc:docMk/>
          <pc:sldMk cId="2531244333" sldId="262"/>
        </pc:sldMkLst>
      </pc:sldChg>
      <pc:sldChg chg="addSp delSp modSp add mod">
        <pc:chgData name="Zonghua Gu" userId="9a7e1853e1951ef5" providerId="LiveId" clId="{CF1FAA12-072C-4ED5-BA76-0FFFAEFDB88A}" dt="2026-02-26T15:49:23.922" v="5957" actId="20577"/>
        <pc:sldMkLst>
          <pc:docMk/>
          <pc:sldMk cId="3678485956" sldId="565"/>
        </pc:sldMkLst>
        <pc:spChg chg="mod">
          <ac:chgData name="Zonghua Gu" userId="9a7e1853e1951ef5" providerId="LiveId" clId="{CF1FAA12-072C-4ED5-BA76-0FFFAEFDB88A}" dt="2026-02-26T15:49:23.922" v="5957" actId="20577"/>
          <ac:spMkLst>
            <pc:docMk/>
            <pc:sldMk cId="3678485956" sldId="565"/>
            <ac:spMk id="4" creationId="{C3D9501F-592C-5813-E379-F3D65F5F6FE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#0x1011  @ Set bits 0, 4, and 12 (0x1011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2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58A-F714-96DC-BEC2-76172F9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2E45-2A52-237E-B35D-FEA0095D1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D1FBD-6F97-9862-594A-5783D9367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E9D0-8E60-5AB5-285C-ECC3C6FE9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1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10/7/2026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41AC4-8BCE-B512-0547-94EB7DD4DF84}"/>
              </a:ext>
            </a:extLst>
          </p:cNvPr>
          <p:cNvSpPr txBox="1"/>
          <p:nvPr/>
        </p:nvSpPr>
        <p:spPr>
          <a:xfrm>
            <a:off x="-1895475" y="19621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32-bit register values after each instruction</a:t>
            </a:r>
          </a:p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</a:t>
            </a:r>
            <a:r>
              <a:rPr lang="en-US" dirty="0"/>
              <a:t>0x00000ABC </a:t>
            </a:r>
            <a:r>
              <a:rPr lang="pt-BR" dirty="0"/>
              <a:t>| 0xFFFFF210 = </a:t>
            </a:r>
            <a:r>
              <a:rPr lang="en-US" dirty="0"/>
              <a:t> 0xFFFFFABC</a:t>
            </a:r>
            <a:endParaRPr lang="pt-BR" dirty="0"/>
          </a:p>
          <a:p>
            <a:pPr lvl="1"/>
            <a:r>
              <a:rPr lang="en-US" dirty="0"/>
              <a:t>~R1 (32-bit) = 0xFFFFF210</a:t>
            </a:r>
            <a:endParaRPr lang="pt-BR" dirty="0"/>
          </a:p>
          <a:p>
            <a:r>
              <a:rPr lang="pt-BR" dirty="0"/>
              <a:t>r6 = r0 BIC R1 = R0 &amp; (~R1) =</a:t>
            </a:r>
            <a:r>
              <a:rPr lang="en-US" dirty="0"/>
              <a:t> 0x00000ABC </a:t>
            </a:r>
            <a:r>
              <a:rPr lang="pt-BR" dirty="0"/>
              <a:t>&amp; 0xFFFFF210 = 0x00000210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set, clear, or toggle the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Toggle (Complement)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0xDEEB</a:t>
            </a:r>
          </a:p>
          <a:p>
            <a:pPr lvl="1"/>
            <a:r>
              <a:rPr lang="en-US" dirty="0"/>
              <a:t>Clear: 0xDECB &amp; ~0x10A0 = 0xCE4B</a:t>
            </a:r>
          </a:p>
          <a:p>
            <a:pPr lvl="1"/>
            <a:r>
              <a:rPr lang="en-US" dirty="0"/>
              <a:t>Toggle: 0xDECB ^ 0x10A0 = 0xCE6B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r>
              <a:rPr lang="en-US" dirty="0"/>
              <a:t>Method 5: Clear 32 bits in r12 starting from bit 0</a:t>
            </a:r>
          </a:p>
          <a:p>
            <a:pPr lvl="1"/>
            <a:r>
              <a:rPr lang="en-US" dirty="0"/>
              <a:t>BFC r12, #0, #32</a:t>
            </a:r>
          </a:p>
          <a:p>
            <a:r>
              <a:rPr lang="en-US" dirty="0"/>
              <a:t>Method 6: r12 = r12 AND NOT r12 (bitwise clear)</a:t>
            </a:r>
          </a:p>
          <a:p>
            <a:pPr lvl="1"/>
            <a:r>
              <a:rPr lang="en-US" dirty="0"/>
              <a:t>BIC r12, r12, r12</a:t>
            </a:r>
          </a:p>
          <a:p>
            <a:pPr lvl="1"/>
            <a:r>
              <a:rPr lang="en-US" dirty="0"/>
              <a:t>BIC Rd, Rn, Rm   ; Rd = Rn &amp; (~Rm)</a:t>
            </a:r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Assuming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Q2.1: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  <a:p>
            <a:r>
              <a:rPr lang="pt-BR" dirty="0"/>
              <a:t>Q2.2: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pt-BR" dirty="0"/>
              <a:t>r0 = 0x00000100 (LSR and ASR have no difference for positive numbers)</a:t>
            </a:r>
          </a:p>
          <a:p>
            <a:pPr lvl="1"/>
            <a:r>
              <a:rPr lang="en-US" dirty="0"/>
              <a:t>In decimal: 1024 ÷ 2² = 256 (Not required for exam)</a:t>
            </a:r>
            <a:endParaRPr lang="pt-B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Q3.1: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0000 0000 0000 = 0x3FFFF000</a:t>
            </a:r>
          </a:p>
          <a:p>
            <a:pPr lvl="1"/>
            <a:r>
              <a:rPr lang="en-US" dirty="0"/>
              <a:t>In decimal: 4,294,950,912 ÷ 4 = 1,073,737,728 (Not required for exam)</a:t>
            </a:r>
          </a:p>
          <a:p>
            <a:r>
              <a:rPr lang="pt-BR" dirty="0"/>
              <a:t>Q3.2: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</a:t>
            </a:r>
            <a:r>
              <a:rPr lang="pt-BR" dirty="0">
                <a:solidFill>
                  <a:srgbClr val="FF0000"/>
                </a:solidFill>
              </a:rPr>
              <a:t>ASR</a:t>
            </a:r>
            <a:r>
              <a:rPr lang="pt-BR" dirty="0"/>
              <a:t>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0000 0000 0000 = 0x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/>
              <a:t>FFFF000</a:t>
            </a:r>
          </a:p>
          <a:p>
            <a:pPr lvl="1"/>
            <a:r>
              <a:rPr lang="en-US" dirty="0"/>
              <a:t>In decimal: −16384 ÷ 4 = −4096 (Not required for exam)</a:t>
            </a:r>
          </a:p>
          <a:p>
            <a:endParaRPr lang="en-US" dirty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LSL #4</a:t>
            </a:r>
          </a:p>
          <a:p>
            <a:pPr lvl="1"/>
            <a:r>
              <a:rPr lang="pt-BR" dirty="0"/>
              <a:t>MOVS R3, R1, LSL #8</a:t>
            </a:r>
          </a:p>
          <a:p>
            <a:pPr lvl="1"/>
            <a:r>
              <a:rPr lang="pt-BR" dirty="0"/>
              <a:t>MOVS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MOVS R2, R1, LSL #4 performs a logical left shift of R1 by 4 bits, inserting zeros; 0x11223344 &lt;&lt; 4 = 0x12233440. </a:t>
            </a:r>
          </a:p>
          <a:p>
            <a:pPr lvl="2"/>
            <a:r>
              <a:rPr lang="en-US" dirty="0"/>
              <a:t>NZCV = 0010 (last bit shifted out was 1, LSB of 0x1)</a:t>
            </a:r>
          </a:p>
          <a:p>
            <a:pPr lvl="1"/>
            <a:r>
              <a:rPr lang="en-US" dirty="0"/>
              <a:t>MOVS R3, R1, LSL #8 shifts by 8 bits; 0x11223344 &lt;&lt; 8 = 0x22334400.</a:t>
            </a:r>
          </a:p>
          <a:p>
            <a:pPr lvl="2"/>
            <a:r>
              <a:rPr lang="en-US" dirty="0"/>
              <a:t>NZCV = 0010 (last bit shifted out was 1, LSB of 0x11)</a:t>
            </a:r>
          </a:p>
          <a:p>
            <a:pPr lvl="1"/>
            <a:r>
              <a:rPr lang="en-US" dirty="0"/>
              <a:t>MOVS R4, R1, LSL #16 shifts by 16 bits; 0x11223344 &lt;&lt; 16 = 0x33440000.</a:t>
            </a:r>
          </a:p>
          <a:p>
            <a:pPr lvl="2"/>
            <a:r>
              <a:rPr lang="en-US" dirty="0"/>
              <a:t>NZCV = 0000 (last bit shifted out was 0, LSB of 0x1122)</a:t>
            </a:r>
          </a:p>
          <a:p>
            <a:pPr lvl="1"/>
            <a:r>
              <a:rPr lang="en-US" dirty="0"/>
              <a:t>MOVS R5, R1, LSL #6 shifts by 6 bits; 0x11223344 &lt;&lt; 6 = 0x488CD100. (convert to binary and back)</a:t>
            </a:r>
          </a:p>
          <a:p>
            <a:pPr lvl="2"/>
            <a:r>
              <a:rPr lang="en-US" dirty="0"/>
              <a:t>NZCV = 0000 (last bit shifted out 0, LSB of 000100)</a:t>
            </a:r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4168816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DAD4-A15A-CB26-167A-FED5BF30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60C7-6D32-CED6-8DDA-C2F9D846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LSRS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DF2A77-49EC-04E8-D5EC-35623E91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BDB8-79A1-498D-B9D2-DDE87FE9C0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03188"/>
            <a:ext cx="8229600" cy="5638800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LSR #4</a:t>
            </a:r>
          </a:p>
          <a:p>
            <a:pPr lvl="1"/>
            <a:r>
              <a:rPr lang="pt-BR" dirty="0"/>
              <a:t>MOVS R3, R1, LSR #8</a:t>
            </a:r>
          </a:p>
          <a:p>
            <a:pPr lvl="1"/>
            <a:r>
              <a:rPr lang="pt-BR" dirty="0"/>
              <a:t>MOVS R4, R1, LSR #16</a:t>
            </a:r>
          </a:p>
          <a:p>
            <a:pPr lvl="1"/>
            <a:r>
              <a:rPr lang="pt-BR" dirty="0"/>
              <a:t>MOVS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MOVS R6, R1, ASR #8</a:t>
            </a:r>
          </a:p>
          <a:p>
            <a:pPr lvl="1"/>
            <a:r>
              <a:rPr lang="pt-BR" dirty="0"/>
              <a:t>MOVS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0x4)</a:t>
            </a:r>
            <a:endParaRPr lang="pt-BR" dirty="0"/>
          </a:p>
          <a:p>
            <a:pPr lvl="1"/>
            <a:r>
              <a:rPr lang="pt-BR" dirty="0"/>
              <a:t>LSR #8: R3 = 0x11223344 &gt;&gt; 8 = 0x00112233.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0x44)</a:t>
            </a:r>
            <a:endParaRPr lang="pt-BR" dirty="0"/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2"/>
            <a:r>
              <a:rPr lang="pt-BR" dirty="0"/>
              <a:t>NZCV = 0000</a:t>
            </a:r>
            <a:r>
              <a:rPr lang="en-US" dirty="0"/>
              <a:t> (last bit shifted out was 0, MSB of 0x3344)</a:t>
            </a:r>
            <a:endParaRPr lang="pt-BR" dirty="0"/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2"/>
            <a:r>
              <a:rPr lang="pt-BR" dirty="0"/>
              <a:t>NZCV = 0000 (ASR has the same flag settings as LSR, since they both shift out the same bits)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267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/>
              <a:t>1025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153*r3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     r1, #2             // r3 = x, r1 = 2,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r1       // r2 = r3*r0 + r1 = x(6x - 9)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</a:t>
            </a:r>
            <a:r>
              <a:rPr lang="pt-BR" sz="2000">
                <a:latin typeface="Consolas" panose="020B0609020204030204" pitchFamily="49" charset="0"/>
                <a:cs typeface="Consolas" panose="020B0609020204030204" pitchFamily="49" charset="0"/>
              </a:rPr>
              <a:t>, =0xFFFFFF00</a:t>
            </a: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0x00000000</a:t>
            </a:r>
          </a:p>
          <a:p>
            <a:r>
              <a:rPr lang="pt-BR" sz="2000" dirty="0"/>
              <a:t>NZCV = 0110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20574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70452" y="3429000"/>
            <a:ext cx="8348605" cy="297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ANS:</a:t>
            </a:r>
          </a:p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 The last bit shifted out was 1.  </a:t>
            </a:r>
            <a:r>
              <a:rPr lang="en-US" sz="1600"/>
              <a:t>(ANDS </a:t>
            </a:r>
            <a:r>
              <a:rPr lang="en-US" sz="1600" dirty="0"/>
              <a:t>does not affect C </a:t>
            </a:r>
            <a:r>
              <a:rPr lang="en-US" sz="1600"/>
              <a:t>flag.)</a:t>
            </a:r>
            <a:endParaRPr lang="en-US" sz="1600" dirty="0"/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19812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0xFFFFFE01</a:t>
            </a:r>
          </a:p>
          <a:p>
            <a:r>
              <a:rPr lang="pt-BR" sz="2000" dirty="0"/>
              <a:t>NZCV = 1000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18288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ANS: Left shift (LSL #1) moves the bits in r0 left by 1 bit, so r0 = 0xFFFFFE00. ADDS is then computed: r2 = r1 + (r0 &lt;&lt; 1) = 0xFFFFFE01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LSL does not update flags; ADDS updates flags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for ADDS, C is the carry-out from the addition (unsigned overflow). Since 0x0000_0001 + 0xFFFF_FE00 &lt; 2^32, there is no carry-out → C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Note: the shift’s carry-out was 1, but ADDS overwrites the flags; the final C is the addition carry-out (0).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0&lt;&lt;1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  <a:blipFill>
                <a:blip r:embed="rId3"/>
                <a:stretch>
                  <a:fillRect t="-2048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2"/>
            <a:r>
              <a:rPr lang="en-US" dirty="0"/>
              <a:t>Carry bit is 0 (last bit shifted out was 0, the first bit of 011)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</a:t>
            </a:r>
          </a:p>
          <a:p>
            <a:pPr lvl="2"/>
            <a:r>
              <a:rPr lang="en-US" dirty="0"/>
              <a:t>ADD does not affect flags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</a:t>
            </a:r>
          </a:p>
          <a:p>
            <a:pPr lvl="2"/>
            <a:r>
              <a:rPr lang="pt-BR" dirty="0"/>
              <a:t>LSL without S does not update flags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 dirty="0"/>
              <a:t>(f) 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11764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86678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3749</TotalTime>
  <Words>6840</Words>
  <Application>Microsoft Office PowerPoint</Application>
  <PresentationFormat>On-screen Show (4:3)</PresentationFormat>
  <Paragraphs>944</Paragraphs>
  <Slides>50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Q5 ANS</vt:lpstr>
      <vt:lpstr>Assembly Programming</vt:lpstr>
      <vt:lpstr>Assembly Programming ANS</vt:lpstr>
      <vt:lpstr>Shift LSL ANS</vt:lpstr>
      <vt:lpstr>Shift LSLS ANS</vt:lpstr>
      <vt:lpstr>Shift ASR ANS</vt:lpstr>
      <vt:lpstr>Shift LSR ASR ANS</vt:lpstr>
      <vt:lpstr>Shift LSRS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&amp; Subtraction ANS</vt:lpstr>
      <vt:lpstr>Addition &amp; Subtraction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347</cp:revision>
  <cp:lastPrinted>2025-10-09T21:51:20Z</cp:lastPrinted>
  <dcterms:created xsi:type="dcterms:W3CDTF">2014-02-05T02:41:42Z</dcterms:created>
  <dcterms:modified xsi:type="dcterms:W3CDTF">2026-10-08T02:08:57Z</dcterms:modified>
</cp:coreProperties>
</file>