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2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4"/>
  </p:notesMasterIdLst>
  <p:sldIdLst>
    <p:sldId id="256" r:id="rId2"/>
    <p:sldId id="351" r:id="rId3"/>
    <p:sldId id="553" r:id="rId4"/>
    <p:sldId id="555" r:id="rId5"/>
    <p:sldId id="556" r:id="rId6"/>
    <p:sldId id="557" r:id="rId7"/>
    <p:sldId id="558" r:id="rId8"/>
    <p:sldId id="564" r:id="rId9"/>
    <p:sldId id="565" r:id="rId10"/>
    <p:sldId id="576" r:id="rId11"/>
    <p:sldId id="575" r:id="rId12"/>
    <p:sldId id="578" r:id="rId13"/>
    <p:sldId id="577" r:id="rId14"/>
    <p:sldId id="566" r:id="rId15"/>
    <p:sldId id="567" r:id="rId16"/>
    <p:sldId id="257" r:id="rId17"/>
    <p:sldId id="258" r:id="rId18"/>
    <p:sldId id="259" r:id="rId19"/>
    <p:sldId id="260" r:id="rId20"/>
    <p:sldId id="262" r:id="rId21"/>
    <p:sldId id="261" r:id="rId22"/>
    <p:sldId id="352" r:id="rId23"/>
    <p:sldId id="353" r:id="rId24"/>
    <p:sldId id="559" r:id="rId25"/>
    <p:sldId id="560" r:id="rId26"/>
    <p:sldId id="592" r:id="rId27"/>
    <p:sldId id="561" r:id="rId28"/>
    <p:sldId id="563" r:id="rId29"/>
    <p:sldId id="562" r:id="rId30"/>
    <p:sldId id="568" r:id="rId31"/>
    <p:sldId id="570" r:id="rId32"/>
    <p:sldId id="571" r:id="rId33"/>
    <p:sldId id="572" r:id="rId34"/>
    <p:sldId id="574" r:id="rId35"/>
    <p:sldId id="573" r:id="rId36"/>
    <p:sldId id="579" r:id="rId37"/>
    <p:sldId id="582" r:id="rId38"/>
    <p:sldId id="580" r:id="rId39"/>
    <p:sldId id="354" r:id="rId40"/>
    <p:sldId id="356" r:id="rId41"/>
    <p:sldId id="357" r:id="rId42"/>
    <p:sldId id="358" r:id="rId43"/>
    <p:sldId id="384" r:id="rId44"/>
    <p:sldId id="385" r:id="rId45"/>
    <p:sldId id="387" r:id="rId46"/>
    <p:sldId id="589" r:id="rId47"/>
    <p:sldId id="591" r:id="rId48"/>
    <p:sldId id="590" r:id="rId49"/>
    <p:sldId id="587" r:id="rId50"/>
    <p:sldId id="583" r:id="rId51"/>
    <p:sldId id="585" r:id="rId52"/>
    <p:sldId id="586" r:id="rId53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9F66C0-3357-40C2-B5B1-DCDAC1289C61}" v="40" dt="2025-10-16T22:36:13.7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3609"/>
  </p:normalViewPr>
  <p:slideViewPr>
    <p:cSldViewPr>
      <p:cViewPr varScale="1">
        <p:scale>
          <a:sx n="77" d="100"/>
          <a:sy n="77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notesMaster" Target="notesMasters/notesMaster1.xml"/><Relationship Id="rId55" Type="http://schemas.openxmlformats.org/officeDocument/2006/relationships/presProps" Target="presProps.xml"/><Relationship Id="rId56" Type="http://schemas.openxmlformats.org/officeDocument/2006/relationships/viewProps" Target="viewProps.xml"/><Relationship Id="rId57" Type="http://schemas.openxmlformats.org/officeDocument/2006/relationships/theme" Target="theme/theme1.xml"/><Relationship Id="rId58" Type="http://schemas.openxmlformats.org/officeDocument/2006/relationships/tableStyles" Target="tableStyles.xml"/><Relationship Id="rId59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0.55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9-09T23:11:41.335"/>
    </inkml:context>
    <inkml:brush xml:id="br0">
      <inkml:brushProperty name="width" value="0.05" units="cm"/>
      <inkml:brushProperty name="height" value="0.05" units="cm"/>
      <inkml:brushProperty name="ignorePressure" value="1"/>
    </inkml:brush>
  </inkml:definitions>
  <inkml:trace contextRef="#ctx0" brushRef="#br0">0 1,'0'0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AC3A17A-95E8-4381-B66B-5D6DE2B3048A}" type="datetimeFigureOut">
              <a:rPr lang="en-US" smtClean="0"/>
              <a:pPr/>
              <a:t>10/16/2025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B0C9D69-9831-4844-8B1E-062B2DA58B0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390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Gill Sans Light"/>
              </a:rPr>
              <a:t>Useful for multiword shifts and certain crypto/bit-</a:t>
            </a:r>
            <a:r>
              <a:rPr lang="en-US" dirty="0" err="1">
                <a:latin typeface="Gill Sans Light"/>
              </a:rPr>
              <a:t>manip</a:t>
            </a:r>
            <a:r>
              <a:rPr lang="en-US" dirty="0">
                <a:latin typeface="Gill Sans Light"/>
              </a:rPr>
              <a:t> patterns</a:t>
            </a:r>
          </a:p>
          <a:p>
            <a:r>
              <a:rPr lang="en-US" b="1" dirty="0"/>
              <a:t>LSR (used here)</a:t>
            </a:r>
            <a:r>
              <a:rPr lang="en-US" dirty="0"/>
              <a:t>: Always fills with zeros, converting the negative value to a large positive number</a:t>
            </a:r>
          </a:p>
          <a:p>
            <a:r>
              <a:rPr lang="en-US" b="1" dirty="0"/>
              <a:t>ASR</a:t>
            </a:r>
            <a:r>
              <a:rPr lang="en-US" dirty="0"/>
              <a:t>: Would preserve the sign bit, maintaining the negative value (-4096)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765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dirty="0"/>
                  <a:t>Convert subtraction to addition with Two’s complement. If two operands have same sign, and the result has opposite sign, then V = 1; else V = 0.”</a:t>
                </a:r>
              </a:p>
              <a:p>
                <a:pPr>
                  <a:defRPr/>
                </a:pPr>
                <a:endParaRPr lang="en-US" sz="1200" dirty="0">
                  <a:solidFill>
                    <a:prstClr val="black"/>
                  </a:solidFill>
                  <a:cs typeface="Times New Roman" pitchFamily="18" charset="0"/>
                </a:endParaRPr>
              </a:p>
              <a:p>
                <a:pPr>
                  <a:defRPr/>
                </a:pPr>
                <a:r>
                  <a:rPr lang="en-US" sz="1200" dirty="0">
                    <a:solidFill>
                      <a:prstClr val="black"/>
                    </a:solidFill>
                    <a:latin typeface="Gill Sans MT"/>
                    <a:cs typeface="Times New Roman" pitchFamily="18" charset="0"/>
                  </a:rPr>
                  <a:t>convert subtraction to addition with Two’s complement. </a:t>
                </a:r>
                <a:r>
                  <a:rPr lang="en-US" sz="1200" dirty="0">
                    <a:solidFill>
                      <a:prstClr val="black"/>
                    </a:solidFill>
                    <a:cs typeface="Times New Roman" pitchFamily="18" charset="0"/>
                  </a:rPr>
                  <a:t>If two operands have same sign, and the result has opposite sign, then V = 1; for all other cases, V = 0</a:t>
                </a:r>
                <a:endParaRPr lang="en-US" sz="1200" dirty="0">
                  <a:solidFill>
                    <a:prstClr val="black"/>
                  </a:solidFill>
                  <a:latin typeface="Gill Sans MT"/>
                  <a:cs typeface="Times New Roman" pitchFamily="18" charset="0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−</m:t>
                    </m:r>
                    <m:r>
                      <a:rPr lang="en-US" sz="2800" i="1">
                        <a:solidFill>
                          <a:prstClr val="black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8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24611" name="Rectangle 3"/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C is cleared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Times New Roman" pitchFamily="18" charset="0"/>
                  </a:rPr>
                  <a:t>upon 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an </a:t>
                </a:r>
                <a:r>
                  <a:rPr kumimoji="0" lang="en-US" sz="12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800000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unsigned</a:t>
                </a:r>
                <a:r>
                  <a:rPr kumimoji="0" 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ill Sans MT"/>
                    <a:ea typeface="+mn-ea"/>
                    <a:cs typeface="+mn-cs"/>
                  </a:rPr>
                  <a:t> subtract if the answer is wrong</a:t>
                </a:r>
                <a:endParaRPr kumimoji="0" lang="en-US" sz="3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ill Sans MT"/>
                  <a:ea typeface="+mn-ea"/>
                  <a:cs typeface="+mn-cs"/>
                </a:endParaRP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(CF) is set differently for unsigned addition and subtraction:</a:t>
                </a:r>
              </a:p>
              <a:p>
                <a:r>
                  <a:rPr lang="en-US" sz="2800" dirty="0">
                    <a:solidFill>
                      <a:prstClr val="black"/>
                    </a:solidFill>
                  </a:rPr>
                  <a:t>When adding or subtracting two signed numbers in an 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n</a:t>
                </a:r>
                <a:r>
                  <a:rPr lang="en-US" sz="2800" dirty="0">
                    <a:solidFill>
                      <a:prstClr val="black"/>
                    </a:solidFill>
                  </a:rPr>
                  <a:t>-bit system, an overflow occurs if </a:t>
                </a:r>
                <a:r>
                  <a:rPr lang="en-US" sz="2800" dirty="0">
                    <a:solidFill>
                      <a:srgbClr val="C00000"/>
                    </a:solidFill>
                  </a:rPr>
                  <a:t>the true result is larger than the maximum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−1</a:t>
                </a:r>
                <a:r>
                  <a:rPr lang="en-US" sz="2800" dirty="0">
                    <a:solidFill>
                      <a:prstClr val="black"/>
                    </a:solidFill>
                  </a:rPr>
                  <a:t>) </a:t>
                </a:r>
                <a:r>
                  <a:rPr lang="en-US" sz="2800" dirty="0">
                    <a:solidFill>
                      <a:srgbClr val="C00000"/>
                    </a:solidFill>
                  </a:rPr>
                  <a:t>or smaller than the minimum signed integer </a:t>
                </a:r>
                <a:r>
                  <a:rPr lang="en-US" sz="2800" dirty="0">
                    <a:solidFill>
                      <a:prstClr val="black"/>
                    </a:solidFill>
                  </a:rPr>
                  <a:t>(</a:t>
                </a:r>
                <a:r>
                  <a:rPr lang="en-US" sz="2800" i="1" dirty="0">
                    <a:solidFill>
                      <a:prstClr val="black"/>
                    </a:solidFill>
                  </a:rPr>
                  <a:t>i.e.</a:t>
                </a:r>
                <a:r>
                  <a:rPr lang="en-US" sz="2800" dirty="0">
                    <a:solidFill>
                      <a:prstClr val="black"/>
                    </a:solidFill>
                  </a:rPr>
                  <a:t> 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〖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2</a:t>
                </a:r>
                <a:r>
                  <a:rPr lang="en-US" sz="280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〗^(</a:t>
                </a:r>
                <a:r>
                  <a:rPr lang="en-US" sz="2800" i="0">
                    <a:solidFill>
                      <a:prstClr val="black"/>
                    </a:solidFill>
                    <a:latin typeface="Cambria Math"/>
                  </a:rPr>
                  <a:t>𝑛</a:t>
                </a:r>
                <a:r>
                  <a:rPr lang="en-US" sz="2800" b="0" i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−1)</a:t>
                </a:r>
                <a:r>
                  <a:rPr lang="en-US" sz="2800" dirty="0">
                    <a:solidFill>
                      <a:prstClr val="black"/>
                    </a:solidFill>
                  </a:rPr>
                  <a:t>) that can be represented</a:t>
                </a:r>
              </a:p>
              <a:p>
                <a:endParaRPr lang="en-US" dirty="0"/>
              </a:p>
              <a:p>
                <a:r>
                  <a:rPr lang="en-US" dirty="0"/>
                  <a:t>Overflow may occur when adding 2 operands with the same sign, or subtracting 2 operands with different signs, including: 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positive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adding two negative numbers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positive number from a negative number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subtracting a negative number from a positive number</a:t>
                </a:r>
              </a:p>
              <a:p>
                <a:endParaRPr lang="en-US" dirty="0"/>
              </a:p>
              <a:p>
                <a:r>
                  <a:rPr lang="en-US" dirty="0"/>
                  <a:t>Overflow cannot occur when adding 2 operands with different signs or when subtracting 2 operands with the same sign.</a:t>
                </a:r>
              </a:p>
              <a:p>
                <a:pPr lvl="1"/>
                <a:r>
                  <a:rPr lang="en-US" dirty="0"/>
                  <a:t>Why?</a:t>
                </a: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endParaRPr lang="en-US" sz="1200" b="1" i="0" kern="1200" dirty="0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endParaRP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is set to 1 if there is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carry out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from the most significant bit (MSB) during the addition.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means the sum exceeds the maximum value that can be represented in the given number of bits.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Example: Adding two 8-bit numbers resulting in a value greater than 255 will set CF = 1.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acts as a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borrow indicator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 for subtraction.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cleared (set to 0) if a borrow is needed (i.e., if the minuend is less than the subtrahend).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CF is set to 1 if no borrow is needed, meaning the subtraction did not underflow.</a:t>
                </a:r>
              </a:p>
              <a:p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Summary: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addition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1 means an overflow beyond the MSB (carry out).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For </a:t>
                </a:r>
                <a:r>
                  <a:rPr lang="en-US" sz="1200" b="1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unsigned subtraction</a:t>
                </a:r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, CF = 0 means a borrow (underflow), CF = 1 means no borrow.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The carry flag thus helps detect unsigned overflow or underflow conditions.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This behavior contrasts with signed arithmetic, where the overflow flag (OF) signals signed overflow, and the carry flag is generally not used.</a:t>
                </a:r>
              </a:p>
              <a:p>
                <a:r>
                  <a:rPr lang="en-US" sz="1200" b="0" i="0" kern="1200" dirty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rPr>
                  <a:t>References from teaching and documentation explain this clearly: The carry flag signals actual carry for addition and borrow for subtraction in unsigned arithmetic scenarios.</a:t>
                </a:r>
              </a:p>
              <a:p>
                <a:endParaRPr lang="en-US" dirty="0"/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25377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US" dirty="0"/>
          </a:p>
          <a:p>
            <a:pPr lvl="1"/>
            <a:r>
              <a:rPr lang="en-US" dirty="0"/>
              <a:t>ORR r6, r6, #0x1011  @ Set bits 0, 4, and 12 (0x1011 = binary 1000000010001)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00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solution:</a:t>
            </a:r>
          </a:p>
          <a:p>
            <a:pPr lvl="1"/>
            <a:r>
              <a:rPr lang="pt-BR" dirty="0"/>
              <a:t>AND r1, r0, #0xF0</a:t>
            </a:r>
          </a:p>
          <a:p>
            <a:pPr lvl="1"/>
            <a:r>
              <a:rPr lang="pt-BR" dirty="0"/>
              <a:t>MOV r1, r1, LSR #4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5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93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6557-E30C-AF68-CD82-F4D49090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9206F9-A8D8-B695-0EB9-4F91C56B93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6A2AB-BEA2-B89F-9BAD-960432F9EC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8607F-4039-82BD-5A6F-95CCF817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737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3741-8FC4-2591-E3BC-8A077C769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9CAA2-6E22-E219-DF82-8A5042436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23D407-7127-9C12-D518-1935CDC4D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ED6B6-BD58-1B29-B600-C30D0C6EB0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584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9ED06-CB4D-495B-C694-4C1B6E74B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8BA59D-F778-B6DB-A073-14EAC72E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57544-8E4A-41E5-8E60-89D98A207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R2 = 0x01122334, R3 = 0x00112233, R4 = 0x00001122, R5 = 0x01122334, R6 = 0x00112233, R7 = 0x00001122.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E15DA1-B8B2-6177-0798-B0B79A26A3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624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ANS: count ones, then subtract from 32</a:t>
            </a:r>
          </a:p>
          <a:p>
            <a:r>
              <a:rPr lang="pt-BR" dirty="0"/>
              <a:t>Or </a:t>
            </a:r>
            <a:r>
              <a:rPr lang="en-US" dirty="0"/>
              <a:t>Invert r0 to get r4, then count 0’s in r4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014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>
                    <a:solidFill>
                      <a:schemeClr val="tx1"/>
                    </a:solidFill>
                  </a:rPr>
                  <a:t>Here, adding a small positive number </a:t>
                </a:r>
                <a:r>
                  <a:rPr lang="en-US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</a:t>
                </a:r>
                <a:r>
                  <a:rPr lang="en-US" dirty="0">
                    <a:solidFill>
                      <a:schemeClr val="tx1"/>
                    </a:solidFill>
                  </a:rPr>
                  <a:t> to a large value didn't overflow beyond 32 bits. So 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, i.e., signs of inputs are same, but result sign differs.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219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dirty="0"/>
              <a:t>r0 = 0xFFFFFFFF</a:t>
            </a:r>
          </a:p>
          <a:p>
            <a:pPr lvl="1"/>
            <a:r>
              <a:rPr lang="en-US" dirty="0"/>
              <a:t>r1 = 0x00000001</a:t>
            </a:r>
          </a:p>
          <a:p>
            <a:pPr lvl="1"/>
            <a:r>
              <a:rPr lang="en-US" dirty="0"/>
              <a:t>r2 = 0x00000003</a:t>
            </a:r>
          </a:p>
          <a:p>
            <a:pPr lvl="1"/>
            <a:r>
              <a:rPr lang="en-US" dirty="0"/>
              <a:t>r3 = 0xFFFFFFF0</a:t>
            </a:r>
          </a:p>
          <a:p>
            <a:endParaRPr lang="en-US" dirty="0"/>
          </a:p>
          <a:p>
            <a:r>
              <a:rPr lang="en-US" dirty="0"/>
              <a:t>The N, Z, C, and V flags start out as zero.</a:t>
            </a:r>
          </a:p>
          <a:p>
            <a:r>
              <a:rPr lang="en-US" dirty="0"/>
              <a:t>After the execution of the following instructions, fill in the flag values.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6977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Suppose </a:t>
            </a:r>
          </a:p>
          <a:p>
            <a:pPr lvl="1"/>
            <a:r>
              <a:rPr lang="en-US" dirty="0"/>
              <a:t>r0 = 0xFFFFFFFF, r1 = 0x00000001, r2 = 0x00000000,</a:t>
            </a:r>
          </a:p>
          <a:p>
            <a:pPr lvl="1"/>
            <a:r>
              <a:rPr lang="en-US" dirty="0"/>
              <a:t>NZCV = 0000 initially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C9D69-9831-4844-8B1E-062B2DA58B0D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2613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pPr eaLnBrk="1" latinLnBrk="0" hangingPunct="1"/>
            <a:fld id="{966FEA0E-C2DF-4252-97AD-54F2B7E07EAC}" type="datetime1">
              <a:rPr lang="en-US" smtClean="0"/>
              <a:pPr eaLnBrk="1" latinLnBrk="0" hangingPunct="1"/>
              <a:t>10/16/2025</a:t>
            </a:fld>
            <a:endParaRPr lang="en-US" sz="16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0CD88620-7329-4FC3-B65D-4EA691138F1B}" type="datetime1">
              <a:rPr lang="en-US" smtClean="0"/>
              <a:pPr eaLnBrk="1" latinLnBrk="0" hangingPunct="1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0E46F3A1-5653-427D-9F78-56077401431A}" type="datetime1">
              <a:rPr lang="en-US" smtClean="0"/>
              <a:pPr eaLnBrk="1" latinLnBrk="0" hangingPunct="1"/>
              <a:t>10/16/2025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67FC03-415A-45F0-B002-DF181377F7DC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1B6FC726-A0B4-4FC7-90F5-F17415A5C1A3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E217211-C3F9-4892-9CC3-C7105638567D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BA713E6A-6B26-4373-A75B-EF395DC64F9E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7EB41EF-4260-415A-8DD6-FEDCC46E7EFC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BDA80A0-06CC-4492-94A0-E8516751045E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69EF9524-0CAA-4F98-BAC2-CE6B712F5E94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CB20516D-6F89-4C89-8307-32A716E22875}" type="datetime1">
              <a:rPr lang="en-US" smtClean="0"/>
              <a:pPr eaLnBrk="1" latinLnBrk="0" hangingPunct="1"/>
              <a:t>10/16/2025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eaLnBrk="1" latinLnBrk="0" hangingPunct="1"/>
            <a:fld id="{A25B5B4B-57EE-495D-8E74-A657CFD8BB6C}" type="datetime1">
              <a:rPr lang="en-US" smtClean="0"/>
              <a:pPr eaLnBrk="1" latinLnBrk="0" hangingPunct="1"/>
              <a:t>10/16/2025</a:t>
            </a:fld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kumimoji="0" lang="en-US" sz="1400" dirty="0">
              <a:solidFill>
                <a:schemeClr val="tx2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eb.eece.maine.edu/~zhu/book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ustomXml" Target="../ink/ink1.xml"/><Relationship Id="rId4" Type="http://schemas.openxmlformats.org/officeDocument/2006/relationships/image" Target="../media/image2.png"/><Relationship Id="rId5" Type="http://schemas.openxmlformats.org/officeDocument/2006/relationships/customXml" Target="../ink/ink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Z. Gu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37547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latin typeface="Bookman Old Style (Headings)"/>
              </a:rPr>
              <a:t>Embedded Systems with ARM Cortex-M Microcontrollers in Assembly Language and 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55111" y="1828800"/>
            <a:ext cx="58142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400" b="1" dirty="0">
                <a:solidFill>
                  <a:srgbClr val="C00000"/>
                </a:solidFill>
              </a:rPr>
              <a:t>Chapter 4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ARM Arithmetic and Logic Instructions</a:t>
            </a:r>
          </a:p>
          <a:p>
            <a:pPr algn="r"/>
            <a:r>
              <a:rPr lang="en-US" sz="2400" b="1" dirty="0">
                <a:solidFill>
                  <a:srgbClr val="C00000"/>
                </a:solidFill>
              </a:rPr>
              <a:t>Exercises ANS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F69590-944C-2F0D-5FE5-A89C06E0D2BF}"/>
              </a:ext>
            </a:extLst>
          </p:cNvPr>
          <p:cNvSpPr txBox="1"/>
          <p:nvPr/>
        </p:nvSpPr>
        <p:spPr>
          <a:xfrm>
            <a:off x="709138" y="6355080"/>
            <a:ext cx="7725724" cy="461665"/>
          </a:xfrm>
          <a:prstGeom prst="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Acknowledgement: Lecture slides based on Embedded Systems with ARM Cortex-M Microcontrollers in Assembly Language and C, University of Maine 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  <a:hlinkClick r:id="rId2"/>
              </a:rPr>
              <a:t>https://web.eece.maine.edu/~zhu/book/</a:t>
            </a:r>
            <a:r>
              <a:rPr lang="en-US" altLang="zh-CN" sz="1200" dirty="0">
                <a:solidFill>
                  <a:schemeClr val="tx1"/>
                </a:solidFill>
                <a:latin typeface="Gill Sans Light"/>
              </a:rPr>
              <a:t> </a:t>
            </a:r>
            <a:endParaRPr lang="en-SE" sz="1200" dirty="0">
              <a:solidFill>
                <a:schemeClr val="tx1"/>
              </a:solidFill>
              <a:latin typeface="Gill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227639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6F502-DB5A-8F9C-A5EB-10BBD9248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Barrel Shifter: Explanations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5D8ACB-98F6-A4F1-CB73-635D27ADC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</a:t>
            </a:fld>
            <a:endParaRPr kumimoji="0"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>
                    <a:latin typeface="Gill Sans Light"/>
                  </a:rPr>
                  <a:t>LSL (logical shift left):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left, fills zeros on the right; </a:t>
                </a:r>
                <a:r>
                  <a:rPr lang="en-US" dirty="0">
                    <a:latin typeface="Gill Sans Light"/>
                  </a:rPr>
                  <a:t>C gets the last bit shifted out of bit 31. This is multiply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for non-overflowing values.</a:t>
                </a:r>
              </a:p>
              <a:p>
                <a:r>
                  <a:rPr lang="en-US" dirty="0">
                    <a:latin typeface="Gill Sans Light"/>
                  </a:rPr>
                  <a:t>LSR (logical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zeros on the left; </a:t>
                </a:r>
                <a:r>
                  <a:rPr lang="en-US" dirty="0">
                    <a:latin typeface="Gill Sans Light"/>
                  </a:rPr>
                  <a:t>C gets the last bit shifted out of bit 0. This is unsigned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.</a:t>
                </a:r>
                <a:r>
                  <a:rPr lang="en-US" dirty="0">
                    <a:latin typeface="Gill Sans Light"/>
                  </a:rPr>
                  <a:t> </a:t>
                </a:r>
              </a:p>
              <a:p>
                <a:r>
                  <a:rPr lang="en-US" dirty="0">
                    <a:latin typeface="Gill Sans Light"/>
                  </a:rPr>
                  <a:t>ASR (arithmetic shift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shifts right, fills the sign bit on the left </a:t>
                </a:r>
                <a:r>
                  <a:rPr lang="en-US" dirty="0">
                    <a:latin typeface="Gill Sans Light"/>
                  </a:rPr>
                  <a:t>to preserving the sign; C gets the last bit shifted out of bit 0. This is signed division by 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ar-AE" dirty="0">
                    <a:latin typeface="Gill Sans Light"/>
                  </a:rPr>
                  <a:t> </a:t>
                </a:r>
                <a:r>
                  <a:rPr lang="en-US" dirty="0">
                    <a:latin typeface="Gill Sans Light"/>
                  </a:rPr>
                  <a:t>with sign extension</a:t>
                </a:r>
              </a:p>
              <a:p>
                <a:r>
                  <a:rPr lang="en-US" dirty="0">
                    <a:latin typeface="Gill Sans Light"/>
                  </a:rPr>
                  <a:t>ROR (rotate right):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bits right with wraparound</a:t>
                </a:r>
                <a:r>
                  <a:rPr lang="en-US" dirty="0">
                    <a:latin typeface="Gill Sans Light"/>
                  </a:rPr>
                  <a:t>; bits leaving bit 0 re-enter at bit 31, and C receives the bit that wrapped. This is a pure rotation without data loss.</a:t>
                </a:r>
              </a:p>
              <a:p>
                <a:r>
                  <a:rPr lang="en-US" dirty="0">
                    <a:latin typeface="Gill Sans Light"/>
                  </a:rPr>
                  <a:t>RRX (rotate right extended): </a:t>
                </a:r>
                <a:r>
                  <a:rPr lang="en-US" dirty="0">
                    <a:solidFill>
                      <a:srgbClr val="FF0000"/>
                    </a:solidFill>
                    <a:latin typeface="Gill Sans Light"/>
                  </a:rPr>
                  <a:t>rotates right by one through the carry flag</a:t>
                </a:r>
                <a:r>
                  <a:rPr lang="en-US" dirty="0">
                    <a:latin typeface="Gill Sans Light"/>
                  </a:rPr>
                  <a:t>, treating C as a 33rd bit; new bit 31 comes from old C, and C receives old bit 0.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7C9F849-B760-6B86-0795-1026F14FB2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519" t="-2222" r="-20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Horizontal Scroll 12">
            <a:extLst>
              <a:ext uri="{FF2B5EF4-FFF2-40B4-BE49-F238E27FC236}">
                <a16:creationId xmlns:a16="http://schemas.microsoft.com/office/drawing/2014/main" id="{E5E988BA-EC48-9C00-F0B8-EA356F0F3223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27963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41912" y="152400"/>
            <a:ext cx="7649688" cy="990600"/>
          </a:xfrm>
          <a:ln>
            <a:miter lim="800000"/>
            <a:headEnd/>
            <a:tailEnd/>
          </a:ln>
        </p:spPr>
        <p:txBody>
          <a:bodyPr>
            <a:normAutofit fontScale="90000"/>
          </a:bodyPr>
          <a:lstStyle/>
          <a:p>
            <a:r>
              <a:rPr lang="en-US" dirty="0"/>
              <a:t>Carry and Overflow Flags w/ Arithmetic Instructions</a:t>
            </a:r>
          </a:p>
        </p:txBody>
      </p:sp>
      <p:sp>
        <p:nvSpPr>
          <p:cNvPr id="323587" name="Slide Number Placeholder 5"/>
          <p:cNvSpPr txBox="1">
            <a:spLocks noGrp="1"/>
          </p:cNvSpPr>
          <p:nvPr/>
        </p:nvSpPr>
        <p:spPr bwMode="auto">
          <a:xfrm>
            <a:off x="5998447" y="5885466"/>
            <a:ext cx="160020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r">
              <a:defRPr/>
            </a:pPr>
            <a:fld id="{433D14BE-FE52-4332-969F-3696FB65ED39}" type="slidenum">
              <a:rPr lang="en-US" sz="1050">
                <a:solidFill>
                  <a:srgbClr val="EEECE1"/>
                </a:solidFill>
              </a:rPr>
              <a:pPr algn="r">
                <a:defRPr/>
              </a:pPr>
              <a:t>3</a:t>
            </a:fld>
            <a:endParaRPr lang="en-US" sz="1050">
              <a:solidFill>
                <a:srgbClr val="EEECE1"/>
              </a:solidFill>
            </a:endParaRPr>
          </a:p>
        </p:txBody>
      </p:sp>
      <p:sp>
        <p:nvSpPr>
          <p:cNvPr id="38917" name="Rectangle 5"/>
          <p:cNvSpPr>
            <a:spLocks noChangeArrowheads="1"/>
          </p:cNvSpPr>
          <p:nvPr/>
        </p:nvSpPr>
        <p:spPr bwMode="auto">
          <a:xfrm>
            <a:off x="612648" y="1056187"/>
            <a:ext cx="7886700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C = 1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(Borrow flag = 0)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-1)</a:t>
            </a:r>
          </a:p>
          <a:p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Carry flag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C = 0 (Borrow flag = 1)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upon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an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unsigned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subtraction 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if the answer is wrong </a:t>
            </a:r>
            <a:r>
              <a:rPr lang="en-US" sz="1600" dirty="0">
                <a:solidFill>
                  <a:prstClr val="black"/>
                </a:solidFill>
                <a:latin typeface="Gill Sans MT"/>
              </a:rPr>
              <a:t> (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true result &lt; 0)</a:t>
            </a:r>
            <a:endParaRPr lang="en-US" sz="1600" dirty="0">
              <a:solidFill>
                <a:prstClr val="black"/>
              </a:solidFill>
              <a:latin typeface="Gill Sans MT"/>
            </a:endParaRP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Overflow flag V =1 upon a </a:t>
            </a:r>
            <a:r>
              <a:rPr lang="en-US" sz="1600" b="1" u="sng" dirty="0">
                <a:solidFill>
                  <a:srgbClr val="800000"/>
                </a:solidFill>
                <a:latin typeface="Gill Sans MT"/>
                <a:cs typeface="Times New Roman" pitchFamily="18" charset="0"/>
              </a:rPr>
              <a:t>signed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 addition or subtraction if the answer is wrong (true result &gt; 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 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or true result &lt; -</a:t>
            </a:r>
            <a:r>
              <a:rPr lang="en-US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2</a:t>
            </a:r>
            <a:r>
              <a:rPr lang="en-US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n</a:t>
            </a:r>
            <a:r>
              <a:rPr lang="en-US" altLang="zh-CN" sz="1600" baseline="300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-1</a:t>
            </a:r>
            <a:r>
              <a:rPr lang="en-US" altLang="zh-CN" sz="1600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)</a:t>
            </a:r>
          </a:p>
          <a:p>
            <a:pPr>
              <a:defRPr/>
            </a:pP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Overflow may occur when adding 2 operands with the same sign, or subtracting 2 operands with different signs; Overflow cannot occur when adding 2 operands with different signs or when subtracting 2 operands with the same sign.</a:t>
            </a:r>
          </a:p>
          <a:p>
            <a:pPr>
              <a:defRPr/>
            </a:pPr>
            <a:r>
              <a:rPr lang="en-US" sz="1600" b="1" dirty="0">
                <a:solidFill>
                  <a:prstClr val="black"/>
                </a:solidFill>
                <a:latin typeface="Gill Sans MT"/>
                <a:cs typeface="Times New Roman" pitchFamily="18" charset="0"/>
              </a:rPr>
              <a:t>Tip</a:t>
            </a:r>
            <a:r>
              <a:rPr lang="en-US" sz="1600" b="1" dirty="0">
                <a:solidFill>
                  <a:prstClr val="black"/>
                </a:solidFill>
                <a:cs typeface="Times New Roman" pitchFamily="18" charset="0"/>
              </a:rPr>
              <a:t>: </a:t>
            </a:r>
            <a:r>
              <a:rPr lang="en-US" sz="1600" dirty="0">
                <a:solidFill>
                  <a:prstClr val="black"/>
                </a:solidFill>
                <a:cs typeface="Times New Roman" pitchFamily="18" charset="0"/>
              </a:rPr>
              <a:t>Convert subtraction to addition with Two’s complement. If two operands have same sign, and the result has opposite sign, then V = 1; else V = 0</a:t>
            </a:r>
            <a:endParaRPr lang="en-US" sz="1600" dirty="0">
              <a:solidFill>
                <a:prstClr val="black"/>
              </a:solidFill>
              <a:latin typeface="Gill Sans MT"/>
              <a:cs typeface="Times New Roman" pitchFamily="18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569076"/>
              </p:ext>
            </p:extLst>
          </p:nvPr>
        </p:nvGraphicFramePr>
        <p:xfrm>
          <a:off x="1447800" y="4171018"/>
          <a:ext cx="6446109" cy="214264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98942">
                  <a:extLst>
                    <a:ext uri="{9D8B030D-6E8A-4147-A177-3AD203B41FA5}">
                      <a16:colId xmlns:a16="http://schemas.microsoft.com/office/drawing/2014/main" val="3449689791"/>
                    </a:ext>
                  </a:extLst>
                </a:gridCol>
                <a:gridCol w="1677164">
                  <a:extLst>
                    <a:ext uri="{9D8B030D-6E8A-4147-A177-3AD203B41FA5}">
                      <a16:colId xmlns:a16="http://schemas.microsoft.com/office/drawing/2014/main" val="2443800576"/>
                    </a:ext>
                  </a:extLst>
                </a:gridCol>
                <a:gridCol w="1587037">
                  <a:extLst>
                    <a:ext uri="{9D8B030D-6E8A-4147-A177-3AD203B41FA5}">
                      <a16:colId xmlns:a16="http://schemas.microsoft.com/office/drawing/2014/main" val="1711257944"/>
                    </a:ext>
                  </a:extLst>
                </a:gridCol>
                <a:gridCol w="1782966">
                  <a:extLst>
                    <a:ext uri="{9D8B030D-6E8A-4147-A177-3AD203B41FA5}">
                      <a16:colId xmlns:a16="http://schemas.microsoft.com/office/drawing/2014/main" val="3663234745"/>
                    </a:ext>
                  </a:extLst>
                </a:gridCol>
              </a:tblGrid>
              <a:tr h="43576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 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Addition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Unsigned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Signed Addition or Subtraction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384051248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Carry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-1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flag=0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true result &lt; 0 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 Carry flag=0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effectLst/>
                        </a:rPr>
                        <a:t>Borrow flag=1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296385424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Overflow flag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N/A</a:t>
                      </a:r>
                      <a:endParaRPr lang="en-US" sz="1400" b="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</a:rPr>
                        <a:t>true result &gt; 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  <a:r>
                        <a:rPr lang="en-US" sz="1400" b="0" dirty="0">
                          <a:effectLst/>
                        </a:rPr>
                        <a:t>-1 or true result &lt; -2</a:t>
                      </a:r>
                      <a:r>
                        <a:rPr lang="en-US" sz="1400" b="0" baseline="30000" dirty="0">
                          <a:effectLst/>
                        </a:rPr>
                        <a:t>n-1</a:t>
                      </a:r>
                    </a:p>
                    <a:p>
                      <a:pPr marL="285750" marR="0" indent="-28575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è"/>
                      </a:pPr>
                      <a:r>
                        <a:rPr lang="en-US" sz="1400" b="0" dirty="0">
                          <a:effectLst/>
                        </a:rPr>
                        <a:t>Overflow flag=1</a:t>
                      </a:r>
                    </a:p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None/>
                      </a:pPr>
                      <a:r>
                        <a:rPr kumimoji="0" lang="en-US" sz="1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(Result incorrect)</a:t>
                      </a:r>
                    </a:p>
                  </a:txBody>
                  <a:tcPr marL="51435" marR="51435" marT="0" marB="0"/>
                </a:tc>
                <a:extLst>
                  <a:ext uri="{0D108BD9-81ED-4DB2-BD59-A6C34878D82A}">
                    <a16:rowId xmlns:a16="http://schemas.microsoft.com/office/drawing/2014/main" val="1206363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14:cNvPr>
              <p14:cNvContentPartPr/>
              <p14:nvPr/>
            </p14:nvContentPartPr>
            <p14:xfrm>
              <a:off x="3641316" y="4901005"/>
              <a:ext cx="270" cy="27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2ACC35D-CF95-407F-B222-DF5A1F69BA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456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14:cNvPr>
              <p14:cNvContentPartPr/>
              <p14:nvPr/>
            </p14:nvContentPartPr>
            <p14:xfrm>
              <a:off x="4061706" y="4901005"/>
              <a:ext cx="270" cy="27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41399B7-0992-4159-AA56-A61464B0489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54956" y="4894255"/>
                <a:ext cx="13500" cy="135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3666F114-4345-426E-8C76-29F4A48D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96597"/>
            <a:ext cx="1981200" cy="27432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3" name="Horizontal Scroll 12">
            <a:extLst>
              <a:ext uri="{FF2B5EF4-FFF2-40B4-BE49-F238E27FC236}">
                <a16:creationId xmlns:a16="http://schemas.microsoft.com/office/drawing/2014/main" id="{D48C24B2-C142-576C-CE10-D9A6DF0F70B2}"/>
              </a:ext>
            </a:extLst>
          </p:cNvPr>
          <p:cNvSpPr/>
          <p:nvPr/>
        </p:nvSpPr>
        <p:spPr>
          <a:xfrm>
            <a:off x="76200" y="-19878"/>
            <a:ext cx="1265712" cy="762000"/>
          </a:xfrm>
          <a:prstGeom prst="horizontalScroll">
            <a:avLst/>
          </a:prstGeom>
          <a:gradFill rotWithShape="1">
            <a:gsLst>
              <a:gs pos="0">
                <a:srgbClr val="4F81BD">
                  <a:tint val="50000"/>
                  <a:satMod val="300000"/>
                </a:srgbClr>
              </a:gs>
              <a:gs pos="35000">
                <a:srgbClr val="4F81BD">
                  <a:tint val="37000"/>
                  <a:satMod val="300000"/>
                </a:srgbClr>
              </a:gs>
              <a:gs pos="100000">
                <a:srgbClr val="4F81BD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Review</a:t>
            </a:r>
          </a:p>
        </p:txBody>
      </p:sp>
    </p:spTree>
    <p:extLst>
      <p:ext uri="{BB962C8B-B14F-4D97-AF65-F5344CB8AC3E}">
        <p14:creationId xmlns:p14="http://schemas.microsoft.com/office/powerpoint/2010/main" val="353187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372BA-4E36-5939-EA5D-65E91EDB3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2DE8FE-731E-0AC7-29AB-17D9745E1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BB9D86-D583-CABE-4B85-A5314A655FC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 after each instruction</a:t>
            </a:r>
          </a:p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622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CCDD-F534-1679-8F38-7DE37BF40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6104-88B9-F7DD-C7CF-BD3C5A8DDA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EFCD-466A-CEA5-3D17-4D6AE9916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07159-9E90-34FC-FD37-707ADD2978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3505200" cy="4557932"/>
          </a:xfrm>
        </p:spPr>
        <p:txBody>
          <a:bodyPr>
            <a:normAutofit/>
          </a:bodyPr>
          <a:lstStyle/>
          <a:p>
            <a:r>
              <a:rPr lang="pt-BR" dirty="0"/>
              <a:t>MOV R0, #0xABC</a:t>
            </a:r>
          </a:p>
          <a:p>
            <a:r>
              <a:rPr lang="pt-BR" dirty="0"/>
              <a:t>MOV R1, #0xDEF</a:t>
            </a:r>
          </a:p>
          <a:p>
            <a:r>
              <a:rPr lang="pt-BR" dirty="0"/>
              <a:t>AND R2, R0, R1</a:t>
            </a:r>
          </a:p>
          <a:p>
            <a:r>
              <a:rPr lang="pt-BR" dirty="0"/>
              <a:t>ORR R3, R0, R1</a:t>
            </a:r>
          </a:p>
          <a:p>
            <a:r>
              <a:rPr lang="pt-BR" dirty="0"/>
              <a:t>EOR R4, R0, R1</a:t>
            </a:r>
          </a:p>
          <a:p>
            <a:r>
              <a:rPr lang="pt-BR" dirty="0"/>
              <a:t>ORN R5, R0, R1</a:t>
            </a:r>
          </a:p>
          <a:p>
            <a:r>
              <a:rPr lang="pt-BR" dirty="0"/>
              <a:t>BIC r6, R0, R1</a:t>
            </a:r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62F52E9-C913-0809-7AFE-FB9B6517BE16}"/>
              </a:ext>
            </a:extLst>
          </p:cNvPr>
          <p:cNvSpPr txBox="1">
            <a:spLocks/>
          </p:cNvSpPr>
          <p:nvPr/>
        </p:nvSpPr>
        <p:spPr>
          <a:xfrm>
            <a:off x="4038600" y="1219200"/>
            <a:ext cx="4572000" cy="3657600"/>
          </a:xfrm>
          <a:prstGeom prst="rect">
            <a:avLst/>
          </a:prstGeom>
        </p:spPr>
        <p:txBody>
          <a:bodyPr vert="horz">
            <a:normAutofit fontScale="92500" lnSpcReduction="2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R0 = 0x0ABC</a:t>
            </a:r>
          </a:p>
          <a:p>
            <a:r>
              <a:rPr lang="pt-BR" dirty="0"/>
              <a:t>R1 = 0x0DEF</a:t>
            </a:r>
          </a:p>
          <a:p>
            <a:r>
              <a:rPr lang="pt-BR" dirty="0"/>
              <a:t>R2 = R0 AND R1 = 0x08AC</a:t>
            </a:r>
          </a:p>
          <a:p>
            <a:r>
              <a:rPr lang="pt-BR" dirty="0"/>
              <a:t>R3 = R0 ORR R1 = 0x0FFF</a:t>
            </a:r>
          </a:p>
          <a:p>
            <a:r>
              <a:rPr lang="pt-BR" dirty="0"/>
              <a:t>R4 = R0 EOR R1 = 0x0753</a:t>
            </a:r>
          </a:p>
          <a:p>
            <a:r>
              <a:rPr lang="pt-BR" dirty="0"/>
              <a:t>R5 = R0 ORN R1 = R0 | (~R1) = 0x00000ABC | 0xFFFFF210 = 0xFFFFFABC</a:t>
            </a:r>
          </a:p>
          <a:p>
            <a:r>
              <a:rPr lang="pt-BR" dirty="0"/>
              <a:t>r6 = r0 BIC R1 = R0 &amp; (~R1) = 0x00000ABC &amp; 0xFFFFF210 = 0x00000210</a:t>
            </a:r>
            <a:endParaRPr lang="en-US" dirty="0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362AD7A-A16D-A5D7-1F8E-3C4D2AEFE54C}"/>
              </a:ext>
            </a:extLst>
          </p:cNvPr>
          <p:cNvSpPr txBox="1">
            <a:spLocks/>
          </p:cNvSpPr>
          <p:nvPr/>
        </p:nvSpPr>
        <p:spPr bwMode="auto">
          <a:xfrm>
            <a:off x="1603248" y="4724400"/>
            <a:ext cx="6285109" cy="1828800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>
            <a:lvl1pPr marL="285750" indent="-2857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400">
                <a:solidFill>
                  <a:schemeClr val="tx1"/>
                </a:solidFill>
                <a:latin typeface="Gill Sans" charset="0"/>
                <a:ea typeface="ＭＳ Ｐゴシック" charset="0"/>
                <a:cs typeface="Gill Sans" charset="0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2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»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3pPr>
            <a:lvl4pPr marL="1543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•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4pPr>
            <a:lvl5pPr marL="20002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>
                <a:solidFill>
                  <a:schemeClr val="tx1"/>
                </a:solidFill>
                <a:latin typeface="Gill Sans" charset="0"/>
                <a:ea typeface="Gill Sans" charset="0"/>
                <a:cs typeface="Gill Sans" charset="0"/>
              </a:defRPr>
            </a:lvl5pPr>
            <a:lvl6pPr marL="24574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6pPr>
            <a:lvl7pPr marL="29146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7pPr>
            <a:lvl8pPr marL="33718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8pPr>
            <a:lvl9pPr marL="3829050" indent="-171450" algn="l" rtl="0" eaLnBrk="0" fontAlgn="base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SzPct val="100000"/>
              <a:buChar char="–"/>
              <a:defRPr sz="20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None/>
            </a:pPr>
            <a:r>
              <a:rPr lang="en-US" sz="1600" dirty="0"/>
              <a:t>AND Rn Operand2 performs bitwise conjunction on Rn and Operand2.</a:t>
            </a:r>
          </a:p>
          <a:p>
            <a:pPr marL="0" indent="0">
              <a:buNone/>
            </a:pPr>
            <a:r>
              <a:rPr lang="en-US" sz="1600" dirty="0"/>
              <a:t>ORR performs bitwise OR on Rn and Operand2.</a:t>
            </a:r>
          </a:p>
          <a:p>
            <a:pPr marL="0" indent="0">
              <a:buNone/>
            </a:pPr>
            <a:r>
              <a:rPr lang="en-US" sz="1600" dirty="0"/>
              <a:t>EOR performs bitwise XOR on Rn and Operand2.</a:t>
            </a:r>
          </a:p>
          <a:p>
            <a:pPr marL="0" indent="0">
              <a:buNone/>
            </a:pPr>
            <a:r>
              <a:rPr lang="en-US" sz="1600" dirty="0"/>
              <a:t>ORN computes Rn OR NOT Operand2, i.e., Rn | (~Rm). </a:t>
            </a:r>
          </a:p>
          <a:p>
            <a:pPr marL="0" indent="0">
              <a:buNone/>
            </a:pPr>
            <a:r>
              <a:rPr lang="en-US" sz="1600" dirty="0"/>
              <a:t>BIC computes Rn AND NOT Operand2, i.e., Rn &amp; (~Rm).</a:t>
            </a:r>
          </a:p>
          <a:p>
            <a:pPr marL="0" indent="0">
              <a:buNone/>
            </a:pPr>
            <a:r>
              <a:rPr lang="en-US" sz="1600" dirty="0"/>
              <a:t>(Hint: convert hex to binary, perform operation, and convert back to hex.)</a:t>
            </a:r>
          </a:p>
        </p:txBody>
      </p:sp>
    </p:spTree>
    <p:extLst>
      <p:ext uri="{BB962C8B-B14F-4D97-AF65-F5344CB8AC3E}">
        <p14:creationId xmlns:p14="http://schemas.microsoft.com/office/powerpoint/2010/main" val="319879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28AA0-0F84-7DF4-92EB-BAB974776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0E95F9-96B3-6E8B-DE8A-BBFC8F51F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B60A19-0F6C-A6C2-28CD-C5006FC4799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</p:txBody>
      </p:sp>
    </p:spTree>
    <p:extLst>
      <p:ext uri="{BB962C8B-B14F-4D97-AF65-F5344CB8AC3E}">
        <p14:creationId xmlns:p14="http://schemas.microsoft.com/office/powerpoint/2010/main" val="3231632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2D76F-A387-28AA-7D80-1357E328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6AA65-B209-1287-7606-ED7A0C245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 Manipulations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605C08-0E9F-A61E-3D89-FD0DE9CFB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C0D2-DA1A-E3F6-EAF4-BA1DF53BEE9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Find the Register Value to Complement, CLEAR &amp; SET 5th, 7th, 12th bit of the given value and also find the result: 0xDECB.</a:t>
            </a:r>
          </a:p>
          <a:p>
            <a:r>
              <a:rPr lang="en-US" dirty="0"/>
              <a:t>ANS: </a:t>
            </a:r>
          </a:p>
          <a:p>
            <a:r>
              <a:rPr lang="en-US" dirty="0"/>
              <a:t>Set/Clear/Complement</a:t>
            </a:r>
          </a:p>
          <a:p>
            <a:pPr lvl="1"/>
            <a:r>
              <a:rPr lang="en-US" dirty="0"/>
              <a:t>Set a bit: x |= mask, which forces those bit positions to 1 without changing others. (| is OR)</a:t>
            </a:r>
          </a:p>
          <a:p>
            <a:pPr lvl="1"/>
            <a:r>
              <a:rPr lang="en-US" dirty="0"/>
              <a:t>Clear a bit: x &amp;= ~mask, which forces those bit positions to 0. (&amp; is AND)</a:t>
            </a:r>
          </a:p>
          <a:p>
            <a:pPr lvl="1"/>
            <a:r>
              <a:rPr lang="en-US" dirty="0"/>
              <a:t>Complement (toggle) a bit: x ^= mask, which flips those bit positions. (^ is XOR)</a:t>
            </a:r>
          </a:p>
          <a:p>
            <a:r>
              <a:rPr lang="en-US" dirty="0"/>
              <a:t>Masks for 5th, 7th, 12th</a:t>
            </a:r>
          </a:p>
          <a:p>
            <a:pPr lvl="1"/>
            <a:r>
              <a:rPr lang="en-US" dirty="0"/>
              <a:t>Bit 5 → 1&lt;&lt;5 = 0x20.</a:t>
            </a:r>
          </a:p>
          <a:p>
            <a:pPr lvl="1"/>
            <a:r>
              <a:rPr lang="en-US" dirty="0"/>
              <a:t>Bit 7 → 1&lt;&lt;7 = 0x80.</a:t>
            </a:r>
          </a:p>
          <a:p>
            <a:pPr lvl="1"/>
            <a:r>
              <a:rPr lang="en-US" dirty="0"/>
              <a:t>Bit 12 → 1&lt;&lt;12 = 0x1000.</a:t>
            </a:r>
          </a:p>
          <a:p>
            <a:r>
              <a:rPr lang="en-US" dirty="0"/>
              <a:t>Combined mask = 0x1000 | 0x80 | 0x20 = 0x10A0 = 0b0001 0000 1010 0000 </a:t>
            </a:r>
          </a:p>
          <a:p>
            <a:r>
              <a:rPr lang="en-US" dirty="0"/>
              <a:t>Apply to 0xDECB</a:t>
            </a:r>
          </a:p>
          <a:p>
            <a:pPr lvl="1"/>
            <a:r>
              <a:rPr lang="en-US" dirty="0"/>
              <a:t>Set: 0xDECB | 0x10A0 = 0xDEEB. </a:t>
            </a:r>
          </a:p>
          <a:p>
            <a:pPr lvl="1"/>
            <a:r>
              <a:rPr lang="en-US" dirty="0"/>
              <a:t>Clear: 0xDECB &amp; ~0x10A0 = 0xCE4B.</a:t>
            </a:r>
          </a:p>
          <a:p>
            <a:pPr lvl="1"/>
            <a:r>
              <a:rPr lang="en-US" dirty="0"/>
              <a:t>Complement: 0xDECB ^ 0x10A0 = 0xCE6B</a:t>
            </a:r>
          </a:p>
        </p:txBody>
      </p:sp>
    </p:spTree>
    <p:extLst>
      <p:ext uri="{BB962C8B-B14F-4D97-AF65-F5344CB8AC3E}">
        <p14:creationId xmlns:p14="http://schemas.microsoft.com/office/powerpoint/2010/main" val="3001218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8574D-6CB2-432B-DAD7-C3017391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D246E-9C61-6404-3827-3323EB63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3E4A31-F545-9835-7A37-FDD37464641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28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5DEE3-999D-1EAF-5DC2-A8F08CED2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89A8F-E6AE-D7A6-6FBF-16368A2F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Clearing a Register ANS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E8CD8A-0816-D45A-B3F1-5B558F321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9501F-592C-5813-E379-F3D65F5F6FE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are the different ways by which all bits in register r12 can be cleared? No other register is to be used.</a:t>
            </a:r>
          </a:p>
          <a:p>
            <a:r>
              <a:rPr lang="en-US" dirty="0"/>
              <a:t>Method 1: XOR with itself</a:t>
            </a:r>
          </a:p>
          <a:p>
            <a:pPr lvl="1"/>
            <a:r>
              <a:rPr lang="en-US" dirty="0"/>
              <a:t>EOR r12, r12, r12</a:t>
            </a:r>
          </a:p>
          <a:p>
            <a:r>
              <a:rPr lang="en-US" dirty="0"/>
              <a:t>Method 2: AND with zero</a:t>
            </a:r>
          </a:p>
          <a:p>
            <a:pPr lvl="1"/>
            <a:r>
              <a:rPr lang="en-US" dirty="0"/>
              <a:t>AND r12, r12, #0</a:t>
            </a:r>
          </a:p>
          <a:p>
            <a:r>
              <a:rPr lang="en-US" dirty="0"/>
              <a:t>Method 3: Move zero</a:t>
            </a:r>
          </a:p>
          <a:p>
            <a:pPr lvl="1"/>
            <a:r>
              <a:rPr lang="en-US" dirty="0"/>
              <a:t>MOV r12, #0</a:t>
            </a:r>
          </a:p>
          <a:p>
            <a:r>
              <a:rPr lang="en-US" dirty="0"/>
              <a:t>Method 4: Subtract from itself</a:t>
            </a:r>
          </a:p>
          <a:p>
            <a:pPr lvl="1"/>
            <a:r>
              <a:rPr lang="en-US" dirty="0"/>
              <a:t>SUB r12, r12, r12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485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2185E-E5D0-53FE-9025-6E1E1F544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1E9D1-8834-4A04-E3FB-A8A89293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AF3843-F3F6-8D87-7E25-5C354332C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0617DE-1F04-17A2-9FAA-2F9FDE23E530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</p:txBody>
      </p:sp>
    </p:spTree>
    <p:extLst>
      <p:ext uri="{BB962C8B-B14F-4D97-AF65-F5344CB8AC3E}">
        <p14:creationId xmlns:p14="http://schemas.microsoft.com/office/powerpoint/2010/main" val="19747973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BA9A8-82E2-4F95-D8FB-0D4CE486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 bits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3A293A-4DA6-4704-C03F-18E36CC36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630C7-7636-313D-8356-C87C2A00863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an instruction that sets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ORR r6, r6, #(1&lt;&lt;0) | (1&lt;&lt;4) | (1&lt;&lt;12)</a:t>
            </a:r>
          </a:p>
          <a:p>
            <a:r>
              <a:rPr lang="en-US" dirty="0"/>
              <a:t>Write an instruction that clears bits 0, 4, and 12 in register r6 and leave the remaining bits unchanged</a:t>
            </a:r>
          </a:p>
          <a:p>
            <a:r>
              <a:rPr lang="en-US" dirty="0"/>
              <a:t>ANS:</a:t>
            </a:r>
          </a:p>
          <a:p>
            <a:pPr lvl="1"/>
            <a:r>
              <a:rPr lang="pt-BR" dirty="0"/>
              <a:t>BIC r6, r6, #(1&lt;&lt;0) | (1&lt;&lt;4) | (1&lt;&lt;12)</a:t>
            </a:r>
          </a:p>
          <a:p>
            <a:pPr lvl="1"/>
            <a:r>
              <a:rPr lang="pt-BR" dirty="0"/>
              <a:t>Or: AND r6, r6, #~( (1&lt;&lt;0) | (1&lt;&lt;4) | (1&lt;&lt;12) 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8569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74415-1D59-D54C-AAA5-43110D422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5474F-F6FD-D4BC-236C-33597AE29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6E68F60-170B-C439-5529-D4FFE3833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B9F09-071E-CC84-8518-D0A895AF267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</a:t>
            </a:r>
            <a:r>
              <a:rPr lang="en-US"/>
              <a:t>r3.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59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2A67-D3E0-8D9E-1017-79B664244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two 128-bit numbers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DED093-E954-3579-9417-B11C86F71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2B818-9E8A-D4F7-35C5-0DE946EE80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Add two 128-bit numbers, assuming one number is stored in r4, r5, r6, r7 registers and the other stored in r8, r9, r10, r11. Store the result in r0, r1, r2, r3.</a:t>
            </a:r>
          </a:p>
          <a:p>
            <a:r>
              <a:rPr lang="en-US" dirty="0"/>
              <a:t>ANS: </a:t>
            </a:r>
          </a:p>
          <a:p>
            <a:pPr lvl="1"/>
            <a:r>
              <a:rPr lang="pt-BR" dirty="0"/>
              <a:t>@ Add 128-bit numbers (r4,r5,r6,r7) + (r8,r9,r10,r11) = (r0,r1,r2,r3)</a:t>
            </a:r>
          </a:p>
          <a:p>
            <a:pPr lvl="1"/>
            <a:r>
              <a:rPr lang="pt-BR" dirty="0"/>
              <a:t>ADDS r0, r4, r8     @ Add lowest 32 bits with carry flag update</a:t>
            </a:r>
          </a:p>
          <a:p>
            <a:pPr lvl="1"/>
            <a:r>
              <a:rPr lang="pt-BR" dirty="0"/>
              <a:t>ADCS r1, r5, r9     @ Add with carry</a:t>
            </a:r>
          </a:p>
          <a:p>
            <a:pPr lvl="1"/>
            <a:r>
              <a:rPr lang="pt-BR" dirty="0"/>
              <a:t>ADCS r2, r6, r10    @ Add with carry</a:t>
            </a:r>
          </a:p>
          <a:p>
            <a:pPr lvl="1"/>
            <a:r>
              <a:rPr lang="pt-BR" dirty="0"/>
              <a:t>ADC r3, r7, r11     @ Add with carry (final)</a:t>
            </a:r>
          </a:p>
          <a:p>
            <a:pPr lvl="2"/>
            <a:r>
              <a:rPr lang="pt-BR" dirty="0"/>
              <a:t>Or ADCS r3, r7, r11, but the flags are not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42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FA36-801E-6E7F-57F4-2BD21817F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6F1F3-3211-DD87-BF7B-B9BC7FFCB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C864E1-964B-A3AB-442A-DD3628D6986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</p:txBody>
      </p:sp>
    </p:spTree>
    <p:extLst>
      <p:ext uri="{BB962C8B-B14F-4D97-AF65-F5344CB8AC3E}">
        <p14:creationId xmlns:p14="http://schemas.microsoft.com/office/powerpoint/2010/main" val="42131286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5A481-55B1-F5F7-6B58-52A41CE62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EADC-BA4A-4303-25AD-FB3AC0C91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</a:t>
            </a:r>
            <a:r>
              <a:rPr lang="en-US" dirty="0"/>
              <a:t>bsolute value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9E0ED-F752-B243-A066-B0DE70884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646EEC-0834-DAC4-3147-4F3D501AA71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to calculate the absolute value of a number by using only two instructions (HINT: Check CMP and RSB)</a:t>
            </a:r>
          </a:p>
          <a:p>
            <a:r>
              <a:rPr lang="en-US" dirty="0"/>
              <a:t>ANS</a:t>
            </a:r>
          </a:p>
          <a:p>
            <a:pPr lvl="1"/>
            <a:r>
              <a:rPr lang="pt-BR" dirty="0"/>
              <a:t>CMP r0, #0      @ Compare with zero</a:t>
            </a:r>
          </a:p>
          <a:p>
            <a:pPr lvl="1"/>
            <a:r>
              <a:rPr lang="pt-BR" dirty="0"/>
              <a:t>RSBLT r0, r0, #0 @ If less than zero, r0 = 0 - r0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398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FB880-04B3-ECE3-3ABD-F3356701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with Shifts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14B1B2-C5F4-2713-F5B6-3B26A2BAA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7521E-4543-F7E4-701C-9D4CAFA526F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Assuming 32-bit registers:</a:t>
            </a:r>
          </a:p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#2</a:t>
            </a:r>
          </a:p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9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E3F0F-A7BA-9DDA-1E58-F95F1967C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CD60A-F4CC-C593-9C3D-32E1A059F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Q1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57A4F2-6A40-EE02-A589-CB00C69DC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5C410-5B5B-9673-EACF-102D341F62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Q1: 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LSL #7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LSL 7, r0 = 0000 0000 0000 0000 0000 0011 1000 0000 = </a:t>
            </a:r>
            <a:r>
              <a:rPr lang="pt-BR" dirty="0"/>
              <a:t>0x00000380 (896 in decimal)</a:t>
            </a:r>
          </a:p>
          <a:p>
            <a:pPr lvl="1"/>
            <a:r>
              <a:rPr lang="en-US" dirty="0"/>
              <a:t>In decimal: 7 × 2^7 = 7 × 128 = 896 (Not required for exam)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963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3F67D-B45B-2717-6385-5EB8F1161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FDE60-E213-C841-CE66-6B08D43F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Q2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DCD85D-5330-5C16-C4BD-607AE265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07637E-01BA-8126-601A-84479B0807A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Q2:</a:t>
            </a:r>
          </a:p>
          <a:p>
            <a:pPr lvl="1"/>
            <a:r>
              <a:rPr lang="pt-BR" dirty="0"/>
              <a:t>LDR r0, =0x00000400</a:t>
            </a:r>
          </a:p>
          <a:p>
            <a:pPr lvl="1"/>
            <a:r>
              <a:rPr lang="pt-BR" dirty="0"/>
              <a:t>MOV r0, r0, LSR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0100 0000 0000</a:t>
            </a:r>
          </a:p>
          <a:p>
            <a:pPr lvl="1"/>
            <a:r>
              <a:rPr lang="en-US" dirty="0"/>
              <a:t>After LSR 2, r0 = 0000 0000 0000 0000 0000 0001 0000 0000 = 0x00000100 (256 in decimal)</a:t>
            </a:r>
          </a:p>
          <a:p>
            <a:pPr lvl="1"/>
            <a:r>
              <a:rPr lang="en-US" dirty="0"/>
              <a:t>In decimal: 1024 ÷ 2² = 256 (Not required for exam)</a:t>
            </a:r>
          </a:p>
        </p:txBody>
      </p:sp>
    </p:spTree>
    <p:extLst>
      <p:ext uri="{BB962C8B-B14F-4D97-AF65-F5344CB8AC3E}">
        <p14:creationId xmlns:p14="http://schemas.microsoft.com/office/powerpoint/2010/main" val="23508032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DC036-2869-0E69-8B9A-E1933A631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1DD10A-EF4D-96C9-153C-371D4E6CD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B0DF07-A9DB-A45E-E865-E3DA1A2E9A1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Q3: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LSR #2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1100 0000 0000 0000</a:t>
            </a:r>
          </a:p>
          <a:p>
            <a:pPr lvl="1"/>
            <a:r>
              <a:rPr lang="en-US" dirty="0"/>
              <a:t>After LSR 2, r0 = </a:t>
            </a:r>
            <a:r>
              <a:rPr lang="en-US" dirty="0">
                <a:solidFill>
                  <a:srgbClr val="FF0000"/>
                </a:solidFill>
              </a:rPr>
              <a:t>00</a:t>
            </a:r>
            <a:r>
              <a:rPr lang="en-US" dirty="0"/>
              <a:t>11 1111 1111 1111 1111 0000 0000 0000 = 0x3FFFF000</a:t>
            </a:r>
          </a:p>
          <a:p>
            <a:pPr lvl="1"/>
            <a:r>
              <a:rPr lang="en-US" dirty="0"/>
              <a:t>In decimal: 4,294,950,912 ÷ 4 = 1,073,737,728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333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780EF-5EA1-3126-9F72-DBC3BB5CA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28A9-784B-2788-2972-41B5BBF9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B4A7CFC-639E-5CD7-AD17-ED109B732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53D22-7664-ED5A-1A06-11937BAAD832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Q4:</a:t>
            </a:r>
          </a:p>
          <a:p>
            <a:pPr lvl="1"/>
            <a:r>
              <a:rPr lang="pt-BR" dirty="0"/>
              <a:t>LDR r0, =</a:t>
            </a:r>
            <a:r>
              <a:rPr lang="en-US" dirty="0"/>
              <a:t>0xFFFFC000</a:t>
            </a:r>
          </a:p>
          <a:p>
            <a:pPr lvl="1"/>
            <a:r>
              <a:rPr lang="pt-BR" dirty="0"/>
              <a:t>MOV r0, r0, ASR #2</a:t>
            </a:r>
            <a:endParaRPr lang="en-US" dirty="0"/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1111 1111 1111 1111 1100 0000 0000 0000</a:t>
            </a:r>
          </a:p>
          <a:p>
            <a:pPr lvl="1"/>
            <a:r>
              <a:rPr lang="en-US" dirty="0"/>
              <a:t>After ASR 2, r0 = </a:t>
            </a:r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11 1111 1111 1111 1111 0000 0000 0000 = 0xFFFFF000 (-4096 in decimal)</a:t>
            </a:r>
          </a:p>
          <a:p>
            <a:pPr lvl="1"/>
            <a:r>
              <a:rPr lang="en-US" dirty="0"/>
              <a:t>In decimal: -16384 ÷ 2² = -4096 (Not required for exam)</a:t>
            </a:r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44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94F7E-B72B-03F3-82BC-5ADF55A6D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Q5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5F2938-6A94-824D-979C-92A72D7A5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D7C57D-5681-1E7F-C90E-C2A6E62DD3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Q5:</a:t>
            </a:r>
          </a:p>
          <a:p>
            <a:pPr lvl="1"/>
            <a:r>
              <a:rPr lang="pt-BR" dirty="0"/>
              <a:t>LDR r0, =0x00000007</a:t>
            </a:r>
          </a:p>
          <a:p>
            <a:pPr lvl="1"/>
            <a:r>
              <a:rPr lang="pt-BR" dirty="0"/>
              <a:t>MOV r0, r0, ROR #2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Original r0 = 0000 0000 0000 0000 0000 0000 0000 0111</a:t>
            </a:r>
          </a:p>
          <a:p>
            <a:pPr lvl="1"/>
            <a:r>
              <a:rPr lang="en-US" dirty="0"/>
              <a:t>After ROR r0 = 1100 0000 0000 0000 0000 0000 0000 0001 = 0xC0000001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2168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933DF-9610-809C-11B2-6E559AD6F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1F047-7DC1-1269-97CA-1BFB3E38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5194D1-447C-6A4E-281D-DAB9A59A84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</p:txBody>
      </p:sp>
    </p:spTree>
    <p:extLst>
      <p:ext uri="{BB962C8B-B14F-4D97-AF65-F5344CB8AC3E}">
        <p14:creationId xmlns:p14="http://schemas.microsoft.com/office/powerpoint/2010/main" val="10874811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45031-374F-3949-2E75-E92EE2E13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Assembly Programming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5611C0-FFA9-1E42-0C9B-E1F57360A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3D2E6-2CBC-36E7-D723-501E1827F8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ARMv7 assembly for pseudocode</a:t>
            </a:r>
          </a:p>
          <a:p>
            <a:pPr lvl="1"/>
            <a:r>
              <a:rPr lang="en-US" dirty="0"/>
              <a:t>r1 = (r0 &gt;&gt; 4) &amp; 15</a:t>
            </a:r>
          </a:p>
          <a:p>
            <a:r>
              <a:rPr lang="pt-BR"/>
              <a:t>ANS:</a:t>
            </a:r>
          </a:p>
          <a:p>
            <a:pPr lvl="1"/>
            <a:r>
              <a:rPr lang="pt-BR" dirty="0"/>
              <a:t>MOV r1, r0, LSR #4</a:t>
            </a:r>
          </a:p>
          <a:p>
            <a:pPr lvl="1"/>
            <a:r>
              <a:rPr lang="pt-BR" dirty="0"/>
              <a:t>AND r1, r1, #15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3343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A276C-A661-6DC1-DE38-563A3E2C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C51E37-E0A0-F2D9-EFE6-91A91F495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AEC62D-8983-5B00-CA77-5B8D7EF4098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pPr lvl="1"/>
            <a:r>
              <a:rPr lang="en-US" dirty="0"/>
              <a:t>MOV R5, R1, LSL #6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9289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FBB5F-8CF5-FEDE-3113-D15C58A40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0BD31-36DB-8B14-43C7-875373D2B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AE66FCC-3D4C-1AF2-16FA-EB082CA01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05CE6-6347-A24A-DCDF-0579A282CE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257800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LSL #4</a:t>
            </a:r>
          </a:p>
          <a:p>
            <a:pPr lvl="1"/>
            <a:r>
              <a:rPr lang="pt-BR" dirty="0"/>
              <a:t>MOV R3, R1, LSL #8</a:t>
            </a:r>
          </a:p>
          <a:p>
            <a:pPr lvl="1"/>
            <a:r>
              <a:rPr lang="pt-BR" dirty="0"/>
              <a:t>MOV R4, R1, LSL 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 dirty="0"/>
              <a:t>MOV R2, R1, LSL #4 performs a logical left shift of R1 by 4 bits, inserting zeros; 0x11223344 &lt;&lt; 4 = 0x12233440.</a:t>
            </a:r>
          </a:p>
          <a:p>
            <a:pPr lvl="1"/>
            <a:r>
              <a:rPr lang="en-US" dirty="0"/>
              <a:t>MOV R3, R1, LSL #8 shifts by 8 bits; 0x11223344 &lt;&lt; 8 = 0x22334400.</a:t>
            </a:r>
          </a:p>
          <a:p>
            <a:pPr lvl="1"/>
            <a:r>
              <a:rPr lang="en-US" dirty="0"/>
              <a:t>MOV R4, R1, LSL #16 shifts by 16 bits; 0x11223344 &lt;&lt; 16 = 0x33440000.</a:t>
            </a:r>
          </a:p>
          <a:p>
            <a:pPr lvl="1"/>
            <a:r>
              <a:rPr lang="en-US" dirty="0"/>
              <a:t>MOV R5, R1, LSL 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9116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70120-AA85-2F0A-CC9A-66A79F09B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8795C-148F-094D-80F5-1264C3578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LSLS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9452F-FC85-2CA2-05E2-EE443BFF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69AB0-22FC-BE38-C5AA-9F8E6ECA54D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502910"/>
          </a:xfrm>
        </p:spPr>
        <p:txBody>
          <a:bodyPr>
            <a:normAutofit fontScale="92500" lnSpcReduction="20000"/>
          </a:bodyPr>
          <a:lstStyle/>
          <a:p>
            <a:r>
              <a:rPr lang="pt-BR"/>
              <a:t>Compute register values, and</a:t>
            </a:r>
            <a:r>
              <a:rPr lang="en-US" dirty="0"/>
              <a:t> </a:t>
            </a:r>
            <a:r>
              <a:rPr lang="en-US"/>
              <a:t>NZCV flags after execution of each instruction, assuming all flags are initially 0</a:t>
            </a:r>
            <a:r>
              <a:rPr lang="pt-BR"/>
              <a:t>:</a:t>
            </a:r>
            <a:endParaRPr lang="pt-BR" dirty="0"/>
          </a:p>
          <a:p>
            <a:pPr lvl="1"/>
            <a:r>
              <a:rPr lang="pt-BR"/>
              <a:t>LDR R1, =0x11223344</a:t>
            </a:r>
            <a:endParaRPr lang="pt-BR" dirty="0"/>
          </a:p>
          <a:p>
            <a:pPr lvl="1"/>
            <a:r>
              <a:rPr lang="pt-BR"/>
              <a:t>MOVS R2, R1, LSL </a:t>
            </a:r>
            <a:r>
              <a:rPr lang="pt-BR" dirty="0"/>
              <a:t>#4</a:t>
            </a:r>
          </a:p>
          <a:p>
            <a:pPr lvl="1"/>
            <a:r>
              <a:rPr lang="pt-BR"/>
              <a:t>MOVS R3, R1, LSL </a:t>
            </a:r>
            <a:r>
              <a:rPr lang="pt-BR" dirty="0"/>
              <a:t>#8</a:t>
            </a:r>
          </a:p>
          <a:p>
            <a:pPr lvl="1"/>
            <a:r>
              <a:rPr lang="pt-BR"/>
              <a:t>MOVS R4, R1, LSL </a:t>
            </a:r>
            <a:r>
              <a:rPr lang="pt-BR" dirty="0"/>
              <a:t>#16</a:t>
            </a:r>
          </a:p>
          <a:p>
            <a:r>
              <a:rPr lang="pt-BR" dirty="0"/>
              <a:t>ANS: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en-US" dirty="0"/>
              <a:t>LSL performs a logical left shift of Rm by the immediate count and writes the result to Rd, zero-filling low bits and discarding overflow in 32-bit registers</a:t>
            </a:r>
          </a:p>
          <a:p>
            <a:pPr lvl="1"/>
            <a:r>
              <a:rPr lang="en-US"/>
              <a:t>MOVS R2, R1, LSL </a:t>
            </a:r>
            <a:r>
              <a:rPr lang="en-US" dirty="0"/>
              <a:t>#4 performs a logical left </a:t>
            </a:r>
            <a:r>
              <a:rPr lang="en-US"/>
              <a:t>shift of R1 by 4 bits, inserting zeros; 0x11223344 &lt;&lt; 4 = 0x12233440.</a:t>
            </a:r>
            <a:r>
              <a:rPr lang="en-US" dirty="0"/>
              <a:t> </a:t>
            </a:r>
          </a:p>
          <a:p>
            <a:pPr lvl="2"/>
            <a:r>
              <a:rPr lang="en-US"/>
              <a:t>NZCV = 0010 (Carry is 1 since last bit shifted out was 1)</a:t>
            </a:r>
            <a:endParaRPr lang="en-US" dirty="0"/>
          </a:p>
          <a:p>
            <a:pPr lvl="1"/>
            <a:r>
              <a:rPr lang="en-US"/>
              <a:t>MOVS R5, R1, LSL </a:t>
            </a:r>
            <a:r>
              <a:rPr lang="en-US" dirty="0"/>
              <a:t>#6 shifts by 6 bits; 0x11223344 &lt;&lt; 6 = 0x488CD100. (convert to binary and back)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107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06A51-A439-F103-49BD-FDEA556B4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52DBC-650F-2FD6-D799-9D9632A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LSR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991C5B6-51F3-7333-86A4-FA1F1955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6A0C6-9296-BA88-C598-6B260416FC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6388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Compute register values:</a:t>
            </a:r>
          </a:p>
          <a:p>
            <a:pPr lvl="1"/>
            <a:r>
              <a:rPr lang="pt-BR" dirty="0"/>
              <a:t>LDR R1, =0X11223344</a:t>
            </a:r>
          </a:p>
          <a:p>
            <a:pPr lvl="1"/>
            <a:r>
              <a:rPr lang="pt-BR" dirty="0"/>
              <a:t>MOV R2, R1, LSR #4</a:t>
            </a:r>
          </a:p>
          <a:p>
            <a:pPr lvl="1"/>
            <a:r>
              <a:rPr lang="pt-BR" dirty="0"/>
              <a:t>MOV R3, R1, LSR #8</a:t>
            </a:r>
          </a:p>
          <a:p>
            <a:pPr lvl="1"/>
            <a:r>
              <a:rPr lang="pt-BR" dirty="0"/>
              <a:t>MOV R4, R1, LSR #16</a:t>
            </a:r>
          </a:p>
          <a:p>
            <a:pPr lvl="1"/>
            <a:r>
              <a:rPr lang="pt-BR" dirty="0"/>
              <a:t>MOV R5, R1, </a:t>
            </a:r>
            <a:r>
              <a:rPr lang="en-US" altLang="zh-CN" dirty="0"/>
              <a:t>A</a:t>
            </a:r>
            <a:r>
              <a:rPr lang="pt-BR" dirty="0"/>
              <a:t>SR #4</a:t>
            </a:r>
          </a:p>
          <a:p>
            <a:pPr lvl="1"/>
            <a:r>
              <a:rPr lang="pt-BR" dirty="0"/>
              <a:t>MOV R6, R1, ASR #8</a:t>
            </a:r>
          </a:p>
          <a:p>
            <a:pPr lvl="1"/>
            <a:r>
              <a:rPr lang="pt-BR" dirty="0"/>
              <a:t>MOV R7, R1, ASR #16</a:t>
            </a:r>
          </a:p>
          <a:p>
            <a:r>
              <a:rPr lang="pt-BR" dirty="0"/>
              <a:t>ANS: </a:t>
            </a:r>
          </a:p>
          <a:p>
            <a:pPr lvl="1"/>
            <a:r>
              <a:rPr lang="en-US" dirty="0"/>
              <a:t>Pseudo-instruction LDR R1, =0x11223344 loads 32-bit constant 0x11223344 into R1.</a:t>
            </a:r>
          </a:p>
          <a:p>
            <a:pPr lvl="1"/>
            <a:r>
              <a:rPr lang="pt-BR" dirty="0"/>
              <a:t>LSR #4: R2 = 0x11223344 &gt;&gt; 4 = 0x01122334.</a:t>
            </a:r>
          </a:p>
          <a:p>
            <a:pPr lvl="1"/>
            <a:r>
              <a:rPr lang="pt-BR" dirty="0"/>
              <a:t>LSR #8: R3 = 0x11223344 &gt;&gt; 8 = 0x00112233.</a:t>
            </a:r>
          </a:p>
          <a:p>
            <a:pPr lvl="1"/>
            <a:r>
              <a:rPr lang="pt-BR" dirty="0"/>
              <a:t>LSR #16: R4 = 0x11223344 &gt;&gt; 16 = 0x00001122.</a:t>
            </a:r>
          </a:p>
          <a:p>
            <a:pPr lvl="1"/>
            <a:r>
              <a:rPr lang="pt-BR" dirty="0"/>
              <a:t>ASR #4: R5 = 0x11223344 &gt;&gt; 4 = 0x01122334.</a:t>
            </a:r>
          </a:p>
          <a:p>
            <a:pPr lvl="1"/>
            <a:r>
              <a:rPr lang="pt-BR" dirty="0"/>
              <a:t>ASR #8: R6 = 0x11223344 &gt;&gt; 8 = 0x00112233.</a:t>
            </a:r>
          </a:p>
          <a:p>
            <a:pPr lvl="1"/>
            <a:r>
              <a:rPr lang="pt-BR" dirty="0"/>
              <a:t>ASR #16: R7 = 0x11223344 &gt;&gt; 16 = 0x00001122.</a:t>
            </a:r>
          </a:p>
          <a:p>
            <a:pPr lvl="1"/>
            <a:r>
              <a:rPr lang="en-US" dirty="0"/>
              <a:t>ASR (arithmetic shift right) replicates the sign bit; for a positive value like 0x11223344 (bit 31 is 0), ASR behaves exactly like LSR and shifts in zeros.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07522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1839C-F6D4-9964-61E4-7718ED85E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4A20A-F498-3EB6-F940-C1894F1C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8B4EF46-F247-D5D5-B0F5-6E0D2001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E383C9-4457-CE5C-9276-DDEA44D3054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</p:txBody>
      </p:sp>
    </p:spTree>
    <p:extLst>
      <p:ext uri="{BB962C8B-B14F-4D97-AF65-F5344CB8AC3E}">
        <p14:creationId xmlns:p14="http://schemas.microsoft.com/office/powerpoint/2010/main" val="1151160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4CB07-1D04-C38F-A34B-D46C4EA4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ASR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2234B-D9FF-D51C-F98D-7FCAE62D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29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31EC3-9A82-D4F4-6333-68B05484200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Compute register values:</a:t>
            </a:r>
          </a:p>
          <a:p>
            <a:r>
              <a:rPr lang="pt-BR" dirty="0"/>
              <a:t>LDR R1, =0x81223344</a:t>
            </a:r>
          </a:p>
          <a:p>
            <a:r>
              <a:rPr lang="pt-BR" dirty="0"/>
              <a:t>MOV R2, R1, ASR #4</a:t>
            </a:r>
          </a:p>
          <a:p>
            <a:r>
              <a:rPr lang="pt-BR" dirty="0"/>
              <a:t>MOV R3, R1, ASR #8</a:t>
            </a:r>
          </a:p>
          <a:p>
            <a:r>
              <a:rPr lang="pt-BR" dirty="0"/>
              <a:t>MOV R4, R1, ASR #16</a:t>
            </a:r>
          </a:p>
          <a:p>
            <a:r>
              <a:rPr lang="pt-BR" dirty="0"/>
              <a:t>ANS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R2 = R1 ASR #4 = 0xF8122334 (right shift 4; top nibble becomes F due to sign extension).</a:t>
            </a:r>
          </a:p>
          <a:p>
            <a:pPr lvl="1"/>
            <a:r>
              <a:rPr lang="en-US" dirty="0"/>
              <a:t>R3 = R1 ASR #8 = 0xFF812233 (right shift 8; top byte becomes FF).</a:t>
            </a:r>
          </a:p>
          <a:p>
            <a:pPr lvl="1"/>
            <a:r>
              <a:rPr lang="en-US" dirty="0"/>
              <a:t>R4 = R1 ASR #16 = 0xFFFF8122 (right shift 16; top halfword becomes FFFF)</a:t>
            </a:r>
          </a:p>
        </p:txBody>
      </p:sp>
    </p:spTree>
    <p:extLst>
      <p:ext uri="{BB962C8B-B14F-4D97-AF65-F5344CB8AC3E}">
        <p14:creationId xmlns:p14="http://schemas.microsoft.com/office/powerpoint/2010/main" val="2226504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E5212-EBBF-507A-8939-5B24EAC68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282959-239B-7B59-648D-A0210CB0F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B6A678-F78A-5E7F-A0E9-3A3B773CE7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Without using MUL instruction, give instructions that multiply a register, r3 by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16384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846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7702-AA68-AFC9-05E8-6A7817689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98FC1-052B-F011-D5E5-525504D76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Multiply without MUL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A8F778-6A22-5F8A-A058-93D44EDFF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31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CAC4D7-2D14-2E25-93CD-623479AB15D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Without using MUL instruction, give instructions that multiply a register, r3 by:</a:t>
            </a:r>
          </a:p>
          <a:p>
            <a:pPr lvl="1"/>
            <a:r>
              <a:rPr lang="en-US" dirty="0"/>
              <a:t>135</a:t>
            </a:r>
          </a:p>
          <a:p>
            <a:pPr lvl="1"/>
            <a:r>
              <a:rPr lang="en-US" dirty="0"/>
              <a:t>153</a:t>
            </a:r>
          </a:p>
          <a:p>
            <a:pPr lvl="1"/>
            <a:r>
              <a:rPr lang="en-US" dirty="0"/>
              <a:t>255</a:t>
            </a:r>
          </a:p>
          <a:p>
            <a:pPr lvl="1"/>
            <a:r>
              <a:rPr lang="en-US" dirty="0"/>
              <a:t>18</a:t>
            </a:r>
          </a:p>
          <a:p>
            <a:pPr lvl="1"/>
            <a:r>
              <a:rPr lang="en-US" dirty="0"/>
              <a:t>1025</a:t>
            </a:r>
          </a:p>
          <a:p>
            <a:r>
              <a:rPr lang="en-US" dirty="0"/>
              <a:t>ANS:  Decompose 135 = 128 + 4 + 2 + 1</a:t>
            </a:r>
          </a:p>
          <a:p>
            <a:pPr lvl="1"/>
            <a:r>
              <a:rPr lang="pt-BR" dirty="0"/>
              <a:t>MOV   r0, r3, LSL #7    @ 128*r3</a:t>
            </a:r>
          </a:p>
          <a:p>
            <a:pPr lvl="1"/>
            <a:r>
              <a:rPr lang="pt-BR" dirty="0"/>
              <a:t>ADD   r0, r0, r3, LSL #2 @ +4*r3  -&gt; 132*r3</a:t>
            </a:r>
          </a:p>
          <a:p>
            <a:pPr lvl="1"/>
            <a:r>
              <a:rPr lang="pt-BR" dirty="0"/>
              <a:t>ADD   r0, r0, r3, LSL #1 @ +2*r3  -&gt; 134*r3</a:t>
            </a:r>
          </a:p>
          <a:p>
            <a:pPr lvl="1"/>
            <a:r>
              <a:rPr lang="pt-BR" dirty="0"/>
              <a:t>ADD   r0, r0, r3         @ +1*r3  -&gt; 135*r3</a:t>
            </a:r>
          </a:p>
          <a:p>
            <a:r>
              <a:rPr lang="en-US" dirty="0"/>
              <a:t>Decompose 153 = (8 + 1) * (16 + 1)</a:t>
            </a:r>
          </a:p>
          <a:p>
            <a:pPr lvl="1"/>
            <a:r>
              <a:rPr lang="en-US" dirty="0"/>
              <a:t>ADD r0, r3, r3, LSL#3   @ r0 = r3 + 8*r3 = 9*r3</a:t>
            </a:r>
            <a:br>
              <a:rPr lang="en-US" dirty="0"/>
            </a:br>
            <a:r>
              <a:rPr lang="en-US" dirty="0"/>
              <a:t>ADD r0, r0, r0, LSL#4   @ r0 = 9*r3 + 16*9*r3 = 153*r3</a:t>
            </a:r>
          </a:p>
          <a:p>
            <a:r>
              <a:rPr lang="en-US" dirty="0"/>
              <a:t>Decompose 255 = 256 - 1</a:t>
            </a:r>
          </a:p>
          <a:p>
            <a:pPr lvl="1"/>
            <a:r>
              <a:rPr lang="en-US" dirty="0"/>
              <a:t>RSB r0, r3, r3, LSL#8   @ r0 = 256*r3 - r3 = 255*r3</a:t>
            </a:r>
          </a:p>
          <a:p>
            <a:r>
              <a:rPr lang="en-US" dirty="0"/>
              <a:t>Decompose 1025=2^10+1:</a:t>
            </a:r>
          </a:p>
          <a:p>
            <a:pPr lvl="1"/>
            <a:r>
              <a:rPr lang="en-US" dirty="0"/>
              <a:t>ADD r0, r3, r3, LSL#10   @ r0 = r3 + 1024*r3 = 1025*r3</a:t>
            </a:r>
          </a:p>
          <a:p>
            <a:r>
              <a:rPr lang="en-US" dirty="0"/>
              <a:t>Decompose 18 = (16 + 1) + 1</a:t>
            </a:r>
          </a:p>
          <a:p>
            <a:pPr lvl="1"/>
            <a:r>
              <a:rPr lang="en-US" dirty="0"/>
              <a:t>ADD r0, r3, r3, LSL#4   @ r0 = r3 + 16*r3 = 17*r3</a:t>
            </a:r>
            <a:br>
              <a:rPr lang="en-US" dirty="0"/>
            </a:br>
            <a:r>
              <a:rPr lang="en-US" dirty="0"/>
              <a:t>ADD r0, r0, r3          @ r0 = 17*r3 + r3 = 18*r3</a:t>
            </a:r>
          </a:p>
        </p:txBody>
      </p:sp>
    </p:spTree>
    <p:extLst>
      <p:ext uri="{BB962C8B-B14F-4D97-AF65-F5344CB8AC3E}">
        <p14:creationId xmlns:p14="http://schemas.microsoft.com/office/powerpoint/2010/main" val="2103414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0680A-E82D-BBE9-C61F-EB0A6FEBF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number of ones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C6C243-F37B-89BF-2B6A-9A56B69C5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32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C41A2D-28FB-F7BC-6CAD-42CE944332B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6545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DCB25-8749-9152-E8F2-28CF8B24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82E3E-5E2B-A3DE-AE04-01ED43508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ones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575E3B-15FA-54D0-5AC7-DB4176619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9879D-131C-C42E-D9BE-DA4B7A44B6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Write a program to count the number of ones in a 32-bit register r0. </a:t>
            </a:r>
          </a:p>
          <a:p>
            <a:r>
              <a:rPr lang="en-US" dirty="0"/>
              <a:t>ANS:</a:t>
            </a:r>
          </a:p>
          <a:p>
            <a:pPr lvl="1"/>
            <a:r>
              <a:rPr lang="en-US" dirty="0"/>
              <a:t>@ Count ones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07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47DC9-FEC2-35B7-BE17-C80023277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3014-01D8-9E5D-845A-870F048F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D51E58-1BCE-C9D5-7122-108C438ED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E59F7F-A91F-C3AC-6F2E-7E041BC2CCC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</p:txBody>
      </p:sp>
    </p:spTree>
    <p:extLst>
      <p:ext uri="{BB962C8B-B14F-4D97-AF65-F5344CB8AC3E}">
        <p14:creationId xmlns:p14="http://schemas.microsoft.com/office/powerpoint/2010/main" val="2952282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C34C-948A-7331-C0B5-36BC58757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6027-E858-BDF6-8FD3-20349087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 the number of zeros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2439C1-63DF-4DC1-EB71-439694FB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F09B-0D79-10B8-9B5A-BD5E2ECFCCE5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486400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Based on the program that counts 1’s, modify it to count the number of zeros in a 32-bit register r0. </a:t>
            </a:r>
          </a:p>
          <a:p>
            <a:r>
              <a:rPr lang="en-US" dirty="0"/>
              <a:t>ANS: count ones, then subtract from 32</a:t>
            </a:r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  <a:p>
            <a:pPr lvl="1"/>
            <a:r>
              <a:rPr lang="pt-BR" dirty="0">
                <a:solidFill>
                  <a:srgbClr val="FF0000"/>
                </a:solidFill>
              </a:rPr>
              <a:t>RSB r3, r3, #32 @ zeros = 32 – ones</a:t>
            </a:r>
          </a:p>
          <a:p>
            <a:r>
              <a:rPr lang="pt-BR" dirty="0"/>
              <a:t>Or </a:t>
            </a:r>
            <a:r>
              <a:rPr lang="en-US" dirty="0"/>
              <a:t>Invert all bits of r0, then count 1’s</a:t>
            </a:r>
            <a:endParaRPr lang="pt-BR" dirty="0"/>
          </a:p>
          <a:p>
            <a:pPr lvl="1"/>
            <a:r>
              <a:rPr lang="en-US" dirty="0"/>
              <a:t>@ Count zeros in r0, result in r3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MVN r0, r0 </a:t>
            </a:r>
          </a:p>
          <a:p>
            <a:pPr lvl="1"/>
            <a:r>
              <a:rPr lang="en-US" dirty="0"/>
              <a:t>MOV r3, #0      @ Initialize counter</a:t>
            </a:r>
          </a:p>
          <a:p>
            <a:pPr lvl="1"/>
            <a:r>
              <a:rPr lang="en-US" dirty="0" err="1"/>
              <a:t>count_loop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   CMP r0, #0</a:t>
            </a:r>
          </a:p>
          <a:p>
            <a:pPr lvl="1"/>
            <a:r>
              <a:rPr lang="en-US" dirty="0"/>
              <a:t>    BEQ </a:t>
            </a:r>
            <a:r>
              <a:rPr lang="en-US" dirty="0" err="1"/>
              <a:t>count_end</a:t>
            </a:r>
            <a:endParaRPr lang="en-US" dirty="0"/>
          </a:p>
          <a:p>
            <a:pPr lvl="1"/>
            <a:r>
              <a:rPr lang="en-US" dirty="0"/>
              <a:t>    AND r1, r0, #1  @ Check LSB</a:t>
            </a:r>
          </a:p>
          <a:p>
            <a:pPr lvl="1"/>
            <a:r>
              <a:rPr lang="en-US" dirty="0"/>
              <a:t>    ADD r3, r3, r1  @ Add to counter</a:t>
            </a:r>
          </a:p>
          <a:p>
            <a:pPr lvl="1"/>
            <a:r>
              <a:rPr lang="en-US" dirty="0"/>
              <a:t>    LSR r0, r0, #1  @ Shift right</a:t>
            </a:r>
          </a:p>
          <a:p>
            <a:pPr lvl="1"/>
            <a:r>
              <a:rPr lang="en-US" dirty="0"/>
              <a:t>    B </a:t>
            </a:r>
            <a:r>
              <a:rPr lang="en-US" dirty="0" err="1"/>
              <a:t>count_loop</a:t>
            </a:r>
            <a:endParaRPr lang="en-US" dirty="0"/>
          </a:p>
          <a:p>
            <a:pPr lvl="1"/>
            <a:r>
              <a:rPr lang="en-US" dirty="0" err="1"/>
              <a:t>count_end</a:t>
            </a:r>
            <a:r>
              <a:rPr lang="en-US" dirty="0"/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C9950-623A-C446-86E3-ABAF4DE8E5CB}"/>
              </a:ext>
            </a:extLst>
          </p:cNvPr>
          <p:cNvSpPr txBox="1"/>
          <p:nvPr/>
        </p:nvSpPr>
        <p:spPr>
          <a:xfrm>
            <a:off x="3962400" y="3581400"/>
            <a:ext cx="4917500" cy="14773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SUB r3, #32, r3 is not valid ARM syntax,</a:t>
            </a:r>
          </a:p>
          <a:p>
            <a:r>
              <a:rPr lang="en-US" dirty="0"/>
              <a:t>Since the middle operand cannot be an immediate.</a:t>
            </a:r>
          </a:p>
          <a:p>
            <a:r>
              <a:rPr lang="en-US" dirty="0"/>
              <a:t>You can load 32 into a register and subtract:</a:t>
            </a:r>
          </a:p>
          <a:p>
            <a:r>
              <a:rPr lang="pt-BR" dirty="0"/>
              <a:t>MOV r2, #32</a:t>
            </a:r>
            <a:br>
              <a:rPr lang="pt-BR" dirty="0"/>
            </a:br>
            <a:r>
              <a:rPr lang="pt-BR" dirty="0"/>
              <a:t>SUB r3, r2, r3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696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008DE-522A-498D-6E3F-C54CB6A4D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Compute Polynomial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5F70D3-620B-5782-021B-474F69365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668C4B-C7E5-9534-B165-9B7E9107CB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Write a program that computes 6x^2 – 9x + 2 and stores the result in register r2.  Assume x is stored in register r3.</a:t>
            </a:r>
          </a:p>
        </p:txBody>
      </p:sp>
    </p:spTree>
    <p:extLst>
      <p:ext uri="{BB962C8B-B14F-4D97-AF65-F5344CB8AC3E}">
        <p14:creationId xmlns:p14="http://schemas.microsoft.com/office/powerpoint/2010/main" val="7140928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787A4-0DA7-C173-0538-DAB6342D8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190458-C6F5-FEBF-1A62-E300A742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37</a:t>
            </a:fld>
            <a:endParaRPr kumimoji="0"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3EDD55-4B34-E9B0-90CE-5D12E387F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2029"/>
              </p:ext>
            </p:extLst>
          </p:nvPr>
        </p:nvGraphicFramePr>
        <p:xfrm>
          <a:off x="1295400" y="1289489"/>
          <a:ext cx="6629400" cy="21336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A: Direct Translation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r3, r3      @ r0 = 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#6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r0, r0, r1      @ r0 = 6x²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MOV r1, #9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MUL r1, r1, r3      @ r1 =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SUB r2, r0, r1      @ r2 = 6x² - 9x</a:t>
                      </a:r>
                    </a:p>
                    <a:p>
                      <a:r>
                        <a:rPr lang="pt-BR" sz="1400" dirty="0"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ADD r2, r2, #2      @ r2 = 6x² - 9x + 2</a:t>
                      </a:r>
                    </a:p>
                    <a:p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C172DA9-F89E-86B9-22FF-347E4B139A9D}"/>
              </a:ext>
            </a:extLst>
          </p:cNvPr>
          <p:cNvSpPr txBox="1"/>
          <p:nvPr/>
        </p:nvSpPr>
        <p:spPr>
          <a:xfrm>
            <a:off x="2362200" y="3657600"/>
            <a:ext cx="4912242" cy="36933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Note that MUL r0, r0, #6 is not a valid instruction.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E83309C-FA8B-6F99-8A51-4E5D49379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153522496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3554BE-2738-205C-F3A8-BC35BC86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0" y="6388979"/>
            <a:ext cx="1981200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/>
              <a:t>38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FCFA25-F4A6-2026-7853-D78B19A98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43186"/>
              </p:ext>
            </p:extLst>
          </p:nvPr>
        </p:nvGraphicFramePr>
        <p:xfrm>
          <a:off x="1257300" y="3136998"/>
          <a:ext cx="6629400" cy="152654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7432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C: Horner form 6x^2 − 9x + 2 =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3183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r2, r3, r0         // r2 = x*(6x - 9)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E53F05-AEE5-4C73-59D1-FB738C8FC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6696301"/>
              </p:ext>
            </p:extLst>
          </p:nvPr>
        </p:nvGraphicFramePr>
        <p:xfrm>
          <a:off x="1257300" y="1264996"/>
          <a:ext cx="6629400" cy="1811071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768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ea typeface="宋体"/>
                          <a:cs typeface="Consolas" panose="020B0609020204030204" pitchFamily="49" charset="0"/>
                        </a:rPr>
                        <a:t>Option B: Minimal multiplies with a single MUL and shift-adds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711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// r3 = x,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MUL     r0, r3, r3         // r0 = 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r0, LSL #1 // r0 = 3*x*x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6*x*x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r1, r3, r3, LSL #3 // r1 = x + 8x =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r2, r0, r1         // r2 = 6x^2 - 9x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r2, r2, #2         // r2 = 6x^2 - 9x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0108726-902A-C6CC-1647-A81D62B612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87922"/>
              </p:ext>
            </p:extLst>
          </p:nvPr>
        </p:nvGraphicFramePr>
        <p:xfrm>
          <a:off x="1257300" y="4729275"/>
          <a:ext cx="6629400" cy="165970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6629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5139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Option D: Use MLA (multiply-accumulate) and Horner form x(6x − 9) + 2</a:t>
                      </a:r>
                      <a:endParaRPr lang="en-US" sz="1400" b="1" dirty="0">
                        <a:solidFill>
                          <a:schemeClr val="bg1"/>
                        </a:solidFill>
                        <a:effectLst/>
                        <a:latin typeface="Consolas" panose="020B0609020204030204" pitchFamily="49" charset="0"/>
                        <a:ea typeface="宋体"/>
                        <a:cs typeface="Consolas" panose="020B0609020204030204" pitchFamily="49" charset="0"/>
                      </a:endParaRP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2984">
                <a:tc>
                  <a:txBody>
                    <a:bodyPr/>
                    <a:lstStyle/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MOV     r1, #2             // r3 = x, r1 = 2, result -&gt; r2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r3, r3, LSL #1 // r0 = 3x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ADD     r0, r0, r0         // r0 = 6x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SUB     r0, r0, #9           // r0 = 6x - 9</a:t>
                      </a:r>
                    </a:p>
                    <a:p>
                      <a:r>
                        <a:rPr kumimoji="0" lang="pt-BR" sz="1400" b="0" i="0" kern="120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MLA     r2, r3, r0, r1       // r2 = r3*r0 + r1 = x(6x - 9) + 2</a:t>
                      </a:r>
                      <a:endParaRPr lang="en-US" sz="1400" dirty="0">
                        <a:effectLst/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9AD0913-B118-F87E-249C-6E68B0892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/>
          <a:lstStyle/>
          <a:p>
            <a:r>
              <a:rPr lang="en-US" dirty="0"/>
              <a:t>Compute Polynomial</a:t>
            </a:r>
          </a:p>
        </p:txBody>
      </p:sp>
    </p:spTree>
    <p:extLst>
      <p:ext uri="{BB962C8B-B14F-4D97-AF65-F5344CB8AC3E}">
        <p14:creationId xmlns:p14="http://schemas.microsoft.com/office/powerpoint/2010/main" val="2592113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2526-FDDF-35FA-A44E-1A233444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B70333-70B3-0D05-E999-759739E50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39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95D49-573C-6129-4E24-762AAEB6BD0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B598EB-3D73-A532-9DE0-CBC965E702FA}"/>
              </a:ext>
            </a:extLst>
          </p:cNvPr>
          <p:cNvSpPr/>
          <p:nvPr/>
        </p:nvSpPr>
        <p:spPr>
          <a:xfrm>
            <a:off x="860298" y="2213036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14452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5E5FAD-9A08-0CCB-CFB7-78E0DB9DB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3212C-AC3A-BD60-BBB1-8FEACA89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8B6C76-EADD-C77E-1FF4-98C0CAB08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40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18A86-8DB2-795C-FF88-161C2A00B3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ANS: </a:t>
            </a:r>
            <a:r>
              <a:rPr lang="pt-BR" dirty="0"/>
              <a:t>r2 = 0x00000000</a:t>
            </a:r>
          </a:p>
          <a:p>
            <a:r>
              <a:rPr lang="pt-BR" dirty="0"/>
              <a:t>NZCV = 0110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4CB201-5D7D-1A95-A3C5-0B501ADFE4ED}"/>
              </a:ext>
            </a:extLst>
          </p:cNvPr>
          <p:cNvSpPr/>
          <p:nvPr/>
        </p:nvSpPr>
        <p:spPr>
          <a:xfrm>
            <a:off x="860298" y="2074783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ANDS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FA200113-936A-759C-DAEA-A0CA7E874220}"/>
              </a:ext>
            </a:extLst>
          </p:cNvPr>
          <p:cNvSpPr txBox="1">
            <a:spLocks/>
          </p:cNvSpPr>
          <p:nvPr/>
        </p:nvSpPr>
        <p:spPr>
          <a:xfrm>
            <a:off x="457200" y="4055358"/>
            <a:ext cx="8348605" cy="265024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Left shift (LSL #1) moves the bits in r0 left by 1 bit. The bitwise AND is then computed: r2 = r1 &amp; (r0 &lt;&lt; 1).</a:t>
            </a:r>
          </a:p>
          <a:p>
            <a:r>
              <a:rPr lang="en-US" sz="1600" dirty="0"/>
              <a:t>N (Negative flag): Set to 0 because result r2 = 0x00000000, which is not negative.</a:t>
            </a:r>
          </a:p>
          <a:p>
            <a:r>
              <a:rPr lang="en-US" sz="1600" dirty="0"/>
              <a:t>Z (Zero flag): Set to 1 because the result is zero (r2 = 0).</a:t>
            </a:r>
          </a:p>
          <a:p>
            <a:r>
              <a:rPr lang="en-US" sz="1600" dirty="0"/>
              <a:t>C (Carry flag): Set to 1. The carry flag is updated based on the last bit shifted out during the left shift operation on r0. Since the left shift of 0xFFFFFF00 by 1 bit causes a '1' to be shifted out, the carry flag is set to 1.</a:t>
            </a:r>
          </a:p>
          <a:p>
            <a:r>
              <a:rPr lang="en-US" sz="1600" dirty="0"/>
              <a:t>V (Overflow flag): Unchanged by AND operation.</a:t>
            </a:r>
          </a:p>
        </p:txBody>
      </p:sp>
    </p:spTree>
    <p:extLst>
      <p:ext uri="{BB962C8B-B14F-4D97-AF65-F5344CB8AC3E}">
        <p14:creationId xmlns:p14="http://schemas.microsoft.com/office/powerpoint/2010/main" val="35922270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709F9-4905-FD89-18E1-B8EB2F60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E8A52C-2E2E-54F3-49AA-2CABED2CB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41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B21BD5E1-8C43-5CBF-BEB4-B430BDD4D73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3F8B0C-9B9C-5AAA-26B5-003AE580EB61}"/>
              </a:ext>
            </a:extLst>
          </p:cNvPr>
          <p:cNvSpPr/>
          <p:nvPr/>
        </p:nvSpPr>
        <p:spPr>
          <a:xfrm>
            <a:off x="860298" y="2133600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15450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7C940-4E30-82BE-8EE2-628F3E65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691BF-E76C-EDC4-020F-C2C90681E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ADDS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A33420-26DD-E8AD-EAB4-EE45F105D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42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7B3059B3-E7CA-6A88-ECC8-ADFF4594B569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What are value of r2, and NZCV flags after execution, assuming all flags are initially 0.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ANS: </a:t>
            </a:r>
            <a:r>
              <a:rPr lang="pt-BR" dirty="0"/>
              <a:t>r2 = 0xFFFFFE01</a:t>
            </a:r>
          </a:p>
          <a:p>
            <a:r>
              <a:rPr lang="pt-BR" dirty="0"/>
              <a:t>NZCV = 1000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728C00-95CC-7E30-18AF-775A46A3C6BF}"/>
              </a:ext>
            </a:extLst>
          </p:cNvPr>
          <p:cNvSpPr/>
          <p:nvPr/>
        </p:nvSpPr>
        <p:spPr>
          <a:xfrm>
            <a:off x="860298" y="2054905"/>
            <a:ext cx="3467100" cy="10156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r0, =0xFFFFFF00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LDR r1, =0x00000001</a:t>
            </a:r>
          </a:p>
          <a:p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ADDS r2, r1, r0, LSL #1</a:t>
            </a:r>
            <a:endParaRPr lang="en-US" sz="20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76205" y="4055358"/>
                <a:ext cx="8229600" cy="2802642"/>
              </a:xfrm>
              <a:prstGeom prst="rect">
                <a:avLst/>
              </a:prstGeom>
            </p:spPr>
            <p:txBody>
              <a:bodyPr vert="horz">
                <a:normAutofit fontScale="62500" lnSpcReduction="20000"/>
              </a:bodyPr>
              <a:lstStyle>
                <a:lvl1pPr marL="274320" indent="-274320" algn="l" rtl="0" eaLnBrk="1" latinLnBrk="0" hangingPunct="1">
                  <a:spcBef>
                    <a:spcPts val="600"/>
                  </a:spcBef>
                  <a:buClr>
                    <a:schemeClr val="accent1"/>
                  </a:buClr>
                  <a:buSzPct val="76000"/>
                  <a:buFont typeface="Wingdings 3"/>
                  <a:buChar char=""/>
                  <a:defRPr kumimoji="0" sz="2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548640" indent="-274320" algn="l" rtl="0" eaLnBrk="1" latinLnBrk="0" hangingPunct="1">
                  <a:spcBef>
                    <a:spcPts val="500"/>
                  </a:spcBef>
                  <a:buClr>
                    <a:schemeClr val="accent2"/>
                  </a:buClr>
                  <a:buSzPct val="76000"/>
                  <a:buFont typeface="Wingdings 3"/>
                  <a:buChar char=""/>
                  <a:defRPr kumimoji="0" sz="2300" kern="120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lvl2pPr>
                <a:lvl3pPr marL="822960" indent="-228600" algn="l" rtl="0" eaLnBrk="1" latinLnBrk="0" hangingPunct="1">
                  <a:spcBef>
                    <a:spcPts val="500"/>
                  </a:spcBef>
                  <a:buClr>
                    <a:schemeClr val="bg1">
                      <a:shade val="50000"/>
                    </a:schemeClr>
                  </a:buClr>
                  <a:buSzPct val="76000"/>
                  <a:buFont typeface="Wingdings 3"/>
                  <a:buChar char="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228600" algn="l" rtl="0" eaLnBrk="1" latinLnBrk="0" hangingPunct="1">
                  <a:spcBef>
                    <a:spcPts val="400"/>
                  </a:spcBef>
                  <a:buClr>
                    <a:schemeClr val="accent2">
                      <a:shade val="75000"/>
                    </a:schemeClr>
                  </a:buClr>
                  <a:buSzPct val="70000"/>
                  <a:buFont typeface="Wingdings"/>
                  <a:buChar char=""/>
                  <a:defRPr kumimoji="0"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-228600" algn="l" rtl="0" eaLnBrk="1" latinLnBrk="0" hangingPunct="1">
                  <a:spcBef>
                    <a:spcPts val="300"/>
                  </a:spcBef>
                  <a:buClr>
                    <a:schemeClr val="accent2"/>
                  </a:buClr>
                  <a:buSzPct val="70000"/>
                  <a:buFont typeface="Wingdings"/>
                  <a:buChar char=""/>
                  <a:defRPr kumimoji="0"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645920" indent="-182880" algn="l" rtl="0" eaLnBrk="1" latinLnBrk="0" hangingPunct="1">
                  <a:spcBef>
                    <a:spcPts val="300"/>
                  </a:spcBef>
                  <a:buClr>
                    <a:srgbClr val="9FB8CD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6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828800" indent="-182880" algn="l" rtl="0" eaLnBrk="1" latinLnBrk="0" hangingPunct="1">
                  <a:spcBef>
                    <a:spcPts val="300"/>
                  </a:spcBef>
                  <a:buClr>
                    <a:srgbClr val="727CA3">
                      <a:shade val="75000"/>
                    </a:srgb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011680" indent="-182880" algn="l" rtl="0" eaLnBrk="1" latinLnBrk="0" hangingPunct="1">
                  <a:spcBef>
                    <a:spcPts val="300"/>
                  </a:spcBef>
                  <a:buClr>
                    <a:prstClr val="white">
                      <a:shade val="50000"/>
                    </a:prstClr>
                  </a:buClr>
                  <a:buSzPct val="75000"/>
                  <a:buFont typeface="Wingdings 3"/>
                  <a:buChar char=""/>
                  <a:defRPr kumimoji="0" lang="en-US" sz="14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94560" indent="-182880" algn="l" rtl="0" eaLnBrk="1" latinLnBrk="0" hangingPunct="1">
                  <a:spcBef>
                    <a:spcPts val="300"/>
                  </a:spcBef>
                  <a:buClr>
                    <a:srgbClr val="9FB8CD"/>
                  </a:buClr>
                  <a:buSzPct val="75000"/>
                  <a:buFont typeface="Wingdings 3"/>
                  <a:buChar char=""/>
                  <a:defRPr kumimoji="0" lang="en-US" sz="1200" kern="1200" smtClean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>
                    <a:solidFill>
                      <a:schemeClr val="tx1"/>
                    </a:solidFill>
                  </a:rPr>
                  <a:t>Left shift (LSL #1) moves the bits in r0 left by 1 bit, so r0 = 0xFFFFFE00. The ADDS is then computed: r2 = r1 + (r0 &lt;&lt; 1) = 0xFFFFFE01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 (Negative): Since </a:t>
                </a:r>
                <a:r>
                  <a:rPr lang="en-US" dirty="0"/>
                  <a:t>result r2 = 0xFFFFFE01 </a:t>
                </a:r>
                <a:r>
                  <a:rPr lang="en-US" dirty="0">
                    <a:solidFill>
                      <a:schemeClr val="tx1"/>
                    </a:solidFill>
                  </a:rPr>
                  <a:t>when interpreted as signed 32-bit (two's complement) is negative (most significant bit is 1), N = 1.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Z (Zero): Result is not zero, Z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C (Carry): Carry is set if there is an unsigned overflow. Here carry flag C = 0.</a:t>
                </a: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V (Overflow): Overflow is set if there is a signed overflow. Here: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positive; </a:t>
                </a:r>
                <a14:m>
                  <m:oMath xmlns:m="http://schemas.openxmlformats.org/officeDocument/2006/math"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&lt;&lt;</m:t>
                    </m:r>
                    <m:r>
                      <a:rPr lang="en-US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 is negative since high bit is set; 2 operands have different signs, no overflow, so V = 0.</a:t>
                </a:r>
              </a:p>
              <a:p>
                <a:pPr lvl="1"/>
                <a:r>
                  <a:rPr lang="en-US" dirty="0">
                    <a:solidFill>
                      <a:schemeClr val="tx1"/>
                    </a:solidFill>
                  </a:rPr>
                  <a:t>Recall “Overflow cannot occur when adding 2 operands with different signs or when subtracting 2 operands with the same sign. ”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2C864CC-AEF5-15FA-F8F8-33E8C3B922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05" y="4055358"/>
                <a:ext cx="8229600" cy="2802642"/>
              </a:xfrm>
              <a:prstGeom prst="rect">
                <a:avLst/>
              </a:prstGeom>
              <a:blipFill>
                <a:blip r:embed="rId3"/>
                <a:stretch>
                  <a:fillRect t="-2391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76924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E9CC-DEC3-BC36-FF0A-FD088EB3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DFB2C4-0E87-791F-5E7D-1A0D8DB24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43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21DA5F-0B0C-5E4B-FFBA-4A8692F7A97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r4,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r4, r0, r2, ASR #3</a:t>
            </a:r>
          </a:p>
          <a:p>
            <a:pPr lvl="1"/>
            <a:r>
              <a:rPr lang="pt-BR" dirty="0"/>
              <a:t>(b) ADDS r4, r0, r1</a:t>
            </a:r>
          </a:p>
          <a:p>
            <a:pPr lvl="1"/>
            <a:r>
              <a:rPr lang="pt-BR" dirty="0"/>
              <a:t>(c) LSRS r4, r0, #1</a:t>
            </a:r>
          </a:p>
          <a:p>
            <a:pPr lvl="1"/>
            <a:r>
              <a:rPr lang="pt-BR" dirty="0"/>
              <a:t>(d) ANDS r4, r0, r3</a:t>
            </a:r>
          </a:p>
          <a:p>
            <a:pPr lvl="1"/>
            <a:r>
              <a:rPr lang="en-US" dirty="0"/>
              <a:t>(e) CMP r2, #3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6C027E4-0F54-2503-6E54-155E1BC927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166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E7231-82FF-C0A5-9383-A83CE2517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DD9D39-93B6-A1E2-EA7F-5C474F57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44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AF534B-2417-B92D-61EA-CC2082CC62B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/>
              <a:t>(a) ADD r4, r0, r2, ASR #3</a:t>
            </a:r>
            <a:endParaRPr lang="en-US" dirty="0"/>
          </a:p>
          <a:p>
            <a:pPr lvl="1"/>
            <a:r>
              <a:rPr lang="en-US" dirty="0"/>
              <a:t>First, r2 ASR #3: 0x00000003 &gt;&gt; 3 = 0x00000000 (arithmetic shift preserves sign)</a:t>
            </a:r>
          </a:p>
          <a:p>
            <a:pPr lvl="1"/>
            <a:r>
              <a:rPr lang="en-US" dirty="0"/>
              <a:t>Then: r4 = r0 + 0 = 0xFFFFFFFF + 0 = 0xFFFFFFFF</a:t>
            </a:r>
          </a:p>
          <a:p>
            <a:pPr lvl="1"/>
            <a:r>
              <a:rPr lang="en-US" dirty="0"/>
              <a:t>Result: r4 = 0xFFFFFFFF, NZCV = 0000 (ADD doesn't affect flags)</a:t>
            </a:r>
          </a:p>
          <a:p>
            <a:r>
              <a:rPr lang="pt-BR" dirty="0"/>
              <a:t>(b) ADDS r4, r0, r1</a:t>
            </a:r>
          </a:p>
          <a:p>
            <a:pPr lvl="1"/>
            <a:r>
              <a:rPr lang="en-US" dirty="0"/>
              <a:t>r4 = 0xFFFFFFFF + 0x00000001 = 0x00000000 (truncated to 32-bit)</a:t>
            </a:r>
          </a:p>
          <a:p>
            <a:pPr lvl="1"/>
            <a:r>
              <a:rPr lang="en-US" dirty="0"/>
              <a:t>N = 0 (result bit 31 = 0, not negative)</a:t>
            </a:r>
          </a:p>
          <a:p>
            <a:pPr lvl="1"/>
            <a:r>
              <a:rPr lang="en-US" dirty="0"/>
              <a:t>Z = 1 (result is zero)</a:t>
            </a:r>
          </a:p>
          <a:p>
            <a:pPr lvl="1"/>
            <a:r>
              <a:rPr lang="en-US" dirty="0"/>
              <a:t>C = 1 (carry out from bit 31: 0xFFFFFFFF + 1 produces carry)</a:t>
            </a:r>
          </a:p>
          <a:p>
            <a:pPr lvl="1"/>
            <a:r>
              <a:rPr lang="en-US" dirty="0"/>
              <a:t>V = 0 (no signed overflow: -1 + 1 = 0, valid in 32-bit signed range)</a:t>
            </a:r>
          </a:p>
          <a:p>
            <a:pPr lvl="1"/>
            <a:r>
              <a:rPr lang="en-US" dirty="0"/>
              <a:t>Result: r4 = 0x00000000, NZCV = 0110</a:t>
            </a:r>
          </a:p>
          <a:p>
            <a:r>
              <a:rPr lang="pt-BR" dirty="0"/>
              <a:t>(c) LSRS r4, r0, #1</a:t>
            </a:r>
          </a:p>
          <a:p>
            <a:pPr lvl="1"/>
            <a:r>
              <a:rPr lang="en-US" dirty="0"/>
              <a:t>Logical shift right with flag update: 0xFFFFFFFF &gt;&gt; 1 = 0x7FFFFFFF</a:t>
            </a:r>
          </a:p>
          <a:p>
            <a:pPr lvl="1"/>
            <a:r>
              <a:rPr lang="en-US" dirty="0"/>
              <a:t>N = 0 (result bit 31 = 0)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1 (last bit shifted out was 1)</a:t>
            </a:r>
          </a:p>
          <a:p>
            <a:pPr lvl="1"/>
            <a:r>
              <a:rPr lang="en-US" dirty="0"/>
              <a:t>V = 0 (logical shifts don't affect overflow flag)</a:t>
            </a:r>
          </a:p>
          <a:p>
            <a:pPr lvl="1"/>
            <a:r>
              <a:rPr lang="en-US" dirty="0"/>
              <a:t>Result: r4 = 0x7FFFFFFF, NZCV = 0010</a:t>
            </a:r>
          </a:p>
          <a:p>
            <a:pPr lvl="1"/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F3E2C1E-31D7-D8FB-CE9D-0E062ADEFB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088588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529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76F90-35DA-C6B2-DA8D-B8A77EB63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33923-A3D7-3DF6-0FD1-40B2D707B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48110-879A-1649-F5F1-EE26EAC34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45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45CD76-A90D-FFA9-784E-A81C0CBBBD1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(d) ANDS r4, r0, r3</a:t>
            </a:r>
          </a:p>
          <a:p>
            <a:pPr lvl="1"/>
            <a:r>
              <a:rPr lang="en-US" dirty="0"/>
              <a:t>Bitwise AND with flag update: 0xFFFFFFFF &amp; 0xFFFFFFF0 = 0xFFFFFFF0</a:t>
            </a:r>
          </a:p>
          <a:p>
            <a:pPr lvl="1"/>
            <a:r>
              <a:rPr lang="en-US" dirty="0"/>
              <a:t>N = 1 (result MSB = 1, negative)</a:t>
            </a:r>
          </a:p>
          <a:p>
            <a:pPr lvl="1"/>
            <a:r>
              <a:rPr lang="en-US" dirty="0"/>
              <a:t>Z = 0 (result is not zero)</a:t>
            </a:r>
          </a:p>
          <a:p>
            <a:pPr lvl="1"/>
            <a:r>
              <a:rPr lang="en-US" dirty="0"/>
              <a:t>C = previous value, assumed to be 0 (C is unaffected by ANDS)</a:t>
            </a:r>
          </a:p>
          <a:p>
            <a:pPr lvl="1"/>
            <a:r>
              <a:rPr lang="en-US" dirty="0"/>
              <a:t>V = previous value, assumed to be 0 (V is unaffected by ANDS)</a:t>
            </a:r>
          </a:p>
          <a:p>
            <a:pPr lvl="1"/>
            <a:r>
              <a:rPr lang="en-US" dirty="0"/>
              <a:t>Result: r4 = 0xFFFFFFF0, NZCV = 1000</a:t>
            </a:r>
          </a:p>
          <a:p>
            <a:r>
              <a:rPr lang="en-US" dirty="0"/>
              <a:t>(e) CMP r2, #3</a:t>
            </a:r>
          </a:p>
          <a:p>
            <a:pPr lvl="1"/>
            <a:r>
              <a:rPr lang="en-US" dirty="0"/>
              <a:t>Compare operation: r2 - 3 = 3 - 3 = 0 (result not stored, only flags updated)</a:t>
            </a:r>
          </a:p>
          <a:p>
            <a:pPr lvl="1"/>
            <a:r>
              <a:rPr lang="en-US" dirty="0"/>
              <a:t>N = 0 (subtraction result is 0, bit 31 = 0)</a:t>
            </a:r>
          </a:p>
          <a:p>
            <a:pPr lvl="1"/>
            <a:r>
              <a:rPr lang="en-US" dirty="0"/>
              <a:t>Z = 1 (subtraction result is 0)</a:t>
            </a:r>
          </a:p>
          <a:p>
            <a:pPr lvl="1"/>
            <a:r>
              <a:rPr lang="en-US" dirty="0"/>
              <a:t>C = 1 (no borrow: 3 ≥ 3, so C = 1 = not borrow)</a:t>
            </a:r>
          </a:p>
          <a:p>
            <a:pPr lvl="1"/>
            <a:r>
              <a:rPr lang="en-US" dirty="0"/>
              <a:t>V = 0 (no signed overflow in 3 - 3)</a:t>
            </a:r>
          </a:p>
          <a:p>
            <a:pPr lvl="1"/>
            <a:r>
              <a:rPr lang="en-US" dirty="0"/>
              <a:t>Result: NZCV = 0110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BFC7784-AC7A-8159-74B8-C94D84BE4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247211"/>
              </p:ext>
            </p:extLst>
          </p:nvPr>
        </p:nvGraphicFramePr>
        <p:xfrm>
          <a:off x="7070034" y="69573"/>
          <a:ext cx="1984513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9018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0546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7B51-11BC-FFC9-CF42-A6BABBAD6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9B07D-F698-D274-049D-5A8519701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249653-EF96-2820-E597-C71FA0AB1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46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80CFB-3CFF-ED04-FB0F-0B0AEF72870A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registers have the following values:</a:t>
            </a:r>
          </a:p>
          <a:p>
            <a:r>
              <a:rPr lang="en-US" dirty="0"/>
              <a:t>What are value of r3, and NZCV flags after execution, assuming all flags are initially 0. (Assume each instruction runs individually, not sequentially.)</a:t>
            </a:r>
          </a:p>
          <a:p>
            <a:pPr lvl="1"/>
            <a:r>
              <a:rPr lang="pt-BR" dirty="0"/>
              <a:t>(a) ADD r3, r0, r2</a:t>
            </a:r>
          </a:p>
          <a:p>
            <a:pPr lvl="1"/>
            <a:r>
              <a:rPr lang="pt-BR" dirty="0"/>
              <a:t>(b) ADDS r3, r0, r2</a:t>
            </a:r>
          </a:p>
          <a:p>
            <a:pPr lvl="1"/>
            <a:r>
              <a:rPr lang="pt-BR" dirty="0"/>
              <a:t>(c) SUBS r3, r0, r0</a:t>
            </a:r>
          </a:p>
          <a:p>
            <a:pPr lvl="1"/>
            <a:r>
              <a:rPr lang="pt-BR" dirty="0"/>
              <a:t>(d) LSL r3, r0, #1</a:t>
            </a:r>
          </a:p>
          <a:p>
            <a:pPr lvl="1"/>
            <a:r>
              <a:rPr lang="pt-BR" dirty="0"/>
              <a:t>(e) LSRS r3, r1, #1</a:t>
            </a:r>
          </a:p>
          <a:p>
            <a:pPr lvl="1"/>
            <a:r>
              <a:rPr lang="pt-BR" dirty="0"/>
              <a:t>(f) ANDS r3, r0, r2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6B2FE4-3D6B-5F71-9A58-0E695C18479A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712674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95867-7F1D-793E-4C60-23701C88A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EE215-3CFF-4B98-4305-63717698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D47EE4-8618-5F31-EEBF-6DC31D072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47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1BCC50-A76F-3959-218D-71AAD364852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(a) ADD r3, r0, r2</a:t>
            </a:r>
          </a:p>
          <a:p>
            <a:pPr lvl="1"/>
            <a:r>
              <a:rPr lang="pt-BR" dirty="0"/>
              <a:t>r3 = 0xFFFFFFFF</a:t>
            </a:r>
          </a:p>
          <a:p>
            <a:pPr lvl="1"/>
            <a:r>
              <a:rPr lang="pt-BR" dirty="0"/>
              <a:t>NZCV = 0000 (ADD without S does not update flags)</a:t>
            </a:r>
          </a:p>
          <a:p>
            <a:r>
              <a:rPr lang="pt-BR" dirty="0"/>
              <a:t>(b) ADDS r3, r0, r2</a:t>
            </a:r>
          </a:p>
          <a:p>
            <a:pPr lvl="1"/>
            <a:r>
              <a:rPr lang="pt-BR" dirty="0"/>
              <a:t>r3 = 0xFFFFFFFF, NZCV = 1000</a:t>
            </a:r>
          </a:p>
          <a:p>
            <a:pPr lvl="2"/>
            <a:r>
              <a:rPr lang="pt-BR" dirty="0"/>
              <a:t>N = 1 (MSB = 1)</a:t>
            </a:r>
          </a:p>
          <a:p>
            <a:pPr lvl="2"/>
            <a:r>
              <a:rPr lang="pt-BR" dirty="0"/>
              <a:t>Z = 0 (nonzero)</a:t>
            </a:r>
          </a:p>
          <a:p>
            <a:pPr lvl="2"/>
            <a:r>
              <a:rPr lang="pt-BR" dirty="0"/>
              <a:t>C = 0 (no carry out)</a:t>
            </a:r>
          </a:p>
          <a:p>
            <a:pPr lvl="2"/>
            <a:r>
              <a:rPr lang="pt-BR" dirty="0"/>
              <a:t>V = 0 (no signed overflow)</a:t>
            </a:r>
          </a:p>
          <a:p>
            <a:r>
              <a:rPr lang="pt-BR" dirty="0"/>
              <a:t>(c) SUBS r3, r0, r0</a:t>
            </a:r>
          </a:p>
          <a:p>
            <a:pPr lvl="1"/>
            <a:r>
              <a:rPr lang="pt-BR" dirty="0"/>
              <a:t>r3 = 0x00000000 (r0 − r0 = 0), NZCV = 0110</a:t>
            </a:r>
          </a:p>
          <a:p>
            <a:pPr lvl="2"/>
            <a:r>
              <a:rPr lang="pt-BR" dirty="0"/>
              <a:t>N = 0 (MSB = 0)</a:t>
            </a:r>
          </a:p>
          <a:p>
            <a:pPr lvl="2"/>
            <a:r>
              <a:rPr lang="pt-BR" dirty="0"/>
              <a:t>Z = 1 (result == 0)</a:t>
            </a:r>
          </a:p>
          <a:p>
            <a:pPr lvl="2"/>
            <a:r>
              <a:rPr lang="pt-BR" dirty="0"/>
              <a:t>C = 1 (no borrow: unsigned r0 ≥ r0)</a:t>
            </a:r>
          </a:p>
          <a:p>
            <a:pPr lvl="2"/>
            <a:r>
              <a:rPr lang="pt-BR" dirty="0"/>
              <a:t>V = 0 (no signed overflow)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8EC4EF8-CA07-8D9E-1C34-0E4536477C58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61552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9FEB2-F756-C046-A7C9-BE3B4F4F1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ECE3F-7A78-33BB-7BE1-3D467306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Flags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E06B64-9C4A-C77D-7290-A4529F5A2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48</a:t>
            </a:fld>
            <a:endParaRPr kumimoji="0"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E8719E-6F53-B45E-0478-44C5D802065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/>
              <a:t>(d) LSL r3, r0, #1</a:t>
            </a:r>
          </a:p>
          <a:p>
            <a:pPr lvl="1"/>
            <a:r>
              <a:rPr lang="pt-BR" dirty="0"/>
              <a:t>r3 = 0xFFFFFFFE (logical left shift: 0xFFFF_FFFF &lt;&lt; 1), NZCV = 0000 (LSL without S does not update flags)</a:t>
            </a:r>
          </a:p>
          <a:p>
            <a:r>
              <a:rPr lang="pt-BR" dirty="0"/>
              <a:t>(e) LSRS r3, r1, #1</a:t>
            </a:r>
          </a:p>
          <a:p>
            <a:pPr lvl="1"/>
            <a:r>
              <a:rPr lang="en-US" dirty="0"/>
              <a:t>r3 = 0x00000000 (0x0000_0001 &gt;&gt; 1 = 0), NZCV = 0110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1 (bit shifted out = original bit0 = 1)</a:t>
            </a:r>
          </a:p>
          <a:p>
            <a:pPr lvl="2"/>
            <a:r>
              <a:rPr lang="en-US" dirty="0"/>
              <a:t>V = 0 (shifts do not set V)</a:t>
            </a:r>
            <a:endParaRPr lang="pt-BR" dirty="0"/>
          </a:p>
          <a:p>
            <a:r>
              <a:rPr lang="pt-BR"/>
              <a:t>(f) </a:t>
            </a:r>
            <a:r>
              <a:rPr lang="pt-BR" dirty="0"/>
              <a:t>ANDS r3, r0, r2</a:t>
            </a:r>
          </a:p>
          <a:p>
            <a:pPr lvl="1"/>
            <a:r>
              <a:rPr lang="en-US" dirty="0"/>
              <a:t>r3 = 0x00000000 (0xFFFF_FFFF &amp; 0x0000_0000 = 0), NZCV = 0100</a:t>
            </a:r>
          </a:p>
          <a:p>
            <a:pPr lvl="2"/>
            <a:r>
              <a:rPr lang="en-US" dirty="0"/>
              <a:t>N = 0</a:t>
            </a:r>
          </a:p>
          <a:p>
            <a:pPr lvl="2"/>
            <a:r>
              <a:rPr lang="en-US" dirty="0"/>
              <a:t>Z = 1 (result zero)</a:t>
            </a:r>
          </a:p>
          <a:p>
            <a:pPr lvl="2"/>
            <a:r>
              <a:rPr lang="en-US" dirty="0"/>
              <a:t>C = 0 (unchanged)</a:t>
            </a:r>
          </a:p>
          <a:p>
            <a:pPr lvl="2"/>
            <a:r>
              <a:rPr lang="en-US" dirty="0"/>
              <a:t>V = 0 (unchanged)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EB8F9A-F2CE-9B20-0F51-3EDF0431D8E2}"/>
              </a:ext>
            </a:extLst>
          </p:cNvPr>
          <p:cNvGraphicFramePr>
            <a:graphicFrameLocks noGrp="1"/>
          </p:cNvGraphicFramePr>
          <p:nvPr/>
        </p:nvGraphicFramePr>
        <p:xfrm>
          <a:off x="7070034" y="69573"/>
          <a:ext cx="1984513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128">
                  <a:extLst>
                    <a:ext uri="{9D8B030D-6E8A-4147-A177-3AD203B41FA5}">
                      <a16:colId xmlns:a16="http://schemas.microsoft.com/office/drawing/2014/main" val="1977830853"/>
                    </a:ext>
                  </a:extLst>
                </a:gridCol>
                <a:gridCol w="1488385">
                  <a:extLst>
                    <a:ext uri="{9D8B030D-6E8A-4147-A177-3AD203B41FA5}">
                      <a16:colId xmlns:a16="http://schemas.microsoft.com/office/drawing/2014/main" val="12896459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0xFFFFFFFF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1725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0x00000001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87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/>
                        <a:t>r2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0x00000000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004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09766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FE46E-21D3-BB71-D0EF-810E9660E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9ABE5-E35E-9995-C450-C422553E9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DC54EC-7E8A-1399-9BF2-5015E8B14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49</a:t>
            </a:fld>
            <a:endParaRPr kumimoji="0"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4B89EF58-E7D7-52A9-B76A-D6754B4BB133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r>
              <a:rPr lang="en-US" dirty="0"/>
              <a:t>For a 4-bit system, calculate the result of summation, setting C and V flags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EE1C15-FF51-08AC-2A57-2CF578AED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9844450"/>
              </p:ext>
            </p:extLst>
          </p:nvPr>
        </p:nvGraphicFramePr>
        <p:xfrm>
          <a:off x="381000" y="2178748"/>
          <a:ext cx="8610600" cy="3356166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endParaRPr kumimoji="0" lang="en-US" sz="1600" b="1" kern="1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4383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73C70-86D1-2699-001E-17FB9C6BE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53BA29-B415-B973-B39D-A5EE48719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50</a:t>
            </a:fld>
            <a:endParaRPr kumimoji="0"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B855329-644D-B313-F6DA-A77E9B02A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812572"/>
              </p:ext>
            </p:extLst>
          </p:nvPr>
        </p:nvGraphicFramePr>
        <p:xfrm>
          <a:off x="266700" y="2146852"/>
          <a:ext cx="8610600" cy="3322257"/>
        </p:xfrm>
        <a:graphic>
          <a:graphicData uri="http://schemas.openxmlformats.org/drawingml/2006/table">
            <a:tbl>
              <a:tblPr firstRow="1" bandRow="1"/>
              <a:tblGrid>
                <a:gridCol w="1524000">
                  <a:extLst>
                    <a:ext uri="{9D8B030D-6E8A-4147-A177-3AD203B41FA5}">
                      <a16:colId xmlns:a16="http://schemas.microsoft.com/office/drawing/2014/main" val="235966281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212662852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429073153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423441788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819084519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514109378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173739672"/>
                    </a:ext>
                  </a:extLst>
                </a:gridCol>
              </a:tblGrid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V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Correct? Unsigned/ Signed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Unsigned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600" kern="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Decimal Signed           (GT: Ground Truth)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2056900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+ 2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890508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+ 0110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10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+ 6 = -6 (GT 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663783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+ 14 = 10 (GT 26)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 2) = -6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6703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+ 1010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+ 10 = 6  (GT 22)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rtl="0" eaLnBrk="1" latinLnBrk="0" hangingPunct="1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+ (–6) = 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277809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0010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2 = 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16115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N / Y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14 (GT -2)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6 = -2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3010056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1100 - 0110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Y / N</a:t>
                      </a:r>
                      <a:endParaRPr lang="en-US" sz="1800" kern="100" dirty="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12 – 6 = 6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-4 – 6 = 6 (GT -10)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28422"/>
                  </a:ext>
                </a:extLst>
              </a:tr>
              <a:tr h="332105"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0100 - 1110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  <a:ea typeface="Times New Roman" panose="02020603050405020304" pitchFamily="18" charset="0"/>
                          <a:cs typeface="Consolas" panose="020B0609020204030204" pitchFamily="49" charset="0"/>
                        </a:rPr>
                        <a:t>0110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800" kern="100">
                        <a:effectLst/>
                        <a:latin typeface="Aptos" panose="020B0004020202020204" pitchFamily="34" charset="0"/>
                        <a:ea typeface="DengXian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N / 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14 = 6 (GT -10)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kumimoji="0" lang="en-US" sz="1600" b="1" kern="10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DengXian" panose="02010600030101010101" pitchFamily="2" charset="-122"/>
                          <a:cs typeface="Times New Roman" panose="02020603050405020304" pitchFamily="18" charset="0"/>
                        </a:rPr>
                        <a:t>4 – (-2) = 6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810937"/>
                  </a:ext>
                </a:extLst>
              </a:tr>
            </a:tbl>
          </a:graphicData>
        </a:graphic>
      </p:graphicFrame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D49BC51-81B0-0099-8662-2532F481FECD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83820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For a 4-bit system, calculate the result of summation, setting C and V flags</a:t>
            </a:r>
          </a:p>
          <a:p>
            <a:pPr lvl="1"/>
            <a:r>
              <a:rPr lang="en-US" dirty="0"/>
              <a:t>For a 4-bit system, unsigned range is [0, 15], signed range is [-8, 7]</a:t>
            </a:r>
          </a:p>
        </p:txBody>
      </p:sp>
    </p:spTree>
    <p:extLst>
      <p:ext uri="{BB962C8B-B14F-4D97-AF65-F5344CB8AC3E}">
        <p14:creationId xmlns:p14="http://schemas.microsoft.com/office/powerpoint/2010/main" val="283000309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387BE-21EF-D8F5-98CC-8E638AA4C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1D5CF-03FF-51D8-01E1-79DE52822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51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1F15F41E-EB7A-6ECD-3CFB-38D27911E9F1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8730980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4E99EB-A80A-64E3-3DC8-0F9341ACD6FF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C6837D-2422-BFB8-F87C-7FA5B761C9E2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BF5E2B1E-1943-38C7-5905-F4C88EAC39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7501292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606BFC-23E4-2641-7362-BF44732DFA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131644-8E94-FA19-4A25-27C373117556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967EEEEF-DB31-16C1-E51E-AA11ED143EE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38136486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9696F67-3162-0CEE-5F9F-C340110C76D5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7D0E2EB-4643-8298-6FFB-F644054699CA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6FCB6396-85EE-B89A-4A0B-9D70E0C24E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5682783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5303E1-F393-2BF6-3DF5-89ED60AD5E31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F78BDCB-4750-D7AD-9448-AC89996468A5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CAC2F7-7B48-A7B1-D707-D63B0BCE4A2D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91C844-4BC0-0B20-B37E-D78145261753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EFAB5-9995-5D1A-7108-FE6877E0AFFF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A33C9-48DD-5A86-81ED-82377FB93AD6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75381242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0FC2-E011-16F4-A825-FDB646CD6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63485E-D2FF-24D1-FFB8-DE3B4C3B8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/>
              <a:t>52</a:t>
            </a:fld>
            <a:endParaRPr kumimoji="0" lang="en-US" dirty="0"/>
          </a:p>
        </p:txBody>
      </p:sp>
      <p:graphicFrame>
        <p:nvGraphicFramePr>
          <p:cNvPr id="5" name="Content Placeholder 6">
            <a:extLst>
              <a:ext uri="{FF2B5EF4-FFF2-40B4-BE49-F238E27FC236}">
                <a16:creationId xmlns:a16="http://schemas.microsoft.com/office/drawing/2014/main" id="{65E83F07-A072-D782-6A5E-2BFF083E04B3}"/>
              </a:ext>
            </a:extLst>
          </p:cNvPr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86052353"/>
              </p:ext>
            </p:extLst>
          </p:nvPr>
        </p:nvGraphicFramePr>
        <p:xfrm>
          <a:off x="1822411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3055318-7742-96FB-5EF9-4FAAD2E571CD}"/>
              </a:ext>
            </a:extLst>
          </p:cNvPr>
          <p:cNvCxnSpPr>
            <a:cxnSpLocks/>
          </p:cNvCxnSpPr>
          <p:nvPr/>
        </p:nvCxnSpPr>
        <p:spPr>
          <a:xfrm>
            <a:off x="1593811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9412AA8-0F73-4034-C9CE-818495B51FCF}"/>
              </a:ext>
            </a:extLst>
          </p:cNvPr>
          <p:cNvSpPr txBox="1"/>
          <p:nvPr/>
        </p:nvSpPr>
        <p:spPr>
          <a:xfrm>
            <a:off x="596083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3" name="Content Placeholder 6">
            <a:extLst>
              <a:ext uri="{FF2B5EF4-FFF2-40B4-BE49-F238E27FC236}">
                <a16:creationId xmlns:a16="http://schemas.microsoft.com/office/drawing/2014/main" id="{F63A0396-E875-E526-563F-9D73C0C90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7729020"/>
              </p:ext>
            </p:extLst>
          </p:nvPr>
        </p:nvGraphicFramePr>
        <p:xfrm>
          <a:off x="6020804" y="133724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0DD06C4-7F91-F7F3-56AE-3011A68AFDC4}"/>
              </a:ext>
            </a:extLst>
          </p:cNvPr>
          <p:cNvCxnSpPr>
            <a:cxnSpLocks/>
          </p:cNvCxnSpPr>
          <p:nvPr/>
        </p:nvCxnSpPr>
        <p:spPr>
          <a:xfrm>
            <a:off x="5792204" y="288381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BBCA20D-EC11-8C63-568E-AF5BE0B4B92B}"/>
              </a:ext>
            </a:extLst>
          </p:cNvPr>
          <p:cNvSpPr txBox="1"/>
          <p:nvPr/>
        </p:nvSpPr>
        <p:spPr>
          <a:xfrm>
            <a:off x="4794476" y="244828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graphicFrame>
        <p:nvGraphicFramePr>
          <p:cNvPr id="16" name="Content Placeholder 6">
            <a:extLst>
              <a:ext uri="{FF2B5EF4-FFF2-40B4-BE49-F238E27FC236}">
                <a16:creationId xmlns:a16="http://schemas.microsoft.com/office/drawing/2014/main" id="{18815F9F-0A77-C53E-5E6E-AFCEED2346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4211764"/>
              </p:ext>
            </p:extLst>
          </p:nvPr>
        </p:nvGraphicFramePr>
        <p:xfrm>
          <a:off x="1838976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308CA73-4660-01B4-58EE-98419701A29E}"/>
              </a:ext>
            </a:extLst>
          </p:cNvPr>
          <p:cNvCxnSpPr>
            <a:cxnSpLocks/>
          </p:cNvCxnSpPr>
          <p:nvPr/>
        </p:nvCxnSpPr>
        <p:spPr>
          <a:xfrm>
            <a:off x="1610376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306B94-61E9-E613-CFA2-1C08136B278D}"/>
              </a:ext>
            </a:extLst>
          </p:cNvPr>
          <p:cNvSpPr txBox="1"/>
          <p:nvPr/>
        </p:nvSpPr>
        <p:spPr>
          <a:xfrm>
            <a:off x="612648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1</a:t>
            </a:r>
          </a:p>
          <a:p>
            <a:r>
              <a:rPr lang="en-US" sz="2800" dirty="0"/>
              <a:t>V = 1</a:t>
            </a:r>
          </a:p>
        </p:txBody>
      </p:sp>
      <p:graphicFrame>
        <p:nvGraphicFramePr>
          <p:cNvPr id="19" name="Content Placeholder 6">
            <a:extLst>
              <a:ext uri="{FF2B5EF4-FFF2-40B4-BE49-F238E27FC236}">
                <a16:creationId xmlns:a16="http://schemas.microsoft.com/office/drawing/2014/main" id="{84DB85B8-7574-25F2-060F-F0E37FAF80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2086678"/>
              </p:ext>
            </p:extLst>
          </p:nvPr>
        </p:nvGraphicFramePr>
        <p:xfrm>
          <a:off x="6037369" y="3845411"/>
          <a:ext cx="2171700" cy="2072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925">
                  <a:extLst>
                    <a:ext uri="{9D8B030D-6E8A-4147-A177-3AD203B41FA5}">
                      <a16:colId xmlns:a16="http://schemas.microsoft.com/office/drawing/2014/main" val="2710876334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628439230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2140181121"/>
                    </a:ext>
                  </a:extLst>
                </a:gridCol>
                <a:gridCol w="542925">
                  <a:extLst>
                    <a:ext uri="{9D8B030D-6E8A-4147-A177-3AD203B41FA5}">
                      <a16:colId xmlns:a16="http://schemas.microsoft.com/office/drawing/2014/main" val="1943046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0179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32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7431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73157"/>
                  </a:ext>
                </a:extLst>
              </a:tr>
            </a:tbl>
          </a:graphicData>
        </a:graphic>
      </p:graphicFrame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00725A8-080A-BD71-7DD2-6F9DA06C0DBB}"/>
              </a:ext>
            </a:extLst>
          </p:cNvPr>
          <p:cNvCxnSpPr>
            <a:cxnSpLocks/>
          </p:cNvCxnSpPr>
          <p:nvPr/>
        </p:nvCxnSpPr>
        <p:spPr>
          <a:xfrm>
            <a:off x="5808769" y="5391989"/>
            <a:ext cx="2667000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BA59ECF-E539-3CF2-7331-F24D28CA3E52}"/>
              </a:ext>
            </a:extLst>
          </p:cNvPr>
          <p:cNvSpPr txBox="1"/>
          <p:nvPr/>
        </p:nvSpPr>
        <p:spPr>
          <a:xfrm>
            <a:off x="4811041" y="4956459"/>
            <a:ext cx="10278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 = 0</a:t>
            </a:r>
          </a:p>
          <a:p>
            <a:r>
              <a:rPr lang="en-US" sz="2800" dirty="0"/>
              <a:t>V =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82C3D1-9D60-C236-C2F8-5F422D8F9736}"/>
              </a:ext>
            </a:extLst>
          </p:cNvPr>
          <p:cNvSpPr txBox="1"/>
          <p:nvPr/>
        </p:nvSpPr>
        <p:spPr>
          <a:xfrm>
            <a:off x="817446" y="873962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0010 = 0100 + 1110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473BA3-1C93-0ECA-CF12-1C0F34AEF3F8}"/>
              </a:ext>
            </a:extLst>
          </p:cNvPr>
          <p:cNvSpPr txBox="1"/>
          <p:nvPr/>
        </p:nvSpPr>
        <p:spPr>
          <a:xfrm>
            <a:off x="4953000" y="873963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0110 = 0100 + 1010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289A5-B78D-C5A1-6E73-CEAD62EBFA85}"/>
              </a:ext>
            </a:extLst>
          </p:cNvPr>
          <p:cNvSpPr txBox="1"/>
          <p:nvPr/>
        </p:nvSpPr>
        <p:spPr>
          <a:xfrm>
            <a:off x="817446" y="3438336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1100 – 0110 = 1100 + 1010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89D623-F045-D185-C4D1-81732EF37614}"/>
              </a:ext>
            </a:extLst>
          </p:cNvPr>
          <p:cNvSpPr txBox="1"/>
          <p:nvPr/>
        </p:nvSpPr>
        <p:spPr>
          <a:xfrm>
            <a:off x="4953000" y="3448120"/>
            <a:ext cx="3754554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400" dirty="0"/>
              <a:t>0100 – 1110 = 0100 + 0010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0645D20-AFA0-6C43-3DA8-702124B7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46290"/>
            <a:ext cx="8229600" cy="990600"/>
          </a:xfrm>
        </p:spPr>
        <p:txBody>
          <a:bodyPr/>
          <a:lstStyle/>
          <a:p>
            <a:r>
              <a:rPr lang="en-US" dirty="0"/>
              <a:t>Addition &amp; Subtraction 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936A83-1579-8CB9-0726-27085A2456A7}"/>
              </a:ext>
            </a:extLst>
          </p:cNvPr>
          <p:cNvSpPr txBox="1"/>
          <p:nvPr/>
        </p:nvSpPr>
        <p:spPr>
          <a:xfrm>
            <a:off x="8149434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1CF86A-D4ED-E25F-19E3-E1F021E47C8F}"/>
              </a:ext>
            </a:extLst>
          </p:cNvPr>
          <p:cNvSpPr txBox="1"/>
          <p:nvPr/>
        </p:nvSpPr>
        <p:spPr>
          <a:xfrm>
            <a:off x="3972576" y="1358604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7C7F06-67DF-7BC1-E659-4759B0125435}"/>
              </a:ext>
            </a:extLst>
          </p:cNvPr>
          <p:cNvSpPr txBox="1"/>
          <p:nvPr/>
        </p:nvSpPr>
        <p:spPr>
          <a:xfrm>
            <a:off x="3972576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E27724-9882-64E4-9FA6-DF613F1C77AE}"/>
              </a:ext>
            </a:extLst>
          </p:cNvPr>
          <p:cNvSpPr txBox="1"/>
          <p:nvPr/>
        </p:nvSpPr>
        <p:spPr>
          <a:xfrm>
            <a:off x="8192504" y="3937849"/>
            <a:ext cx="79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Carry</a:t>
            </a:r>
          </a:p>
        </p:txBody>
      </p:sp>
    </p:spTree>
    <p:extLst>
      <p:ext uri="{BB962C8B-B14F-4D97-AF65-F5344CB8AC3E}">
        <p14:creationId xmlns:p14="http://schemas.microsoft.com/office/powerpoint/2010/main" val="90848896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3655</TotalTime>
  <Words>6347</Words>
  <Application>Microsoft Office PowerPoint</Application>
  <PresentationFormat>On-screen Show (4:3)</PresentationFormat>
  <Paragraphs>906</Paragraphs>
  <Slides>52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64" baseType="lpstr">
      <vt:lpstr>Bookman Old Style (Headings)</vt:lpstr>
      <vt:lpstr>Gill Sans Light</vt:lpstr>
      <vt:lpstr>Aptos</vt:lpstr>
      <vt:lpstr>Bookman Old Style</vt:lpstr>
      <vt:lpstr>Calibri</vt:lpstr>
      <vt:lpstr>Cambria Math</vt:lpstr>
      <vt:lpstr>Consolas</vt:lpstr>
      <vt:lpstr>Gill Sans MT</vt:lpstr>
      <vt:lpstr>Times New Roman</vt:lpstr>
      <vt:lpstr>Wingdings</vt:lpstr>
      <vt:lpstr>Wingdings 3</vt:lpstr>
      <vt:lpstr>Origin</vt:lpstr>
      <vt:lpstr>Z. Gu</vt:lpstr>
      <vt:lpstr>Barrel Shifter: Explanations</vt:lpstr>
      <vt:lpstr>Carry and Overflow Flags w/ Arithmetic Instructions</vt:lpstr>
      <vt:lpstr>Bit Manipulations</vt:lpstr>
      <vt:lpstr>Bit Manipulations ANS</vt:lpstr>
      <vt:lpstr>Bit Manipulations</vt:lpstr>
      <vt:lpstr>Bit Manipulations ANS</vt:lpstr>
      <vt:lpstr>Clearing a Register </vt:lpstr>
      <vt:lpstr>Clearing a Register ANS </vt:lpstr>
      <vt:lpstr>Set bits</vt:lpstr>
      <vt:lpstr>Set bits ANS</vt:lpstr>
      <vt:lpstr>Add two 128-bit numbers</vt:lpstr>
      <vt:lpstr>Add two 128-bit numbers ANS</vt:lpstr>
      <vt:lpstr>Absolute value</vt:lpstr>
      <vt:lpstr>Absolute value ANS</vt:lpstr>
      <vt:lpstr>Arithmetic with Shifts</vt:lpstr>
      <vt:lpstr>Q1 ANS</vt:lpstr>
      <vt:lpstr>Q2 ANS</vt:lpstr>
      <vt:lpstr>Q3 ANS</vt:lpstr>
      <vt:lpstr>Q4 ANS</vt:lpstr>
      <vt:lpstr>Q5 ANS</vt:lpstr>
      <vt:lpstr>Assembly Programming</vt:lpstr>
      <vt:lpstr>Assembly Programming ANS</vt:lpstr>
      <vt:lpstr>Shift LSL</vt:lpstr>
      <vt:lpstr>Shift LSL ANS</vt:lpstr>
      <vt:lpstr>Shift LSLS ANS</vt:lpstr>
      <vt:lpstr>Shift LSR ASR ANS</vt:lpstr>
      <vt:lpstr>Shift ASR</vt:lpstr>
      <vt:lpstr>Shift ASR ANS</vt:lpstr>
      <vt:lpstr>Multiply without MUL</vt:lpstr>
      <vt:lpstr>Multiply without MUL ANS</vt:lpstr>
      <vt:lpstr>Count number of ones</vt:lpstr>
      <vt:lpstr>Count the number of ones ANS</vt:lpstr>
      <vt:lpstr>Count the number of zeros</vt:lpstr>
      <vt:lpstr>Count the number of zeros ANS</vt:lpstr>
      <vt:lpstr>Compute Polynomial</vt:lpstr>
      <vt:lpstr>Compute Polynomial</vt:lpstr>
      <vt:lpstr>Compute Polynomial</vt:lpstr>
      <vt:lpstr>Flags ANDS</vt:lpstr>
      <vt:lpstr>Flags ANDS ANS</vt:lpstr>
      <vt:lpstr>Flags ADDS</vt:lpstr>
      <vt:lpstr>Flags ADDS ANS</vt:lpstr>
      <vt:lpstr>Flags</vt:lpstr>
      <vt:lpstr>Flags ANS</vt:lpstr>
      <vt:lpstr>Flags ANS</vt:lpstr>
      <vt:lpstr>Flags</vt:lpstr>
      <vt:lpstr>Flags ANS</vt:lpstr>
      <vt:lpstr>Flags ANS</vt:lpstr>
      <vt:lpstr>Addition &amp; Subtraction</vt:lpstr>
      <vt:lpstr>Addition &amp; Subtraction ANS</vt:lpstr>
      <vt:lpstr>Addition &amp; Subtraction ANS</vt:lpstr>
      <vt:lpstr>Addition &amp; Subtraction ANS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Yifeng Zhu Electrical and Computer Engineering University of Maine</dc:title>
  <dc:creator>zhu</dc:creator>
  <cp:lastModifiedBy>Zonghua Gu</cp:lastModifiedBy>
  <cp:revision>346</cp:revision>
  <cp:lastPrinted>2025-10-09T21:51:20Z</cp:lastPrinted>
  <dcterms:created xsi:type="dcterms:W3CDTF">2014-02-05T02:41:42Z</dcterms:created>
  <dcterms:modified xsi:type="dcterms:W3CDTF">2025-10-16T22:40:45Z</dcterms:modified>
</cp:coreProperties>
</file>