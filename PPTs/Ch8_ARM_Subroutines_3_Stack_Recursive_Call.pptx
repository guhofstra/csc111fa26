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256" r:id="rId2"/>
    <p:sldId id="291" r:id="rId3"/>
    <p:sldId id="297" r:id="rId4"/>
    <p:sldId id="298" r:id="rId5"/>
    <p:sldId id="293" r:id="rId6"/>
    <p:sldId id="296" r:id="rId7"/>
    <p:sldId id="290" r:id="rId8"/>
    <p:sldId id="295" r:id="rId9"/>
    <p:sldId id="258" r:id="rId10"/>
    <p:sldId id="289" r:id="rId11"/>
    <p:sldId id="301" r:id="rId12"/>
    <p:sldId id="302" r:id="rId13"/>
    <p:sldId id="259" r:id="rId14"/>
    <p:sldId id="300" r:id="rId15"/>
    <p:sldId id="260" r:id="rId16"/>
    <p:sldId id="261" r:id="rId17"/>
    <p:sldId id="262" r:id="rId18"/>
    <p:sldId id="299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303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9"/>
    <p:restoredTop sz="94633"/>
  </p:normalViewPr>
  <p:slideViewPr>
    <p:cSldViewPr>
      <p:cViewPr varScale="1">
        <p:scale>
          <a:sx n="78" d="100"/>
          <a:sy n="78" d="100"/>
        </p:scale>
        <p:origin x="141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775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handoutMaster" Target="handoutMasters/handout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6-04-23T14:32:38.298" v="434" actId="14100"/>
      <pc:docMkLst>
        <pc:docMk/>
      </pc:docMkLst>
      <pc:sldChg chg="addSp delSp modSp new mod">
        <pc:chgData name="Zonghua Gu" userId="9a7e1853e1951ef5" providerId="LiveId" clId="{CF1FAA12-072C-4ED5-BA76-0FFFAEFDB88A}" dt="2026-04-23T14:32:38.298" v="434" actId="14100"/>
        <pc:sldMkLst>
          <pc:docMk/>
          <pc:sldMk cId="3131487582" sldId="303"/>
        </pc:sldMkLst>
        <pc:graphicFrameChg chg="add mod modGraphic">
          <ac:chgData name="Zonghua Gu" userId="9a7e1853e1951ef5" providerId="LiveId" clId="{CF1FAA12-072C-4ED5-BA76-0FFFAEFDB88A}" dt="2026-04-23T14:32:38.298" v="434" actId="14100"/>
          <ac:graphicFrameMkLst>
            <pc:docMk/>
            <pc:sldMk cId="3131487582" sldId="303"/>
            <ac:graphicFrameMk id="5" creationId="{C4B8D446-81E7-1555-31A5-9200D21C5068}"/>
          </ac:graphicFrameMkLst>
        </pc:graphicFrame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EF719-015B-3149-B0DB-04DEB652C8E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5088D-F0DD-CE46-B4BA-776179528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365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9B6CA9-4ACC-4B9F-9FE0-F451E90D37FB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2AF1D-1787-4F45-8D94-E743595044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0372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057A6A-B77C-4897-B1C8-6A79DF1ACFEA}" type="slidenum">
              <a:rPr lang="en-US"/>
              <a:pPr/>
              <a:t>6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7075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F85A4BD1-C214-914B-ACAB-15CC00F00739}" type="datetime1">
              <a:rPr lang="en-US" smtClean="0"/>
              <a:t>4/23/2026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2057C9E-E7C3-EE45-9F4E-F943ABC660F8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1FD3CCF0-0E50-ED4E-895E-E8E91B07F444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460B456-48DA-0E4B-A7CE-7EAC8A961D4B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7D4BE25-EA1C-E844-A7AF-FB3B72089F6C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3AD30CC-A691-8F46-9733-17067A201D17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DB8808-C7CE-7649-8A75-54570C85AAC9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B1CA8DD-B321-DF43-9569-813D48D9FB26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4CCB8E-2508-BA4C-BD9F-FBC696344050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256E47D-7E0C-F94C-9A57-378282A29535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D1F3413-51B0-8346-854A-D8FC5A75D85E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37E1065-3FAD-C44F-A231-7AC12CF83CF4}" type="datetime1">
              <a:rPr lang="en-US" smtClean="0"/>
              <a:t>4/23/2026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eb.eece.maine.edu/~zhu/boo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22701" y="1828800"/>
            <a:ext cx="45466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8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Stack and Recursive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183780-8710-ED74-E383-ACCE489FFBBB}"/>
              </a:ext>
            </a:extLst>
          </p:cNvPr>
          <p:cNvSpPr txBox="1"/>
          <p:nvPr/>
        </p:nvSpPr>
        <p:spPr>
          <a:xfrm>
            <a:off x="838200" y="6307127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kern="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2"/>
              </a:rPr>
              <a:t>https://web.eece.maine.edu/~zhu/book/</a:t>
            </a:r>
            <a:r>
              <a:rPr lang="en-US" altLang="zh-CN" sz="1200" kern="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1200" kern="0" dirty="0">
              <a:solidFill>
                <a:prstClr val="black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Functions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CC0000"/>
                </a:solidFill>
              </a:rPr>
              <a:t>recursive function</a:t>
            </a:r>
            <a:r>
              <a:rPr lang="en-US" sz="2800" dirty="0"/>
              <a:t> is one that solves its task by </a:t>
            </a:r>
            <a:r>
              <a:rPr lang="en-US" sz="2800" dirty="0">
                <a:solidFill>
                  <a:srgbClr val="CC0000"/>
                </a:solidFill>
              </a:rPr>
              <a:t>calling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CC0000"/>
                </a:solidFill>
              </a:rPr>
              <a:t>itself</a:t>
            </a:r>
            <a:r>
              <a:rPr lang="en-US" sz="2800" dirty="0"/>
              <a:t> on smaller pieces of data.</a:t>
            </a:r>
          </a:p>
          <a:p>
            <a:r>
              <a:rPr lang="en-US" dirty="0"/>
              <a:t>An effective tactic is to </a:t>
            </a:r>
          </a:p>
          <a:p>
            <a:pPr lvl="1"/>
            <a:r>
              <a:rPr lang="en-US" dirty="0"/>
              <a:t>divide a problem into sub-problems of the same type as the original,</a:t>
            </a:r>
          </a:p>
          <a:p>
            <a:pPr lvl="1"/>
            <a:r>
              <a:rPr lang="en-US" dirty="0"/>
              <a:t>solve those sub-problems, and </a:t>
            </a:r>
          </a:p>
          <a:p>
            <a:pPr lvl="1"/>
            <a:r>
              <a:rPr lang="en-US" dirty="0"/>
              <a:t>combine the results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Factorial(n)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209800"/>
            <a:ext cx="4267200" cy="533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onsolas"/>
                <a:cs typeface="Consolas"/>
              </a:rPr>
              <a:t>1 × 2 × 3 × … × n</a:t>
            </a:r>
          </a:p>
        </p:txBody>
      </p:sp>
      <p:sp>
        <p:nvSpPr>
          <p:cNvPr id="6" name="Rectangle 5"/>
          <p:cNvSpPr/>
          <p:nvPr/>
        </p:nvSpPr>
        <p:spPr>
          <a:xfrm>
            <a:off x="1905000" y="2971800"/>
            <a:ext cx="1752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factorial(0)</a:t>
            </a:r>
          </a:p>
        </p:txBody>
      </p:sp>
      <p:sp>
        <p:nvSpPr>
          <p:cNvPr id="7" name="Rectangle 6"/>
          <p:cNvSpPr/>
          <p:nvPr/>
        </p:nvSpPr>
        <p:spPr>
          <a:xfrm>
            <a:off x="3581400" y="2971800"/>
            <a:ext cx="1371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5000" y="3429000"/>
            <a:ext cx="1752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factorial(1)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81400" y="3429000"/>
            <a:ext cx="1371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3429000"/>
            <a:ext cx="2590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1 × factorial(0)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8862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1400" y="3886200"/>
            <a:ext cx="1371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2×1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3886200"/>
            <a:ext cx="2590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2 × factorial(1)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52600" y="4343400"/>
            <a:ext cx="1905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81400" y="4343400"/>
            <a:ext cx="1371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3×2×1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4343400"/>
            <a:ext cx="2590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3 × factorial(2)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8006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4800600"/>
            <a:ext cx="1371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4×3×2×1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4800600"/>
            <a:ext cx="2590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4 × factorial(3)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52600" y="5257800"/>
            <a:ext cx="1905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400" y="5257800"/>
            <a:ext cx="19812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n×(n-1)×…×1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5257800"/>
            <a:ext cx="3048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n × factorial(n-1)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910067" y="1524000"/>
            <a:ext cx="33400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cs typeface="Consolas"/>
              </a:rPr>
              <a:t>Product of the first n numbers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95578-6362-40ED-A1CA-67F0418FAFB2}" type="slidenum">
              <a:rPr lang="en-US"/>
              <a:pPr/>
              <a:t>4</a:t>
            </a:fld>
            <a:endParaRPr lang="en-US"/>
          </a:p>
        </p:txBody>
      </p:sp>
      <p:sp>
        <p:nvSpPr>
          <p:cNvPr id="32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Example: Factorial</a:t>
            </a:r>
            <a:endParaRPr lang="en-US" sz="2400" dirty="0"/>
          </a:p>
        </p:txBody>
      </p:sp>
      <p:sp>
        <p:nvSpPr>
          <p:cNvPr id="32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4613"/>
            <a:ext cx="8164513" cy="26939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Factorial is the classic example: </a:t>
            </a:r>
            <a:endParaRPr lang="en-US" sz="2400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6! =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6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5!</a:t>
            </a:r>
          </a:p>
          <a:p>
            <a:pPr lvl="1">
              <a:lnSpc>
                <a:spcPct val="90000"/>
              </a:lnSpc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6! = 6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5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4!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...</a:t>
            </a:r>
          </a:p>
          <a:p>
            <a:pPr lvl="1">
              <a:lnSpc>
                <a:spcPct val="90000"/>
              </a:lnSpc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6! = 6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5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4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3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2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1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The factorial function can be easily written as a recursive function:</a:t>
            </a:r>
          </a:p>
        </p:txBody>
      </p:sp>
      <p:sp>
        <p:nvSpPr>
          <p:cNvPr id="3212292" name="Text Box 4"/>
          <p:cNvSpPr txBox="1">
            <a:spLocks noChangeArrowheads="1"/>
          </p:cNvSpPr>
          <p:nvPr/>
        </p:nvSpPr>
        <p:spPr bwMode="auto">
          <a:xfrm>
            <a:off x="1981200" y="4038600"/>
            <a:ext cx="5362575" cy="2111347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Factorial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n) {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hangingPunct="0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if (n &lt; 2) </a:t>
            </a:r>
          </a:p>
          <a:p>
            <a:pPr eaLnBrk="0" hangingPunct="0">
              <a:buClr>
                <a:schemeClr val="accent2"/>
              </a:buClr>
              <a:buSzPct val="75000"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	return 1;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base case */</a:t>
            </a:r>
          </a:p>
          <a:p>
            <a:pPr eaLnBrk="0" hangingPunct="0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eaLnBrk="0" hangingPunct="0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return (n *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Factorial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(n - 1));</a:t>
            </a:r>
          </a:p>
          <a:p>
            <a:pPr eaLnBrk="0" hangingPunct="0">
              <a:buClr>
                <a:schemeClr val="accent2"/>
              </a:buClr>
              <a:buSzPct val="75000"/>
              <a:buFont typeface="Monotype Sorts" pitchFamily="2" charset="2"/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hangingPunct="0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2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2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2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2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2291" grpId="0" build="p" autoUpdateAnimBg="0"/>
      <p:bldP spid="3212292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E899D-7AAA-43FE-AEC5-A9739E93E213}" type="slidenum">
              <a:rPr lang="en-US"/>
              <a:pPr/>
              <a:t>5</a:t>
            </a:fld>
            <a:endParaRPr lang="en-US"/>
          </a:p>
        </p:txBody>
      </p:sp>
      <p:sp>
        <p:nvSpPr>
          <p:cNvPr id="33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Example: Fibonacci Numbers</a:t>
            </a:r>
          </a:p>
        </p:txBody>
      </p:sp>
      <p:sp>
        <p:nvSpPr>
          <p:cNvPr id="3307523" name="Text Box 3"/>
          <p:cNvSpPr txBox="1">
            <a:spLocks noChangeArrowheads="1"/>
          </p:cNvSpPr>
          <p:nvPr/>
        </p:nvSpPr>
        <p:spPr bwMode="auto">
          <a:xfrm>
            <a:off x="470091" y="1295400"/>
            <a:ext cx="392286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f(n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 = f(n-1) + f(n-2)</a:t>
            </a:r>
          </a:p>
          <a:p>
            <a:pPr eaLnBrk="0" hangingPunct="0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f(0) = 1</a:t>
            </a:r>
          </a:p>
          <a:p>
            <a:pPr eaLnBrk="0" hangingPunct="0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f(1) = 1</a:t>
            </a:r>
          </a:p>
        </p:txBody>
      </p:sp>
      <p:sp>
        <p:nvSpPr>
          <p:cNvPr id="3307524" name="Text Box 4"/>
          <p:cNvSpPr txBox="1">
            <a:spLocks noChangeArrowheads="1"/>
          </p:cNvSpPr>
          <p:nvPr/>
        </p:nvSpPr>
        <p:spPr bwMode="auto">
          <a:xfrm>
            <a:off x="466149" y="2718880"/>
            <a:ext cx="828944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1, 1, 2, 3, 5, 8, 13, 21, 34, 55, 89, 144, 233, 377, 610, 987, …</a:t>
            </a:r>
          </a:p>
        </p:txBody>
      </p:sp>
      <p:sp>
        <p:nvSpPr>
          <p:cNvPr id="3307531" name="Text Box 11"/>
          <p:cNvSpPr txBox="1">
            <a:spLocks noChangeArrowheads="1"/>
          </p:cNvSpPr>
          <p:nvPr/>
        </p:nvSpPr>
        <p:spPr bwMode="auto">
          <a:xfrm>
            <a:off x="1336675" y="3581400"/>
            <a:ext cx="6112571" cy="2308324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/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</a:rPr>
              <a:t>Fibonacci</a:t>
            </a:r>
            <a:r>
              <a:rPr lang="en-US" sz="1800" b="1" dirty="0">
                <a:latin typeface="Courier New" pitchFamily="49" charset="0"/>
              </a:rPr>
              <a:t>(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n) {</a:t>
            </a:r>
          </a:p>
          <a:p>
            <a:pPr eaLnBrk="0" hangingPunct="0"/>
            <a:endParaRPr lang="en-US" sz="1800" b="1" dirty="0">
              <a:latin typeface="Courier New" pitchFamily="49" charset="0"/>
            </a:endParaRPr>
          </a:p>
          <a:p>
            <a:pPr eaLnBrk="0" hangingPunct="0"/>
            <a:r>
              <a:rPr lang="en-US" sz="1800" b="1" dirty="0">
                <a:latin typeface="Courier New" pitchFamily="49" charset="0"/>
              </a:rPr>
              <a:t>  if (n &lt;= 1) </a:t>
            </a:r>
          </a:p>
          <a:p>
            <a:pPr eaLnBrk="0" hangingPunct="0"/>
            <a:r>
              <a:rPr lang="en-US" b="1" dirty="0">
                <a:latin typeface="Courier New" pitchFamily="49" charset="0"/>
              </a:rPr>
              <a:t>    </a:t>
            </a:r>
            <a:r>
              <a:rPr lang="en-US" sz="1800" b="1" dirty="0">
                <a:latin typeface="Courier New" pitchFamily="49" charset="0"/>
              </a:rPr>
              <a:t>return 1;  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</a:rPr>
              <a:t>/* base case */</a:t>
            </a:r>
          </a:p>
          <a:p>
            <a:pPr eaLnBrk="0" hangingPunct="0"/>
            <a:endParaRPr lang="en-US" sz="1800" b="1" dirty="0">
              <a:latin typeface="Courier New" pitchFamily="49" charset="0"/>
            </a:endParaRPr>
          </a:p>
          <a:p>
            <a:pPr eaLnBrk="0" hangingPunct="0"/>
            <a:r>
              <a:rPr lang="en-US" sz="1800" b="1" dirty="0">
                <a:latin typeface="Courier New" pitchFamily="49" charset="0"/>
              </a:rPr>
              <a:t>  return (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</a:rPr>
              <a:t>Fibonacci</a:t>
            </a:r>
            <a:r>
              <a:rPr lang="en-US" sz="1800" b="1" dirty="0">
                <a:latin typeface="Courier New" pitchFamily="49" charset="0"/>
              </a:rPr>
              <a:t>(n-1) +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</a:rPr>
              <a:t>Fibonacci</a:t>
            </a:r>
            <a:r>
              <a:rPr lang="en-US" sz="1800" b="1" dirty="0">
                <a:latin typeface="Courier New" pitchFamily="49" charset="0"/>
              </a:rPr>
              <a:t>(n-2));</a:t>
            </a:r>
          </a:p>
          <a:p>
            <a:pPr eaLnBrk="0" hangingPunct="0"/>
            <a:endParaRPr lang="en-US" sz="1800" b="1" dirty="0">
              <a:latin typeface="Courier New" pitchFamily="49" charset="0"/>
            </a:endParaRPr>
          </a:p>
          <a:p>
            <a:pPr eaLnBrk="0" hangingPunct="0"/>
            <a:r>
              <a:rPr lang="en-US" sz="1800" b="1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0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07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23" grpId="0"/>
      <p:bldP spid="3307524" grpId="0"/>
      <p:bldP spid="33075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Analysis of fib(5)</a:t>
            </a:r>
          </a:p>
        </p:txBody>
      </p:sp>
      <p:sp>
        <p:nvSpPr>
          <p:cNvPr id="17411" name="Rectangle 81"/>
          <p:cNvSpPr>
            <a:spLocks noGrp="1" noChangeArrowheads="1"/>
          </p:cNvSpPr>
          <p:nvPr>
            <p:ph idx="1"/>
          </p:nvPr>
        </p:nvSpPr>
        <p:spPr>
          <a:xfrm>
            <a:off x="196850" y="1327150"/>
            <a:ext cx="3727450" cy="1181100"/>
          </a:xfr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</a:rPr>
              <a:t> fib(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</a:rPr>
              <a:t> n) {	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en-US" sz="1600" b="1" dirty="0">
                <a:latin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</a:rPr>
              <a:t>(n == 0 || n == 1)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en-US" sz="1600" b="1" dirty="0">
                <a:latin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</a:rPr>
              <a:t> n;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en-US" sz="1600" b="1" dirty="0">
                <a:latin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else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en-US" sz="1600" b="1" dirty="0">
                <a:solidFill>
                  <a:srgbClr val="A50021"/>
                </a:solidFill>
                <a:latin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</a:rPr>
              <a:t> fib(n-1) + fib(n-2); }</a:t>
            </a:r>
          </a:p>
        </p:txBody>
      </p:sp>
      <p:sp>
        <p:nvSpPr>
          <p:cNvPr id="8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EB8D96-4B06-48D3-B8C3-4DE55D93EFF0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16067" name="Text Box 3"/>
          <p:cNvSpPr txBox="1">
            <a:spLocks noChangeArrowheads="1"/>
          </p:cNvSpPr>
          <p:nvPr/>
        </p:nvSpPr>
        <p:spPr bwMode="auto">
          <a:xfrm>
            <a:off x="5003800" y="2133600"/>
            <a:ext cx="865188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fib(5)</a:t>
            </a:r>
          </a:p>
        </p:txBody>
      </p:sp>
      <p:sp>
        <p:nvSpPr>
          <p:cNvPr id="216068" name="Line 4"/>
          <p:cNvSpPr>
            <a:spLocks noChangeShapeType="1"/>
          </p:cNvSpPr>
          <p:nvPr/>
        </p:nvSpPr>
        <p:spPr bwMode="auto">
          <a:xfrm>
            <a:off x="5292725" y="1701800"/>
            <a:ext cx="0" cy="431800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69" name="Text Box 5"/>
          <p:cNvSpPr txBox="1">
            <a:spLocks noChangeArrowheads="1"/>
          </p:cNvSpPr>
          <p:nvPr/>
        </p:nvSpPr>
        <p:spPr bwMode="auto">
          <a:xfrm>
            <a:off x="2916238" y="2997200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fib(4)</a:t>
            </a:r>
          </a:p>
        </p:txBody>
      </p:sp>
      <p:sp>
        <p:nvSpPr>
          <p:cNvPr id="216070" name="Text Box 6"/>
          <p:cNvSpPr txBox="1">
            <a:spLocks noChangeArrowheads="1"/>
          </p:cNvSpPr>
          <p:nvPr/>
        </p:nvSpPr>
        <p:spPr bwMode="auto">
          <a:xfrm>
            <a:off x="7164388" y="2925763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fib(3)</a:t>
            </a:r>
          </a:p>
        </p:txBody>
      </p:sp>
      <p:sp>
        <p:nvSpPr>
          <p:cNvPr id="216071" name="Text Box 7"/>
          <p:cNvSpPr txBox="1">
            <a:spLocks noChangeArrowheads="1"/>
          </p:cNvSpPr>
          <p:nvPr/>
        </p:nvSpPr>
        <p:spPr bwMode="auto">
          <a:xfrm>
            <a:off x="1692275" y="3933825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fib(3)</a:t>
            </a:r>
          </a:p>
        </p:txBody>
      </p:sp>
      <p:sp>
        <p:nvSpPr>
          <p:cNvPr id="216072" name="Text Box 8"/>
          <p:cNvSpPr txBox="1">
            <a:spLocks noChangeArrowheads="1"/>
          </p:cNvSpPr>
          <p:nvPr/>
        </p:nvSpPr>
        <p:spPr bwMode="auto">
          <a:xfrm>
            <a:off x="4140200" y="3933825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fib(2)</a:t>
            </a:r>
          </a:p>
        </p:txBody>
      </p:sp>
      <p:sp>
        <p:nvSpPr>
          <p:cNvPr id="216073" name="Text Box 9"/>
          <p:cNvSpPr txBox="1">
            <a:spLocks noChangeArrowheads="1"/>
          </p:cNvSpPr>
          <p:nvPr/>
        </p:nvSpPr>
        <p:spPr bwMode="auto">
          <a:xfrm>
            <a:off x="3565525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fib(1)</a:t>
            </a:r>
          </a:p>
        </p:txBody>
      </p:sp>
      <p:sp>
        <p:nvSpPr>
          <p:cNvPr id="216074" name="Text Box 10"/>
          <p:cNvSpPr txBox="1">
            <a:spLocks noChangeArrowheads="1"/>
          </p:cNvSpPr>
          <p:nvPr/>
        </p:nvSpPr>
        <p:spPr bwMode="auto">
          <a:xfrm>
            <a:off x="4716463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fib(0)</a:t>
            </a:r>
          </a:p>
        </p:txBody>
      </p:sp>
      <p:sp>
        <p:nvSpPr>
          <p:cNvPr id="216075" name="Line 11"/>
          <p:cNvSpPr>
            <a:spLocks noChangeShapeType="1"/>
          </p:cNvSpPr>
          <p:nvPr/>
        </p:nvSpPr>
        <p:spPr bwMode="auto">
          <a:xfrm flipH="1">
            <a:off x="3924300" y="4365625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76" name="Text Box 12"/>
          <p:cNvSpPr txBox="1">
            <a:spLocks noChangeArrowheads="1"/>
          </p:cNvSpPr>
          <p:nvPr/>
        </p:nvSpPr>
        <p:spPr bwMode="auto">
          <a:xfrm>
            <a:off x="1116013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fib(2)</a:t>
            </a:r>
          </a:p>
        </p:txBody>
      </p:sp>
      <p:sp>
        <p:nvSpPr>
          <p:cNvPr id="216077" name="Text Box 13"/>
          <p:cNvSpPr txBox="1">
            <a:spLocks noChangeArrowheads="1"/>
          </p:cNvSpPr>
          <p:nvPr/>
        </p:nvSpPr>
        <p:spPr bwMode="auto">
          <a:xfrm>
            <a:off x="541338" y="5949950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fib(1)</a:t>
            </a:r>
          </a:p>
        </p:txBody>
      </p:sp>
      <p:sp>
        <p:nvSpPr>
          <p:cNvPr id="216078" name="Text Box 14"/>
          <p:cNvSpPr txBox="1">
            <a:spLocks noChangeArrowheads="1"/>
          </p:cNvSpPr>
          <p:nvPr/>
        </p:nvSpPr>
        <p:spPr bwMode="auto">
          <a:xfrm>
            <a:off x="1692275" y="5949950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fib(0)</a:t>
            </a:r>
          </a:p>
        </p:txBody>
      </p:sp>
      <p:sp>
        <p:nvSpPr>
          <p:cNvPr id="216079" name="Line 15"/>
          <p:cNvSpPr>
            <a:spLocks noChangeShapeType="1"/>
          </p:cNvSpPr>
          <p:nvPr/>
        </p:nvSpPr>
        <p:spPr bwMode="auto">
          <a:xfrm flipH="1">
            <a:off x="900113" y="5373688"/>
            <a:ext cx="360362" cy="576262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80" name="Text Box 16"/>
          <p:cNvSpPr txBox="1">
            <a:spLocks noChangeArrowheads="1"/>
          </p:cNvSpPr>
          <p:nvPr/>
        </p:nvSpPr>
        <p:spPr bwMode="auto">
          <a:xfrm>
            <a:off x="2268538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fib(1)</a:t>
            </a:r>
          </a:p>
        </p:txBody>
      </p:sp>
      <p:sp>
        <p:nvSpPr>
          <p:cNvPr id="216081" name="Line 17"/>
          <p:cNvSpPr>
            <a:spLocks noChangeShapeType="1"/>
          </p:cNvSpPr>
          <p:nvPr/>
        </p:nvSpPr>
        <p:spPr bwMode="auto">
          <a:xfrm flipH="1">
            <a:off x="1476375" y="4365625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82" name="Line 18"/>
          <p:cNvSpPr>
            <a:spLocks noChangeShapeType="1"/>
          </p:cNvSpPr>
          <p:nvPr/>
        </p:nvSpPr>
        <p:spPr bwMode="auto">
          <a:xfrm>
            <a:off x="3636963" y="3429000"/>
            <a:ext cx="1079500" cy="504825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83" name="Text Box 19"/>
          <p:cNvSpPr txBox="1">
            <a:spLocks noChangeArrowheads="1"/>
          </p:cNvSpPr>
          <p:nvPr/>
        </p:nvSpPr>
        <p:spPr bwMode="auto">
          <a:xfrm>
            <a:off x="6588125" y="3933825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fib(2)</a:t>
            </a:r>
          </a:p>
        </p:txBody>
      </p:sp>
      <p:sp>
        <p:nvSpPr>
          <p:cNvPr id="216084" name="Text Box 20"/>
          <p:cNvSpPr txBox="1">
            <a:spLocks noChangeArrowheads="1"/>
          </p:cNvSpPr>
          <p:nvPr/>
        </p:nvSpPr>
        <p:spPr bwMode="auto">
          <a:xfrm>
            <a:off x="6013450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fib(1)</a:t>
            </a:r>
          </a:p>
        </p:txBody>
      </p:sp>
      <p:sp>
        <p:nvSpPr>
          <p:cNvPr id="216085" name="Text Box 21"/>
          <p:cNvSpPr txBox="1">
            <a:spLocks noChangeArrowheads="1"/>
          </p:cNvSpPr>
          <p:nvPr/>
        </p:nvSpPr>
        <p:spPr bwMode="auto">
          <a:xfrm>
            <a:off x="7164388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fib(0)</a:t>
            </a:r>
          </a:p>
        </p:txBody>
      </p:sp>
      <p:sp>
        <p:nvSpPr>
          <p:cNvPr id="216086" name="Line 22"/>
          <p:cNvSpPr>
            <a:spLocks noChangeShapeType="1"/>
          </p:cNvSpPr>
          <p:nvPr/>
        </p:nvSpPr>
        <p:spPr bwMode="auto">
          <a:xfrm flipH="1">
            <a:off x="6372225" y="4365625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87" name="Text Box 23"/>
          <p:cNvSpPr txBox="1">
            <a:spLocks noChangeArrowheads="1"/>
          </p:cNvSpPr>
          <p:nvPr/>
        </p:nvSpPr>
        <p:spPr bwMode="auto">
          <a:xfrm>
            <a:off x="7740650" y="3933825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fib(1)</a:t>
            </a:r>
          </a:p>
        </p:txBody>
      </p:sp>
      <p:sp>
        <p:nvSpPr>
          <p:cNvPr id="216088" name="Line 24"/>
          <p:cNvSpPr>
            <a:spLocks noChangeShapeType="1"/>
          </p:cNvSpPr>
          <p:nvPr/>
        </p:nvSpPr>
        <p:spPr bwMode="auto">
          <a:xfrm flipH="1">
            <a:off x="6948488" y="3357563"/>
            <a:ext cx="360362" cy="576262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1044575" y="5373688"/>
            <a:ext cx="360363" cy="576262"/>
            <a:chOff x="658" y="3385"/>
            <a:chExt cx="227" cy="363"/>
          </a:xfrm>
        </p:grpSpPr>
        <p:sp>
          <p:nvSpPr>
            <p:cNvPr id="216090" name="Line 26"/>
            <p:cNvSpPr>
              <a:spLocks noChangeShapeType="1"/>
            </p:cNvSpPr>
            <p:nvPr/>
          </p:nvSpPr>
          <p:spPr bwMode="auto">
            <a:xfrm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88" name="Text Box 27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1619250" y="4365625"/>
            <a:ext cx="360363" cy="576263"/>
            <a:chOff x="658" y="3385"/>
            <a:chExt cx="227" cy="363"/>
          </a:xfrm>
        </p:grpSpPr>
        <p:sp>
          <p:nvSpPr>
            <p:cNvPr id="216093" name="Line 29"/>
            <p:cNvSpPr>
              <a:spLocks noChangeShapeType="1"/>
            </p:cNvSpPr>
            <p:nvPr/>
          </p:nvSpPr>
          <p:spPr bwMode="auto">
            <a:xfrm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86" name="Text Box 30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4067175" y="4365625"/>
            <a:ext cx="360363" cy="576263"/>
            <a:chOff x="658" y="3385"/>
            <a:chExt cx="227" cy="363"/>
          </a:xfrm>
        </p:grpSpPr>
        <p:sp>
          <p:nvSpPr>
            <p:cNvPr id="216096" name="Line 32"/>
            <p:cNvSpPr>
              <a:spLocks noChangeShapeType="1"/>
            </p:cNvSpPr>
            <p:nvPr/>
          </p:nvSpPr>
          <p:spPr bwMode="auto">
            <a:xfrm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84" name="Text Box 33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6516688" y="4365625"/>
            <a:ext cx="360362" cy="576263"/>
            <a:chOff x="658" y="3385"/>
            <a:chExt cx="227" cy="363"/>
          </a:xfrm>
        </p:grpSpPr>
        <p:sp>
          <p:nvSpPr>
            <p:cNvPr id="216099" name="Line 35"/>
            <p:cNvSpPr>
              <a:spLocks noChangeShapeType="1"/>
            </p:cNvSpPr>
            <p:nvPr/>
          </p:nvSpPr>
          <p:spPr bwMode="auto">
            <a:xfrm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82" name="Text Box 36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7740650" y="3357563"/>
            <a:ext cx="360363" cy="576262"/>
            <a:chOff x="658" y="3385"/>
            <a:chExt cx="227" cy="363"/>
          </a:xfrm>
        </p:grpSpPr>
        <p:sp>
          <p:nvSpPr>
            <p:cNvPr id="216102" name="Line 38"/>
            <p:cNvSpPr>
              <a:spLocks noChangeShapeType="1"/>
            </p:cNvSpPr>
            <p:nvPr/>
          </p:nvSpPr>
          <p:spPr bwMode="auto">
            <a:xfrm flipH="1"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80" name="Text Box 39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7" name="Group 40"/>
          <p:cNvGrpSpPr>
            <a:grpSpLocks/>
          </p:cNvGrpSpPr>
          <p:nvPr/>
        </p:nvGrpSpPr>
        <p:grpSpPr bwMode="auto">
          <a:xfrm>
            <a:off x="4716463" y="4365625"/>
            <a:ext cx="360362" cy="576263"/>
            <a:chOff x="658" y="3385"/>
            <a:chExt cx="227" cy="363"/>
          </a:xfrm>
        </p:grpSpPr>
        <p:sp>
          <p:nvSpPr>
            <p:cNvPr id="216105" name="Line 41"/>
            <p:cNvSpPr>
              <a:spLocks noChangeShapeType="1"/>
            </p:cNvSpPr>
            <p:nvPr/>
          </p:nvSpPr>
          <p:spPr bwMode="auto">
            <a:xfrm flipH="1"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78" name="Text Box 42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7164388" y="4365625"/>
            <a:ext cx="360362" cy="576263"/>
            <a:chOff x="658" y="3385"/>
            <a:chExt cx="227" cy="363"/>
          </a:xfrm>
        </p:grpSpPr>
        <p:sp>
          <p:nvSpPr>
            <p:cNvPr id="216108" name="Line 44"/>
            <p:cNvSpPr>
              <a:spLocks noChangeShapeType="1"/>
            </p:cNvSpPr>
            <p:nvPr/>
          </p:nvSpPr>
          <p:spPr bwMode="auto">
            <a:xfrm flipH="1"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76" name="Text Box 45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9" name="Group 46"/>
          <p:cNvGrpSpPr>
            <a:grpSpLocks/>
          </p:cNvGrpSpPr>
          <p:nvPr/>
        </p:nvGrpSpPr>
        <p:grpSpPr bwMode="auto">
          <a:xfrm>
            <a:off x="1692275" y="5373688"/>
            <a:ext cx="360363" cy="576262"/>
            <a:chOff x="658" y="3385"/>
            <a:chExt cx="227" cy="363"/>
          </a:xfrm>
        </p:grpSpPr>
        <p:sp>
          <p:nvSpPr>
            <p:cNvPr id="216111" name="Line 47"/>
            <p:cNvSpPr>
              <a:spLocks noChangeShapeType="1"/>
            </p:cNvSpPr>
            <p:nvPr/>
          </p:nvSpPr>
          <p:spPr bwMode="auto">
            <a:xfrm flipH="1"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74" name="Text Box 48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0" name="Group 49"/>
          <p:cNvGrpSpPr>
            <a:grpSpLocks/>
          </p:cNvGrpSpPr>
          <p:nvPr/>
        </p:nvGrpSpPr>
        <p:grpSpPr bwMode="auto">
          <a:xfrm>
            <a:off x="2268538" y="4365625"/>
            <a:ext cx="360362" cy="576263"/>
            <a:chOff x="658" y="3385"/>
            <a:chExt cx="227" cy="363"/>
          </a:xfrm>
        </p:grpSpPr>
        <p:sp>
          <p:nvSpPr>
            <p:cNvPr id="216114" name="Line 50"/>
            <p:cNvSpPr>
              <a:spLocks noChangeShapeType="1"/>
            </p:cNvSpPr>
            <p:nvPr/>
          </p:nvSpPr>
          <p:spPr bwMode="auto">
            <a:xfrm flipH="1"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72" name="Text Box 51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1" name="Group 52"/>
          <p:cNvGrpSpPr>
            <a:grpSpLocks/>
          </p:cNvGrpSpPr>
          <p:nvPr/>
        </p:nvGrpSpPr>
        <p:grpSpPr bwMode="auto">
          <a:xfrm>
            <a:off x="7092950" y="3357563"/>
            <a:ext cx="360363" cy="576262"/>
            <a:chOff x="658" y="3385"/>
            <a:chExt cx="227" cy="363"/>
          </a:xfrm>
        </p:grpSpPr>
        <p:sp>
          <p:nvSpPr>
            <p:cNvPr id="216117" name="Line 53"/>
            <p:cNvSpPr>
              <a:spLocks noChangeShapeType="1"/>
            </p:cNvSpPr>
            <p:nvPr/>
          </p:nvSpPr>
          <p:spPr bwMode="auto">
            <a:xfrm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70" name="Text Box 54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216119" name="Line 55"/>
          <p:cNvSpPr>
            <a:spLocks noChangeShapeType="1"/>
          </p:cNvSpPr>
          <p:nvPr/>
        </p:nvSpPr>
        <p:spPr bwMode="auto">
          <a:xfrm>
            <a:off x="1836738" y="5373688"/>
            <a:ext cx="360362" cy="576262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120" name="Line 56"/>
          <p:cNvSpPr>
            <a:spLocks noChangeShapeType="1"/>
          </p:cNvSpPr>
          <p:nvPr/>
        </p:nvSpPr>
        <p:spPr bwMode="auto">
          <a:xfrm>
            <a:off x="2413000" y="4365625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121" name="Line 57"/>
          <p:cNvSpPr>
            <a:spLocks noChangeShapeType="1"/>
          </p:cNvSpPr>
          <p:nvPr/>
        </p:nvSpPr>
        <p:spPr bwMode="auto">
          <a:xfrm>
            <a:off x="7308850" y="4365625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122" name="Line 58"/>
          <p:cNvSpPr>
            <a:spLocks noChangeShapeType="1"/>
          </p:cNvSpPr>
          <p:nvPr/>
        </p:nvSpPr>
        <p:spPr bwMode="auto">
          <a:xfrm>
            <a:off x="7885113" y="3357563"/>
            <a:ext cx="360362" cy="576262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2" name="Group 59"/>
          <p:cNvGrpSpPr>
            <a:grpSpLocks/>
          </p:cNvGrpSpPr>
          <p:nvPr/>
        </p:nvGrpSpPr>
        <p:grpSpPr bwMode="auto">
          <a:xfrm>
            <a:off x="2362200" y="3429000"/>
            <a:ext cx="985838" cy="504825"/>
            <a:chOff x="1611" y="2160"/>
            <a:chExt cx="408" cy="318"/>
          </a:xfrm>
        </p:grpSpPr>
        <p:sp>
          <p:nvSpPr>
            <p:cNvPr id="216124" name="Line 60"/>
            <p:cNvSpPr>
              <a:spLocks noChangeShapeType="1"/>
            </p:cNvSpPr>
            <p:nvPr/>
          </p:nvSpPr>
          <p:spPr bwMode="auto">
            <a:xfrm flipV="1">
              <a:off x="1611" y="2160"/>
              <a:ext cx="408" cy="318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68" name="Text Box 61"/>
            <p:cNvSpPr txBox="1">
              <a:spLocks noChangeArrowheads="1"/>
            </p:cNvSpPr>
            <p:nvPr/>
          </p:nvSpPr>
          <p:spPr bwMode="auto">
            <a:xfrm>
              <a:off x="1790" y="2245"/>
              <a:ext cx="68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sp>
        <p:nvSpPr>
          <p:cNvPr id="216126" name="Line 62"/>
          <p:cNvSpPr>
            <a:spLocks noChangeShapeType="1"/>
          </p:cNvSpPr>
          <p:nvPr/>
        </p:nvSpPr>
        <p:spPr bwMode="auto">
          <a:xfrm flipH="1">
            <a:off x="2052638" y="3429000"/>
            <a:ext cx="1008062" cy="504825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3" name="Group 63"/>
          <p:cNvGrpSpPr>
            <a:grpSpLocks/>
          </p:cNvGrpSpPr>
          <p:nvPr/>
        </p:nvGrpSpPr>
        <p:grpSpPr bwMode="auto">
          <a:xfrm flipH="1">
            <a:off x="3428999" y="3429000"/>
            <a:ext cx="1000125" cy="504825"/>
            <a:chOff x="1611" y="2160"/>
            <a:chExt cx="408" cy="318"/>
          </a:xfrm>
        </p:grpSpPr>
        <p:sp>
          <p:nvSpPr>
            <p:cNvPr id="216128" name="Line 64"/>
            <p:cNvSpPr>
              <a:spLocks noChangeShapeType="1"/>
            </p:cNvSpPr>
            <p:nvPr/>
          </p:nvSpPr>
          <p:spPr bwMode="auto">
            <a:xfrm flipV="1">
              <a:off x="1611" y="2160"/>
              <a:ext cx="408" cy="318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66" name="Text Box 65"/>
            <p:cNvSpPr txBox="1">
              <a:spLocks noChangeArrowheads="1"/>
            </p:cNvSpPr>
            <p:nvPr/>
          </p:nvSpPr>
          <p:spPr bwMode="auto">
            <a:xfrm>
              <a:off x="1823" y="2251"/>
              <a:ext cx="67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216130" name="Line 66"/>
          <p:cNvSpPr>
            <a:spLocks noChangeShapeType="1"/>
          </p:cNvSpPr>
          <p:nvPr/>
        </p:nvSpPr>
        <p:spPr bwMode="auto">
          <a:xfrm>
            <a:off x="4860925" y="4365625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4" name="Group 67"/>
          <p:cNvGrpSpPr>
            <a:grpSpLocks/>
          </p:cNvGrpSpPr>
          <p:nvPr/>
        </p:nvGrpSpPr>
        <p:grpSpPr bwMode="auto">
          <a:xfrm>
            <a:off x="3851275" y="2565400"/>
            <a:ext cx="1441450" cy="503238"/>
            <a:chOff x="2426" y="1616"/>
            <a:chExt cx="908" cy="317"/>
          </a:xfrm>
        </p:grpSpPr>
        <p:sp>
          <p:nvSpPr>
            <p:cNvPr id="216132" name="Line 68"/>
            <p:cNvSpPr>
              <a:spLocks noChangeShapeType="1"/>
            </p:cNvSpPr>
            <p:nvPr/>
          </p:nvSpPr>
          <p:spPr bwMode="auto">
            <a:xfrm flipV="1">
              <a:off x="2426" y="1616"/>
              <a:ext cx="908" cy="317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64" name="Text Box 69"/>
            <p:cNvSpPr txBox="1">
              <a:spLocks noChangeArrowheads="1"/>
            </p:cNvSpPr>
            <p:nvPr/>
          </p:nvSpPr>
          <p:spPr bwMode="auto">
            <a:xfrm>
              <a:off x="2835" y="1706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sp>
        <p:nvSpPr>
          <p:cNvPr id="216134" name="Line 70"/>
          <p:cNvSpPr>
            <a:spLocks noChangeShapeType="1"/>
          </p:cNvSpPr>
          <p:nvPr/>
        </p:nvSpPr>
        <p:spPr bwMode="auto">
          <a:xfrm flipH="1">
            <a:off x="3779838" y="2565400"/>
            <a:ext cx="1223962" cy="431800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5" name="Group 71"/>
          <p:cNvGrpSpPr>
            <a:grpSpLocks/>
          </p:cNvGrpSpPr>
          <p:nvPr/>
        </p:nvGrpSpPr>
        <p:grpSpPr bwMode="auto">
          <a:xfrm flipH="1">
            <a:off x="5580063" y="2565400"/>
            <a:ext cx="1512887" cy="431800"/>
            <a:chOff x="2426" y="1616"/>
            <a:chExt cx="908" cy="317"/>
          </a:xfrm>
        </p:grpSpPr>
        <p:sp>
          <p:nvSpPr>
            <p:cNvPr id="216136" name="Line 72"/>
            <p:cNvSpPr>
              <a:spLocks noChangeShapeType="1"/>
            </p:cNvSpPr>
            <p:nvPr/>
          </p:nvSpPr>
          <p:spPr bwMode="auto">
            <a:xfrm flipV="1">
              <a:off x="2426" y="1616"/>
              <a:ext cx="908" cy="317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62" name="Text Box 73"/>
            <p:cNvSpPr txBox="1">
              <a:spLocks noChangeArrowheads="1"/>
            </p:cNvSpPr>
            <p:nvPr/>
          </p:nvSpPr>
          <p:spPr bwMode="auto">
            <a:xfrm>
              <a:off x="2834" y="1706"/>
              <a:ext cx="91" cy="18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sp>
        <p:nvSpPr>
          <p:cNvPr id="216138" name="Line 74"/>
          <p:cNvSpPr>
            <a:spLocks noChangeShapeType="1"/>
          </p:cNvSpPr>
          <p:nvPr/>
        </p:nvSpPr>
        <p:spPr bwMode="auto">
          <a:xfrm>
            <a:off x="5867400" y="2565400"/>
            <a:ext cx="1296988" cy="358775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6" name="Group 75"/>
          <p:cNvGrpSpPr>
            <a:grpSpLocks/>
          </p:cNvGrpSpPr>
          <p:nvPr/>
        </p:nvGrpSpPr>
        <p:grpSpPr bwMode="auto">
          <a:xfrm>
            <a:off x="5508625" y="1412875"/>
            <a:ext cx="142875" cy="720725"/>
            <a:chOff x="3470" y="890"/>
            <a:chExt cx="90" cy="454"/>
          </a:xfrm>
        </p:grpSpPr>
        <p:sp>
          <p:nvSpPr>
            <p:cNvPr id="216140" name="Line 76"/>
            <p:cNvSpPr>
              <a:spLocks noChangeShapeType="1"/>
            </p:cNvSpPr>
            <p:nvPr/>
          </p:nvSpPr>
          <p:spPr bwMode="auto">
            <a:xfrm flipH="1" flipV="1">
              <a:off x="3515" y="890"/>
              <a:ext cx="1" cy="454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60" name="Text Box 77"/>
            <p:cNvSpPr txBox="1">
              <a:spLocks noChangeArrowheads="1"/>
            </p:cNvSpPr>
            <p:nvPr/>
          </p:nvSpPr>
          <p:spPr bwMode="auto">
            <a:xfrm>
              <a:off x="3470" y="1026"/>
              <a:ext cx="90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en-US" sz="20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16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1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1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1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1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21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1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21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1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1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21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1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0"/>
                                        <p:tgtEl>
                                          <p:spTgt spid="21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21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000"/>
                                        <p:tgtEl>
                                          <p:spTgt spid="21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21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000"/>
                                        <p:tgtEl>
                                          <p:spTgt spid="21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21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000"/>
                                        <p:tgtEl>
                                          <p:spTgt spid="21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21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000"/>
                                        <p:tgtEl>
                                          <p:spTgt spid="21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21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00"/>
                            </p:stCondLst>
                            <p:childTnLst>
                              <p:par>
                                <p:cTn id="1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2000"/>
                                        <p:tgtEl>
                                          <p:spTgt spid="21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9" grpId="0" animBg="1"/>
      <p:bldP spid="216070" grpId="0" animBg="1"/>
      <p:bldP spid="216071" grpId="0" animBg="1"/>
      <p:bldP spid="216072" grpId="0" animBg="1"/>
      <p:bldP spid="216073" grpId="0" animBg="1"/>
      <p:bldP spid="216074" grpId="0" animBg="1"/>
      <p:bldP spid="216076" grpId="0" animBg="1"/>
      <p:bldP spid="216077" grpId="0" animBg="1"/>
      <p:bldP spid="216078" grpId="0" animBg="1"/>
      <p:bldP spid="216080" grpId="0" animBg="1"/>
      <p:bldP spid="216083" grpId="0" animBg="1"/>
      <p:bldP spid="216084" grpId="0" animBg="1"/>
      <p:bldP spid="216085" grpId="0" animBg="1"/>
      <p:bldP spid="21608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Recursive Function:</a:t>
            </a:r>
            <a:br>
              <a:rPr lang="en-US" dirty="0"/>
            </a:br>
            <a:r>
              <a:rPr lang="en-US" dirty="0"/>
              <a:t>Testing Palindrome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2057400"/>
            <a:ext cx="8534400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isPalindrome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(char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*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if(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 2)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return TRUE;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return s[0] == s[len-1] &amp;&amp;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isPalindrome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(&amp;s[1], len-2);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153400" cy="990600"/>
          </a:xfrm>
        </p:spPr>
        <p:txBody>
          <a:bodyPr/>
          <a:lstStyle/>
          <a:p>
            <a:r>
              <a:rPr lang="en-US" dirty="0"/>
              <a:t>Recursion </a:t>
            </a:r>
            <a:r>
              <a:rPr lang="en-US" dirty="0" err="1"/>
              <a:t>vs</a:t>
            </a:r>
            <a:r>
              <a:rPr lang="en-US" dirty="0"/>
              <a:t> Iteration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371600"/>
            <a:ext cx="8153400" cy="449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600" dirty="0"/>
              <a:t>Any problem that can be solved </a:t>
            </a:r>
            <a:r>
              <a:rPr lang="en-US" sz="2600" dirty="0">
                <a:solidFill>
                  <a:srgbClr val="800000"/>
                </a:solidFill>
              </a:rPr>
              <a:t>recursively </a:t>
            </a:r>
            <a:r>
              <a:rPr lang="en-US" sz="2600" dirty="0"/>
              <a:t>can also be solved </a:t>
            </a:r>
            <a:r>
              <a:rPr lang="en-US" sz="2600" dirty="0">
                <a:solidFill>
                  <a:srgbClr val="800000"/>
                </a:solidFill>
              </a:rPr>
              <a:t>iteratively </a:t>
            </a:r>
            <a:r>
              <a:rPr lang="en-US" sz="2600" dirty="0"/>
              <a:t>(using loop).</a:t>
            </a:r>
          </a:p>
          <a:p>
            <a:pPr>
              <a:buNone/>
            </a:pPr>
            <a:endParaRPr lang="en-US" sz="2600" dirty="0"/>
          </a:p>
          <a:p>
            <a:pPr>
              <a:buNone/>
            </a:pPr>
            <a:r>
              <a:rPr lang="en-US" sz="2600" i="1" dirty="0">
                <a:solidFill>
                  <a:srgbClr val="800000"/>
                </a:solidFill>
              </a:rPr>
              <a:t>Recursive functions </a:t>
            </a:r>
            <a:r>
              <a:rPr lang="en-US" sz="2600" i="1" dirty="0" err="1">
                <a:solidFill>
                  <a:srgbClr val="800000"/>
                </a:solidFill>
              </a:rPr>
              <a:t>vs</a:t>
            </a:r>
            <a:r>
              <a:rPr lang="en-US" sz="2600" i="1" dirty="0">
                <a:solidFill>
                  <a:srgbClr val="800000"/>
                </a:solidFill>
              </a:rPr>
              <a:t> </a:t>
            </a:r>
            <a:r>
              <a:rPr lang="en-US" i="1" dirty="0">
                <a:solidFill>
                  <a:srgbClr val="800000"/>
                </a:solidFill>
              </a:rPr>
              <a:t>Iterative functions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sz="2300" dirty="0"/>
              <a:t>Recursive functions are slow </a:t>
            </a:r>
          </a:p>
          <a:p>
            <a:pPr lvl="1"/>
            <a:r>
              <a:rPr lang="en-US" dirty="0"/>
              <a:t>Recursive function </a:t>
            </a:r>
            <a:r>
              <a:rPr lang="en-US" sz="2300" dirty="0"/>
              <a:t>take more memory</a:t>
            </a:r>
          </a:p>
          <a:p>
            <a:r>
              <a:rPr lang="en-US" dirty="0"/>
              <a:t>Pros</a:t>
            </a:r>
            <a:endParaRPr lang="en-US" sz="2600" dirty="0"/>
          </a:p>
          <a:p>
            <a:pPr lvl="1"/>
            <a:r>
              <a:rPr lang="en-US" sz="2400" dirty="0"/>
              <a:t>Recursive functions resembles the problem more naturally </a:t>
            </a:r>
          </a:p>
          <a:p>
            <a:pPr lvl="1"/>
            <a:r>
              <a:rPr lang="en-US" sz="2400" dirty="0"/>
              <a:t>Recursive function are easier to program, and debug.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C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0" y="1460710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factorial(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8200" y="2222710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 * factorial(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1480" y="2995872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 * factorial(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5544652" y="3797341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 * factorial(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19800" y="4577485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* factorial(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2" name="Straight Arrow Connector 11"/>
          <p:cNvCxnSpPr>
            <a:stCxn id="5" idx="2"/>
            <a:endCxn id="6" idx="0"/>
          </p:cNvCxnSpPr>
          <p:nvPr/>
        </p:nvCxnSpPr>
        <p:spPr>
          <a:xfrm>
            <a:off x="5067300" y="1841710"/>
            <a:ext cx="457200" cy="3810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2"/>
            <a:endCxn id="7" idx="0"/>
          </p:cNvCxnSpPr>
          <p:nvPr/>
        </p:nvCxnSpPr>
        <p:spPr>
          <a:xfrm>
            <a:off x="5524500" y="2603710"/>
            <a:ext cx="393280" cy="39216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2"/>
            <a:endCxn id="8" idx="0"/>
          </p:cNvCxnSpPr>
          <p:nvPr/>
        </p:nvCxnSpPr>
        <p:spPr>
          <a:xfrm>
            <a:off x="5917780" y="3376872"/>
            <a:ext cx="503172" cy="420469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2"/>
            <a:endCxn id="9" idx="0"/>
          </p:cNvCxnSpPr>
          <p:nvPr/>
        </p:nvCxnSpPr>
        <p:spPr>
          <a:xfrm>
            <a:off x="6420952" y="4178341"/>
            <a:ext cx="475148" cy="39914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7233188" y="4958485"/>
            <a:ext cx="395338" cy="375514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6797453" y="4157469"/>
            <a:ext cx="407292" cy="41485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 flipV="1">
            <a:off x="6248400" y="3376873"/>
            <a:ext cx="472944" cy="42046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 flipV="1">
            <a:off x="5852286" y="2579402"/>
            <a:ext cx="386038" cy="40631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5404847" y="1834800"/>
            <a:ext cx="462553" cy="38207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620000" y="515041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1700" y="4193247"/>
            <a:ext cx="97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1344" y="3402062"/>
            <a:ext cx="96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6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69366" y="2615125"/>
            <a:ext cx="109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71338" y="1847544"/>
            <a:ext cx="1225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1460709"/>
            <a:ext cx="3581400" cy="42473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factorial(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n);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main(void){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factorial(5);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factorial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n) {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f;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if(n==1)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1;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f = n *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factorial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(n-1);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f;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9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33245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Recursive Functions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 LR </a:t>
            </a:r>
            <a:r>
              <a:rPr lang="en-GB" dirty="0"/>
              <a:t>(&amp; working registers) onto stack before nested call</a:t>
            </a: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 LR </a:t>
            </a:r>
            <a:r>
              <a:rPr lang="en-GB" dirty="0"/>
              <a:t>(&amp; working registers) off stack after nested return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40762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11</a:t>
            </a:fld>
            <a:endParaRPr kumimoji="0" lang="en-US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08F81396-0FB7-8F4B-8E05-8903C44A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0028C0-AE92-0C41-2223-A1CFB6359372}"/>
              </a:ext>
            </a:extLst>
          </p:cNvPr>
          <p:cNvSpPr/>
          <p:nvPr/>
        </p:nvSpPr>
        <p:spPr>
          <a:xfrm>
            <a:off x="76200" y="1225907"/>
            <a:ext cx="8991600" cy="50475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ENTRY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MOV   r0, #0x03              ; Set argument n = 3 in r0 (r0 holds first </a:t>
            </a:r>
            <a:r>
              <a:rPr lang="en-US" sz="1400" dirty="0" err="1">
                <a:latin typeface="Consolas" panose="020B0609020204030204" pitchFamily="49" charset="0"/>
              </a:rPr>
              <a:t>arg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BL    factorial              ; Call factorial(n); LR gets return address; 		 	                        ; result returns in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stop B     stop                  ; Halt by branching to self (infinite loop)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ENDP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; --- Recursive factorial(n) ---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PUSH 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               ; Save callee-used r4 and return address LR on stack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MOV   r4, r0                 ; Preserve n in r4 across the recursive call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CMP   r4, #0x01              ; Check base case: n == 1 ?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BNE   NZ                     ; If n != 1, branch to NZ for recursive case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MOVS  r0, #0x01              ; Base case: return 1 in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 {r4, pc}              ; restore r4, and return by popping PC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SUBS  r0, r4, #1             ; Prepare argument r0 = n - 1 for recursive call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BL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latin typeface="Consolas" panose="020B0609020204030204" pitchFamily="49" charset="0"/>
              </a:rPr>
              <a:t>              ; r0 &lt;- factorial(n-1) after return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MUL   r0, r4, r0             ; r0 = n * factorial(n-1)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     loop               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END</a:t>
            </a:r>
          </a:p>
        </p:txBody>
      </p:sp>
    </p:spTree>
    <p:extLst>
      <p:ext uri="{BB962C8B-B14F-4D97-AF65-F5344CB8AC3E}">
        <p14:creationId xmlns:p14="http://schemas.microsoft.com/office/powerpoint/2010/main" val="4177100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0D128-558E-0B8F-A883-78BA25A45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Trace Function Execution for this Call Sequence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A30D0E-4976-D6E8-06F5-6E64A24B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9E881-32DF-84E7-1A89-FB1AEB20784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809685" y="3105118"/>
            <a:ext cx="1314450" cy="285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3 * factorial(2)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6046" y="3690226"/>
            <a:ext cx="1314450" cy="285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2 * factorial(1)</a:t>
            </a:r>
          </a:p>
        </p:txBody>
      </p:sp>
      <p:cxnSp>
        <p:nvCxnSpPr>
          <p:cNvPr id="14" name="Straight Arrow Connector 13"/>
          <p:cNvCxnSpPr>
            <a:endCxn id="8" idx="0"/>
          </p:cNvCxnSpPr>
          <p:nvPr/>
        </p:nvCxnSpPr>
        <p:spPr>
          <a:xfrm>
            <a:off x="4089531" y="2789767"/>
            <a:ext cx="377379" cy="31535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2"/>
            <a:endCxn id="9" idx="0"/>
          </p:cNvCxnSpPr>
          <p:nvPr/>
        </p:nvCxnSpPr>
        <p:spPr>
          <a:xfrm>
            <a:off x="4466910" y="3390868"/>
            <a:ext cx="356361" cy="29935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</p:cNvCxnSpPr>
          <p:nvPr/>
        </p:nvCxnSpPr>
        <p:spPr>
          <a:xfrm flipH="1" flipV="1">
            <a:off x="5076087" y="3975976"/>
            <a:ext cx="296504" cy="28163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/>
          </p:cNvCxnSpPr>
          <p:nvPr/>
        </p:nvCxnSpPr>
        <p:spPr>
          <a:xfrm flipH="1" flipV="1">
            <a:off x="4749286" y="3375215"/>
            <a:ext cx="305469" cy="311141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 flipH="1" flipV="1">
            <a:off x="4337496" y="2789767"/>
            <a:ext cx="354708" cy="315351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366196" y="4119920"/>
            <a:ext cx="27122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52472" y="3402047"/>
            <a:ext cx="76790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return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14851" y="2686050"/>
            <a:ext cx="76790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return 6</a:t>
            </a:r>
          </a:p>
        </p:txBody>
      </p:sp>
    </p:spTree>
    <p:extLst>
      <p:ext uri="{BB962C8B-B14F-4D97-AF65-F5344CB8AC3E}">
        <p14:creationId xmlns:p14="http://schemas.microsoft.com/office/powerpoint/2010/main" val="4237100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596264" y="2856404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 * factorial(2)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71412" y="3636548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* factorial(1)</a:t>
            </a:r>
          </a:p>
        </p:txBody>
      </p:sp>
      <p:cxnSp>
        <p:nvCxnSpPr>
          <p:cNvPr id="14" name="Straight Arrow Connector 13"/>
          <p:cNvCxnSpPr>
            <a:cxnSpLocks/>
            <a:endCxn id="8" idx="0"/>
          </p:cNvCxnSpPr>
          <p:nvPr/>
        </p:nvCxnSpPr>
        <p:spPr>
          <a:xfrm>
            <a:off x="5969392" y="2435935"/>
            <a:ext cx="503172" cy="420469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  <a:stCxn id="8" idx="2"/>
            <a:endCxn id="9" idx="0"/>
          </p:cNvCxnSpPr>
          <p:nvPr/>
        </p:nvCxnSpPr>
        <p:spPr>
          <a:xfrm>
            <a:off x="6472564" y="3237404"/>
            <a:ext cx="475148" cy="39914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7284800" y="4017548"/>
            <a:ext cx="395338" cy="375514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6849065" y="3216532"/>
            <a:ext cx="407292" cy="41485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 flipV="1">
            <a:off x="6300012" y="2435936"/>
            <a:ext cx="472944" cy="42046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671612" y="42094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3312" y="3252310"/>
            <a:ext cx="96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6484" y="2297647"/>
            <a:ext cx="96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13</a:t>
            </a:fld>
            <a:endParaRPr kumimoji="0"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35" name="TextBox 34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863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63C2-42B5-A708-F10A-D038550D6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6D035C-EE0B-02AD-86E1-4D83797CBCE8}"/>
              </a:ext>
            </a:extLst>
          </p:cNvPr>
          <p:cNvSpPr/>
          <p:nvPr/>
        </p:nvSpPr>
        <p:spPr>
          <a:xfrm>
            <a:off x="484239" y="949074"/>
            <a:ext cx="8458200" cy="59093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ENTRY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MOV   r0, #0x03              ; Set argument n = 3 in r0 (r0 holds first </a:t>
            </a:r>
            <a:r>
              <a:rPr lang="en-US" sz="1400" dirty="0" err="1">
                <a:latin typeface="Consolas" panose="020B0609020204030204" pitchFamily="49" charset="0"/>
              </a:rPr>
              <a:t>arg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BL    factorial              ; Call factorial(n); LR gets return address; 		 	               ; result returns in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     stop                   ; Halt by branching to self (infinite loop)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; --- Recursive factorial(n) ---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PUSH 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               ; Save callee-used r4 and return address LR on stack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MOV   r4, r0                 ; Preserve n in r4 across the recursive call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CMP   r4, #0x01              ; Check base case: n == 1 ?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BNE   NZ                     ; If n != 1, branch to NZ for recursive case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MOVS  r0, #0x01              ; Base case: return 1 in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POP   {r4, pc}               ; restore r4, and return by popping PC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SUBS  r0, r4, #1             ; Prepare argument r0 = n - 1 for recursive call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BL    factorial              ; r0 &lt;- factorial(n-1) after return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MUL   r0, r4, r0             ; r0 = n * factorial(n-1)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     loop               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END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6E47A-877B-E977-B7F0-3FCE55AB3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14</a:t>
            </a:fld>
            <a:endParaRPr kumimoji="0"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45D9AE2E-5FD6-1792-51B6-ECC82A1F3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10446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15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0xFFFFFFFF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0x20000600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17" name="Elbow Connector 16"/>
          <p:cNvCxnSpPr>
            <a:stCxn id="30" idx="1"/>
          </p:cNvCxnSpPr>
          <p:nvPr/>
        </p:nvCxnSpPr>
        <p:spPr>
          <a:xfrm rot="10800000" flipV="1">
            <a:off x="2819400" y="1515480"/>
            <a:ext cx="2057400" cy="1303919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7525" y="1515479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53324" y="586740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50" name="TextBox 49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47" name="TextBox 46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cxnSp>
        <p:nvCxnSpPr>
          <p:cNvPr id="22" name="Elbow Connector 21"/>
          <p:cNvCxnSpPr>
            <a:stCxn id="39" idx="3"/>
          </p:cNvCxnSpPr>
          <p:nvPr/>
        </p:nvCxnSpPr>
        <p:spPr>
          <a:xfrm>
            <a:off x="6457741" y="2125081"/>
            <a:ext cx="340436" cy="86332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82" name="Group 81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83" name="TextBox 82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696962-2CA5-FD38-CE69-69350DBC27D0}"/>
              </a:ext>
            </a:extLst>
          </p:cNvPr>
          <p:cNvSpPr/>
          <p:nvPr/>
        </p:nvSpPr>
        <p:spPr>
          <a:xfrm>
            <a:off x="3738832" y="4743447"/>
            <a:ext cx="2911250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1</a:t>
            </a:r>
            <a:r>
              <a:rPr lang="en-US" sz="1600" baseline="30000" dirty="0">
                <a:solidFill>
                  <a:schemeClr val="bg1"/>
                </a:solidFill>
              </a:rPr>
              <a:t>st</a:t>
            </a:r>
            <a:r>
              <a:rPr lang="en-US" sz="1600" dirty="0">
                <a:solidFill>
                  <a:schemeClr val="bg1"/>
                </a:solidFill>
              </a:rPr>
              <a:t> recursive call factorial(3), with argument r0 = 3</a:t>
            </a:r>
          </a:p>
        </p:txBody>
      </p:sp>
    </p:spTree>
    <p:extLst>
      <p:ext uri="{BB962C8B-B14F-4D97-AF65-F5344CB8AC3E}">
        <p14:creationId xmlns:p14="http://schemas.microsoft.com/office/powerpoint/2010/main" val="4138139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27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16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0x20000600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390128" cy="86332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200" y="1515480"/>
            <a:ext cx="990600" cy="2373821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19400" y="3889302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cxnSp>
        <p:nvCxnSpPr>
          <p:cNvPr id="40" name="Elbow Connector 39"/>
          <p:cNvCxnSpPr>
            <a:stCxn id="32" idx="1"/>
          </p:cNvCxnSpPr>
          <p:nvPr/>
        </p:nvCxnSpPr>
        <p:spPr>
          <a:xfrm rot="10800000" flipV="1">
            <a:off x="2362201" y="1820280"/>
            <a:ext cx="2514601" cy="1226623"/>
          </a:xfrm>
          <a:prstGeom prst="bentConnector3">
            <a:avLst/>
          </a:prstGeom>
          <a:ln w="19050">
            <a:solidFill>
              <a:srgbClr val="3333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100" name="Group 99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101" name="TextBox 100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12" name="TextBox 111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13" name="Group 112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14" name="TextBox 113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5" name="TextBox 114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5" name="Rectangle 124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6" name="Rectangle 125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7" name="Rectangle 126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9" name="TextBox 128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811122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24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17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  <a:endParaRPr lang="en-US" sz="13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5064" cy="68054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2" cy="259618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667000" y="4082534"/>
            <a:ext cx="1219198" cy="2913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3113" y="2805624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7" name="Group 96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8" name="TextBox 97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9" name="TextBox 108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10" name="Group 109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11" name="TextBox 110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6" name="TextBox 125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1341681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CMP  r4, #0x01</a:t>
            </a:r>
          </a:p>
          <a:p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SUBS r0, r4, #1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BL   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18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>
            <a:stCxn id="39" idx="3"/>
          </p:cNvCxnSpPr>
          <p:nvPr/>
        </p:nvCxnSpPr>
        <p:spPr>
          <a:xfrm>
            <a:off x="6408049" y="2125081"/>
            <a:ext cx="195064" cy="68054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3" cy="385858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048000" y="5374070"/>
            <a:ext cx="838197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3113" y="2805624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71" name="TextBox 70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644ED4-5DC4-EFBB-F16B-33BB5270CE7A}"/>
              </a:ext>
            </a:extLst>
          </p:cNvPr>
          <p:cNvSpPr/>
          <p:nvPr/>
        </p:nvSpPr>
        <p:spPr>
          <a:xfrm>
            <a:off x="3738832" y="4743447"/>
            <a:ext cx="2911250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2</a:t>
            </a:r>
            <a:r>
              <a:rPr lang="en-US" sz="1600" baseline="30000" dirty="0">
                <a:solidFill>
                  <a:schemeClr val="bg1"/>
                </a:solidFill>
              </a:rPr>
              <a:t>nd</a:t>
            </a:r>
            <a:r>
              <a:rPr lang="en-US" sz="1600" dirty="0">
                <a:solidFill>
                  <a:schemeClr val="bg1"/>
                </a:solidFill>
              </a:rPr>
              <a:t> recursive call factorial(2), with argument r0 = 2</a:t>
            </a:r>
          </a:p>
        </p:txBody>
      </p:sp>
    </p:spTree>
    <p:extLst>
      <p:ext uri="{BB962C8B-B14F-4D97-AF65-F5344CB8AC3E}">
        <p14:creationId xmlns:p14="http://schemas.microsoft.com/office/powerpoint/2010/main" val="455179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23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19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5064" cy="68054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6" y="1515480"/>
            <a:ext cx="990604" cy="236939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19400" y="3884874"/>
            <a:ext cx="1066796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3113" y="2805624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cxnSp>
        <p:nvCxnSpPr>
          <p:cNvPr id="93" name="Elbow Connector 92"/>
          <p:cNvCxnSpPr/>
          <p:nvPr/>
        </p:nvCxnSpPr>
        <p:spPr>
          <a:xfrm rot="5400000">
            <a:off x="2690749" y="3396732"/>
            <a:ext cx="3762510" cy="609607"/>
          </a:xfrm>
          <a:prstGeom prst="bentConnector3">
            <a:avLst>
              <a:gd name="adj1" fmla="val 104"/>
            </a:avLst>
          </a:prstGeom>
          <a:ln w="19050">
            <a:solidFill>
              <a:srgbClr val="3333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3124200" y="5582788"/>
            <a:ext cx="1143000" cy="3"/>
          </a:xfrm>
          <a:prstGeom prst="line">
            <a:avLst/>
          </a:prstGeom>
          <a:ln w="19050">
            <a:solidFill>
              <a:srgbClr val="3333FF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6" name="Group 95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7" name="TextBox 96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8" name="TextBox 107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9" name="Group 108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10" name="TextBox 109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5" name="TextBox 124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3129471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20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2957" cy="131558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6" y="1515480"/>
            <a:ext cx="990605" cy="256795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705096" y="4082534"/>
            <a:ext cx="11810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1006" y="3430613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991653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BL</a:t>
            </a:r>
            <a:r>
              <a:rPr lang="en-US" sz="1400" dirty="0">
                <a:latin typeface="Consolas" panose="020B0609020204030204" pitchFamily="49" charset="0"/>
              </a:rPr>
              <a:t>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21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2957" cy="131558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4" y="1515480"/>
            <a:ext cx="990606" cy="386038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971800" y="5375870"/>
            <a:ext cx="914394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1006" y="3430613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43316B-53EC-1A88-3F56-E4560A6CEA5B}"/>
              </a:ext>
            </a:extLst>
          </p:cNvPr>
          <p:cNvSpPr/>
          <p:nvPr/>
        </p:nvSpPr>
        <p:spPr>
          <a:xfrm>
            <a:off x="3810000" y="4743446"/>
            <a:ext cx="2840082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3</a:t>
            </a:r>
            <a:r>
              <a:rPr lang="en-US" sz="1600" baseline="30000" dirty="0">
                <a:solidFill>
                  <a:schemeClr val="bg1"/>
                </a:solidFill>
              </a:rPr>
              <a:t>rd</a:t>
            </a:r>
            <a:r>
              <a:rPr lang="en-US" sz="1600" dirty="0">
                <a:solidFill>
                  <a:schemeClr val="bg1"/>
                </a:solidFill>
              </a:rPr>
              <a:t> recursive call 2 * factorial(1)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8ECA89-1BED-DE9F-C5E0-28221A616C98}"/>
              </a:ext>
            </a:extLst>
          </p:cNvPr>
          <p:cNvSpPr/>
          <p:nvPr/>
        </p:nvSpPr>
        <p:spPr>
          <a:xfrm>
            <a:off x="3738832" y="4743447"/>
            <a:ext cx="2911250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3</a:t>
            </a:r>
            <a:r>
              <a:rPr lang="en-US" sz="1600" baseline="30000" dirty="0">
                <a:solidFill>
                  <a:schemeClr val="bg1"/>
                </a:solidFill>
              </a:rPr>
              <a:t>rd</a:t>
            </a:r>
            <a:r>
              <a:rPr lang="en-US" sz="1600" dirty="0">
                <a:solidFill>
                  <a:schemeClr val="bg1"/>
                </a:solidFill>
              </a:rPr>
              <a:t> recursive call factorial(1), with argument r0 = 1</a:t>
            </a:r>
          </a:p>
        </p:txBody>
      </p:sp>
    </p:spTree>
    <p:extLst>
      <p:ext uri="{BB962C8B-B14F-4D97-AF65-F5344CB8AC3E}">
        <p14:creationId xmlns:p14="http://schemas.microsoft.com/office/powerpoint/2010/main" val="267378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24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22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33600"/>
            <a:ext cx="192957" cy="131558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4" y="1515480"/>
            <a:ext cx="990607" cy="238506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95600" y="3900550"/>
            <a:ext cx="990593" cy="45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1006" y="3430613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cxnSp>
        <p:nvCxnSpPr>
          <p:cNvPr id="93" name="Elbow Connector 92"/>
          <p:cNvCxnSpPr/>
          <p:nvPr/>
        </p:nvCxnSpPr>
        <p:spPr>
          <a:xfrm rot="5400000">
            <a:off x="2690749" y="3396732"/>
            <a:ext cx="3762510" cy="609607"/>
          </a:xfrm>
          <a:prstGeom prst="bentConnector3">
            <a:avLst>
              <a:gd name="adj1" fmla="val 104"/>
            </a:avLst>
          </a:prstGeom>
          <a:ln w="19050">
            <a:solidFill>
              <a:srgbClr val="3333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 flipV="1">
            <a:off x="3048000" y="5582788"/>
            <a:ext cx="1219200" cy="3"/>
          </a:xfrm>
          <a:prstGeom prst="line">
            <a:avLst/>
          </a:prstGeom>
          <a:ln w="19050">
            <a:solidFill>
              <a:srgbClr val="3333FF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7" name="Group 96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8" name="TextBox 97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9" name="TextBox 108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10" name="Group 109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11" name="TextBox 110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6" name="TextBox 125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759391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lr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23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0x200005E8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2957" cy="193276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4" y="1515480"/>
            <a:ext cx="990607" cy="259416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705093" y="4108750"/>
            <a:ext cx="11810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1005" y="4057848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1229895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24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0x200005E8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2957" cy="193276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200" y="1515481"/>
            <a:ext cx="990601" cy="3234402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971800" y="4749883"/>
            <a:ext cx="914399" cy="45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1005" y="4057848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68676E-118A-7043-7F88-3D36BA6F223E}"/>
              </a:ext>
            </a:extLst>
          </p:cNvPr>
          <p:cNvSpPr/>
          <p:nvPr/>
        </p:nvSpPr>
        <p:spPr>
          <a:xfrm>
            <a:off x="4083372" y="4743447"/>
            <a:ext cx="2566710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Compute factorial(1)=1</a:t>
            </a:r>
          </a:p>
        </p:txBody>
      </p:sp>
    </p:spTree>
    <p:extLst>
      <p:ext uri="{BB962C8B-B14F-4D97-AF65-F5344CB8AC3E}">
        <p14:creationId xmlns:p14="http://schemas.microsoft.com/office/powerpoint/2010/main" val="4268513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25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33600"/>
            <a:ext cx="195064" cy="1305532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200" y="1515480"/>
            <a:ext cx="990601" cy="344814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19401" y="4962730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3113" y="34343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1B649B-0E90-C93F-0A01-7B5C63CBF72D}"/>
              </a:ext>
            </a:extLst>
          </p:cNvPr>
          <p:cNvSpPr/>
          <p:nvPr/>
        </p:nvSpPr>
        <p:spPr>
          <a:xfrm>
            <a:off x="4083372" y="4743447"/>
            <a:ext cx="2566710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Return from factorial(1)</a:t>
            </a:r>
          </a:p>
        </p:txBody>
      </p:sp>
    </p:spTree>
    <p:extLst>
      <p:ext uri="{BB962C8B-B14F-4D97-AF65-F5344CB8AC3E}">
        <p14:creationId xmlns:p14="http://schemas.microsoft.com/office/powerpoint/2010/main" val="1253898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26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5064" cy="1305532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2" cy="406820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124200" y="5583688"/>
            <a:ext cx="761998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3113" y="34343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B475D3-50E9-FB82-B5C9-C8F7B5D8AEBD}"/>
              </a:ext>
            </a:extLst>
          </p:cNvPr>
          <p:cNvSpPr/>
          <p:nvPr/>
        </p:nvSpPr>
        <p:spPr>
          <a:xfrm>
            <a:off x="3738832" y="4743447"/>
            <a:ext cx="2911250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Compute 2 * factorial(1) = 2</a:t>
            </a:r>
          </a:p>
        </p:txBody>
      </p:sp>
    </p:spTree>
    <p:extLst>
      <p:ext uri="{BB962C8B-B14F-4D97-AF65-F5344CB8AC3E}">
        <p14:creationId xmlns:p14="http://schemas.microsoft.com/office/powerpoint/2010/main" val="1721911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23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27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5064" cy="1305532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3" cy="343751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20748" y="4963630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3113" y="34343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6" name="Group 95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7" name="TextBox 96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8" name="TextBox 107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9" name="Group 108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10" name="TextBox 109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5" name="TextBox 124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512424-08FD-7E0F-185A-1B125DE408BD}"/>
              </a:ext>
            </a:extLst>
          </p:cNvPr>
          <p:cNvSpPr/>
          <p:nvPr/>
        </p:nvSpPr>
        <p:spPr>
          <a:xfrm>
            <a:off x="3738832" y="4743447"/>
            <a:ext cx="2911250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Return from factorial(2)</a:t>
            </a:r>
          </a:p>
        </p:txBody>
      </p:sp>
    </p:spTree>
    <p:extLst>
      <p:ext uri="{BB962C8B-B14F-4D97-AF65-F5344CB8AC3E}">
        <p14:creationId xmlns:p14="http://schemas.microsoft.com/office/powerpoint/2010/main" val="4280027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28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5064" cy="699808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3" cy="343751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20748" y="4963630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4606" y="28248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4200229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29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5064" cy="699808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3" cy="4079111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048000" y="5594592"/>
            <a:ext cx="838197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4606" y="28248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F308E5-647B-5FFB-702E-7D3852E2E0F1}"/>
              </a:ext>
            </a:extLst>
          </p:cNvPr>
          <p:cNvSpPr/>
          <p:nvPr/>
        </p:nvSpPr>
        <p:spPr>
          <a:xfrm>
            <a:off x="3738832" y="4743447"/>
            <a:ext cx="2911250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Compute 3 * factorial(2) = 6</a:t>
            </a:r>
          </a:p>
        </p:txBody>
      </p:sp>
    </p:spTree>
    <p:extLst>
      <p:ext uri="{BB962C8B-B14F-4D97-AF65-F5344CB8AC3E}">
        <p14:creationId xmlns:p14="http://schemas.microsoft.com/office/powerpoint/2010/main" val="2940893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30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5064" cy="699808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3" cy="343751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19398" y="4963630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4606" y="28248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6ADD37-561B-0D7D-D05A-B37B2B04B00E}"/>
              </a:ext>
            </a:extLst>
          </p:cNvPr>
          <p:cNvSpPr/>
          <p:nvPr/>
        </p:nvSpPr>
        <p:spPr>
          <a:xfrm>
            <a:off x="3738832" y="4743447"/>
            <a:ext cx="2911250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Return from factorial(3)</a:t>
            </a:r>
          </a:p>
        </p:txBody>
      </p:sp>
    </p:spTree>
    <p:extLst>
      <p:ext uri="{BB962C8B-B14F-4D97-AF65-F5344CB8AC3E}">
        <p14:creationId xmlns:p14="http://schemas.microsoft.com/office/powerpoint/2010/main" val="32750572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31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0x20000600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390128" cy="8633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3" cy="343751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19398" y="4963630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21129068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32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0x20000600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390128" cy="8633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3" cy="153052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01191" y="3046004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6013936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57026-D8A4-2F52-D403-13AAD1D6A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of Key Concepts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219384-DAE0-A256-61B4-58392D343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4B8D446-81E7-1555-31A5-9200D21C5068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495544373"/>
              </p:ext>
            </p:extLst>
          </p:nvPr>
        </p:nvGraphicFramePr>
        <p:xfrm>
          <a:off x="762000" y="1676400"/>
          <a:ext cx="7924800" cy="28193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69920">
                  <a:extLst>
                    <a:ext uri="{9D8B030D-6E8A-4147-A177-3AD203B41FA5}">
                      <a16:colId xmlns:a16="http://schemas.microsoft.com/office/drawing/2014/main" val="3783633546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1756943626"/>
                    </a:ext>
                  </a:extLst>
                </a:gridCol>
              </a:tblGrid>
              <a:tr h="306193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Category</a:t>
                      </a:r>
                      <a:endParaRPr lang="en-US" sz="1800" dirty="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Concepts</a:t>
                      </a:r>
                      <a:endParaRPr lang="en-US" sz="1800" dirty="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625394561"/>
                  </a:ext>
                </a:extLst>
              </a:tr>
              <a:tr h="306193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Control Flow</a:t>
                      </a:r>
                      <a:endParaRPr lang="en-US" sz="1800" dirty="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BL, BX LR, return addresses, LR preservation</a:t>
                      </a:r>
                      <a:endParaRPr lang="en-US" sz="18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044239785"/>
                  </a:ext>
                </a:extLst>
              </a:tr>
              <a:tr h="475205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Parameter Passing</a:t>
                      </a:r>
                      <a:endParaRPr lang="en-US" sz="18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R0-R3 registers, stack arguments, 64-bit values</a:t>
                      </a:r>
                      <a:endParaRPr lang="en-US" sz="1800" dirty="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493320429"/>
                  </a:ext>
                </a:extLst>
              </a:tr>
              <a:tr h="475205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Stack Operations</a:t>
                      </a:r>
                      <a:endParaRPr lang="en-US" sz="18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Full descending, PUSH/POP, pre/post-decrement</a:t>
                      </a:r>
                      <a:endParaRPr lang="en-US" sz="1800" dirty="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197992441"/>
                  </a:ext>
                </a:extLst>
              </a:tr>
              <a:tr h="475205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Register Preservation</a:t>
                      </a:r>
                      <a:endParaRPr lang="en-US" sz="1800" dirty="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Caller-saved, callee-saved, EABI compliance</a:t>
                      </a:r>
                      <a:endParaRPr lang="en-US" sz="18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400561528"/>
                  </a:ext>
                </a:extLst>
              </a:tr>
              <a:tr h="306193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Advanced Topics</a:t>
                      </a:r>
                      <a:endParaRPr lang="en-US" sz="1800" dirty="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Nested calls, recursion, base cases</a:t>
                      </a:r>
                      <a:endParaRPr lang="en-US" sz="18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178432825"/>
                  </a:ext>
                </a:extLst>
              </a:tr>
              <a:tr h="475205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Memory Management</a:t>
                      </a:r>
                      <a:endParaRPr lang="en-US" sz="18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Stack layout, SP alignment, memory addressing</a:t>
                      </a:r>
                      <a:endParaRPr lang="en-US" sz="1800" dirty="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302718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14875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9|4.6|1.7|1.7|2|6.4|2|2|11|0.6|0.4|0.5|0.6|0.4|0.4|0.7|2.2"/>
</p:tagLst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5573</TotalTime>
  <Words>4103</Words>
  <Application>Microsoft Office PowerPoint</Application>
  <PresentationFormat>On-screen Show (4:3)</PresentationFormat>
  <Paragraphs>1587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6" baseType="lpstr">
      <vt:lpstr>Bookman Old Style (Headings)</vt:lpstr>
      <vt:lpstr>Gill Sans Light</vt:lpstr>
      <vt:lpstr>Monotype Sorts</vt:lpstr>
      <vt:lpstr>Bookman Old Style</vt:lpstr>
      <vt:lpstr>Calibri</vt:lpstr>
      <vt:lpstr>Consolas</vt:lpstr>
      <vt:lpstr>Courier New</vt:lpstr>
      <vt:lpstr>Georgia</vt:lpstr>
      <vt:lpstr>Gill Sans MT</vt:lpstr>
      <vt:lpstr>Symbol</vt:lpstr>
      <vt:lpstr>Wingdings</vt:lpstr>
      <vt:lpstr>Wingdings 3</vt:lpstr>
      <vt:lpstr>Origin</vt:lpstr>
      <vt:lpstr>Z. Gu</vt:lpstr>
      <vt:lpstr>Recursive Functions</vt:lpstr>
      <vt:lpstr>Defining Factorial(n)</vt:lpstr>
      <vt:lpstr>Classic Example: Factorial</vt:lpstr>
      <vt:lpstr>Classic Example: Fibonacci Numbers</vt:lpstr>
      <vt:lpstr>Analysis of fib(5)</vt:lpstr>
      <vt:lpstr>Example of Recursive Function: Testing Palindrome</vt:lpstr>
      <vt:lpstr>Recursion vs Iteration</vt:lpstr>
      <vt:lpstr>Recursive Factorial in C</vt:lpstr>
      <vt:lpstr>Recursive Functions</vt:lpstr>
      <vt:lpstr>Recursive Factorial in Assembly</vt:lpstr>
      <vt:lpstr>Trace Function Execution for this Call Sequence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Summary of Key Concepts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118</cp:revision>
  <dcterms:created xsi:type="dcterms:W3CDTF">2013-03-17T17:42:26Z</dcterms:created>
  <dcterms:modified xsi:type="dcterms:W3CDTF">2026-04-23T14:32:39Z</dcterms:modified>
</cp:coreProperties>
</file>