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351" r:id="rId3"/>
    <p:sldId id="553" r:id="rId4"/>
    <p:sldId id="555" r:id="rId5"/>
    <p:sldId id="556" r:id="rId6"/>
    <p:sldId id="557" r:id="rId7"/>
    <p:sldId id="558" r:id="rId8"/>
    <p:sldId id="564" r:id="rId9"/>
    <p:sldId id="565" r:id="rId10"/>
    <p:sldId id="576" r:id="rId11"/>
    <p:sldId id="575" r:id="rId12"/>
    <p:sldId id="578" r:id="rId13"/>
    <p:sldId id="577" r:id="rId14"/>
    <p:sldId id="566" r:id="rId15"/>
    <p:sldId id="567" r:id="rId16"/>
    <p:sldId id="257" r:id="rId17"/>
    <p:sldId id="258" r:id="rId18"/>
    <p:sldId id="259" r:id="rId19"/>
    <p:sldId id="260" r:id="rId20"/>
    <p:sldId id="261" r:id="rId21"/>
    <p:sldId id="352" r:id="rId22"/>
    <p:sldId id="353" r:id="rId23"/>
    <p:sldId id="560" r:id="rId24"/>
    <p:sldId id="592" r:id="rId25"/>
    <p:sldId id="562" r:id="rId26"/>
    <p:sldId id="561" r:id="rId27"/>
    <p:sldId id="593" r:id="rId28"/>
    <p:sldId id="568" r:id="rId29"/>
    <p:sldId id="570" r:id="rId30"/>
    <p:sldId id="571" r:id="rId31"/>
    <p:sldId id="572" r:id="rId32"/>
    <p:sldId id="574" r:id="rId33"/>
    <p:sldId id="573" r:id="rId34"/>
    <p:sldId id="579" r:id="rId35"/>
    <p:sldId id="582" r:id="rId36"/>
    <p:sldId id="580" r:id="rId37"/>
    <p:sldId id="354" r:id="rId38"/>
    <p:sldId id="356" r:id="rId39"/>
    <p:sldId id="357" r:id="rId40"/>
    <p:sldId id="358" r:id="rId41"/>
    <p:sldId id="384" r:id="rId42"/>
    <p:sldId id="385" r:id="rId43"/>
    <p:sldId id="387" r:id="rId44"/>
    <p:sldId id="589" r:id="rId45"/>
    <p:sldId id="591" r:id="rId46"/>
    <p:sldId id="590" r:id="rId47"/>
    <p:sldId id="587" r:id="rId48"/>
    <p:sldId id="583" r:id="rId49"/>
    <p:sldId id="585" r:id="rId50"/>
    <p:sldId id="586" r:id="rId5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26A7C-643B-4FA3-9A12-084F4CC1FB31}" v="8" dt="2026-02-26T16:03:57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5033" autoAdjust="0"/>
  </p:normalViewPr>
  <p:slideViewPr>
    <p:cSldViewPr>
      <p:cViewPr varScale="1">
        <p:scale>
          <a:sx n="107" d="100"/>
          <a:sy n="107" d="100"/>
        </p:scale>
        <p:origin x="1659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60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 modNotesMaster">
      <pc:chgData name="Zonghua Gu" userId="9a7e1853e1951ef5" providerId="LiveId" clId="{CF1FAA12-072C-4ED5-BA76-0FFFAEFDB88A}" dt="2026-02-26T16:09:54.631" v="6121" actId="47"/>
      <pc:docMkLst>
        <pc:docMk/>
      </pc:docMkLst>
      <pc:sldChg chg="modSp mod">
        <pc:chgData name="Zonghua Gu" userId="9a7e1853e1951ef5" providerId="LiveId" clId="{CF1FAA12-072C-4ED5-BA76-0FFFAEFDB88A}" dt="2026-02-26T16:04:15.959" v="6120" actId="20577"/>
        <pc:sldMkLst>
          <pc:docMk/>
          <pc:sldMk cId="2350803268" sldId="259"/>
        </pc:sldMkLst>
        <pc:spChg chg="mod">
          <ac:chgData name="Zonghua Gu" userId="9a7e1853e1951ef5" providerId="LiveId" clId="{CF1FAA12-072C-4ED5-BA76-0FFFAEFDB88A}" dt="2026-02-26T16:04:15.959" v="6120" actId="20577"/>
          <ac:spMkLst>
            <pc:docMk/>
            <pc:sldMk cId="2350803268" sldId="259"/>
            <ac:spMk id="4" creationId="{BA07637E-01BA-8126-601A-84479B0807A3}"/>
          </ac:spMkLst>
        </pc:spChg>
      </pc:sldChg>
      <pc:sldChg chg="modSp mod">
        <pc:chgData name="Zonghua Gu" userId="9a7e1853e1951ef5" providerId="LiveId" clId="{CF1FAA12-072C-4ED5-BA76-0FFFAEFDB88A}" dt="2026-02-26T16:02:53.668" v="6113"/>
        <pc:sldMkLst>
          <pc:docMk/>
          <pc:sldMk cId="3642733396" sldId="260"/>
        </pc:sldMkLst>
        <pc:spChg chg="mod">
          <ac:chgData name="Zonghua Gu" userId="9a7e1853e1951ef5" providerId="LiveId" clId="{CF1FAA12-072C-4ED5-BA76-0FFFAEFDB88A}" dt="2026-02-26T16:02:53.668" v="6113"/>
          <ac:spMkLst>
            <pc:docMk/>
            <pc:sldMk cId="3642733396" sldId="260"/>
            <ac:spMk id="4" creationId="{0FB0DF07-A9DB-A45E-E865-E3DA1A2E9A18}"/>
          </ac:spMkLst>
        </pc:spChg>
      </pc:sldChg>
      <pc:sldChg chg="del">
        <pc:chgData name="Zonghua Gu" userId="9a7e1853e1951ef5" providerId="LiveId" clId="{CF1FAA12-072C-4ED5-BA76-0FFFAEFDB88A}" dt="2026-02-26T16:09:54.631" v="6121" actId="47"/>
        <pc:sldMkLst>
          <pc:docMk/>
          <pc:sldMk cId="2531244333" sldId="262"/>
        </pc:sldMkLst>
      </pc:sldChg>
      <pc:sldChg chg="addSp delSp modSp add mod">
        <pc:chgData name="Zonghua Gu" userId="9a7e1853e1951ef5" providerId="LiveId" clId="{CF1FAA12-072C-4ED5-BA76-0FFFAEFDB88A}" dt="2026-02-26T15:49:23.922" v="5957" actId="20577"/>
        <pc:sldMkLst>
          <pc:docMk/>
          <pc:sldMk cId="3678485956" sldId="565"/>
        </pc:sldMkLst>
        <pc:spChg chg="mod">
          <ac:chgData name="Zonghua Gu" userId="9a7e1853e1951ef5" providerId="LiveId" clId="{CF1FAA12-072C-4ED5-BA76-0FFFAEFDB88A}" dt="2026-02-26T15:49:23.922" v="5957" actId="20577"/>
          <ac:spMkLst>
            <pc:docMk/>
            <pc:sldMk cId="3678485956" sldId="565"/>
            <ac:spMk id="4" creationId="{C3D9501F-592C-5813-E379-F3D65F5F6FEC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#0x1011  @ Set bits 0, 4, and 12 (0x1011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72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7458A-F714-96DC-BEC2-76172F9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72E45-2A52-237E-B35D-FEA0095D1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D1FBD-6F97-9862-594A-5783D9367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E9D0-8E60-5AB5-285C-ECC3C6FE9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31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10/14/2026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10/14/2026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A41AC4-8BCE-B512-0547-94EB7DD4DF84}"/>
              </a:ext>
            </a:extLst>
          </p:cNvPr>
          <p:cNvSpPr txBox="1"/>
          <p:nvPr/>
        </p:nvSpPr>
        <p:spPr>
          <a:xfrm>
            <a:off x="-1895475" y="19621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2648" y="1056187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9076"/>
              </p:ext>
            </p:extLst>
          </p:nvPr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32-bit register values after each instruction</a:t>
            </a:r>
          </a:p>
          <a:p>
            <a:r>
              <a:rPr lang="pt-BR" dirty="0"/>
              <a:t>MOV R0, #0x0ABC</a:t>
            </a:r>
          </a:p>
          <a:p>
            <a:r>
              <a:rPr lang="pt-BR" dirty="0"/>
              <a:t>MOV R1, #0x0DEF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#0x0ABC</a:t>
            </a:r>
          </a:p>
          <a:p>
            <a:r>
              <a:rPr lang="pt-BR" dirty="0"/>
              <a:t>MOV R1, #0x0DEF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</a:t>
            </a:r>
            <a:r>
              <a:rPr lang="en-US" dirty="0"/>
              <a:t>0x00000ABC </a:t>
            </a:r>
            <a:r>
              <a:rPr lang="pt-BR" dirty="0"/>
              <a:t>| 0xFFFFF210 = </a:t>
            </a:r>
            <a:r>
              <a:rPr lang="en-US" dirty="0"/>
              <a:t> 0xFFFFFABC</a:t>
            </a:r>
            <a:endParaRPr lang="pt-BR" dirty="0"/>
          </a:p>
          <a:p>
            <a:pPr lvl="1"/>
            <a:r>
              <a:rPr lang="en-US" dirty="0"/>
              <a:t>~R1 (32-bit) = 0xFFFFF210</a:t>
            </a:r>
            <a:endParaRPr lang="pt-BR" dirty="0"/>
          </a:p>
          <a:p>
            <a:r>
              <a:rPr lang="pt-BR" dirty="0"/>
              <a:t>r6 = r0 BIC R1 = R0 &amp; (~R1) =</a:t>
            </a:r>
            <a:r>
              <a:rPr lang="en-US" dirty="0"/>
              <a:t> 0x00000ABC </a:t>
            </a:r>
            <a:r>
              <a:rPr lang="pt-BR" dirty="0"/>
              <a:t>&amp; 0xFFFFF210 = 0x00000210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set, clear, or toggle the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Toggle (Complement)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0xDEEB</a:t>
            </a:r>
          </a:p>
          <a:p>
            <a:pPr lvl="1"/>
            <a:r>
              <a:rPr lang="en-US" dirty="0"/>
              <a:t>Clear: 0xDECB &amp; ~0x10A0 = 0xCE4B</a:t>
            </a:r>
          </a:p>
          <a:p>
            <a:pPr lvl="1"/>
            <a:r>
              <a:rPr lang="en-US" dirty="0"/>
              <a:t>Toggle: 0xDECB ^ 0x10A0 = 0xCE6B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r>
              <a:rPr lang="en-US" dirty="0"/>
              <a:t>Method 5: Clear 32 bits in r12 starting from bit 0</a:t>
            </a:r>
          </a:p>
          <a:p>
            <a:pPr lvl="1"/>
            <a:r>
              <a:rPr lang="en-US" dirty="0"/>
              <a:t>BFC r12, #0, #32</a:t>
            </a:r>
          </a:p>
          <a:p>
            <a:r>
              <a:rPr lang="en-US" dirty="0"/>
              <a:t>Method 6: r12 = r12 AND NOT r12 (bitwise clear)</a:t>
            </a:r>
          </a:p>
          <a:p>
            <a:pPr lvl="1"/>
            <a:r>
              <a:rPr lang="en-US" dirty="0"/>
              <a:t>BIC r12, r12, r12</a:t>
            </a:r>
          </a:p>
          <a:p>
            <a:pPr lvl="1"/>
            <a:r>
              <a:rPr lang="en-US" dirty="0"/>
              <a:t>BIC Rd, Rn, Rm   ; Rd = Rn &amp; (~Rm)</a:t>
            </a:r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pPr lvl="2"/>
            <a:r>
              <a:rPr lang="pt-BR" dirty="0"/>
              <a:t>Or ADCS r3, r7, r11, but the flags are not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three instructions (HINT: Check CMP, IT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three instructions (HINT: Check CMP, IT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IT LT         @ Cortex-M: next instr. only if LT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Assuming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#2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0x00000380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Q2.1: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  <a:p>
            <a:r>
              <a:rPr lang="pt-BR" dirty="0"/>
              <a:t>Q2.2: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ASR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pt-BR" dirty="0"/>
              <a:t>r0 = 0x00000100 (LSR and ASR have no difference for positive numbers)</a:t>
            </a:r>
          </a:p>
          <a:p>
            <a:pPr lvl="1"/>
            <a:r>
              <a:rPr lang="en-US" dirty="0"/>
              <a:t>In decimal: 1024 ÷ 2² = 256 (Not required for exam)</a:t>
            </a:r>
            <a:endParaRPr lang="pt-B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Q3.1: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1100 0000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0000 0000 0000 = 0x3FFFF000</a:t>
            </a:r>
          </a:p>
          <a:p>
            <a:pPr lvl="1"/>
            <a:r>
              <a:rPr lang="en-US" dirty="0"/>
              <a:t>In decimal: 4,294,950,912 ÷ 4 = 1,073,737,728 (Not required for exam)</a:t>
            </a:r>
          </a:p>
          <a:p>
            <a:r>
              <a:rPr lang="pt-BR" dirty="0"/>
              <a:t>Q3.2: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</a:t>
            </a:r>
            <a:r>
              <a:rPr lang="pt-BR" dirty="0">
                <a:solidFill>
                  <a:srgbClr val="FF0000"/>
                </a:solidFill>
              </a:rPr>
              <a:t>ASR</a:t>
            </a:r>
            <a:r>
              <a:rPr lang="pt-BR" dirty="0"/>
              <a:t>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0000 0000 0000 = 0x</a:t>
            </a:r>
            <a:r>
              <a:rPr lang="en-US" dirty="0">
                <a:solidFill>
                  <a:srgbClr val="FF0000"/>
                </a:solidFill>
              </a:rPr>
              <a:t>F</a:t>
            </a:r>
            <a:r>
              <a:rPr lang="en-US" dirty="0"/>
              <a:t>FFFF000</a:t>
            </a:r>
          </a:p>
          <a:p>
            <a:pPr lvl="1"/>
            <a:r>
              <a:rPr lang="en-US" dirty="0"/>
              <a:t>In decimal: −16384 ÷ 4 = −4096 (Not required for exam)</a:t>
            </a:r>
          </a:p>
          <a:p>
            <a:endParaRPr lang="en-US" dirty="0"/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MOVS R2, R1, LSL #4</a:t>
            </a:r>
          </a:p>
          <a:p>
            <a:pPr lvl="1"/>
            <a:r>
              <a:rPr lang="pt-BR" dirty="0"/>
              <a:t>MOVS R3, R1, LSL #8</a:t>
            </a:r>
          </a:p>
          <a:p>
            <a:pPr lvl="1"/>
            <a:r>
              <a:rPr lang="pt-BR" dirty="0"/>
              <a:t>MOVS R4, R1, LSL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MOVS R2, R1, LSL #4 performs a logical left shift of R1 by 4 bits, inserting zeros; 0x11223344 &lt;&lt; 4 = 0x12233440. </a:t>
            </a:r>
          </a:p>
          <a:p>
            <a:pPr lvl="2"/>
            <a:r>
              <a:rPr lang="en-US" dirty="0"/>
              <a:t>NZCV = 0010 (last bit shifted out was 1, LSB of 0x1)</a:t>
            </a:r>
          </a:p>
          <a:p>
            <a:pPr lvl="1"/>
            <a:r>
              <a:rPr lang="en-US" dirty="0"/>
              <a:t>MOVS R3, R1, LSL #8 shifts by 8 bits; 0x11223344 &lt;&lt; 8 = 0x22334400.</a:t>
            </a:r>
          </a:p>
          <a:p>
            <a:pPr lvl="2"/>
            <a:r>
              <a:rPr lang="en-US" dirty="0"/>
              <a:t>NZCV = 0010 (last bit shifted out was 1, LSB of 0x11)</a:t>
            </a:r>
          </a:p>
          <a:p>
            <a:pPr lvl="1"/>
            <a:r>
              <a:rPr lang="en-US" dirty="0"/>
              <a:t>MOVS R4, R1, LSL #16 shifts by 16 bits; 0x11223344 &lt;&lt; 16 = 0x33440000.</a:t>
            </a:r>
          </a:p>
          <a:p>
            <a:pPr lvl="2"/>
            <a:r>
              <a:rPr lang="en-US" dirty="0"/>
              <a:t>NZCV = 0000 (last bit shifted out was 0, LSB of 0x1122)</a:t>
            </a:r>
          </a:p>
          <a:p>
            <a:pPr lvl="1"/>
            <a:r>
              <a:rPr lang="en-US" dirty="0"/>
              <a:t>MOVS R5, R1, LSL #6 shifts by 6 bits; 0x11223344 &lt;&lt; 6 = 0x488CD100. (convert to binary and back)</a:t>
            </a:r>
          </a:p>
          <a:p>
            <a:pPr lvl="2"/>
            <a:r>
              <a:rPr lang="en-US" dirty="0"/>
              <a:t>NZCV = 0000 (last bit shifted out 0, LSB of 000100)</a:t>
            </a:r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4168816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EDAD4-A15A-CB26-167A-FED5BF30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860C7-6D32-CED6-8DDA-C2F9D846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LSRS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DF2A77-49EC-04E8-D5EC-35623E91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EBDB8-79A1-498D-B9D2-DDE87FE9C0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03188"/>
            <a:ext cx="8229600" cy="5638800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Compute register values, and</a:t>
            </a:r>
            <a:r>
              <a:rPr lang="en-US" dirty="0"/>
              <a:t> NZCV flags after execution of each instruction, assuming all flags are initially 0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MOVS R2, R1, LSR #4</a:t>
            </a:r>
          </a:p>
          <a:p>
            <a:pPr lvl="1"/>
            <a:r>
              <a:rPr lang="pt-BR" dirty="0"/>
              <a:t>MOVS R3, R1, LSR #8</a:t>
            </a:r>
          </a:p>
          <a:p>
            <a:pPr lvl="1"/>
            <a:r>
              <a:rPr lang="pt-BR" dirty="0"/>
              <a:t>MOVS R4, R1, LSR #16</a:t>
            </a:r>
          </a:p>
          <a:p>
            <a:pPr lvl="1"/>
            <a:r>
              <a:rPr lang="pt-BR" dirty="0"/>
              <a:t>MOVS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MOVS R6, R1, ASR #8</a:t>
            </a:r>
          </a:p>
          <a:p>
            <a:pPr lvl="1"/>
            <a:r>
              <a:rPr lang="pt-BR" dirty="0"/>
              <a:t>MOVS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2"/>
            <a:r>
              <a:rPr lang="pt-BR" dirty="0"/>
              <a:t>NZCV = 0000 </a:t>
            </a:r>
            <a:r>
              <a:rPr lang="en-US" dirty="0"/>
              <a:t> (last bit shifted out was 0, MSB of 0x4)</a:t>
            </a:r>
            <a:endParaRPr lang="pt-BR" dirty="0"/>
          </a:p>
          <a:p>
            <a:pPr lvl="1"/>
            <a:r>
              <a:rPr lang="pt-BR" dirty="0"/>
              <a:t>LSR #8: R3 = 0x11223344 &gt;&gt; 8 = 0x00112233.</a:t>
            </a:r>
          </a:p>
          <a:p>
            <a:pPr lvl="2"/>
            <a:r>
              <a:rPr lang="pt-BR" dirty="0"/>
              <a:t>NZCV = 0000 </a:t>
            </a:r>
            <a:r>
              <a:rPr lang="en-US" dirty="0"/>
              <a:t> (last bit shifted out was 0, MSB of 0x44)</a:t>
            </a:r>
            <a:endParaRPr lang="pt-BR" dirty="0"/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2"/>
            <a:r>
              <a:rPr lang="pt-BR" dirty="0"/>
              <a:t>NZCV = 0000</a:t>
            </a:r>
            <a:r>
              <a:rPr lang="en-US" dirty="0"/>
              <a:t> (last bit shifted out was 0, MSB of 0x3344)</a:t>
            </a:r>
            <a:endParaRPr lang="pt-BR" dirty="0"/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2"/>
            <a:r>
              <a:rPr lang="pt-BR" dirty="0"/>
              <a:t>NZCV = 0000 (ASR has the same flag settings as LSR, since they both shift out the same bits)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267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/>
              <a:t>1025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153*r3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122859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78656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     r1, #2             // r3 = x, r1 = 2,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r1     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r2 = r3*r0 + r1 = x(6x - 9)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</a:t>
            </a:r>
            <a:r>
              <a:rPr lang="pt-BR" sz="2000">
                <a:latin typeface="Consolas" panose="020B0609020204030204" pitchFamily="49" charset="0"/>
                <a:cs typeface="Consolas" panose="020B0609020204030204" pitchFamily="49" charset="0"/>
              </a:rPr>
              <a:t>, =0xFFFFFF00</a:t>
            </a:r>
            <a:endParaRPr lang="pt-BR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ANS: </a:t>
            </a:r>
            <a:r>
              <a:rPr lang="pt-BR" sz="2000" dirty="0"/>
              <a:t>r2 = 0x00000000</a:t>
            </a:r>
          </a:p>
          <a:p>
            <a:r>
              <a:rPr lang="pt-BR" sz="2000" dirty="0"/>
              <a:t>NZCV = 0110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2057400" y="162161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70452" y="3429000"/>
            <a:ext cx="8348605" cy="2971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ANS:</a:t>
            </a:r>
          </a:p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 The last bit shifted out was 1.  </a:t>
            </a:r>
            <a:r>
              <a:rPr lang="en-US" sz="1600"/>
              <a:t>(ANDS </a:t>
            </a:r>
            <a:r>
              <a:rPr lang="en-US" sz="1600" dirty="0"/>
              <a:t>does not affect C </a:t>
            </a:r>
            <a:r>
              <a:rPr lang="en-US" sz="1600"/>
              <a:t>flag.)</a:t>
            </a:r>
            <a:endParaRPr lang="en-US" sz="1600" dirty="0"/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19812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rmAutofit/>
          </a:bodyPr>
          <a:lstStyle/>
          <a:p>
            <a:r>
              <a:rPr lang="en-US" sz="2000" dirty="0"/>
              <a:t>What are value of r2, and NZCV flags after execution, assuming all flags are initially 0.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ANS: </a:t>
            </a:r>
            <a:r>
              <a:rPr lang="pt-BR" sz="2000" dirty="0"/>
              <a:t>r2 = 0xFFFFFE01</a:t>
            </a:r>
          </a:p>
          <a:p>
            <a:r>
              <a:rPr lang="pt-BR" sz="2000" dirty="0"/>
              <a:t>NZCV = 1000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1828800" y="162161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3452190"/>
                <a:ext cx="8610600" cy="3269919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ANS: Left shift (LSL #1) moves the bits in r0 left by 1 bit, so r0 = 0xFFFFFE00. ADDS is then computed: r2 = r1 + (r0 &lt;&lt; 1) = 0xFFFFFE01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LSL does not update flags; ADDS updates flags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for ADDS, C is the carry-out from the addition (unsigned overflow). Since 0x0000_0001 + 0xFFFF_FE00 &lt; 2^32, there is no carry-out → C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Note: the shift’s carry-out was 1, but ADDS overwrites the flags; the final C is the addition carry-out (0).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0&lt;&lt;1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MSB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452190"/>
                <a:ext cx="8610600" cy="3269919"/>
              </a:xfrm>
              <a:prstGeom prst="rect">
                <a:avLst/>
              </a:prstGeom>
              <a:blipFill>
                <a:blip r:embed="rId3"/>
                <a:stretch>
                  <a:fillRect t="-2048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 #3</a:t>
            </a:r>
            <a:endParaRPr lang="en-US" dirty="0"/>
          </a:p>
          <a:p>
            <a:pPr lvl="1"/>
            <a:r>
              <a:rPr lang="en-US" dirty="0"/>
              <a:t>First, r2 ASR #3: 0x00000003 &gt;&gt; 3 = 0x00000000 (arithmetic shift preserves sign)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</a:t>
            </a:r>
          </a:p>
          <a:p>
            <a:pPr lvl="2"/>
            <a:r>
              <a:rPr lang="en-US" dirty="0"/>
              <a:t>ADD does not set flags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MSB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value, assumed to be 0 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47211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5867-7F1D-793E-4C60-23701C88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215-3CFF-4B98-4305-63717698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7EE4-8618-5F31-EEBF-6DC31D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CC50-A76F-3959-218D-71AAD36485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(a) ADD r3, r0, r2</a:t>
            </a:r>
          </a:p>
          <a:p>
            <a:pPr lvl="1"/>
            <a:r>
              <a:rPr lang="pt-BR" dirty="0"/>
              <a:t>r3 = 0xFFFFFFFF</a:t>
            </a:r>
          </a:p>
          <a:p>
            <a:pPr lvl="1"/>
            <a:r>
              <a:rPr lang="pt-BR" dirty="0"/>
              <a:t>NZCV = 0000 </a:t>
            </a:r>
          </a:p>
          <a:p>
            <a:pPr lvl="2"/>
            <a:r>
              <a:rPr lang="pt-BR" dirty="0"/>
              <a:t>(ADD without S does not update flags)</a:t>
            </a:r>
          </a:p>
          <a:p>
            <a:r>
              <a:rPr lang="pt-BR" dirty="0"/>
              <a:t>(b) ADDS r3, r0, r2</a:t>
            </a:r>
          </a:p>
          <a:p>
            <a:pPr lvl="1"/>
            <a:r>
              <a:rPr lang="pt-BR" dirty="0"/>
              <a:t>r3 = 0xFFFFFFFF, NZCV = 1000</a:t>
            </a:r>
          </a:p>
          <a:p>
            <a:pPr lvl="2"/>
            <a:r>
              <a:rPr lang="pt-BR" dirty="0"/>
              <a:t>N = 1 (MSB = 1)</a:t>
            </a:r>
          </a:p>
          <a:p>
            <a:pPr lvl="2"/>
            <a:r>
              <a:rPr lang="pt-BR" dirty="0"/>
              <a:t>Z = 0 (nonzero)</a:t>
            </a:r>
          </a:p>
          <a:p>
            <a:pPr lvl="2"/>
            <a:r>
              <a:rPr lang="pt-BR" dirty="0"/>
              <a:t>C = 0 (no carry out)</a:t>
            </a:r>
          </a:p>
          <a:p>
            <a:pPr lvl="2"/>
            <a:r>
              <a:rPr lang="pt-BR" dirty="0"/>
              <a:t>V = 0 (no signed overflow)</a:t>
            </a:r>
          </a:p>
          <a:p>
            <a:r>
              <a:rPr lang="pt-BR" dirty="0"/>
              <a:t>(c) SUBS r3, r0, r0</a:t>
            </a:r>
          </a:p>
          <a:p>
            <a:pPr lvl="1"/>
            <a:r>
              <a:rPr lang="pt-BR" dirty="0"/>
              <a:t>r3 = 0x00000000 (r0 − r0 = 0), NZCV = 0110</a:t>
            </a:r>
          </a:p>
          <a:p>
            <a:pPr lvl="2"/>
            <a:r>
              <a:rPr lang="pt-BR" dirty="0"/>
              <a:t>N = 0 (MSB = 0)</a:t>
            </a:r>
          </a:p>
          <a:p>
            <a:pPr lvl="2"/>
            <a:r>
              <a:rPr lang="pt-BR" dirty="0"/>
              <a:t>Z = 1 (result == 0)</a:t>
            </a:r>
          </a:p>
          <a:p>
            <a:pPr lvl="2"/>
            <a:r>
              <a:rPr lang="pt-BR" dirty="0"/>
              <a:t>C = 1 (no borrow: unsigned r0 ≥ r0)</a:t>
            </a:r>
          </a:p>
          <a:p>
            <a:pPr lvl="3"/>
            <a:r>
              <a:rPr lang="pt-BR" dirty="0"/>
              <a:t>Convert subtraction to addition: Op1 + TC(Op2) = 0xFFFFFFFF + 0x00000001 = 0x00000000</a:t>
            </a:r>
          </a:p>
          <a:p>
            <a:pPr lvl="3"/>
            <a:r>
              <a:rPr lang="pt-BR" dirty="0"/>
              <a:t>There is a carryout, so C = 1, B = 0</a:t>
            </a:r>
          </a:p>
          <a:p>
            <a:pPr lvl="3"/>
            <a:r>
              <a:rPr lang="pt-BR" dirty="0"/>
              <a:t>Viewed as unsigned addition, result is wrong (C = 1): 4,294,967,295 + 1 = 0</a:t>
            </a:r>
          </a:p>
          <a:p>
            <a:pPr lvl="3"/>
            <a:r>
              <a:rPr lang="pt-BR" dirty="0"/>
              <a:t>Viewed as signed subtraction, result is correct (B = 0): -1 – (-1) = 0</a:t>
            </a:r>
          </a:p>
          <a:p>
            <a:pPr lvl="3"/>
            <a:r>
              <a:rPr lang="pt-BR" dirty="0"/>
              <a:t>Viewed as signed addition, result is correct (V = 0): -1 + 1 = 0</a:t>
            </a:r>
          </a:p>
          <a:p>
            <a:pPr lvl="2"/>
            <a:r>
              <a:rPr lang="pt-BR" dirty="0"/>
              <a:t>V = 0 (no signed overflow)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C4EF8-CA07-8D9E-1C34-0E4536477C58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55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FEB2-F756-C046-A7C9-BE3B4F4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CE3F-7A78-33BB-7BE1-3D467306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06B64-9C4A-C77D-7290-A4529F5A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719E-6F53-B45E-0478-44C5D80206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(d) LSL r3, r0, #1</a:t>
            </a:r>
          </a:p>
          <a:p>
            <a:pPr lvl="1"/>
            <a:r>
              <a:rPr lang="pt-BR" dirty="0"/>
              <a:t>r3 = 0xFFFFFFFE (logical left shift: 0xFFFF_FFFF &lt;&lt; 1), NZCV = 0000 </a:t>
            </a:r>
          </a:p>
          <a:p>
            <a:pPr lvl="2"/>
            <a:r>
              <a:rPr lang="pt-BR" dirty="0"/>
              <a:t>LSL without S does not update flags</a:t>
            </a:r>
          </a:p>
          <a:p>
            <a:r>
              <a:rPr lang="pt-BR" dirty="0"/>
              <a:t>(e) LSRS r3, r1, #1</a:t>
            </a:r>
          </a:p>
          <a:p>
            <a:pPr lvl="1"/>
            <a:r>
              <a:rPr lang="en-US" dirty="0"/>
              <a:t>r3 = 0x00000000 (0x0000_0001 &gt;&gt; 1 = 0), NZCV = 0110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1 (bit shifted out = original bit0 = 1)</a:t>
            </a:r>
          </a:p>
          <a:p>
            <a:pPr lvl="2"/>
            <a:r>
              <a:rPr lang="en-US" dirty="0"/>
              <a:t>V = 0 (shifts do not set V)</a:t>
            </a:r>
            <a:endParaRPr lang="pt-BR" dirty="0"/>
          </a:p>
          <a:p>
            <a:r>
              <a:rPr lang="pt-BR" dirty="0"/>
              <a:t>(f) ANDS r3, r0, r2</a:t>
            </a:r>
          </a:p>
          <a:p>
            <a:pPr lvl="1"/>
            <a:r>
              <a:rPr lang="en-US" dirty="0"/>
              <a:t>r3 = 0x00000000 (0xFFFF_FFFF &amp; 0x0000_0000 = 0), NZCV = 0100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0 (unchanged)</a:t>
            </a:r>
          </a:p>
          <a:p>
            <a:pPr lvl="2"/>
            <a:r>
              <a:rPr lang="en-US" dirty="0"/>
              <a:t>V = 0 (unchanged)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B8F9A-F2CE-9B20-0F51-3EDF0431D8E2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76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E1C15-FF51-08AC-2A57-2CF578AE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4450"/>
              </p:ext>
            </p:extLst>
          </p:nvPr>
        </p:nvGraphicFramePr>
        <p:xfrm>
          <a:off x="381000" y="2178748"/>
          <a:ext cx="8610600" cy="3356166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3C70-86D1-2699-001E-17FB9C6B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3BA29-B415-B973-B39D-A5EE487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55329-644D-B313-F6DA-A77E9B02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12572"/>
              </p:ext>
            </p:extLst>
          </p:nvPr>
        </p:nvGraphicFramePr>
        <p:xfrm>
          <a:off x="266700" y="2146852"/>
          <a:ext cx="8610600" cy="3322257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-6 (GT 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+ 14 = 10 (GT 26)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 2)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+ 10 = 6  (GT 22)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(–6)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14 (GT -2)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– 6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– 6 =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14 = 6 (GT -10)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(-2) = 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D49BC51-81B0-0099-8662-2532F481F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83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  <a:p>
            <a:pPr lvl="1"/>
            <a:r>
              <a:rPr lang="en-US" dirty="0"/>
              <a:t>For a 4-bit system, unsigned range is [0, 15], signed range is [-8, 7]</a:t>
            </a:r>
          </a:p>
        </p:txBody>
      </p:sp>
    </p:spTree>
    <p:extLst>
      <p:ext uri="{BB962C8B-B14F-4D97-AF65-F5344CB8AC3E}">
        <p14:creationId xmlns:p14="http://schemas.microsoft.com/office/powerpoint/2010/main" val="28300030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87BE-21EF-D8F5-98CC-8E638AA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D5CF-03FF-51D8-01E1-79DE528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F15F41E-EB7A-6ECD-3CFB-38D27911E9F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730980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E99EB-A80A-64E3-3DC8-0F9341ACD6FF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C6837D-2422-BFB8-F87C-7FA5B761C9E2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BF5E2B1E-1943-38C7-5905-F4C88EAC3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01292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06BFC-23E4-2641-7362-BF44732DFA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644-8E94-FA19-4A25-27C373117556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967EEEEF-DB31-16C1-E51E-AA11ED143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136486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696F67-3162-0CEE-5F9F-C340110C76D5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0E2EB-4643-8298-6FFB-F644054699CA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FCB6396-85EE-B89A-4A0B-9D70E0C24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783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5303E1-F393-2BF6-3DF5-89ED60AD5E31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78BDCB-4750-D7AD-9448-AC89996468A5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AC2F7-7B48-A7B1-D707-D63B0BCE4A2D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1C844-4BC0-0B20-B37E-D78145261753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EFAB5-9995-5D1A-7108-FE6877E0AFFF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3C9-48DD-5A86-81ED-82377FB93AD6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7538124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FC2-E011-16F4-A825-FDB646CD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3485E-D2FF-24D1-FFB8-DE3B4C3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65E83F07-A072-D782-6A5E-2BFF083E04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5235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5318-7742-96FB-5EF9-4FAAD2E571CD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12AA8-0F73-4034-C9CE-818495B51FCF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63A0396-E875-E526-563F-9D73C0C90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29020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D06C4-7F91-F7F3-56AE-3011A68AFD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CA20D-EC11-8C63-568E-AF5BE0B4B92B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18815F9F-0A77-C53E-5E6E-AFCEED234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864799"/>
              </p:ext>
            </p:extLst>
          </p:nvPr>
        </p:nvGraphicFramePr>
        <p:xfrm>
          <a:off x="1838976" y="3962400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08CA73-4660-01B4-58EE-98419701A29E}"/>
              </a:ext>
            </a:extLst>
          </p:cNvPr>
          <p:cNvCxnSpPr>
            <a:cxnSpLocks/>
          </p:cNvCxnSpPr>
          <p:nvPr/>
        </p:nvCxnSpPr>
        <p:spPr>
          <a:xfrm>
            <a:off x="1610376" y="5508978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06B94-61E9-E613-CFA2-1C08136B278D}"/>
              </a:ext>
            </a:extLst>
          </p:cNvPr>
          <p:cNvSpPr txBox="1"/>
          <p:nvPr/>
        </p:nvSpPr>
        <p:spPr>
          <a:xfrm>
            <a:off x="612648" y="5073448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84DB85B8-7574-25F2-060F-F0E37FAF8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2866692"/>
              </p:ext>
            </p:extLst>
          </p:nvPr>
        </p:nvGraphicFramePr>
        <p:xfrm>
          <a:off x="6037369" y="3962400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725A8-080A-BD71-7DD2-6F9DA06C0DBB}"/>
              </a:ext>
            </a:extLst>
          </p:cNvPr>
          <p:cNvCxnSpPr>
            <a:cxnSpLocks/>
          </p:cNvCxnSpPr>
          <p:nvPr/>
        </p:nvCxnSpPr>
        <p:spPr>
          <a:xfrm>
            <a:off x="5808769" y="5508978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A59ECF-E539-3CF2-7331-F24D28CA3E52}"/>
              </a:ext>
            </a:extLst>
          </p:cNvPr>
          <p:cNvSpPr txBox="1"/>
          <p:nvPr/>
        </p:nvSpPr>
        <p:spPr>
          <a:xfrm>
            <a:off x="4811041" y="5073448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2C3D1-9D60-C236-C2F8-5F422D8F9736}"/>
              </a:ext>
            </a:extLst>
          </p:cNvPr>
          <p:cNvSpPr txBox="1"/>
          <p:nvPr/>
        </p:nvSpPr>
        <p:spPr>
          <a:xfrm>
            <a:off x="817446" y="873962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0010 = 0100 + 1110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73BA3-1C93-0ECA-CF12-1C0F34AEF3F8}"/>
              </a:ext>
            </a:extLst>
          </p:cNvPr>
          <p:cNvSpPr txBox="1"/>
          <p:nvPr/>
        </p:nvSpPr>
        <p:spPr>
          <a:xfrm>
            <a:off x="4953000" y="873963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0110 = 0100 + 1010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289A5-B78D-C5A1-6E73-CEAD62EBFA85}"/>
              </a:ext>
            </a:extLst>
          </p:cNvPr>
          <p:cNvSpPr txBox="1"/>
          <p:nvPr/>
        </p:nvSpPr>
        <p:spPr>
          <a:xfrm>
            <a:off x="817446" y="3438336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1100 – 0110 = 1100 + 1010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D623-F045-D185-C4D1-81732EF37614}"/>
              </a:ext>
            </a:extLst>
          </p:cNvPr>
          <p:cNvSpPr txBox="1"/>
          <p:nvPr/>
        </p:nvSpPr>
        <p:spPr>
          <a:xfrm>
            <a:off x="4953000" y="3448120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1110 = 0100 + 0010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645D20-AFA0-6C43-3DA8-702124B7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629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Subtraction ANS (Convert to addition by TC(Op2))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6A83-1579-8CB9-0726-27085A2456A7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F86A-D4ED-E25F-19E3-E1F021E47C8F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C7F06-67DF-7BC1-E659-4759B0125435}"/>
              </a:ext>
            </a:extLst>
          </p:cNvPr>
          <p:cNvSpPr txBox="1"/>
          <p:nvPr/>
        </p:nvSpPr>
        <p:spPr>
          <a:xfrm>
            <a:off x="3972576" y="4054838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27724-9882-64E4-9FA6-DF613F1C77AE}"/>
              </a:ext>
            </a:extLst>
          </p:cNvPr>
          <p:cNvSpPr txBox="1"/>
          <p:nvPr/>
        </p:nvSpPr>
        <p:spPr>
          <a:xfrm>
            <a:off x="8192504" y="4054838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084889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3797</TotalTime>
  <Words>6925</Words>
  <Application>Microsoft Office PowerPoint</Application>
  <PresentationFormat>On-screen Show (4:3)</PresentationFormat>
  <Paragraphs>950</Paragraphs>
  <Slides>50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Aptos</vt:lpstr>
      <vt:lpstr>Bookman Old Style</vt:lpstr>
      <vt:lpstr>Bookman Old Style (Headings)</vt:lpstr>
      <vt:lpstr>Calibri</vt:lpstr>
      <vt:lpstr>Cambria Math</vt:lpstr>
      <vt:lpstr>Consolas</vt:lpstr>
      <vt:lpstr>Gill Sans Light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Arithmetic with Shifts</vt:lpstr>
      <vt:lpstr>Q1 ANS</vt:lpstr>
      <vt:lpstr>Q2 ANS</vt:lpstr>
      <vt:lpstr>Q3 ANS</vt:lpstr>
      <vt:lpstr>Q5 ANS</vt:lpstr>
      <vt:lpstr>Assembly Programming</vt:lpstr>
      <vt:lpstr>Assembly Programming ANS</vt:lpstr>
      <vt:lpstr>Shift LSL ANS</vt:lpstr>
      <vt:lpstr>Shift LSLS ANS</vt:lpstr>
      <vt:lpstr>Shift ASR ANS</vt:lpstr>
      <vt:lpstr>Shift LSR ASR ANS</vt:lpstr>
      <vt:lpstr>Shift LSRS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  <vt:lpstr>Flags</vt:lpstr>
      <vt:lpstr>Flags ANS</vt:lpstr>
      <vt:lpstr>Flags ANS</vt:lpstr>
      <vt:lpstr>Addition &amp; Subtraction</vt:lpstr>
      <vt:lpstr>Addition &amp; Subtraction ANS</vt:lpstr>
      <vt:lpstr>Addition ANS</vt:lpstr>
      <vt:lpstr>Subtraction ANS (Convert to addition by TC(Op2))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361</cp:revision>
  <cp:lastPrinted>2025-10-09T21:51:20Z</cp:lastPrinted>
  <dcterms:created xsi:type="dcterms:W3CDTF">2014-02-05T02:41:42Z</dcterms:created>
  <dcterms:modified xsi:type="dcterms:W3CDTF">2026-10-14T14:35:57Z</dcterms:modified>
</cp:coreProperties>
</file>